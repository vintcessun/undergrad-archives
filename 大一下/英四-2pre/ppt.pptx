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8" r:id="rId3"/>
    <p:sldId id="266" r:id="rId5"/>
    <p:sldId id="272" r:id="rId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875E6"/>
    <a:srgbClr val="8C54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02" d="100"/>
          <a:sy n="102" d="100"/>
        </p:scale>
        <p:origin x="150" y="3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AD2987-A540-4D8E-9EBB-404D4176E23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DC7BB0-AF4F-44DD-A73D-D18018DD6F7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Yes, a large language model does possess intelligence in a specific sense.What is intelligence? It has three characteristics: able to solve problems, able to understand knowledge, and able to remember knowledge.</a:t>
            </a:r>
            <a:endParaRPr lang="en-US" altLang="zh-CN"/>
          </a:p>
          <a:p>
            <a:r>
              <a:rPr lang="en-US" altLang="zh-CN"/>
              <a:t>First, LLMs demonstrate problem-solving abilities comparable to humans, as they can generate coherent responses, answer complex questions, and even create creative content. For instance, LLMs can assist in writing code, drafting emails, translating languages, and providing detailed explanations on a wide range of topics. Their ability to process and analyze vast amounts of data allows them to identify patterns and relationships between information, enabling them to offer solutions that are often on par with human expertise.</a:t>
            </a:r>
            <a:endParaRPr lang="en-US" altLang="zh-CN"/>
          </a:p>
          <a:p>
            <a:r>
              <a:rPr lang="en-US" altLang="zh-CN"/>
              <a:t>Second, these models exhibit strong abstract thinking by transforming human words into high-dimensional vectors through mechanisms like attention, enabling them to capture the essence and context of words. This abstraction allows LLMs to understand the nuances of language, such as sarcasm, humor, and idiomatic expressions, which are often challenging for traditional rule-based systems. For example, when presented with a poorly phrased question, an LLM can infer the user's intent and rephrase the query to provide a more accurate and relevant response. This level of abstraction and contextual understanding is a testament to the intelligence embedded within these models.</a:t>
            </a:r>
            <a:endParaRPr lang="en-US" altLang="zh-CN"/>
          </a:p>
          <a:p>
            <a:r>
              <a:rPr lang="en-US" altLang="zh-CN"/>
              <a:t>Third, LLMs can learn and retain vast amounts of knowledge during training, allowing them to apply this knowledge to new tasks effectively. Through exposure to diverse datasets, these models acquire a broad understanding of various domains, from science and technology to literature and culture. They can then leverage this knowledge to perform tasks such as summarizing articles, generating creative stories, or even assisting in academic research. While their intelligence is not conscious or self-aware, it is undeniably sophisticated and practical in solving real-world problems.</a:t>
            </a:r>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To end the argument, I want to quote an American slang: "If it walks like a duck and quacks like a duck, then it's a duck?"</a:t>
            </a:r>
            <a:endParaRPr lang="en-US" altLang="zh-CN"/>
          </a:p>
          <a:p>
            <a:r>
              <a:rPr lang="en-US" altLang="zh-CN"/>
              <a:t>Thank you.</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13635710-0375-4F51-9933-5D24FFD313B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4A60F02-AA2C-437A-91E7-4932796316A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3635710-0375-4F51-9933-5D24FFD313B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4A60F02-AA2C-437A-91E7-4932796316A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13635710-0375-4F51-9933-5D24FFD313B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4A60F02-AA2C-437A-91E7-4932796316A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13635710-0375-4F51-9933-5D24FFD313B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4A60F02-AA2C-437A-91E7-4932796316A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13635710-0375-4F51-9933-5D24FFD313B7}"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4A60F02-AA2C-437A-91E7-4932796316A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13635710-0375-4F51-9933-5D24FFD313B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4A60F02-AA2C-437A-91E7-4932796316A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3635710-0375-4F51-9933-5D24FFD313B7}"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4A60F02-AA2C-437A-91E7-4932796316A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3635710-0375-4F51-9933-5D24FFD313B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4A60F02-AA2C-437A-91E7-4932796316A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3635710-0375-4F51-9933-5D24FFD313B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4A60F02-AA2C-437A-91E7-4932796316A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3635710-0375-4F51-9933-5D24FFD313B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4A60F02-AA2C-437A-91E7-4932796316A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3635710-0375-4F51-9933-5D24FFD313B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4A60F02-AA2C-437A-91E7-4932796316A1}"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showMasterSp="0">
  <p:cSld name="内容页">
    <p:spTree>
      <p:nvGrpSpPr>
        <p:cNvPr id="1" name=""/>
        <p:cNvGrpSpPr/>
        <p:nvPr/>
      </p:nvGrpSpPr>
      <p:grpSpPr>
        <a:xfrm>
          <a:off x="0" y="0"/>
          <a:ext cx="0" cy="0"/>
          <a:chOff x="0" y="0"/>
          <a:chExt cx="0" cy="0"/>
        </a:xfrm>
      </p:grpSpPr>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635710-0375-4F51-9933-5D24FFD313B7}"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A60F02-AA2C-437A-91E7-4932796316A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575230" y="0"/>
            <a:ext cx="11654932" cy="6858000"/>
            <a:chOff x="575230" y="0"/>
            <a:chExt cx="11654932" cy="6858000"/>
          </a:xfrm>
        </p:grpSpPr>
        <p:grpSp>
          <p:nvGrpSpPr>
            <p:cNvPr id="7" name="组合 6"/>
            <p:cNvGrpSpPr/>
            <p:nvPr/>
          </p:nvGrpSpPr>
          <p:grpSpPr>
            <a:xfrm>
              <a:off x="575230" y="0"/>
              <a:ext cx="11654932" cy="6858000"/>
              <a:chOff x="575230" y="0"/>
              <a:chExt cx="11654932" cy="6858000"/>
            </a:xfrm>
          </p:grpSpPr>
          <p:grpSp>
            <p:nvGrpSpPr>
              <p:cNvPr id="276" name="组合 275"/>
              <p:cNvGrpSpPr/>
              <p:nvPr/>
            </p:nvGrpSpPr>
            <p:grpSpPr>
              <a:xfrm>
                <a:off x="575230" y="0"/>
                <a:ext cx="11654932" cy="6858000"/>
                <a:chOff x="575230" y="0"/>
                <a:chExt cx="11654932" cy="6858000"/>
              </a:xfrm>
            </p:grpSpPr>
            <p:grpSp>
              <p:nvGrpSpPr>
                <p:cNvPr id="277" name="组合 276"/>
                <p:cNvGrpSpPr/>
                <p:nvPr/>
              </p:nvGrpSpPr>
              <p:grpSpPr>
                <a:xfrm>
                  <a:off x="4845886" y="0"/>
                  <a:ext cx="7384276" cy="6858000"/>
                  <a:chOff x="4970430" y="0"/>
                  <a:chExt cx="7384276" cy="6858000"/>
                </a:xfrm>
              </p:grpSpPr>
              <p:cxnSp>
                <p:nvCxnSpPr>
                  <p:cNvPr id="283" name="KOPPT"/>
                  <p:cNvCxnSpPr/>
                  <p:nvPr/>
                </p:nvCxnSpPr>
                <p:spPr>
                  <a:xfrm flipV="1">
                    <a:off x="7583179" y="2070847"/>
                    <a:ext cx="4733365" cy="4787153"/>
                  </a:xfrm>
                  <a:prstGeom prst="line">
                    <a:avLst/>
                  </a:prstGeom>
                  <a:ln w="50800">
                    <a:solidFill>
                      <a:srgbClr val="4875E6"/>
                    </a:solidFill>
                  </a:ln>
                </p:spPr>
                <p:style>
                  <a:lnRef idx="1">
                    <a:schemeClr val="accent1"/>
                  </a:lnRef>
                  <a:fillRef idx="0">
                    <a:schemeClr val="accent1"/>
                  </a:fillRef>
                  <a:effectRef idx="0">
                    <a:schemeClr val="accent1"/>
                  </a:effectRef>
                  <a:fontRef idx="minor">
                    <a:schemeClr val="tx1"/>
                  </a:fontRef>
                </p:style>
              </p:cxnSp>
              <p:cxnSp>
                <p:nvCxnSpPr>
                  <p:cNvPr id="284" name="KOPPT"/>
                  <p:cNvCxnSpPr/>
                  <p:nvPr/>
                </p:nvCxnSpPr>
                <p:spPr>
                  <a:xfrm>
                    <a:off x="4970430" y="0"/>
                    <a:ext cx="6850448" cy="6858000"/>
                  </a:xfrm>
                  <a:prstGeom prst="line">
                    <a:avLst/>
                  </a:prstGeom>
                  <a:ln w="12700">
                    <a:solidFill>
                      <a:srgbClr val="4875E6"/>
                    </a:solidFill>
                  </a:ln>
                </p:spPr>
                <p:style>
                  <a:lnRef idx="1">
                    <a:schemeClr val="accent1"/>
                  </a:lnRef>
                  <a:fillRef idx="0">
                    <a:schemeClr val="accent1"/>
                  </a:fillRef>
                  <a:effectRef idx="0">
                    <a:schemeClr val="accent1"/>
                  </a:effectRef>
                  <a:fontRef idx="minor">
                    <a:schemeClr val="tx1"/>
                  </a:fontRef>
                </p:style>
              </p:cxnSp>
              <p:cxnSp>
                <p:nvCxnSpPr>
                  <p:cNvPr id="11" name="KOPPT"/>
                  <p:cNvCxnSpPr/>
                  <p:nvPr/>
                </p:nvCxnSpPr>
                <p:spPr>
                  <a:xfrm>
                    <a:off x="6933454" y="0"/>
                    <a:ext cx="5421252" cy="5427228"/>
                  </a:xfrm>
                  <a:prstGeom prst="line">
                    <a:avLst/>
                  </a:prstGeom>
                  <a:ln w="12700">
                    <a:solidFill>
                      <a:srgbClr val="8C54E9"/>
                    </a:solidFill>
                  </a:ln>
                </p:spPr>
                <p:style>
                  <a:lnRef idx="1">
                    <a:schemeClr val="accent1"/>
                  </a:lnRef>
                  <a:fillRef idx="0">
                    <a:schemeClr val="accent1"/>
                  </a:fillRef>
                  <a:effectRef idx="0">
                    <a:schemeClr val="accent1"/>
                  </a:effectRef>
                  <a:fontRef idx="minor">
                    <a:schemeClr val="tx1"/>
                  </a:fontRef>
                </p:style>
              </p:cxnSp>
              <p:cxnSp>
                <p:nvCxnSpPr>
                  <p:cNvPr id="13" name="KOPPT"/>
                  <p:cNvCxnSpPr/>
                  <p:nvPr/>
                </p:nvCxnSpPr>
                <p:spPr>
                  <a:xfrm flipV="1">
                    <a:off x="5740423" y="207152"/>
                    <a:ext cx="6576121" cy="6650848"/>
                  </a:xfrm>
                  <a:prstGeom prst="line">
                    <a:avLst/>
                  </a:prstGeom>
                  <a:ln w="50800">
                    <a:solidFill>
                      <a:srgbClr val="8C54E9"/>
                    </a:solidFill>
                  </a:ln>
                </p:spPr>
                <p:style>
                  <a:lnRef idx="1">
                    <a:schemeClr val="accent1"/>
                  </a:lnRef>
                  <a:fillRef idx="0">
                    <a:schemeClr val="accent1"/>
                  </a:fillRef>
                  <a:effectRef idx="0">
                    <a:schemeClr val="accent1"/>
                  </a:effectRef>
                  <a:fontRef idx="minor">
                    <a:schemeClr val="tx1"/>
                  </a:fontRef>
                </p:style>
              </p:cxnSp>
            </p:grpSp>
            <p:grpSp>
              <p:nvGrpSpPr>
                <p:cNvPr id="278" name="组合 277"/>
                <p:cNvGrpSpPr/>
                <p:nvPr/>
              </p:nvGrpSpPr>
              <p:grpSpPr>
                <a:xfrm>
                  <a:off x="575230" y="1482870"/>
                  <a:ext cx="7886065" cy="4630158"/>
                  <a:chOff x="1398129" y="1799721"/>
                  <a:chExt cx="7886065" cy="4630158"/>
                </a:xfrm>
              </p:grpSpPr>
              <p:sp>
                <p:nvSpPr>
                  <p:cNvPr id="279" name="KOPPT"/>
                  <p:cNvSpPr/>
                  <p:nvPr/>
                </p:nvSpPr>
                <p:spPr>
                  <a:xfrm>
                    <a:off x="2122130" y="1799721"/>
                    <a:ext cx="4645932" cy="4630158"/>
                  </a:xfrm>
                  <a:prstGeom prst="diamond">
                    <a:avLst/>
                  </a:prstGeom>
                  <a:gradFill>
                    <a:gsLst>
                      <a:gs pos="0">
                        <a:srgbClr val="4875E6"/>
                      </a:gs>
                      <a:gs pos="100000">
                        <a:srgbClr val="8C54E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endParaRPr>
                  </a:p>
                </p:txBody>
              </p:sp>
              <p:sp>
                <p:nvSpPr>
                  <p:cNvPr id="281" name="矩形 280"/>
                  <p:cNvSpPr/>
                  <p:nvPr/>
                </p:nvSpPr>
                <p:spPr>
                  <a:xfrm flipH="1">
                    <a:off x="1398129" y="2651256"/>
                    <a:ext cx="7886065" cy="2306955"/>
                  </a:xfrm>
                  <a:prstGeom prst="rect">
                    <a:avLst/>
                  </a:prstGeom>
                </p:spPr>
                <p:txBody>
                  <a:bodyPr wrap="square">
                    <a:spAutoFit/>
                  </a:bodyPr>
                  <a:lstStyle/>
                  <a:p>
                    <a:pPr marL="0" marR="0" lvl="0" indent="0" algn="l" defTabSz="1219835" rtl="0" eaLnBrk="1" fontAlgn="auto" latinLnBrk="0" hangingPunct="0">
                      <a:lnSpc>
                        <a:spcPct val="100000"/>
                      </a:lnSpc>
                      <a:spcBef>
                        <a:spcPts val="0"/>
                      </a:spcBef>
                      <a:spcAft>
                        <a:spcPts val="0"/>
                      </a:spcAft>
                      <a:buClrTx/>
                      <a:buSzTx/>
                      <a:buFontTx/>
                      <a:buNone/>
                      <a:defRPr/>
                    </a:pPr>
                    <a:r>
                      <a:rPr kumimoji="0" lang="en-US" altLang="zh-CN" sz="4800" b="1" i="0" u="none" strike="noStrike" kern="0" cap="none" spc="0" normalizeH="0" baseline="0" noProof="0" dirty="0">
                        <a:solidFill>
                          <a:schemeClr val="tx1"/>
                        </a:solidFill>
                        <a:effectLst>
                          <a:outerShdw blurRad="38100" dist="19050" dir="2700000" algn="tl" rotWithShape="0">
                            <a:schemeClr val="dk1">
                              <a:alpha val="40000"/>
                            </a:schemeClr>
                          </a:outerShdw>
                        </a:effectLst>
                        <a:uLnTx/>
                        <a:uFillTx/>
                        <a:latin typeface="思源黑体 CN Heavy" panose="020B0A00000000000000" pitchFamily="34" charset="-122"/>
                        <a:ea typeface="思源黑体 CN Heavy" panose="020B0A00000000000000" pitchFamily="34" charset="-122"/>
                        <a:sym typeface="微软雅黑" panose="020B0503020204020204" charset="-122"/>
                      </a:rPr>
                      <a:t>Does a Large Language Model(LLM) have intelligence? Yes</a:t>
                    </a:r>
                    <a:endParaRPr kumimoji="0" lang="en-US" altLang="zh-CN" sz="4800" b="1" i="0" u="none" strike="noStrike" kern="0" cap="none" spc="0" normalizeH="0" baseline="0" noProof="0" dirty="0">
                      <a:solidFill>
                        <a:schemeClr val="tx1"/>
                      </a:solidFill>
                      <a:effectLst>
                        <a:outerShdw blurRad="38100" dist="19050" dir="2700000" algn="tl" rotWithShape="0">
                          <a:schemeClr val="dk1">
                            <a:alpha val="40000"/>
                          </a:schemeClr>
                        </a:outerShdw>
                      </a:effectLst>
                      <a:uLnTx/>
                      <a:uFillTx/>
                      <a:latin typeface="思源黑体 CN Heavy" panose="020B0A00000000000000" pitchFamily="34" charset="-122"/>
                      <a:ea typeface="思源黑体 CN Heavy" panose="020B0A00000000000000" pitchFamily="34" charset="-122"/>
                      <a:sym typeface="微软雅黑" panose="020B0503020204020204" charset="-122"/>
                    </a:endParaRPr>
                  </a:p>
                </p:txBody>
              </p:sp>
            </p:grpSp>
          </p:grpSp>
          <p:sp>
            <p:nvSpPr>
              <p:cNvPr id="6" name="文本框 5"/>
              <p:cNvSpPr txBox="1"/>
              <p:nvPr/>
            </p:nvSpPr>
            <p:spPr>
              <a:xfrm>
                <a:off x="800179" y="3438525"/>
                <a:ext cx="5869652" cy="275590"/>
              </a:xfrm>
              <a:prstGeom prst="rect">
                <a:avLst/>
              </a:prstGeom>
              <a:noFill/>
            </p:spPr>
            <p:txBody>
              <a:bodyPr wrap="square" rtlCol="0">
                <a:spAutoFit/>
              </a:bodyPr>
              <a:lstStyle/>
              <a:p>
                <a:pPr algn="dist"/>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p:grpSp>
        <p:sp>
          <p:nvSpPr>
            <p:cNvPr id="8" name="文本框 7"/>
            <p:cNvSpPr txBox="1"/>
            <p:nvPr/>
          </p:nvSpPr>
          <p:spPr>
            <a:xfrm>
              <a:off x="2241979" y="4962182"/>
              <a:ext cx="2755900" cy="306705"/>
            </a:xfrm>
            <a:prstGeom prst="rect">
              <a:avLst/>
            </a:prstGeom>
            <a:noFill/>
          </p:spPr>
          <p:txBody>
            <a:bodyPr wrap="square" rtlCol="0">
              <a:spAutoFit/>
            </a:bodyPr>
            <a:lstStyle/>
            <a:p>
              <a:pPr algn="dist"/>
              <a:r>
                <a:rPr lang="en-US" altLang="zh-CN" sz="1400" dirty="0">
                  <a:solidFill>
                    <a:schemeClr val="tx1"/>
                  </a:solidFill>
                  <a:latin typeface="思源黑体 CN Normal" panose="020B0400000000000000" pitchFamily="34" charset="-122"/>
                  <a:ea typeface="思源黑体 CN Normal" panose="020B0400000000000000" pitchFamily="34" charset="-122"/>
                </a:rPr>
                <a:t>SPEAKER : </a:t>
              </a:r>
              <a:r>
                <a:rPr lang="zh-CN" altLang="en-US" sz="1400" dirty="0">
                  <a:solidFill>
                    <a:schemeClr val="tx1"/>
                  </a:solidFill>
                  <a:latin typeface="思源黑体 CN Normal" panose="020B0400000000000000" pitchFamily="34" charset="-122"/>
                  <a:ea typeface="思源黑体 CN Normal" panose="020B0400000000000000" pitchFamily="34" charset="-122"/>
                </a:rPr>
                <a:t>王子恒</a:t>
              </a:r>
              <a:endParaRPr lang="zh-CN" altLang="en-US" sz="1400" dirty="0">
                <a:solidFill>
                  <a:schemeClr val="tx1"/>
                </a:solidFill>
                <a:latin typeface="思源黑体 CN Normal" panose="020B0400000000000000" pitchFamily="34" charset="-122"/>
                <a:ea typeface="思源黑体 CN Normal" panose="020B0400000000000000" pitchFamily="34" charset="-122"/>
              </a:endParaRPr>
            </a:p>
          </p:txBody>
        </p:sp>
      </p:gr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KOPPT"/>
          <p:cNvCxnSpPr/>
          <p:nvPr/>
        </p:nvCxnSpPr>
        <p:spPr>
          <a:xfrm flipV="1">
            <a:off x="-22457" y="1"/>
            <a:ext cx="960966" cy="962024"/>
          </a:xfrm>
          <a:prstGeom prst="line">
            <a:avLst/>
          </a:prstGeom>
          <a:ln w="12700">
            <a:solidFill>
              <a:srgbClr val="4875E6"/>
            </a:solidFill>
          </a:ln>
        </p:spPr>
        <p:style>
          <a:lnRef idx="1">
            <a:schemeClr val="accent1"/>
          </a:lnRef>
          <a:fillRef idx="0">
            <a:schemeClr val="accent1"/>
          </a:fillRef>
          <a:effectRef idx="0">
            <a:schemeClr val="accent1"/>
          </a:effectRef>
          <a:fontRef idx="minor">
            <a:schemeClr val="tx1"/>
          </a:fontRef>
        </p:style>
      </p:cxnSp>
      <p:cxnSp>
        <p:nvCxnSpPr>
          <p:cNvPr id="6" name="KOPPT"/>
          <p:cNvCxnSpPr/>
          <p:nvPr/>
        </p:nvCxnSpPr>
        <p:spPr>
          <a:xfrm>
            <a:off x="-2581" y="389895"/>
            <a:ext cx="338245" cy="338618"/>
          </a:xfrm>
          <a:prstGeom prst="line">
            <a:avLst/>
          </a:prstGeom>
          <a:ln w="12700">
            <a:solidFill>
              <a:srgbClr val="8C54E9"/>
            </a:solidFill>
          </a:ln>
        </p:spPr>
        <p:style>
          <a:lnRef idx="1">
            <a:schemeClr val="accent1"/>
          </a:lnRef>
          <a:fillRef idx="0">
            <a:schemeClr val="accent1"/>
          </a:fillRef>
          <a:effectRef idx="0">
            <a:schemeClr val="accent1"/>
          </a:effectRef>
          <a:fontRef idx="minor">
            <a:schemeClr val="tx1"/>
          </a:fontRef>
        </p:style>
      </p:cxnSp>
      <p:sp>
        <p:nvSpPr>
          <p:cNvPr id="8" name="KOPPT"/>
          <p:cNvSpPr/>
          <p:nvPr/>
        </p:nvSpPr>
        <p:spPr>
          <a:xfrm>
            <a:off x="76566" y="156383"/>
            <a:ext cx="390524" cy="390524"/>
          </a:xfrm>
          <a:prstGeom prst="diamond">
            <a:avLst/>
          </a:prstGeom>
          <a:gradFill>
            <a:gsLst>
              <a:gs pos="0">
                <a:srgbClr val="4875E6"/>
              </a:gs>
              <a:gs pos="100000">
                <a:srgbClr val="8C54E9"/>
              </a:gs>
            </a:gsLst>
            <a:lin ang="5400000" scaled="1"/>
          </a:gra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KOPPT"/>
          <p:cNvCxnSpPr/>
          <p:nvPr/>
        </p:nvCxnSpPr>
        <p:spPr>
          <a:xfrm flipV="1">
            <a:off x="335664" y="1"/>
            <a:ext cx="725068" cy="725866"/>
          </a:xfrm>
          <a:prstGeom prst="line">
            <a:avLst/>
          </a:prstGeom>
          <a:ln w="12700">
            <a:solidFill>
              <a:srgbClr val="8C54E9"/>
            </a:solidFill>
          </a:ln>
        </p:spPr>
        <p:style>
          <a:lnRef idx="1">
            <a:schemeClr val="accent1"/>
          </a:lnRef>
          <a:fillRef idx="0">
            <a:schemeClr val="accent1"/>
          </a:fillRef>
          <a:effectRef idx="0">
            <a:schemeClr val="accent1"/>
          </a:effectRef>
          <a:fontRef idx="minor">
            <a:schemeClr val="tx1"/>
          </a:fontRef>
        </p:style>
      </p:cxnSp>
      <p:pic>
        <p:nvPicPr>
          <p:cNvPr id="20" name="图片 1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639549" y="189567"/>
            <a:ext cx="433574" cy="549123"/>
          </a:xfrm>
          <a:prstGeom prst="rect">
            <a:avLst/>
          </a:prstGeom>
        </p:spPr>
      </p:pic>
      <p:grpSp>
        <p:nvGrpSpPr>
          <p:cNvPr id="27" name="组合 26"/>
          <p:cNvGrpSpPr/>
          <p:nvPr/>
        </p:nvGrpSpPr>
        <p:grpSpPr>
          <a:xfrm>
            <a:off x="11337333" y="6162676"/>
            <a:ext cx="850417" cy="695324"/>
            <a:chOff x="11011145" y="5895976"/>
            <a:chExt cx="1176605" cy="962024"/>
          </a:xfrm>
        </p:grpSpPr>
        <p:cxnSp>
          <p:nvCxnSpPr>
            <p:cNvPr id="21" name="KOPPT"/>
            <p:cNvCxnSpPr/>
            <p:nvPr/>
          </p:nvCxnSpPr>
          <p:spPr>
            <a:xfrm flipV="1">
              <a:off x="11226784" y="5895976"/>
              <a:ext cx="960966" cy="962024"/>
            </a:xfrm>
            <a:prstGeom prst="line">
              <a:avLst/>
            </a:prstGeom>
            <a:ln w="12700">
              <a:solidFill>
                <a:srgbClr val="4875E6"/>
              </a:solidFill>
            </a:ln>
          </p:spPr>
          <p:style>
            <a:lnRef idx="1">
              <a:schemeClr val="accent1"/>
            </a:lnRef>
            <a:fillRef idx="0">
              <a:schemeClr val="accent1"/>
            </a:fillRef>
            <a:effectRef idx="0">
              <a:schemeClr val="accent1"/>
            </a:effectRef>
            <a:fontRef idx="minor">
              <a:schemeClr val="tx1"/>
            </a:fontRef>
          </p:style>
        </p:cxnSp>
        <p:cxnSp>
          <p:nvCxnSpPr>
            <p:cNvPr id="22" name="KOPPT"/>
            <p:cNvCxnSpPr/>
            <p:nvPr/>
          </p:nvCxnSpPr>
          <p:spPr>
            <a:xfrm flipV="1">
              <a:off x="11011145" y="6142437"/>
              <a:ext cx="714776" cy="715563"/>
            </a:xfrm>
            <a:prstGeom prst="line">
              <a:avLst/>
            </a:prstGeom>
            <a:ln w="12700">
              <a:solidFill>
                <a:srgbClr val="8C54E9"/>
              </a:solidFill>
            </a:ln>
          </p:spPr>
          <p:style>
            <a:lnRef idx="1">
              <a:schemeClr val="accent1"/>
            </a:lnRef>
            <a:fillRef idx="0">
              <a:schemeClr val="accent1"/>
            </a:fillRef>
            <a:effectRef idx="0">
              <a:schemeClr val="accent1"/>
            </a:effectRef>
            <a:fontRef idx="minor">
              <a:schemeClr val="tx1"/>
            </a:fontRef>
          </p:style>
        </p:cxnSp>
        <p:cxnSp>
          <p:nvCxnSpPr>
            <p:cNvPr id="23" name="KOPPT"/>
            <p:cNvCxnSpPr/>
            <p:nvPr/>
          </p:nvCxnSpPr>
          <p:spPr>
            <a:xfrm>
              <a:off x="11730833" y="6142437"/>
              <a:ext cx="456917" cy="457421"/>
            </a:xfrm>
            <a:prstGeom prst="line">
              <a:avLst/>
            </a:prstGeom>
            <a:ln w="12700">
              <a:solidFill>
                <a:srgbClr val="8C54E9"/>
              </a:solidFill>
            </a:ln>
          </p:spPr>
          <p:style>
            <a:lnRef idx="1">
              <a:schemeClr val="accent1"/>
            </a:lnRef>
            <a:fillRef idx="0">
              <a:schemeClr val="accent1"/>
            </a:fillRef>
            <a:effectRef idx="0">
              <a:schemeClr val="accent1"/>
            </a:effectRef>
            <a:fontRef idx="minor">
              <a:schemeClr val="tx1"/>
            </a:fontRef>
          </p:style>
        </p:cxnSp>
      </p:grpSp>
      <p:grpSp>
        <p:nvGrpSpPr>
          <p:cNvPr id="14" name="组合 1"/>
          <p:cNvGrpSpPr/>
          <p:nvPr/>
        </p:nvGrpSpPr>
        <p:grpSpPr>
          <a:xfrm>
            <a:off x="1354886" y="1270185"/>
            <a:ext cx="9555253" cy="4884739"/>
            <a:chOff x="1360406" y="1570228"/>
            <a:chExt cx="9471188" cy="4841764"/>
          </a:xfrm>
        </p:grpSpPr>
        <p:sp>
          <p:nvSpPr>
            <p:cNvPr id="17" name="koppt-圆形"/>
            <p:cNvSpPr>
              <a:spLocks noChangeArrowheads="1"/>
            </p:cNvSpPr>
            <p:nvPr/>
          </p:nvSpPr>
          <p:spPr bwMode="auto">
            <a:xfrm>
              <a:off x="1360406" y="2633409"/>
              <a:ext cx="2441880" cy="2448984"/>
            </a:xfrm>
            <a:prstGeom prst="ellipse">
              <a:avLst/>
            </a:prstGeom>
            <a:solidFill>
              <a:srgbClr val="4875E6"/>
            </a:solidFill>
            <a:ln>
              <a:noFill/>
            </a:ln>
          </p:spPr>
          <p:style>
            <a:lnRef idx="2">
              <a:schemeClr val="accent1">
                <a:shade val="50000"/>
              </a:schemeClr>
            </a:lnRef>
            <a:fillRef idx="1">
              <a:schemeClr val="accent1"/>
            </a:fillRef>
            <a:effectRef idx="0">
              <a:schemeClr val="accent1"/>
            </a:effectRef>
            <a:fontRef idx="minor">
              <a:schemeClr val="lt1"/>
            </a:fontRef>
          </p:style>
          <p:txBody>
            <a:bodyPr lIns="91400" tIns="45701" rIns="91400" bIns="45701" rtlCol="0" anchor="ctr"/>
            <a:lstStyle/>
            <a:p>
              <a:pPr algn="ctr"/>
              <a:endParaRPr lang="zh-CN" altLang="en-US" sz="2400">
                <a:solidFill>
                  <a:schemeClr val="tx1">
                    <a:lumMod val="65000"/>
                    <a:lumOff val="35000"/>
                  </a:schemeClr>
                </a:solidFill>
                <a:latin typeface="思源宋体 CN Medium" panose="02020500000000000000" pitchFamily="18" charset="-122"/>
                <a:ea typeface="思源宋体 CN Medium" panose="02020500000000000000" pitchFamily="18" charset="-122"/>
              </a:endParaRPr>
            </a:p>
          </p:txBody>
        </p:sp>
        <p:sp>
          <p:nvSpPr>
            <p:cNvPr id="19" name="koppt-多边形"/>
            <p:cNvSpPr/>
            <p:nvPr/>
          </p:nvSpPr>
          <p:spPr bwMode="auto">
            <a:xfrm>
              <a:off x="3205568" y="4483377"/>
              <a:ext cx="1557386" cy="1564217"/>
            </a:xfrm>
            <a:custGeom>
              <a:avLst/>
              <a:gdLst>
                <a:gd name="T0" fmla="*/ 3898 w 3898"/>
                <a:gd name="T1" fmla="*/ 944 h 3904"/>
                <a:gd name="T2" fmla="*/ 934 w 3898"/>
                <a:gd name="T3" fmla="*/ 3904 h 3904"/>
                <a:gd name="T4" fmla="*/ 0 w 3898"/>
                <a:gd name="T5" fmla="*/ 1642 h 3904"/>
                <a:gd name="T6" fmla="*/ 1624 w 3898"/>
                <a:gd name="T7" fmla="*/ 0 h 3904"/>
                <a:gd name="T8" fmla="*/ 3898 w 3898"/>
                <a:gd name="T9" fmla="*/ 944 h 3904"/>
              </a:gdLst>
              <a:ahLst/>
              <a:cxnLst>
                <a:cxn ang="0">
                  <a:pos x="T0" y="T1"/>
                </a:cxn>
                <a:cxn ang="0">
                  <a:pos x="T2" y="T3"/>
                </a:cxn>
                <a:cxn ang="0">
                  <a:pos x="T4" y="T5"/>
                </a:cxn>
                <a:cxn ang="0">
                  <a:pos x="T6" y="T7"/>
                </a:cxn>
                <a:cxn ang="0">
                  <a:pos x="T8" y="T9"/>
                </a:cxn>
              </a:cxnLst>
              <a:rect l="0" t="0" r="r" b="b"/>
              <a:pathLst>
                <a:path w="3898" h="3904">
                  <a:moveTo>
                    <a:pt x="3898" y="944"/>
                  </a:moveTo>
                  <a:cubicBezTo>
                    <a:pt x="3316" y="2213"/>
                    <a:pt x="2294" y="3284"/>
                    <a:pt x="934" y="3904"/>
                  </a:cubicBezTo>
                  <a:lnTo>
                    <a:pt x="0" y="1642"/>
                  </a:lnTo>
                  <a:cubicBezTo>
                    <a:pt x="734" y="1284"/>
                    <a:pt x="1292" y="696"/>
                    <a:pt x="1624" y="0"/>
                  </a:cubicBezTo>
                  <a:lnTo>
                    <a:pt x="3898" y="944"/>
                  </a:lnTo>
                  <a:close/>
                </a:path>
              </a:pathLst>
            </a:custGeom>
            <a:solidFill>
              <a:srgbClr val="8C54E9"/>
            </a:solidFill>
            <a:ln>
              <a:noFill/>
            </a:ln>
          </p:spPr>
          <p:style>
            <a:lnRef idx="2">
              <a:schemeClr val="accent1">
                <a:shade val="50000"/>
              </a:schemeClr>
            </a:lnRef>
            <a:fillRef idx="1">
              <a:schemeClr val="accent1"/>
            </a:fillRef>
            <a:effectRef idx="0">
              <a:schemeClr val="accent1"/>
            </a:effectRef>
            <a:fontRef idx="minor">
              <a:schemeClr val="lt1"/>
            </a:fontRef>
          </p:style>
          <p:txBody>
            <a:bodyPr lIns="91400" tIns="45701" rIns="91400" bIns="45701" rtlCol="0" anchor="ctr"/>
            <a:lstStyle/>
            <a:p>
              <a:pPr algn="ctr"/>
              <a:endParaRPr lang="zh-CN" altLang="en-US" sz="2400">
                <a:solidFill>
                  <a:schemeClr val="tx1">
                    <a:lumMod val="65000"/>
                    <a:lumOff val="35000"/>
                  </a:schemeClr>
                </a:solidFill>
                <a:latin typeface="思源宋体 CN Medium" panose="02020500000000000000" pitchFamily="18" charset="-122"/>
                <a:ea typeface="思源宋体 CN Medium" panose="02020500000000000000" pitchFamily="18" charset="-122"/>
              </a:endParaRPr>
            </a:p>
          </p:txBody>
        </p:sp>
        <p:sp>
          <p:nvSpPr>
            <p:cNvPr id="24" name="koppt-多边形"/>
            <p:cNvSpPr/>
            <p:nvPr/>
          </p:nvSpPr>
          <p:spPr bwMode="auto">
            <a:xfrm>
              <a:off x="3916548" y="3020759"/>
              <a:ext cx="1125719" cy="1678518"/>
            </a:xfrm>
            <a:custGeom>
              <a:avLst/>
              <a:gdLst>
                <a:gd name="T0" fmla="*/ 2294 w 2814"/>
                <a:gd name="T1" fmla="*/ 0 h 4189"/>
                <a:gd name="T2" fmla="*/ 2290 w 2814"/>
                <a:gd name="T3" fmla="*/ 4189 h 4189"/>
                <a:gd name="T4" fmla="*/ 12 w 2814"/>
                <a:gd name="T5" fmla="*/ 3244 h 4189"/>
                <a:gd name="T6" fmla="*/ 0 w 2814"/>
                <a:gd name="T7" fmla="*/ 948 h 4189"/>
                <a:gd name="T8" fmla="*/ 2294 w 2814"/>
                <a:gd name="T9" fmla="*/ 0 h 4189"/>
              </a:gdLst>
              <a:ahLst/>
              <a:cxnLst>
                <a:cxn ang="0">
                  <a:pos x="T0" y="T1"/>
                </a:cxn>
                <a:cxn ang="0">
                  <a:pos x="T2" y="T3"/>
                </a:cxn>
                <a:cxn ang="0">
                  <a:pos x="T4" y="T5"/>
                </a:cxn>
                <a:cxn ang="0">
                  <a:pos x="T6" y="T7"/>
                </a:cxn>
                <a:cxn ang="0">
                  <a:pos x="T8" y="T9"/>
                </a:cxn>
              </a:cxnLst>
              <a:rect l="0" t="0" r="r" b="b"/>
              <a:pathLst>
                <a:path w="2814" h="4189">
                  <a:moveTo>
                    <a:pt x="2294" y="0"/>
                  </a:moveTo>
                  <a:cubicBezTo>
                    <a:pt x="2814" y="1401"/>
                    <a:pt x="2778" y="2881"/>
                    <a:pt x="2290" y="4189"/>
                  </a:cubicBezTo>
                  <a:lnTo>
                    <a:pt x="12" y="3244"/>
                  </a:lnTo>
                  <a:cubicBezTo>
                    <a:pt x="253" y="2522"/>
                    <a:pt x="265" y="1717"/>
                    <a:pt x="0" y="948"/>
                  </a:cubicBezTo>
                  <a:lnTo>
                    <a:pt x="2294" y="0"/>
                  </a:lnTo>
                  <a:close/>
                </a:path>
              </a:pathLst>
            </a:custGeom>
            <a:solidFill>
              <a:srgbClr val="4875E6"/>
            </a:solidFill>
            <a:ln>
              <a:noFill/>
            </a:ln>
          </p:spPr>
          <p:style>
            <a:lnRef idx="2">
              <a:schemeClr val="accent1">
                <a:shade val="50000"/>
              </a:schemeClr>
            </a:lnRef>
            <a:fillRef idx="1">
              <a:schemeClr val="accent1"/>
            </a:fillRef>
            <a:effectRef idx="0">
              <a:schemeClr val="accent1"/>
            </a:effectRef>
            <a:fontRef idx="minor">
              <a:schemeClr val="lt1"/>
            </a:fontRef>
          </p:style>
          <p:txBody>
            <a:bodyPr lIns="91400" tIns="45701" rIns="91400" bIns="45701" rtlCol="0" anchor="ctr"/>
            <a:lstStyle/>
            <a:p>
              <a:pPr algn="ctr"/>
              <a:endParaRPr lang="zh-CN" altLang="en-US" sz="2400">
                <a:solidFill>
                  <a:schemeClr val="tx1">
                    <a:lumMod val="65000"/>
                    <a:lumOff val="35000"/>
                  </a:schemeClr>
                </a:solidFill>
                <a:latin typeface="思源宋体 CN Medium" panose="02020500000000000000" pitchFamily="18" charset="-122"/>
                <a:ea typeface="思源宋体 CN Medium" panose="02020500000000000000" pitchFamily="18" charset="-122"/>
              </a:endParaRPr>
            </a:p>
          </p:txBody>
        </p:sp>
        <p:sp>
          <p:nvSpPr>
            <p:cNvPr id="25" name="koppt-多边形"/>
            <p:cNvSpPr/>
            <p:nvPr/>
          </p:nvSpPr>
          <p:spPr bwMode="auto">
            <a:xfrm>
              <a:off x="3184044" y="1701342"/>
              <a:ext cx="1559503" cy="1568451"/>
            </a:xfrm>
            <a:custGeom>
              <a:avLst/>
              <a:gdLst>
                <a:gd name="T0" fmla="*/ 946 w 3906"/>
                <a:gd name="T1" fmla="*/ 0 h 3912"/>
                <a:gd name="T2" fmla="*/ 3906 w 3906"/>
                <a:gd name="T3" fmla="*/ 2964 h 3912"/>
                <a:gd name="T4" fmla="*/ 1613 w 3906"/>
                <a:gd name="T5" fmla="*/ 3912 h 3912"/>
                <a:gd name="T6" fmla="*/ 0 w 3906"/>
                <a:gd name="T7" fmla="*/ 2278 h 3912"/>
                <a:gd name="T8" fmla="*/ 946 w 3906"/>
                <a:gd name="T9" fmla="*/ 0 h 3912"/>
              </a:gdLst>
              <a:ahLst/>
              <a:cxnLst>
                <a:cxn ang="0">
                  <a:pos x="T0" y="T1"/>
                </a:cxn>
                <a:cxn ang="0">
                  <a:pos x="T2" y="T3"/>
                </a:cxn>
                <a:cxn ang="0">
                  <a:pos x="T4" y="T5"/>
                </a:cxn>
                <a:cxn ang="0">
                  <a:pos x="T6" y="T7"/>
                </a:cxn>
                <a:cxn ang="0">
                  <a:pos x="T8" y="T9"/>
                </a:cxn>
              </a:cxnLst>
              <a:rect l="0" t="0" r="r" b="b"/>
              <a:pathLst>
                <a:path w="3906" h="3912">
                  <a:moveTo>
                    <a:pt x="946" y="0"/>
                  </a:moveTo>
                  <a:cubicBezTo>
                    <a:pt x="2215" y="582"/>
                    <a:pt x="3286" y="1605"/>
                    <a:pt x="3906" y="2964"/>
                  </a:cubicBezTo>
                  <a:lnTo>
                    <a:pt x="1613" y="3912"/>
                  </a:lnTo>
                  <a:cubicBezTo>
                    <a:pt x="1257" y="3181"/>
                    <a:pt x="681" y="2620"/>
                    <a:pt x="0" y="2278"/>
                  </a:cubicBezTo>
                  <a:lnTo>
                    <a:pt x="946" y="0"/>
                  </a:lnTo>
                  <a:close/>
                </a:path>
              </a:pathLst>
            </a:custGeom>
            <a:solidFill>
              <a:srgbClr val="8C54E9"/>
            </a:solidFill>
            <a:ln>
              <a:noFill/>
            </a:ln>
          </p:spPr>
          <p:style>
            <a:lnRef idx="2">
              <a:schemeClr val="accent1">
                <a:shade val="50000"/>
              </a:schemeClr>
            </a:lnRef>
            <a:fillRef idx="1">
              <a:schemeClr val="accent1"/>
            </a:fillRef>
            <a:effectRef idx="0">
              <a:schemeClr val="accent1"/>
            </a:effectRef>
            <a:fontRef idx="minor">
              <a:schemeClr val="lt1"/>
            </a:fontRef>
          </p:style>
          <p:txBody>
            <a:bodyPr lIns="91400" tIns="45701" rIns="91400" bIns="45701" rtlCol="0" anchor="ctr"/>
            <a:lstStyle/>
            <a:p>
              <a:pPr algn="ctr"/>
              <a:endParaRPr lang="zh-CN" altLang="en-US" sz="2400">
                <a:solidFill>
                  <a:schemeClr val="tx1">
                    <a:lumMod val="65000"/>
                    <a:lumOff val="35000"/>
                  </a:schemeClr>
                </a:solidFill>
                <a:latin typeface="思源宋体 CN Medium" panose="02020500000000000000" pitchFamily="18" charset="-122"/>
                <a:ea typeface="思源宋体 CN Medium" panose="02020500000000000000" pitchFamily="18" charset="-122"/>
              </a:endParaRPr>
            </a:p>
          </p:txBody>
        </p:sp>
        <p:cxnSp>
          <p:nvCxnSpPr>
            <p:cNvPr id="26" name="koppt-连接线"/>
            <p:cNvCxnSpPr/>
            <p:nvPr/>
          </p:nvCxnSpPr>
          <p:spPr>
            <a:xfrm>
              <a:off x="4323206" y="2296009"/>
              <a:ext cx="1859511" cy="0"/>
            </a:xfrm>
            <a:prstGeom prst="line">
              <a:avLst/>
            </a:prstGeom>
            <a:ln w="12700">
              <a:solidFill>
                <a:srgbClr val="9B9C9F"/>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koppt-连接线"/>
            <p:cNvCxnSpPr/>
            <p:nvPr/>
          </p:nvCxnSpPr>
          <p:spPr>
            <a:xfrm>
              <a:off x="4955957" y="3916385"/>
              <a:ext cx="1226760" cy="0"/>
            </a:xfrm>
            <a:prstGeom prst="line">
              <a:avLst/>
            </a:prstGeom>
            <a:ln w="12700">
              <a:solidFill>
                <a:srgbClr val="9B9C9F"/>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koppt-连接线"/>
            <p:cNvCxnSpPr/>
            <p:nvPr/>
          </p:nvCxnSpPr>
          <p:spPr>
            <a:xfrm>
              <a:off x="4340955" y="5531390"/>
              <a:ext cx="1841764" cy="0"/>
            </a:xfrm>
            <a:prstGeom prst="line">
              <a:avLst/>
            </a:prstGeom>
            <a:ln w="12700">
              <a:solidFill>
                <a:srgbClr val="9B9C9F"/>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 name="koppt-文本框"/>
            <p:cNvSpPr/>
            <p:nvPr/>
          </p:nvSpPr>
          <p:spPr>
            <a:xfrm>
              <a:off x="6464408" y="1570228"/>
              <a:ext cx="4367186" cy="1326174"/>
            </a:xfrm>
            <a:prstGeom prst="rect">
              <a:avLst/>
            </a:prstGeom>
          </p:spPr>
          <p:txBody>
            <a:bodyPr wrap="square">
              <a:spAutoFit/>
            </a:bodyPr>
            <a:lstStyle/>
            <a:p>
              <a:pPr lvl="0">
                <a:lnSpc>
                  <a:spcPct val="150000"/>
                </a:lnSpc>
              </a:pPr>
              <a:r>
                <a:rPr lang="en-US" altLang="zh-CN" b="1" dirty="0">
                  <a:solidFill>
                    <a:schemeClr val="tx1">
                      <a:lumMod val="65000"/>
                      <a:lumOff val="35000"/>
                    </a:schemeClr>
                  </a:solidFill>
                  <a:latin typeface="思源宋体 CN Medium" panose="02020500000000000000" pitchFamily="18" charset="-122"/>
                  <a:ea typeface="思源宋体 CN Medium" panose="02020500000000000000" pitchFamily="18" charset="-122"/>
                </a:rPr>
                <a:t>First, LLMs demonstrate problem-solving abilities comparable to humans</a:t>
              </a:r>
              <a:endParaRPr lang="en-US" altLang="zh-CN" b="1" dirty="0">
                <a:solidFill>
                  <a:schemeClr val="tx1">
                    <a:lumMod val="65000"/>
                    <a:lumOff val="35000"/>
                  </a:schemeClr>
                </a:solidFill>
                <a:latin typeface="思源宋体 CN Medium" panose="02020500000000000000" pitchFamily="18" charset="-122"/>
                <a:ea typeface="思源宋体 CN Medium" panose="02020500000000000000" pitchFamily="18" charset="-122"/>
              </a:endParaRPr>
            </a:p>
          </p:txBody>
        </p:sp>
        <p:sp>
          <p:nvSpPr>
            <p:cNvPr id="31" name="koppt-文本框"/>
            <p:cNvSpPr/>
            <p:nvPr/>
          </p:nvSpPr>
          <p:spPr>
            <a:xfrm>
              <a:off x="6464408" y="2906619"/>
              <a:ext cx="4367186" cy="2149447"/>
            </a:xfrm>
            <a:prstGeom prst="rect">
              <a:avLst/>
            </a:prstGeom>
          </p:spPr>
          <p:txBody>
            <a:bodyPr wrap="square">
              <a:spAutoFit/>
            </a:bodyPr>
            <a:lstStyle/>
            <a:p>
              <a:pPr lvl="0">
                <a:lnSpc>
                  <a:spcPct val="150000"/>
                </a:lnSpc>
              </a:pPr>
              <a:r>
                <a:rPr lang="en-US" altLang="zh-CN" b="1" dirty="0">
                  <a:solidFill>
                    <a:schemeClr val="tx1">
                      <a:lumMod val="65000"/>
                      <a:lumOff val="35000"/>
                    </a:schemeClr>
                  </a:solidFill>
                  <a:latin typeface="思源宋体 CN Medium" panose="02020500000000000000" pitchFamily="18" charset="-122"/>
                  <a:ea typeface="思源宋体 CN Medium" panose="02020500000000000000" pitchFamily="18" charset="-122"/>
                </a:rPr>
                <a:t>Second, these models exhibit strong abstract thinking by transforming human words into high-dimensional vectors through mechanisms like attention</a:t>
              </a:r>
              <a:endParaRPr lang="en-US" altLang="zh-CN" b="1" dirty="0">
                <a:solidFill>
                  <a:schemeClr val="tx1">
                    <a:lumMod val="65000"/>
                    <a:lumOff val="35000"/>
                  </a:schemeClr>
                </a:solidFill>
                <a:latin typeface="思源宋体 CN Medium" panose="02020500000000000000" pitchFamily="18" charset="-122"/>
                <a:ea typeface="思源宋体 CN Medium" panose="02020500000000000000" pitchFamily="18" charset="-122"/>
              </a:endParaRPr>
            </a:p>
          </p:txBody>
        </p:sp>
        <p:sp>
          <p:nvSpPr>
            <p:cNvPr id="32" name="koppt-文本框"/>
            <p:cNvSpPr/>
            <p:nvPr/>
          </p:nvSpPr>
          <p:spPr>
            <a:xfrm>
              <a:off x="6463779" y="5085818"/>
              <a:ext cx="4367186" cy="1326174"/>
            </a:xfrm>
            <a:prstGeom prst="rect">
              <a:avLst/>
            </a:prstGeom>
          </p:spPr>
          <p:txBody>
            <a:bodyPr wrap="square">
              <a:spAutoFit/>
            </a:bodyPr>
            <a:lstStyle/>
            <a:p>
              <a:pPr lvl="0">
                <a:lnSpc>
                  <a:spcPct val="150000"/>
                </a:lnSpc>
              </a:pPr>
              <a:r>
                <a:rPr lang="en-US" altLang="zh-CN" b="1" dirty="0">
                  <a:solidFill>
                    <a:schemeClr val="tx1">
                      <a:lumMod val="65000"/>
                      <a:lumOff val="35000"/>
                    </a:schemeClr>
                  </a:solidFill>
                  <a:latin typeface="思源宋体 CN Medium" panose="02020500000000000000" pitchFamily="18" charset="-122"/>
                  <a:ea typeface="思源宋体 CN Medium" panose="02020500000000000000" pitchFamily="18" charset="-122"/>
                </a:rPr>
                <a:t>Third, LLMs can learn and retain vast amounts of knowledge during training</a:t>
              </a:r>
              <a:endParaRPr lang="en-US" altLang="zh-CN" b="1" dirty="0">
                <a:solidFill>
                  <a:schemeClr val="tx1">
                    <a:lumMod val="65000"/>
                    <a:lumOff val="35000"/>
                  </a:schemeClr>
                </a:solidFill>
                <a:latin typeface="思源宋体 CN Medium" panose="02020500000000000000" pitchFamily="18" charset="-122"/>
                <a:ea typeface="思源宋体 CN Medium" panose="02020500000000000000" pitchFamily="18" charset="-122"/>
              </a:endParaRPr>
            </a:p>
          </p:txBody>
        </p:sp>
        <p:sp>
          <p:nvSpPr>
            <p:cNvPr id="33" name="koppt-图标"/>
            <p:cNvSpPr>
              <a:spLocks noChangeAspect="1" noEditPoints="1"/>
            </p:cNvSpPr>
            <p:nvPr/>
          </p:nvSpPr>
          <p:spPr bwMode="auto">
            <a:xfrm>
              <a:off x="3766240" y="5085739"/>
              <a:ext cx="436043" cy="359492"/>
            </a:xfrm>
            <a:custGeom>
              <a:avLst/>
              <a:gdLst>
                <a:gd name="T0" fmla="*/ 107 w 131"/>
                <a:gd name="T1" fmla="*/ 106 h 145"/>
                <a:gd name="T2" fmla="*/ 107 w 131"/>
                <a:gd name="T3" fmla="*/ 116 h 145"/>
                <a:gd name="T4" fmla="*/ 98 w 131"/>
                <a:gd name="T5" fmla="*/ 124 h 145"/>
                <a:gd name="T6" fmla="*/ 94 w 131"/>
                <a:gd name="T7" fmla="*/ 124 h 145"/>
                <a:gd name="T8" fmla="*/ 86 w 131"/>
                <a:gd name="T9" fmla="*/ 116 h 145"/>
                <a:gd name="T10" fmla="*/ 86 w 131"/>
                <a:gd name="T11" fmla="*/ 114 h 145"/>
                <a:gd name="T12" fmla="*/ 45 w 131"/>
                <a:gd name="T13" fmla="*/ 113 h 145"/>
                <a:gd name="T14" fmla="*/ 45 w 131"/>
                <a:gd name="T15" fmla="*/ 116 h 145"/>
                <a:gd name="T16" fmla="*/ 37 w 131"/>
                <a:gd name="T17" fmla="*/ 124 h 145"/>
                <a:gd name="T18" fmla="*/ 33 w 131"/>
                <a:gd name="T19" fmla="*/ 124 h 145"/>
                <a:gd name="T20" fmla="*/ 24 w 131"/>
                <a:gd name="T21" fmla="*/ 116 h 145"/>
                <a:gd name="T22" fmla="*/ 24 w 131"/>
                <a:gd name="T23" fmla="*/ 106 h 145"/>
                <a:gd name="T24" fmla="*/ 10 w 131"/>
                <a:gd name="T25" fmla="*/ 98 h 145"/>
                <a:gd name="T26" fmla="*/ 4 w 131"/>
                <a:gd name="T27" fmla="*/ 90 h 145"/>
                <a:gd name="T28" fmla="*/ 4 w 131"/>
                <a:gd name="T29" fmla="*/ 132 h 145"/>
                <a:gd name="T30" fmla="*/ 16 w 131"/>
                <a:gd name="T31" fmla="*/ 145 h 145"/>
                <a:gd name="T32" fmla="*/ 115 w 131"/>
                <a:gd name="T33" fmla="*/ 145 h 145"/>
                <a:gd name="T34" fmla="*/ 127 w 131"/>
                <a:gd name="T35" fmla="*/ 132 h 145"/>
                <a:gd name="T36" fmla="*/ 127 w 131"/>
                <a:gd name="T37" fmla="*/ 90 h 145"/>
                <a:gd name="T38" fmla="*/ 120 w 131"/>
                <a:gd name="T39" fmla="*/ 98 h 145"/>
                <a:gd name="T40" fmla="*/ 107 w 131"/>
                <a:gd name="T41" fmla="*/ 106 h 145"/>
                <a:gd name="T42" fmla="*/ 37 w 131"/>
                <a:gd name="T43" fmla="*/ 116 h 145"/>
                <a:gd name="T44" fmla="*/ 41 w 131"/>
                <a:gd name="T45" fmla="*/ 112 h 145"/>
                <a:gd name="T46" fmla="*/ 41 w 131"/>
                <a:gd name="T47" fmla="*/ 104 h 145"/>
                <a:gd name="T48" fmla="*/ 37 w 131"/>
                <a:gd name="T49" fmla="*/ 99 h 145"/>
                <a:gd name="T50" fmla="*/ 33 w 131"/>
                <a:gd name="T51" fmla="*/ 99 h 145"/>
                <a:gd name="T52" fmla="*/ 28 w 131"/>
                <a:gd name="T53" fmla="*/ 104 h 145"/>
                <a:gd name="T54" fmla="*/ 28 w 131"/>
                <a:gd name="T55" fmla="*/ 112 h 145"/>
                <a:gd name="T56" fmla="*/ 33 w 131"/>
                <a:gd name="T57" fmla="*/ 116 h 145"/>
                <a:gd name="T58" fmla="*/ 37 w 131"/>
                <a:gd name="T59" fmla="*/ 116 h 145"/>
                <a:gd name="T60" fmla="*/ 98 w 131"/>
                <a:gd name="T61" fmla="*/ 116 h 145"/>
                <a:gd name="T62" fmla="*/ 102 w 131"/>
                <a:gd name="T63" fmla="*/ 112 h 145"/>
                <a:gd name="T64" fmla="*/ 102 w 131"/>
                <a:gd name="T65" fmla="*/ 104 h 145"/>
                <a:gd name="T66" fmla="*/ 98 w 131"/>
                <a:gd name="T67" fmla="*/ 99 h 145"/>
                <a:gd name="T68" fmla="*/ 94 w 131"/>
                <a:gd name="T69" fmla="*/ 99 h 145"/>
                <a:gd name="T70" fmla="*/ 90 w 131"/>
                <a:gd name="T71" fmla="*/ 104 h 145"/>
                <a:gd name="T72" fmla="*/ 90 w 131"/>
                <a:gd name="T73" fmla="*/ 112 h 145"/>
                <a:gd name="T74" fmla="*/ 94 w 131"/>
                <a:gd name="T75" fmla="*/ 116 h 145"/>
                <a:gd name="T76" fmla="*/ 98 w 131"/>
                <a:gd name="T77" fmla="*/ 116 h 145"/>
                <a:gd name="T78" fmla="*/ 119 w 131"/>
                <a:gd name="T79" fmla="*/ 38 h 145"/>
                <a:gd name="T80" fmla="*/ 98 w 131"/>
                <a:gd name="T81" fmla="*/ 38 h 145"/>
                <a:gd name="T82" fmla="*/ 33 w 131"/>
                <a:gd name="T83" fmla="*/ 38 h 145"/>
                <a:gd name="T84" fmla="*/ 12 w 131"/>
                <a:gd name="T85" fmla="*/ 38 h 145"/>
                <a:gd name="T86" fmla="*/ 0 w 131"/>
                <a:gd name="T87" fmla="*/ 50 h 145"/>
                <a:gd name="T88" fmla="*/ 0 w 131"/>
                <a:gd name="T89" fmla="*/ 69 h 145"/>
                <a:gd name="T90" fmla="*/ 10 w 131"/>
                <a:gd name="T91" fmla="*/ 90 h 145"/>
                <a:gd name="T92" fmla="*/ 26 w 131"/>
                <a:gd name="T93" fmla="*/ 99 h 145"/>
                <a:gd name="T94" fmla="*/ 33 w 131"/>
                <a:gd name="T95" fmla="*/ 95 h 145"/>
                <a:gd name="T96" fmla="*/ 37 w 131"/>
                <a:gd name="T97" fmla="*/ 95 h 145"/>
                <a:gd name="T98" fmla="*/ 45 w 131"/>
                <a:gd name="T99" fmla="*/ 104 h 145"/>
                <a:gd name="T100" fmla="*/ 45 w 131"/>
                <a:gd name="T101" fmla="*/ 106 h 145"/>
                <a:gd name="T102" fmla="*/ 86 w 131"/>
                <a:gd name="T103" fmla="*/ 106 h 145"/>
                <a:gd name="T104" fmla="*/ 86 w 131"/>
                <a:gd name="T105" fmla="*/ 104 h 145"/>
                <a:gd name="T106" fmla="*/ 94 w 131"/>
                <a:gd name="T107" fmla="*/ 95 h 145"/>
                <a:gd name="T108" fmla="*/ 98 w 131"/>
                <a:gd name="T109" fmla="*/ 95 h 145"/>
                <a:gd name="T110" fmla="*/ 105 w 131"/>
                <a:gd name="T111" fmla="*/ 99 h 145"/>
                <a:gd name="T112" fmla="*/ 120 w 131"/>
                <a:gd name="T113" fmla="*/ 90 h 145"/>
                <a:gd name="T114" fmla="*/ 131 w 131"/>
                <a:gd name="T115" fmla="*/ 69 h 145"/>
                <a:gd name="T116" fmla="*/ 131 w 131"/>
                <a:gd name="T117" fmla="*/ 50 h 145"/>
                <a:gd name="T118" fmla="*/ 119 w 131"/>
                <a:gd name="T119" fmla="*/ 38 h 145"/>
                <a:gd name="T120" fmla="*/ 46 w 131"/>
                <a:gd name="T121" fmla="*/ 38 h 145"/>
                <a:gd name="T122" fmla="*/ 85 w 131"/>
                <a:gd name="T123" fmla="*/ 38 h 145"/>
                <a:gd name="T124" fmla="*/ 46 w 131"/>
                <a:gd name="T125" fmla="*/ 38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1" h="145">
                  <a:moveTo>
                    <a:pt x="107" y="106"/>
                  </a:moveTo>
                  <a:cubicBezTo>
                    <a:pt x="107" y="116"/>
                    <a:pt x="107" y="116"/>
                    <a:pt x="107" y="116"/>
                  </a:cubicBezTo>
                  <a:cubicBezTo>
                    <a:pt x="107" y="120"/>
                    <a:pt x="103" y="124"/>
                    <a:pt x="98" y="124"/>
                  </a:cubicBezTo>
                  <a:cubicBezTo>
                    <a:pt x="94" y="124"/>
                    <a:pt x="94" y="124"/>
                    <a:pt x="94" y="124"/>
                  </a:cubicBezTo>
                  <a:cubicBezTo>
                    <a:pt x="90" y="124"/>
                    <a:pt x="86" y="120"/>
                    <a:pt x="86" y="116"/>
                  </a:cubicBezTo>
                  <a:cubicBezTo>
                    <a:pt x="86" y="114"/>
                    <a:pt x="86" y="114"/>
                    <a:pt x="86" y="114"/>
                  </a:cubicBezTo>
                  <a:cubicBezTo>
                    <a:pt x="72" y="117"/>
                    <a:pt x="58" y="116"/>
                    <a:pt x="45" y="113"/>
                  </a:cubicBezTo>
                  <a:cubicBezTo>
                    <a:pt x="45" y="116"/>
                    <a:pt x="45" y="116"/>
                    <a:pt x="45" y="116"/>
                  </a:cubicBezTo>
                  <a:cubicBezTo>
                    <a:pt x="45" y="120"/>
                    <a:pt x="41" y="124"/>
                    <a:pt x="37" y="124"/>
                  </a:cubicBezTo>
                  <a:cubicBezTo>
                    <a:pt x="33" y="124"/>
                    <a:pt x="33" y="124"/>
                    <a:pt x="33" y="124"/>
                  </a:cubicBezTo>
                  <a:cubicBezTo>
                    <a:pt x="28" y="124"/>
                    <a:pt x="24" y="120"/>
                    <a:pt x="24" y="116"/>
                  </a:cubicBezTo>
                  <a:cubicBezTo>
                    <a:pt x="24" y="106"/>
                    <a:pt x="24" y="106"/>
                    <a:pt x="24" y="106"/>
                  </a:cubicBezTo>
                  <a:cubicBezTo>
                    <a:pt x="20" y="104"/>
                    <a:pt x="15" y="101"/>
                    <a:pt x="10" y="98"/>
                  </a:cubicBezTo>
                  <a:cubicBezTo>
                    <a:pt x="8" y="96"/>
                    <a:pt x="6" y="93"/>
                    <a:pt x="4" y="90"/>
                  </a:cubicBezTo>
                  <a:cubicBezTo>
                    <a:pt x="4" y="132"/>
                    <a:pt x="4" y="132"/>
                    <a:pt x="4" y="132"/>
                  </a:cubicBezTo>
                  <a:cubicBezTo>
                    <a:pt x="4" y="139"/>
                    <a:pt x="9" y="145"/>
                    <a:pt x="16" y="145"/>
                  </a:cubicBezTo>
                  <a:cubicBezTo>
                    <a:pt x="115" y="145"/>
                    <a:pt x="115" y="145"/>
                    <a:pt x="115" y="145"/>
                  </a:cubicBezTo>
                  <a:cubicBezTo>
                    <a:pt x="122" y="145"/>
                    <a:pt x="127" y="139"/>
                    <a:pt x="127" y="132"/>
                  </a:cubicBezTo>
                  <a:cubicBezTo>
                    <a:pt x="127" y="90"/>
                    <a:pt x="127" y="90"/>
                    <a:pt x="127" y="90"/>
                  </a:cubicBezTo>
                  <a:cubicBezTo>
                    <a:pt x="125" y="93"/>
                    <a:pt x="123" y="96"/>
                    <a:pt x="120" y="98"/>
                  </a:cubicBezTo>
                  <a:cubicBezTo>
                    <a:pt x="116" y="101"/>
                    <a:pt x="111" y="104"/>
                    <a:pt x="107" y="106"/>
                  </a:cubicBezTo>
                  <a:close/>
                  <a:moveTo>
                    <a:pt x="37" y="116"/>
                  </a:moveTo>
                  <a:cubicBezTo>
                    <a:pt x="39" y="116"/>
                    <a:pt x="41" y="114"/>
                    <a:pt x="41" y="112"/>
                  </a:cubicBezTo>
                  <a:cubicBezTo>
                    <a:pt x="41" y="104"/>
                    <a:pt x="41" y="104"/>
                    <a:pt x="41" y="104"/>
                  </a:cubicBezTo>
                  <a:cubicBezTo>
                    <a:pt x="41" y="101"/>
                    <a:pt x="39" y="99"/>
                    <a:pt x="37" y="99"/>
                  </a:cubicBezTo>
                  <a:cubicBezTo>
                    <a:pt x="33" y="99"/>
                    <a:pt x="33" y="99"/>
                    <a:pt x="33" y="99"/>
                  </a:cubicBezTo>
                  <a:cubicBezTo>
                    <a:pt x="30" y="99"/>
                    <a:pt x="28" y="101"/>
                    <a:pt x="28" y="104"/>
                  </a:cubicBezTo>
                  <a:cubicBezTo>
                    <a:pt x="28" y="112"/>
                    <a:pt x="28" y="112"/>
                    <a:pt x="28" y="112"/>
                  </a:cubicBezTo>
                  <a:cubicBezTo>
                    <a:pt x="28" y="114"/>
                    <a:pt x="30" y="116"/>
                    <a:pt x="33" y="116"/>
                  </a:cubicBezTo>
                  <a:lnTo>
                    <a:pt x="37" y="116"/>
                  </a:lnTo>
                  <a:close/>
                  <a:moveTo>
                    <a:pt x="98" y="116"/>
                  </a:moveTo>
                  <a:cubicBezTo>
                    <a:pt x="101" y="116"/>
                    <a:pt x="102" y="114"/>
                    <a:pt x="102" y="112"/>
                  </a:cubicBezTo>
                  <a:cubicBezTo>
                    <a:pt x="102" y="104"/>
                    <a:pt x="102" y="104"/>
                    <a:pt x="102" y="104"/>
                  </a:cubicBezTo>
                  <a:cubicBezTo>
                    <a:pt x="102" y="101"/>
                    <a:pt x="101" y="99"/>
                    <a:pt x="98" y="99"/>
                  </a:cubicBezTo>
                  <a:cubicBezTo>
                    <a:pt x="94" y="99"/>
                    <a:pt x="94" y="99"/>
                    <a:pt x="94" y="99"/>
                  </a:cubicBezTo>
                  <a:cubicBezTo>
                    <a:pt x="92" y="99"/>
                    <a:pt x="90" y="101"/>
                    <a:pt x="90" y="104"/>
                  </a:cubicBezTo>
                  <a:cubicBezTo>
                    <a:pt x="90" y="112"/>
                    <a:pt x="90" y="112"/>
                    <a:pt x="90" y="112"/>
                  </a:cubicBezTo>
                  <a:cubicBezTo>
                    <a:pt x="90" y="114"/>
                    <a:pt x="92" y="116"/>
                    <a:pt x="94" y="116"/>
                  </a:cubicBezTo>
                  <a:lnTo>
                    <a:pt x="98" y="116"/>
                  </a:lnTo>
                  <a:close/>
                  <a:moveTo>
                    <a:pt x="119" y="38"/>
                  </a:moveTo>
                  <a:cubicBezTo>
                    <a:pt x="98" y="38"/>
                    <a:pt x="98" y="38"/>
                    <a:pt x="98" y="38"/>
                  </a:cubicBezTo>
                  <a:cubicBezTo>
                    <a:pt x="94" y="0"/>
                    <a:pt x="37" y="0"/>
                    <a:pt x="33" y="38"/>
                  </a:cubicBezTo>
                  <a:cubicBezTo>
                    <a:pt x="12" y="38"/>
                    <a:pt x="12" y="38"/>
                    <a:pt x="12" y="38"/>
                  </a:cubicBezTo>
                  <a:cubicBezTo>
                    <a:pt x="5" y="38"/>
                    <a:pt x="0" y="43"/>
                    <a:pt x="0" y="50"/>
                  </a:cubicBezTo>
                  <a:cubicBezTo>
                    <a:pt x="0" y="62"/>
                    <a:pt x="0" y="56"/>
                    <a:pt x="0" y="69"/>
                  </a:cubicBezTo>
                  <a:cubicBezTo>
                    <a:pt x="0" y="75"/>
                    <a:pt x="4" y="85"/>
                    <a:pt x="10" y="90"/>
                  </a:cubicBezTo>
                  <a:cubicBezTo>
                    <a:pt x="15" y="94"/>
                    <a:pt x="20" y="97"/>
                    <a:pt x="26" y="99"/>
                  </a:cubicBezTo>
                  <a:cubicBezTo>
                    <a:pt x="27" y="97"/>
                    <a:pt x="30" y="95"/>
                    <a:pt x="33" y="95"/>
                  </a:cubicBezTo>
                  <a:cubicBezTo>
                    <a:pt x="37" y="95"/>
                    <a:pt x="37" y="95"/>
                    <a:pt x="37" y="95"/>
                  </a:cubicBezTo>
                  <a:cubicBezTo>
                    <a:pt x="41" y="95"/>
                    <a:pt x="45" y="99"/>
                    <a:pt x="45" y="104"/>
                  </a:cubicBezTo>
                  <a:cubicBezTo>
                    <a:pt x="45" y="106"/>
                    <a:pt x="45" y="106"/>
                    <a:pt x="45" y="106"/>
                  </a:cubicBezTo>
                  <a:cubicBezTo>
                    <a:pt x="58" y="109"/>
                    <a:pt x="72" y="109"/>
                    <a:pt x="86" y="106"/>
                  </a:cubicBezTo>
                  <a:cubicBezTo>
                    <a:pt x="86" y="104"/>
                    <a:pt x="86" y="104"/>
                    <a:pt x="86" y="104"/>
                  </a:cubicBezTo>
                  <a:cubicBezTo>
                    <a:pt x="86" y="99"/>
                    <a:pt x="90" y="95"/>
                    <a:pt x="94" y="95"/>
                  </a:cubicBezTo>
                  <a:cubicBezTo>
                    <a:pt x="98" y="95"/>
                    <a:pt x="98" y="95"/>
                    <a:pt x="98" y="95"/>
                  </a:cubicBezTo>
                  <a:cubicBezTo>
                    <a:pt x="101" y="95"/>
                    <a:pt x="104" y="97"/>
                    <a:pt x="105" y="99"/>
                  </a:cubicBezTo>
                  <a:cubicBezTo>
                    <a:pt x="110" y="97"/>
                    <a:pt x="116" y="94"/>
                    <a:pt x="120" y="90"/>
                  </a:cubicBezTo>
                  <a:cubicBezTo>
                    <a:pt x="127" y="85"/>
                    <a:pt x="131" y="75"/>
                    <a:pt x="131" y="69"/>
                  </a:cubicBezTo>
                  <a:cubicBezTo>
                    <a:pt x="131" y="56"/>
                    <a:pt x="131" y="62"/>
                    <a:pt x="131" y="50"/>
                  </a:cubicBezTo>
                  <a:cubicBezTo>
                    <a:pt x="131" y="43"/>
                    <a:pt x="126" y="38"/>
                    <a:pt x="119" y="38"/>
                  </a:cubicBezTo>
                  <a:close/>
                  <a:moveTo>
                    <a:pt x="46" y="38"/>
                  </a:moveTo>
                  <a:cubicBezTo>
                    <a:pt x="50" y="16"/>
                    <a:pt x="81" y="16"/>
                    <a:pt x="85" y="38"/>
                  </a:cubicBezTo>
                  <a:lnTo>
                    <a:pt x="46" y="38"/>
                  </a:lnTo>
                  <a:close/>
                </a:path>
              </a:pathLst>
            </a:custGeom>
            <a:solidFill>
              <a:schemeClr val="bg1"/>
            </a:solidFill>
            <a:ln>
              <a:noFill/>
            </a:ln>
          </p:spPr>
          <p:txBody>
            <a:bodyPr vert="horz" wrap="square" lIns="91440" tIns="45720" rIns="91440" bIns="45720" numCol="1" anchor="t" anchorCtr="0" compatLnSpc="1"/>
            <a:lstStyle/>
            <a:p>
              <a:endParaRPr lang="en-US" dirty="0">
                <a:solidFill>
                  <a:schemeClr val="tx1">
                    <a:lumMod val="65000"/>
                    <a:lumOff val="35000"/>
                  </a:schemeClr>
                </a:solidFill>
                <a:latin typeface="思源宋体 CN Medium" panose="02020500000000000000" pitchFamily="18" charset="-122"/>
                <a:ea typeface="思源宋体 CN Medium" panose="02020500000000000000" pitchFamily="18" charset="-122"/>
              </a:endParaRPr>
            </a:p>
          </p:txBody>
        </p:sp>
        <p:sp>
          <p:nvSpPr>
            <p:cNvPr id="34" name="koppt-图标"/>
            <p:cNvSpPr>
              <a:spLocks noEditPoints="1"/>
            </p:cNvSpPr>
            <p:nvPr/>
          </p:nvSpPr>
          <p:spPr bwMode="auto">
            <a:xfrm>
              <a:off x="4343653" y="3619515"/>
              <a:ext cx="271508" cy="481006"/>
            </a:xfrm>
            <a:custGeom>
              <a:avLst/>
              <a:gdLst>
                <a:gd name="T0" fmla="*/ 1428 w 1428"/>
                <a:gd name="T1" fmla="*/ 546 h 2532"/>
                <a:gd name="T2" fmla="*/ 1194 w 1428"/>
                <a:gd name="T3" fmla="*/ 0 h 2532"/>
                <a:gd name="T4" fmla="*/ 0 w 1428"/>
                <a:gd name="T5" fmla="*/ 563 h 2532"/>
                <a:gd name="T6" fmla="*/ 404 w 1428"/>
                <a:gd name="T7" fmla="*/ 2332 h 2532"/>
                <a:gd name="T8" fmla="*/ 988 w 1428"/>
                <a:gd name="T9" fmla="*/ 2532 h 2532"/>
                <a:gd name="T10" fmla="*/ 1265 w 1428"/>
                <a:gd name="T11" fmla="*/ 2532 h 2532"/>
                <a:gd name="T12" fmla="*/ 1428 w 1428"/>
                <a:gd name="T13" fmla="*/ 2332 h 2532"/>
                <a:gd name="T14" fmla="*/ 173 w 1428"/>
                <a:gd name="T15" fmla="*/ 660 h 2532"/>
                <a:gd name="T16" fmla="*/ 644 w 1428"/>
                <a:gd name="T17" fmla="*/ 533 h 2532"/>
                <a:gd name="T18" fmla="*/ 173 w 1428"/>
                <a:gd name="T19" fmla="*/ 660 h 2532"/>
                <a:gd name="T20" fmla="*/ 644 w 1428"/>
                <a:gd name="T21" fmla="*/ 617 h 2532"/>
                <a:gd name="T22" fmla="*/ 173 w 1428"/>
                <a:gd name="T23" fmla="*/ 894 h 2532"/>
                <a:gd name="T24" fmla="*/ 417 w 1428"/>
                <a:gd name="T25" fmla="*/ 2258 h 2532"/>
                <a:gd name="T26" fmla="*/ 301 w 1428"/>
                <a:gd name="T27" fmla="*/ 1680 h 2532"/>
                <a:gd name="T28" fmla="*/ 1143 w 1428"/>
                <a:gd name="T29" fmla="*/ 1393 h 2532"/>
                <a:gd name="T30" fmla="*/ 191 w 1428"/>
                <a:gd name="T31" fmla="*/ 1957 h 2532"/>
                <a:gd name="T32" fmla="*/ 988 w 1428"/>
                <a:gd name="T33" fmla="*/ 2182 h 2532"/>
                <a:gd name="T34" fmla="*/ 417 w 1428"/>
                <a:gd name="T35" fmla="*/ 2258 h 2532"/>
                <a:gd name="T36" fmla="*/ 988 w 1428"/>
                <a:gd name="T37" fmla="*/ 2032 h 2532"/>
                <a:gd name="T38" fmla="*/ 972 w 1428"/>
                <a:gd name="T39" fmla="*/ 2107 h 2532"/>
                <a:gd name="T40" fmla="*/ 297 w 1428"/>
                <a:gd name="T41" fmla="*/ 2032 h 2532"/>
                <a:gd name="T42" fmla="*/ 1265 w 1428"/>
                <a:gd name="T43" fmla="*/ 2258 h 2532"/>
                <a:gd name="T44" fmla="*/ 1353 w 1428"/>
                <a:gd name="T45" fmla="*/ 2182 h 2532"/>
                <a:gd name="T46" fmla="*/ 1353 w 1428"/>
                <a:gd name="T47" fmla="*/ 2107 h 2532"/>
                <a:gd name="T48" fmla="*/ 1265 w 1428"/>
                <a:gd name="T49" fmla="*/ 2032 h 2532"/>
                <a:gd name="T50" fmla="*/ 1353 w 1428"/>
                <a:gd name="T51" fmla="*/ 2107 h 2532"/>
                <a:gd name="T52" fmla="*/ 276 w 1428"/>
                <a:gd name="T53" fmla="*/ 1955 h 2532"/>
                <a:gd name="T54" fmla="*/ 295 w 1428"/>
                <a:gd name="T55" fmla="*/ 1880 h 2532"/>
                <a:gd name="T56" fmla="*/ 1353 w 1428"/>
                <a:gd name="T57" fmla="*/ 1955 h 2532"/>
                <a:gd name="T58" fmla="*/ 390 w 1428"/>
                <a:gd name="T59" fmla="*/ 1805 h 2532"/>
                <a:gd name="T60" fmla="*/ 1194 w 1428"/>
                <a:gd name="T61" fmla="*/ 1409 h 2532"/>
                <a:gd name="T62" fmla="*/ 1353 w 1428"/>
                <a:gd name="T63" fmla="*/ 621 h 2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28" h="2532">
                  <a:moveTo>
                    <a:pt x="1428" y="1941"/>
                  </a:moveTo>
                  <a:lnTo>
                    <a:pt x="1428" y="546"/>
                  </a:lnTo>
                  <a:lnTo>
                    <a:pt x="1194" y="546"/>
                  </a:lnTo>
                  <a:lnTo>
                    <a:pt x="1194" y="0"/>
                  </a:lnTo>
                  <a:lnTo>
                    <a:pt x="73" y="478"/>
                  </a:lnTo>
                  <a:cubicBezTo>
                    <a:pt x="24" y="504"/>
                    <a:pt x="0" y="534"/>
                    <a:pt x="0" y="563"/>
                  </a:cubicBezTo>
                  <a:lnTo>
                    <a:pt x="0" y="1875"/>
                  </a:lnTo>
                  <a:cubicBezTo>
                    <a:pt x="0" y="2135"/>
                    <a:pt x="159" y="2332"/>
                    <a:pt x="404" y="2332"/>
                  </a:cubicBezTo>
                  <a:lnTo>
                    <a:pt x="988" y="2332"/>
                  </a:lnTo>
                  <a:lnTo>
                    <a:pt x="988" y="2532"/>
                  </a:lnTo>
                  <a:lnTo>
                    <a:pt x="1130" y="2369"/>
                  </a:lnTo>
                  <a:lnTo>
                    <a:pt x="1265" y="2532"/>
                  </a:lnTo>
                  <a:lnTo>
                    <a:pt x="1265" y="2332"/>
                  </a:lnTo>
                  <a:lnTo>
                    <a:pt x="1428" y="2332"/>
                  </a:lnTo>
                  <a:lnTo>
                    <a:pt x="1428" y="1941"/>
                  </a:lnTo>
                  <a:close/>
                  <a:moveTo>
                    <a:pt x="173" y="660"/>
                  </a:moveTo>
                  <a:lnTo>
                    <a:pt x="644" y="458"/>
                  </a:lnTo>
                  <a:lnTo>
                    <a:pt x="644" y="533"/>
                  </a:lnTo>
                  <a:lnTo>
                    <a:pt x="173" y="735"/>
                  </a:lnTo>
                  <a:lnTo>
                    <a:pt x="173" y="660"/>
                  </a:lnTo>
                  <a:close/>
                  <a:moveTo>
                    <a:pt x="173" y="819"/>
                  </a:moveTo>
                  <a:lnTo>
                    <a:pt x="644" y="617"/>
                  </a:lnTo>
                  <a:lnTo>
                    <a:pt x="644" y="692"/>
                  </a:lnTo>
                  <a:lnTo>
                    <a:pt x="173" y="894"/>
                  </a:lnTo>
                  <a:lnTo>
                    <a:pt x="173" y="819"/>
                  </a:lnTo>
                  <a:close/>
                  <a:moveTo>
                    <a:pt x="417" y="2258"/>
                  </a:moveTo>
                  <a:cubicBezTo>
                    <a:pt x="251" y="2258"/>
                    <a:pt x="116" y="2123"/>
                    <a:pt x="116" y="1957"/>
                  </a:cubicBezTo>
                  <a:cubicBezTo>
                    <a:pt x="116" y="1835"/>
                    <a:pt x="189" y="1727"/>
                    <a:pt x="301" y="1680"/>
                  </a:cubicBezTo>
                  <a:cubicBezTo>
                    <a:pt x="332" y="1667"/>
                    <a:pt x="1136" y="1314"/>
                    <a:pt x="1143" y="1311"/>
                  </a:cubicBezTo>
                  <a:lnTo>
                    <a:pt x="1143" y="1393"/>
                  </a:lnTo>
                  <a:cubicBezTo>
                    <a:pt x="1143" y="1393"/>
                    <a:pt x="361" y="1736"/>
                    <a:pt x="330" y="1749"/>
                  </a:cubicBezTo>
                  <a:cubicBezTo>
                    <a:pt x="246" y="1784"/>
                    <a:pt x="191" y="1866"/>
                    <a:pt x="191" y="1957"/>
                  </a:cubicBezTo>
                  <a:cubicBezTo>
                    <a:pt x="191" y="2081"/>
                    <a:pt x="292" y="2182"/>
                    <a:pt x="417" y="2182"/>
                  </a:cubicBezTo>
                  <a:lnTo>
                    <a:pt x="988" y="2182"/>
                  </a:lnTo>
                  <a:lnTo>
                    <a:pt x="988" y="2258"/>
                  </a:lnTo>
                  <a:lnTo>
                    <a:pt x="417" y="2258"/>
                  </a:lnTo>
                  <a:close/>
                  <a:moveTo>
                    <a:pt x="297" y="2032"/>
                  </a:moveTo>
                  <a:lnTo>
                    <a:pt x="988" y="2032"/>
                  </a:lnTo>
                  <a:lnTo>
                    <a:pt x="988" y="2107"/>
                  </a:lnTo>
                  <a:lnTo>
                    <a:pt x="972" y="2107"/>
                  </a:lnTo>
                  <a:lnTo>
                    <a:pt x="428" y="2107"/>
                  </a:lnTo>
                  <a:cubicBezTo>
                    <a:pt x="372" y="2107"/>
                    <a:pt x="323" y="2077"/>
                    <a:pt x="297" y="2032"/>
                  </a:cubicBezTo>
                  <a:close/>
                  <a:moveTo>
                    <a:pt x="1353" y="2258"/>
                  </a:moveTo>
                  <a:lnTo>
                    <a:pt x="1265" y="2258"/>
                  </a:lnTo>
                  <a:lnTo>
                    <a:pt x="1265" y="2182"/>
                  </a:lnTo>
                  <a:lnTo>
                    <a:pt x="1353" y="2182"/>
                  </a:lnTo>
                  <a:lnTo>
                    <a:pt x="1353" y="2258"/>
                  </a:lnTo>
                  <a:close/>
                  <a:moveTo>
                    <a:pt x="1353" y="2107"/>
                  </a:moveTo>
                  <a:lnTo>
                    <a:pt x="1265" y="2107"/>
                  </a:lnTo>
                  <a:lnTo>
                    <a:pt x="1265" y="2032"/>
                  </a:lnTo>
                  <a:lnTo>
                    <a:pt x="1353" y="2032"/>
                  </a:lnTo>
                  <a:lnTo>
                    <a:pt x="1353" y="2107"/>
                  </a:lnTo>
                  <a:close/>
                  <a:moveTo>
                    <a:pt x="1353" y="1955"/>
                  </a:moveTo>
                  <a:lnTo>
                    <a:pt x="276" y="1955"/>
                  </a:lnTo>
                  <a:cubicBezTo>
                    <a:pt x="276" y="1955"/>
                    <a:pt x="276" y="1955"/>
                    <a:pt x="276" y="1954"/>
                  </a:cubicBezTo>
                  <a:cubicBezTo>
                    <a:pt x="276" y="1927"/>
                    <a:pt x="283" y="1902"/>
                    <a:pt x="295" y="1880"/>
                  </a:cubicBezTo>
                  <a:lnTo>
                    <a:pt x="1353" y="1880"/>
                  </a:lnTo>
                  <a:lnTo>
                    <a:pt x="1353" y="1955"/>
                  </a:lnTo>
                  <a:close/>
                  <a:moveTo>
                    <a:pt x="1353" y="1805"/>
                  </a:moveTo>
                  <a:lnTo>
                    <a:pt x="390" y="1805"/>
                  </a:lnTo>
                  <a:lnTo>
                    <a:pt x="1152" y="1471"/>
                  </a:lnTo>
                  <a:cubicBezTo>
                    <a:pt x="1177" y="1460"/>
                    <a:pt x="1194" y="1435"/>
                    <a:pt x="1194" y="1409"/>
                  </a:cubicBezTo>
                  <a:lnTo>
                    <a:pt x="1194" y="621"/>
                  </a:lnTo>
                  <a:lnTo>
                    <a:pt x="1353" y="621"/>
                  </a:lnTo>
                  <a:lnTo>
                    <a:pt x="1353" y="1805"/>
                  </a:lnTo>
                  <a:close/>
                </a:path>
              </a:pathLst>
            </a:custGeom>
            <a:solidFill>
              <a:srgbClr val="FFFFFF"/>
            </a:solidFill>
            <a:ln w="0">
              <a:no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th-TH">
                <a:solidFill>
                  <a:schemeClr val="tx1">
                    <a:lumMod val="65000"/>
                    <a:lumOff val="35000"/>
                  </a:schemeClr>
                </a:solidFill>
                <a:latin typeface="思源宋体 CN Medium" panose="02020500000000000000" pitchFamily="18" charset="-122"/>
                <a:ea typeface="思源宋体 CN Medium" panose="02020500000000000000" pitchFamily="18" charset="-122"/>
              </a:endParaRPr>
            </a:p>
          </p:txBody>
        </p:sp>
        <p:sp>
          <p:nvSpPr>
            <p:cNvPr id="35" name="koppt-图标"/>
            <p:cNvSpPr>
              <a:spLocks noEditPoints="1"/>
            </p:cNvSpPr>
            <p:nvPr/>
          </p:nvSpPr>
          <p:spPr bwMode="auto">
            <a:xfrm>
              <a:off x="2072654" y="3517181"/>
              <a:ext cx="1017384" cy="681440"/>
            </a:xfrm>
            <a:custGeom>
              <a:avLst/>
              <a:gdLst>
                <a:gd name="T0" fmla="*/ 2821 w 2821"/>
                <a:gd name="T1" fmla="*/ 623 h 1889"/>
                <a:gd name="T2" fmla="*/ 2817 w 2821"/>
                <a:gd name="T3" fmla="*/ 621 h 1889"/>
                <a:gd name="T4" fmla="*/ 2817 w 2821"/>
                <a:gd name="T5" fmla="*/ 621 h 1889"/>
                <a:gd name="T6" fmla="*/ 1409 w 2821"/>
                <a:gd name="T7" fmla="*/ 0 h 1889"/>
                <a:gd name="T8" fmla="*/ 464 w 2821"/>
                <a:gd name="T9" fmla="*/ 417 h 1889"/>
                <a:gd name="T10" fmla="*/ 397 w 2821"/>
                <a:gd name="T11" fmla="*/ 391 h 1889"/>
                <a:gd name="T12" fmla="*/ 294 w 2821"/>
                <a:gd name="T13" fmla="*/ 492 h 1889"/>
                <a:gd name="T14" fmla="*/ 0 w 2821"/>
                <a:gd name="T15" fmla="*/ 621 h 1889"/>
                <a:gd name="T16" fmla="*/ 293 w 2821"/>
                <a:gd name="T17" fmla="*/ 750 h 1889"/>
                <a:gd name="T18" fmla="*/ 293 w 2821"/>
                <a:gd name="T19" fmla="*/ 1170 h 1889"/>
                <a:gd name="T20" fmla="*/ 237 w 2821"/>
                <a:gd name="T21" fmla="*/ 1170 h 1889"/>
                <a:gd name="T22" fmla="*/ 179 w 2821"/>
                <a:gd name="T23" fmla="*/ 1877 h 1889"/>
                <a:gd name="T24" fmla="*/ 504 w 2821"/>
                <a:gd name="T25" fmla="*/ 1877 h 1889"/>
                <a:gd name="T26" fmla="*/ 446 w 2821"/>
                <a:gd name="T27" fmla="*/ 1170 h 1889"/>
                <a:gd name="T28" fmla="*/ 391 w 2821"/>
                <a:gd name="T29" fmla="*/ 1170 h 1889"/>
                <a:gd name="T30" fmla="*/ 391 w 2821"/>
                <a:gd name="T31" fmla="*/ 793 h 1889"/>
                <a:gd name="T32" fmla="*/ 468 w 2821"/>
                <a:gd name="T33" fmla="*/ 827 h 1889"/>
                <a:gd name="T34" fmla="*/ 468 w 2821"/>
                <a:gd name="T35" fmla="*/ 827 h 1889"/>
                <a:gd name="T36" fmla="*/ 638 w 2821"/>
                <a:gd name="T37" fmla="*/ 903 h 1889"/>
                <a:gd name="T38" fmla="*/ 638 w 2821"/>
                <a:gd name="T39" fmla="*/ 1450 h 1889"/>
                <a:gd name="T40" fmla="*/ 1409 w 2821"/>
                <a:gd name="T41" fmla="*/ 1889 h 1889"/>
                <a:gd name="T42" fmla="*/ 2179 w 2821"/>
                <a:gd name="T43" fmla="*/ 1450 h 1889"/>
                <a:gd name="T44" fmla="*/ 2179 w 2821"/>
                <a:gd name="T45" fmla="*/ 906 h 1889"/>
                <a:gd name="T46" fmla="*/ 2821 w 2821"/>
                <a:gd name="T47" fmla="*/ 623 h 1889"/>
                <a:gd name="T48" fmla="*/ 2034 w 2821"/>
                <a:gd name="T49" fmla="*/ 1427 h 1889"/>
                <a:gd name="T50" fmla="*/ 1409 w 2821"/>
                <a:gd name="T51" fmla="*/ 1704 h 1889"/>
                <a:gd name="T52" fmla="*/ 784 w 2821"/>
                <a:gd name="T53" fmla="*/ 1427 h 1889"/>
                <a:gd name="T54" fmla="*/ 784 w 2821"/>
                <a:gd name="T55" fmla="*/ 967 h 1889"/>
                <a:gd name="T56" fmla="*/ 1412 w 2821"/>
                <a:gd name="T57" fmla="*/ 1244 h 1889"/>
                <a:gd name="T58" fmla="*/ 2034 w 2821"/>
                <a:gd name="T59" fmla="*/ 970 h 1889"/>
                <a:gd name="T60" fmla="*/ 2034 w 2821"/>
                <a:gd name="T61" fmla="*/ 1427 h 1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1" h="1889">
                  <a:moveTo>
                    <a:pt x="2821" y="623"/>
                  </a:moveTo>
                  <a:lnTo>
                    <a:pt x="2817" y="621"/>
                  </a:lnTo>
                  <a:lnTo>
                    <a:pt x="2817" y="621"/>
                  </a:lnTo>
                  <a:lnTo>
                    <a:pt x="1409" y="0"/>
                  </a:lnTo>
                  <a:lnTo>
                    <a:pt x="464" y="417"/>
                  </a:lnTo>
                  <a:cubicBezTo>
                    <a:pt x="446" y="401"/>
                    <a:pt x="423" y="391"/>
                    <a:pt x="397" y="391"/>
                  </a:cubicBezTo>
                  <a:cubicBezTo>
                    <a:pt x="341" y="391"/>
                    <a:pt x="296" y="436"/>
                    <a:pt x="294" y="492"/>
                  </a:cubicBezTo>
                  <a:lnTo>
                    <a:pt x="0" y="621"/>
                  </a:lnTo>
                  <a:lnTo>
                    <a:pt x="293" y="750"/>
                  </a:lnTo>
                  <a:lnTo>
                    <a:pt x="293" y="1170"/>
                  </a:lnTo>
                  <a:lnTo>
                    <a:pt x="237" y="1170"/>
                  </a:lnTo>
                  <a:lnTo>
                    <a:pt x="179" y="1877"/>
                  </a:lnTo>
                  <a:lnTo>
                    <a:pt x="504" y="1877"/>
                  </a:lnTo>
                  <a:lnTo>
                    <a:pt x="446" y="1170"/>
                  </a:lnTo>
                  <a:lnTo>
                    <a:pt x="391" y="1170"/>
                  </a:lnTo>
                  <a:lnTo>
                    <a:pt x="391" y="793"/>
                  </a:lnTo>
                  <a:lnTo>
                    <a:pt x="468" y="827"/>
                  </a:lnTo>
                  <a:lnTo>
                    <a:pt x="468" y="827"/>
                  </a:lnTo>
                  <a:lnTo>
                    <a:pt x="638" y="903"/>
                  </a:lnTo>
                  <a:lnTo>
                    <a:pt x="638" y="1450"/>
                  </a:lnTo>
                  <a:cubicBezTo>
                    <a:pt x="638" y="1641"/>
                    <a:pt x="1374" y="1889"/>
                    <a:pt x="1409" y="1889"/>
                  </a:cubicBezTo>
                  <a:cubicBezTo>
                    <a:pt x="1443" y="1889"/>
                    <a:pt x="2179" y="1641"/>
                    <a:pt x="2179" y="1450"/>
                  </a:cubicBezTo>
                  <a:lnTo>
                    <a:pt x="2179" y="906"/>
                  </a:lnTo>
                  <a:lnTo>
                    <a:pt x="2821" y="623"/>
                  </a:lnTo>
                  <a:close/>
                  <a:moveTo>
                    <a:pt x="2034" y="1427"/>
                  </a:moveTo>
                  <a:cubicBezTo>
                    <a:pt x="1969" y="1489"/>
                    <a:pt x="1691" y="1644"/>
                    <a:pt x="1409" y="1704"/>
                  </a:cubicBezTo>
                  <a:cubicBezTo>
                    <a:pt x="1131" y="1645"/>
                    <a:pt x="848" y="1489"/>
                    <a:pt x="784" y="1427"/>
                  </a:cubicBezTo>
                  <a:lnTo>
                    <a:pt x="784" y="967"/>
                  </a:lnTo>
                  <a:lnTo>
                    <a:pt x="1412" y="1244"/>
                  </a:lnTo>
                  <a:lnTo>
                    <a:pt x="2034" y="970"/>
                  </a:lnTo>
                  <a:lnTo>
                    <a:pt x="2034" y="1427"/>
                  </a:lnTo>
                  <a:close/>
                </a:path>
              </a:pathLst>
            </a:custGeom>
            <a:solidFill>
              <a:srgbClr val="FFFFFF"/>
            </a:solidFill>
            <a:ln w="0">
              <a:no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th-TH">
                <a:solidFill>
                  <a:schemeClr val="tx1">
                    <a:lumMod val="65000"/>
                    <a:lumOff val="35000"/>
                  </a:schemeClr>
                </a:solidFill>
                <a:latin typeface="思源宋体 CN Medium" panose="02020500000000000000" pitchFamily="18" charset="-122"/>
                <a:ea typeface="思源宋体 CN Medium" panose="02020500000000000000" pitchFamily="18" charset="-122"/>
              </a:endParaRPr>
            </a:p>
          </p:txBody>
        </p:sp>
        <p:sp>
          <p:nvSpPr>
            <p:cNvPr id="36" name="koppt-图标"/>
            <p:cNvSpPr>
              <a:spLocks noChangeAspect="1" noEditPoints="1"/>
            </p:cNvSpPr>
            <p:nvPr/>
          </p:nvSpPr>
          <p:spPr bwMode="auto">
            <a:xfrm>
              <a:off x="3737090" y="2236820"/>
              <a:ext cx="453411" cy="497494"/>
            </a:xfrm>
            <a:custGeom>
              <a:avLst/>
              <a:gdLst>
                <a:gd name="T0" fmla="*/ 65 w 100"/>
                <a:gd name="T1" fmla="*/ 0 h 110"/>
                <a:gd name="T2" fmla="*/ 77 w 100"/>
                <a:gd name="T3" fmla="*/ 12 h 110"/>
                <a:gd name="T4" fmla="*/ 68 w 100"/>
                <a:gd name="T5" fmla="*/ 40 h 110"/>
                <a:gd name="T6" fmla="*/ 67 w 100"/>
                <a:gd name="T7" fmla="*/ 10 h 110"/>
                <a:gd name="T8" fmla="*/ 28 w 100"/>
                <a:gd name="T9" fmla="*/ 9 h 110"/>
                <a:gd name="T10" fmla="*/ 28 w 100"/>
                <a:gd name="T11" fmla="*/ 16 h 110"/>
                <a:gd name="T12" fmla="*/ 25 w 100"/>
                <a:gd name="T13" fmla="*/ 24 h 110"/>
                <a:gd name="T14" fmla="*/ 18 w 100"/>
                <a:gd name="T15" fmla="*/ 26 h 110"/>
                <a:gd name="T16" fmla="*/ 9 w 100"/>
                <a:gd name="T17" fmla="*/ 25 h 110"/>
                <a:gd name="T18" fmla="*/ 10 w 100"/>
                <a:gd name="T19" fmla="*/ 87 h 110"/>
                <a:gd name="T20" fmla="*/ 12 w 100"/>
                <a:gd name="T21" fmla="*/ 88 h 110"/>
                <a:gd name="T22" fmla="*/ 44 w 100"/>
                <a:gd name="T23" fmla="*/ 97 h 110"/>
                <a:gd name="T24" fmla="*/ 4 w 100"/>
                <a:gd name="T25" fmla="*/ 93 h 110"/>
                <a:gd name="T26" fmla="*/ 4 w 100"/>
                <a:gd name="T27" fmla="*/ 93 h 110"/>
                <a:gd name="T28" fmla="*/ 0 w 100"/>
                <a:gd name="T29" fmla="*/ 22 h 110"/>
                <a:gd name="T30" fmla="*/ 2 w 100"/>
                <a:gd name="T31" fmla="*/ 19 h 110"/>
                <a:gd name="T32" fmla="*/ 21 w 100"/>
                <a:gd name="T33" fmla="*/ 0 h 110"/>
                <a:gd name="T34" fmla="*/ 90 w 100"/>
                <a:gd name="T35" fmla="*/ 45 h 110"/>
                <a:gd name="T36" fmla="*/ 84 w 100"/>
                <a:gd name="T37" fmla="*/ 39 h 110"/>
                <a:gd name="T38" fmla="*/ 83 w 100"/>
                <a:gd name="T39" fmla="*/ 47 h 110"/>
                <a:gd name="T40" fmla="*/ 94 w 100"/>
                <a:gd name="T41" fmla="*/ 53 h 110"/>
                <a:gd name="T42" fmla="*/ 86 w 100"/>
                <a:gd name="T43" fmla="*/ 81 h 110"/>
                <a:gd name="T44" fmla="*/ 100 w 100"/>
                <a:gd name="T45" fmla="*/ 51 h 110"/>
                <a:gd name="T46" fmla="*/ 90 w 100"/>
                <a:gd name="T47" fmla="*/ 45 h 110"/>
                <a:gd name="T48" fmla="*/ 54 w 100"/>
                <a:gd name="T49" fmla="*/ 84 h 110"/>
                <a:gd name="T50" fmla="*/ 90 w 100"/>
                <a:gd name="T51" fmla="*/ 55 h 110"/>
                <a:gd name="T52" fmla="*/ 52 w 100"/>
                <a:gd name="T53" fmla="*/ 87 h 110"/>
                <a:gd name="T54" fmla="*/ 51 w 100"/>
                <a:gd name="T55" fmla="*/ 103 h 110"/>
                <a:gd name="T56" fmla="*/ 52 w 100"/>
                <a:gd name="T57" fmla="*/ 110 h 110"/>
                <a:gd name="T58" fmla="*/ 56 w 100"/>
                <a:gd name="T59" fmla="*/ 106 h 110"/>
                <a:gd name="T60" fmla="*/ 52 w 100"/>
                <a:gd name="T61" fmla="*/ 87 h 110"/>
                <a:gd name="T62" fmla="*/ 18 w 100"/>
                <a:gd name="T63" fmla="*/ 60 h 110"/>
                <a:gd name="T64" fmla="*/ 30 w 100"/>
                <a:gd name="T65" fmla="*/ 56 h 110"/>
                <a:gd name="T66" fmla="*/ 18 w 100"/>
                <a:gd name="T67" fmla="*/ 43 h 110"/>
                <a:gd name="T68" fmla="*/ 60 w 100"/>
                <a:gd name="T69" fmla="*/ 48 h 110"/>
                <a:gd name="T70" fmla="*/ 18 w 100"/>
                <a:gd name="T71" fmla="*/ 43 h 110"/>
                <a:gd name="T72" fmla="*/ 18 w 100"/>
                <a:gd name="T73" fmla="*/ 36 h 110"/>
                <a:gd name="T74" fmla="*/ 60 w 100"/>
                <a:gd name="T75" fmla="*/ 31 h 110"/>
                <a:gd name="T76" fmla="*/ 37 w 100"/>
                <a:gd name="T77" fmla="*/ 19 h 110"/>
                <a:gd name="T78" fmla="*/ 60 w 100"/>
                <a:gd name="T79" fmla="*/ 24 h 110"/>
                <a:gd name="T80" fmla="*/ 37 w 100"/>
                <a:gd name="T81" fmla="*/ 19 h 110"/>
                <a:gd name="T82" fmla="*/ 14 w 100"/>
                <a:gd name="T83" fmla="*/ 21 h 110"/>
                <a:gd name="T84" fmla="*/ 18 w 100"/>
                <a:gd name="T85" fmla="*/ 22 h 110"/>
                <a:gd name="T86" fmla="*/ 20 w 100"/>
                <a:gd name="T87" fmla="*/ 22 h 110"/>
                <a:gd name="T88" fmla="*/ 24 w 100"/>
                <a:gd name="T89" fmla="*/ 18 h 110"/>
                <a:gd name="T90" fmla="*/ 24 w 100"/>
                <a:gd name="T91" fmla="*/ 17 h 110"/>
                <a:gd name="T92" fmla="*/ 23 w 100"/>
                <a:gd name="T93" fmla="*/ 12 h 110"/>
                <a:gd name="T94" fmla="*/ 12 w 100"/>
                <a:gd name="T95" fmla="*/ 21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0" h="110">
                  <a:moveTo>
                    <a:pt x="23" y="0"/>
                  </a:moveTo>
                  <a:cubicBezTo>
                    <a:pt x="65" y="0"/>
                    <a:pt x="65" y="0"/>
                    <a:pt x="65" y="0"/>
                  </a:cubicBezTo>
                  <a:cubicBezTo>
                    <a:pt x="68" y="0"/>
                    <a:pt x="71" y="1"/>
                    <a:pt x="74" y="4"/>
                  </a:cubicBezTo>
                  <a:cubicBezTo>
                    <a:pt x="76" y="6"/>
                    <a:pt x="77" y="9"/>
                    <a:pt x="77" y="12"/>
                  </a:cubicBezTo>
                  <a:cubicBezTo>
                    <a:pt x="77" y="35"/>
                    <a:pt x="77" y="35"/>
                    <a:pt x="77" y="35"/>
                  </a:cubicBezTo>
                  <a:cubicBezTo>
                    <a:pt x="68" y="40"/>
                    <a:pt x="68" y="40"/>
                    <a:pt x="68" y="40"/>
                  </a:cubicBezTo>
                  <a:cubicBezTo>
                    <a:pt x="68" y="12"/>
                    <a:pt x="68" y="12"/>
                    <a:pt x="68" y="12"/>
                  </a:cubicBezTo>
                  <a:cubicBezTo>
                    <a:pt x="68" y="11"/>
                    <a:pt x="68" y="11"/>
                    <a:pt x="67" y="10"/>
                  </a:cubicBezTo>
                  <a:cubicBezTo>
                    <a:pt x="67" y="10"/>
                    <a:pt x="66" y="9"/>
                    <a:pt x="65" y="9"/>
                  </a:cubicBezTo>
                  <a:cubicBezTo>
                    <a:pt x="28" y="9"/>
                    <a:pt x="28" y="9"/>
                    <a:pt x="28" y="9"/>
                  </a:cubicBezTo>
                  <a:cubicBezTo>
                    <a:pt x="28" y="12"/>
                    <a:pt x="28" y="12"/>
                    <a:pt x="28" y="12"/>
                  </a:cubicBezTo>
                  <a:cubicBezTo>
                    <a:pt x="28" y="16"/>
                    <a:pt x="28" y="16"/>
                    <a:pt x="28" y="16"/>
                  </a:cubicBezTo>
                  <a:cubicBezTo>
                    <a:pt x="28" y="17"/>
                    <a:pt x="28" y="18"/>
                    <a:pt x="28" y="19"/>
                  </a:cubicBezTo>
                  <a:cubicBezTo>
                    <a:pt x="28" y="21"/>
                    <a:pt x="27" y="23"/>
                    <a:pt x="25" y="24"/>
                  </a:cubicBezTo>
                  <a:cubicBezTo>
                    <a:pt x="24" y="25"/>
                    <a:pt x="23" y="26"/>
                    <a:pt x="21" y="26"/>
                  </a:cubicBezTo>
                  <a:cubicBezTo>
                    <a:pt x="20" y="26"/>
                    <a:pt x="19" y="26"/>
                    <a:pt x="18" y="26"/>
                  </a:cubicBezTo>
                  <a:cubicBezTo>
                    <a:pt x="14" y="26"/>
                    <a:pt x="14" y="26"/>
                    <a:pt x="14" y="26"/>
                  </a:cubicBezTo>
                  <a:cubicBezTo>
                    <a:pt x="9" y="25"/>
                    <a:pt x="9" y="25"/>
                    <a:pt x="9" y="25"/>
                  </a:cubicBezTo>
                  <a:cubicBezTo>
                    <a:pt x="9" y="85"/>
                    <a:pt x="9" y="85"/>
                    <a:pt x="9" y="85"/>
                  </a:cubicBezTo>
                  <a:cubicBezTo>
                    <a:pt x="9" y="86"/>
                    <a:pt x="10" y="86"/>
                    <a:pt x="10" y="87"/>
                  </a:cubicBezTo>
                  <a:cubicBezTo>
                    <a:pt x="10" y="87"/>
                    <a:pt x="10" y="87"/>
                    <a:pt x="10" y="87"/>
                  </a:cubicBezTo>
                  <a:cubicBezTo>
                    <a:pt x="11" y="87"/>
                    <a:pt x="11" y="88"/>
                    <a:pt x="12" y="88"/>
                  </a:cubicBezTo>
                  <a:cubicBezTo>
                    <a:pt x="45" y="88"/>
                    <a:pt x="45" y="88"/>
                    <a:pt x="45" y="88"/>
                  </a:cubicBezTo>
                  <a:cubicBezTo>
                    <a:pt x="44" y="97"/>
                    <a:pt x="44" y="97"/>
                    <a:pt x="44" y="97"/>
                  </a:cubicBezTo>
                  <a:cubicBezTo>
                    <a:pt x="12" y="97"/>
                    <a:pt x="12" y="97"/>
                    <a:pt x="12" y="97"/>
                  </a:cubicBezTo>
                  <a:cubicBezTo>
                    <a:pt x="9" y="97"/>
                    <a:pt x="6" y="96"/>
                    <a:pt x="4" y="93"/>
                  </a:cubicBezTo>
                  <a:cubicBezTo>
                    <a:pt x="4" y="93"/>
                    <a:pt x="4" y="93"/>
                    <a:pt x="4" y="93"/>
                  </a:cubicBezTo>
                  <a:cubicBezTo>
                    <a:pt x="4" y="93"/>
                    <a:pt x="4" y="93"/>
                    <a:pt x="4" y="93"/>
                  </a:cubicBezTo>
                  <a:cubicBezTo>
                    <a:pt x="2" y="91"/>
                    <a:pt x="0" y="88"/>
                    <a:pt x="0" y="85"/>
                  </a:cubicBezTo>
                  <a:cubicBezTo>
                    <a:pt x="0" y="22"/>
                    <a:pt x="0" y="22"/>
                    <a:pt x="0" y="22"/>
                  </a:cubicBezTo>
                  <a:cubicBezTo>
                    <a:pt x="0" y="20"/>
                    <a:pt x="0" y="20"/>
                    <a:pt x="0" y="20"/>
                  </a:cubicBezTo>
                  <a:cubicBezTo>
                    <a:pt x="2" y="19"/>
                    <a:pt x="2" y="19"/>
                    <a:pt x="2" y="19"/>
                  </a:cubicBezTo>
                  <a:cubicBezTo>
                    <a:pt x="20" y="1"/>
                    <a:pt x="20" y="1"/>
                    <a:pt x="20" y="1"/>
                  </a:cubicBezTo>
                  <a:cubicBezTo>
                    <a:pt x="21" y="0"/>
                    <a:pt x="21" y="0"/>
                    <a:pt x="21" y="0"/>
                  </a:cubicBezTo>
                  <a:cubicBezTo>
                    <a:pt x="23" y="0"/>
                    <a:pt x="23" y="0"/>
                    <a:pt x="23" y="0"/>
                  </a:cubicBezTo>
                  <a:close/>
                  <a:moveTo>
                    <a:pt x="90" y="45"/>
                  </a:moveTo>
                  <a:cubicBezTo>
                    <a:pt x="90" y="43"/>
                    <a:pt x="90" y="43"/>
                    <a:pt x="90" y="43"/>
                  </a:cubicBezTo>
                  <a:cubicBezTo>
                    <a:pt x="84" y="39"/>
                    <a:pt x="84" y="39"/>
                    <a:pt x="84" y="39"/>
                  </a:cubicBezTo>
                  <a:cubicBezTo>
                    <a:pt x="75" y="44"/>
                    <a:pt x="75" y="44"/>
                    <a:pt x="75" y="44"/>
                  </a:cubicBezTo>
                  <a:cubicBezTo>
                    <a:pt x="83" y="47"/>
                    <a:pt x="83" y="47"/>
                    <a:pt x="83" y="47"/>
                  </a:cubicBezTo>
                  <a:cubicBezTo>
                    <a:pt x="91" y="52"/>
                    <a:pt x="91" y="52"/>
                    <a:pt x="91" y="52"/>
                  </a:cubicBezTo>
                  <a:cubicBezTo>
                    <a:pt x="94" y="53"/>
                    <a:pt x="94" y="53"/>
                    <a:pt x="94" y="53"/>
                  </a:cubicBezTo>
                  <a:cubicBezTo>
                    <a:pt x="92" y="62"/>
                    <a:pt x="88" y="70"/>
                    <a:pt x="82" y="77"/>
                  </a:cubicBezTo>
                  <a:cubicBezTo>
                    <a:pt x="86" y="81"/>
                    <a:pt x="86" y="81"/>
                    <a:pt x="86" y="81"/>
                  </a:cubicBezTo>
                  <a:cubicBezTo>
                    <a:pt x="93" y="73"/>
                    <a:pt x="98" y="63"/>
                    <a:pt x="100" y="53"/>
                  </a:cubicBezTo>
                  <a:cubicBezTo>
                    <a:pt x="100" y="51"/>
                    <a:pt x="100" y="51"/>
                    <a:pt x="100" y="51"/>
                  </a:cubicBezTo>
                  <a:cubicBezTo>
                    <a:pt x="98" y="50"/>
                    <a:pt x="98" y="50"/>
                    <a:pt x="98" y="50"/>
                  </a:cubicBezTo>
                  <a:cubicBezTo>
                    <a:pt x="90" y="45"/>
                    <a:pt x="90" y="45"/>
                    <a:pt x="90" y="45"/>
                  </a:cubicBezTo>
                  <a:close/>
                  <a:moveTo>
                    <a:pt x="74" y="47"/>
                  </a:moveTo>
                  <a:cubicBezTo>
                    <a:pt x="64" y="58"/>
                    <a:pt x="58" y="70"/>
                    <a:pt x="54" y="84"/>
                  </a:cubicBezTo>
                  <a:cubicBezTo>
                    <a:pt x="59" y="86"/>
                    <a:pt x="64" y="89"/>
                    <a:pt x="70" y="92"/>
                  </a:cubicBezTo>
                  <a:cubicBezTo>
                    <a:pt x="78" y="81"/>
                    <a:pt x="85" y="68"/>
                    <a:pt x="90" y="55"/>
                  </a:cubicBezTo>
                  <a:cubicBezTo>
                    <a:pt x="84" y="52"/>
                    <a:pt x="79" y="50"/>
                    <a:pt x="74" y="47"/>
                  </a:cubicBezTo>
                  <a:close/>
                  <a:moveTo>
                    <a:pt x="52" y="87"/>
                  </a:moveTo>
                  <a:cubicBezTo>
                    <a:pt x="50" y="103"/>
                    <a:pt x="50" y="103"/>
                    <a:pt x="50" y="103"/>
                  </a:cubicBezTo>
                  <a:cubicBezTo>
                    <a:pt x="51" y="103"/>
                    <a:pt x="51" y="103"/>
                    <a:pt x="51" y="103"/>
                  </a:cubicBezTo>
                  <a:cubicBezTo>
                    <a:pt x="50" y="108"/>
                    <a:pt x="50" y="108"/>
                    <a:pt x="50" y="108"/>
                  </a:cubicBezTo>
                  <a:cubicBezTo>
                    <a:pt x="52" y="110"/>
                    <a:pt x="52" y="110"/>
                    <a:pt x="52" y="110"/>
                  </a:cubicBezTo>
                  <a:cubicBezTo>
                    <a:pt x="55" y="106"/>
                    <a:pt x="55" y="106"/>
                    <a:pt x="55" y="106"/>
                  </a:cubicBezTo>
                  <a:cubicBezTo>
                    <a:pt x="56" y="106"/>
                    <a:pt x="56" y="106"/>
                    <a:pt x="56" y="106"/>
                  </a:cubicBezTo>
                  <a:cubicBezTo>
                    <a:pt x="68" y="95"/>
                    <a:pt x="68" y="95"/>
                    <a:pt x="68" y="95"/>
                  </a:cubicBezTo>
                  <a:cubicBezTo>
                    <a:pt x="52" y="87"/>
                    <a:pt x="52" y="87"/>
                    <a:pt x="52" y="87"/>
                  </a:cubicBezTo>
                  <a:close/>
                  <a:moveTo>
                    <a:pt x="18" y="56"/>
                  </a:moveTo>
                  <a:cubicBezTo>
                    <a:pt x="18" y="60"/>
                    <a:pt x="18" y="60"/>
                    <a:pt x="18" y="60"/>
                  </a:cubicBezTo>
                  <a:cubicBezTo>
                    <a:pt x="30" y="60"/>
                    <a:pt x="30" y="60"/>
                    <a:pt x="30" y="60"/>
                  </a:cubicBezTo>
                  <a:cubicBezTo>
                    <a:pt x="30" y="56"/>
                    <a:pt x="30" y="56"/>
                    <a:pt x="30" y="56"/>
                  </a:cubicBezTo>
                  <a:cubicBezTo>
                    <a:pt x="18" y="56"/>
                    <a:pt x="18" y="56"/>
                    <a:pt x="18" y="56"/>
                  </a:cubicBezTo>
                  <a:close/>
                  <a:moveTo>
                    <a:pt x="18" y="43"/>
                  </a:moveTo>
                  <a:cubicBezTo>
                    <a:pt x="18" y="48"/>
                    <a:pt x="18" y="48"/>
                    <a:pt x="18" y="48"/>
                  </a:cubicBezTo>
                  <a:cubicBezTo>
                    <a:pt x="60" y="48"/>
                    <a:pt x="60" y="48"/>
                    <a:pt x="60" y="48"/>
                  </a:cubicBezTo>
                  <a:cubicBezTo>
                    <a:pt x="60" y="43"/>
                    <a:pt x="60" y="43"/>
                    <a:pt x="60" y="43"/>
                  </a:cubicBezTo>
                  <a:cubicBezTo>
                    <a:pt x="18" y="43"/>
                    <a:pt x="18" y="43"/>
                    <a:pt x="18" y="43"/>
                  </a:cubicBezTo>
                  <a:close/>
                  <a:moveTo>
                    <a:pt x="18" y="31"/>
                  </a:moveTo>
                  <a:cubicBezTo>
                    <a:pt x="18" y="36"/>
                    <a:pt x="18" y="36"/>
                    <a:pt x="18" y="36"/>
                  </a:cubicBezTo>
                  <a:cubicBezTo>
                    <a:pt x="60" y="36"/>
                    <a:pt x="60" y="36"/>
                    <a:pt x="60" y="36"/>
                  </a:cubicBezTo>
                  <a:cubicBezTo>
                    <a:pt x="60" y="31"/>
                    <a:pt x="60" y="31"/>
                    <a:pt x="60" y="31"/>
                  </a:cubicBezTo>
                  <a:cubicBezTo>
                    <a:pt x="18" y="31"/>
                    <a:pt x="18" y="31"/>
                    <a:pt x="18" y="31"/>
                  </a:cubicBezTo>
                  <a:close/>
                  <a:moveTo>
                    <a:pt x="37" y="19"/>
                  </a:moveTo>
                  <a:cubicBezTo>
                    <a:pt x="37" y="24"/>
                    <a:pt x="37" y="24"/>
                    <a:pt x="37" y="24"/>
                  </a:cubicBezTo>
                  <a:cubicBezTo>
                    <a:pt x="60" y="24"/>
                    <a:pt x="60" y="24"/>
                    <a:pt x="60" y="24"/>
                  </a:cubicBezTo>
                  <a:cubicBezTo>
                    <a:pt x="60" y="19"/>
                    <a:pt x="60" y="19"/>
                    <a:pt x="60" y="19"/>
                  </a:cubicBezTo>
                  <a:cubicBezTo>
                    <a:pt x="37" y="19"/>
                    <a:pt x="37" y="19"/>
                    <a:pt x="37" y="19"/>
                  </a:cubicBezTo>
                  <a:close/>
                  <a:moveTo>
                    <a:pt x="12" y="21"/>
                  </a:moveTo>
                  <a:cubicBezTo>
                    <a:pt x="14" y="21"/>
                    <a:pt x="14" y="21"/>
                    <a:pt x="14" y="21"/>
                  </a:cubicBezTo>
                  <a:cubicBezTo>
                    <a:pt x="18" y="22"/>
                    <a:pt x="18" y="22"/>
                    <a:pt x="18" y="22"/>
                  </a:cubicBezTo>
                  <a:cubicBezTo>
                    <a:pt x="18" y="22"/>
                    <a:pt x="18" y="22"/>
                    <a:pt x="18" y="22"/>
                  </a:cubicBezTo>
                  <a:cubicBezTo>
                    <a:pt x="19" y="22"/>
                    <a:pt x="19" y="22"/>
                    <a:pt x="19" y="22"/>
                  </a:cubicBezTo>
                  <a:cubicBezTo>
                    <a:pt x="19" y="22"/>
                    <a:pt x="19" y="22"/>
                    <a:pt x="20" y="22"/>
                  </a:cubicBezTo>
                  <a:cubicBezTo>
                    <a:pt x="21" y="22"/>
                    <a:pt x="22" y="21"/>
                    <a:pt x="22" y="20"/>
                  </a:cubicBezTo>
                  <a:cubicBezTo>
                    <a:pt x="23" y="20"/>
                    <a:pt x="24" y="19"/>
                    <a:pt x="24" y="18"/>
                  </a:cubicBezTo>
                  <a:cubicBezTo>
                    <a:pt x="24" y="18"/>
                    <a:pt x="24" y="17"/>
                    <a:pt x="24" y="17"/>
                  </a:cubicBezTo>
                  <a:cubicBezTo>
                    <a:pt x="24" y="17"/>
                    <a:pt x="24" y="17"/>
                    <a:pt x="24" y="17"/>
                  </a:cubicBezTo>
                  <a:cubicBezTo>
                    <a:pt x="24" y="16"/>
                    <a:pt x="24" y="16"/>
                    <a:pt x="24" y="16"/>
                  </a:cubicBezTo>
                  <a:cubicBezTo>
                    <a:pt x="23" y="12"/>
                    <a:pt x="23" y="12"/>
                    <a:pt x="23" y="12"/>
                  </a:cubicBezTo>
                  <a:cubicBezTo>
                    <a:pt x="23" y="11"/>
                    <a:pt x="23" y="11"/>
                    <a:pt x="23" y="11"/>
                  </a:cubicBezTo>
                  <a:lnTo>
                    <a:pt x="12" y="21"/>
                  </a:lnTo>
                  <a:close/>
                </a:path>
              </a:pathLst>
            </a:custGeom>
            <a:solidFill>
              <a:srgbClr val="FFFFFF"/>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65000"/>
                    <a:lumOff val="35000"/>
                  </a:schemeClr>
                </a:solidFill>
                <a:latin typeface="思源宋体 CN Medium" panose="02020500000000000000" pitchFamily="18" charset="-122"/>
                <a:ea typeface="思源宋体 CN Medium" panose="02020500000000000000" pitchFamily="18" charset="-122"/>
                <a:cs typeface="Arial" panose="020B0604020202020204" pitchFamily="34" charset="0"/>
              </a:endParaRPr>
            </a:p>
          </p:txBody>
        </p:sp>
      </p:gr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800179" y="0"/>
            <a:ext cx="11429983" cy="6858000"/>
            <a:chOff x="800179" y="0"/>
            <a:chExt cx="11429983" cy="6858000"/>
          </a:xfrm>
        </p:grpSpPr>
        <p:grpSp>
          <p:nvGrpSpPr>
            <p:cNvPr id="7" name="组合 6"/>
            <p:cNvGrpSpPr/>
            <p:nvPr/>
          </p:nvGrpSpPr>
          <p:grpSpPr>
            <a:xfrm>
              <a:off x="800179" y="0"/>
              <a:ext cx="11429983" cy="6858000"/>
              <a:chOff x="800179" y="0"/>
              <a:chExt cx="11429983" cy="6858000"/>
            </a:xfrm>
          </p:grpSpPr>
          <p:grpSp>
            <p:nvGrpSpPr>
              <p:cNvPr id="276" name="组合 275"/>
              <p:cNvGrpSpPr/>
              <p:nvPr/>
            </p:nvGrpSpPr>
            <p:grpSpPr>
              <a:xfrm>
                <a:off x="976011" y="0"/>
                <a:ext cx="11254151" cy="6858000"/>
                <a:chOff x="976011" y="0"/>
                <a:chExt cx="11254151" cy="6858000"/>
              </a:xfrm>
            </p:grpSpPr>
            <p:grpSp>
              <p:nvGrpSpPr>
                <p:cNvPr id="277" name="组合 276"/>
                <p:cNvGrpSpPr/>
                <p:nvPr/>
              </p:nvGrpSpPr>
              <p:grpSpPr>
                <a:xfrm>
                  <a:off x="4845886" y="0"/>
                  <a:ext cx="7384276" cy="6858000"/>
                  <a:chOff x="4970430" y="0"/>
                  <a:chExt cx="7384276" cy="6858000"/>
                </a:xfrm>
              </p:grpSpPr>
              <p:cxnSp>
                <p:nvCxnSpPr>
                  <p:cNvPr id="283" name="KOPPT"/>
                  <p:cNvCxnSpPr/>
                  <p:nvPr/>
                </p:nvCxnSpPr>
                <p:spPr>
                  <a:xfrm flipV="1">
                    <a:off x="7583179" y="2070847"/>
                    <a:ext cx="4733365" cy="4787153"/>
                  </a:xfrm>
                  <a:prstGeom prst="line">
                    <a:avLst/>
                  </a:prstGeom>
                  <a:ln w="50800">
                    <a:solidFill>
                      <a:srgbClr val="4875E6"/>
                    </a:solidFill>
                  </a:ln>
                </p:spPr>
                <p:style>
                  <a:lnRef idx="1">
                    <a:schemeClr val="accent1"/>
                  </a:lnRef>
                  <a:fillRef idx="0">
                    <a:schemeClr val="accent1"/>
                  </a:fillRef>
                  <a:effectRef idx="0">
                    <a:schemeClr val="accent1"/>
                  </a:effectRef>
                  <a:fontRef idx="minor">
                    <a:schemeClr val="tx1"/>
                  </a:fontRef>
                </p:style>
              </p:cxnSp>
              <p:cxnSp>
                <p:nvCxnSpPr>
                  <p:cNvPr id="284" name="KOPPT"/>
                  <p:cNvCxnSpPr/>
                  <p:nvPr/>
                </p:nvCxnSpPr>
                <p:spPr>
                  <a:xfrm>
                    <a:off x="4970430" y="0"/>
                    <a:ext cx="6850448" cy="6858000"/>
                  </a:xfrm>
                  <a:prstGeom prst="line">
                    <a:avLst/>
                  </a:prstGeom>
                  <a:ln w="12700">
                    <a:solidFill>
                      <a:srgbClr val="4875E6"/>
                    </a:solidFill>
                  </a:ln>
                </p:spPr>
                <p:style>
                  <a:lnRef idx="1">
                    <a:schemeClr val="accent1"/>
                  </a:lnRef>
                  <a:fillRef idx="0">
                    <a:schemeClr val="accent1"/>
                  </a:fillRef>
                  <a:effectRef idx="0">
                    <a:schemeClr val="accent1"/>
                  </a:effectRef>
                  <a:fontRef idx="minor">
                    <a:schemeClr val="tx1"/>
                  </a:fontRef>
                </p:style>
              </p:cxnSp>
              <p:cxnSp>
                <p:nvCxnSpPr>
                  <p:cNvPr id="11" name="KOPPT"/>
                  <p:cNvCxnSpPr/>
                  <p:nvPr/>
                </p:nvCxnSpPr>
                <p:spPr>
                  <a:xfrm>
                    <a:off x="6933454" y="0"/>
                    <a:ext cx="5421252" cy="5427228"/>
                  </a:xfrm>
                  <a:prstGeom prst="line">
                    <a:avLst/>
                  </a:prstGeom>
                  <a:ln w="12700">
                    <a:solidFill>
                      <a:srgbClr val="8C54E9"/>
                    </a:solidFill>
                  </a:ln>
                </p:spPr>
                <p:style>
                  <a:lnRef idx="1">
                    <a:schemeClr val="accent1"/>
                  </a:lnRef>
                  <a:fillRef idx="0">
                    <a:schemeClr val="accent1"/>
                  </a:fillRef>
                  <a:effectRef idx="0">
                    <a:schemeClr val="accent1"/>
                  </a:effectRef>
                  <a:fontRef idx="minor">
                    <a:schemeClr val="tx1"/>
                  </a:fontRef>
                </p:style>
              </p:cxnSp>
              <p:cxnSp>
                <p:nvCxnSpPr>
                  <p:cNvPr id="13" name="KOPPT"/>
                  <p:cNvCxnSpPr/>
                  <p:nvPr/>
                </p:nvCxnSpPr>
                <p:spPr>
                  <a:xfrm flipV="1">
                    <a:off x="5740423" y="207152"/>
                    <a:ext cx="6576121" cy="6650848"/>
                  </a:xfrm>
                  <a:prstGeom prst="line">
                    <a:avLst/>
                  </a:prstGeom>
                  <a:ln w="50800">
                    <a:solidFill>
                      <a:srgbClr val="8C54E9"/>
                    </a:solidFill>
                  </a:ln>
                </p:spPr>
                <p:style>
                  <a:lnRef idx="1">
                    <a:schemeClr val="accent1"/>
                  </a:lnRef>
                  <a:fillRef idx="0">
                    <a:schemeClr val="accent1"/>
                  </a:fillRef>
                  <a:effectRef idx="0">
                    <a:schemeClr val="accent1"/>
                  </a:effectRef>
                  <a:fontRef idx="minor">
                    <a:schemeClr val="tx1"/>
                  </a:fontRef>
                </p:style>
              </p:cxnSp>
            </p:grpSp>
            <p:grpSp>
              <p:nvGrpSpPr>
                <p:cNvPr id="278" name="组合 277"/>
                <p:cNvGrpSpPr/>
                <p:nvPr/>
              </p:nvGrpSpPr>
              <p:grpSpPr>
                <a:xfrm>
                  <a:off x="976011" y="1482870"/>
                  <a:ext cx="5528484" cy="4630158"/>
                  <a:chOff x="1798910" y="1799721"/>
                  <a:chExt cx="5528484" cy="4630158"/>
                </a:xfrm>
              </p:grpSpPr>
              <p:sp>
                <p:nvSpPr>
                  <p:cNvPr id="279" name="KOPPT"/>
                  <p:cNvSpPr/>
                  <p:nvPr/>
                </p:nvSpPr>
                <p:spPr>
                  <a:xfrm>
                    <a:off x="2122130" y="1799721"/>
                    <a:ext cx="4645932" cy="4630158"/>
                  </a:xfrm>
                  <a:prstGeom prst="diamond">
                    <a:avLst/>
                  </a:prstGeom>
                  <a:gradFill>
                    <a:gsLst>
                      <a:gs pos="0">
                        <a:srgbClr val="4875E6"/>
                      </a:gs>
                      <a:gs pos="100000">
                        <a:srgbClr val="8C54E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endParaRPr>
                  </a:p>
                </p:txBody>
              </p:sp>
              <p:sp>
                <p:nvSpPr>
                  <p:cNvPr id="281" name="矩形 280"/>
                  <p:cNvSpPr/>
                  <p:nvPr/>
                </p:nvSpPr>
                <p:spPr>
                  <a:xfrm flipH="1">
                    <a:off x="1798910" y="3464805"/>
                    <a:ext cx="5528484" cy="830997"/>
                  </a:xfrm>
                  <a:prstGeom prst="rect">
                    <a:avLst/>
                  </a:prstGeom>
                </p:spPr>
                <p:txBody>
                  <a:bodyPr wrap="square">
                    <a:spAutoFit/>
                  </a:bodyPr>
                  <a:lstStyle/>
                  <a:p>
                    <a:pPr marL="0" marR="0" lvl="0" indent="0" algn="dist" defTabSz="1219835" rtl="0" eaLnBrk="1" fontAlgn="auto" latinLnBrk="0" hangingPunct="0">
                      <a:lnSpc>
                        <a:spcPct val="100000"/>
                      </a:lnSpc>
                      <a:spcBef>
                        <a:spcPts val="0"/>
                      </a:spcBef>
                      <a:spcAft>
                        <a:spcPts val="0"/>
                      </a:spcAft>
                      <a:buClrTx/>
                      <a:buSzTx/>
                      <a:buFontTx/>
                      <a:buNone/>
                      <a:defRPr/>
                    </a:pPr>
                    <a:r>
                      <a:rPr kumimoji="0" lang="en-US" altLang="zh-CN" sz="4800" b="1" i="0" u="none" strike="noStrike" kern="0" cap="none" spc="0" normalizeH="0" baseline="0" noProof="0" dirty="0">
                        <a:solidFill>
                          <a:schemeClr val="tx1"/>
                        </a:solidFill>
                        <a:effectLst>
                          <a:outerShdw blurRad="38100" dist="19050" dir="2700000" algn="tl" rotWithShape="0">
                            <a:schemeClr val="dk1">
                              <a:alpha val="40000"/>
                            </a:schemeClr>
                          </a:outerShdw>
                        </a:effectLst>
                        <a:uLnTx/>
                        <a:uFillTx/>
                        <a:latin typeface="思源黑体 CN Heavy" panose="020B0A00000000000000" pitchFamily="34" charset="-122"/>
                        <a:ea typeface="思源黑体 CN Heavy" panose="020B0A00000000000000" pitchFamily="34" charset="-122"/>
                        <a:sym typeface="微软雅黑" panose="020B0503020204020204" charset="-122"/>
                      </a:rPr>
                      <a:t>THANK YOU</a:t>
                    </a:r>
                    <a:endParaRPr kumimoji="0" lang="en-US" altLang="zh-CN" sz="4800" b="1" i="0" u="none" strike="noStrike" kern="0" cap="none" spc="0" normalizeH="0" baseline="0" noProof="0" dirty="0">
                      <a:solidFill>
                        <a:schemeClr val="tx1"/>
                      </a:solidFill>
                      <a:effectLst>
                        <a:outerShdw blurRad="38100" dist="19050" dir="2700000" algn="tl" rotWithShape="0">
                          <a:schemeClr val="dk1">
                            <a:alpha val="40000"/>
                          </a:schemeClr>
                        </a:outerShdw>
                      </a:effectLst>
                      <a:uLnTx/>
                      <a:uFillTx/>
                      <a:latin typeface="思源黑体 CN Heavy" panose="020B0A00000000000000" pitchFamily="34" charset="-122"/>
                      <a:ea typeface="思源黑体 CN Heavy" panose="020B0A00000000000000" pitchFamily="34" charset="-122"/>
                      <a:sym typeface="微软雅黑" panose="020B0503020204020204" charset="-122"/>
                    </a:endParaRPr>
                  </a:p>
                </p:txBody>
              </p:sp>
            </p:grpSp>
          </p:grpSp>
          <p:sp>
            <p:nvSpPr>
              <p:cNvPr id="6" name="文本框 5"/>
              <p:cNvSpPr txBox="1"/>
              <p:nvPr/>
            </p:nvSpPr>
            <p:spPr>
              <a:xfrm>
                <a:off x="800179" y="3438525"/>
                <a:ext cx="5869652" cy="275590"/>
              </a:xfrm>
              <a:prstGeom prst="rect">
                <a:avLst/>
              </a:prstGeom>
              <a:noFill/>
            </p:spPr>
            <p:txBody>
              <a:bodyPr wrap="square" rtlCol="0">
                <a:spAutoFit/>
              </a:bodyPr>
              <a:lstStyle/>
              <a:p>
                <a:pPr algn="dist"/>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p:grpSp>
        <p:sp>
          <p:nvSpPr>
            <p:cNvPr id="8" name="文本框 7"/>
            <p:cNvSpPr txBox="1"/>
            <p:nvPr/>
          </p:nvSpPr>
          <p:spPr>
            <a:xfrm>
              <a:off x="2241979" y="4962182"/>
              <a:ext cx="2755900" cy="306705"/>
            </a:xfrm>
            <a:prstGeom prst="rect">
              <a:avLst/>
            </a:prstGeom>
            <a:noFill/>
          </p:spPr>
          <p:txBody>
            <a:bodyPr wrap="square" rtlCol="0">
              <a:spAutoFit/>
            </a:bodyPr>
            <a:lstStyle/>
            <a:p>
              <a:pPr algn="dist"/>
              <a:r>
                <a:rPr lang="en-US" altLang="zh-CN" sz="1400" dirty="0">
                  <a:solidFill>
                    <a:schemeClr val="tx1"/>
                  </a:solidFill>
                  <a:effectLst>
                    <a:outerShdw blurRad="38100" dist="19050" dir="2700000" algn="tl" rotWithShape="0">
                      <a:schemeClr val="dk1">
                        <a:alpha val="40000"/>
                      </a:schemeClr>
                    </a:outerShdw>
                  </a:effectLst>
                  <a:latin typeface="思源黑体 CN Normal" panose="020B0400000000000000" pitchFamily="34" charset="-122"/>
                  <a:ea typeface="思源黑体 CN Normal" panose="020B0400000000000000" pitchFamily="34" charset="-122"/>
                </a:rPr>
                <a:t>SPEAKER : </a:t>
              </a:r>
              <a:r>
                <a:rPr lang="zh-CN" altLang="en-US" sz="1400" dirty="0">
                  <a:solidFill>
                    <a:schemeClr val="tx1"/>
                  </a:solidFill>
                  <a:effectLst>
                    <a:outerShdw blurRad="38100" dist="19050" dir="2700000" algn="tl" rotWithShape="0">
                      <a:schemeClr val="dk1">
                        <a:alpha val="40000"/>
                      </a:schemeClr>
                    </a:outerShdw>
                  </a:effectLst>
                  <a:latin typeface="思源黑体 CN Normal" panose="020B0400000000000000" pitchFamily="34" charset="-122"/>
                  <a:ea typeface="思源黑体 CN Normal" panose="020B0400000000000000" pitchFamily="34" charset="-122"/>
                </a:rPr>
                <a:t>王子恒</a:t>
              </a:r>
              <a:endParaRPr lang="zh-CN" altLang="en-US" sz="1400" dirty="0">
                <a:solidFill>
                  <a:schemeClr val="tx1"/>
                </a:solidFill>
                <a:effectLst>
                  <a:outerShdw blurRad="38100" dist="19050" dir="2700000" algn="tl" rotWithShape="0">
                    <a:schemeClr val="dk1">
                      <a:alpha val="40000"/>
                    </a:schemeClr>
                  </a:outerShdw>
                </a:effectLst>
                <a:latin typeface="思源黑体 CN Normal" panose="020B0400000000000000" pitchFamily="34" charset="-122"/>
                <a:ea typeface="思源黑体 CN Normal" panose="020B0400000000000000" pitchFamily="34" charset="-122"/>
              </a:endParaRPr>
            </a:p>
          </p:txBody>
        </p:sp>
      </p:grpSp>
      <p:sp>
        <p:nvSpPr>
          <p:cNvPr id="10" name="文本框 9"/>
          <p:cNvSpPr txBox="1"/>
          <p:nvPr/>
        </p:nvSpPr>
        <p:spPr>
          <a:xfrm rot="18868898">
            <a:off x="9025404" y="1252036"/>
            <a:ext cx="3020071" cy="461665"/>
          </a:xfrm>
          <a:prstGeom prst="rect">
            <a:avLst/>
          </a:prstGeom>
          <a:noFill/>
        </p:spPr>
        <p:txBody>
          <a:bodyPr wrap="square" rtlCol="0">
            <a:spAutoFit/>
          </a:bodyPr>
          <a:lstStyle/>
          <a:p>
            <a:pPr algn="dist"/>
            <a:r>
              <a:rPr lang="en-US" altLang="zh-CN" sz="2400" dirty="0">
                <a:gradFill>
                  <a:gsLst>
                    <a:gs pos="0">
                      <a:srgbClr val="4875E6"/>
                    </a:gs>
                    <a:gs pos="100000">
                      <a:srgbClr val="8C54E9"/>
                    </a:gs>
                  </a:gsLst>
                  <a:lin ang="5400000" scaled="1"/>
                </a:gradFill>
                <a:latin typeface="思源黑体 CN Heavy" panose="020B0A00000000000000" pitchFamily="34" charset="-122"/>
                <a:ea typeface="思源黑体 CN Heavy" panose="020B0A00000000000000" pitchFamily="34" charset="-122"/>
              </a:rPr>
              <a:t>WORK SUMMARY</a:t>
            </a:r>
            <a:endParaRPr lang="zh-CN" altLang="en-US" sz="2400" dirty="0">
              <a:gradFill>
                <a:gsLst>
                  <a:gs pos="0">
                    <a:srgbClr val="4875E6"/>
                  </a:gs>
                  <a:gs pos="100000">
                    <a:srgbClr val="8C54E9"/>
                  </a:gs>
                </a:gsLst>
                <a:lin ang="5400000" scaled="1"/>
              </a:gradFill>
              <a:latin typeface="思源黑体 CN Heavy" panose="020B0A00000000000000" pitchFamily="34" charset="-122"/>
              <a:ea typeface="思源黑体 CN Heavy" panose="020B0A00000000000000" pitchFamily="34" charset="-122"/>
            </a:endParaRPr>
          </a:p>
        </p:txBody>
      </p:sp>
      <p:sp>
        <p:nvSpPr>
          <p:cNvPr id="22" name="文本框 21"/>
          <p:cNvSpPr txBox="1"/>
          <p:nvPr/>
        </p:nvSpPr>
        <p:spPr>
          <a:xfrm rot="18868898">
            <a:off x="6727008" y="5403548"/>
            <a:ext cx="3020071" cy="461665"/>
          </a:xfrm>
          <a:prstGeom prst="rect">
            <a:avLst/>
          </a:prstGeom>
          <a:noFill/>
        </p:spPr>
        <p:txBody>
          <a:bodyPr wrap="square" rtlCol="0">
            <a:spAutoFit/>
          </a:bodyPr>
          <a:lstStyle/>
          <a:p>
            <a:pPr algn="dist"/>
            <a:r>
              <a:rPr lang="en-US" altLang="zh-CN" sz="2400" dirty="0">
                <a:gradFill>
                  <a:gsLst>
                    <a:gs pos="0">
                      <a:srgbClr val="4875E6"/>
                    </a:gs>
                    <a:gs pos="100000">
                      <a:srgbClr val="8C54E9"/>
                    </a:gs>
                  </a:gsLst>
                  <a:lin ang="16200000" scaled="0"/>
                </a:gradFill>
                <a:latin typeface="思源黑体 CN Heavy" panose="020B0A00000000000000" pitchFamily="34" charset="-122"/>
                <a:ea typeface="思源黑体 CN Heavy" panose="020B0A00000000000000" pitchFamily="34" charset="-122"/>
              </a:rPr>
              <a:t>PLAN AND SO ON</a:t>
            </a:r>
            <a:endParaRPr lang="zh-CN" altLang="en-US" sz="2400" dirty="0">
              <a:gradFill>
                <a:gsLst>
                  <a:gs pos="0">
                    <a:srgbClr val="4875E6"/>
                  </a:gs>
                  <a:gs pos="100000">
                    <a:srgbClr val="8C54E9"/>
                  </a:gs>
                </a:gsLst>
                <a:lin ang="16200000" scaled="0"/>
              </a:gradFill>
              <a:latin typeface="思源黑体 CN Heavy" panose="020B0A00000000000000" pitchFamily="34" charset="-122"/>
              <a:ea typeface="思源黑体 CN Heavy" panose="020B0A00000000000000" pitchFamily="34" charset="-122"/>
            </a:endParaRPr>
          </a:p>
        </p:txBody>
      </p:sp>
      <p:sp>
        <p:nvSpPr>
          <p:cNvPr id="2" name="文本框 1"/>
          <p:cNvSpPr txBox="1"/>
          <p:nvPr/>
        </p:nvSpPr>
        <p:spPr>
          <a:xfrm>
            <a:off x="1044575" y="575945"/>
            <a:ext cx="6844030" cy="829945"/>
          </a:xfrm>
          <a:prstGeom prst="rect">
            <a:avLst/>
          </a:prstGeom>
          <a:noFill/>
        </p:spPr>
        <p:txBody>
          <a:bodyPr wrap="square" rtlCol="0">
            <a:spAutoFit/>
          </a:bodyPr>
          <a:p>
            <a:r>
              <a:rPr lang="en-US" altLang="zh-CN" sz="2400">
                <a:latin typeface="思源黑体 CN Normal" charset="0"/>
                <a:cs typeface="思源黑体 CN Normal" charset="0"/>
              </a:rPr>
              <a:t>American slang: If it walks like a duck and quacks like a duck, then it's a duck?</a:t>
            </a:r>
            <a:endParaRPr lang="en-US" altLang="zh-CN" sz="2400">
              <a:latin typeface="思源黑体 CN Normal" charset="0"/>
              <a:cs typeface="思源黑体 CN Normal" charset="0"/>
            </a:endParaRPr>
          </a:p>
        </p:txBody>
      </p:sp>
    </p:spTree>
  </p:cSld>
  <p:clrMapOvr>
    <a:masterClrMapping/>
  </p:clrMapOvr>
  <p:transition spd="med">
    <p:fade/>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486</Words>
  <Application>WPS 演示</Application>
  <PresentationFormat>宽屏</PresentationFormat>
  <Paragraphs>20</Paragraphs>
  <Slides>3</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vt:i4>
      </vt:variant>
    </vt:vector>
  </HeadingPairs>
  <TitlesOfParts>
    <vt:vector size="15" baseType="lpstr">
      <vt:lpstr>Arial</vt:lpstr>
      <vt:lpstr>宋体</vt:lpstr>
      <vt:lpstr>Wingdings</vt:lpstr>
      <vt:lpstr>思源黑体 CN Heavy</vt:lpstr>
      <vt:lpstr>黑体</vt:lpstr>
      <vt:lpstr>微软雅黑</vt:lpstr>
      <vt:lpstr>思源黑体 CN Normal</vt:lpstr>
      <vt:lpstr>思源宋体 CN Medium</vt:lpstr>
      <vt:lpstr>思源黑体 CN Normal</vt:lpstr>
      <vt:lpstr>等线</vt:lpstr>
      <vt:lpstr>Arial Unicode MS</vt:lpstr>
      <vt:lpstr>Office 主题​​</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15710668700</cp:lastModifiedBy>
  <cp:revision>32</cp:revision>
  <dcterms:created xsi:type="dcterms:W3CDTF">2019-07-14T00:37:00Z</dcterms:created>
  <dcterms:modified xsi:type="dcterms:W3CDTF">2025-04-08T08:41:09Z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KSOTemplateUUID">
    <vt:lpwstr>v1.0_mb_J/uhDdP7iC4tBslp+HFLrA==</vt:lpwstr>
  </property>
  <property fmtid="{D5CDD505-2E9C-101B-9397-08002B2CF9AE}" pid="4" name="ICV">
    <vt:lpwstr>8EEE9DA330D14836964518B7E5C2B6FD_11</vt:lpwstr>
  </property>
</Properties>
</file>