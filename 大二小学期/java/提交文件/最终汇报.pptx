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90" r:id="rId5"/>
    <p:sldId id="257" r:id="rId7"/>
    <p:sldId id="258" r:id="rId8"/>
    <p:sldId id="275" r:id="rId9"/>
    <p:sldId id="259" r:id="rId10"/>
    <p:sldId id="260" r:id="rId11"/>
    <p:sldId id="276" r:id="rId12"/>
    <p:sldId id="264" r:id="rId13"/>
    <p:sldId id="265" r:id="rId14"/>
    <p:sldId id="266" r:id="rId15"/>
    <p:sldId id="267" r:id="rId16"/>
    <p:sldId id="268" r:id="rId17"/>
    <p:sldId id="269" r:id="rId18"/>
    <p:sldId id="277" r:id="rId19"/>
    <p:sldId id="278" r:id="rId20"/>
    <p:sldId id="279" r:id="rId21"/>
    <p:sldId id="280" r:id="rId22"/>
    <p:sldId id="281" r:id="rId23"/>
    <p:sldId id="282" r:id="rId24"/>
    <p:sldId id="283" r:id="rId25"/>
    <p:sldId id="284" r:id="rId26"/>
    <p:sldId id="285" r:id="rId27"/>
    <p:sldId id="287" r:id="rId28"/>
    <p:sldId id="271" r:id="rId29"/>
    <p:sldId id="288" r:id="rId30"/>
    <p:sldId id="289" r:id="rId31"/>
    <p:sldId id="272" r:id="rId32"/>
    <p:sldId id="273" r:id="rId33"/>
    <p:sldId id="274" r:id="rId3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8" userDrawn="1">
          <p15:clr>
            <a:srgbClr val="747775"/>
          </p15:clr>
        </p15:guide>
        <p15:guide id="2" pos="28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7D62"/>
    <a:srgbClr val="1B6C4E"/>
    <a:srgbClr val="337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8"/>
        <p:guide pos="286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大家好，我们是“大梦一瓜”团队。今天非常荣幸能在这里向大家汇报我们的Java实践课程项目——SeatWise Campus。本次汇报将围绕项目概述、技术架构、已完成功能、技术亮点、测试结果、界面展示和未来计划几个方面展开。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五个部分。首先，我会介绍项目的整体情况和我们的团队。其次，阐述项目的背景以及我们设定的具体目标。第三部分，也是本次汇报的重点，将深入剖析我们系统的核心技术设计。第四部分，我们会通过实际的界面截图来演示系统的核心功能。最后，对整个项目进行总结并展望未来的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现在，让我们进入第一部分：项目概述与团队介绍。在这一部分，我们将了解这个项目的初衷，以及我们“大梦一瓜”团队是如何组织分工，共同完成这个项目的。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都深有体会，在大学里找一个自习座位有多难。信息不透明、线下占座、预约机制缺失、管理效率低下以及由此引发的公平性问题，这些都是我们每天都能感受到的痛点。这些问题不仅浪费了学生的时间，也造成了公共资源的巨大浪费。这正是我们项目想要解决的核心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我们的项目全称是“智能校园自习室预约管理平台”，代号“SeatWise Campus”。它的核心目标非常明确：就是要解决同学们在校园里找自习座位难的问题。我们希望通过技术手段，让座位信息更透明，预约过程更公平，从而提升整个校园公共资源的利用效率，为大家创造一个更好的学习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团队“大梦一瓜”由7名成员组成，分工明确。王子恒同学担任项目总负责，统筹全局并参与核心代码开发。林润宸和莫岢毅同学是我们的主力开发人员。测试工作由林俊豪、吕宜家、谭嘉亮和叶雨扬四位同学共同完成，覆盖了从前端到后端再到移动端的全方位测试。同时，吕宜家与谭嘉亮同学也负责了本次汇报PPT和项目报告的撰写工作。正是大家的紧密协作，才保证了项目的顺利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针对这些痛点，我们提出了SeatWise Campus解决方案。它为学生提供了透明的查询、便捷的预约和公平的保障。对于管理者，我们提供了全局监控、数据洞察和高效的管理工具。我们的目标是利用技术，让自习资源的分配变得更智能、更高效、更公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现在，我们进入技术层面。第三部分将详细介绍我们系统的核心技术设计。这部分内容可能会比较深入，我们将重点解析如何保证预约的正确性和看板的实时性这两大技术难题。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这是我们系统的总体架构图。我们采用了业界主流的前后端分离模式。前端使用Vue3框架构建用户界面，后端则基于Spring Boot框架提供RESTful API和实时通信服务。数据层面，我们使用MySQL作为核心数据库，确保数据的持久化和事务一致性；同时引入Redis，用于缓存热点数据和实现延迟任务，有效提升了系统性能。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并发预约是本系统最大的技术挑战。我们的核心解决方案是“时间片模型”。如图所示，我们将一天划分为多个30分钟的时间片。当用户预约一个时间段时，系统会为每个涉及的时间片创建一条记录。最关键的是，我们在数据库层面为这些记录设置了一个联合唯一索引，这意味着，任何并发操作都无法在同一个座位的同一时间片上创建两条记录。这个机制，从根本上杜绝了“超卖”现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另一个技术难点是实现所有客户端的实时同步。我们采用了“快照+增量推送”的策略。当用户打开座位看板时，首先会获取一份当前座位状态的完整快照。之后，浏览器会与服务器建立一个SSE长连接。任何座位状态的变化，服务器都会通过这个连接，将一个极小的“增量更新包”推送给所有在线用户。这种方式极大地减少了网络传输量，实现了高效、实时的多端同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障预约的公平性，我们设计了一套自动化的保障机制。首先是“超时释放”，预约后15分钟内未签到，座位将自动释放给他人。其次是“爽约惩罚”，累计多次爽约会被系统自动加入黑名单，限制一段时间内的预约。同时，我们还引入了“积分激励”机制，奖励守约行为，引导用户养成良好习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理论说了很多，接下来让我们看看系统的实际样子。第四部分，我将通过一系列界面截图，向大家演示系统的核心功能。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这是用户端的主要界面。从登录、首页看板，到核心的预约流程，再到个人中心，我们力求提供简洁、直观、易用的用户体验。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这是用户端的主要界面。从登录、首页看板，到核心的预约流程，再到个人中心，我们力求提供简洁、直观、易用的用户体验。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这是用户端的主要界面。从登录、首页看板，到核心的预约流程，再到个人中心，我们力求提供简洁、直观、易用的用户体验。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这是用户端的主要界面。从登录、首页看板，到核心的预约流程，再到个人中心，我们力求提供简洁、直观、易用的用户体验。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这是用户端的主要界面。从登录、首页看板，到核心的预约流程，再到个人中心，我们力求提供简洁、直观、易用的用户体验。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这是管理端的界面。管理员可以通过数据看板实时监控和分析数据，通过可视化工具高效管理资源。同时，我们也提供了清晰的API文档，方便前后端协作。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这是管理端的界面。管理员可以通过数据看板实时监控和分析数据，通过可视化工具高效管理资源。同时，我们也提供了清晰的API文档，方便前后端协作。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这是管理端的界面。管理员可以通过数据看板实时监控和分析数据，通过可视化工具高效管理资源。同时，我们也提供了清晰的API文档，方便前后端协作。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这是管理端的界面。管理员可以通过数据看板实时监控和分析数据，通过可视化工具高效管理资源。同时，我们也提供了清晰的API文档，方便前后端协作。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这是管理端的界面。管理员可以通过数据看板实时监控和分析数据，通过可视化工具高效管理资源。同时，我们也提供了清晰的API文档，方便前后端协作。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核心功能，我们还开发了一些特色功能来提升用户体验。比如，系统可以利用浏览器定位，为学生推荐最近的空闲自习室。我们还内置了一个番茄钟，帮助大家保持专注。更进一步，我们集成了AI选座助手，你可以直接告诉它你的需求，比如想要一个靠窗的位置，它会为你智能推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接下来，我们将进入第三部分，展示我们的测试与验证结果，以证明系统的稳定性和正确性。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我们对核心功能进行了全面的自动化测试。所有13项冒烟测试全部通过。我们重点测试了并发抢座、实时推送和超时释放等关键场景，结果都符合预期。这些测试结果有力地证明了我们系统的稳定性和正确性。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最后，让我们对整个项目进行一个简要的总结，并展望一下未来的发展方向。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回顾整个项目，我们成功地构建了一个功能完整、技术扎实的自习室预约平台。我们创新性地解决了并发预约和实时同步两大技术难题，并实现了一键部署。当然，项目仍有很大的扩展空间。未来，我们希望能加入满座候补、组队预约等更贴心的功能，并进一步探索AI在学习场景中的应用，让这个平台变得更智能、更强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我的汇报到此结束。感谢各位老师和同学的聆听，也欢迎大家提出宝贵的意见和建议。谢谢！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6.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notesSlide" Target="../notesSlides/notesSlide7.xml"/><Relationship Id="rId10" Type="http://schemas.openxmlformats.org/officeDocument/2006/relationships/slideLayout" Target="../slideLayouts/slideLayout1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10.jpeg"/><Relationship Id="rId13" Type="http://schemas.openxmlformats.org/officeDocument/2006/relationships/notesSlide" Target="../notesSlides/notesSlide12.xml"/><Relationship Id="rId12" Type="http://schemas.openxmlformats.org/officeDocument/2006/relationships/slideLayout" Target="../slideLayouts/slideLayout12.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3.xml"/><Relationship Id="rId2" Type="http://schemas.openxmlformats.org/officeDocument/2006/relationships/image" Target="../media/image22.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2" Type="http://schemas.openxmlformats.org/officeDocument/2006/relationships/notesSlide" Target="../notesSlides/notesSlide24.xml"/><Relationship Id="rId11" Type="http://schemas.openxmlformats.org/officeDocument/2006/relationships/slideLayout" Target="../slideLayouts/slideLayout12.xml"/><Relationship Id="rId10" Type="http://schemas.openxmlformats.org/officeDocument/2006/relationships/image" Target="../media/image25.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2.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image" Target="../media/image26.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10000" r="723"/>
          <a:stretch>
            <a:fillRect/>
          </a:stretch>
        </p:blipFill>
        <p:spPr>
          <a:xfrm>
            <a:off x="0" y="4318"/>
            <a:ext cx="12192000" cy="6858000"/>
          </a:xfrm>
          <a:prstGeom prst="rect">
            <a:avLst/>
          </a:prstGeom>
          <a:noFill/>
          <a:ln w="25400" cap="flat" cmpd="sng">
            <a:noFill/>
            <a:prstDash val="solid"/>
            <a:round/>
          </a:ln>
        </p:spPr>
      </p:pic>
      <p:pic>
        <p:nvPicPr>
          <p:cNvPr id="3" name="Picture 3"/>
          <p:cNvPicPr>
            <a:picLocks noChangeAspect="1"/>
          </p:cNvPicPr>
          <p:nvPr/>
        </p:nvPicPr>
        <p:blipFill>
          <a:blip r:embed="rId2"/>
          <a:srcRect/>
          <a:stretch>
            <a:fillRect/>
          </a:stretch>
        </p:blipFill>
        <p:spPr>
          <a:xfrm>
            <a:off x="9004300" y="0"/>
            <a:ext cx="3187700" cy="1143000"/>
          </a:xfrm>
          <a:prstGeom prst="rect">
            <a:avLst/>
          </a:prstGeom>
          <a:noFill/>
          <a:ln w="25400" cap="flat" cmpd="sng">
            <a:noFill/>
            <a:prstDash val="solid"/>
            <a:round/>
          </a:ln>
        </p:spPr>
      </p:pic>
      <p:sp>
        <p:nvSpPr>
          <p:cNvPr id="4" name="AutoShape 4"/>
          <p:cNvSpPr/>
          <p:nvPr/>
        </p:nvSpPr>
        <p:spPr>
          <a:xfrm>
            <a:off x="1701800" y="1231900"/>
            <a:ext cx="8788400" cy="3746500"/>
          </a:xfrm>
          <a:prstGeom prst="roundRect">
            <a:avLst>
              <a:gd name="adj" fmla="val 0"/>
            </a:avLst>
          </a:prstGeom>
          <a:solidFill>
            <a:srgbClr val="025C3B">
              <a:alpha val="3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2921000" y="1524000"/>
            <a:ext cx="76200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92000"/>
              </a:lnSpc>
              <a:defRPr/>
            </a:pPr>
            <a:r>
              <a:rPr lang="en-US" sz="7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SeatWise Campus</a:t>
            </a:r>
            <a:endParaRPr lang="en-US" sz="72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6" name="AutoShape 6"/>
          <p:cNvSpPr/>
          <p:nvPr/>
        </p:nvSpPr>
        <p:spPr>
          <a:xfrm>
            <a:off x="2286000" y="2984500"/>
            <a:ext cx="8890000" cy="635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智能校园自习室预约管理平台</a:t>
            </a:r>
            <a:endParaRPr lang="en-US" sz="1100"/>
          </a:p>
        </p:txBody>
      </p:sp>
      <p:sp>
        <p:nvSpPr>
          <p:cNvPr id="7" name="AutoShape 7"/>
          <p:cNvSpPr/>
          <p:nvPr/>
        </p:nvSpPr>
        <p:spPr>
          <a:xfrm>
            <a:off x="4254500" y="3937000"/>
            <a:ext cx="4445000" cy="508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200" b="0"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汇报队伍：大梦一瓜</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pic>
        <p:nvPicPr>
          <p:cNvPr id="3" name="Picture 3"/>
          <p:cNvPicPr>
            <a:picLocks noChangeAspect="1"/>
          </p:cNvPicPr>
          <p:nvPr/>
        </p:nvPicPr>
        <p:blipFill>
          <a:blip r:embed="rId2"/>
          <a:srcRect t="21438" r="1934" b="5291"/>
          <a:stretch>
            <a:fillRect/>
          </a:stretch>
        </p:blipFill>
        <p:spPr>
          <a:xfrm>
            <a:off x="0" y="0"/>
            <a:ext cx="12230100" cy="6858000"/>
          </a:xfrm>
          <a:prstGeom prst="rect">
            <a:avLst/>
          </a:prstGeom>
          <a:noFill/>
          <a:ln w="25400" cap="flat" cmpd="sng">
            <a:noFill/>
            <a:prstDash val="solid"/>
            <a:round/>
          </a:ln>
        </p:spPr>
      </p:pic>
      <p:pic>
        <p:nvPicPr>
          <p:cNvPr id="4" name="Picture 4"/>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5" name="AutoShape 5"/>
          <p:cNvSpPr/>
          <p:nvPr/>
        </p:nvSpPr>
        <p:spPr>
          <a:xfrm>
            <a:off x="0" y="1295400"/>
            <a:ext cx="12230100" cy="4914900"/>
          </a:xfrm>
          <a:prstGeom prst="roundRect">
            <a:avLst>
              <a:gd name="adj" fmla="val 0"/>
            </a:avLst>
          </a:prstGeom>
          <a:solidFill>
            <a:srgbClr val="025C3B">
              <a:alpha val="3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1625600"/>
            <a:ext cx="2133600" cy="434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38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目录</a:t>
            </a:r>
            <a:endParaRPr lang="en-US" sz="1100"/>
          </a:p>
        </p:txBody>
      </p:sp>
      <p:sp>
        <p:nvSpPr>
          <p:cNvPr id="7" name="AutoShape 7"/>
          <p:cNvSpPr/>
          <p:nvPr/>
        </p:nvSpPr>
        <p:spPr>
          <a:xfrm>
            <a:off x="2921000" y="1905000"/>
            <a:ext cx="4318000" cy="1016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01 项目概述与团队介绍</a:t>
            </a:r>
            <a:endParaRPr lang="en-US" sz="1100"/>
          </a:p>
        </p:txBody>
      </p:sp>
      <p:sp>
        <p:nvSpPr>
          <p:cNvPr id="8" name="AutoShape 8"/>
          <p:cNvSpPr/>
          <p:nvPr/>
        </p:nvSpPr>
        <p:spPr>
          <a:xfrm>
            <a:off x="2921000" y="3302000"/>
            <a:ext cx="4318000" cy="1016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02 项目背景与目标</a:t>
            </a:r>
            <a:endParaRPr lang="en-US" sz="1100"/>
          </a:p>
        </p:txBody>
      </p:sp>
      <p:sp>
        <p:nvSpPr>
          <p:cNvPr id="9" name="AutoShape 9"/>
          <p:cNvSpPr/>
          <p:nvPr/>
        </p:nvSpPr>
        <p:spPr>
          <a:xfrm>
            <a:off x="2921000" y="4699000"/>
            <a:ext cx="4318000" cy="1016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03 系统核心技术设计</a:t>
            </a:r>
            <a:endParaRPr lang="en-US" sz="1100"/>
          </a:p>
        </p:txBody>
      </p:sp>
      <p:sp>
        <p:nvSpPr>
          <p:cNvPr id="10" name="AutoShape 10"/>
          <p:cNvSpPr/>
          <p:nvPr/>
        </p:nvSpPr>
        <p:spPr>
          <a:xfrm>
            <a:off x="7493000" y="1905000"/>
            <a:ext cx="4318000" cy="1016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04 系统核心功能演示</a:t>
            </a:r>
            <a:endParaRPr lang="en-US" sz="1100"/>
          </a:p>
        </p:txBody>
      </p:sp>
      <p:sp>
        <p:nvSpPr>
          <p:cNvPr id="11" name="AutoShape 11"/>
          <p:cNvSpPr/>
          <p:nvPr/>
        </p:nvSpPr>
        <p:spPr>
          <a:xfrm>
            <a:off x="7493000" y="3302000"/>
            <a:ext cx="4318000" cy="1016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05 项目总结与展望</a:t>
            </a:r>
            <a:endParaRPr lang="en-US" sz="1100"/>
          </a:p>
        </p:txBody>
      </p:sp>
      <p:sp>
        <p:nvSpPr>
          <p:cNvPr id="12" name="AutoShape 12"/>
          <p:cNvSpPr/>
          <p:nvPr/>
        </p:nvSpPr>
        <p:spPr>
          <a:xfrm>
            <a:off x="241300" y="5562600"/>
            <a:ext cx="22860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i="0" u="none" strike="noStrike">
                <a:solidFill>
                  <a:srgbClr val="FFFFFF"/>
                </a:solidFill>
                <a:latin typeface="黑体" panose="02010609060101010101" charset="-122"/>
                <a:ea typeface="黑体" panose="02010609060101010101" charset="-122"/>
                <a:cs typeface="黑体" panose="02010609060101010101" charset="-122"/>
                <a:sym typeface="黑体" panose="02010609060101010101" charset="-122"/>
              </a:rPr>
              <a:t>CONTENTS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0"/>
            <a:ext cx="4711700" cy="68580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977900" y="317500"/>
            <a:ext cx="4165600" cy="6121400"/>
          </a:xfrm>
          <a:prstGeom prst="rect">
            <a:avLst/>
          </a:prstGeom>
          <a:noFill/>
          <a:ln w="25400" cap="flat" cmpd="sng">
            <a:noFill/>
            <a:prstDash val="solid"/>
            <a:round/>
          </a:ln>
        </p:spPr>
      </p:pic>
      <p:sp>
        <p:nvSpPr>
          <p:cNvPr id="5" name="AutoShape 5"/>
          <p:cNvSpPr/>
          <p:nvPr/>
        </p:nvSpPr>
        <p:spPr>
          <a:xfrm>
            <a:off x="5166360" y="2440305"/>
            <a:ext cx="2287270" cy="2169795"/>
          </a:xfrm>
          <a:prstGeom prst="ellipse">
            <a:avLst/>
          </a:prstGeom>
          <a:solidFill>
            <a:srgbClr val="025C3B">
              <a:alpha val="80000"/>
            </a:srgbClr>
          </a:solidFill>
          <a:ln w="12700" cap="flat" cmpd="sng">
            <a:solidFill>
              <a:srgbClr val="025C3B">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3200" b="1" i="0" u="none" strike="noStrike">
                <a:solidFill>
                  <a:srgbClr val="FFFFFF"/>
                </a:solidFill>
                <a:latin typeface="Arial" panose="020B0604020202020204"/>
                <a:ea typeface="Arial" panose="020B0604020202020204"/>
                <a:cs typeface="Arial" panose="020B0604020202020204"/>
                <a:sym typeface="Arial" panose="020B0604020202020204"/>
              </a:rPr>
              <a:t>PART 01</a:t>
            </a:r>
            <a:endParaRPr lang="en-US" sz="1100"/>
          </a:p>
        </p:txBody>
      </p:sp>
      <p:sp>
        <p:nvSpPr>
          <p:cNvPr id="7" name="AutoShape 7"/>
          <p:cNvSpPr/>
          <p:nvPr/>
        </p:nvSpPr>
        <p:spPr>
          <a:xfrm>
            <a:off x="5143500" y="54610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8" name="AutoShape 8"/>
          <p:cNvSpPr/>
          <p:nvPr/>
        </p:nvSpPr>
        <p:spPr>
          <a:xfrm>
            <a:off x="5143500" y="60452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9" name="文本框 8"/>
          <p:cNvSpPr txBox="1"/>
          <p:nvPr/>
        </p:nvSpPr>
        <p:spPr>
          <a:xfrm>
            <a:off x="7453630" y="2955925"/>
            <a:ext cx="5109210" cy="1266825"/>
          </a:xfrm>
          <a:prstGeom prst="rect">
            <a:avLst/>
          </a:prstGeom>
          <a:noFill/>
        </p:spPr>
        <p:txBody>
          <a:bodyPr wrap="square" rtlCol="0">
            <a:noAutofit/>
          </a:bodyPr>
          <a:p>
            <a:r>
              <a:rPr lang="en-US" altLang="zh-CN"/>
              <a:t> </a:t>
            </a:r>
            <a:r>
              <a:rPr lang="zh-CN" altLang="en-US" sz="4000">
                <a:solidFill>
                  <a:srgbClr val="337A5F"/>
                </a:solidFill>
                <a:latin typeface="华文新魏" panose="02010800040101010101" charset="-122"/>
                <a:ea typeface="华文新魏" panose="02010800040101010101" charset="-122"/>
              </a:rPr>
              <a:t>项目概述与团队介绍</a:t>
            </a:r>
            <a:endParaRPr lang="zh-CN" altLang="en-US" sz="4000">
              <a:solidFill>
                <a:srgbClr val="337A5F"/>
              </a:solidFill>
              <a:latin typeface="华文新魏" panose="02010800040101010101" charset="-122"/>
              <a:ea typeface="华文新魏" panose="020108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1413406"/>
            <a:ext cx="5219700" cy="5431894"/>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t="24769" b="24769"/>
          <a:stretch>
            <a:fillRect/>
          </a:stretch>
        </p:blipFill>
        <p:spPr>
          <a:xfrm>
            <a:off x="188859" y="2133600"/>
            <a:ext cx="6046841" cy="4068382"/>
          </a:xfrm>
          <a:prstGeom prst="rect">
            <a:avLst/>
          </a:prstGeom>
          <a:noFill/>
          <a:ln w="25400" cap="flat" cmpd="sng">
            <a:noFill/>
            <a:prstDash val="solid"/>
            <a:round/>
          </a:ln>
        </p:spPr>
      </p:pic>
      <p:sp>
        <p:nvSpPr>
          <p:cNvPr id="5" name="AutoShape 5"/>
          <p:cNvSpPr/>
          <p:nvPr/>
        </p:nvSpPr>
        <p:spPr>
          <a:xfrm>
            <a:off x="0" y="355600"/>
            <a:ext cx="4168004" cy="762000"/>
          </a:xfrm>
          <a:prstGeom prst="homePlate">
            <a:avLst>
              <a:gd name="adj" fmla="val 50000"/>
            </a:avLst>
          </a:prstGeom>
          <a:solidFill>
            <a:srgbClr val="025C3B">
              <a:alpha val="80000"/>
            </a:srgbClr>
          </a:solidFill>
          <a:ln w="12700" cap="flat" cmpd="sng">
            <a:solidFill>
              <a:srgbClr val="2F528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校园自习痛点</a:t>
            </a:r>
            <a:endParaRPr lang="en-US" sz="1100"/>
          </a:p>
        </p:txBody>
      </p:sp>
      <p:sp>
        <p:nvSpPr>
          <p:cNvPr id="6" name="AutoShape 6"/>
          <p:cNvSpPr/>
          <p:nvPr/>
        </p:nvSpPr>
        <p:spPr>
          <a:xfrm>
            <a:off x="6682126" y="1549609"/>
            <a:ext cx="762000" cy="762000"/>
          </a:xfrm>
          <a:prstGeom prst="ellipse">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682126" y="4337259"/>
            <a:ext cx="762000" cy="762000"/>
          </a:xfrm>
          <a:prstGeom prst="ellipse">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6872626" y="1752809"/>
            <a:ext cx="379776" cy="371839"/>
          </a:xfrm>
          <a:custGeom>
            <a:avLst/>
            <a:gdLst/>
            <a:ahLst/>
            <a:cxnLst/>
            <a:rect l="l" t="t" r="r" b="b"/>
            <a:pathLst>
              <a:path w="379776" h="371839">
                <a:moveTo>
                  <a:pt x="0" y="0"/>
                </a:moveTo>
                <a:lnTo>
                  <a:pt x="54253" y="0"/>
                </a:lnTo>
                <a:lnTo>
                  <a:pt x="54253" y="371839"/>
                </a:lnTo>
                <a:lnTo>
                  <a:pt x="0" y="371839"/>
                </a:lnTo>
                <a:lnTo>
                  <a:pt x="0" y="0"/>
                </a:lnTo>
                <a:close/>
                <a:moveTo>
                  <a:pt x="325522" y="0"/>
                </a:moveTo>
                <a:lnTo>
                  <a:pt x="325522" y="151060"/>
                </a:lnTo>
                <a:lnTo>
                  <a:pt x="284034" y="124915"/>
                </a:lnTo>
                <a:lnTo>
                  <a:pt x="242546" y="151060"/>
                </a:lnTo>
                <a:lnTo>
                  <a:pt x="242546" y="0"/>
                </a:lnTo>
                <a:lnTo>
                  <a:pt x="79785" y="0"/>
                </a:lnTo>
                <a:lnTo>
                  <a:pt x="79785" y="371839"/>
                </a:lnTo>
                <a:lnTo>
                  <a:pt x="379776" y="371839"/>
                </a:lnTo>
                <a:lnTo>
                  <a:pt x="379776" y="0"/>
                </a:lnTo>
                <a:lnTo>
                  <a:pt x="325522"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6872626" y="4534109"/>
            <a:ext cx="379776" cy="371839"/>
          </a:xfrm>
          <a:custGeom>
            <a:avLst/>
            <a:gdLst/>
            <a:ahLst/>
            <a:cxnLst/>
            <a:rect l="l" t="t" r="r" b="b"/>
            <a:pathLst>
              <a:path w="379776" h="371839">
                <a:moveTo>
                  <a:pt x="0" y="0"/>
                </a:moveTo>
                <a:lnTo>
                  <a:pt x="54253" y="0"/>
                </a:lnTo>
                <a:lnTo>
                  <a:pt x="54253" y="371839"/>
                </a:lnTo>
                <a:lnTo>
                  <a:pt x="0" y="371839"/>
                </a:lnTo>
                <a:lnTo>
                  <a:pt x="0" y="0"/>
                </a:lnTo>
                <a:close/>
                <a:moveTo>
                  <a:pt x="325522" y="0"/>
                </a:moveTo>
                <a:lnTo>
                  <a:pt x="325522" y="151060"/>
                </a:lnTo>
                <a:lnTo>
                  <a:pt x="284034" y="124915"/>
                </a:lnTo>
                <a:lnTo>
                  <a:pt x="242546" y="151060"/>
                </a:lnTo>
                <a:lnTo>
                  <a:pt x="242546" y="0"/>
                </a:lnTo>
                <a:lnTo>
                  <a:pt x="79785" y="0"/>
                </a:lnTo>
                <a:lnTo>
                  <a:pt x="79785" y="371839"/>
                </a:lnTo>
                <a:lnTo>
                  <a:pt x="379776" y="371839"/>
                </a:lnTo>
                <a:lnTo>
                  <a:pt x="379776" y="0"/>
                </a:lnTo>
                <a:lnTo>
                  <a:pt x="325522"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634626" y="1676609"/>
            <a:ext cx="2921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现存核心问题</a:t>
            </a:r>
            <a:endParaRPr lang="en-US" sz="1100"/>
          </a:p>
        </p:txBody>
      </p:sp>
      <p:sp>
        <p:nvSpPr>
          <p:cNvPr id="11" name="AutoShape 11"/>
          <p:cNvSpPr/>
          <p:nvPr/>
        </p:nvSpPr>
        <p:spPr>
          <a:xfrm>
            <a:off x="7634626" y="4438859"/>
            <a:ext cx="2921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带来的不良影响</a:t>
            </a:r>
            <a:endParaRPr lang="en-US" sz="1100"/>
          </a:p>
        </p:txBody>
      </p:sp>
      <p:sp>
        <p:nvSpPr>
          <p:cNvPr id="12" name="AutoShape 12"/>
          <p:cNvSpPr/>
          <p:nvPr/>
        </p:nvSpPr>
        <p:spPr>
          <a:xfrm>
            <a:off x="6618626" y="2578309"/>
            <a:ext cx="4356100" cy="1892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❶ 信息不透明：</a:t>
            </a:r>
            <a:r>
              <a:rPr lang="en-US" sz="1800" b="0" i="0" u="none" strike="noStrike">
                <a:solidFill>
                  <a:srgbClr val="323232"/>
                </a:solidFill>
                <a:latin typeface="黑体" panose="02010609060101010101" charset="-122"/>
                <a:ea typeface="黑体" panose="02010609060101010101" charset="-122"/>
                <a:cs typeface="黑体" panose="02010609060101010101" charset="-122"/>
                <a:sym typeface="黑体" panose="02010609060101010101" charset="-122"/>
              </a:rPr>
              <a:t>座位状态模糊，学生盲目寻找浪费时间。</a:t>
            </a:r>
            <a:endParaRPr lang="en-US" sz="1100"/>
          </a:p>
          <a:p>
            <a:pPr marL="0" indent="0" algn="l">
              <a:lnSpc>
                <a:spcPct val="108000"/>
              </a:lnSpc>
            </a:pP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❷ 占座成风：</a:t>
            </a:r>
            <a:r>
              <a:rPr lang="en-US" sz="1800" b="0" i="0" u="none" strike="noStrike">
                <a:solidFill>
                  <a:srgbClr val="323232"/>
                </a:solidFill>
                <a:latin typeface="黑体" panose="02010609060101010101" charset="-122"/>
                <a:ea typeface="黑体" panose="02010609060101010101" charset="-122"/>
                <a:cs typeface="黑体" panose="02010609060101010101" charset="-122"/>
                <a:sym typeface="黑体" panose="02010609060101010101" charset="-122"/>
              </a:rPr>
              <a:t>物品霸座导致资源长期闲置，利用率低。</a:t>
            </a:r>
            <a:endParaRPr lang="en-US" sz="1800" b="0" i="0" u="none" strike="noStrike">
              <a:solidFill>
                <a:srgbClr val="323232"/>
              </a:solidFill>
              <a:latin typeface="黑体" panose="02010609060101010101" charset="-122"/>
              <a:ea typeface="黑体" panose="02010609060101010101" charset="-122"/>
              <a:cs typeface="黑体" panose="02010609060101010101" charset="-122"/>
              <a:sym typeface="黑体" panose="02010609060101010101" charset="-122"/>
            </a:endParaRPr>
          </a:p>
          <a:p>
            <a:pPr marL="0" indent="0" algn="l">
              <a:lnSpc>
                <a:spcPct val="108000"/>
              </a:lnSpc>
            </a:pP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❸ 预约机制缺失：</a:t>
            </a:r>
            <a:r>
              <a:rPr lang="en-US" sz="1800" b="0" i="0" u="none" strike="noStrike">
                <a:solidFill>
                  <a:srgbClr val="323232"/>
                </a:solidFill>
                <a:latin typeface="黑体" panose="02010609060101010101" charset="-122"/>
                <a:ea typeface="黑体" panose="02010609060101010101" charset="-122"/>
                <a:cs typeface="黑体" panose="02010609060101010101" charset="-122"/>
                <a:sym typeface="黑体" panose="02010609060101010101" charset="-122"/>
              </a:rPr>
              <a:t>存在爽约或代占现象，规则形同虚设。</a:t>
            </a:r>
            <a:endParaRPr lang="en-US" sz="1800" b="0" i="0" u="none" strike="noStrike">
              <a:solidFill>
                <a:srgbClr val="323232"/>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13" name="AutoShape 13"/>
          <p:cNvSpPr/>
          <p:nvPr/>
        </p:nvSpPr>
        <p:spPr>
          <a:xfrm>
            <a:off x="6682126" y="5283409"/>
            <a:ext cx="4356100" cy="1003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8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效率与公平失衡：</a:t>
            </a:r>
            <a:r>
              <a:rPr lang="en-US" sz="1800" b="0" i="0" u="none" strike="noStrike">
                <a:solidFill>
                  <a:srgbClr val="323232"/>
                </a:solidFill>
                <a:latin typeface="黑体" panose="02010609060101010101" charset="-122"/>
                <a:ea typeface="黑体" panose="02010609060101010101" charset="-122"/>
                <a:cs typeface="黑体" panose="02010609060101010101" charset="-122"/>
                <a:sym typeface="黑体" panose="02010609060101010101" charset="-122"/>
              </a:rPr>
              <a:t>管理员难以统计真实数据，资源无法优化；霸座行为损害了学生平等使用公共资源的权利，引发矛盾。</a:t>
            </a:r>
            <a:endParaRPr lang="en-US" sz="1100"/>
          </a:p>
        </p:txBody>
      </p:sp>
      <p:sp>
        <p:nvSpPr>
          <p:cNvPr id="14" name="AutoShape 14"/>
          <p:cNvSpPr/>
          <p:nvPr/>
        </p:nvSpPr>
        <p:spPr>
          <a:xfrm>
            <a:off x="265492" y="2197309"/>
            <a:ext cx="3175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自习室占座实景</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pic>
        <p:nvPicPr>
          <p:cNvPr id="3" name="Picture 3"/>
          <p:cNvPicPr>
            <a:picLocks noChangeAspect="1"/>
          </p:cNvPicPr>
          <p:nvPr/>
        </p:nvPicPr>
        <p:blipFill>
          <a:blip r:embed="rId2"/>
          <a:srcRect l="10533" r="10533"/>
          <a:stretch>
            <a:fillRect/>
          </a:stretch>
        </p:blipFill>
        <p:spPr>
          <a:xfrm>
            <a:off x="8423275" y="3467100"/>
            <a:ext cx="3568700" cy="3390900"/>
          </a:xfrm>
          <a:prstGeom prst="rect">
            <a:avLst/>
          </a:prstGeom>
          <a:noFill/>
          <a:ln w="25400" cap="flat" cmpd="sng">
            <a:noFill/>
            <a:prstDash val="solid"/>
            <a:round/>
          </a:ln>
        </p:spPr>
      </p:pic>
      <p:sp>
        <p:nvSpPr>
          <p:cNvPr id="4" name="AutoShape 4"/>
          <p:cNvSpPr/>
          <p:nvPr/>
        </p:nvSpPr>
        <p:spPr>
          <a:xfrm>
            <a:off x="0" y="0"/>
            <a:ext cx="1786255" cy="68580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285115" y="520065"/>
            <a:ext cx="875665" cy="5436870"/>
          </a:xfrm>
          <a:prstGeom prst="rect">
            <a:avLst/>
          </a:prstGeom>
          <a:noFill/>
          <a:ln w="12700" cap="flat" cmpd="sng">
            <a:noFill/>
            <a:prstDash val="solid"/>
            <a:round/>
          </a:ln>
        </p:spPr>
        <p:txBody>
          <a:bodyPr vert="eaVert" wrap="square" lIns="88900" tIns="50800" rIns="88900" bIns="50800" rtlCol="0" anchor="t" anchorCtr="0"/>
          <a:lstStyle/>
          <a:p>
            <a:pPr marL="0" indent="0" algn="l">
              <a:lnSpc>
                <a:spcPct val="100000"/>
              </a:lnSpc>
              <a:defRPr/>
            </a:pPr>
            <a:r>
              <a:rPr lang="en-US" sz="36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智能校园自习室预约平台</a:t>
            </a:r>
            <a:endParaRPr lang="en-US" sz="36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endParaRPr>
          </a:p>
        </p:txBody>
      </p:sp>
      <p:sp>
        <p:nvSpPr>
          <p:cNvPr id="6" name="AutoShape 6"/>
          <p:cNvSpPr/>
          <p:nvPr/>
        </p:nvSpPr>
        <p:spPr>
          <a:xfrm>
            <a:off x="2316480" y="198755"/>
            <a:ext cx="6688455" cy="1754505"/>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项目背景与目标</a:t>
            </a: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a:p>
            <a:pPr marL="0" indent="0" algn="l">
              <a:lnSpc>
                <a:spcPct val="108000"/>
              </a:lnSpc>
            </a:pPr>
            <a:r>
              <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针对高校自习座位资源分配不均、抢占难等痛点，我们打造了SeatWise Campus系统。通过实时座位状态监控与智能预约算法，保障资源分配公平性，提升自习室利用率，为师生提供高效、便捷的学习空间预约体验。</a:t>
            </a:r>
            <a:endParaRPr lang="en-US" sz="18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2316480" y="2073275"/>
            <a:ext cx="5334000" cy="1223010"/>
          </a:xfrm>
          <a:prstGeom prst="roundRect">
            <a:avLst>
              <a:gd name="adj" fmla="val 0"/>
            </a:avLst>
          </a:prstGeom>
          <a:solidFill>
            <a:srgbClr val="025C3B">
              <a:alpha val="8000"/>
            </a:srgbClr>
          </a:solidFill>
          <a:ln w="12700" cap="flat" cmpd="sng">
            <a:solidFill>
              <a:srgbClr val="025C3B">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428875" y="2216785"/>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25C3B"/>
                </a:solidFill>
                <a:latin typeface="黑体" panose="02010609060101010101" charset="-122"/>
                <a:ea typeface="黑体" panose="02010609060101010101" charset="-122"/>
                <a:cs typeface="黑体" panose="02010609060101010101" charset="-122"/>
                <a:sym typeface="黑体" panose="02010609060101010101" charset="-122"/>
              </a:rPr>
              <a:t>01 资源可视化 · 杜绝占位</a:t>
            </a:r>
            <a:endParaRPr lang="en-US" sz="1100"/>
          </a:p>
          <a:p>
            <a:pPr marL="0" indent="0" algn="l">
              <a:lnSpc>
                <a:spcPct val="100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实时同步自习室座位占用情况，线上一目了然，有效解决长期占位、虚假空置等问题，让座位流转更高效。</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2316480" y="3432810"/>
            <a:ext cx="5334000" cy="1150620"/>
          </a:xfrm>
          <a:prstGeom prst="roundRect">
            <a:avLst>
              <a:gd name="adj" fmla="val 0"/>
            </a:avLst>
          </a:prstGeom>
          <a:solidFill>
            <a:srgbClr val="025C3B">
              <a:alpha val="8000"/>
            </a:srgbClr>
          </a:solidFill>
          <a:ln w="12700" cap="flat" cmpd="sng">
            <a:solidFill>
              <a:srgbClr val="025C3B">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2451100" y="3582035"/>
            <a:ext cx="495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25C3B"/>
                </a:solidFill>
                <a:latin typeface="黑体" panose="02010609060101010101" charset="-122"/>
                <a:ea typeface="黑体" panose="02010609060101010101" charset="-122"/>
                <a:cs typeface="黑体" panose="02010609060101010101" charset="-122"/>
                <a:sym typeface="黑体" panose="02010609060101010101" charset="-122"/>
              </a:rPr>
              <a:t>02 预约智能化 · 公平高效</a:t>
            </a:r>
            <a:endParaRPr lang="en-US" sz="1100"/>
          </a:p>
          <a:p>
            <a:pPr marL="0" indent="0" algn="l">
              <a:lnSpc>
                <a:spcPct val="100000"/>
              </a:lnSpc>
            </a:pPr>
            <a:r>
              <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支持提前预约与时段管理，采用公平的排队与随机分配机制，避免恶意囤座，保障每位同学的预约权益。</a:t>
            </a:r>
            <a:endParaRPr lang="en-US" sz="18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2315845" y="4846955"/>
            <a:ext cx="5334635" cy="1700530"/>
          </a:xfrm>
          <a:prstGeom prst="roundRect">
            <a:avLst>
              <a:gd name="adj" fmla="val 0"/>
            </a:avLst>
          </a:prstGeom>
          <a:solidFill>
            <a:srgbClr val="FFFFFF">
              <a:alpha val="60000"/>
            </a:srgbClr>
          </a:solidFill>
          <a:ln w="12700" cap="flat" cmpd="sng">
            <a:solidFill>
              <a:srgbClr val="B4B4B4">
                <a:alpha val="5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2506980" y="4947285"/>
            <a:ext cx="4953000" cy="1143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a:solidFill>
                  <a:srgbClr val="025C3B"/>
                </a:solidFill>
                <a:latin typeface="黑体" panose="02010609060101010101" charset="-122"/>
                <a:ea typeface="黑体" panose="02010609060101010101" charset="-122"/>
                <a:cs typeface="黑体" panose="02010609060101010101" charset="-122"/>
                <a:sym typeface="黑体" panose="02010609060101010101" charset="-122"/>
              </a:rPr>
              <a:t>开发团队：大梦一瓜</a:t>
            </a:r>
            <a:endParaRPr lang="en-US" sz="1100"/>
          </a:p>
          <a:p>
            <a:pPr marL="0" indent="0" algn="l">
              <a:lnSpc>
                <a:spcPct val="117000"/>
              </a:lnSpc>
            </a:pPr>
            <a:r>
              <a:rPr lang="en-US" sz="18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课程实践：《Java程序设计实践》</a:t>
            </a:r>
            <a:b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a:t>
            </a:r>
            <a:r>
              <a:rPr lang="en-US" sz="1800" b="0" i="0" u="none" strike="noStrike">
                <a:solidFill>
                  <a:srgbClr val="337A5F"/>
                </a:solidFill>
                <a:latin typeface="Noto Sans SC" panose="020B0200000000000000" charset="-122"/>
                <a:ea typeface="Noto Sans SC" panose="020B0200000000000000" charset="-122"/>
                <a:cs typeface="Noto Sans SC" panose="020B0200000000000000" charset="-122"/>
                <a:sym typeface="Noto Sans SC" panose="020B0200000000000000" charset="-122"/>
              </a:rPr>
              <a:t>Java Spring Boot + MySQL + Vue.js</a:t>
            </a:r>
            <a:br>
              <a:rPr lang="en-US" sz="18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愿景：让校园学习资源触手可及，助力高效学业发展。</a:t>
            </a:r>
            <a:endParaRPr lang="en-US" sz="18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23" name="AutoShape 5"/>
          <p:cNvSpPr/>
          <p:nvPr/>
        </p:nvSpPr>
        <p:spPr>
          <a:xfrm>
            <a:off x="0" y="355600"/>
            <a:ext cx="3908425" cy="674370"/>
          </a:xfrm>
          <a:prstGeom prst="homePlate">
            <a:avLst>
              <a:gd name="adj" fmla="val 50000"/>
            </a:avLst>
          </a:prstGeom>
          <a:solidFill>
            <a:srgbClr val="025C3B">
              <a:alpha val="80000"/>
            </a:srgbClr>
          </a:solidFill>
          <a:ln w="12700" cap="flat" cmpd="sng">
            <a:solidFill>
              <a:srgbClr val="2F528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zh-CN" alt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成员</a:t>
            </a:r>
            <a:r>
              <a:rPr lang="zh-CN" alt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分工</a:t>
            </a:r>
            <a:endParaRPr lang="zh-CN" alt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endParaRPr>
          </a:p>
        </p:txBody>
      </p:sp>
      <p:sp>
        <p:nvSpPr>
          <p:cNvPr id="24" name="文本框 23"/>
          <p:cNvSpPr txBox="1"/>
          <p:nvPr/>
        </p:nvSpPr>
        <p:spPr>
          <a:xfrm>
            <a:off x="916305" y="1424305"/>
            <a:ext cx="1889760" cy="448945"/>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王子恒</a:t>
            </a:r>
            <a:endParaRPr lang="zh-CN" altLang="en-US" sz="2800">
              <a:latin typeface="华文新魏" panose="02010800040101010101" charset="-122"/>
              <a:ea typeface="华文新魏" panose="02010800040101010101" charset="-122"/>
              <a:sym typeface="+mn-ea"/>
            </a:endParaRPr>
          </a:p>
        </p:txBody>
      </p:sp>
      <p:sp>
        <p:nvSpPr>
          <p:cNvPr id="26" name="文本框 25"/>
          <p:cNvSpPr txBox="1"/>
          <p:nvPr/>
        </p:nvSpPr>
        <p:spPr>
          <a:xfrm>
            <a:off x="916305" y="2853055"/>
            <a:ext cx="1677670" cy="641985"/>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林润宸</a:t>
            </a:r>
            <a:endParaRPr lang="zh-CN" altLang="en-US" sz="2800">
              <a:latin typeface="华文新魏" panose="02010800040101010101" charset="-122"/>
              <a:ea typeface="华文新魏" panose="02010800040101010101" charset="-122"/>
              <a:sym typeface="+mn-ea"/>
            </a:endParaRPr>
          </a:p>
        </p:txBody>
      </p:sp>
      <p:sp>
        <p:nvSpPr>
          <p:cNvPr id="27" name="文本框 26"/>
          <p:cNvSpPr txBox="1"/>
          <p:nvPr/>
        </p:nvSpPr>
        <p:spPr>
          <a:xfrm>
            <a:off x="915670" y="2138045"/>
            <a:ext cx="1890395" cy="532130"/>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林俊豪</a:t>
            </a:r>
            <a:endParaRPr lang="zh-CN" altLang="en-US" sz="2800">
              <a:latin typeface="华文新魏" panose="02010800040101010101" charset="-122"/>
              <a:ea typeface="华文新魏" panose="02010800040101010101" charset="-122"/>
              <a:sym typeface="+mn-ea"/>
            </a:endParaRPr>
          </a:p>
        </p:txBody>
      </p:sp>
      <p:sp>
        <p:nvSpPr>
          <p:cNvPr id="28" name="文本框 27"/>
          <p:cNvSpPr txBox="1"/>
          <p:nvPr/>
        </p:nvSpPr>
        <p:spPr>
          <a:xfrm>
            <a:off x="916305" y="3538220"/>
            <a:ext cx="1587500" cy="641985"/>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吕宜家</a:t>
            </a:r>
            <a:endParaRPr lang="zh-CN" altLang="en-US" sz="2800">
              <a:latin typeface="华文新魏" panose="02010800040101010101" charset="-122"/>
              <a:ea typeface="华文新魏" panose="02010800040101010101" charset="-122"/>
              <a:sym typeface="+mn-ea"/>
            </a:endParaRPr>
          </a:p>
        </p:txBody>
      </p:sp>
      <p:sp>
        <p:nvSpPr>
          <p:cNvPr id="29" name="文本框 28"/>
          <p:cNvSpPr txBox="1"/>
          <p:nvPr/>
        </p:nvSpPr>
        <p:spPr>
          <a:xfrm>
            <a:off x="915670" y="4223385"/>
            <a:ext cx="1891030" cy="570865"/>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谭嘉亮</a:t>
            </a:r>
            <a:endParaRPr lang="zh-CN" altLang="en-US" sz="2800">
              <a:latin typeface="华文新魏" panose="02010800040101010101" charset="-122"/>
              <a:ea typeface="华文新魏" panose="02010800040101010101" charset="-122"/>
              <a:sym typeface="+mn-ea"/>
            </a:endParaRPr>
          </a:p>
        </p:txBody>
      </p:sp>
      <p:sp>
        <p:nvSpPr>
          <p:cNvPr id="30" name="文本框 29"/>
          <p:cNvSpPr txBox="1"/>
          <p:nvPr/>
        </p:nvSpPr>
        <p:spPr>
          <a:xfrm>
            <a:off x="916305" y="4942205"/>
            <a:ext cx="1677670" cy="725805"/>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叶雨扬</a:t>
            </a:r>
            <a:endParaRPr lang="zh-CN" altLang="en-US" sz="2800">
              <a:latin typeface="华文新魏" panose="02010800040101010101" charset="-122"/>
              <a:ea typeface="华文新魏" panose="02010800040101010101" charset="-122"/>
              <a:sym typeface="+mn-ea"/>
            </a:endParaRPr>
          </a:p>
        </p:txBody>
      </p:sp>
      <p:sp>
        <p:nvSpPr>
          <p:cNvPr id="31" name="文本框 30"/>
          <p:cNvSpPr txBox="1"/>
          <p:nvPr/>
        </p:nvSpPr>
        <p:spPr>
          <a:xfrm>
            <a:off x="915035" y="5668010"/>
            <a:ext cx="1588770" cy="685800"/>
          </a:xfrm>
          <a:prstGeom prst="rect">
            <a:avLst/>
          </a:prstGeom>
          <a:noFill/>
        </p:spPr>
        <p:txBody>
          <a:bodyPr wrap="square" rtlCol="0" anchor="t">
            <a:noAutofit/>
          </a:bodyPr>
          <a:p>
            <a:pPr marL="0" indent="0" algn="just">
              <a:spcBef>
                <a:spcPct val="0"/>
              </a:spcBef>
              <a:spcAft>
                <a:spcPct val="0"/>
              </a:spcAft>
            </a:pPr>
            <a:r>
              <a:rPr lang="zh-CN" sz="2800">
                <a:latin typeface="华文新魏" panose="02010800040101010101" charset="-122"/>
                <a:ea typeface="华文新魏" panose="02010800040101010101" charset="-122"/>
                <a:sym typeface="+mn-ea"/>
              </a:rPr>
              <a:t>莫岢毅</a:t>
            </a:r>
            <a:endParaRPr lang="zh-CN" altLang="en-US" sz="2800">
              <a:latin typeface="华文新魏" panose="02010800040101010101" charset="-122"/>
              <a:ea typeface="华文新魏" panose="02010800040101010101" charset="-122"/>
              <a:sym typeface="+mn-ea"/>
            </a:endParaRPr>
          </a:p>
        </p:txBody>
      </p:sp>
      <p:sp>
        <p:nvSpPr>
          <p:cNvPr id="32" name="文本框 31"/>
          <p:cNvSpPr txBox="1"/>
          <p:nvPr/>
        </p:nvSpPr>
        <p:spPr>
          <a:xfrm>
            <a:off x="2954020" y="1424305"/>
            <a:ext cx="5681980" cy="738505"/>
          </a:xfrm>
          <a:prstGeom prst="rect">
            <a:avLst/>
          </a:prstGeom>
        </p:spPr>
        <p:txBody>
          <a:bodyPr>
            <a:noAutofit/>
          </a:bodyPr>
          <a:p>
            <a:r>
              <a:rPr lang="zh-CN" altLang="en-US" sz="1600">
                <a:solidFill>
                  <a:srgbClr val="595959"/>
                </a:solidFill>
                <a:latin typeface="Noto Sans SC" panose="020B0200000000000000" charset="-122"/>
                <a:ea typeface="Noto Sans SC" panose="020B0200000000000000" charset="-122"/>
              </a:rPr>
              <a:t>主导核心代码开发，统筹项目整体进度与方向，把控质量与交付标准，保障项目稳步推进。</a:t>
            </a:r>
            <a:endParaRPr lang="zh-CN" altLang="en-US" sz="1600">
              <a:solidFill>
                <a:srgbClr val="595959"/>
              </a:solidFill>
              <a:latin typeface="Noto Sans SC" panose="020B0200000000000000" charset="-122"/>
              <a:ea typeface="Noto Sans SC" panose="020B0200000000000000" charset="-122"/>
            </a:endParaRPr>
          </a:p>
        </p:txBody>
      </p:sp>
      <p:sp>
        <p:nvSpPr>
          <p:cNvPr id="33" name="文本框 32"/>
          <p:cNvSpPr txBox="1"/>
          <p:nvPr/>
        </p:nvSpPr>
        <p:spPr>
          <a:xfrm>
            <a:off x="2954020" y="2162810"/>
            <a:ext cx="5682615" cy="649605"/>
          </a:xfrm>
          <a:prstGeom prst="rect">
            <a:avLst/>
          </a:prstGeom>
        </p:spPr>
        <p:txBody>
          <a:bodyPr>
            <a:noAutofit/>
          </a:bodyPr>
          <a:p>
            <a:r>
              <a:rPr lang="zh-CN" altLang="en-US" sz="1600">
                <a:solidFill>
                  <a:srgbClr val="595959"/>
                </a:solidFill>
                <a:latin typeface="Noto Sans SC" panose="020B0200000000000000" charset="-122"/>
                <a:ea typeface="Noto Sans SC" panose="020B0200000000000000" charset="-122"/>
              </a:rPr>
              <a:t>端到端的全面测试，覆盖功能、兼容与性能测试</a:t>
            </a:r>
            <a:endParaRPr lang="zh-CN" altLang="en-US" sz="1600">
              <a:solidFill>
                <a:srgbClr val="595959"/>
              </a:solidFill>
              <a:latin typeface="Noto Sans SC" panose="020B0200000000000000" charset="-122"/>
              <a:ea typeface="Noto Sans SC" panose="020B0200000000000000" charset="-122"/>
            </a:endParaRPr>
          </a:p>
        </p:txBody>
      </p:sp>
      <p:sp>
        <p:nvSpPr>
          <p:cNvPr id="34" name="文本框 33"/>
          <p:cNvSpPr txBox="1"/>
          <p:nvPr/>
        </p:nvSpPr>
        <p:spPr>
          <a:xfrm>
            <a:off x="2953385" y="2874010"/>
            <a:ext cx="5681980" cy="855980"/>
          </a:xfrm>
          <a:prstGeom prst="rect">
            <a:avLst/>
          </a:prstGeom>
          <a:noFill/>
        </p:spPr>
        <p:txBody>
          <a:bodyPr wrap="square" rtlCol="0">
            <a:noAutofit/>
          </a:bodyPr>
          <a:p>
            <a:r>
              <a:rPr lang="zh-CN" altLang="en-US" sz="1600">
                <a:solidFill>
                  <a:srgbClr val="595959"/>
                </a:solidFill>
                <a:latin typeface="Noto Sans SC" panose="020B0200000000000000" charset="-122"/>
                <a:ea typeface="Noto Sans SC" panose="020B0200000000000000" charset="-122"/>
                <a:sym typeface="+mn-ea"/>
              </a:rPr>
              <a:t>数据库设计及接口开发，保障系统稳定高效</a:t>
            </a:r>
            <a:r>
              <a:rPr lang="zh-CN" altLang="en-US" sz="160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，地图</a:t>
            </a:r>
            <a:r>
              <a:rPr lang="en-US" altLang="zh-CN" sz="160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API</a:t>
            </a:r>
            <a:r>
              <a:rPr lang="zh-CN" altLang="en-US" sz="160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rPr>
              <a:t>接入与测试，实现了校区楼栋定位功能和距离计算功能</a:t>
            </a:r>
            <a:endParaRPr lang="zh-CN" altLang="en-US" sz="1600">
              <a:solidFill>
                <a:schemeClr val="tx1">
                  <a:lumMod val="65000"/>
                  <a:lumOff val="35000"/>
                </a:schemeClr>
              </a:solidFill>
              <a:latin typeface="Noto Sans SC" panose="020B0200000000000000" charset="-122"/>
              <a:ea typeface="Noto Sans SC" panose="020B0200000000000000" charset="-122"/>
              <a:cs typeface="Noto Sans SC" panose="020B0200000000000000" charset="-122"/>
            </a:endParaRPr>
          </a:p>
        </p:txBody>
      </p:sp>
      <p:sp>
        <p:nvSpPr>
          <p:cNvPr id="35" name="文本框 34"/>
          <p:cNvSpPr txBox="1"/>
          <p:nvPr/>
        </p:nvSpPr>
        <p:spPr>
          <a:xfrm>
            <a:off x="2954020" y="3538537"/>
            <a:ext cx="5080000" cy="337185"/>
          </a:xfrm>
          <a:prstGeom prst="rect">
            <a:avLst/>
          </a:prstGeom>
        </p:spPr>
        <p:txBody>
          <a:bodyPr>
            <a:spAutoFit/>
          </a:bodyPr>
          <a:p>
            <a:r>
              <a:rPr lang="zh-CN" altLang="en-US" sz="1600">
                <a:solidFill>
                  <a:srgbClr val="595959"/>
                </a:solidFill>
                <a:latin typeface="Noto Sans SC" panose="020B0200000000000000" charset="-122"/>
                <a:ea typeface="Noto Sans SC" panose="020B0200000000000000" charset="-122"/>
              </a:rPr>
              <a:t>执行前端测试，严格排查问题并闭环；</a:t>
            </a:r>
            <a:r>
              <a:rPr lang="en-US" altLang="zh-CN" sz="1600">
                <a:solidFill>
                  <a:srgbClr val="595959"/>
                </a:solidFill>
                <a:latin typeface="Noto Sans SC" panose="020B0200000000000000" charset="-122"/>
                <a:ea typeface="Noto Sans SC" panose="020B0200000000000000" charset="-122"/>
              </a:rPr>
              <a:t>PPT</a:t>
            </a:r>
            <a:r>
              <a:rPr lang="zh-CN" altLang="en-US" sz="1600">
                <a:solidFill>
                  <a:srgbClr val="595959"/>
                </a:solidFill>
                <a:latin typeface="Noto Sans SC" panose="020B0200000000000000" charset="-122"/>
                <a:ea typeface="Noto Sans SC" panose="020B0200000000000000" charset="-122"/>
              </a:rPr>
              <a:t>制作</a:t>
            </a:r>
            <a:endParaRPr lang="zh-CN" altLang="en-US" sz="1600">
              <a:solidFill>
                <a:srgbClr val="595959"/>
              </a:solidFill>
              <a:latin typeface="Noto Sans SC" panose="020B0200000000000000" charset="-122"/>
              <a:ea typeface="Noto Sans SC" panose="020B0200000000000000" charset="-122"/>
            </a:endParaRPr>
          </a:p>
        </p:txBody>
      </p:sp>
      <p:sp>
        <p:nvSpPr>
          <p:cNvPr id="36" name="文本框 35"/>
          <p:cNvSpPr txBox="1"/>
          <p:nvPr/>
        </p:nvSpPr>
        <p:spPr>
          <a:xfrm>
            <a:off x="2954655" y="4223385"/>
            <a:ext cx="6049645" cy="337185"/>
          </a:xfrm>
          <a:prstGeom prst="rect">
            <a:avLst/>
          </a:prstGeom>
          <a:noFill/>
        </p:spPr>
        <p:txBody>
          <a:bodyPr wrap="square" rtlCol="0" anchor="t">
            <a:spAutoFit/>
          </a:bodyPr>
          <a:p>
            <a:r>
              <a:rPr lang="zh-CN" altLang="en-US" sz="1600">
                <a:solidFill>
                  <a:srgbClr val="595959"/>
                </a:solidFill>
                <a:latin typeface="Noto Sans SC" panose="020B0200000000000000" charset="-122"/>
                <a:ea typeface="Noto Sans SC" panose="020B0200000000000000" charset="-122"/>
                <a:sym typeface="+mn-ea"/>
              </a:rPr>
              <a:t>后端测试；</a:t>
            </a:r>
            <a:r>
              <a:rPr lang="en-US" altLang="zh-CN" sz="1600">
                <a:solidFill>
                  <a:srgbClr val="595959"/>
                </a:solidFill>
                <a:latin typeface="Noto Sans SC" panose="020B0200000000000000" charset="-122"/>
                <a:ea typeface="Noto Sans SC" panose="020B0200000000000000" charset="-122"/>
                <a:sym typeface="+mn-ea"/>
              </a:rPr>
              <a:t>PPT</a:t>
            </a:r>
            <a:r>
              <a:rPr lang="zh-CN" altLang="en-US" sz="1600">
                <a:solidFill>
                  <a:srgbClr val="595959"/>
                </a:solidFill>
                <a:latin typeface="Noto Sans SC" panose="020B0200000000000000" charset="-122"/>
                <a:ea typeface="Noto Sans SC" panose="020B0200000000000000" charset="-122"/>
                <a:sym typeface="+mn-ea"/>
              </a:rPr>
              <a:t>制作</a:t>
            </a:r>
            <a:endParaRPr lang="zh-CN" altLang="en-US" sz="1600">
              <a:solidFill>
                <a:srgbClr val="595959"/>
              </a:solidFill>
              <a:latin typeface="Noto Sans SC" panose="020B0200000000000000" charset="-122"/>
              <a:ea typeface="Noto Sans SC" panose="020B0200000000000000" charset="-122"/>
              <a:sym typeface="+mn-ea"/>
            </a:endParaRPr>
          </a:p>
        </p:txBody>
      </p:sp>
      <p:sp>
        <p:nvSpPr>
          <p:cNvPr id="37" name="文本框 36"/>
          <p:cNvSpPr txBox="1"/>
          <p:nvPr/>
        </p:nvSpPr>
        <p:spPr>
          <a:xfrm>
            <a:off x="2954655" y="5043805"/>
            <a:ext cx="4064000" cy="337185"/>
          </a:xfrm>
          <a:prstGeom prst="rect">
            <a:avLst/>
          </a:prstGeom>
          <a:noFill/>
        </p:spPr>
        <p:txBody>
          <a:bodyPr wrap="square" rtlCol="0">
            <a:spAutoFit/>
          </a:bodyPr>
          <a:p>
            <a:r>
              <a:rPr lang="zh-CN" altLang="en-US" sz="1600">
                <a:solidFill>
                  <a:schemeClr val="tx1">
                    <a:lumMod val="65000"/>
                    <a:lumOff val="35000"/>
                  </a:schemeClr>
                </a:solidFill>
                <a:latin typeface="Noto Sans SC" panose="020B0200000000000000" charset="-122"/>
                <a:ea typeface="Noto Sans SC" panose="020B0200000000000000" charset="-122"/>
              </a:rPr>
              <a:t>移动端测试</a:t>
            </a:r>
            <a:endParaRPr lang="zh-CN" altLang="en-US" sz="1600">
              <a:solidFill>
                <a:schemeClr val="tx1">
                  <a:lumMod val="65000"/>
                  <a:lumOff val="35000"/>
                </a:schemeClr>
              </a:solidFill>
              <a:latin typeface="Noto Sans SC" panose="020B0200000000000000" charset="-122"/>
              <a:ea typeface="Noto Sans SC" panose="020B0200000000000000" charset="-122"/>
            </a:endParaRPr>
          </a:p>
        </p:txBody>
      </p:sp>
      <p:sp>
        <p:nvSpPr>
          <p:cNvPr id="38" name="文本框 37"/>
          <p:cNvSpPr txBox="1"/>
          <p:nvPr/>
        </p:nvSpPr>
        <p:spPr>
          <a:xfrm>
            <a:off x="2953385" y="5668010"/>
            <a:ext cx="5080000" cy="909320"/>
          </a:xfrm>
          <a:prstGeom prst="rect">
            <a:avLst/>
          </a:prstGeom>
        </p:spPr>
        <p:txBody>
          <a:bodyPr>
            <a:noAutofit/>
          </a:bodyPr>
          <a:p>
            <a:r>
              <a:rPr lang="zh-CN" altLang="en-US" sz="1600">
                <a:solidFill>
                  <a:srgbClr val="595959"/>
                </a:solidFill>
                <a:latin typeface="Noto Sans SC" panose="020B0200000000000000" charset="-122"/>
                <a:ea typeface="Noto Sans SC" panose="020B0200000000000000" charset="-122"/>
              </a:rPr>
              <a:t>后端架构搭建与优化，负责核心业务逻辑实现，保障系统稳定高效。</a:t>
            </a:r>
            <a:endParaRPr lang="zh-CN" altLang="en-US" sz="1600">
              <a:solidFill>
                <a:srgbClr val="595959"/>
              </a:solidFill>
              <a:latin typeface="Noto Sans SC" panose="020B0200000000000000" charset="-122"/>
              <a:ea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custDataLst>
              <p:tags r:id="rId2"/>
            </p:custDataLst>
          </p:nvPr>
        </p:nvSpPr>
        <p:spPr>
          <a:xfrm>
            <a:off x="304165" y="238760"/>
            <a:ext cx="8128635" cy="3070225"/>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custDataLst>
              <p:tags r:id="rId3"/>
            </p:custDataLst>
          </p:nvPr>
        </p:nvSpPr>
        <p:spPr>
          <a:xfrm>
            <a:off x="353060" y="3429000"/>
            <a:ext cx="8079105" cy="2940685"/>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custDataLst>
              <p:tags r:id="rId4"/>
            </p:custDataLst>
          </p:nvPr>
        </p:nvSpPr>
        <p:spPr>
          <a:xfrm>
            <a:off x="436880" y="457175"/>
            <a:ext cx="800100" cy="838200"/>
          </a:xfrm>
          <a:prstGeom prst="flowChartConnector">
            <a:avLst/>
          </a:prstGeom>
          <a:solidFill>
            <a:srgbClr val="025C3B">
              <a:alpha val="30000"/>
            </a:srgbClr>
          </a:solidFill>
          <a:ln w="76200" cap="flat" cmpd="sng">
            <a:solidFill>
              <a:srgbClr val="FFFFF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Calibri" panose="020F0502020204030204"/>
                <a:ea typeface="Calibri" panose="020F0502020204030204"/>
                <a:cs typeface="Calibri" panose="020F0502020204030204"/>
                <a:sym typeface="Calibri" panose="020F0502020204030204"/>
              </a:rPr>
              <a:t>01</a:t>
            </a:r>
            <a:endParaRPr lang="en-US" sz="1100"/>
          </a:p>
        </p:txBody>
      </p:sp>
      <p:sp>
        <p:nvSpPr>
          <p:cNvPr id="6" name="AutoShape 6"/>
          <p:cNvSpPr/>
          <p:nvPr>
            <p:custDataLst>
              <p:tags r:id="rId5"/>
            </p:custDataLst>
          </p:nvPr>
        </p:nvSpPr>
        <p:spPr>
          <a:xfrm>
            <a:off x="1428115" y="622300"/>
            <a:ext cx="23368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为学生提供</a:t>
            </a:r>
            <a:endParaRPr lang="en-US" sz="1100"/>
          </a:p>
        </p:txBody>
      </p:sp>
      <p:sp>
        <p:nvSpPr>
          <p:cNvPr id="7" name="AutoShape 7"/>
          <p:cNvSpPr/>
          <p:nvPr>
            <p:custDataLst>
              <p:tags r:id="rId6"/>
            </p:custDataLst>
          </p:nvPr>
        </p:nvSpPr>
        <p:spPr>
          <a:xfrm>
            <a:off x="1096645" y="1143000"/>
            <a:ext cx="6049010" cy="3213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50" b="1" i="0" u="none" strike="noStrike">
                <a:solidFill>
                  <a:srgbClr val="DCF0DC"/>
                </a:solidFill>
                <a:latin typeface="Noto Sans SC" panose="020B0200000000000000" charset="-122"/>
                <a:ea typeface="Noto Sans SC" panose="020B0200000000000000" charset="-122"/>
                <a:cs typeface="Noto Sans SC" panose="020B0200000000000000" charset="-122"/>
                <a:sym typeface="Noto Sans SC" panose="020B0200000000000000" charset="-122"/>
              </a:rPr>
              <a:t>● 透明化查询</a:t>
            </a:r>
            <a:br>
              <a:rPr lang="en-US" sz="165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实时查看全校座位布局与占用实况，资源一目了然。</a:t>
            </a:r>
            <a:endParaRPr lang="en-US" sz="1100"/>
          </a:p>
          <a:p>
            <a:pPr marL="0" indent="0" algn="l">
              <a:lnSpc>
                <a:spcPct val="108000"/>
              </a:lnSpc>
            </a:pPr>
            <a:r>
              <a:rPr lang="en-US" sz="1650" b="1" i="0" u="none" strike="noStrike">
                <a:solidFill>
                  <a:srgbClr val="DCF0DC"/>
                </a:solidFill>
                <a:latin typeface="Noto Sans SC" panose="020B0200000000000000" charset="-122"/>
                <a:ea typeface="Noto Sans SC" panose="020B0200000000000000" charset="-122"/>
                <a:cs typeface="Noto Sans SC" panose="020B0200000000000000" charset="-122"/>
                <a:sym typeface="Noto Sans SC" panose="020B0200000000000000" charset="-122"/>
              </a:rPr>
              <a:t>● 便捷化预约</a:t>
            </a:r>
            <a:br>
              <a:rPr lang="en-US" sz="165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智能网格选座，一键锁定心仪座位，告别排队烦恼。</a:t>
            </a:r>
            <a:endPar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650" b="1" i="0" u="none" strike="noStrike">
                <a:solidFill>
                  <a:srgbClr val="DCF0DC"/>
                </a:solidFill>
                <a:latin typeface="Noto Sans SC" panose="020B0200000000000000" charset="-122"/>
                <a:ea typeface="Noto Sans SC" panose="020B0200000000000000" charset="-122"/>
                <a:cs typeface="Noto Sans SC" panose="020B0200000000000000" charset="-122"/>
                <a:sym typeface="Noto Sans SC" panose="020B0200000000000000" charset="-122"/>
              </a:rPr>
              <a:t>● 公平化保障</a:t>
            </a:r>
            <a:br>
              <a:rPr lang="en-US" sz="165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超时未签到自动释放，爽约纳入黑名单，维护公平秩序。</a:t>
            </a:r>
            <a:endPar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7"/>
            </p:custDataLst>
          </p:nvPr>
        </p:nvSpPr>
        <p:spPr>
          <a:xfrm>
            <a:off x="436880" y="3478530"/>
            <a:ext cx="800100" cy="838200"/>
          </a:xfrm>
          <a:prstGeom prst="flowChartConnector">
            <a:avLst/>
          </a:prstGeom>
          <a:solidFill>
            <a:srgbClr val="025C3B">
              <a:alpha val="30000"/>
            </a:srgbClr>
          </a:solidFill>
          <a:ln w="76200" cap="flat" cmpd="sng">
            <a:solidFill>
              <a:srgbClr val="FFFFF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Calibri" panose="020F0502020204030204"/>
                <a:ea typeface="Calibri" panose="020F0502020204030204"/>
                <a:cs typeface="Calibri" panose="020F0502020204030204"/>
                <a:sym typeface="Calibri" panose="020F0502020204030204"/>
              </a:rPr>
              <a:t>02</a:t>
            </a:r>
            <a:endParaRPr lang="en-US" sz="1100"/>
          </a:p>
        </p:txBody>
      </p:sp>
      <p:sp>
        <p:nvSpPr>
          <p:cNvPr id="10" name="AutoShape 10"/>
          <p:cNvSpPr/>
          <p:nvPr>
            <p:custDataLst>
              <p:tags r:id="rId8"/>
            </p:custDataLst>
          </p:nvPr>
        </p:nvSpPr>
        <p:spPr>
          <a:xfrm>
            <a:off x="1428115" y="3637280"/>
            <a:ext cx="23368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为管理者赋能</a:t>
            </a:r>
            <a:endParaRPr lang="en-US" sz="1100"/>
          </a:p>
        </p:txBody>
      </p:sp>
      <p:sp>
        <p:nvSpPr>
          <p:cNvPr id="11" name="AutoShape 11"/>
          <p:cNvSpPr/>
          <p:nvPr>
            <p:custDataLst>
              <p:tags r:id="rId9"/>
            </p:custDataLst>
          </p:nvPr>
        </p:nvSpPr>
        <p:spPr>
          <a:xfrm>
            <a:off x="1104265" y="4317365"/>
            <a:ext cx="6121400" cy="1927225"/>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50" b="1" i="0" u="none" strike="noStrike">
                <a:solidFill>
                  <a:srgbClr val="DCF0DC"/>
                </a:solidFill>
                <a:latin typeface="Noto Sans SC" panose="020B0200000000000000" charset="-122"/>
                <a:ea typeface="Noto Sans SC" panose="020B0200000000000000" charset="-122"/>
                <a:cs typeface="Noto Sans SC" panose="020B0200000000000000" charset="-122"/>
                <a:sym typeface="Noto Sans SC" panose="020B0200000000000000" charset="-122"/>
              </a:rPr>
              <a:t>● 全局监控看板</a:t>
            </a:r>
            <a:br>
              <a:rPr lang="en-US" sz="165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可视化大屏实时展示座位状态，异常情况即时预警。</a:t>
            </a:r>
            <a:endParaRPr lang="en-US" sz="1100"/>
          </a:p>
          <a:p>
            <a:pPr marL="0" indent="0" algn="l">
              <a:lnSpc>
                <a:spcPct val="108000"/>
              </a:lnSpc>
            </a:pPr>
            <a:r>
              <a:rPr lang="en-US" sz="1650" b="1" i="0" u="none" strike="noStrike">
                <a:solidFill>
                  <a:srgbClr val="DCF0DC"/>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数据智能洞察</a:t>
            </a:r>
            <a:br>
              <a:rPr lang="en-US" sz="165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多维度统计座位利用率与高峰时段，辅助资源优化。</a:t>
            </a:r>
            <a:endPar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650" b="1" i="0" u="none" strike="noStrike">
                <a:solidFill>
                  <a:srgbClr val="DCF0DC"/>
                </a:solidFill>
                <a:latin typeface="Noto Sans SC" panose="020B0200000000000000" charset="-122"/>
                <a:ea typeface="Noto Sans SC" panose="020B0200000000000000" charset="-122"/>
                <a:cs typeface="Noto Sans SC" panose="020B0200000000000000" charset="-122"/>
                <a:sym typeface="Noto Sans SC" panose="020B0200000000000000" charset="-122"/>
              </a:rPr>
              <a:t>● 高效运维管理</a:t>
            </a:r>
            <a:br>
              <a:rPr lang="en-US" sz="165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便捷维护自习室配置，灵活管理用户权限与黑名单。</a:t>
            </a:r>
            <a:endParaRPr lang="en-US" sz="154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0"/>
            <a:ext cx="4711700" cy="68580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977900" y="317500"/>
            <a:ext cx="4165600" cy="6121400"/>
          </a:xfrm>
          <a:prstGeom prst="rect">
            <a:avLst/>
          </a:prstGeom>
          <a:noFill/>
          <a:ln w="25400" cap="flat" cmpd="sng">
            <a:noFill/>
            <a:prstDash val="solid"/>
            <a:round/>
          </a:ln>
        </p:spPr>
      </p:pic>
      <p:sp>
        <p:nvSpPr>
          <p:cNvPr id="5" name="AutoShape 5"/>
          <p:cNvSpPr/>
          <p:nvPr/>
        </p:nvSpPr>
        <p:spPr>
          <a:xfrm>
            <a:off x="5244465" y="2247900"/>
            <a:ext cx="2336800" cy="2362200"/>
          </a:xfrm>
          <a:prstGeom prst="ellipse">
            <a:avLst/>
          </a:prstGeom>
          <a:solidFill>
            <a:srgbClr val="025C3B">
              <a:alpha val="80000"/>
            </a:srgbClr>
          </a:solidFill>
          <a:ln w="12700" cap="flat" cmpd="sng">
            <a:solidFill>
              <a:srgbClr val="025C3B">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3200" b="1" i="0" u="none" strike="noStrike">
                <a:solidFill>
                  <a:srgbClr val="FFFFFF"/>
                </a:solidFill>
                <a:latin typeface="Arial" panose="020B0604020202020204"/>
                <a:ea typeface="Arial" panose="020B0604020202020204"/>
                <a:cs typeface="Arial" panose="020B0604020202020204"/>
                <a:sym typeface="Arial" panose="020B0604020202020204"/>
              </a:rPr>
              <a:t>PART</a:t>
            </a:r>
            <a:endParaRPr lang="en-US" sz="1100"/>
          </a:p>
          <a:p>
            <a:pPr marL="0" indent="0" algn="ctr">
              <a:lnSpc>
                <a:spcPct val="100000"/>
              </a:lnSpc>
            </a:pPr>
            <a:r>
              <a:rPr lang="en-US" sz="32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32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5143500" y="54610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9" name="AutoShape 9"/>
          <p:cNvSpPr/>
          <p:nvPr/>
        </p:nvSpPr>
        <p:spPr>
          <a:xfrm>
            <a:off x="5143500" y="60452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10" name="文本框 9"/>
          <p:cNvSpPr txBox="1"/>
          <p:nvPr/>
        </p:nvSpPr>
        <p:spPr>
          <a:xfrm>
            <a:off x="7682230" y="2977515"/>
            <a:ext cx="6096000" cy="648970"/>
          </a:xfrm>
          <a:prstGeom prst="rect">
            <a:avLst/>
          </a:prstGeom>
          <a:noFill/>
        </p:spPr>
        <p:txBody>
          <a:bodyPr wrap="square" rtlCol="0" anchor="t">
            <a:noAutofit/>
          </a:bodyPr>
          <a:p>
            <a:pPr marL="0" indent="0" algn="l">
              <a:lnSpc>
                <a:spcPct val="100000"/>
              </a:lnSpc>
              <a:defRPr/>
            </a:pPr>
            <a:r>
              <a:rPr lang="zh-CN" altLang="en-US" sz="40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rPr>
              <a:t>项目</a:t>
            </a:r>
            <a:r>
              <a:rPr lang="en-US" sz="40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rPr>
              <a:t>架构与技术栈</a:t>
            </a:r>
            <a:endParaRPr lang="en-US" altLang="en-US" sz="40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4" name="AutoShape 4"/>
          <p:cNvSpPr/>
          <p:nvPr/>
        </p:nvSpPr>
        <p:spPr>
          <a:xfrm>
            <a:off x="0" y="0"/>
            <a:ext cx="1534795" cy="68580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344805" y="946785"/>
            <a:ext cx="767715" cy="4458970"/>
          </a:xfrm>
          <a:prstGeom prst="rect">
            <a:avLst/>
          </a:prstGeom>
          <a:noFill/>
          <a:ln w="12700" cap="flat" cmpd="sng">
            <a:noFill/>
            <a:prstDash val="solid"/>
            <a:round/>
          </a:ln>
        </p:spPr>
        <p:txBody>
          <a:bodyPr vert="eaVert" wrap="square" lIns="88900" tIns="50800" rIns="88900" bIns="50800" rtlCol="0" anchor="t" anchorCtr="0"/>
          <a:lstStyle/>
          <a:p>
            <a:pPr marL="0" indent="0" algn="l">
              <a:lnSpc>
                <a:spcPct val="100000"/>
              </a:lnSpc>
              <a:defRPr/>
            </a:pPr>
            <a:r>
              <a:rPr lang="en-US" sz="40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系统总体架构</a:t>
            </a:r>
            <a:endParaRPr lang="en-US" sz="4000"/>
          </a:p>
        </p:txBody>
      </p:sp>
      <p:sp>
        <p:nvSpPr>
          <p:cNvPr id="6" name="AutoShape 6"/>
          <p:cNvSpPr/>
          <p:nvPr/>
        </p:nvSpPr>
        <p:spPr>
          <a:xfrm>
            <a:off x="1712595" y="127000"/>
            <a:ext cx="4883785" cy="2836545"/>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Picture 7"/>
          <p:cNvPicPr>
            <a:picLocks noChangeAspect="1"/>
          </p:cNvPicPr>
          <p:nvPr/>
        </p:nvPicPr>
        <p:blipFill>
          <a:blip r:embed="rId2"/>
          <a:srcRect l="249" r="249"/>
          <a:stretch>
            <a:fillRect/>
          </a:stretch>
        </p:blipFill>
        <p:spPr>
          <a:xfrm>
            <a:off x="1534795" y="29210"/>
            <a:ext cx="10657205" cy="6828790"/>
          </a:xfrm>
          <a:prstGeom prst="rect">
            <a:avLst/>
          </a:prstGeom>
          <a:noFill/>
          <a:ln w="25400" cap="flat" cmpd="sng">
            <a:noFill/>
            <a:prstDash val="solid"/>
            <a:round/>
          </a:ln>
        </p:spPr>
      </p:pic>
      <p:sp>
        <p:nvSpPr>
          <p:cNvPr id="8" name="AutoShape 8"/>
          <p:cNvSpPr/>
          <p:nvPr/>
        </p:nvSpPr>
        <p:spPr>
          <a:xfrm>
            <a:off x="6993255" y="436245"/>
            <a:ext cx="4883785" cy="1016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17000"/>
              </a:lnSpc>
              <a:defRPr/>
            </a:pPr>
            <a:r>
              <a:rPr lang="en-US" sz="1600" b="1"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架构优势：</a:t>
            </a:r>
            <a:r>
              <a:rPr lang="en-US" sz="16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通过分层设计实现业务逻辑与数据存储的解耦，利用Redis缓存热点数据减轻数据库压力，配合异步任务处理机制，保障系统在高并发场景下的稳定性与响应速度。</a:t>
            </a:r>
            <a:endParaRPr lang="en-US" sz="1600"/>
          </a:p>
        </p:txBody>
      </p:sp>
      <p:sp>
        <p:nvSpPr>
          <p:cNvPr id="9" name="文本框 8"/>
          <p:cNvSpPr txBox="1"/>
          <p:nvPr/>
        </p:nvSpPr>
        <p:spPr>
          <a:xfrm>
            <a:off x="1534795" y="3746500"/>
            <a:ext cx="5459095" cy="2538095"/>
          </a:xfrm>
          <a:prstGeom prst="rect">
            <a:avLst/>
          </a:prstGeom>
          <a:noFill/>
        </p:spPr>
        <p:txBody>
          <a:bodyPr wrap="square" rtlCol="0" anchor="t">
            <a:noAutofit/>
          </a:bodyPr>
          <a:p>
            <a:pPr marL="0" indent="0" algn="l">
              <a:lnSpc>
                <a:spcPct val="117000"/>
              </a:lnSpc>
              <a:defRPr/>
            </a:pPr>
            <a:r>
              <a:rPr lang="en-US" sz="1800" b="1">
                <a:solidFill>
                  <a:srgbClr val="025C3B"/>
                </a:solidFill>
                <a:latin typeface="黑体" panose="02010609060101010101" charset="-122"/>
                <a:ea typeface="黑体" panose="02010609060101010101" charset="-122"/>
                <a:cs typeface="黑体" panose="02010609060101010101" charset="-122"/>
                <a:sym typeface="黑体" panose="02010609060101010101" charset="-122"/>
              </a:rPr>
              <a:t>▍架构设计理念：</a:t>
            </a:r>
            <a:r>
              <a:rPr lang="en-US" sz="18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采用经典C/S分层架构，实现前后端彻底解耦，职责边界清晰，便于维护与扩展。</a:t>
            </a:r>
            <a:endParaRPr lang="en-US" sz="1800"/>
          </a:p>
          <a:p>
            <a:pPr marL="0" indent="0" algn="l">
              <a:lnSpc>
                <a:spcPct val="117000"/>
              </a:lnSpc>
            </a:pPr>
            <a:r>
              <a:rPr lang="en-US" sz="1800" b="1">
                <a:solidFill>
                  <a:srgbClr val="025C3B"/>
                </a:solidFill>
                <a:latin typeface="黑体" panose="02010609060101010101" charset="-122"/>
                <a:ea typeface="黑体" panose="02010609060101010101" charset="-122"/>
                <a:cs typeface="黑体" panose="02010609060101010101" charset="-122"/>
                <a:sym typeface="黑体" panose="02010609060101010101" charset="-122"/>
              </a:rPr>
              <a:t>▍核心技术栈：</a:t>
            </a:r>
            <a:endParaRPr lang="en-US" sz="1800" b="1" i="0" u="none" strike="noStrike">
              <a:solidFill>
                <a:srgbClr val="025C3B"/>
              </a:solidFill>
              <a:latin typeface="黑体" panose="02010609060101010101" charset="-122"/>
              <a:ea typeface="黑体" panose="02010609060101010101" charset="-122"/>
              <a:cs typeface="黑体" panose="02010609060101010101" charset="-122"/>
              <a:sym typeface="黑体" panose="02010609060101010101" charset="-122"/>
            </a:endParaRPr>
          </a:p>
          <a:p>
            <a:pPr marL="0" indent="0" algn="l">
              <a:lnSpc>
                <a:spcPct val="108000"/>
              </a:lnSpc>
            </a:pPr>
            <a:r>
              <a:rPr lang="en-US" sz="18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前端交互：Vue3 + Vite + Element Plus，轻量化高性能渲染</a:t>
            </a: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8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后端服务：Spring Boot 3.5 + MyBatis-Plus，高效处理业务逻辑</a:t>
            </a:r>
            <a:endParaRPr lang="en-US" sz="1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8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数据支撑：MySQL 8 持久化存储 + Redis 7 缓存加速与任务调度</a:t>
            </a:r>
            <a:endParaRPr lang="en-US" altLang="en-US" sz="18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8903335" y="-8890"/>
            <a:ext cx="3187700" cy="1143000"/>
          </a:xfrm>
          <a:prstGeom prst="rect">
            <a:avLst/>
          </a:prstGeom>
          <a:noFill/>
          <a:ln w="25400" cap="flat" cmpd="sng">
            <a:noFill/>
            <a:prstDash val="solid"/>
            <a:round/>
          </a:ln>
        </p:spPr>
      </p:pic>
      <p:sp>
        <p:nvSpPr>
          <p:cNvPr id="3" name="AutoShape 3"/>
          <p:cNvSpPr/>
          <p:nvPr/>
        </p:nvSpPr>
        <p:spPr>
          <a:xfrm>
            <a:off x="5645785" y="1971675"/>
            <a:ext cx="6445250" cy="4877435"/>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l="306" r="306"/>
          <a:stretch>
            <a:fillRect/>
          </a:stretch>
        </p:blipFill>
        <p:spPr>
          <a:xfrm>
            <a:off x="4911090" y="1134745"/>
            <a:ext cx="6694805" cy="5400675"/>
          </a:xfrm>
          <a:prstGeom prst="rect">
            <a:avLst/>
          </a:prstGeom>
          <a:noFill/>
          <a:ln w="25400" cap="flat" cmpd="sng">
            <a:noFill/>
            <a:prstDash val="solid"/>
            <a:round/>
          </a:ln>
        </p:spPr>
      </p:pic>
      <p:sp>
        <p:nvSpPr>
          <p:cNvPr id="5" name="AutoShape 5"/>
          <p:cNvSpPr/>
          <p:nvPr/>
        </p:nvSpPr>
        <p:spPr>
          <a:xfrm>
            <a:off x="0" y="355600"/>
            <a:ext cx="2959100" cy="838200"/>
          </a:xfrm>
          <a:prstGeom prst="homePlate">
            <a:avLst>
              <a:gd name="adj" fmla="val 50000"/>
            </a:avLst>
          </a:prstGeom>
          <a:solidFill>
            <a:srgbClr val="025C3B">
              <a:alpha val="80000"/>
            </a:srgbClr>
          </a:solidFill>
          <a:ln w="12700" cap="flat" cmpd="sng">
            <a:solidFill>
              <a:srgbClr val="2F528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32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并发控制技术</a:t>
            </a:r>
            <a:endParaRPr lang="en-US" sz="1100"/>
          </a:p>
        </p:txBody>
      </p:sp>
      <p:sp>
        <p:nvSpPr>
          <p:cNvPr id="6" name="AutoShape 6"/>
          <p:cNvSpPr/>
          <p:nvPr/>
        </p:nvSpPr>
        <p:spPr>
          <a:xfrm>
            <a:off x="53340" y="1489710"/>
            <a:ext cx="762000" cy="762000"/>
          </a:xfrm>
          <a:prstGeom prst="ellipse">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3340" y="4080510"/>
            <a:ext cx="762000" cy="762000"/>
          </a:xfrm>
          <a:prstGeom prst="ellipse">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243840" y="1692910"/>
            <a:ext cx="379776" cy="371839"/>
          </a:xfrm>
          <a:custGeom>
            <a:avLst/>
            <a:gdLst/>
            <a:ahLst/>
            <a:cxnLst/>
            <a:rect l="l" t="t" r="r" b="b"/>
            <a:pathLst>
              <a:path w="379776" h="371839">
                <a:moveTo>
                  <a:pt x="0" y="0"/>
                </a:moveTo>
                <a:lnTo>
                  <a:pt x="54253" y="0"/>
                </a:lnTo>
                <a:lnTo>
                  <a:pt x="54253" y="371839"/>
                </a:lnTo>
                <a:lnTo>
                  <a:pt x="0" y="371839"/>
                </a:lnTo>
                <a:lnTo>
                  <a:pt x="0" y="0"/>
                </a:lnTo>
                <a:close/>
                <a:moveTo>
                  <a:pt x="325523" y="0"/>
                </a:moveTo>
                <a:lnTo>
                  <a:pt x="325523" y="151060"/>
                </a:lnTo>
                <a:lnTo>
                  <a:pt x="284034" y="124915"/>
                </a:lnTo>
                <a:lnTo>
                  <a:pt x="242546" y="151060"/>
                </a:lnTo>
                <a:lnTo>
                  <a:pt x="242546" y="0"/>
                </a:lnTo>
                <a:lnTo>
                  <a:pt x="79785" y="0"/>
                </a:lnTo>
                <a:lnTo>
                  <a:pt x="79785" y="371839"/>
                </a:lnTo>
                <a:lnTo>
                  <a:pt x="379776" y="371839"/>
                </a:lnTo>
                <a:lnTo>
                  <a:pt x="379776" y="0"/>
                </a:lnTo>
                <a:lnTo>
                  <a:pt x="325523"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243840" y="4271010"/>
            <a:ext cx="379776" cy="371839"/>
          </a:xfrm>
          <a:custGeom>
            <a:avLst/>
            <a:gdLst/>
            <a:ahLst/>
            <a:cxnLst/>
            <a:rect l="l" t="t" r="r" b="b"/>
            <a:pathLst>
              <a:path w="379776" h="371839">
                <a:moveTo>
                  <a:pt x="0" y="0"/>
                </a:moveTo>
                <a:lnTo>
                  <a:pt x="54253" y="0"/>
                </a:lnTo>
                <a:lnTo>
                  <a:pt x="54253" y="371839"/>
                </a:lnTo>
                <a:lnTo>
                  <a:pt x="0" y="371839"/>
                </a:lnTo>
                <a:lnTo>
                  <a:pt x="0" y="0"/>
                </a:lnTo>
                <a:close/>
                <a:moveTo>
                  <a:pt x="325523" y="0"/>
                </a:moveTo>
                <a:lnTo>
                  <a:pt x="325523" y="151060"/>
                </a:lnTo>
                <a:lnTo>
                  <a:pt x="284034" y="124915"/>
                </a:lnTo>
                <a:lnTo>
                  <a:pt x="242546" y="151060"/>
                </a:lnTo>
                <a:lnTo>
                  <a:pt x="242546" y="0"/>
                </a:lnTo>
                <a:lnTo>
                  <a:pt x="79785" y="0"/>
                </a:lnTo>
                <a:lnTo>
                  <a:pt x="79785" y="371839"/>
                </a:lnTo>
                <a:lnTo>
                  <a:pt x="379776" y="371839"/>
                </a:lnTo>
                <a:lnTo>
                  <a:pt x="379776" y="0"/>
                </a:lnTo>
                <a:lnTo>
                  <a:pt x="325523"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05840" y="1616710"/>
            <a:ext cx="2921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时间片模型设计</a:t>
            </a:r>
            <a:endParaRPr lang="en-US" sz="1100"/>
          </a:p>
        </p:txBody>
      </p:sp>
      <p:sp>
        <p:nvSpPr>
          <p:cNvPr id="11" name="AutoShape 11"/>
          <p:cNvSpPr/>
          <p:nvPr/>
        </p:nvSpPr>
        <p:spPr>
          <a:xfrm>
            <a:off x="1005840" y="4156710"/>
            <a:ext cx="29210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数据库兜底保障</a:t>
            </a:r>
            <a:endParaRPr lang="en-US" sz="1100"/>
          </a:p>
        </p:txBody>
      </p:sp>
      <p:sp>
        <p:nvSpPr>
          <p:cNvPr id="12" name="AutoShape 12"/>
          <p:cNvSpPr/>
          <p:nvPr/>
        </p:nvSpPr>
        <p:spPr>
          <a:xfrm>
            <a:off x="24765" y="2349500"/>
            <a:ext cx="4356100" cy="1079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黑体" panose="02010609060101010101" charset="-122"/>
              </a:rPr>
              <a:t>  将单次预约按30分钟固定粒度拆解为独立“时间片”记录，把连续的时间占用转化为离散的资源单元，从业务逻辑层面实现对座位资源的精细化管控，避免时间段重叠导致的预约冲突</a:t>
            </a:r>
            <a:r>
              <a:rPr lang="en-US" sz="1600" b="0" i="0" u="none" strike="noStrike">
                <a:solidFill>
                  <a:srgbClr val="333333"/>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13" name="AutoShape 13"/>
          <p:cNvSpPr/>
          <p:nvPr/>
        </p:nvSpPr>
        <p:spPr>
          <a:xfrm>
            <a:off x="53340" y="4992370"/>
            <a:ext cx="4356100" cy="1079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00" b="0" i="0" u="none" strike="noStrike">
                <a:solidFill>
                  <a:srgbClr val="333333"/>
                </a:solidFill>
                <a:latin typeface="Noto Sans SC" panose="020B0200000000000000" charset="-122"/>
                <a:ea typeface="Noto Sans SC" panose="020B0200000000000000" charset="-122"/>
                <a:cs typeface="Noto Sans SC" panose="020B0200000000000000" charset="-122"/>
                <a:sym typeface="黑体" panose="02010609060101010101" charset="-122"/>
              </a:rPr>
              <a:t>  在数据库表中建立联合唯一索引(seat_id, date, slot_index)，利用数据库的强一致性约束，强制保证同一座位、同一天的同一时间片仅能存在一条记录，彻底杜绝高并发场景下的“超卖”与重复预约问题。</a:t>
            </a:r>
            <a:endParaRPr lang="en-US" sz="1100">
              <a:latin typeface="Noto Sans SC" panose="020B0200000000000000" charset="-122"/>
              <a:ea typeface="Noto Sans SC" panose="020B0200000000000000" charset="-122"/>
              <a:cs typeface="Noto Sans SC" panose="020B0200000000000000" charset="-122"/>
            </a:endParaRPr>
          </a:p>
        </p:txBody>
      </p:sp>
      <p:sp>
        <p:nvSpPr>
          <p:cNvPr id="14" name="AutoShape 14"/>
          <p:cNvSpPr/>
          <p:nvPr/>
        </p:nvSpPr>
        <p:spPr>
          <a:xfrm>
            <a:off x="4762500" y="557530"/>
            <a:ext cx="4318000" cy="577215"/>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200" b="1" i="0" u="none" strike="noStrike">
                <a:solidFill>
                  <a:schemeClr val="tx1">
                    <a:lumMod val="50000"/>
                    <a:lumOff val="50000"/>
                  </a:schemeClr>
                </a:solidFill>
                <a:latin typeface="华文行楷" panose="02010800040101010101" charset="-122"/>
                <a:ea typeface="华文行楷" panose="02010800040101010101" charset="-122"/>
                <a:cs typeface="华文行楷" panose="02010800040101010101" charset="-122"/>
                <a:sym typeface="华文行楷" panose="02010800040101010101" charset="-122"/>
              </a:rPr>
              <a:t>   可视化时间片占用示意</a:t>
            </a:r>
            <a:endParaRPr lang="en-US" sz="2200" b="1" i="0" u="none" strike="noStrike">
              <a:solidFill>
                <a:schemeClr val="tx1">
                  <a:lumMod val="50000"/>
                  <a:lumOff val="50000"/>
                </a:schemeClr>
              </a:solidFill>
              <a:latin typeface="华文行楷" panose="02010800040101010101" charset="-122"/>
              <a:ea typeface="华文行楷" panose="02010800040101010101" charset="-122"/>
              <a:cs typeface="华文行楷" panose="02010800040101010101" charset="-122"/>
              <a:sym typeface="华文行楷" panose="0201080004010101010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355600"/>
            <a:ext cx="2959100" cy="838200"/>
          </a:xfrm>
          <a:prstGeom prst="homePlate">
            <a:avLst>
              <a:gd name="adj" fmla="val 50000"/>
            </a:avLst>
          </a:prstGeom>
          <a:solidFill>
            <a:srgbClr val="025C3B">
              <a:alpha val="80000"/>
            </a:srgbClr>
          </a:solidFill>
          <a:ln w="12700" cap="flat" cmpd="sng">
            <a:solidFill>
              <a:srgbClr val="2F528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核心技术</a:t>
            </a:r>
            <a:endParaRPr lang="en-US" sz="1100"/>
          </a:p>
        </p:txBody>
      </p:sp>
      <p:sp>
        <p:nvSpPr>
          <p:cNvPr id="4" name="AutoShape 4"/>
          <p:cNvSpPr/>
          <p:nvPr/>
        </p:nvSpPr>
        <p:spPr>
          <a:xfrm>
            <a:off x="5172710" y="969010"/>
            <a:ext cx="6861175" cy="5584825"/>
          </a:xfrm>
          <a:prstGeom prst="verticalScroll">
            <a:avLst>
              <a:gd name="adj" fmla="val 1250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l="29392" r="29392"/>
          <a:stretch>
            <a:fillRect/>
          </a:stretch>
        </p:blipFill>
        <p:spPr>
          <a:xfrm>
            <a:off x="6096000" y="2268855"/>
            <a:ext cx="5118735" cy="3169285"/>
          </a:xfrm>
          <a:prstGeom prst="rect">
            <a:avLst/>
          </a:prstGeom>
          <a:noFill/>
          <a:ln w="25400" cap="flat" cmpd="sng">
            <a:noFill/>
            <a:prstDash val="solid"/>
            <a:round/>
          </a:ln>
        </p:spPr>
      </p:pic>
      <p:sp>
        <p:nvSpPr>
          <p:cNvPr id="6" name="AutoShape 6"/>
          <p:cNvSpPr/>
          <p:nvPr/>
        </p:nvSpPr>
        <p:spPr>
          <a:xfrm>
            <a:off x="444500" y="1981200"/>
            <a:ext cx="762000" cy="762000"/>
          </a:xfrm>
          <a:prstGeom prst="ellipse">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22300" y="2159000"/>
            <a:ext cx="417512" cy="417512"/>
          </a:xfrm>
          <a:custGeom>
            <a:avLst/>
            <a:gdLst/>
            <a:ahLst/>
            <a:cxnLst/>
            <a:rect l="l" t="t" r="r" b="b"/>
            <a:pathLst>
              <a:path w="417512" h="417512">
                <a:moveTo>
                  <a:pt x="275179" y="107541"/>
                </a:moveTo>
                <a:cubicBezTo>
                  <a:pt x="275179" y="101215"/>
                  <a:pt x="272015" y="98053"/>
                  <a:pt x="268853" y="94889"/>
                </a:cubicBezTo>
                <a:cubicBezTo>
                  <a:pt x="265689" y="85400"/>
                  <a:pt x="259363" y="79074"/>
                  <a:pt x="253037" y="69586"/>
                </a:cubicBezTo>
                <a:cubicBezTo>
                  <a:pt x="243549" y="63260"/>
                  <a:pt x="237223" y="56934"/>
                  <a:pt x="230896" y="50608"/>
                </a:cubicBezTo>
                <a:cubicBezTo>
                  <a:pt x="227734" y="47445"/>
                  <a:pt x="224570" y="44281"/>
                  <a:pt x="221408" y="41119"/>
                </a:cubicBezTo>
                <a:cubicBezTo>
                  <a:pt x="221408" y="120193"/>
                  <a:pt x="221408" y="120193"/>
                  <a:pt x="221408" y="120193"/>
                </a:cubicBezTo>
                <a:cubicBezTo>
                  <a:pt x="240386" y="117030"/>
                  <a:pt x="259363" y="113867"/>
                  <a:pt x="275179" y="107541"/>
                </a:cubicBezTo>
                <a:cubicBezTo>
                  <a:pt x="275179" y="107541"/>
                  <a:pt x="275179" y="107541"/>
                  <a:pt x="275179" y="107541"/>
                </a:cubicBezTo>
                <a:close/>
                <a:moveTo>
                  <a:pt x="303646" y="196105"/>
                </a:moveTo>
                <a:cubicBezTo>
                  <a:pt x="303646" y="189779"/>
                  <a:pt x="300482" y="183453"/>
                  <a:pt x="300482" y="177127"/>
                </a:cubicBezTo>
                <a:cubicBezTo>
                  <a:pt x="300482" y="167637"/>
                  <a:pt x="297320" y="158149"/>
                  <a:pt x="294156" y="148660"/>
                </a:cubicBezTo>
                <a:cubicBezTo>
                  <a:pt x="290994" y="139170"/>
                  <a:pt x="290994" y="136008"/>
                  <a:pt x="287830" y="129682"/>
                </a:cubicBezTo>
                <a:cubicBezTo>
                  <a:pt x="265689" y="136008"/>
                  <a:pt x="243549" y="142334"/>
                  <a:pt x="221408" y="145498"/>
                </a:cubicBezTo>
                <a:cubicBezTo>
                  <a:pt x="221408" y="196105"/>
                  <a:pt x="221408" y="196105"/>
                  <a:pt x="221408" y="196105"/>
                </a:cubicBezTo>
                <a:cubicBezTo>
                  <a:pt x="303646" y="196105"/>
                  <a:pt x="303646" y="196105"/>
                  <a:pt x="303646" y="196105"/>
                </a:cubicBezTo>
                <a:close/>
                <a:moveTo>
                  <a:pt x="287830" y="287832"/>
                </a:moveTo>
                <a:cubicBezTo>
                  <a:pt x="290994" y="281504"/>
                  <a:pt x="290994" y="275179"/>
                  <a:pt x="294156" y="268853"/>
                </a:cubicBezTo>
                <a:cubicBezTo>
                  <a:pt x="297320" y="259364"/>
                  <a:pt x="300482" y="249875"/>
                  <a:pt x="300482" y="240387"/>
                </a:cubicBezTo>
                <a:cubicBezTo>
                  <a:pt x="300482" y="234060"/>
                  <a:pt x="303646" y="227734"/>
                  <a:pt x="303646" y="221408"/>
                </a:cubicBezTo>
                <a:cubicBezTo>
                  <a:pt x="221408" y="221408"/>
                  <a:pt x="221408" y="221408"/>
                  <a:pt x="221408" y="221408"/>
                </a:cubicBezTo>
                <a:cubicBezTo>
                  <a:pt x="221408" y="272016"/>
                  <a:pt x="221408" y="272016"/>
                  <a:pt x="221408" y="272016"/>
                </a:cubicBezTo>
                <a:cubicBezTo>
                  <a:pt x="243549" y="275179"/>
                  <a:pt x="265689" y="281504"/>
                  <a:pt x="287830" y="287832"/>
                </a:cubicBezTo>
                <a:cubicBezTo>
                  <a:pt x="287830" y="287832"/>
                  <a:pt x="287830" y="287832"/>
                  <a:pt x="287830" y="287832"/>
                </a:cubicBezTo>
                <a:close/>
                <a:moveTo>
                  <a:pt x="221408" y="376394"/>
                </a:moveTo>
                <a:cubicBezTo>
                  <a:pt x="224570" y="373231"/>
                  <a:pt x="227734" y="370068"/>
                  <a:pt x="230896" y="366906"/>
                </a:cubicBezTo>
                <a:cubicBezTo>
                  <a:pt x="237223" y="360580"/>
                  <a:pt x="243549" y="354254"/>
                  <a:pt x="253037" y="347928"/>
                </a:cubicBezTo>
                <a:cubicBezTo>
                  <a:pt x="259363" y="338438"/>
                  <a:pt x="265689" y="332113"/>
                  <a:pt x="268853" y="322623"/>
                </a:cubicBezTo>
                <a:cubicBezTo>
                  <a:pt x="272015" y="319461"/>
                  <a:pt x="275179" y="316297"/>
                  <a:pt x="275179" y="309971"/>
                </a:cubicBezTo>
                <a:cubicBezTo>
                  <a:pt x="259363" y="303646"/>
                  <a:pt x="240386" y="300483"/>
                  <a:pt x="221408" y="297320"/>
                </a:cubicBezTo>
                <a:cubicBezTo>
                  <a:pt x="221408" y="376394"/>
                  <a:pt x="221408" y="376394"/>
                  <a:pt x="221408" y="376394"/>
                </a:cubicBezTo>
                <a:close/>
                <a:moveTo>
                  <a:pt x="139170" y="309971"/>
                </a:moveTo>
                <a:cubicBezTo>
                  <a:pt x="142334" y="316297"/>
                  <a:pt x="145496" y="319461"/>
                  <a:pt x="148660" y="322623"/>
                </a:cubicBezTo>
                <a:cubicBezTo>
                  <a:pt x="154986" y="332113"/>
                  <a:pt x="158148" y="338438"/>
                  <a:pt x="164474" y="347928"/>
                </a:cubicBezTo>
                <a:cubicBezTo>
                  <a:pt x="170800" y="354254"/>
                  <a:pt x="177127" y="360580"/>
                  <a:pt x="186615" y="366906"/>
                </a:cubicBezTo>
                <a:cubicBezTo>
                  <a:pt x="189779" y="370068"/>
                  <a:pt x="192941" y="373231"/>
                  <a:pt x="196105" y="376394"/>
                </a:cubicBezTo>
                <a:cubicBezTo>
                  <a:pt x="196105" y="297320"/>
                  <a:pt x="196105" y="297320"/>
                  <a:pt x="196105" y="297320"/>
                </a:cubicBezTo>
                <a:cubicBezTo>
                  <a:pt x="177127" y="300483"/>
                  <a:pt x="158148" y="303646"/>
                  <a:pt x="139170" y="309971"/>
                </a:cubicBezTo>
                <a:cubicBezTo>
                  <a:pt x="139170" y="309971"/>
                  <a:pt x="139170" y="309971"/>
                  <a:pt x="139170" y="309971"/>
                </a:cubicBezTo>
                <a:close/>
                <a:moveTo>
                  <a:pt x="113867" y="221408"/>
                </a:moveTo>
                <a:cubicBezTo>
                  <a:pt x="117030" y="227734"/>
                  <a:pt x="117030" y="234060"/>
                  <a:pt x="117030" y="240387"/>
                </a:cubicBezTo>
                <a:cubicBezTo>
                  <a:pt x="120193" y="249875"/>
                  <a:pt x="120193" y="259364"/>
                  <a:pt x="123356" y="268853"/>
                </a:cubicBezTo>
                <a:cubicBezTo>
                  <a:pt x="126519" y="275179"/>
                  <a:pt x="126519" y="281504"/>
                  <a:pt x="129682" y="287832"/>
                </a:cubicBezTo>
                <a:cubicBezTo>
                  <a:pt x="151822" y="281504"/>
                  <a:pt x="173963" y="275179"/>
                  <a:pt x="196105" y="272016"/>
                </a:cubicBezTo>
                <a:cubicBezTo>
                  <a:pt x="196105" y="221408"/>
                  <a:pt x="196105" y="221408"/>
                  <a:pt x="196105" y="221408"/>
                </a:cubicBezTo>
                <a:cubicBezTo>
                  <a:pt x="113867" y="221408"/>
                  <a:pt x="113867" y="221408"/>
                  <a:pt x="113867" y="221408"/>
                </a:cubicBezTo>
                <a:close/>
                <a:moveTo>
                  <a:pt x="129682" y="129682"/>
                </a:moveTo>
                <a:cubicBezTo>
                  <a:pt x="126519" y="136008"/>
                  <a:pt x="126519" y="139170"/>
                  <a:pt x="123356" y="148660"/>
                </a:cubicBezTo>
                <a:cubicBezTo>
                  <a:pt x="120193" y="158149"/>
                  <a:pt x="120193" y="167637"/>
                  <a:pt x="117030" y="177127"/>
                </a:cubicBezTo>
                <a:cubicBezTo>
                  <a:pt x="117030" y="183453"/>
                  <a:pt x="117030" y="189779"/>
                  <a:pt x="113867" y="196105"/>
                </a:cubicBezTo>
                <a:cubicBezTo>
                  <a:pt x="196105" y="196105"/>
                  <a:pt x="196105" y="196105"/>
                  <a:pt x="196105" y="196105"/>
                </a:cubicBezTo>
                <a:cubicBezTo>
                  <a:pt x="196105" y="145498"/>
                  <a:pt x="196105" y="145498"/>
                  <a:pt x="196105" y="145498"/>
                </a:cubicBezTo>
                <a:cubicBezTo>
                  <a:pt x="173963" y="142334"/>
                  <a:pt x="151822" y="136008"/>
                  <a:pt x="129682" y="129682"/>
                </a:cubicBezTo>
                <a:cubicBezTo>
                  <a:pt x="129682" y="129682"/>
                  <a:pt x="129682" y="129682"/>
                  <a:pt x="129682" y="129682"/>
                </a:cubicBezTo>
                <a:close/>
                <a:moveTo>
                  <a:pt x="196105" y="41119"/>
                </a:moveTo>
                <a:cubicBezTo>
                  <a:pt x="192941" y="44281"/>
                  <a:pt x="189779" y="47445"/>
                  <a:pt x="186615" y="50608"/>
                </a:cubicBezTo>
                <a:cubicBezTo>
                  <a:pt x="177127" y="56934"/>
                  <a:pt x="170800" y="63260"/>
                  <a:pt x="164474" y="69586"/>
                </a:cubicBezTo>
                <a:cubicBezTo>
                  <a:pt x="158148" y="79074"/>
                  <a:pt x="154986" y="85400"/>
                  <a:pt x="148660" y="94889"/>
                </a:cubicBezTo>
                <a:cubicBezTo>
                  <a:pt x="145496" y="98053"/>
                  <a:pt x="142334" y="101215"/>
                  <a:pt x="139170" y="107541"/>
                </a:cubicBezTo>
                <a:cubicBezTo>
                  <a:pt x="158148" y="113867"/>
                  <a:pt x="177127" y="117030"/>
                  <a:pt x="196105" y="120193"/>
                </a:cubicBezTo>
                <a:cubicBezTo>
                  <a:pt x="196105" y="41119"/>
                  <a:pt x="196105" y="41119"/>
                  <a:pt x="196105" y="41119"/>
                </a:cubicBezTo>
                <a:close/>
                <a:moveTo>
                  <a:pt x="300482" y="319461"/>
                </a:moveTo>
                <a:cubicBezTo>
                  <a:pt x="284667" y="347928"/>
                  <a:pt x="265689" y="370068"/>
                  <a:pt x="243549" y="389047"/>
                </a:cubicBezTo>
                <a:cubicBezTo>
                  <a:pt x="275179" y="382721"/>
                  <a:pt x="306808" y="366906"/>
                  <a:pt x="332111" y="344764"/>
                </a:cubicBezTo>
                <a:cubicBezTo>
                  <a:pt x="322623" y="335276"/>
                  <a:pt x="309971" y="328949"/>
                  <a:pt x="300482" y="319461"/>
                </a:cubicBezTo>
                <a:cubicBezTo>
                  <a:pt x="300482" y="319461"/>
                  <a:pt x="300482" y="319461"/>
                  <a:pt x="300482" y="319461"/>
                </a:cubicBezTo>
                <a:close/>
                <a:moveTo>
                  <a:pt x="325785" y="221408"/>
                </a:moveTo>
                <a:cubicBezTo>
                  <a:pt x="325785" y="249875"/>
                  <a:pt x="319460" y="275179"/>
                  <a:pt x="309971" y="297320"/>
                </a:cubicBezTo>
                <a:cubicBezTo>
                  <a:pt x="322623" y="306809"/>
                  <a:pt x="338437" y="316297"/>
                  <a:pt x="347927" y="328949"/>
                </a:cubicBezTo>
                <a:cubicBezTo>
                  <a:pt x="373230" y="297320"/>
                  <a:pt x="389045" y="262527"/>
                  <a:pt x="392208" y="221408"/>
                </a:cubicBezTo>
                <a:cubicBezTo>
                  <a:pt x="325785" y="221408"/>
                  <a:pt x="325785" y="221408"/>
                  <a:pt x="325785" y="221408"/>
                </a:cubicBezTo>
                <a:close/>
                <a:moveTo>
                  <a:pt x="309971" y="117030"/>
                </a:moveTo>
                <a:cubicBezTo>
                  <a:pt x="319460" y="142334"/>
                  <a:pt x="325785" y="167637"/>
                  <a:pt x="325785" y="196105"/>
                </a:cubicBezTo>
                <a:cubicBezTo>
                  <a:pt x="392208" y="196105"/>
                  <a:pt x="392208" y="196105"/>
                  <a:pt x="392208" y="196105"/>
                </a:cubicBezTo>
                <a:cubicBezTo>
                  <a:pt x="389045" y="154986"/>
                  <a:pt x="373230" y="120193"/>
                  <a:pt x="347927" y="88563"/>
                </a:cubicBezTo>
                <a:cubicBezTo>
                  <a:pt x="338437" y="101215"/>
                  <a:pt x="322623" y="110705"/>
                  <a:pt x="309971" y="117030"/>
                </a:cubicBezTo>
                <a:cubicBezTo>
                  <a:pt x="309971" y="117030"/>
                  <a:pt x="309971" y="117030"/>
                  <a:pt x="309971" y="117030"/>
                </a:cubicBezTo>
                <a:close/>
                <a:moveTo>
                  <a:pt x="243549" y="28467"/>
                </a:moveTo>
                <a:cubicBezTo>
                  <a:pt x="265689" y="47445"/>
                  <a:pt x="284667" y="69586"/>
                  <a:pt x="300482" y="98053"/>
                </a:cubicBezTo>
                <a:cubicBezTo>
                  <a:pt x="309971" y="88563"/>
                  <a:pt x="322623" y="82238"/>
                  <a:pt x="332111" y="72748"/>
                </a:cubicBezTo>
                <a:cubicBezTo>
                  <a:pt x="306808" y="50608"/>
                  <a:pt x="275179" y="34793"/>
                  <a:pt x="243549" y="28467"/>
                </a:cubicBezTo>
                <a:cubicBezTo>
                  <a:pt x="243549" y="28467"/>
                  <a:pt x="243549" y="28467"/>
                  <a:pt x="243549" y="28467"/>
                </a:cubicBezTo>
                <a:close/>
                <a:moveTo>
                  <a:pt x="120193" y="98053"/>
                </a:moveTo>
                <a:cubicBezTo>
                  <a:pt x="132845" y="69586"/>
                  <a:pt x="151822" y="47445"/>
                  <a:pt x="173963" y="28467"/>
                </a:cubicBezTo>
                <a:cubicBezTo>
                  <a:pt x="139170" y="34793"/>
                  <a:pt x="110703" y="50608"/>
                  <a:pt x="85400" y="72748"/>
                </a:cubicBezTo>
                <a:cubicBezTo>
                  <a:pt x="94889" y="82238"/>
                  <a:pt x="107541" y="88563"/>
                  <a:pt x="120193" y="98053"/>
                </a:cubicBezTo>
                <a:cubicBezTo>
                  <a:pt x="120193" y="98053"/>
                  <a:pt x="120193" y="98053"/>
                  <a:pt x="120193" y="98053"/>
                </a:cubicBezTo>
                <a:close/>
                <a:moveTo>
                  <a:pt x="91726" y="196105"/>
                </a:moveTo>
                <a:cubicBezTo>
                  <a:pt x="91726" y="167637"/>
                  <a:pt x="98052" y="142334"/>
                  <a:pt x="107541" y="117030"/>
                </a:cubicBezTo>
                <a:cubicBezTo>
                  <a:pt x="94889" y="110705"/>
                  <a:pt x="82238" y="101215"/>
                  <a:pt x="69586" y="88563"/>
                </a:cubicBezTo>
                <a:cubicBezTo>
                  <a:pt x="44281" y="120193"/>
                  <a:pt x="28467" y="154986"/>
                  <a:pt x="25303" y="196105"/>
                </a:cubicBezTo>
                <a:cubicBezTo>
                  <a:pt x="91726" y="196105"/>
                  <a:pt x="91726" y="196105"/>
                  <a:pt x="91726" y="196105"/>
                </a:cubicBezTo>
                <a:close/>
                <a:moveTo>
                  <a:pt x="107541" y="297320"/>
                </a:moveTo>
                <a:cubicBezTo>
                  <a:pt x="98052" y="275179"/>
                  <a:pt x="91726" y="249875"/>
                  <a:pt x="91726" y="221408"/>
                </a:cubicBezTo>
                <a:cubicBezTo>
                  <a:pt x="25303" y="221408"/>
                  <a:pt x="25303" y="221408"/>
                  <a:pt x="25303" y="221408"/>
                </a:cubicBezTo>
                <a:cubicBezTo>
                  <a:pt x="28467" y="262527"/>
                  <a:pt x="44281" y="297320"/>
                  <a:pt x="69586" y="328949"/>
                </a:cubicBezTo>
                <a:cubicBezTo>
                  <a:pt x="82238" y="316297"/>
                  <a:pt x="94889" y="306809"/>
                  <a:pt x="107541" y="297320"/>
                </a:cubicBezTo>
                <a:cubicBezTo>
                  <a:pt x="107541" y="297320"/>
                  <a:pt x="107541" y="297320"/>
                  <a:pt x="107541" y="297320"/>
                </a:cubicBezTo>
                <a:close/>
                <a:moveTo>
                  <a:pt x="173963" y="389047"/>
                </a:moveTo>
                <a:cubicBezTo>
                  <a:pt x="151822" y="370068"/>
                  <a:pt x="132845" y="347928"/>
                  <a:pt x="120193" y="319461"/>
                </a:cubicBezTo>
                <a:cubicBezTo>
                  <a:pt x="107541" y="328949"/>
                  <a:pt x="94889" y="335276"/>
                  <a:pt x="85400" y="344764"/>
                </a:cubicBezTo>
                <a:cubicBezTo>
                  <a:pt x="110703" y="366906"/>
                  <a:pt x="139170" y="382721"/>
                  <a:pt x="173963" y="389047"/>
                </a:cubicBezTo>
                <a:cubicBezTo>
                  <a:pt x="173963" y="389047"/>
                  <a:pt x="173963" y="389047"/>
                  <a:pt x="173963" y="389047"/>
                </a:cubicBezTo>
                <a:close/>
                <a:moveTo>
                  <a:pt x="208756" y="0"/>
                </a:moveTo>
                <a:cubicBezTo>
                  <a:pt x="262527" y="0"/>
                  <a:pt x="313134" y="18978"/>
                  <a:pt x="347927" y="53771"/>
                </a:cubicBezTo>
                <a:cubicBezTo>
                  <a:pt x="351090" y="53771"/>
                  <a:pt x="351090" y="56934"/>
                  <a:pt x="351090" y="56934"/>
                </a:cubicBezTo>
                <a:cubicBezTo>
                  <a:pt x="351090" y="56934"/>
                  <a:pt x="351090" y="56934"/>
                  <a:pt x="354253" y="60096"/>
                </a:cubicBezTo>
                <a:cubicBezTo>
                  <a:pt x="354253" y="60096"/>
                  <a:pt x="354253" y="60096"/>
                  <a:pt x="354253" y="60096"/>
                </a:cubicBezTo>
                <a:cubicBezTo>
                  <a:pt x="357416" y="60096"/>
                  <a:pt x="357416" y="63260"/>
                  <a:pt x="357416" y="63260"/>
                </a:cubicBezTo>
                <a:cubicBezTo>
                  <a:pt x="357416" y="63260"/>
                  <a:pt x="357416" y="63260"/>
                  <a:pt x="357416" y="63260"/>
                </a:cubicBezTo>
                <a:cubicBezTo>
                  <a:pt x="360578" y="66422"/>
                  <a:pt x="360578" y="66422"/>
                  <a:pt x="360578" y="66422"/>
                </a:cubicBezTo>
                <a:cubicBezTo>
                  <a:pt x="360578" y="66422"/>
                  <a:pt x="363742" y="69586"/>
                  <a:pt x="366904" y="72748"/>
                </a:cubicBezTo>
                <a:cubicBezTo>
                  <a:pt x="366904" y="72748"/>
                  <a:pt x="366904" y="72748"/>
                  <a:pt x="366904" y="72748"/>
                </a:cubicBezTo>
                <a:cubicBezTo>
                  <a:pt x="366904" y="72748"/>
                  <a:pt x="366904" y="72748"/>
                  <a:pt x="366904" y="72748"/>
                </a:cubicBezTo>
                <a:cubicBezTo>
                  <a:pt x="398534" y="110705"/>
                  <a:pt x="417512" y="154986"/>
                  <a:pt x="417512" y="208756"/>
                </a:cubicBezTo>
                <a:cubicBezTo>
                  <a:pt x="417512" y="262527"/>
                  <a:pt x="398534" y="306809"/>
                  <a:pt x="366904" y="344764"/>
                </a:cubicBezTo>
                <a:cubicBezTo>
                  <a:pt x="366904" y="344764"/>
                  <a:pt x="366904" y="344764"/>
                  <a:pt x="366904" y="344764"/>
                </a:cubicBezTo>
                <a:cubicBezTo>
                  <a:pt x="360578" y="351090"/>
                  <a:pt x="354253" y="357416"/>
                  <a:pt x="347927" y="363742"/>
                </a:cubicBezTo>
                <a:cubicBezTo>
                  <a:pt x="347927" y="363742"/>
                  <a:pt x="347927" y="363742"/>
                  <a:pt x="347927" y="363742"/>
                </a:cubicBezTo>
                <a:cubicBezTo>
                  <a:pt x="309971" y="395373"/>
                  <a:pt x="262527" y="417512"/>
                  <a:pt x="208756" y="417512"/>
                </a:cubicBezTo>
                <a:cubicBezTo>
                  <a:pt x="154986" y="417512"/>
                  <a:pt x="104377" y="395373"/>
                  <a:pt x="69586" y="363742"/>
                </a:cubicBezTo>
                <a:cubicBezTo>
                  <a:pt x="69586" y="363742"/>
                  <a:pt x="69586" y="363742"/>
                  <a:pt x="69586" y="363742"/>
                </a:cubicBezTo>
                <a:cubicBezTo>
                  <a:pt x="63260" y="357416"/>
                  <a:pt x="56933" y="351090"/>
                  <a:pt x="50607" y="344764"/>
                </a:cubicBezTo>
                <a:cubicBezTo>
                  <a:pt x="50607" y="344764"/>
                  <a:pt x="50607" y="344764"/>
                  <a:pt x="50607" y="344764"/>
                </a:cubicBezTo>
                <a:cubicBezTo>
                  <a:pt x="18978" y="306809"/>
                  <a:pt x="0" y="262527"/>
                  <a:pt x="0" y="208756"/>
                </a:cubicBezTo>
                <a:cubicBezTo>
                  <a:pt x="0" y="154986"/>
                  <a:pt x="18978" y="110705"/>
                  <a:pt x="50607" y="72748"/>
                </a:cubicBezTo>
                <a:cubicBezTo>
                  <a:pt x="50607" y="72748"/>
                  <a:pt x="50607" y="72748"/>
                  <a:pt x="50607" y="72748"/>
                </a:cubicBezTo>
                <a:cubicBezTo>
                  <a:pt x="50607" y="72748"/>
                  <a:pt x="50607" y="72748"/>
                  <a:pt x="50607" y="72748"/>
                </a:cubicBezTo>
                <a:cubicBezTo>
                  <a:pt x="53771" y="69586"/>
                  <a:pt x="56933" y="66422"/>
                  <a:pt x="56933" y="66422"/>
                </a:cubicBezTo>
                <a:cubicBezTo>
                  <a:pt x="56933" y="66422"/>
                  <a:pt x="56933" y="66422"/>
                  <a:pt x="56933" y="63260"/>
                </a:cubicBezTo>
                <a:cubicBezTo>
                  <a:pt x="60096" y="63260"/>
                  <a:pt x="60096" y="63260"/>
                  <a:pt x="60096" y="63260"/>
                </a:cubicBezTo>
                <a:cubicBezTo>
                  <a:pt x="60096" y="60096"/>
                  <a:pt x="60096" y="60096"/>
                  <a:pt x="60096" y="60096"/>
                </a:cubicBezTo>
                <a:cubicBezTo>
                  <a:pt x="63260" y="60096"/>
                  <a:pt x="63260" y="60096"/>
                  <a:pt x="66422" y="60096"/>
                </a:cubicBezTo>
                <a:cubicBezTo>
                  <a:pt x="66422" y="56934"/>
                  <a:pt x="66422" y="56934"/>
                  <a:pt x="66422" y="56934"/>
                </a:cubicBezTo>
                <a:cubicBezTo>
                  <a:pt x="66422" y="56934"/>
                  <a:pt x="66422" y="53771"/>
                  <a:pt x="69586" y="53771"/>
                </a:cubicBezTo>
                <a:cubicBezTo>
                  <a:pt x="104377" y="18978"/>
                  <a:pt x="154986" y="0"/>
                  <a:pt x="208756" y="0"/>
                </a:cubicBezTo>
                <a:cubicBezTo>
                  <a:pt x="208756" y="0"/>
                  <a:pt x="208756" y="0"/>
                  <a:pt x="208756"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2159000"/>
            <a:ext cx="40894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实现策略：快照+增量</a:t>
            </a:r>
            <a:endParaRPr lang="en-US" sz="1100"/>
          </a:p>
        </p:txBody>
      </p:sp>
      <p:sp>
        <p:nvSpPr>
          <p:cNvPr id="9" name="AutoShape 9"/>
          <p:cNvSpPr/>
          <p:nvPr/>
        </p:nvSpPr>
        <p:spPr>
          <a:xfrm>
            <a:off x="1041400" y="2959100"/>
            <a:ext cx="43561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黑体" panose="02010609060101010101" charset="-122"/>
              </a:rPr>
              <a:t>为解决多端秒级同步难题，系统采用“快照初始化 + 增量推送”混合架构。首次加载拉取全量状态保证数据一致性，后续通过增量更新大幅降低网络开销，实现极致实时性。</a:t>
            </a:r>
            <a:endParaRPr lang="en-US" sz="1100">
              <a:latin typeface="Noto Sans SC" panose="020B0200000000000000" charset="-122"/>
              <a:ea typeface="Noto Sans SC" panose="020B0200000000000000" charset="-122"/>
              <a:cs typeface="Noto Sans SC" panose="020B0200000000000000" charset="-122"/>
            </a:endParaRPr>
          </a:p>
        </p:txBody>
      </p:sp>
      <p:sp>
        <p:nvSpPr>
          <p:cNvPr id="10" name="AutoShape 10"/>
          <p:cNvSpPr/>
          <p:nvPr/>
        </p:nvSpPr>
        <p:spPr>
          <a:xfrm>
            <a:off x="444500" y="4038600"/>
            <a:ext cx="762000" cy="762000"/>
          </a:xfrm>
          <a:prstGeom prst="ellipse">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660400" y="4229100"/>
            <a:ext cx="379412" cy="388938"/>
          </a:xfrm>
          <a:custGeom>
            <a:avLst/>
            <a:gdLst/>
            <a:ahLst/>
            <a:cxnLst/>
            <a:rect l="l" t="t" r="r" b="b"/>
            <a:pathLst>
              <a:path w="379412" h="388938">
                <a:moveTo>
                  <a:pt x="369927" y="63242"/>
                </a:moveTo>
                <a:cubicBezTo>
                  <a:pt x="341471" y="63242"/>
                  <a:pt x="341471" y="63242"/>
                  <a:pt x="341471" y="63242"/>
                </a:cubicBezTo>
                <a:cubicBezTo>
                  <a:pt x="341471" y="50593"/>
                  <a:pt x="341471" y="41107"/>
                  <a:pt x="341471" y="41107"/>
                </a:cubicBezTo>
                <a:cubicBezTo>
                  <a:pt x="341471" y="41107"/>
                  <a:pt x="341471" y="41107"/>
                  <a:pt x="341471" y="41107"/>
                </a:cubicBezTo>
                <a:cubicBezTo>
                  <a:pt x="341471" y="41107"/>
                  <a:pt x="341471" y="41107"/>
                  <a:pt x="341471" y="41107"/>
                </a:cubicBezTo>
                <a:cubicBezTo>
                  <a:pt x="341471" y="41107"/>
                  <a:pt x="341471" y="41107"/>
                  <a:pt x="341471" y="41107"/>
                </a:cubicBezTo>
                <a:cubicBezTo>
                  <a:pt x="341471" y="41107"/>
                  <a:pt x="354118" y="6325"/>
                  <a:pt x="354118" y="6325"/>
                </a:cubicBezTo>
                <a:cubicBezTo>
                  <a:pt x="357280" y="0"/>
                  <a:pt x="357280" y="0"/>
                  <a:pt x="360441" y="6325"/>
                </a:cubicBezTo>
                <a:cubicBezTo>
                  <a:pt x="369927" y="41107"/>
                  <a:pt x="369927" y="41107"/>
                  <a:pt x="369927" y="41107"/>
                </a:cubicBezTo>
                <a:cubicBezTo>
                  <a:pt x="369927" y="41107"/>
                  <a:pt x="369927" y="44270"/>
                  <a:pt x="369927" y="44270"/>
                </a:cubicBezTo>
                <a:cubicBezTo>
                  <a:pt x="369927" y="44270"/>
                  <a:pt x="369927" y="53755"/>
                  <a:pt x="369927" y="63242"/>
                </a:cubicBezTo>
                <a:close/>
                <a:moveTo>
                  <a:pt x="369927" y="309885"/>
                </a:moveTo>
                <a:cubicBezTo>
                  <a:pt x="369927" y="309885"/>
                  <a:pt x="369927" y="309885"/>
                  <a:pt x="369927" y="309885"/>
                </a:cubicBezTo>
                <a:cubicBezTo>
                  <a:pt x="369927" y="309885"/>
                  <a:pt x="369927" y="139132"/>
                  <a:pt x="369927" y="72728"/>
                </a:cubicBezTo>
                <a:cubicBezTo>
                  <a:pt x="341471" y="72728"/>
                  <a:pt x="341471" y="72728"/>
                  <a:pt x="341471" y="72728"/>
                </a:cubicBezTo>
                <a:cubicBezTo>
                  <a:pt x="338309" y="154943"/>
                  <a:pt x="338309" y="382614"/>
                  <a:pt x="338309" y="382614"/>
                </a:cubicBezTo>
                <a:cubicBezTo>
                  <a:pt x="338309" y="385776"/>
                  <a:pt x="341471" y="388938"/>
                  <a:pt x="347795" y="388938"/>
                </a:cubicBezTo>
                <a:cubicBezTo>
                  <a:pt x="360441" y="388938"/>
                  <a:pt x="360441" y="388938"/>
                  <a:pt x="360441" y="388938"/>
                </a:cubicBezTo>
                <a:cubicBezTo>
                  <a:pt x="366765" y="388938"/>
                  <a:pt x="369927" y="385776"/>
                  <a:pt x="369927" y="382614"/>
                </a:cubicBezTo>
                <a:cubicBezTo>
                  <a:pt x="369927" y="379452"/>
                  <a:pt x="369927" y="379452"/>
                  <a:pt x="369927" y="379452"/>
                </a:cubicBezTo>
                <a:cubicBezTo>
                  <a:pt x="369927" y="379452"/>
                  <a:pt x="369927" y="379452"/>
                  <a:pt x="369927" y="379452"/>
                </a:cubicBezTo>
                <a:cubicBezTo>
                  <a:pt x="373088" y="379452"/>
                  <a:pt x="379412" y="376290"/>
                  <a:pt x="379412" y="373127"/>
                </a:cubicBezTo>
                <a:cubicBezTo>
                  <a:pt x="379412" y="319372"/>
                  <a:pt x="379412" y="319372"/>
                  <a:pt x="379412" y="319372"/>
                </a:cubicBezTo>
                <a:cubicBezTo>
                  <a:pt x="379412" y="313047"/>
                  <a:pt x="376250" y="309885"/>
                  <a:pt x="369927" y="309885"/>
                </a:cubicBezTo>
                <a:close/>
                <a:moveTo>
                  <a:pt x="120147" y="275102"/>
                </a:moveTo>
                <a:cubicBezTo>
                  <a:pt x="72720" y="275102"/>
                  <a:pt x="72720" y="275102"/>
                  <a:pt x="72720" y="275102"/>
                </a:cubicBezTo>
                <a:cubicBezTo>
                  <a:pt x="66397" y="275102"/>
                  <a:pt x="63236" y="278265"/>
                  <a:pt x="63236" y="281427"/>
                </a:cubicBezTo>
                <a:cubicBezTo>
                  <a:pt x="63236" y="287750"/>
                  <a:pt x="66397" y="290913"/>
                  <a:pt x="72720" y="290913"/>
                </a:cubicBezTo>
                <a:cubicBezTo>
                  <a:pt x="120147" y="290913"/>
                  <a:pt x="120147" y="290913"/>
                  <a:pt x="120147" y="290913"/>
                </a:cubicBezTo>
                <a:cubicBezTo>
                  <a:pt x="126470" y="290913"/>
                  <a:pt x="129633" y="287750"/>
                  <a:pt x="129633" y="281427"/>
                </a:cubicBezTo>
                <a:cubicBezTo>
                  <a:pt x="129633" y="278265"/>
                  <a:pt x="126470" y="275102"/>
                  <a:pt x="120147" y="275102"/>
                </a:cubicBezTo>
                <a:close/>
                <a:moveTo>
                  <a:pt x="120147" y="306724"/>
                </a:moveTo>
                <a:cubicBezTo>
                  <a:pt x="72720" y="306724"/>
                  <a:pt x="72720" y="306724"/>
                  <a:pt x="72720" y="306724"/>
                </a:cubicBezTo>
                <a:cubicBezTo>
                  <a:pt x="66397" y="306724"/>
                  <a:pt x="63236" y="309885"/>
                  <a:pt x="63236" y="313047"/>
                </a:cubicBezTo>
                <a:cubicBezTo>
                  <a:pt x="63236" y="316210"/>
                  <a:pt x="66397" y="322534"/>
                  <a:pt x="72720" y="322534"/>
                </a:cubicBezTo>
                <a:cubicBezTo>
                  <a:pt x="120147" y="322534"/>
                  <a:pt x="120147" y="322534"/>
                  <a:pt x="120147" y="322534"/>
                </a:cubicBezTo>
                <a:cubicBezTo>
                  <a:pt x="126470" y="322534"/>
                  <a:pt x="129633" y="316210"/>
                  <a:pt x="129633" y="313047"/>
                </a:cubicBezTo>
                <a:cubicBezTo>
                  <a:pt x="129633" y="309885"/>
                  <a:pt x="126470" y="306724"/>
                  <a:pt x="120147" y="306724"/>
                </a:cubicBezTo>
                <a:close/>
                <a:moveTo>
                  <a:pt x="319339" y="47432"/>
                </a:moveTo>
                <a:cubicBezTo>
                  <a:pt x="319339" y="354155"/>
                  <a:pt x="319339" y="354155"/>
                  <a:pt x="319339" y="354155"/>
                </a:cubicBezTo>
                <a:cubicBezTo>
                  <a:pt x="319339" y="373127"/>
                  <a:pt x="303530" y="388938"/>
                  <a:pt x="284559" y="388938"/>
                </a:cubicBezTo>
                <a:cubicBezTo>
                  <a:pt x="34779" y="388938"/>
                  <a:pt x="34779" y="388938"/>
                  <a:pt x="34779" y="388938"/>
                </a:cubicBezTo>
                <a:cubicBezTo>
                  <a:pt x="15809" y="388938"/>
                  <a:pt x="0" y="373127"/>
                  <a:pt x="0" y="354155"/>
                </a:cubicBezTo>
                <a:cubicBezTo>
                  <a:pt x="0" y="47432"/>
                  <a:pt x="0" y="47432"/>
                  <a:pt x="0" y="47432"/>
                </a:cubicBezTo>
                <a:cubicBezTo>
                  <a:pt x="0" y="25297"/>
                  <a:pt x="15809" y="9487"/>
                  <a:pt x="34779" y="9487"/>
                </a:cubicBezTo>
                <a:cubicBezTo>
                  <a:pt x="284559" y="9487"/>
                  <a:pt x="284559" y="9487"/>
                  <a:pt x="284559" y="9487"/>
                </a:cubicBezTo>
                <a:cubicBezTo>
                  <a:pt x="303530" y="9487"/>
                  <a:pt x="319339" y="25297"/>
                  <a:pt x="319339" y="47432"/>
                </a:cubicBezTo>
                <a:close/>
                <a:moveTo>
                  <a:pt x="44265" y="72728"/>
                </a:moveTo>
                <a:cubicBezTo>
                  <a:pt x="44265" y="82215"/>
                  <a:pt x="53750" y="88539"/>
                  <a:pt x="63236" y="88539"/>
                </a:cubicBezTo>
                <a:cubicBezTo>
                  <a:pt x="256103" y="88539"/>
                  <a:pt x="256103" y="88539"/>
                  <a:pt x="256103" y="88539"/>
                </a:cubicBezTo>
                <a:cubicBezTo>
                  <a:pt x="265589" y="88539"/>
                  <a:pt x="271912" y="82215"/>
                  <a:pt x="271912" y="72728"/>
                </a:cubicBezTo>
                <a:cubicBezTo>
                  <a:pt x="271912" y="66404"/>
                  <a:pt x="265589" y="56918"/>
                  <a:pt x="256103" y="56918"/>
                </a:cubicBezTo>
                <a:cubicBezTo>
                  <a:pt x="63236" y="56918"/>
                  <a:pt x="63236" y="56918"/>
                  <a:pt x="63236" y="56918"/>
                </a:cubicBezTo>
                <a:cubicBezTo>
                  <a:pt x="53750" y="56918"/>
                  <a:pt x="44265" y="66404"/>
                  <a:pt x="44265" y="72728"/>
                </a:cubicBezTo>
                <a:close/>
                <a:moveTo>
                  <a:pt x="151765" y="256130"/>
                </a:moveTo>
                <a:cubicBezTo>
                  <a:pt x="151765" y="249805"/>
                  <a:pt x="145442" y="243482"/>
                  <a:pt x="139118" y="243482"/>
                </a:cubicBezTo>
                <a:cubicBezTo>
                  <a:pt x="53750" y="243482"/>
                  <a:pt x="53750" y="243482"/>
                  <a:pt x="53750" y="243482"/>
                </a:cubicBezTo>
                <a:cubicBezTo>
                  <a:pt x="47427" y="243482"/>
                  <a:pt x="41104" y="249805"/>
                  <a:pt x="41104" y="256130"/>
                </a:cubicBezTo>
                <a:cubicBezTo>
                  <a:pt x="41104" y="338345"/>
                  <a:pt x="41104" y="338345"/>
                  <a:pt x="41104" y="338345"/>
                </a:cubicBezTo>
                <a:cubicBezTo>
                  <a:pt x="41104" y="347830"/>
                  <a:pt x="47427" y="350992"/>
                  <a:pt x="53750" y="350992"/>
                </a:cubicBezTo>
                <a:cubicBezTo>
                  <a:pt x="139118" y="350992"/>
                  <a:pt x="139118" y="350992"/>
                  <a:pt x="139118" y="350992"/>
                </a:cubicBezTo>
                <a:cubicBezTo>
                  <a:pt x="145442" y="350992"/>
                  <a:pt x="151765" y="347830"/>
                  <a:pt x="151765" y="338345"/>
                </a:cubicBezTo>
                <a:lnTo>
                  <a:pt x="151765" y="256130"/>
                </a:lnTo>
                <a:close/>
                <a:moveTo>
                  <a:pt x="151765" y="132808"/>
                </a:moveTo>
                <a:cubicBezTo>
                  <a:pt x="151765" y="126484"/>
                  <a:pt x="145442" y="120160"/>
                  <a:pt x="139118" y="120160"/>
                </a:cubicBezTo>
                <a:cubicBezTo>
                  <a:pt x="53750" y="120160"/>
                  <a:pt x="53750" y="120160"/>
                  <a:pt x="53750" y="120160"/>
                </a:cubicBezTo>
                <a:cubicBezTo>
                  <a:pt x="47427" y="120160"/>
                  <a:pt x="41104" y="126484"/>
                  <a:pt x="41104" y="132808"/>
                </a:cubicBezTo>
                <a:cubicBezTo>
                  <a:pt x="41104" y="215022"/>
                  <a:pt x="41104" y="215022"/>
                  <a:pt x="41104" y="215022"/>
                </a:cubicBezTo>
                <a:cubicBezTo>
                  <a:pt x="41104" y="221347"/>
                  <a:pt x="47427" y="227672"/>
                  <a:pt x="53750" y="227672"/>
                </a:cubicBezTo>
                <a:cubicBezTo>
                  <a:pt x="139118" y="227672"/>
                  <a:pt x="139118" y="227672"/>
                  <a:pt x="139118" y="227672"/>
                </a:cubicBezTo>
                <a:cubicBezTo>
                  <a:pt x="145442" y="227672"/>
                  <a:pt x="151765" y="221347"/>
                  <a:pt x="151765" y="215022"/>
                </a:cubicBezTo>
                <a:lnTo>
                  <a:pt x="151765" y="132808"/>
                </a:lnTo>
                <a:close/>
                <a:moveTo>
                  <a:pt x="278235" y="256130"/>
                </a:moveTo>
                <a:cubicBezTo>
                  <a:pt x="278235" y="249805"/>
                  <a:pt x="271912" y="243482"/>
                  <a:pt x="265589" y="243482"/>
                </a:cubicBezTo>
                <a:cubicBezTo>
                  <a:pt x="180221" y="243482"/>
                  <a:pt x="180221" y="243482"/>
                  <a:pt x="180221" y="243482"/>
                </a:cubicBezTo>
                <a:cubicBezTo>
                  <a:pt x="173897" y="243482"/>
                  <a:pt x="170735" y="249805"/>
                  <a:pt x="170735" y="256130"/>
                </a:cubicBezTo>
                <a:cubicBezTo>
                  <a:pt x="170735" y="338345"/>
                  <a:pt x="170735" y="338345"/>
                  <a:pt x="170735" y="338345"/>
                </a:cubicBezTo>
                <a:cubicBezTo>
                  <a:pt x="170735" y="347830"/>
                  <a:pt x="173897" y="350992"/>
                  <a:pt x="180221" y="350992"/>
                </a:cubicBezTo>
                <a:cubicBezTo>
                  <a:pt x="265589" y="350992"/>
                  <a:pt x="265589" y="350992"/>
                  <a:pt x="265589" y="350992"/>
                </a:cubicBezTo>
                <a:cubicBezTo>
                  <a:pt x="271912" y="350992"/>
                  <a:pt x="278235" y="347830"/>
                  <a:pt x="278235" y="338345"/>
                </a:cubicBezTo>
                <a:lnTo>
                  <a:pt x="278235" y="256130"/>
                </a:lnTo>
                <a:close/>
                <a:moveTo>
                  <a:pt x="278235" y="132808"/>
                </a:moveTo>
                <a:cubicBezTo>
                  <a:pt x="278235" y="126484"/>
                  <a:pt x="271912" y="120160"/>
                  <a:pt x="265589" y="120160"/>
                </a:cubicBezTo>
                <a:cubicBezTo>
                  <a:pt x="180221" y="120160"/>
                  <a:pt x="180221" y="120160"/>
                  <a:pt x="180221" y="120160"/>
                </a:cubicBezTo>
                <a:cubicBezTo>
                  <a:pt x="173897" y="120160"/>
                  <a:pt x="170735" y="126484"/>
                  <a:pt x="170735" y="132808"/>
                </a:cubicBezTo>
                <a:cubicBezTo>
                  <a:pt x="170735" y="215022"/>
                  <a:pt x="170735" y="215022"/>
                  <a:pt x="170735" y="215022"/>
                </a:cubicBezTo>
                <a:cubicBezTo>
                  <a:pt x="170735" y="221347"/>
                  <a:pt x="173897" y="227672"/>
                  <a:pt x="180221" y="227672"/>
                </a:cubicBezTo>
                <a:cubicBezTo>
                  <a:pt x="265589" y="227672"/>
                  <a:pt x="265589" y="227672"/>
                  <a:pt x="265589" y="227672"/>
                </a:cubicBezTo>
                <a:cubicBezTo>
                  <a:pt x="271912" y="227672"/>
                  <a:pt x="278235" y="221347"/>
                  <a:pt x="278235" y="215022"/>
                </a:cubicBezTo>
                <a:lnTo>
                  <a:pt x="278235" y="132808"/>
                </a:lnTo>
                <a:close/>
                <a:moveTo>
                  <a:pt x="246617" y="290913"/>
                </a:moveTo>
                <a:cubicBezTo>
                  <a:pt x="199192" y="290913"/>
                  <a:pt x="199192" y="290913"/>
                  <a:pt x="199192" y="290913"/>
                </a:cubicBezTo>
                <a:cubicBezTo>
                  <a:pt x="192867" y="290913"/>
                  <a:pt x="189706" y="294075"/>
                  <a:pt x="189706" y="297237"/>
                </a:cubicBezTo>
                <a:cubicBezTo>
                  <a:pt x="189706" y="303562"/>
                  <a:pt x="192867" y="306724"/>
                  <a:pt x="199192" y="306724"/>
                </a:cubicBezTo>
                <a:cubicBezTo>
                  <a:pt x="246617" y="306724"/>
                  <a:pt x="246617" y="306724"/>
                  <a:pt x="246617" y="306724"/>
                </a:cubicBezTo>
                <a:cubicBezTo>
                  <a:pt x="252941" y="306724"/>
                  <a:pt x="256103" y="303562"/>
                  <a:pt x="256103" y="297237"/>
                </a:cubicBezTo>
                <a:cubicBezTo>
                  <a:pt x="256103" y="294075"/>
                  <a:pt x="252941" y="290913"/>
                  <a:pt x="246617" y="290913"/>
                </a:cubicBezTo>
                <a:close/>
                <a:moveTo>
                  <a:pt x="246617" y="164429"/>
                </a:moveTo>
                <a:cubicBezTo>
                  <a:pt x="230809" y="164429"/>
                  <a:pt x="230809" y="164429"/>
                  <a:pt x="230809" y="164429"/>
                </a:cubicBezTo>
                <a:cubicBezTo>
                  <a:pt x="230809" y="148619"/>
                  <a:pt x="230809" y="148619"/>
                  <a:pt x="230809" y="148619"/>
                </a:cubicBezTo>
                <a:cubicBezTo>
                  <a:pt x="230809" y="145457"/>
                  <a:pt x="227648" y="139132"/>
                  <a:pt x="224485" y="139132"/>
                </a:cubicBezTo>
                <a:cubicBezTo>
                  <a:pt x="218162" y="139132"/>
                  <a:pt x="215000" y="145457"/>
                  <a:pt x="215000" y="148619"/>
                </a:cubicBezTo>
                <a:cubicBezTo>
                  <a:pt x="215000" y="164429"/>
                  <a:pt x="215000" y="164429"/>
                  <a:pt x="215000" y="164429"/>
                </a:cubicBezTo>
                <a:cubicBezTo>
                  <a:pt x="199192" y="164429"/>
                  <a:pt x="199192" y="164429"/>
                  <a:pt x="199192" y="164429"/>
                </a:cubicBezTo>
                <a:cubicBezTo>
                  <a:pt x="192867" y="164429"/>
                  <a:pt x="189706" y="170753"/>
                  <a:pt x="189706" y="173915"/>
                </a:cubicBezTo>
                <a:cubicBezTo>
                  <a:pt x="189706" y="177077"/>
                  <a:pt x="192867" y="180240"/>
                  <a:pt x="199192" y="180240"/>
                </a:cubicBezTo>
                <a:cubicBezTo>
                  <a:pt x="215000" y="180240"/>
                  <a:pt x="215000" y="180240"/>
                  <a:pt x="215000" y="180240"/>
                </a:cubicBezTo>
                <a:cubicBezTo>
                  <a:pt x="215000" y="196050"/>
                  <a:pt x="215000" y="196050"/>
                  <a:pt x="215000" y="196050"/>
                </a:cubicBezTo>
                <a:cubicBezTo>
                  <a:pt x="215000" y="202374"/>
                  <a:pt x="218162" y="205537"/>
                  <a:pt x="224485" y="205537"/>
                </a:cubicBezTo>
                <a:cubicBezTo>
                  <a:pt x="227648" y="205537"/>
                  <a:pt x="230809" y="202374"/>
                  <a:pt x="230809" y="196050"/>
                </a:cubicBezTo>
                <a:cubicBezTo>
                  <a:pt x="230809" y="180240"/>
                  <a:pt x="230809" y="180240"/>
                  <a:pt x="230809" y="180240"/>
                </a:cubicBezTo>
                <a:cubicBezTo>
                  <a:pt x="246617" y="180240"/>
                  <a:pt x="246617" y="180240"/>
                  <a:pt x="246617" y="180240"/>
                </a:cubicBezTo>
                <a:cubicBezTo>
                  <a:pt x="252941" y="180240"/>
                  <a:pt x="256103" y="177077"/>
                  <a:pt x="256103" y="173915"/>
                </a:cubicBezTo>
                <a:cubicBezTo>
                  <a:pt x="256103" y="170753"/>
                  <a:pt x="252941" y="164429"/>
                  <a:pt x="246617" y="164429"/>
                </a:cubicBezTo>
                <a:close/>
                <a:moveTo>
                  <a:pt x="120147" y="164429"/>
                </a:moveTo>
                <a:cubicBezTo>
                  <a:pt x="72720" y="164429"/>
                  <a:pt x="72720" y="164429"/>
                  <a:pt x="72720" y="164429"/>
                </a:cubicBezTo>
                <a:cubicBezTo>
                  <a:pt x="66397" y="164429"/>
                  <a:pt x="63236" y="170753"/>
                  <a:pt x="63236" y="173915"/>
                </a:cubicBezTo>
                <a:cubicBezTo>
                  <a:pt x="63236" y="177077"/>
                  <a:pt x="66397" y="180240"/>
                  <a:pt x="72720" y="180240"/>
                </a:cubicBezTo>
                <a:cubicBezTo>
                  <a:pt x="120147" y="180240"/>
                  <a:pt x="120147" y="180240"/>
                  <a:pt x="120147" y="180240"/>
                </a:cubicBezTo>
                <a:cubicBezTo>
                  <a:pt x="126470" y="180240"/>
                  <a:pt x="129633" y="177077"/>
                  <a:pt x="129633" y="173915"/>
                </a:cubicBezTo>
                <a:cubicBezTo>
                  <a:pt x="129633" y="170753"/>
                  <a:pt x="126470" y="164429"/>
                  <a:pt x="120147" y="164429"/>
                </a:cubicBezTo>
                <a:close/>
                <a:moveTo>
                  <a:pt x="224485" y="281427"/>
                </a:moveTo>
                <a:cubicBezTo>
                  <a:pt x="227648" y="281427"/>
                  <a:pt x="233971" y="278265"/>
                  <a:pt x="233971" y="275102"/>
                </a:cubicBezTo>
                <a:cubicBezTo>
                  <a:pt x="233971" y="268778"/>
                  <a:pt x="227648" y="265617"/>
                  <a:pt x="224485" y="265617"/>
                </a:cubicBezTo>
                <a:cubicBezTo>
                  <a:pt x="218162" y="265617"/>
                  <a:pt x="215000" y="268778"/>
                  <a:pt x="215000" y="275102"/>
                </a:cubicBezTo>
                <a:cubicBezTo>
                  <a:pt x="215000" y="278265"/>
                  <a:pt x="218162" y="281427"/>
                  <a:pt x="224485" y="281427"/>
                </a:cubicBezTo>
                <a:close/>
                <a:moveTo>
                  <a:pt x="224485" y="313047"/>
                </a:moveTo>
                <a:cubicBezTo>
                  <a:pt x="218162" y="313047"/>
                  <a:pt x="215000" y="316210"/>
                  <a:pt x="215000" y="322534"/>
                </a:cubicBezTo>
                <a:cubicBezTo>
                  <a:pt x="215000" y="328858"/>
                  <a:pt x="218162" y="332020"/>
                  <a:pt x="224485" y="332020"/>
                </a:cubicBezTo>
                <a:cubicBezTo>
                  <a:pt x="227648" y="332020"/>
                  <a:pt x="233971" y="328858"/>
                  <a:pt x="233971" y="322534"/>
                </a:cubicBezTo>
                <a:cubicBezTo>
                  <a:pt x="233971" y="316210"/>
                  <a:pt x="227648" y="313047"/>
                  <a:pt x="224485" y="31304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4229100"/>
            <a:ext cx="40894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关键执行流程</a:t>
            </a:r>
            <a:endParaRPr lang="en-US" sz="1100"/>
          </a:p>
        </p:txBody>
      </p:sp>
      <p:sp>
        <p:nvSpPr>
          <p:cNvPr id="13" name="AutoShape 13"/>
          <p:cNvSpPr/>
          <p:nvPr/>
        </p:nvSpPr>
        <p:spPr>
          <a:xfrm>
            <a:off x="1039495" y="4953000"/>
            <a:ext cx="4356100" cy="1206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0" i="0" u="none" strike="noStrike">
                <a:solidFill>
                  <a:srgbClr val="323232"/>
                </a:solidFill>
                <a:latin typeface="Noto Sans SC" panose="020B0200000000000000" charset="-122"/>
                <a:ea typeface="Noto Sans SC" panose="020B0200000000000000" charset="-122"/>
                <a:cs typeface="Noto Sans SC" panose="020B0200000000000000" charset="-122"/>
                <a:sym typeface="黑体" panose="02010609060101010101" charset="-122"/>
              </a:rPr>
              <a:t>1. 快照拉取：客户端首屏加载全量座位状态；2. SSE订阅：建立浏览器与服务端的单向持久长连接；3. 增量广播：状态变更时仅推送差异数据；4. 局部更新：客户端接收增量包并实时刷新视图。</a:t>
            </a:r>
            <a:endParaRPr lang="en-US" sz="1100">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838200" y="368300"/>
            <a:ext cx="10515600" cy="13208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4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预约公平性保障机制</a:t>
            </a:r>
            <a:endParaRPr lang="en-US" sz="1100"/>
          </a:p>
        </p:txBody>
      </p:sp>
      <p:pic>
        <p:nvPicPr>
          <p:cNvPr id="4" name="Picture 4"/>
          <p:cNvPicPr>
            <a:picLocks noChangeAspect="1"/>
          </p:cNvPicPr>
          <p:nvPr/>
        </p:nvPicPr>
        <p:blipFill>
          <a:blip r:embed="rId2"/>
          <a:srcRect/>
          <a:stretch>
            <a:fillRect/>
          </a:stretch>
        </p:blipFill>
        <p:spPr>
          <a:xfrm>
            <a:off x="-12700" y="0"/>
            <a:ext cx="12192000" cy="6858000"/>
          </a:xfrm>
          <a:prstGeom prst="rect">
            <a:avLst/>
          </a:prstGeom>
          <a:noFill/>
          <a:ln w="25400" cap="flat" cmpd="sng">
            <a:noFill/>
            <a:prstDash val="solid"/>
            <a:round/>
          </a:ln>
        </p:spPr>
      </p:pic>
      <p:sp>
        <p:nvSpPr>
          <p:cNvPr id="5" name="AutoShape 5"/>
          <p:cNvSpPr/>
          <p:nvPr/>
        </p:nvSpPr>
        <p:spPr>
          <a:xfrm>
            <a:off x="0" y="0"/>
            <a:ext cx="12192000" cy="6858000"/>
          </a:xfrm>
          <a:prstGeom prst="roundRect">
            <a:avLst>
              <a:gd name="adj" fmla="val 0"/>
            </a:avLst>
          </a:prstGeom>
          <a:solidFill>
            <a:srgbClr val="FFFFFF">
              <a:alpha val="50000"/>
            </a:srgbClr>
          </a:solidFill>
          <a:ln w="12700" cap="flat" cmpd="sng">
            <a:solidFill>
              <a:srgbClr val="70AD47">
                <a:alpha val="100000"/>
              </a:srgbClr>
            </a:solidFill>
            <a:prstDash val="solid"/>
            <a:miter lim="10000000"/>
          </a:ln>
        </p:spPr>
        <p:txBody>
          <a:bodyPr vert="horz" wrap="square" lIns="63500" tIns="63500" rIns="63500" bIns="63500" rtlCol="0" anchor="ctr"/>
          <a:lstStyle/>
          <a:p>
            <a:pPr algn="ctr">
              <a:defRPr/>
            </a:pPr>
          </a:p>
        </p:txBody>
      </p:sp>
      <p:sp>
        <p:nvSpPr>
          <p:cNvPr id="6" name="AutoShape 6"/>
          <p:cNvSpPr/>
          <p:nvPr/>
        </p:nvSpPr>
        <p:spPr>
          <a:xfrm>
            <a:off x="0" y="0"/>
            <a:ext cx="12192000" cy="6858000"/>
          </a:xfrm>
          <a:prstGeom prst="roundRect">
            <a:avLst>
              <a:gd name="adj" fmla="val 0"/>
            </a:avLst>
          </a:prstGeom>
          <a:solidFill>
            <a:srgbClr val="FFFFFF">
              <a:alpha val="50000"/>
            </a:srgbClr>
          </a:solidFill>
          <a:ln w="12700" cap="flat" cmpd="sng">
            <a:solidFill>
              <a:srgbClr val="70AD47">
                <a:alpha val="100000"/>
              </a:srgbClr>
            </a:solidFill>
            <a:prstDash val="solid"/>
            <a:miter lim="10000000"/>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377825" y="1244600"/>
            <a:ext cx="10168890" cy="1463040"/>
          </a:xfrm>
          <a:prstGeom prst="roundRect">
            <a:avLst>
              <a:gd name="adj" fmla="val 16666"/>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8" name="AutoShape 8"/>
          <p:cNvSpPr/>
          <p:nvPr>
            <p:custDataLst>
              <p:tags r:id="rId4"/>
            </p:custDataLst>
          </p:nvPr>
        </p:nvSpPr>
        <p:spPr>
          <a:xfrm>
            <a:off x="377825" y="2959735"/>
            <a:ext cx="10168255" cy="1543050"/>
          </a:xfrm>
          <a:prstGeom prst="roundRect">
            <a:avLst>
              <a:gd name="adj" fmla="val 16666"/>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9" name="AutoShape 9"/>
          <p:cNvSpPr/>
          <p:nvPr>
            <p:custDataLst>
              <p:tags r:id="rId5"/>
            </p:custDataLst>
          </p:nvPr>
        </p:nvSpPr>
        <p:spPr>
          <a:xfrm>
            <a:off x="377190" y="4643755"/>
            <a:ext cx="10169525" cy="1697355"/>
          </a:xfrm>
          <a:prstGeom prst="roundRect">
            <a:avLst>
              <a:gd name="adj" fmla="val 16666"/>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10" name="AutoShape 10"/>
          <p:cNvSpPr/>
          <p:nvPr>
            <p:custDataLst>
              <p:tags r:id="rId6"/>
            </p:custDataLst>
          </p:nvPr>
        </p:nvSpPr>
        <p:spPr>
          <a:xfrm>
            <a:off x="521970" y="1660525"/>
            <a:ext cx="889000" cy="4572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4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11" name="AutoShape 11"/>
          <p:cNvSpPr/>
          <p:nvPr>
            <p:custDataLst>
              <p:tags r:id="rId7"/>
            </p:custDataLst>
          </p:nvPr>
        </p:nvSpPr>
        <p:spPr>
          <a:xfrm>
            <a:off x="241300" y="3429000"/>
            <a:ext cx="889000" cy="4572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4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12" name="AutoShape 12"/>
          <p:cNvSpPr/>
          <p:nvPr>
            <p:custDataLst>
              <p:tags r:id="rId8"/>
            </p:custDataLst>
          </p:nvPr>
        </p:nvSpPr>
        <p:spPr>
          <a:xfrm>
            <a:off x="377190" y="5048885"/>
            <a:ext cx="889000" cy="4572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4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3" name="AutoShape 13"/>
          <p:cNvSpPr/>
          <p:nvPr>
            <p:custDataLst>
              <p:tags r:id="rId9"/>
            </p:custDataLst>
          </p:nvPr>
        </p:nvSpPr>
        <p:spPr>
          <a:xfrm>
            <a:off x="1410970" y="1333500"/>
            <a:ext cx="7792085" cy="1080135"/>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超时释放</a:t>
            </a:r>
            <a:endParaRPr lang="en-US" sz="2400">
              <a:latin typeface="Noto Sans SC" panose="020B0200000000000000" charset="-122"/>
              <a:ea typeface="Noto Sans SC" panose="020B0200000000000000" charset="-122"/>
              <a:cs typeface="Noto Sans SC" panose="020B0200000000000000" charset="-122"/>
            </a:endParaRPr>
          </a:p>
          <a:p>
            <a:pPr marL="0" indent="0" algn="l">
              <a:lnSpc>
                <a:spcPct val="108000"/>
              </a:lnSpc>
            </a:pP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预约后开放15分钟签到窗口，依托Redisson延迟队列自动触发检查任务。若用户超时未签到，系统将即时释放座位，避免资源闲置，保障预约流转效率</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0"/>
            </p:custDataLst>
          </p:nvPr>
        </p:nvSpPr>
        <p:spPr>
          <a:xfrm>
            <a:off x="1314450" y="3202305"/>
            <a:ext cx="7791450" cy="1426845"/>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爽约惩罚</a:t>
            </a:r>
            <a:endParaRPr lang="en-US" sz="2400">
              <a:latin typeface="Noto Sans SC" panose="020B0200000000000000" charset="-122"/>
              <a:ea typeface="Noto Sans SC" panose="020B0200000000000000" charset="-122"/>
            </a:endParaRPr>
          </a:p>
          <a:p>
            <a:pPr marL="0" indent="0" algn="l">
              <a:lnSpc>
                <a:spcPct val="108000"/>
              </a:lnSpc>
            </a:pP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每次爽约将累计计数，当达到预设阈值时，系统自动将用户纳入黑名单，在指定周期内限制其预约权限，以硬性约束规范用户的履约行为。</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1"/>
            </p:custDataLst>
          </p:nvPr>
        </p:nvSpPr>
        <p:spPr>
          <a:xfrm>
            <a:off x="1313815" y="4754880"/>
            <a:ext cx="9232900" cy="228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积分激励</a:t>
            </a:r>
            <a:endParaRPr lang="en-US" sz="2400">
              <a:latin typeface="Noto Sans SC" panose="020B0200000000000000" charset="-122"/>
              <a:ea typeface="Noto Sans SC" panose="020B0200000000000000" charset="-122"/>
            </a:endParaRPr>
          </a:p>
          <a:p>
            <a:pPr marL="0" indent="0" algn="l">
              <a:lnSpc>
                <a:spcPct val="108000"/>
              </a:lnSpc>
            </a:pP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搭建积分奖惩体系，守约行为获得积分奖励，爽约则扣除对应积分。积分可用于排行榜展示与权益兑换，正向引导用户养成守信的预约习惯</a:t>
            </a: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Freeform 16"/>
          <p:cNvSpPr/>
          <p:nvPr/>
        </p:nvSpPr>
        <p:spPr>
          <a:xfrm>
            <a:off x="10692765" y="1744980"/>
            <a:ext cx="1014412" cy="668338"/>
          </a:xfrm>
          <a:custGeom>
            <a:avLst/>
            <a:gdLst/>
            <a:ahLst/>
            <a:cxnLst/>
            <a:rect l="l" t="t" r="r" b="b"/>
            <a:pathLst>
              <a:path w="1014412" h="668338">
                <a:moveTo>
                  <a:pt x="156887" y="509720"/>
                </a:moveTo>
                <a:cubicBezTo>
                  <a:pt x="135492" y="509720"/>
                  <a:pt x="130145" y="513283"/>
                  <a:pt x="103402" y="532888"/>
                </a:cubicBezTo>
                <a:cubicBezTo>
                  <a:pt x="60615" y="564968"/>
                  <a:pt x="57050" y="566750"/>
                  <a:pt x="21393" y="593484"/>
                </a:cubicBezTo>
                <a:cubicBezTo>
                  <a:pt x="10697" y="600613"/>
                  <a:pt x="5348" y="609524"/>
                  <a:pt x="1783" y="616654"/>
                </a:cubicBezTo>
                <a:cubicBezTo>
                  <a:pt x="0" y="620217"/>
                  <a:pt x="1783" y="622000"/>
                  <a:pt x="5348" y="622000"/>
                </a:cubicBezTo>
                <a:cubicBezTo>
                  <a:pt x="338732" y="622000"/>
                  <a:pt x="673899" y="622000"/>
                  <a:pt x="1009065" y="622000"/>
                </a:cubicBezTo>
                <a:cubicBezTo>
                  <a:pt x="1010848" y="622000"/>
                  <a:pt x="1012631" y="620217"/>
                  <a:pt x="1010848" y="616654"/>
                </a:cubicBezTo>
                <a:cubicBezTo>
                  <a:pt x="1009065" y="609524"/>
                  <a:pt x="1001933" y="600613"/>
                  <a:pt x="991236" y="593484"/>
                </a:cubicBezTo>
                <a:cubicBezTo>
                  <a:pt x="955581" y="566750"/>
                  <a:pt x="952015" y="564968"/>
                  <a:pt x="909227" y="532888"/>
                </a:cubicBezTo>
                <a:cubicBezTo>
                  <a:pt x="884269" y="513283"/>
                  <a:pt x="877137" y="511501"/>
                  <a:pt x="855744" y="511501"/>
                </a:cubicBezTo>
                <a:cubicBezTo>
                  <a:pt x="623980" y="511501"/>
                  <a:pt x="390434" y="509720"/>
                  <a:pt x="156887" y="509720"/>
                </a:cubicBezTo>
                <a:close/>
                <a:moveTo>
                  <a:pt x="206804" y="37427"/>
                </a:moveTo>
                <a:cubicBezTo>
                  <a:pt x="805825" y="37427"/>
                  <a:pt x="805825" y="37427"/>
                  <a:pt x="805825" y="37427"/>
                </a:cubicBezTo>
                <a:cubicBezTo>
                  <a:pt x="825436" y="37427"/>
                  <a:pt x="841482" y="53467"/>
                  <a:pt x="841482" y="71289"/>
                </a:cubicBezTo>
                <a:cubicBezTo>
                  <a:pt x="841482" y="408132"/>
                  <a:pt x="841482" y="408132"/>
                  <a:pt x="841482" y="408132"/>
                </a:cubicBezTo>
                <a:cubicBezTo>
                  <a:pt x="841482" y="425954"/>
                  <a:pt x="825436" y="441994"/>
                  <a:pt x="805825" y="441994"/>
                </a:cubicBezTo>
                <a:cubicBezTo>
                  <a:pt x="206804" y="441994"/>
                  <a:pt x="206804" y="441994"/>
                  <a:pt x="206804" y="441994"/>
                </a:cubicBezTo>
                <a:cubicBezTo>
                  <a:pt x="187194" y="441994"/>
                  <a:pt x="172932" y="425954"/>
                  <a:pt x="172932" y="408132"/>
                </a:cubicBezTo>
                <a:cubicBezTo>
                  <a:pt x="172932" y="71289"/>
                  <a:pt x="172932" y="71289"/>
                  <a:pt x="172932" y="71289"/>
                </a:cubicBezTo>
                <a:cubicBezTo>
                  <a:pt x="172932" y="53467"/>
                  <a:pt x="187194" y="37427"/>
                  <a:pt x="206804" y="37427"/>
                </a:cubicBezTo>
                <a:close/>
                <a:moveTo>
                  <a:pt x="183628" y="527541"/>
                </a:moveTo>
                <a:cubicBezTo>
                  <a:pt x="156887" y="529323"/>
                  <a:pt x="147973" y="538235"/>
                  <a:pt x="131928" y="552493"/>
                </a:cubicBezTo>
                <a:cubicBezTo>
                  <a:pt x="106968" y="575662"/>
                  <a:pt x="105185" y="584573"/>
                  <a:pt x="131928" y="584573"/>
                </a:cubicBezTo>
                <a:cubicBezTo>
                  <a:pt x="381519" y="584573"/>
                  <a:pt x="631111" y="584573"/>
                  <a:pt x="880703" y="584573"/>
                </a:cubicBezTo>
                <a:cubicBezTo>
                  <a:pt x="909227" y="584573"/>
                  <a:pt x="905662" y="575662"/>
                  <a:pt x="882486" y="552493"/>
                </a:cubicBezTo>
                <a:cubicBezTo>
                  <a:pt x="864658" y="538235"/>
                  <a:pt x="857527" y="529323"/>
                  <a:pt x="829001" y="529323"/>
                </a:cubicBezTo>
                <a:cubicBezTo>
                  <a:pt x="622197" y="522195"/>
                  <a:pt x="390434" y="522195"/>
                  <a:pt x="183628" y="527541"/>
                </a:cubicBezTo>
                <a:close/>
                <a:moveTo>
                  <a:pt x="506315" y="10693"/>
                </a:moveTo>
                <a:cubicBezTo>
                  <a:pt x="509881" y="10693"/>
                  <a:pt x="513446" y="14258"/>
                  <a:pt x="513446" y="17822"/>
                </a:cubicBezTo>
                <a:cubicBezTo>
                  <a:pt x="513446" y="21387"/>
                  <a:pt x="509881" y="24952"/>
                  <a:pt x="506315" y="24952"/>
                </a:cubicBezTo>
                <a:cubicBezTo>
                  <a:pt x="502750" y="24952"/>
                  <a:pt x="500967" y="21387"/>
                  <a:pt x="500967" y="17822"/>
                </a:cubicBezTo>
                <a:cubicBezTo>
                  <a:pt x="500967" y="14258"/>
                  <a:pt x="502750" y="10693"/>
                  <a:pt x="506315" y="10693"/>
                </a:cubicBezTo>
                <a:close/>
                <a:moveTo>
                  <a:pt x="190759" y="0"/>
                </a:moveTo>
                <a:cubicBezTo>
                  <a:pt x="823653" y="0"/>
                  <a:pt x="823653" y="0"/>
                  <a:pt x="823653" y="0"/>
                </a:cubicBezTo>
                <a:cubicBezTo>
                  <a:pt x="853961" y="0"/>
                  <a:pt x="880703" y="24952"/>
                  <a:pt x="880703" y="57032"/>
                </a:cubicBezTo>
                <a:cubicBezTo>
                  <a:pt x="880703" y="422389"/>
                  <a:pt x="880703" y="422389"/>
                  <a:pt x="880703" y="422389"/>
                </a:cubicBezTo>
                <a:cubicBezTo>
                  <a:pt x="880703" y="454470"/>
                  <a:pt x="853961" y="481203"/>
                  <a:pt x="823653" y="481203"/>
                </a:cubicBezTo>
                <a:cubicBezTo>
                  <a:pt x="190759" y="481203"/>
                  <a:pt x="190759" y="481203"/>
                  <a:pt x="190759" y="481203"/>
                </a:cubicBezTo>
                <a:cubicBezTo>
                  <a:pt x="158669" y="481203"/>
                  <a:pt x="133709" y="454470"/>
                  <a:pt x="133709" y="422389"/>
                </a:cubicBezTo>
                <a:cubicBezTo>
                  <a:pt x="133709" y="57032"/>
                  <a:pt x="133709" y="57032"/>
                  <a:pt x="133709" y="57032"/>
                </a:cubicBezTo>
                <a:cubicBezTo>
                  <a:pt x="133709" y="24952"/>
                  <a:pt x="158669" y="0"/>
                  <a:pt x="190759" y="0"/>
                </a:cubicBezTo>
                <a:close/>
                <a:moveTo>
                  <a:pt x="0" y="632694"/>
                </a:moveTo>
                <a:cubicBezTo>
                  <a:pt x="1783" y="648734"/>
                  <a:pt x="17828" y="662991"/>
                  <a:pt x="41004" y="662991"/>
                </a:cubicBezTo>
                <a:cubicBezTo>
                  <a:pt x="351212" y="668338"/>
                  <a:pt x="663202" y="668338"/>
                  <a:pt x="973408" y="662991"/>
                </a:cubicBezTo>
                <a:cubicBezTo>
                  <a:pt x="994802" y="662991"/>
                  <a:pt x="1012631" y="648734"/>
                  <a:pt x="1014412" y="632694"/>
                </a:cubicBezTo>
                <a:cubicBezTo>
                  <a:pt x="1014412" y="630911"/>
                  <a:pt x="1012631" y="629129"/>
                  <a:pt x="1010848" y="629129"/>
                </a:cubicBezTo>
                <a:cubicBezTo>
                  <a:pt x="866441" y="629129"/>
                  <a:pt x="723816" y="629129"/>
                  <a:pt x="581193" y="629129"/>
                </a:cubicBezTo>
                <a:cubicBezTo>
                  <a:pt x="579410" y="629129"/>
                  <a:pt x="577626" y="630911"/>
                  <a:pt x="577626" y="632694"/>
                </a:cubicBezTo>
                <a:cubicBezTo>
                  <a:pt x="577626" y="634475"/>
                  <a:pt x="577626" y="636257"/>
                  <a:pt x="577626" y="638040"/>
                </a:cubicBezTo>
                <a:cubicBezTo>
                  <a:pt x="577626" y="639822"/>
                  <a:pt x="575845" y="643387"/>
                  <a:pt x="572279" y="643387"/>
                </a:cubicBezTo>
                <a:cubicBezTo>
                  <a:pt x="525926" y="643387"/>
                  <a:pt x="479574" y="643387"/>
                  <a:pt x="433220" y="643387"/>
                </a:cubicBezTo>
                <a:cubicBezTo>
                  <a:pt x="429655" y="643387"/>
                  <a:pt x="427872" y="639822"/>
                  <a:pt x="427872" y="638040"/>
                </a:cubicBezTo>
                <a:cubicBezTo>
                  <a:pt x="427872" y="636257"/>
                  <a:pt x="427872" y="634475"/>
                  <a:pt x="427872" y="632694"/>
                </a:cubicBezTo>
                <a:cubicBezTo>
                  <a:pt x="427872" y="630911"/>
                  <a:pt x="426089" y="629129"/>
                  <a:pt x="424306" y="629129"/>
                </a:cubicBezTo>
                <a:cubicBezTo>
                  <a:pt x="283465" y="629129"/>
                  <a:pt x="144407" y="629129"/>
                  <a:pt x="3566" y="629129"/>
                </a:cubicBezTo>
                <a:cubicBezTo>
                  <a:pt x="0" y="629129"/>
                  <a:pt x="0" y="630911"/>
                  <a:pt x="0" y="632694"/>
                </a:cubicBezTo>
                <a:close/>
              </a:path>
            </a:pathLst>
          </a:cu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0997565" y="3429000"/>
            <a:ext cx="506526" cy="852028"/>
          </a:xfrm>
          <a:custGeom>
            <a:avLst/>
            <a:gdLst/>
            <a:ahLst/>
            <a:cxnLst/>
            <a:rect l="l" t="t" r="r" b="b"/>
            <a:pathLst>
              <a:path w="506526" h="852028">
                <a:moveTo>
                  <a:pt x="24741" y="0"/>
                </a:moveTo>
                <a:cubicBezTo>
                  <a:pt x="481786" y="0"/>
                  <a:pt x="481786" y="0"/>
                  <a:pt x="481786" y="0"/>
                </a:cubicBezTo>
                <a:cubicBezTo>
                  <a:pt x="494807" y="0"/>
                  <a:pt x="506526" y="13477"/>
                  <a:pt x="506526" y="29948"/>
                </a:cubicBezTo>
                <a:cubicBezTo>
                  <a:pt x="506526" y="823577"/>
                  <a:pt x="506526" y="823577"/>
                  <a:pt x="506526" y="823577"/>
                </a:cubicBezTo>
                <a:cubicBezTo>
                  <a:pt x="506526" y="840049"/>
                  <a:pt x="494807" y="852028"/>
                  <a:pt x="481786" y="852028"/>
                </a:cubicBezTo>
                <a:cubicBezTo>
                  <a:pt x="24741" y="852028"/>
                  <a:pt x="24741" y="852028"/>
                  <a:pt x="24741" y="852028"/>
                </a:cubicBezTo>
                <a:cubicBezTo>
                  <a:pt x="10417" y="852028"/>
                  <a:pt x="0" y="840049"/>
                  <a:pt x="0" y="823577"/>
                </a:cubicBezTo>
                <a:cubicBezTo>
                  <a:pt x="0" y="29948"/>
                  <a:pt x="0" y="29948"/>
                  <a:pt x="0" y="29948"/>
                </a:cubicBezTo>
                <a:cubicBezTo>
                  <a:pt x="0" y="13477"/>
                  <a:pt x="10417" y="0"/>
                  <a:pt x="24741" y="0"/>
                </a:cubicBezTo>
                <a:close/>
                <a:moveTo>
                  <a:pt x="61200" y="64389"/>
                </a:moveTo>
                <a:cubicBezTo>
                  <a:pt x="445327" y="64389"/>
                  <a:pt x="445327" y="64389"/>
                  <a:pt x="445327" y="64389"/>
                </a:cubicBezTo>
                <a:cubicBezTo>
                  <a:pt x="458347" y="64389"/>
                  <a:pt x="470066" y="77865"/>
                  <a:pt x="470066" y="92840"/>
                </a:cubicBezTo>
                <a:cubicBezTo>
                  <a:pt x="470066" y="729240"/>
                  <a:pt x="470066" y="729240"/>
                  <a:pt x="470066" y="729240"/>
                </a:cubicBezTo>
                <a:cubicBezTo>
                  <a:pt x="470066" y="745712"/>
                  <a:pt x="458347" y="759188"/>
                  <a:pt x="445327" y="759188"/>
                </a:cubicBezTo>
                <a:cubicBezTo>
                  <a:pt x="61200" y="759188"/>
                  <a:pt x="61200" y="759188"/>
                  <a:pt x="61200" y="759188"/>
                </a:cubicBezTo>
                <a:cubicBezTo>
                  <a:pt x="48179" y="759188"/>
                  <a:pt x="36459" y="745712"/>
                  <a:pt x="36459" y="729240"/>
                </a:cubicBezTo>
                <a:cubicBezTo>
                  <a:pt x="36459" y="92840"/>
                  <a:pt x="36459" y="92840"/>
                  <a:pt x="36459" y="92840"/>
                </a:cubicBezTo>
                <a:cubicBezTo>
                  <a:pt x="36459" y="77865"/>
                  <a:pt x="48179" y="64389"/>
                  <a:pt x="61200" y="64389"/>
                </a:cubicBezTo>
                <a:close/>
                <a:moveTo>
                  <a:pt x="313812" y="26953"/>
                </a:moveTo>
                <a:cubicBezTo>
                  <a:pt x="325531" y="26953"/>
                  <a:pt x="325531" y="26953"/>
                  <a:pt x="325531" y="26953"/>
                </a:cubicBezTo>
                <a:cubicBezTo>
                  <a:pt x="326833" y="26953"/>
                  <a:pt x="326833" y="28451"/>
                  <a:pt x="326833" y="29948"/>
                </a:cubicBezTo>
                <a:cubicBezTo>
                  <a:pt x="326833" y="37436"/>
                  <a:pt x="326833" y="37436"/>
                  <a:pt x="326833" y="37436"/>
                </a:cubicBezTo>
                <a:cubicBezTo>
                  <a:pt x="326833" y="38933"/>
                  <a:pt x="326833" y="40430"/>
                  <a:pt x="325531" y="40430"/>
                </a:cubicBezTo>
                <a:cubicBezTo>
                  <a:pt x="313812" y="40430"/>
                  <a:pt x="313812" y="40430"/>
                  <a:pt x="313812" y="40430"/>
                </a:cubicBezTo>
                <a:cubicBezTo>
                  <a:pt x="313812" y="40430"/>
                  <a:pt x="312510" y="38933"/>
                  <a:pt x="312510" y="37436"/>
                </a:cubicBezTo>
                <a:cubicBezTo>
                  <a:pt x="312510" y="29948"/>
                  <a:pt x="312510" y="29948"/>
                  <a:pt x="312510" y="29948"/>
                </a:cubicBezTo>
                <a:cubicBezTo>
                  <a:pt x="312510" y="28451"/>
                  <a:pt x="313812" y="26953"/>
                  <a:pt x="313812" y="26953"/>
                </a:cubicBezTo>
                <a:close/>
                <a:moveTo>
                  <a:pt x="200527" y="26953"/>
                </a:moveTo>
                <a:cubicBezTo>
                  <a:pt x="287769" y="26953"/>
                  <a:pt x="287769" y="26953"/>
                  <a:pt x="287769" y="26953"/>
                </a:cubicBezTo>
                <a:cubicBezTo>
                  <a:pt x="289071" y="26953"/>
                  <a:pt x="290374" y="28451"/>
                  <a:pt x="290374" y="29948"/>
                </a:cubicBezTo>
                <a:cubicBezTo>
                  <a:pt x="290374" y="35938"/>
                  <a:pt x="290374" y="35938"/>
                  <a:pt x="290374" y="35938"/>
                </a:cubicBezTo>
                <a:cubicBezTo>
                  <a:pt x="290374" y="37436"/>
                  <a:pt x="289071" y="38933"/>
                  <a:pt x="287769" y="38933"/>
                </a:cubicBezTo>
                <a:cubicBezTo>
                  <a:pt x="200527" y="38933"/>
                  <a:pt x="200527" y="38933"/>
                  <a:pt x="200527" y="38933"/>
                </a:cubicBezTo>
                <a:cubicBezTo>
                  <a:pt x="200527" y="38933"/>
                  <a:pt x="199225" y="37436"/>
                  <a:pt x="199225" y="35938"/>
                </a:cubicBezTo>
                <a:cubicBezTo>
                  <a:pt x="199225" y="29948"/>
                  <a:pt x="199225" y="29948"/>
                  <a:pt x="199225" y="29948"/>
                </a:cubicBezTo>
                <a:cubicBezTo>
                  <a:pt x="199225" y="28451"/>
                  <a:pt x="200527" y="26953"/>
                  <a:pt x="200527" y="26953"/>
                </a:cubicBezTo>
                <a:close/>
                <a:moveTo>
                  <a:pt x="252612" y="786141"/>
                </a:moveTo>
                <a:cubicBezTo>
                  <a:pt x="263028" y="786141"/>
                  <a:pt x="270841" y="795127"/>
                  <a:pt x="270841" y="805608"/>
                </a:cubicBezTo>
                <a:cubicBezTo>
                  <a:pt x="270841" y="817588"/>
                  <a:pt x="263028" y="826572"/>
                  <a:pt x="252612" y="826572"/>
                </a:cubicBezTo>
                <a:cubicBezTo>
                  <a:pt x="243497" y="826572"/>
                  <a:pt x="235684" y="817588"/>
                  <a:pt x="235684" y="805608"/>
                </a:cubicBezTo>
                <a:cubicBezTo>
                  <a:pt x="235684" y="795127"/>
                  <a:pt x="243497" y="786141"/>
                  <a:pt x="252612" y="786141"/>
                </a:cubicBezTo>
                <a:close/>
              </a:path>
            </a:pathLst>
          </a:custGeom>
          <a:solidFill>
            <a:srgbClr val="025C3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0692765" y="5296535"/>
            <a:ext cx="898298" cy="635028"/>
          </a:xfrm>
          <a:custGeom>
            <a:avLst/>
            <a:gdLst/>
            <a:ahLst/>
            <a:cxnLst/>
            <a:rect l="l" t="t" r="r" b="b"/>
            <a:pathLst>
              <a:path w="898298" h="635028">
                <a:moveTo>
                  <a:pt x="579394" y="150546"/>
                </a:moveTo>
                <a:cubicBezTo>
                  <a:pt x="734110" y="150546"/>
                  <a:pt x="858830" y="260032"/>
                  <a:pt x="858830" y="392787"/>
                </a:cubicBezTo>
                <a:cubicBezTo>
                  <a:pt x="858830" y="526909"/>
                  <a:pt x="734110" y="635028"/>
                  <a:pt x="579394" y="635028"/>
                </a:cubicBezTo>
                <a:cubicBezTo>
                  <a:pt x="426258" y="635028"/>
                  <a:pt x="299959" y="526909"/>
                  <a:pt x="299959" y="392787"/>
                </a:cubicBezTo>
                <a:cubicBezTo>
                  <a:pt x="299959" y="260032"/>
                  <a:pt x="426258" y="150546"/>
                  <a:pt x="579394" y="150546"/>
                </a:cubicBezTo>
                <a:close/>
                <a:moveTo>
                  <a:pt x="0" y="318883"/>
                </a:moveTo>
                <a:cubicBezTo>
                  <a:pt x="0" y="395524"/>
                  <a:pt x="0" y="472166"/>
                  <a:pt x="0" y="548806"/>
                </a:cubicBezTo>
                <a:cubicBezTo>
                  <a:pt x="0" y="577546"/>
                  <a:pt x="12630" y="589864"/>
                  <a:pt x="45784" y="589864"/>
                </a:cubicBezTo>
                <a:cubicBezTo>
                  <a:pt x="157874" y="589864"/>
                  <a:pt x="269963" y="589864"/>
                  <a:pt x="382053" y="589864"/>
                </a:cubicBezTo>
                <a:cubicBezTo>
                  <a:pt x="386789" y="589864"/>
                  <a:pt x="389947" y="585758"/>
                  <a:pt x="385210" y="583021"/>
                </a:cubicBezTo>
                <a:cubicBezTo>
                  <a:pt x="325219" y="536489"/>
                  <a:pt x="287329" y="468060"/>
                  <a:pt x="287329" y="392787"/>
                </a:cubicBezTo>
                <a:cubicBezTo>
                  <a:pt x="287329" y="253190"/>
                  <a:pt x="418363" y="139597"/>
                  <a:pt x="579394" y="139597"/>
                </a:cubicBezTo>
                <a:cubicBezTo>
                  <a:pt x="742004" y="139597"/>
                  <a:pt x="871460" y="253190"/>
                  <a:pt x="871460" y="392787"/>
                </a:cubicBezTo>
                <a:cubicBezTo>
                  <a:pt x="871460" y="468060"/>
                  <a:pt x="833570" y="536489"/>
                  <a:pt x="773579" y="583021"/>
                </a:cubicBezTo>
                <a:cubicBezTo>
                  <a:pt x="770421" y="585758"/>
                  <a:pt x="772000" y="589864"/>
                  <a:pt x="776736" y="589864"/>
                </a:cubicBezTo>
                <a:cubicBezTo>
                  <a:pt x="798838" y="589864"/>
                  <a:pt x="822519" y="589864"/>
                  <a:pt x="846200" y="589864"/>
                </a:cubicBezTo>
                <a:cubicBezTo>
                  <a:pt x="873039" y="589864"/>
                  <a:pt x="898298" y="572073"/>
                  <a:pt x="898298" y="547437"/>
                </a:cubicBezTo>
                <a:cubicBezTo>
                  <a:pt x="898298" y="448899"/>
                  <a:pt x="898298" y="351729"/>
                  <a:pt x="898298" y="253190"/>
                </a:cubicBezTo>
                <a:cubicBezTo>
                  <a:pt x="898298" y="154652"/>
                  <a:pt x="849357" y="140965"/>
                  <a:pt x="760948" y="124543"/>
                </a:cubicBezTo>
                <a:cubicBezTo>
                  <a:pt x="746740" y="123173"/>
                  <a:pt x="745161" y="121804"/>
                  <a:pt x="738847" y="106750"/>
                </a:cubicBezTo>
                <a:cubicBezTo>
                  <a:pt x="715165" y="41058"/>
                  <a:pt x="694642" y="4106"/>
                  <a:pt x="584130" y="2737"/>
                </a:cubicBezTo>
                <a:cubicBezTo>
                  <a:pt x="453095" y="0"/>
                  <a:pt x="423100" y="36952"/>
                  <a:pt x="389947" y="117700"/>
                </a:cubicBezTo>
                <a:cubicBezTo>
                  <a:pt x="385210" y="131385"/>
                  <a:pt x="380474" y="134122"/>
                  <a:pt x="371001" y="132753"/>
                </a:cubicBezTo>
                <a:cubicBezTo>
                  <a:pt x="359951" y="132753"/>
                  <a:pt x="348899" y="132753"/>
                  <a:pt x="339428" y="132753"/>
                </a:cubicBezTo>
                <a:cubicBezTo>
                  <a:pt x="334691" y="132753"/>
                  <a:pt x="331534" y="131385"/>
                  <a:pt x="331534" y="127279"/>
                </a:cubicBezTo>
                <a:cubicBezTo>
                  <a:pt x="331534" y="121804"/>
                  <a:pt x="331534" y="116331"/>
                  <a:pt x="331534" y="110856"/>
                </a:cubicBezTo>
                <a:cubicBezTo>
                  <a:pt x="331534" y="102645"/>
                  <a:pt x="325219" y="95801"/>
                  <a:pt x="315746" y="95801"/>
                </a:cubicBezTo>
                <a:cubicBezTo>
                  <a:pt x="260491" y="95801"/>
                  <a:pt x="205235" y="95801"/>
                  <a:pt x="149979" y="95801"/>
                </a:cubicBezTo>
                <a:cubicBezTo>
                  <a:pt x="140506" y="95801"/>
                  <a:pt x="132613" y="102645"/>
                  <a:pt x="132613" y="110856"/>
                </a:cubicBezTo>
                <a:cubicBezTo>
                  <a:pt x="132613" y="119068"/>
                  <a:pt x="132613" y="127279"/>
                  <a:pt x="132613" y="135491"/>
                </a:cubicBezTo>
                <a:cubicBezTo>
                  <a:pt x="132613" y="139597"/>
                  <a:pt x="129456" y="142334"/>
                  <a:pt x="126299" y="142334"/>
                </a:cubicBezTo>
                <a:cubicBezTo>
                  <a:pt x="7893" y="153283"/>
                  <a:pt x="0" y="218975"/>
                  <a:pt x="0" y="318883"/>
                </a:cubicBezTo>
                <a:close/>
                <a:moveTo>
                  <a:pt x="113669" y="225819"/>
                </a:moveTo>
                <a:cubicBezTo>
                  <a:pt x="227338" y="225819"/>
                  <a:pt x="227338" y="225819"/>
                  <a:pt x="227338" y="225819"/>
                </a:cubicBezTo>
                <a:cubicBezTo>
                  <a:pt x="235231" y="225819"/>
                  <a:pt x="243125" y="232661"/>
                  <a:pt x="243125" y="239504"/>
                </a:cubicBezTo>
                <a:cubicBezTo>
                  <a:pt x="243125" y="268244"/>
                  <a:pt x="243125" y="268244"/>
                  <a:pt x="243125" y="268244"/>
                </a:cubicBezTo>
                <a:cubicBezTo>
                  <a:pt x="243125" y="276456"/>
                  <a:pt x="235231" y="281931"/>
                  <a:pt x="227338" y="281931"/>
                </a:cubicBezTo>
                <a:cubicBezTo>
                  <a:pt x="113669" y="281931"/>
                  <a:pt x="113669" y="281931"/>
                  <a:pt x="113669" y="281931"/>
                </a:cubicBezTo>
                <a:cubicBezTo>
                  <a:pt x="105774" y="281931"/>
                  <a:pt x="97881" y="276456"/>
                  <a:pt x="97881" y="268244"/>
                </a:cubicBezTo>
                <a:cubicBezTo>
                  <a:pt x="97881" y="239504"/>
                  <a:pt x="97881" y="239504"/>
                  <a:pt x="97881" y="239504"/>
                </a:cubicBezTo>
                <a:cubicBezTo>
                  <a:pt x="97881" y="232661"/>
                  <a:pt x="105774" y="225819"/>
                  <a:pt x="113669" y="225819"/>
                </a:cubicBezTo>
                <a:close/>
                <a:moveTo>
                  <a:pt x="71043" y="511854"/>
                </a:moveTo>
                <a:cubicBezTo>
                  <a:pt x="82094" y="511854"/>
                  <a:pt x="89987" y="518697"/>
                  <a:pt x="89987" y="528278"/>
                </a:cubicBezTo>
                <a:cubicBezTo>
                  <a:pt x="89987" y="537858"/>
                  <a:pt x="82094" y="546070"/>
                  <a:pt x="71043" y="546070"/>
                </a:cubicBezTo>
                <a:cubicBezTo>
                  <a:pt x="58414" y="546070"/>
                  <a:pt x="50519" y="537858"/>
                  <a:pt x="50519" y="528278"/>
                </a:cubicBezTo>
                <a:cubicBezTo>
                  <a:pt x="50519" y="518697"/>
                  <a:pt x="58414" y="511854"/>
                  <a:pt x="71043" y="511854"/>
                </a:cubicBezTo>
                <a:close/>
                <a:moveTo>
                  <a:pt x="116826" y="520066"/>
                </a:moveTo>
                <a:cubicBezTo>
                  <a:pt x="123140" y="520066"/>
                  <a:pt x="126299" y="524172"/>
                  <a:pt x="126299" y="528278"/>
                </a:cubicBezTo>
                <a:cubicBezTo>
                  <a:pt x="126299" y="533752"/>
                  <a:pt x="123140" y="536489"/>
                  <a:pt x="116826" y="536489"/>
                </a:cubicBezTo>
                <a:cubicBezTo>
                  <a:pt x="112090" y="536489"/>
                  <a:pt x="107353" y="533752"/>
                  <a:pt x="107353" y="528278"/>
                </a:cubicBezTo>
                <a:cubicBezTo>
                  <a:pt x="107353" y="524172"/>
                  <a:pt x="112090" y="520066"/>
                  <a:pt x="116826" y="520066"/>
                </a:cubicBezTo>
                <a:close/>
                <a:moveTo>
                  <a:pt x="579394" y="227186"/>
                </a:moveTo>
                <a:cubicBezTo>
                  <a:pt x="685169" y="227186"/>
                  <a:pt x="770421" y="301090"/>
                  <a:pt x="770421" y="392787"/>
                </a:cubicBezTo>
                <a:cubicBezTo>
                  <a:pt x="770421" y="484482"/>
                  <a:pt x="685169" y="558387"/>
                  <a:pt x="579394" y="558387"/>
                </a:cubicBezTo>
                <a:cubicBezTo>
                  <a:pt x="473620" y="558387"/>
                  <a:pt x="388367" y="484482"/>
                  <a:pt x="388367" y="392787"/>
                </a:cubicBezTo>
                <a:cubicBezTo>
                  <a:pt x="388367" y="301090"/>
                  <a:pt x="473620" y="227186"/>
                  <a:pt x="579394" y="227186"/>
                </a:cubicBezTo>
                <a:close/>
                <a:moveTo>
                  <a:pt x="579394" y="172443"/>
                </a:moveTo>
                <a:cubicBezTo>
                  <a:pt x="719901" y="172443"/>
                  <a:pt x="833570" y="270981"/>
                  <a:pt x="833570" y="392787"/>
                </a:cubicBezTo>
                <a:cubicBezTo>
                  <a:pt x="833570" y="514591"/>
                  <a:pt x="719901" y="613131"/>
                  <a:pt x="579394" y="613131"/>
                </a:cubicBezTo>
                <a:cubicBezTo>
                  <a:pt x="438888" y="613131"/>
                  <a:pt x="325219" y="514591"/>
                  <a:pt x="325219" y="392787"/>
                </a:cubicBezTo>
                <a:cubicBezTo>
                  <a:pt x="325219" y="270981"/>
                  <a:pt x="438888" y="172443"/>
                  <a:pt x="579394" y="172443"/>
                </a:cubicBezTo>
                <a:close/>
              </a:path>
            </a:pathLst>
          </a:custGeom>
          <a:solidFill>
            <a:srgbClr val="025C3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20" name="AutoShape 20"/>
          <p:cNvSpPr/>
          <p:nvPr/>
        </p:nvSpPr>
        <p:spPr>
          <a:xfrm>
            <a:off x="0" y="355600"/>
            <a:ext cx="4314190" cy="838200"/>
          </a:xfrm>
          <a:prstGeom prst="homePlate">
            <a:avLst>
              <a:gd name="adj" fmla="val 50000"/>
            </a:avLst>
          </a:prstGeom>
          <a:solidFill>
            <a:srgbClr val="025C3B">
              <a:alpha val="80000"/>
            </a:srgbClr>
          </a:solidFill>
          <a:ln w="12700" cap="flat" cmpd="sng">
            <a:solidFill>
              <a:srgbClr val="2F528F">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zh-CN" alt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用户规则</a:t>
            </a:r>
            <a:r>
              <a:rPr 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设计</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0"/>
            <a:ext cx="4711700" cy="68580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977900" y="317500"/>
            <a:ext cx="4165600" cy="6121400"/>
          </a:xfrm>
          <a:prstGeom prst="rect">
            <a:avLst/>
          </a:prstGeom>
          <a:noFill/>
          <a:ln w="25400" cap="flat" cmpd="sng">
            <a:noFill/>
            <a:prstDash val="solid"/>
            <a:round/>
          </a:ln>
        </p:spPr>
      </p:pic>
      <p:sp>
        <p:nvSpPr>
          <p:cNvPr id="5" name="AutoShape 5"/>
          <p:cNvSpPr/>
          <p:nvPr/>
        </p:nvSpPr>
        <p:spPr>
          <a:xfrm>
            <a:off x="5221605" y="2247900"/>
            <a:ext cx="2336800" cy="2362200"/>
          </a:xfrm>
          <a:prstGeom prst="ellipse">
            <a:avLst/>
          </a:prstGeom>
          <a:solidFill>
            <a:srgbClr val="025C3B">
              <a:alpha val="80000"/>
            </a:srgbClr>
          </a:solidFill>
          <a:ln w="12700" cap="flat" cmpd="sng">
            <a:solidFill>
              <a:srgbClr val="025C3B">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3600" b="1" i="0" u="none" strike="noStrike">
                <a:solidFill>
                  <a:srgbClr val="FFFFFF"/>
                </a:solidFill>
                <a:latin typeface="Arial" panose="020B0604020202020204"/>
                <a:ea typeface="Arial" panose="020B0604020202020204"/>
                <a:cs typeface="Arial" panose="020B0604020202020204"/>
                <a:sym typeface="Arial" panose="020B0604020202020204"/>
              </a:rPr>
              <a:t>PART 03</a:t>
            </a:r>
            <a:endParaRPr lang="en-US" sz="1100"/>
          </a:p>
        </p:txBody>
      </p:sp>
      <p:sp>
        <p:nvSpPr>
          <p:cNvPr id="8" name="AutoShape 8"/>
          <p:cNvSpPr/>
          <p:nvPr/>
        </p:nvSpPr>
        <p:spPr>
          <a:xfrm>
            <a:off x="5143500" y="54610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9" name="AutoShape 9"/>
          <p:cNvSpPr/>
          <p:nvPr/>
        </p:nvSpPr>
        <p:spPr>
          <a:xfrm>
            <a:off x="5143500" y="60452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10" name="文本框 9"/>
          <p:cNvSpPr txBox="1"/>
          <p:nvPr/>
        </p:nvSpPr>
        <p:spPr>
          <a:xfrm>
            <a:off x="7558405" y="2967990"/>
            <a:ext cx="6096000" cy="922020"/>
          </a:xfrm>
          <a:prstGeom prst="rect">
            <a:avLst/>
          </a:prstGeom>
          <a:noFill/>
        </p:spPr>
        <p:txBody>
          <a:bodyPr wrap="square" rtlCol="0" anchor="t">
            <a:spAutoFit/>
          </a:bodyPr>
          <a:p>
            <a:pPr marL="0" indent="0" algn="l">
              <a:lnSpc>
                <a:spcPct val="100000"/>
              </a:lnSpc>
              <a:defRPr/>
            </a:pPr>
            <a:r>
              <a:rPr lang="en-US" sz="54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rPr>
              <a:t>功能界面展示</a:t>
            </a:r>
            <a:endParaRPr lang="en-US" altLang="en-US" sz="54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9004300" y="1285253"/>
            <a:ext cx="3048000" cy="17526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0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身份登录：</a:t>
            </a:r>
            <a:endParaRPr lang="en-US" sz="1100" b="1">
              <a:solidFill>
                <a:srgbClr val="1B6C4E"/>
              </a:solidFill>
              <a:latin typeface="Noto Sans SC" panose="020B0200000000000000" charset="-122"/>
              <a:ea typeface="Noto Sans SC" panose="020B0200000000000000" charset="-122"/>
            </a:endParaRPr>
          </a:p>
          <a:p>
            <a:pPr marL="0" indent="0" algn="l">
              <a:lnSpc>
                <a:spcPct val="108000"/>
              </a:lnSpc>
            </a:pPr>
            <a:r>
              <a:rPr lang="en-US" sz="20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支持学生与管理员双角色独立登录，权限配置清晰，保障平台安全与管理效率</a:t>
            </a:r>
            <a:r>
              <a:rPr lang="en-US" sz="2000" b="1" i="0" u="none" strike="noStrike">
                <a:solidFill>
                  <a:srgbClr val="1B6C4E"/>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2000" b="1" i="0" u="none" strike="noStrike">
              <a:solidFill>
                <a:srgbClr val="1B6C4E"/>
              </a:solidFill>
              <a:latin typeface="黑体" panose="02010609060101010101" charset="-122"/>
              <a:ea typeface="黑体" panose="02010609060101010101" charset="-122"/>
              <a:cs typeface="黑体" panose="02010609060101010101" charset="-122"/>
              <a:sym typeface="黑体" panose="02010609060101010101" charset="-122"/>
            </a:endParaRPr>
          </a:p>
        </p:txBody>
      </p:sp>
      <p:sp>
        <p:nvSpPr>
          <p:cNvPr id="4" name="AutoShape 4"/>
          <p:cNvSpPr/>
          <p:nvPr/>
        </p:nvSpPr>
        <p:spPr>
          <a:xfrm>
            <a:off x="0" y="0"/>
            <a:ext cx="8677138" cy="654050"/>
          </a:xfrm>
          <a:prstGeom prst="roundRect">
            <a:avLst>
              <a:gd name="adj" fmla="val 0"/>
            </a:avLst>
          </a:prstGeom>
          <a:solidFill>
            <a:srgbClr val="025C3B">
              <a:alpha val="90000"/>
            </a:srgbClr>
          </a:solidFill>
          <a:ln w="12700" cap="flat" cmpd="sng">
            <a:solidFill>
              <a:srgbClr val="2F528F">
                <a:alpha val="100000"/>
              </a:srgbClr>
            </a:solidFill>
            <a:prstDash val="solid"/>
            <a:miter lim="10000000"/>
          </a:ln>
        </p:spPr>
        <p:txBody>
          <a:bodyPr vert="horz" wrap="square" lIns="63500" tIns="63500" rIns="63500" bIns="63500" rtlCol="0" anchor="ctr" anchorCtr="0">
            <a:noAutofit/>
          </a:bodyPr>
          <a:lstStyle/>
          <a:p>
            <a:pPr algn="ctr">
              <a:defRPr/>
            </a:pPr>
          </a:p>
        </p:txBody>
      </p:sp>
      <p:sp>
        <p:nvSpPr>
          <p:cNvPr id="5" name="AutoShape 5"/>
          <p:cNvSpPr/>
          <p:nvPr/>
        </p:nvSpPr>
        <p:spPr>
          <a:xfrm>
            <a:off x="0" y="120650"/>
            <a:ext cx="28194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登录界面展示</a:t>
            </a:r>
            <a:endParaRPr lang="en-US" sz="1100"/>
          </a:p>
        </p:txBody>
      </p:sp>
      <p:pic>
        <p:nvPicPr>
          <p:cNvPr id="8" name="图片 7"/>
          <p:cNvPicPr/>
          <p:nvPr/>
        </p:nvPicPr>
        <p:blipFill>
          <a:blip r:embed="rId2"/>
          <a:stretch>
            <a:fillRect/>
          </a:stretch>
        </p:blipFill>
        <p:spPr>
          <a:xfrm>
            <a:off x="0" y="654050"/>
            <a:ext cx="8677275" cy="62045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9067800" y="1226457"/>
            <a:ext cx="3124200" cy="14986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100" b="1" i="0" u="none" strike="noStrike">
                <a:solidFill>
                  <a:srgbClr val="1B6C4E"/>
                </a:solidFill>
                <a:latin typeface="Noto Sans SC" panose="020B0200000000000000" charset="-122"/>
                <a:ea typeface="Noto Sans SC" panose="020B0200000000000000" charset="-122"/>
                <a:cs typeface="Noto Sans SC" panose="020B0200000000000000" charset="-122"/>
                <a:sym typeface="黑体" panose="02010609060101010101" charset="-122"/>
              </a:rPr>
              <a:t>实时看板：首页以可视化图表呈现座位使用状态，空闲/占用一目了然，帮助用户快速决策。</a:t>
            </a:r>
            <a:endParaRPr lang="en-US" sz="2100" b="1" i="0" u="none" strike="noStrike">
              <a:solidFill>
                <a:srgbClr val="1B6C4E"/>
              </a:solidFill>
              <a:latin typeface="Noto Sans SC" panose="020B0200000000000000" charset="-122"/>
              <a:ea typeface="Noto Sans SC" panose="020B0200000000000000" charset="-122"/>
              <a:cs typeface="Noto Sans SC" panose="020B0200000000000000" charset="-122"/>
              <a:sym typeface="黑体" panose="02010609060101010101" charset="-122"/>
            </a:endParaRPr>
          </a:p>
        </p:txBody>
      </p:sp>
      <p:sp>
        <p:nvSpPr>
          <p:cNvPr id="4" name="AutoShape 4"/>
          <p:cNvSpPr/>
          <p:nvPr/>
        </p:nvSpPr>
        <p:spPr>
          <a:xfrm>
            <a:off x="0" y="0"/>
            <a:ext cx="8935473" cy="65405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0" y="120650"/>
            <a:ext cx="28194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学生端界面展示</a:t>
            </a:r>
            <a:endParaRPr lang="en-US" sz="1100"/>
          </a:p>
        </p:txBody>
      </p:sp>
      <p:pic>
        <p:nvPicPr>
          <p:cNvPr id="7" name="图片 6"/>
          <p:cNvPicPr/>
          <p:nvPr/>
        </p:nvPicPr>
        <p:blipFill>
          <a:blip r:embed="rId2"/>
          <a:stretch>
            <a:fillRect/>
          </a:stretch>
        </p:blipFill>
        <p:spPr>
          <a:xfrm>
            <a:off x="635" y="654685"/>
            <a:ext cx="8935085" cy="60382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rot="-5400000" flipV="1">
            <a:off x="85926" y="5411711"/>
            <a:ext cx="1143000" cy="1314853"/>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rot="5399999" flipV="1">
            <a:off x="7093352" y="929177"/>
            <a:ext cx="1216721" cy="1049500"/>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0" y="0"/>
            <a:ext cx="4230459" cy="774700"/>
          </a:xfrm>
          <a:prstGeom prst="roundRect">
            <a:avLst>
              <a:gd name="adj" fmla="val 3657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6" name="AutoShape 6"/>
          <p:cNvSpPr/>
          <p:nvPr/>
        </p:nvSpPr>
        <p:spPr>
          <a:xfrm>
            <a:off x="197821" y="120650"/>
            <a:ext cx="3683665"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学生端·座位预约</a:t>
            </a:r>
            <a:endParaRPr lang="en-US" sz="1100"/>
          </a:p>
        </p:txBody>
      </p:sp>
      <p:sp>
        <p:nvSpPr>
          <p:cNvPr id="7" name="AutoShape 7"/>
          <p:cNvSpPr/>
          <p:nvPr/>
        </p:nvSpPr>
        <p:spPr>
          <a:xfrm>
            <a:off x="8458970" y="1266561"/>
            <a:ext cx="3733800" cy="14986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21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智能选座：网格视图直观展示座位布局，支持按时间段精准预约，操作便捷高效</a:t>
            </a:r>
            <a:r>
              <a:rPr lang="en-US" sz="2100" b="1" i="0" u="none" strike="noStrike">
                <a:solidFill>
                  <a:srgbClr val="1B6C4E"/>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solidFill>
                <a:srgbClr val="1B6C4E"/>
              </a:solidFill>
            </a:endParaRPr>
          </a:p>
          <a:p>
            <a:pPr algn="l">
              <a:lnSpc>
                <a:spcPct val="108000"/>
              </a:lnSpc>
            </a:pPr>
            <a:endParaRPr lang="en-US" sz="1100">
              <a:solidFill>
                <a:srgbClr val="1B6C4E"/>
              </a:solidFill>
            </a:endParaRPr>
          </a:p>
        </p:txBody>
      </p:sp>
      <p:pic>
        <p:nvPicPr>
          <p:cNvPr id="9" name="图片 8"/>
          <p:cNvPicPr/>
          <p:nvPr/>
        </p:nvPicPr>
        <p:blipFill>
          <a:blip r:embed="rId2"/>
          <a:stretch>
            <a:fillRect/>
          </a:stretch>
        </p:blipFill>
        <p:spPr>
          <a:xfrm>
            <a:off x="198120" y="1015365"/>
            <a:ext cx="7821930" cy="5386705"/>
          </a:xfrm>
          <a:prstGeom prst="rect">
            <a:avLst/>
          </a:prstGeom>
        </p:spPr>
      </p:pic>
      <p:pic>
        <p:nvPicPr>
          <p:cNvPr id="10" name="图片 9"/>
          <p:cNvPicPr/>
          <p:nvPr/>
        </p:nvPicPr>
        <p:blipFill>
          <a:blip r:embed="rId3"/>
          <a:stretch>
            <a:fillRect/>
          </a:stretch>
        </p:blipFill>
        <p:spPr>
          <a:xfrm>
            <a:off x="464820" y="845820"/>
            <a:ext cx="7686040" cy="52520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369307" y="-66626"/>
            <a:ext cx="2822693" cy="1012121"/>
          </a:xfrm>
          <a:prstGeom prst="rect">
            <a:avLst/>
          </a:prstGeom>
          <a:noFill/>
          <a:ln w="25400" cap="flat" cmpd="sng">
            <a:noFill/>
            <a:prstDash val="solid"/>
            <a:round/>
          </a:ln>
        </p:spPr>
      </p:pic>
      <p:sp>
        <p:nvSpPr>
          <p:cNvPr id="3" name="AutoShape 3"/>
          <p:cNvSpPr/>
          <p:nvPr/>
        </p:nvSpPr>
        <p:spPr>
          <a:xfrm>
            <a:off x="0" y="0"/>
            <a:ext cx="6815044" cy="845567"/>
          </a:xfrm>
          <a:prstGeom prst="roundRect">
            <a:avLst>
              <a:gd name="adj" fmla="val 335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197821" y="120650"/>
            <a:ext cx="6573705"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学生端·我的预约与附近空位推荐</a:t>
            </a:r>
            <a:endParaRPr lang="en-US" sz="1100"/>
          </a:p>
        </p:txBody>
      </p:sp>
      <p:pic>
        <p:nvPicPr>
          <p:cNvPr id="7" name="图片 6"/>
          <p:cNvPicPr/>
          <p:nvPr/>
        </p:nvPicPr>
        <p:blipFill>
          <a:blip r:embed="rId2"/>
          <a:srcRect l="-732" t="326" r="-5315" b="43053"/>
          <a:stretch>
            <a:fillRect/>
          </a:stretch>
        </p:blipFill>
        <p:spPr>
          <a:xfrm>
            <a:off x="0" y="3885565"/>
            <a:ext cx="9552940" cy="2971800"/>
          </a:xfrm>
          <a:prstGeom prst="rect">
            <a:avLst/>
          </a:prstGeom>
        </p:spPr>
      </p:pic>
      <p:pic>
        <p:nvPicPr>
          <p:cNvPr id="8" name="图片 7"/>
          <p:cNvPicPr>
            <a:picLocks noChangeAspect="1"/>
          </p:cNvPicPr>
          <p:nvPr/>
        </p:nvPicPr>
        <p:blipFill>
          <a:blip r:embed="rId3"/>
          <a:stretch>
            <a:fillRect/>
          </a:stretch>
        </p:blipFill>
        <p:spPr>
          <a:xfrm>
            <a:off x="57150" y="868045"/>
            <a:ext cx="9000490" cy="29952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369307" y="-66626"/>
            <a:ext cx="2822693" cy="1012121"/>
          </a:xfrm>
          <a:prstGeom prst="rect">
            <a:avLst/>
          </a:prstGeom>
          <a:noFill/>
          <a:ln w="25400" cap="flat" cmpd="sng">
            <a:noFill/>
            <a:prstDash val="solid"/>
            <a:round/>
          </a:ln>
        </p:spPr>
      </p:pic>
      <p:sp>
        <p:nvSpPr>
          <p:cNvPr id="3" name="AutoShape 3"/>
          <p:cNvSpPr/>
          <p:nvPr/>
        </p:nvSpPr>
        <p:spPr>
          <a:xfrm>
            <a:off x="0" y="66284"/>
            <a:ext cx="5879279" cy="845567"/>
          </a:xfrm>
          <a:prstGeom prst="roundRect">
            <a:avLst>
              <a:gd name="adj" fmla="val 335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197821" y="251451"/>
            <a:ext cx="5143500" cy="660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6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学生端·积分排行榜</a:t>
            </a:r>
            <a:endParaRPr lang="en-US" sz="1100"/>
          </a:p>
        </p:txBody>
      </p:sp>
      <p:pic>
        <p:nvPicPr>
          <p:cNvPr id="6" name="图片 5"/>
          <p:cNvPicPr/>
          <p:nvPr/>
        </p:nvPicPr>
        <p:blipFill>
          <a:blip r:embed="rId2"/>
          <a:stretch>
            <a:fillRect/>
          </a:stretch>
        </p:blipFill>
        <p:spPr>
          <a:xfrm>
            <a:off x="0" y="945515"/>
            <a:ext cx="10219055" cy="59124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689504" y="0"/>
            <a:ext cx="2502496" cy="897309"/>
          </a:xfrm>
          <a:prstGeom prst="rect">
            <a:avLst/>
          </a:prstGeom>
          <a:noFill/>
          <a:ln w="25400" cap="flat" cmpd="sng">
            <a:noFill/>
            <a:prstDash val="solid"/>
            <a:round/>
          </a:ln>
        </p:spPr>
      </p:pic>
      <p:sp>
        <p:nvSpPr>
          <p:cNvPr id="3" name="AutoShape 3"/>
          <p:cNvSpPr/>
          <p:nvPr/>
        </p:nvSpPr>
        <p:spPr>
          <a:xfrm rot="10800000" flipV="1">
            <a:off x="9240695" y="4961758"/>
            <a:ext cx="1130300" cy="1739900"/>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flipV="1">
            <a:off x="0" y="762000"/>
            <a:ext cx="1130300" cy="1504950"/>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10298808" y="897309"/>
            <a:ext cx="1714500" cy="3200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7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构建高效智能的后台管控中枢，集成全局监控、资源调配与开发协作三大核心能力。</a:t>
            </a:r>
            <a:endParaRPr lang="en-US" sz="1100">
              <a:solidFill>
                <a:srgbClr val="1B6C4E"/>
              </a:solidFill>
              <a:latin typeface="Noto Sans SC" panose="020B0200000000000000" charset="-122"/>
              <a:ea typeface="Noto Sans SC" panose="020B0200000000000000" charset="-122"/>
            </a:endParaRPr>
          </a:p>
          <a:p>
            <a:pPr marL="0" indent="0" algn="l">
              <a:lnSpc>
                <a:spcPct val="108000"/>
              </a:lnSpc>
            </a:pPr>
            <a:endParaRPr>
              <a:solidFill>
                <a:srgbClr val="1B6C4E"/>
              </a:solidFill>
              <a:latin typeface="Noto Sans SC" panose="020B0200000000000000" charset="-122"/>
              <a:ea typeface="Noto Sans SC" panose="020B0200000000000000" charset="-122"/>
            </a:endParaRPr>
          </a:p>
          <a:p>
            <a:pPr marL="0" indent="0" algn="l">
              <a:lnSpc>
                <a:spcPct val="108000"/>
              </a:lnSpc>
            </a:pPr>
            <a:r>
              <a:rPr lang="en-US" sz="17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通过可视化界面简化运维流程，助力运营决策与系统稳定运行</a:t>
            </a:r>
            <a:r>
              <a:rPr lang="en-US" sz="1700" b="1" i="0" u="none" strike="noStrike">
                <a:solidFill>
                  <a:srgbClr val="70AD47"/>
                </a:solidFill>
                <a:latin typeface="Noto Sans SC" panose="020B0200000000000000" charset="-122"/>
                <a:ea typeface="Noto Sans SC" panose="020B0200000000000000" charset="-122"/>
                <a:cs typeface="黑体" panose="02010609060101010101" charset="-122"/>
                <a:sym typeface="黑体" panose="02010609060101010101" charset="-122"/>
              </a:rPr>
              <a:t>。</a:t>
            </a:r>
            <a:endParaRPr lang="en-US" sz="1700" b="1" i="0" u="none" strike="noStrike">
              <a:solidFill>
                <a:srgbClr val="70AD47"/>
              </a:solidFill>
              <a:latin typeface="Noto Sans SC" panose="020B0200000000000000" charset="-122"/>
              <a:ea typeface="Noto Sans SC" panose="020B0200000000000000" charset="-122"/>
              <a:cs typeface="黑体" panose="02010609060101010101" charset="-122"/>
              <a:sym typeface="黑体" panose="02010609060101010101" charset="-122"/>
            </a:endParaRPr>
          </a:p>
        </p:txBody>
      </p:sp>
      <p:sp>
        <p:nvSpPr>
          <p:cNvPr id="6" name="AutoShape 6"/>
          <p:cNvSpPr/>
          <p:nvPr/>
        </p:nvSpPr>
        <p:spPr>
          <a:xfrm>
            <a:off x="0" y="0"/>
            <a:ext cx="5604476" cy="7620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7" name="AutoShape 7"/>
          <p:cNvSpPr/>
          <p:nvPr/>
        </p:nvSpPr>
        <p:spPr>
          <a:xfrm>
            <a:off x="140954" y="88900"/>
            <a:ext cx="36068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管理端界面展示</a:t>
            </a:r>
            <a:endParaRPr lang="en-US" sz="1100"/>
          </a:p>
        </p:txBody>
      </p:sp>
      <p:pic>
        <p:nvPicPr>
          <p:cNvPr id="9" name="图片 8"/>
          <p:cNvPicPr/>
          <p:nvPr/>
        </p:nvPicPr>
        <p:blipFill>
          <a:blip r:embed="rId2"/>
          <a:stretch>
            <a:fillRect/>
          </a:stretch>
        </p:blipFill>
        <p:spPr>
          <a:xfrm>
            <a:off x="140970" y="897255"/>
            <a:ext cx="10094595" cy="56756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p:nvPr/>
        </p:nvPicPr>
        <p:blipFill>
          <a:blip r:embed="rId1"/>
          <a:stretch>
            <a:fillRect/>
          </a:stretch>
        </p:blipFill>
        <p:spPr>
          <a:xfrm>
            <a:off x="140970" y="896620"/>
            <a:ext cx="10126345" cy="5671820"/>
          </a:xfrm>
          <a:prstGeom prst="rect">
            <a:avLst/>
          </a:prstGeom>
        </p:spPr>
      </p:pic>
      <p:pic>
        <p:nvPicPr>
          <p:cNvPr id="2" name="Picture 2"/>
          <p:cNvPicPr>
            <a:picLocks noChangeAspect="1"/>
          </p:cNvPicPr>
          <p:nvPr/>
        </p:nvPicPr>
        <p:blipFill>
          <a:blip r:embed="rId2"/>
          <a:srcRect/>
          <a:stretch>
            <a:fillRect/>
          </a:stretch>
        </p:blipFill>
        <p:spPr>
          <a:xfrm>
            <a:off x="9689504" y="0"/>
            <a:ext cx="2502496" cy="897309"/>
          </a:xfrm>
          <a:prstGeom prst="rect">
            <a:avLst/>
          </a:prstGeom>
          <a:noFill/>
          <a:ln w="25400" cap="flat" cmpd="sng">
            <a:noFill/>
            <a:prstDash val="solid"/>
            <a:round/>
          </a:ln>
        </p:spPr>
      </p:pic>
      <p:sp>
        <p:nvSpPr>
          <p:cNvPr id="3" name="AutoShape 3"/>
          <p:cNvSpPr/>
          <p:nvPr/>
        </p:nvSpPr>
        <p:spPr>
          <a:xfrm rot="10800000" flipV="1">
            <a:off x="9351193" y="5013176"/>
            <a:ext cx="1130300" cy="1739900"/>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flipV="1">
            <a:off x="0" y="762000"/>
            <a:ext cx="1130300" cy="1504950"/>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0" y="0"/>
            <a:ext cx="5604476" cy="7620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6" name="AutoShape 6"/>
          <p:cNvSpPr/>
          <p:nvPr/>
        </p:nvSpPr>
        <p:spPr>
          <a:xfrm>
            <a:off x="140954" y="88900"/>
            <a:ext cx="36068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管理端·座位编辑</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60350" y="1126490"/>
            <a:ext cx="10510520" cy="5174615"/>
          </a:xfrm>
          <a:prstGeom prst="rect">
            <a:avLst/>
          </a:prstGeom>
        </p:spPr>
      </p:pic>
      <p:pic>
        <p:nvPicPr>
          <p:cNvPr id="2" name="Picture 2"/>
          <p:cNvPicPr>
            <a:picLocks noChangeAspect="1"/>
          </p:cNvPicPr>
          <p:nvPr/>
        </p:nvPicPr>
        <p:blipFill>
          <a:blip r:embed="rId2"/>
          <a:srcRect/>
          <a:stretch>
            <a:fillRect/>
          </a:stretch>
        </p:blipFill>
        <p:spPr>
          <a:xfrm>
            <a:off x="9689504" y="0"/>
            <a:ext cx="2502496" cy="897309"/>
          </a:xfrm>
          <a:prstGeom prst="rect">
            <a:avLst/>
          </a:prstGeom>
          <a:noFill/>
          <a:ln w="25400" cap="flat" cmpd="sng">
            <a:noFill/>
            <a:prstDash val="solid"/>
            <a:round/>
          </a:ln>
        </p:spPr>
      </p:pic>
      <p:sp>
        <p:nvSpPr>
          <p:cNvPr id="3" name="AutoShape 3"/>
          <p:cNvSpPr/>
          <p:nvPr/>
        </p:nvSpPr>
        <p:spPr>
          <a:xfrm rot="10800000" flipV="1">
            <a:off x="9753639" y="5080123"/>
            <a:ext cx="1359418" cy="1374017"/>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flipV="1">
            <a:off x="0" y="762000"/>
            <a:ext cx="1130300" cy="1504950"/>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0" y="0"/>
            <a:ext cx="5604476" cy="7620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6" name="AutoShape 6"/>
          <p:cNvSpPr/>
          <p:nvPr/>
        </p:nvSpPr>
        <p:spPr>
          <a:xfrm>
            <a:off x="140954" y="88900"/>
            <a:ext cx="4412057"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管理端·实时座位看板</a:t>
            </a:r>
            <a:endParaRPr lang="en-US" sz="1100"/>
          </a:p>
        </p:txBody>
      </p:sp>
      <p:sp>
        <p:nvSpPr>
          <p:cNvPr id="8" name="AutoShape 8"/>
          <p:cNvSpPr/>
          <p:nvPr/>
        </p:nvSpPr>
        <p:spPr>
          <a:xfrm>
            <a:off x="5212773" y="5316220"/>
            <a:ext cx="5068269" cy="901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数据看板：实时监控全局座位状态，自动生成多维度运营报表，为管理决策提供数据支撑。</a:t>
            </a:r>
            <a:endParaRPr lang="en-US" sz="1100">
              <a:solidFill>
                <a:srgbClr val="1B6C4E"/>
              </a:solidFill>
              <a:latin typeface="Noto Sans SC" panose="020B0200000000000000" charset="-122"/>
              <a:ea typeface="Noto Sans SC" panose="020B0200000000000000" charset="-122"/>
            </a:endParaRPr>
          </a:p>
          <a:p>
            <a:pPr algn="l">
              <a:lnSpc>
                <a:spcPct val="108000"/>
              </a:lnSpc>
            </a:pPr>
            <a:endParaRPr lang="en-US" sz="1100">
              <a:solidFill>
                <a:srgbClr val="1B6C4E"/>
              </a:solidFill>
              <a:latin typeface="Noto Sans SC" panose="020B0200000000000000" charset="-122"/>
              <a:ea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p:nvPr/>
        </p:nvPicPr>
        <p:blipFill>
          <a:blip r:embed="rId1"/>
          <a:stretch>
            <a:fillRect/>
          </a:stretch>
        </p:blipFill>
        <p:spPr>
          <a:xfrm>
            <a:off x="0" y="772795"/>
            <a:ext cx="8510270" cy="6012815"/>
          </a:xfrm>
          <a:prstGeom prst="rect">
            <a:avLst/>
          </a:prstGeom>
        </p:spPr>
      </p:pic>
      <p:pic>
        <p:nvPicPr>
          <p:cNvPr id="2" name="Picture 2"/>
          <p:cNvPicPr>
            <a:picLocks noChangeAspect="1"/>
          </p:cNvPicPr>
          <p:nvPr/>
        </p:nvPicPr>
        <p:blipFill>
          <a:blip r:embed="rId2"/>
          <a:srcRect/>
          <a:stretch>
            <a:fillRect/>
          </a:stretch>
        </p:blipFill>
        <p:spPr>
          <a:xfrm>
            <a:off x="9689504" y="0"/>
            <a:ext cx="2502496" cy="897309"/>
          </a:xfrm>
          <a:prstGeom prst="rect">
            <a:avLst/>
          </a:prstGeom>
          <a:noFill/>
          <a:ln w="25400" cap="flat" cmpd="sng">
            <a:noFill/>
            <a:prstDash val="solid"/>
            <a:round/>
          </a:ln>
        </p:spPr>
      </p:pic>
      <p:sp>
        <p:nvSpPr>
          <p:cNvPr id="3" name="AutoShape 3"/>
          <p:cNvSpPr/>
          <p:nvPr/>
        </p:nvSpPr>
        <p:spPr>
          <a:xfrm>
            <a:off x="0" y="0"/>
            <a:ext cx="5604476" cy="7620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140954" y="88900"/>
            <a:ext cx="44196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管理端·数据报表</a:t>
            </a:r>
            <a:endParaRPr lang="en-US" sz="1100"/>
          </a:p>
        </p:txBody>
      </p:sp>
      <p:sp>
        <p:nvSpPr>
          <p:cNvPr id="6" name="AutoShape 6"/>
          <p:cNvSpPr/>
          <p:nvPr/>
        </p:nvSpPr>
        <p:spPr>
          <a:xfrm>
            <a:off x="8863609" y="1027991"/>
            <a:ext cx="3048000" cy="1676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900" b="1" i="0" u="none" strike="noStrike">
                <a:solidFill>
                  <a:srgbClr val="1B6C4E"/>
                </a:solidFill>
                <a:latin typeface="Noto Sans SC" panose="020B0200000000000000" charset="-122"/>
                <a:ea typeface="Noto Sans SC" panose="020B0200000000000000" charset="-122"/>
                <a:cs typeface="黑体" panose="02010609060101010101" charset="-122"/>
                <a:sym typeface="黑体" panose="02010609060101010101" charset="-122"/>
              </a:rPr>
              <a:t>数据看板：实时监控全局座位状态，自动生成多维度运营报表，为管理决策提供数据支撑。</a:t>
            </a:r>
            <a:endParaRPr lang="en-US" sz="1100">
              <a:solidFill>
                <a:srgbClr val="1B6C4E"/>
              </a:solidFill>
              <a:latin typeface="Noto Sans SC" panose="020B0200000000000000" charset="-122"/>
              <a:ea typeface="Noto Sans SC" panose="020B0200000000000000" charset="-122"/>
            </a:endParaRPr>
          </a:p>
          <a:p>
            <a:pPr algn="l">
              <a:lnSpc>
                <a:spcPct val="108000"/>
              </a:lnSpc>
            </a:pPr>
            <a:endParaRPr lang="en-US" sz="1100">
              <a:solidFill>
                <a:srgbClr val="1B6C4E"/>
              </a:solidFill>
              <a:latin typeface="Noto Sans SC" panose="020B0200000000000000" charset="-122"/>
              <a:ea typeface="Noto Sans SC" panose="020B0200000000000000" charset="-122"/>
            </a:endParaRPr>
          </a:p>
        </p:txBody>
      </p:sp>
      <p:sp>
        <p:nvSpPr>
          <p:cNvPr id="7" name="AutoShape 7"/>
          <p:cNvSpPr/>
          <p:nvPr/>
        </p:nvSpPr>
        <p:spPr>
          <a:xfrm>
            <a:off x="4304014" y="1321559"/>
            <a:ext cx="3911017" cy="304800"/>
          </a:xfrm>
          <a:prstGeom prst="rect">
            <a:avLst/>
          </a:prstGeom>
          <a:noFill/>
          <a:ln w="12700">
            <a:noFill/>
            <a:prstDash val="solid"/>
          </a:ln>
        </p:spPr>
        <p:txBody>
          <a:bodyPr wrap="square" lIns="0" tIns="0" rIns="0" bIns="0" rtlCol="0" anchor="t"/>
          <a:lstStyle/>
          <a:p>
            <a:pPr marL="0" indent="0" algn="l">
              <a:lnSpc>
                <a:spcPct val="125000"/>
              </a:lnSpc>
              <a:defRPr/>
            </a:pPr>
            <a:r>
              <a:rPr lang="en-US" sz="1600" b="1" i="0" u="none" strike="noStrike">
                <a:solidFill>
                  <a:srgbClr val="70AD47"/>
                </a:solidFill>
                <a:latin typeface="Noto Sans SC" panose="020B0200000000000000" charset="-122"/>
                <a:ea typeface="Noto Sans SC" panose="020B0200000000000000" charset="-122"/>
                <a:cs typeface="Noto Sans SC" panose="020B0200000000000000" charset="-122"/>
                <a:sym typeface="Noto Sans SC" panose="020B0200000000000000" charset="-122"/>
              </a:rPr>
              <a:t>预约状态分布 / 热门时段 / 利用率排行</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689504" y="0"/>
            <a:ext cx="2502496" cy="897309"/>
          </a:xfrm>
          <a:prstGeom prst="rect">
            <a:avLst/>
          </a:prstGeom>
          <a:noFill/>
          <a:ln w="25400" cap="flat" cmpd="sng">
            <a:noFill/>
            <a:prstDash val="solid"/>
            <a:round/>
          </a:ln>
        </p:spPr>
      </p:pic>
      <p:sp>
        <p:nvSpPr>
          <p:cNvPr id="3" name="AutoShape 3"/>
          <p:cNvSpPr/>
          <p:nvPr/>
        </p:nvSpPr>
        <p:spPr>
          <a:xfrm>
            <a:off x="0" y="0"/>
            <a:ext cx="6095365" cy="826135"/>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140970" y="88900"/>
            <a:ext cx="5804535"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管理端·</a:t>
            </a:r>
            <a:r>
              <a:rPr lang="zh-CN" alt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添加自习</a:t>
            </a:r>
            <a:r>
              <a:rPr lang="zh-CN" alt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空间地图定位</a:t>
            </a:r>
            <a:endParaRPr lang="zh-CN" altLang="en-US" sz="3100" b="1"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endParaRPr>
          </a:p>
        </p:txBody>
      </p:sp>
      <p:sp>
        <p:nvSpPr>
          <p:cNvPr id="6" name="AutoShape 6"/>
          <p:cNvSpPr/>
          <p:nvPr/>
        </p:nvSpPr>
        <p:spPr>
          <a:xfrm flipV="1">
            <a:off x="0" y="826326"/>
            <a:ext cx="1130300" cy="1440624"/>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7" name="AutoShape 7"/>
          <p:cNvSpPr/>
          <p:nvPr/>
        </p:nvSpPr>
        <p:spPr>
          <a:xfrm rot="10800000" flipV="1">
            <a:off x="7977204" y="5483725"/>
            <a:ext cx="1359418" cy="1374017"/>
          </a:xfrm>
          <a:prstGeom prst="corner">
            <a:avLst>
              <a:gd name="adj1" fmla="val 7274"/>
              <a:gd name="adj2" fmla="val 7005"/>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pic>
        <p:nvPicPr>
          <p:cNvPr id="10" name="图片 9" descr="45-接入地图"/>
          <p:cNvPicPr>
            <a:picLocks noChangeAspect="1"/>
          </p:cNvPicPr>
          <p:nvPr/>
        </p:nvPicPr>
        <p:blipFill>
          <a:blip r:embed="rId2"/>
          <a:stretch>
            <a:fillRect/>
          </a:stretch>
        </p:blipFill>
        <p:spPr>
          <a:xfrm>
            <a:off x="140970" y="922020"/>
            <a:ext cx="8954135" cy="5723890"/>
          </a:xfrm>
          <a:prstGeom prst="rect">
            <a:avLst/>
          </a:prstGeom>
        </p:spPr>
      </p:pic>
      <p:sp>
        <p:nvSpPr>
          <p:cNvPr id="11" name="文本框 10"/>
          <p:cNvSpPr txBox="1"/>
          <p:nvPr/>
        </p:nvSpPr>
        <p:spPr>
          <a:xfrm>
            <a:off x="9095105" y="1260475"/>
            <a:ext cx="3096895" cy="1006475"/>
          </a:xfrm>
          <a:prstGeom prst="rect">
            <a:avLst/>
          </a:prstGeom>
          <a:noFill/>
        </p:spPr>
        <p:txBody>
          <a:bodyPr wrap="square" rtlCol="0">
            <a:noAutofit/>
          </a:bodyPr>
          <a:p>
            <a:r>
              <a:rPr lang="zh-CN" altLang="en-US" sz="1800" b="1">
                <a:solidFill>
                  <a:srgbClr val="1B6C4E"/>
                </a:solidFill>
                <a:latin typeface="Noto Sans SC" panose="020B0200000000000000" charset="-122"/>
                <a:ea typeface="Noto Sans SC" panose="020B0200000000000000" charset="-122"/>
                <a:cs typeface="Noto Sans SC" panose="020B0200000000000000" charset="-122"/>
              </a:rPr>
              <a:t>接入地图</a:t>
            </a:r>
            <a:r>
              <a:rPr lang="en-US" altLang="zh-CN" sz="1800" b="1">
                <a:solidFill>
                  <a:srgbClr val="1B6C4E"/>
                </a:solidFill>
                <a:latin typeface="Noto Sans SC" panose="020B0200000000000000" charset="-122"/>
                <a:ea typeface="Noto Sans SC" panose="020B0200000000000000" charset="-122"/>
                <a:cs typeface="Noto Sans SC" panose="020B0200000000000000" charset="-122"/>
              </a:rPr>
              <a:t>API</a:t>
            </a:r>
            <a:r>
              <a:rPr lang="zh-CN" altLang="en-US" sz="1800" b="1">
                <a:solidFill>
                  <a:srgbClr val="1B6C4E"/>
                </a:solidFill>
                <a:latin typeface="Noto Sans SC" panose="020B0200000000000000" charset="-122"/>
                <a:ea typeface="Noto Sans SC" panose="020B0200000000000000" charset="-122"/>
                <a:cs typeface="Noto Sans SC" panose="020B0200000000000000" charset="-122"/>
              </a:rPr>
              <a:t>，添加新空间无需经纬度，直接地图选择</a:t>
            </a:r>
            <a:endParaRPr lang="zh-CN" altLang="en-US" sz="1800" b="1">
              <a:solidFill>
                <a:srgbClr val="1B6C4E"/>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12700" y="1485900"/>
            <a:ext cx="9169400" cy="3873500"/>
          </a:xfrm>
          <a:prstGeom prst="bentArrow">
            <a:avLst>
              <a:gd name="adj1" fmla="val 3080"/>
              <a:gd name="adj2" fmla="val 2785"/>
              <a:gd name="adj3" fmla="val 25000"/>
              <a:gd name="adj4" fmla="val 4375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0" y="5372100"/>
            <a:ext cx="12192000" cy="14859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5" name="AutoShape 5"/>
          <p:cNvSpPr/>
          <p:nvPr/>
        </p:nvSpPr>
        <p:spPr>
          <a:xfrm>
            <a:off x="774700" y="2044700"/>
            <a:ext cx="5816600" cy="3352800"/>
          </a:xfrm>
          <a:prstGeom prst="bentArrow">
            <a:avLst>
              <a:gd name="adj1" fmla="val 3080"/>
              <a:gd name="adj2" fmla="val 3462"/>
              <a:gd name="adj3" fmla="val 25000"/>
              <a:gd name="adj4" fmla="val 41911"/>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6" name="AutoShape 6"/>
          <p:cNvSpPr/>
          <p:nvPr/>
        </p:nvSpPr>
        <p:spPr>
          <a:xfrm>
            <a:off x="1524000" y="2667000"/>
            <a:ext cx="2540000" cy="2679700"/>
          </a:xfrm>
          <a:prstGeom prst="bentArrow">
            <a:avLst>
              <a:gd name="adj1" fmla="val 3080"/>
              <a:gd name="adj2" fmla="val 5147"/>
              <a:gd name="adj3" fmla="val 25000"/>
              <a:gd name="adj4" fmla="val 4375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7" name="AutoShape 7"/>
          <p:cNvSpPr/>
          <p:nvPr>
            <p:custDataLst>
              <p:tags r:id="rId2"/>
            </p:custDataLst>
          </p:nvPr>
        </p:nvSpPr>
        <p:spPr>
          <a:xfrm>
            <a:off x="9385300" y="1333500"/>
            <a:ext cx="23368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定位推荐</a:t>
            </a:r>
            <a:endParaRPr lang="en-US" sz="1100"/>
          </a:p>
        </p:txBody>
      </p:sp>
      <p:sp>
        <p:nvSpPr>
          <p:cNvPr id="8" name="AutoShape 8"/>
          <p:cNvSpPr/>
          <p:nvPr>
            <p:custDataLst>
              <p:tags r:id="rId3"/>
            </p:custDataLst>
          </p:nvPr>
        </p:nvSpPr>
        <p:spPr>
          <a:xfrm>
            <a:off x="6591300" y="2006600"/>
            <a:ext cx="23368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专注番茄钟</a:t>
            </a:r>
            <a:endParaRPr lang="en-US" sz="1100"/>
          </a:p>
        </p:txBody>
      </p:sp>
      <p:sp>
        <p:nvSpPr>
          <p:cNvPr id="9" name="AutoShape 9"/>
          <p:cNvSpPr/>
          <p:nvPr>
            <p:custDataLst>
              <p:tags r:id="rId4"/>
            </p:custDataLst>
          </p:nvPr>
        </p:nvSpPr>
        <p:spPr>
          <a:xfrm>
            <a:off x="4051300" y="2667000"/>
            <a:ext cx="2336800" cy="5207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28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AI选座助手</a:t>
            </a:r>
            <a:endParaRPr lang="en-US" sz="1100"/>
          </a:p>
        </p:txBody>
      </p:sp>
      <p:sp>
        <p:nvSpPr>
          <p:cNvPr id="10" name="AutoShape 10"/>
          <p:cNvSpPr/>
          <p:nvPr>
            <p:custDataLst>
              <p:tags r:id="rId5"/>
            </p:custDataLst>
          </p:nvPr>
        </p:nvSpPr>
        <p:spPr>
          <a:xfrm>
            <a:off x="9639300" y="1816100"/>
            <a:ext cx="2159000" cy="1778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00" b="0" i="0" u="none" strike="noStrike">
                <a:solidFill>
                  <a:srgbClr val="000000"/>
                </a:solidFill>
                <a:latin typeface="Noto Sans SC" panose="020B0200000000000000" charset="-122"/>
                <a:ea typeface="Noto Sans SC" panose="020B0200000000000000" charset="-122"/>
                <a:cs typeface="黑体" panose="02010609060101010101" charset="-122"/>
                <a:sym typeface="黑体" panose="02010609060101010101" charset="-122"/>
              </a:rPr>
              <a:t>基于浏览器定位技术，系统自动检索并推荐距离最近且当前有空位的自习室，省去手动查找的繁琐，让座位查找更高效便捷。</a:t>
            </a:r>
            <a:endParaRPr lang="en-US" sz="1600" b="0" i="0" u="none" strike="noStrike">
              <a:solidFill>
                <a:srgbClr val="000000"/>
              </a:solidFill>
              <a:latin typeface="Noto Sans SC" panose="020B0200000000000000" charset="-122"/>
              <a:ea typeface="Noto Sans SC" panose="020B0200000000000000" charset="-122"/>
              <a:cs typeface="黑体" panose="02010609060101010101" charset="-122"/>
              <a:sym typeface="黑体" panose="02010609060101010101" charset="-122"/>
            </a:endParaRPr>
          </a:p>
        </p:txBody>
      </p:sp>
      <p:sp>
        <p:nvSpPr>
          <p:cNvPr id="11" name="AutoShape 11"/>
          <p:cNvSpPr/>
          <p:nvPr>
            <p:custDataLst>
              <p:tags r:id="rId6"/>
            </p:custDataLst>
          </p:nvPr>
        </p:nvSpPr>
        <p:spPr>
          <a:xfrm>
            <a:off x="6858000" y="2590800"/>
            <a:ext cx="2159000" cy="1778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00" b="0" i="0" u="none" strike="noStrike">
                <a:solidFill>
                  <a:srgbClr val="000000"/>
                </a:solidFill>
                <a:latin typeface="Noto Sans SC" panose="020B0200000000000000" charset="-122"/>
                <a:ea typeface="Noto Sans SC" panose="020B0200000000000000" charset="-122"/>
                <a:cs typeface="黑体" panose="02010609060101010101" charset="-122"/>
                <a:sym typeface="黑体" panose="02010609060101010101" charset="-122"/>
              </a:rPr>
              <a:t>内置经典番茄工作法计时器，帮助学生建立规律的学习节奏，在自习时保持高度专注，同时清晰量化学习时长与专注成果</a:t>
            </a:r>
            <a:r>
              <a:rPr lang="en-US" sz="1500" b="0"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100"/>
          </a:p>
        </p:txBody>
      </p:sp>
      <p:sp>
        <p:nvSpPr>
          <p:cNvPr id="12" name="AutoShape 12"/>
          <p:cNvSpPr/>
          <p:nvPr>
            <p:custDataLst>
              <p:tags r:id="rId7"/>
            </p:custDataLst>
          </p:nvPr>
        </p:nvSpPr>
        <p:spPr>
          <a:xfrm>
            <a:off x="4229100" y="3289300"/>
            <a:ext cx="2159000" cy="1778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600" b="0" i="0" u="none" strike="noStrike">
                <a:solidFill>
                  <a:srgbClr val="000000"/>
                </a:solidFill>
                <a:latin typeface="Noto Sans SC" panose="020B0200000000000000" charset="-122"/>
                <a:ea typeface="Noto Sans SC" panose="020B0200000000000000" charset="-122"/>
                <a:cs typeface="Noto Sans SC" panose="020B0200000000000000" charset="-122"/>
                <a:sym typeface="黑体" panose="02010609060101010101" charset="-122"/>
              </a:rPr>
              <a:t>集成智能AI选座助手，支持自然语言描述需求，精准匹配靠窗、安静等个性化偏好，提供可解释的智能座位推荐方案</a:t>
            </a:r>
            <a:r>
              <a:rPr lang="en-US" sz="1600" b="0"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a:t>
            </a:r>
            <a:endParaRPr lang="en-US" sz="1600"/>
          </a:p>
        </p:txBody>
      </p:sp>
      <p:sp>
        <p:nvSpPr>
          <p:cNvPr id="13" name="AutoShape 3"/>
          <p:cNvSpPr/>
          <p:nvPr/>
        </p:nvSpPr>
        <p:spPr>
          <a:xfrm>
            <a:off x="0" y="0"/>
            <a:ext cx="2545715" cy="833755"/>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14" name="文本框 13"/>
          <p:cNvSpPr txBox="1"/>
          <p:nvPr/>
        </p:nvSpPr>
        <p:spPr>
          <a:xfrm>
            <a:off x="152400" y="134620"/>
            <a:ext cx="4064000" cy="521970"/>
          </a:xfrm>
          <a:prstGeom prst="rect">
            <a:avLst/>
          </a:prstGeom>
          <a:noFill/>
        </p:spPr>
        <p:txBody>
          <a:bodyPr wrap="square" rtlCol="0">
            <a:spAutoFit/>
          </a:bodyPr>
          <a:p>
            <a:r>
              <a:rPr lang="zh-CN" altLang="en-US" sz="2800">
                <a:solidFill>
                  <a:schemeClr val="bg1"/>
                </a:solidFill>
                <a:latin typeface="Noto Sans SC" panose="020B0200000000000000" charset="-122"/>
                <a:ea typeface="Noto Sans SC" panose="020B0200000000000000" charset="-122"/>
              </a:rPr>
              <a:t>亮点</a:t>
            </a:r>
            <a:r>
              <a:rPr lang="zh-CN" altLang="en-US" sz="2800">
                <a:solidFill>
                  <a:schemeClr val="bg1"/>
                </a:solidFill>
                <a:latin typeface="Noto Sans SC" panose="020B0200000000000000" charset="-122"/>
                <a:ea typeface="Noto Sans SC" panose="020B0200000000000000" charset="-122"/>
              </a:rPr>
              <a:t>集合</a:t>
            </a:r>
            <a:endParaRPr lang="zh-CN" altLang="en-US" sz="2800">
              <a:solidFill>
                <a:schemeClr val="bg1"/>
              </a:solidFill>
              <a:latin typeface="Noto Sans SC" panose="020B0200000000000000" charset="-122"/>
              <a:ea typeface="Noto Sans SC" panose="020B0200000000000000" charset="-122"/>
            </a:endParaRPr>
          </a:p>
        </p:txBody>
      </p:sp>
      <p:pic>
        <p:nvPicPr>
          <p:cNvPr id="15" name="图片 14"/>
          <p:cNvPicPr>
            <a:picLocks noChangeAspect="1"/>
          </p:cNvPicPr>
          <p:nvPr/>
        </p:nvPicPr>
        <p:blipFill>
          <a:blip r:embed="rId8"/>
          <a:stretch>
            <a:fillRect/>
          </a:stretch>
        </p:blipFill>
        <p:spPr>
          <a:xfrm>
            <a:off x="6314440" y="4231640"/>
            <a:ext cx="3070860" cy="2626360"/>
          </a:xfrm>
          <a:prstGeom prst="rect">
            <a:avLst/>
          </a:prstGeom>
        </p:spPr>
      </p:pic>
      <p:pic>
        <p:nvPicPr>
          <p:cNvPr id="16" name="图片 15"/>
          <p:cNvPicPr>
            <a:picLocks noChangeAspect="1"/>
          </p:cNvPicPr>
          <p:nvPr/>
        </p:nvPicPr>
        <p:blipFill>
          <a:blip r:embed="rId9"/>
          <a:stretch>
            <a:fillRect/>
          </a:stretch>
        </p:blipFill>
        <p:spPr>
          <a:xfrm>
            <a:off x="2038350" y="3187700"/>
            <a:ext cx="2178050" cy="2936240"/>
          </a:xfrm>
          <a:prstGeom prst="rect">
            <a:avLst/>
          </a:prstGeom>
        </p:spPr>
      </p:pic>
      <p:pic>
        <p:nvPicPr>
          <p:cNvPr id="17" name="图片 16"/>
          <p:cNvPicPr>
            <a:picLocks noChangeAspect="1"/>
          </p:cNvPicPr>
          <p:nvPr/>
        </p:nvPicPr>
        <p:blipFill>
          <a:blip r:embed="rId10"/>
          <a:stretch>
            <a:fillRect/>
          </a:stretch>
        </p:blipFill>
        <p:spPr>
          <a:xfrm>
            <a:off x="6521450" y="4267200"/>
            <a:ext cx="5670550" cy="25901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0"/>
            <a:ext cx="4711700" cy="68580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977900" y="317500"/>
            <a:ext cx="4165600" cy="6121400"/>
          </a:xfrm>
          <a:prstGeom prst="rect">
            <a:avLst/>
          </a:prstGeom>
          <a:noFill/>
          <a:ln w="25400" cap="flat" cmpd="sng">
            <a:noFill/>
            <a:prstDash val="solid"/>
            <a:round/>
          </a:ln>
        </p:spPr>
      </p:pic>
      <p:sp>
        <p:nvSpPr>
          <p:cNvPr id="5" name="AutoShape 5"/>
          <p:cNvSpPr/>
          <p:nvPr/>
        </p:nvSpPr>
        <p:spPr>
          <a:xfrm>
            <a:off x="5292725" y="1873250"/>
            <a:ext cx="1946275" cy="1907540"/>
          </a:xfrm>
          <a:prstGeom prst="ellipse">
            <a:avLst/>
          </a:prstGeom>
          <a:solidFill>
            <a:srgbClr val="025C3B">
              <a:alpha val="90000"/>
            </a:srgbClr>
          </a:solidFill>
          <a:ln w="25400" cap="flat" cmpd="sng">
            <a:solidFill>
              <a:srgbClr val="025C3B">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Arial" panose="020B0604020202020204"/>
                <a:ea typeface="Arial" panose="020B0604020202020204"/>
                <a:cs typeface="Arial" panose="020B0604020202020204"/>
                <a:sym typeface="Arial" panose="020B0604020202020204"/>
              </a:rPr>
              <a:t>PART 04</a:t>
            </a:r>
            <a:endParaRPr lang="en-US" sz="2800"/>
          </a:p>
        </p:txBody>
      </p:sp>
      <p:sp>
        <p:nvSpPr>
          <p:cNvPr id="6" name="AutoShape 6"/>
          <p:cNvSpPr/>
          <p:nvPr/>
        </p:nvSpPr>
        <p:spPr>
          <a:xfrm>
            <a:off x="7421024" y="2542680"/>
            <a:ext cx="4327989" cy="774700"/>
          </a:xfrm>
          <a:prstGeom prst="rect">
            <a:avLst/>
          </a:prstGeom>
          <a:noFill/>
          <a:ln w="12700" cap="flat" cmpd="sng">
            <a:noFill/>
            <a:prstDash val="solid"/>
            <a:round/>
          </a:ln>
        </p:spPr>
        <p:txBody>
          <a:bodyPr vert="horz" wrap="square" lIns="127000" tIns="50800" rIns="127000" bIns="50800" rtlCol="0" anchor="ctr" anchorCtr="0"/>
          <a:lstStyle/>
          <a:p>
            <a:pPr marL="0" indent="0" algn="l">
              <a:lnSpc>
                <a:spcPct val="100000"/>
              </a:lnSpc>
              <a:defRPr/>
            </a:pPr>
            <a:r>
              <a:rPr lang="en-US" sz="4400" b="1" i="0" u="none" strike="noStrike">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rPr>
              <a:t>测试与验证结果</a:t>
            </a:r>
            <a:endParaRPr lang="en-US" sz="1100"/>
          </a:p>
        </p:txBody>
      </p:sp>
      <p:sp>
        <p:nvSpPr>
          <p:cNvPr id="7" name="AutoShape 7"/>
          <p:cNvSpPr/>
          <p:nvPr/>
        </p:nvSpPr>
        <p:spPr>
          <a:xfrm>
            <a:off x="5461000" y="5461000"/>
            <a:ext cx="6096000" cy="76200"/>
          </a:xfrm>
          <a:prstGeom prst="roundRect">
            <a:avLst>
              <a:gd name="adj" fmla="val 0"/>
            </a:avLst>
          </a:prstGeom>
          <a:solidFill>
            <a:srgbClr val="025C3B">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5461000" y="5778500"/>
            <a:ext cx="6096000" cy="76200"/>
          </a:xfrm>
          <a:prstGeom prst="roundRect">
            <a:avLst>
              <a:gd name="adj" fmla="val 0"/>
            </a:avLst>
          </a:prstGeom>
          <a:solidFill>
            <a:srgbClr val="025C3B">
              <a:alpha val="60000"/>
            </a:srgbClr>
          </a:solidFill>
          <a:ln w="25400" cap="flat" cmpd="sng">
            <a:noFill/>
            <a:prstDash val="solid"/>
            <a:round/>
          </a:ln>
        </p:spPr>
        <p:txBody>
          <a:bodyPr vert="horz" wrap="square" lIns="0" tIns="0" rIns="0" bIns="0" rtlCol="0" anchor="ctr" anchorCtr="0"/>
          <a:lstStyle/>
          <a:p>
            <a:pPr algn="ctr">
              <a:defRPr/>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12700" y="-76200"/>
            <a:ext cx="12192000" cy="12065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a:off x="331036" y="139700"/>
            <a:ext cx="4980667" cy="774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4400" b="0" i="0" u="none" strike="noStrike">
                <a:solidFill>
                  <a:srgbClr val="FFFFFF"/>
                </a:solidFill>
                <a:latin typeface="华文行楷" panose="02010800040101010101" charset="-122"/>
                <a:ea typeface="华文行楷" panose="02010800040101010101" charset="-122"/>
                <a:cs typeface="华文行楷" panose="02010800040101010101" charset="-122"/>
                <a:sym typeface="华文行楷" panose="02010800040101010101" charset="-122"/>
              </a:rPr>
              <a:t>自动化测试结果</a:t>
            </a:r>
            <a:endParaRPr lang="en-US" sz="1100"/>
          </a:p>
        </p:txBody>
      </p:sp>
      <p:sp>
        <p:nvSpPr>
          <p:cNvPr id="5" name="AutoShape 5"/>
          <p:cNvSpPr/>
          <p:nvPr/>
        </p:nvSpPr>
        <p:spPr>
          <a:xfrm>
            <a:off x="926264" y="1602008"/>
            <a:ext cx="2730500" cy="5588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30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冒烟测试 (13项)</a:t>
            </a:r>
            <a:endParaRPr lang="en-US" sz="1100"/>
          </a:p>
        </p:txBody>
      </p:sp>
      <p:sp>
        <p:nvSpPr>
          <p:cNvPr id="6" name="AutoShape 6"/>
          <p:cNvSpPr/>
          <p:nvPr/>
        </p:nvSpPr>
        <p:spPr>
          <a:xfrm>
            <a:off x="926264" y="3363247"/>
            <a:ext cx="2463800" cy="5588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30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并发抢座测试</a:t>
            </a:r>
            <a:endParaRPr lang="en-US" sz="1100"/>
          </a:p>
        </p:txBody>
      </p:sp>
      <p:sp>
        <p:nvSpPr>
          <p:cNvPr id="7" name="AutoShape 7"/>
          <p:cNvSpPr/>
          <p:nvPr/>
        </p:nvSpPr>
        <p:spPr>
          <a:xfrm>
            <a:off x="488114" y="5275678"/>
            <a:ext cx="3606800" cy="5588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l">
              <a:lnSpc>
                <a:spcPct val="100000"/>
              </a:lnSpc>
              <a:defRPr/>
            </a:pPr>
            <a:r>
              <a:rPr lang="en-US" sz="3000" b="1"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实时推送与超时释放</a:t>
            </a:r>
            <a:endParaRPr lang="en-US" sz="1100"/>
          </a:p>
        </p:txBody>
      </p:sp>
      <p:sp>
        <p:nvSpPr>
          <p:cNvPr id="8" name="AutoShape 8"/>
          <p:cNvSpPr/>
          <p:nvPr/>
        </p:nvSpPr>
        <p:spPr>
          <a:xfrm>
            <a:off x="4279374" y="1506999"/>
            <a:ext cx="6388100" cy="1066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1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覆盖登录、看板、预约等核心业务流程，共计13项测试用例全部通过，</a:t>
            </a:r>
            <a:r>
              <a:rPr lang="en-US" sz="2100" b="1" i="0" u="none" strike="noStrike">
                <a:solidFill>
                  <a:srgbClr val="70AD47"/>
                </a:solidFill>
                <a:latin typeface="黑体" panose="02010609060101010101" charset="-122"/>
                <a:ea typeface="黑体" panose="02010609060101010101" charset="-122"/>
                <a:cs typeface="黑体" panose="02010609060101010101" charset="-122"/>
                <a:sym typeface="黑体" panose="02010609060101010101" charset="-122"/>
              </a:rPr>
              <a:t>通过率100%</a:t>
            </a:r>
            <a:r>
              <a:rPr lang="en-US" sz="21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，充分验证了系统基础功能的完整性与运行稳定性。</a:t>
            </a:r>
            <a:endParaRPr lang="en-US" sz="1100"/>
          </a:p>
        </p:txBody>
      </p:sp>
      <p:sp>
        <p:nvSpPr>
          <p:cNvPr id="9" name="AutoShape 9"/>
          <p:cNvSpPr/>
          <p:nvPr/>
        </p:nvSpPr>
        <p:spPr>
          <a:xfrm>
            <a:off x="4279374" y="3115597"/>
            <a:ext cx="6083300" cy="1066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1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模拟8个用户端同时发起对同一座位的抢占请求，仅1个请求成功锁定，</a:t>
            </a:r>
            <a:r>
              <a:rPr lang="en-US" sz="2100" b="1" i="0" u="none" strike="noStrike">
                <a:solidFill>
                  <a:srgbClr val="70AD47"/>
                </a:solidFill>
                <a:latin typeface="黑体" panose="02010609060101010101" charset="-122"/>
                <a:ea typeface="黑体" panose="02010609060101010101" charset="-122"/>
                <a:cs typeface="黑体" panose="02010609060101010101" charset="-122"/>
                <a:sym typeface="黑体" panose="02010609060101010101" charset="-122"/>
              </a:rPr>
              <a:t>其余7个被系统正确拦截</a:t>
            </a:r>
            <a:r>
              <a:rPr lang="en-US" sz="21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，高并发场景下数据一致性无异常。</a:t>
            </a:r>
            <a:endParaRPr lang="en-US" sz="1100"/>
          </a:p>
        </p:txBody>
      </p:sp>
      <p:sp>
        <p:nvSpPr>
          <p:cNvPr id="10" name="AutoShape 10"/>
          <p:cNvSpPr/>
          <p:nvPr/>
        </p:nvSpPr>
        <p:spPr>
          <a:xfrm>
            <a:off x="4279374" y="5047078"/>
            <a:ext cx="6210300" cy="1066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100" b="1" i="0" u="none" strike="noStrike">
                <a:solidFill>
                  <a:srgbClr val="000000"/>
                </a:solidFill>
                <a:latin typeface="黑体" panose="02010609060101010101" charset="-122"/>
                <a:ea typeface="黑体" panose="02010609060101010101" charset="-122"/>
                <a:cs typeface="黑体" panose="02010609060101010101" charset="-122"/>
                <a:sym typeface="黑体" panose="02010609060101010101" charset="-122"/>
              </a:rPr>
              <a:t>SSE实时状态推送功能稳定，座位预约超时后自动释放逻辑正常，黑名单拦截机制触发无误，保障资源调度的实时性与准确性。</a:t>
            </a:r>
            <a:endParaRPr lang="en-US" sz="1100"/>
          </a:p>
        </p:txBody>
      </p:sp>
      <p:pic>
        <p:nvPicPr>
          <p:cNvPr id="11" name="Picture 11"/>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0"/>
            <a:ext cx="4711700" cy="68580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977900" y="317500"/>
            <a:ext cx="4165600" cy="6121400"/>
          </a:xfrm>
          <a:prstGeom prst="rect">
            <a:avLst/>
          </a:prstGeom>
          <a:noFill/>
          <a:ln w="25400" cap="flat" cmpd="sng">
            <a:noFill/>
            <a:prstDash val="solid"/>
            <a:round/>
          </a:ln>
        </p:spPr>
      </p:pic>
      <p:sp>
        <p:nvSpPr>
          <p:cNvPr id="5" name="AutoShape 5"/>
          <p:cNvSpPr/>
          <p:nvPr/>
        </p:nvSpPr>
        <p:spPr>
          <a:xfrm>
            <a:off x="5143500" y="2197100"/>
            <a:ext cx="2336800" cy="2362200"/>
          </a:xfrm>
          <a:prstGeom prst="ellipse">
            <a:avLst/>
          </a:prstGeom>
          <a:solidFill>
            <a:srgbClr val="025C3B">
              <a:alpha val="80000"/>
            </a:srgbClr>
          </a:solidFill>
          <a:ln w="12700" cap="flat" cmpd="sng">
            <a:solidFill>
              <a:srgbClr val="025C3B">
                <a:alpha val="100000"/>
              </a:srgbClr>
            </a:solidFill>
            <a:prstDash val="solid"/>
            <a:miter lim="10000000"/>
          </a:ln>
        </p:spPr>
        <p:txBody>
          <a:bodyPr vert="horz" wrap="square" lIns="88900" tIns="50800" rIns="88900" bIns="50800" rtlCol="0" anchor="ctr" anchorCtr="0"/>
          <a:lstStyle/>
          <a:p>
            <a:pPr marL="0" indent="0" algn="ctr">
              <a:lnSpc>
                <a:spcPct val="100000"/>
              </a:lnSpc>
              <a:defRPr/>
            </a:pPr>
            <a:r>
              <a:rPr lang="en-US" sz="3200" b="1" i="0" u="none" strike="noStrike">
                <a:solidFill>
                  <a:srgbClr val="FFFFFF"/>
                </a:solidFill>
                <a:latin typeface="Arial" panose="020B0604020202020204"/>
                <a:ea typeface="Arial" panose="020B0604020202020204"/>
                <a:cs typeface="Arial" panose="020B0604020202020204"/>
                <a:sym typeface="Arial" panose="020B0604020202020204"/>
              </a:rPr>
              <a:t>PART 05</a:t>
            </a:r>
            <a:endParaRPr lang="en-US" sz="1100"/>
          </a:p>
        </p:txBody>
      </p:sp>
      <p:sp>
        <p:nvSpPr>
          <p:cNvPr id="6" name="AutoShape 6"/>
          <p:cNvSpPr/>
          <p:nvPr/>
        </p:nvSpPr>
        <p:spPr>
          <a:xfrm>
            <a:off x="7820660" y="317500"/>
            <a:ext cx="1016000" cy="5164455"/>
          </a:xfrm>
          <a:prstGeom prst="rect">
            <a:avLst/>
          </a:prstGeom>
          <a:noFill/>
          <a:ln w="12700" cap="flat" cmpd="sng">
            <a:noFill/>
            <a:prstDash val="solid"/>
            <a:round/>
          </a:ln>
        </p:spPr>
        <p:txBody>
          <a:bodyPr vert="eaVert" wrap="square" lIns="88900" tIns="50800" rIns="88900" bIns="50800" rtlCol="0" anchor="t" anchorCtr="0"/>
          <a:lstStyle/>
          <a:p>
            <a:pPr marL="0" indent="0" algn="l">
              <a:lnSpc>
                <a:spcPct val="100000"/>
              </a:lnSpc>
              <a:defRPr/>
            </a:pPr>
            <a:endParaRPr lang="en-US" sz="1100"/>
          </a:p>
        </p:txBody>
      </p:sp>
      <p:sp>
        <p:nvSpPr>
          <p:cNvPr id="8" name="AutoShape 8"/>
          <p:cNvSpPr/>
          <p:nvPr/>
        </p:nvSpPr>
        <p:spPr>
          <a:xfrm>
            <a:off x="5143500" y="54610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9" name="AutoShape 9"/>
          <p:cNvSpPr/>
          <p:nvPr/>
        </p:nvSpPr>
        <p:spPr>
          <a:xfrm>
            <a:off x="5143500" y="6045200"/>
            <a:ext cx="7048500" cy="203200"/>
          </a:xfrm>
          <a:prstGeom prst="roundRect">
            <a:avLst>
              <a:gd name="adj" fmla="val 0"/>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10" name="文本框 9"/>
          <p:cNvSpPr txBox="1"/>
          <p:nvPr/>
        </p:nvSpPr>
        <p:spPr>
          <a:xfrm>
            <a:off x="7321550" y="3042920"/>
            <a:ext cx="5837555" cy="720090"/>
          </a:xfrm>
          <a:prstGeom prst="rect">
            <a:avLst/>
          </a:prstGeom>
          <a:noFill/>
        </p:spPr>
        <p:txBody>
          <a:bodyPr wrap="square" rtlCol="0" anchor="t">
            <a:noAutofit/>
          </a:bodyPr>
          <a:p>
            <a:pPr marL="0" indent="0" algn="l">
              <a:lnSpc>
                <a:spcPct val="100000"/>
              </a:lnSpc>
              <a:defRPr/>
            </a:pPr>
            <a:r>
              <a:rPr lang="zh-CN" altLang="en-US" sz="54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rPr>
              <a:t>项目总结</a:t>
            </a:r>
            <a:endParaRPr lang="zh-CN" altLang="en-US" sz="5400" b="1">
              <a:solidFill>
                <a:srgbClr val="025C3B"/>
              </a:solidFill>
              <a:latin typeface="华文新魏" panose="02010800040101010101" charset="-122"/>
              <a:ea typeface="华文新魏" panose="02010800040101010101" charset="-122"/>
              <a:cs typeface="华文新魏" panose="02010800040101010101" charset="-122"/>
              <a:sym typeface="华文新魏" panose="0201080004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custDataLst>
              <p:tags r:id="rId2"/>
            </p:custDataLst>
          </p:nvPr>
        </p:nvSpPr>
        <p:spPr>
          <a:xfrm>
            <a:off x="0" y="5901055"/>
            <a:ext cx="12192000" cy="956945"/>
          </a:xfrm>
          <a:prstGeom prst="roundRect">
            <a:avLst>
              <a:gd name="adj" fmla="val 842"/>
            </a:avLst>
          </a:prstGeom>
          <a:solidFill>
            <a:srgbClr val="025C3B">
              <a:alpha val="80000"/>
            </a:srgbClr>
          </a:solidFill>
          <a:ln w="12700" cap="flat" cmpd="sng">
            <a:solidFill>
              <a:srgbClr val="2F528F">
                <a:alpha val="100000"/>
              </a:srgbClr>
            </a:solidFill>
            <a:prstDash val="solid"/>
            <a:miter lim="10000000"/>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1177290" y="508000"/>
            <a:ext cx="4003040" cy="635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00000"/>
              </a:lnSpc>
              <a:defRPr/>
            </a:pPr>
            <a:r>
              <a:rPr lang="en-US" sz="3600" b="1" i="0" u="none" strike="noStrike">
                <a:solidFill>
                  <a:srgbClr val="357D62"/>
                </a:solidFill>
                <a:latin typeface="华文行楷" panose="02010800040101010101" charset="-122"/>
                <a:ea typeface="华文行楷" panose="02010800040101010101" charset="-122"/>
                <a:cs typeface="华文行楷" panose="02010800040101010101" charset="-122"/>
                <a:sym typeface="华文行楷" panose="02010800040101010101" charset="-122"/>
              </a:rPr>
              <a:t>         项目成果总结</a:t>
            </a:r>
            <a:endParaRPr lang="en-US" sz="3600" b="1" i="0" u="none" strike="noStrike">
              <a:solidFill>
                <a:srgbClr val="357D62"/>
              </a:solidFill>
              <a:latin typeface="华文行楷" panose="02010800040101010101" charset="-122"/>
              <a:ea typeface="华文行楷" panose="02010800040101010101" charset="-122"/>
              <a:cs typeface="华文行楷" panose="02010800040101010101" charset="-122"/>
              <a:sym typeface="华文行楷" panose="02010800040101010101" charset="-122"/>
            </a:endParaRPr>
          </a:p>
        </p:txBody>
      </p:sp>
      <p:sp>
        <p:nvSpPr>
          <p:cNvPr id="7" name="AutoShape 7"/>
          <p:cNvSpPr/>
          <p:nvPr>
            <p:custDataLst>
              <p:tags r:id="rId4"/>
            </p:custDataLst>
          </p:nvPr>
        </p:nvSpPr>
        <p:spPr>
          <a:xfrm>
            <a:off x="303530" y="1446530"/>
            <a:ext cx="8911590" cy="4193540"/>
          </a:xfrm>
          <a:prstGeom prst="rect">
            <a:avLst/>
          </a:prstGeom>
          <a:noFill/>
          <a:ln w="12700" cap="flat" cmpd="sng">
            <a:noFill/>
            <a:prstDash val="solid"/>
            <a:round/>
          </a:ln>
        </p:spPr>
        <p:txBody>
          <a:bodyPr vert="horz" wrap="square" lIns="101600" tIns="101600" rIns="101600" bIns="101600" rtlCol="0" anchor="t" anchorCtr="0"/>
          <a:lstStyle/>
          <a:p>
            <a:pPr marL="0" indent="0" algn="l">
              <a:lnSpc>
                <a:spcPct val="117000"/>
              </a:lnSpc>
              <a:defRPr/>
            </a:pPr>
            <a:r>
              <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技术突破：</a:t>
            </a:r>
            <a:r>
              <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实现“时间片+数据库唯一索引”并发控制，结合SSE机制达成状态实时同步，筑牢系统性能底座。</a:t>
            </a:r>
            <a:endPar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defRPr/>
            </a:pPr>
            <a:endParaRPr lang="en-US" sz="2400">
              <a:solidFill>
                <a:schemeClr val="tx1"/>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pPr>
            <a:r>
              <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功能闭环：</a:t>
            </a:r>
            <a:r>
              <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完成全流程MVP功能开发，覆盖自习室预约、时段管理、状态监控等核心场景，满足基础运营需求。</a:t>
            </a:r>
            <a:endPar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endPar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2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工程落地：</a:t>
            </a:r>
            <a:r>
              <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基于Docker Compose实现环境一键编排部署，降低演示与生产环境的搭建成本与复杂度。</a:t>
            </a:r>
            <a:endParaRPr lang="en-US" sz="24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7E6E6">
            <a:alpha val="5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3" name="AutoShape 3"/>
          <p:cNvSpPr/>
          <p:nvPr/>
        </p:nvSpPr>
        <p:spPr>
          <a:xfrm>
            <a:off x="0" y="-12700"/>
            <a:ext cx="12192000" cy="1193800"/>
          </a:xfrm>
          <a:prstGeom prst="roundRect">
            <a:avLst>
              <a:gd name="adj" fmla="val 0"/>
            </a:avLst>
          </a:prstGeom>
          <a:solidFill>
            <a:srgbClr val="025C3B">
              <a:alpha val="80000"/>
            </a:srgbClr>
          </a:solidFill>
          <a:ln w="12700" cap="flat" cmpd="sng">
            <a:solidFill>
              <a:srgbClr val="025C3B">
                <a:alpha val="100000"/>
              </a:srgbClr>
            </a:solidFill>
            <a:prstDash val="solid"/>
            <a:miter lim="10000000"/>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2"/>
          <a:srcRect/>
          <a:stretch>
            <a:fillRect/>
          </a:stretch>
        </p:blipFill>
        <p:spPr>
          <a:xfrm>
            <a:off x="-12700" y="0"/>
            <a:ext cx="4572000" cy="6858000"/>
          </a:xfrm>
          <a:prstGeom prst="rect">
            <a:avLst/>
          </a:prstGeom>
          <a:noFill/>
          <a:ln w="25400" cap="flat" cmpd="sng">
            <a:noFill/>
            <a:prstDash val="solid"/>
            <a:round/>
          </a:ln>
        </p:spPr>
      </p:pic>
      <p:sp>
        <p:nvSpPr>
          <p:cNvPr id="5" name="AutoShape 5"/>
          <p:cNvSpPr/>
          <p:nvPr/>
        </p:nvSpPr>
        <p:spPr>
          <a:xfrm>
            <a:off x="-12700" y="6210300"/>
            <a:ext cx="12192000" cy="1651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292100" y="38100"/>
            <a:ext cx="139700" cy="6819900"/>
          </a:xfrm>
          <a:prstGeom prst="roundRect">
            <a:avLst>
              <a:gd name="adj" fmla="val 0"/>
            </a:avLst>
          </a:prstGeom>
          <a:solidFill>
            <a:srgbClr val="025C3B">
              <a:alpha val="8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srcRect/>
          <a:stretch>
            <a:fillRect/>
          </a:stretch>
        </p:blipFill>
        <p:spPr>
          <a:xfrm>
            <a:off x="9004300" y="0"/>
            <a:ext cx="3187700" cy="1143000"/>
          </a:xfrm>
          <a:prstGeom prst="rect">
            <a:avLst/>
          </a:prstGeom>
          <a:noFill/>
          <a:ln w="25400" cap="flat" cmpd="sng">
            <a:noFill/>
            <a:prstDash val="solid"/>
            <a:round/>
          </a:ln>
        </p:spPr>
      </p:pic>
      <p:sp>
        <p:nvSpPr>
          <p:cNvPr id="8" name="AutoShape 8"/>
          <p:cNvSpPr/>
          <p:nvPr/>
        </p:nvSpPr>
        <p:spPr>
          <a:xfrm>
            <a:off x="5473700" y="2032000"/>
            <a:ext cx="6261100" cy="186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500" b="0" i="0" u="none" strike="noStrike">
                <a:solidFill>
                  <a:srgbClr val="025C3B"/>
                </a:solidFill>
                <a:latin typeface="华文行楷" panose="02010800040101010101" charset="-122"/>
                <a:ea typeface="华文行楷" panose="02010800040101010101" charset="-122"/>
                <a:cs typeface="华文行楷" panose="02010800040101010101" charset="-122"/>
                <a:sym typeface="华文行楷" panose="02010800040101010101" charset="-122"/>
              </a:rPr>
              <a:t>谢谢大家</a:t>
            </a:r>
            <a:endParaRPr lang="en-US" sz="1100"/>
          </a:p>
        </p:txBody>
      </p:sp>
      <p:sp>
        <p:nvSpPr>
          <p:cNvPr id="9" name="AutoShape 9"/>
          <p:cNvSpPr/>
          <p:nvPr/>
        </p:nvSpPr>
        <p:spPr>
          <a:xfrm>
            <a:off x="5829300" y="3733800"/>
            <a:ext cx="55626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025C3B"/>
                </a:solidFill>
                <a:latin typeface="Arial" panose="020B0604020202020204"/>
                <a:ea typeface="Arial" panose="020B0604020202020204"/>
                <a:cs typeface="Arial" panose="020B0604020202020204"/>
                <a:sym typeface="Arial" panose="020B0604020202020204"/>
              </a:rPr>
              <a:t>Thank you for your listening!</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620.2,&quot;left&quot;:23.95,&quot;top&quot;:18.8,&quot;width&quot;:898.05}"/>
</p:tagLst>
</file>

<file path=ppt/tags/tag2.xml><?xml version="1.0" encoding="utf-8"?>
<p:tagLst xmlns:p="http://schemas.openxmlformats.org/presentationml/2006/main">
  <p:tag name="KSO_WM_DIAGRAM_VIRTUALLY_FRAME" val="{&quot;height&quot;:620.2,&quot;left&quot;:23.95,&quot;top&quot;:18.8,&quot;width&quot;:898.05}"/>
</p:tagLst>
</file>

<file path=ppt/tags/tag3.xml><?xml version="1.0" encoding="utf-8"?>
<p:tagLst xmlns:p="http://schemas.openxmlformats.org/presentationml/2006/main">
  <p:tag name="KSO_WM_DIAGRAM_VIRTUALLY_FRAME" val="{&quot;height&quot;:620.2,&quot;left&quot;:23.95,&quot;top&quot;:18.8,&quot;width&quot;:898.05}"/>
</p:tagLst>
</file>

<file path=ppt/tags/tag4.xml><?xml version="1.0" encoding="utf-8"?>
<p:tagLst xmlns:p="http://schemas.openxmlformats.org/presentationml/2006/main">
  <p:tag name="KSO_WM_DIAGRAM_VIRTUALLY_FRAME" val="{&quot;height&quot;:620.2,&quot;left&quot;:23.95,&quot;top&quot;:18.8,&quot;width&quot;:898.05}"/>
</p:tagLst>
</file>

<file path=ppt/tags/tag5.xml><?xml version="1.0" encoding="utf-8"?>
<p:tagLst xmlns:p="http://schemas.openxmlformats.org/presentationml/2006/main">
  <p:tag name="KSO_WM_DIAGRAM_VIRTUALLY_FRAME" val="{&quot;height&quot;:620.2,&quot;left&quot;:23.95,&quot;top&quot;:18.8,&quot;width&quot;:898.05}"/>
</p:tagLst>
</file>

<file path=ppt/tags/tag6.xml><?xml version="1.0" encoding="utf-8"?>
<p:tagLst xmlns:p="http://schemas.openxmlformats.org/presentationml/2006/main">
  <p:tag name="KSO_WM_DIAGRAM_VIRTUALLY_FRAME" val="{&quot;height&quot;:620.2,&quot;left&quot;:23.95,&quot;top&quot;:18.8,&quot;width&quot;:898.05}"/>
</p:tagLst>
</file>

<file path=ppt/tags/tag7.xml><?xml version="1.0" encoding="utf-8"?>
<p:tagLst xmlns:p="http://schemas.openxmlformats.org/presentationml/2006/main">
  <p:tag name="KSO_WM_DIAGRAM_VIRTUALLY_FRAME" val="{&quot;height&quot;:620.2,&quot;left&quot;:23.95,&quot;top&quot;:18.8,&quot;width&quot;:898.05}"/>
</p:tagLst>
</file>

<file path=ppt/tags/tag8.xml><?xml version="1.0" encoding="utf-8"?>
<p:tagLst xmlns:p="http://schemas.openxmlformats.org/presentationml/2006/main">
  <p:tag name="KSO_WM_DIAGRAM_VIRTUALLY_FRAME" val="{&quot;height&quot;:620.2,&quot;left&quot;:23.95,&quot;top&quot;:18.8,&quot;width&quot;:898.05}"/>
</p:tagLst>
</file>

<file path=ppt/tags/tag9.xml><?xml version="1.0" encoding="utf-8"?>
<p:tagLst xmlns:p="http://schemas.openxmlformats.org/presentationml/2006/main">
  <p:tag name="KSO_WM_DIAGRAM_VIRTUALLY_FRAME" val="{&quot;height&quot;:386.05,&quot;left&quot;:21.3,&quot;top&quot;:98,&quot;width&quot;:840.7}"/>
</p:tagLst>
</file>

<file path=ppt/tags/tag10.xml><?xml version="1.0" encoding="utf-8"?>
<p:tagLst xmlns:p="http://schemas.openxmlformats.org/presentationml/2006/main">
  <p:tag name="KSO_WM_DIAGRAM_VIRTUALLY_FRAME" val="{&quot;height&quot;:386.05,&quot;left&quot;:21.3,&quot;top&quot;:98,&quot;width&quot;:840.7}"/>
</p:tagLst>
</file>

<file path=ppt/tags/tag11.xml><?xml version="1.0" encoding="utf-8"?>
<p:tagLst xmlns:p="http://schemas.openxmlformats.org/presentationml/2006/main">
  <p:tag name="KSO_WM_DIAGRAM_VIRTUALLY_FRAME" val="{&quot;height&quot;:386.05,&quot;left&quot;:21.3,&quot;top&quot;:98,&quot;width&quot;:840.7}"/>
</p:tagLst>
</file>

<file path=ppt/tags/tag12.xml><?xml version="1.0" encoding="utf-8"?>
<p:tagLst xmlns:p="http://schemas.openxmlformats.org/presentationml/2006/main">
  <p:tag name="KSO_WM_DIAGRAM_VIRTUALLY_FRAME" val="{&quot;height&quot;:386.05,&quot;left&quot;:21.3,&quot;top&quot;:98,&quot;width&quot;:840.7}"/>
</p:tagLst>
</file>

<file path=ppt/tags/tag13.xml><?xml version="1.0" encoding="utf-8"?>
<p:tagLst xmlns:p="http://schemas.openxmlformats.org/presentationml/2006/main">
  <p:tag name="KSO_WM_DIAGRAM_VIRTUALLY_FRAME" val="{&quot;height&quot;:386.05,&quot;left&quot;:21.3,&quot;top&quot;:98,&quot;width&quot;:840.7}"/>
</p:tagLst>
</file>

<file path=ppt/tags/tag14.xml><?xml version="1.0" encoding="utf-8"?>
<p:tagLst xmlns:p="http://schemas.openxmlformats.org/presentationml/2006/main">
  <p:tag name="KSO_WM_DIAGRAM_VIRTUALLY_FRAME" val="{&quot;height&quot;:386.05,&quot;left&quot;:21.3,&quot;top&quot;:98,&quot;width&quot;:840.7}"/>
</p:tagLst>
</file>

<file path=ppt/tags/tag15.xml><?xml version="1.0" encoding="utf-8"?>
<p:tagLst xmlns:p="http://schemas.openxmlformats.org/presentationml/2006/main">
  <p:tag name="KSO_WM_DIAGRAM_VIRTUALLY_FRAME" val="{&quot;height&quot;:386.05,&quot;left&quot;:21.3,&quot;top&quot;:98,&quot;width&quot;:840.7}"/>
</p:tagLst>
</file>

<file path=ppt/tags/tag16.xml><?xml version="1.0" encoding="utf-8"?>
<p:tagLst xmlns:p="http://schemas.openxmlformats.org/presentationml/2006/main">
  <p:tag name="KSO_WM_DIAGRAM_VIRTUALLY_FRAME" val="{&quot;height&quot;:386.05,&quot;left&quot;:21.3,&quot;top&quot;:98,&quot;width&quot;:840.7}"/>
</p:tagLst>
</file>

<file path=ppt/tags/tag17.xml><?xml version="1.0" encoding="utf-8"?>
<p:tagLst xmlns:p="http://schemas.openxmlformats.org/presentationml/2006/main">
  <p:tag name="KSO_WM_DIAGRAM_VIRTUALLY_FRAME" val="{&quot;height&quot;:386.05,&quot;left&quot;:21.3,&quot;top&quot;:98,&quot;width&quot;:840.7}"/>
</p:tagLst>
</file>

<file path=ppt/tags/tag18.xml><?xml version="1.0" encoding="utf-8"?>
<p:tagLst xmlns:p="http://schemas.openxmlformats.org/presentationml/2006/main">
  <p:tag name="KSO_WM_DIAGRAM_VIRTUALLY_FRAME" val="{&quot;height&quot;:294,&quot;left&quot;:319,&quot;top&quot;:105,&quot;width&quot;:610}"/>
</p:tagLst>
</file>

<file path=ppt/tags/tag19.xml><?xml version="1.0" encoding="utf-8"?>
<p:tagLst xmlns:p="http://schemas.openxmlformats.org/presentationml/2006/main">
  <p:tag name="KSO_WM_DIAGRAM_VIRTUALLY_FRAME" val="{&quot;height&quot;:294,&quot;left&quot;:319,&quot;top&quot;:105,&quot;width&quot;:610}"/>
</p:tagLst>
</file>

<file path=ppt/tags/tag20.xml><?xml version="1.0" encoding="utf-8"?>
<p:tagLst xmlns:p="http://schemas.openxmlformats.org/presentationml/2006/main">
  <p:tag name="KSO_WM_DIAGRAM_VIRTUALLY_FRAME" val="{&quot;height&quot;:294,&quot;left&quot;:319,&quot;top&quot;:105,&quot;width&quot;:610}"/>
</p:tagLst>
</file>

<file path=ppt/tags/tag21.xml><?xml version="1.0" encoding="utf-8"?>
<p:tagLst xmlns:p="http://schemas.openxmlformats.org/presentationml/2006/main">
  <p:tag name="KSO_WM_DIAGRAM_VIRTUALLY_FRAME" val="{&quot;height&quot;:294,&quot;left&quot;:319,&quot;top&quot;:105,&quot;width&quot;:610}"/>
</p:tagLst>
</file>

<file path=ppt/tags/tag22.xml><?xml version="1.0" encoding="utf-8"?>
<p:tagLst xmlns:p="http://schemas.openxmlformats.org/presentationml/2006/main">
  <p:tag name="KSO_WM_DIAGRAM_VIRTUALLY_FRAME" val="{&quot;height&quot;:294,&quot;left&quot;:319,&quot;top&quot;:105,&quot;width&quot;:610}"/>
</p:tagLst>
</file>

<file path=ppt/tags/tag23.xml><?xml version="1.0" encoding="utf-8"?>
<p:tagLst xmlns:p="http://schemas.openxmlformats.org/presentationml/2006/main">
  <p:tag name="KSO_WM_DIAGRAM_VIRTUALLY_FRAME" val="{&quot;height&quot;:294,&quot;left&quot;:319,&quot;top&quot;:105,&quot;width&quot;:610}"/>
</p:tagLst>
</file>

<file path=ppt/tags/tag24.xml><?xml version="1.0" encoding="utf-8"?>
<p:tagLst xmlns:p="http://schemas.openxmlformats.org/presentationml/2006/main">
  <p:tag name="KSO_WM_DIAGRAM_VIRTUALLY_FRAME" val="{&quot;height&quot;:718.975,&quot;left&quot;:-98.65,&quot;top&quot;:-0.025,&quot;width&quot;:940.05}"/>
</p:tagLst>
</file>

<file path=ppt/tags/tag25.xml><?xml version="1.0" encoding="utf-8"?>
<p:tagLst xmlns:p="http://schemas.openxmlformats.org/presentationml/2006/main">
  <p:tag name="KSO_WM_DIAGRAM_VIRTUALLY_FRAME" val="{&quot;height&quot;:718.975,&quot;left&quot;:-98.65,&quot;top&quot;:-0.025,&quot;width&quot;:940.05}"/>
</p:tagLst>
</file>

<file path=ppt/tags/tag26.xml><?xml version="1.0" encoding="utf-8"?>
<p:tagLst xmlns:p="http://schemas.openxmlformats.org/presentationml/2006/main">
  <p:tag name="KSO_WM_DIAGRAM_VIRTUALLY_FRAME" val="{&quot;height&quot;:718.975,&quot;left&quot;:-98.65,&quot;top&quot;:-0.025,&quot;width&quot;:940.0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2972</Words>
  <Application>WPS 演示</Application>
  <PresentationFormat/>
  <Paragraphs>248</Paragraphs>
  <Slides>29</Slides>
  <Notes>0</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29</vt:i4>
      </vt:variant>
    </vt:vector>
  </HeadingPairs>
  <TitlesOfParts>
    <vt:vector size="46" baseType="lpstr">
      <vt:lpstr>Arial</vt:lpstr>
      <vt:lpstr>宋体</vt:lpstr>
      <vt:lpstr>Wingdings</vt:lpstr>
      <vt:lpstr>Arial</vt:lpstr>
      <vt:lpstr>黑体</vt:lpstr>
      <vt:lpstr>华文行楷</vt:lpstr>
      <vt:lpstr>华文新魏</vt:lpstr>
      <vt:lpstr>Noto Sans SC</vt:lpstr>
      <vt:lpstr>Calibri</vt:lpstr>
      <vt:lpstr>等线</vt:lpstr>
      <vt:lpstr>微软雅黑</vt:lpstr>
      <vt:lpstr>Arial Unicode MS</vt:lpstr>
      <vt:lpstr>华文隶书</vt:lpstr>
      <vt:lpstr>Times New Roman</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啦.啦.啦</cp:lastModifiedBy>
  <cp:revision>3</cp:revision>
  <dcterms:created xsi:type="dcterms:W3CDTF">2026-07-14T14:54:14Z</dcterms:created>
  <dcterms:modified xsi:type="dcterms:W3CDTF">2026-07-14T16:07:13Z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{"Label":"1","ContentProducer":"001191110102MACQD9K64010000","ProduceID":"7662358488522247142","ReservedCode1":"","ContentPropagator":"","PropagateID":"","ReservedCode2":""}</vt:lpwstr>
  </property>
  <property fmtid="{D5CDD505-2E9C-101B-9397-08002B2CF9AE}" pid="3" name="KSOProductBuildVer">
    <vt:lpwstr>2052-12.1.0.26895</vt:lpwstr>
  </property>
  <property fmtid="{D5CDD505-2E9C-101B-9397-08002B2CF9AE}" pid="4" name="ICV">
    <vt:lpwstr>8B0621F0A19948698C944E7C4E09D485_12</vt:lpwstr>
  </property>
</Properties>
</file>