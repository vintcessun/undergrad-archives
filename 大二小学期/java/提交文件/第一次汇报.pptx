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Override2.xml" ContentType="application/vnd.openxmlformats-officedocument.themeOverr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Override6.xml" ContentType="application/vnd.openxmlformats-officedocument.themeOverr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Override7.xml" ContentType="application/vnd.openxmlformats-officedocument.themeOverr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461" r:id="rId3"/>
    <p:sldId id="258" r:id="rId4"/>
    <p:sldId id="457" r:id="rId5"/>
    <p:sldId id="440" r:id="rId6"/>
    <p:sldId id="424" r:id="rId7"/>
    <p:sldId id="455" r:id="rId8"/>
    <p:sldId id="450" r:id="rId9"/>
    <p:sldId id="429" r:id="rId10"/>
    <p:sldId id="442" r:id="rId11"/>
    <p:sldId id="458" r:id="rId12"/>
    <p:sldId id="451" r:id="rId13"/>
    <p:sldId id="435" r:id="rId14"/>
    <p:sldId id="460" r:id="rId15"/>
    <p:sldId id="453" r:id="rId16"/>
    <p:sldId id="452" r:id="rId17"/>
    <p:sldId id="462" r:id="rId18"/>
    <p:sldId id="463" r:id="rId19"/>
    <p:sldId id="33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52D6F0"/>
    <a:srgbClr val="CADBF9"/>
    <a:srgbClr val="97BBF0"/>
    <a:srgbClr val="61A3FE"/>
    <a:srgbClr val="CCDDF7"/>
    <a:srgbClr val="ABE2EF"/>
    <a:srgbClr val="88D6E8"/>
    <a:srgbClr val="FFFFFF"/>
    <a:srgbClr val="CEE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55" autoAdjust="0"/>
    <p:restoredTop sz="95256" autoAdjust="0"/>
  </p:normalViewPr>
  <p:slideViewPr>
    <p:cSldViewPr snapToGrid="0">
      <p:cViewPr varScale="1">
        <p:scale>
          <a:sx n="109" d="100"/>
          <a:sy n="109" d="100"/>
        </p:scale>
        <p:origin x="132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486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8B04C-124C-47DE-B87A-E3E45C610D1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8CCEC-03F8-4403-8D76-BAB01563FE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375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图；</a:t>
            </a:r>
            <a:r>
              <a:rPr lang="en-US" altLang="zh-CN" dirty="0"/>
              <a:t>4</a:t>
            </a:r>
            <a:r>
              <a:rPr lang="zh-CN" altLang="en-US" dirty="0"/>
              <a:t>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0716FC-E790-4F67-9354-6976C83A4E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0101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A6F48B-BC94-4D88-9044-DD904A99D14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312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8CCEC-03F8-4403-8D76-BAB01563FE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544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8CCEC-03F8-4403-8D76-BAB01563FE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220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8CCEC-03F8-4403-8D76-BAB01563FE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073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8CCEC-03F8-4403-8D76-BAB01563FED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925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8CCEC-03F8-4403-8D76-BAB01563FED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297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0716FC-E790-4F67-9354-6976C83A4E6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35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A6E1D-BE6D-4972-B021-B58FF7248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C1F5B0-C221-4B94-B55E-5339177E6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672CA-E511-42F6-A137-480106A3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4ABB4F-59D0-4C71-AD7D-9AF8A151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0A457-D2E8-43F0-AAE1-CA2A475F1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02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B2B6D-B2B6-4C1A-99B5-97EFC24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450C30-2146-4BE5-8946-F7F77D68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4A0F2-19C5-4553-94AA-3D08CEC3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1FD32B-7F81-44D2-8BA0-ACEBB6CD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7103E-B517-4E72-93A0-3842B0BC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86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CEF65-D0A0-4812-861F-2E840456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F7305C-E2D1-4048-A0BA-5680720F6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06723D-317E-42D7-BDA4-89B0C62B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3D277D-1822-4529-86C8-414DF3DC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6829EF-54D8-452E-80AF-F1267272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8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70B32-41CC-4973-8720-0E36B6B6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2E633D-610E-4D11-95FB-97430CA3F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22D18D-9F0C-4A29-A500-72C529A1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33A77B-C165-4973-AA45-0ACCB152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C216DB-DFF5-4C16-B889-84CA1F95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760D08-1B9E-45D9-A8CC-4642C727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06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385B4-64DB-449B-8279-8331EB32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39F2F5-B24E-49AC-91F7-DEB51D1BC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D0E3CC-56DA-42D9-9FEA-B9E9BB14D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1B79B4-D39C-412E-9620-06E6FF593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41AB3D-683A-48C8-AE62-8CDB5F28D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21B33E-401C-47B4-9028-EF71F9AA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7379A5-067D-447E-919B-58E43CE0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159610-AEA2-4D59-B25A-D558720E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79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1DB1D6-E5FE-4C17-9194-4C924C38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8D927F-F0A4-4300-A772-105715D3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5BE7B2-8C79-4372-8304-E6811352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505D14-40A8-48A1-9742-07ED418D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72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F867AD-34DE-4A9D-B3BF-7EBA7B2F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8B7CC3-F780-4975-B55B-D58729F6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72BB2B-051D-41E8-8D3C-D04F6B6C4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55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B6EF8-CB7F-424C-8038-ABBC5BF0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AC093-74A6-4C86-9934-BC6C88D78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A4A105-3008-4A1D-8D10-4BECD2D56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368A17-A1E8-47FA-A980-0CBE90646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3FF870-00E0-48C5-A198-FC792D20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1ECF0D-0AF2-4C4E-9954-3C06CC06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74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21E7A-29F1-470D-8CD3-0E946E7BE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AF3AB1-48D6-4015-A515-CAFFC4332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BFF86B-9F37-47E4-AAE6-3C9180F6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B65003-3217-4CCB-AACF-AED1CBE6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6F5814-678C-47D8-852C-52465F87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35AC26-0060-4A5F-96E2-6CB68A8F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D728C-B9EB-4934-B17E-4CEC352B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93B187-0905-4551-AD68-251604FFD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3F6C28-E008-4B9D-B0B4-DFB9DCE5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EB3DDB-A5C4-47D5-9335-15057DB0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DB9E37-1249-44A3-BD85-C4D0EC66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722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F669A2-F49C-4BA9-9AC0-DFE3D252E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4013E9-E2C3-401F-9316-668DFC92F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BBCDEC-6109-42CB-8DCA-239D7DC1A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963B5E-39ED-4DC3-BC9F-A9DAF40D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C50D3-4CA1-463A-B235-6F90E100F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8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C6275-2C49-44AC-9A8B-0ABBD5E6B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E8937A-C820-4493-8C36-0A795DD95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A50F60-99C5-4212-9DEF-DF465808F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B6CAB4-AE8B-427D-978F-685DCD02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06A5D-020C-47A9-84E8-7D058F26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119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8EC92-03BC-4450-B4FA-D77ADDE6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F4ABB-57F4-4E17-A5A1-BDF315580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B57AE-C243-4991-B54A-D06713AF2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A05440-F5F6-47AC-B728-8A5E8F46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A51D24-CED1-48A5-9E20-0C989FEF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021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D03A3-4732-47E0-9750-3071CDD6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2AF3EF-0CE5-4822-8D68-52E37DAD1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3942EB-7110-43D5-A6F6-6AA85981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38B5F1-23B1-410A-9013-F75A9307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2E9C0A-7D5C-4722-B956-986E8171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94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6035D-276C-4951-8247-4E8DC156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04EF7-9B30-4DDB-B608-997E142EA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352014-8B56-496E-BFA4-CFE5A2C7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06DE4F-9A06-4DEB-8B0B-FD0A503C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E5183D-7FD5-46F0-AE89-5774293B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C72CEF-6933-4136-B329-CE2A1AF8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704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0B339-6585-4A78-8D12-5A5F2E361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13146F-1964-4BB6-AED6-D9BD54998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D9284D-25CA-41EA-A33F-F8E5C2C3C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8FA9D5-A310-4280-8699-415F74D8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7084D3-8ADD-4890-BE9E-046D3F9A1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AD7824-F4B5-4BD5-84C8-D1B728391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B037B8-F4E5-41CC-A4B4-DF8CFFAD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ECEA15-3172-4257-BFE2-0362872E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22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E3114-EDCB-43F9-A026-0937824A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93E331-0A78-4FC0-88E3-B21DE1BB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28C726-FCCB-42BB-B3AF-E3D70081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FCC462-AA45-4B8A-A4F5-9037814E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6918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F0FD63-D9E8-410C-899F-FB5C354A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33A6A1-406F-4545-9E3A-575EB461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A9D50E-D5BC-4ADF-A722-33967A53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885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0E0FE-28A9-43E2-91E8-59DA42021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F9093A-03AD-485B-ADC1-329994008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00BB0C-E452-4670-B2F1-F3E82BDE6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2D3058-9710-47C2-96F2-1C76ED5E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9FF2B4-0388-4CE3-9875-A9BD78EA8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34BBE5-87EC-4B68-9D48-1EF32841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358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9A8D7-D7CB-40CC-A103-AFD7419E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C784DA-51B6-40B0-AB61-D4426553D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2855C7-F610-4F5C-9DF7-A571BC696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A9C20A-85ED-4896-A81C-EA76C792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2265E1-0B08-44CE-872B-7E821457A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853368-FCCA-40F8-98E2-8754F4EE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341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1D1D4-4393-44FF-AB53-56EC891E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5F3583-8589-44C7-8C1F-105C6955B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C58014-406F-4996-A3C4-1B7AEC2F2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113F16-98B5-4F2C-91EB-4EC892ECA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E63537-D655-491F-B61F-AC567F5E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131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BA4910-7B28-4DC4-B484-21128EC86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54C9F9-A956-41D9-BA85-902ED673A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BC573-D1BB-423A-9EAF-73250DDB1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5DB619-F34C-4126-AE71-E599B894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BD591D-9C74-4EF0-8FE7-9FD3B829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23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510C96-4AB5-422F-84A2-B6BEB01E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7C2483-0364-4D47-916E-D8C255085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31ECB7-1602-424A-B612-200AAF3BB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F3356-60F6-40EA-8B5C-0CB2663B786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F757E2-6BD3-4E18-A881-018947B18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07BD5-CA66-4995-A728-6DC5D3D7E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7FD29-4334-4387-ABD1-89A1B20E96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71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6BC5F5-BA2A-4073-B5C1-76934FE5A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FC5D50-DF88-4B6D-BAEC-78BC3EAF5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E1504A-93C3-4927-A784-AD8AE3A50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B6BDC-D40A-48F6-8993-9068BB02F2E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534D5-B28E-480C-A963-F6802615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6CE66-A275-486C-AA76-83CE2AC24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62DFF-6EA4-4E14-A9A8-E84C37481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11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8.jpeg"/><Relationship Id="rId4" Type="http://schemas.openxmlformats.org/officeDocument/2006/relationships/slideLayout" Target="../slideLayouts/slideLayout13.xml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11.xml"/><Relationship Id="rId7" Type="http://schemas.openxmlformats.org/officeDocument/2006/relationships/image" Target="../media/image12.jpg"/><Relationship Id="rId2" Type="http://schemas.openxmlformats.org/officeDocument/2006/relationships/tags" Target="../tags/tag10.xml"/><Relationship Id="rId1" Type="http://schemas.openxmlformats.org/officeDocument/2006/relationships/themeOverride" Target="../theme/themeOverride2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6.png"/><Relationship Id="rId4" Type="http://schemas.openxmlformats.org/officeDocument/2006/relationships/tags" Target="../tags/tag12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png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6.xml"/><Relationship Id="rId7" Type="http://schemas.openxmlformats.org/officeDocument/2006/relationships/image" Target="../media/image8.jpeg"/><Relationship Id="rId2" Type="http://schemas.openxmlformats.org/officeDocument/2006/relationships/tags" Target="../tags/tag15.xml"/><Relationship Id="rId1" Type="http://schemas.openxmlformats.org/officeDocument/2006/relationships/themeOverride" Target="../theme/themeOverride3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.xml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9.xml"/><Relationship Id="rId7" Type="http://schemas.openxmlformats.org/officeDocument/2006/relationships/image" Target="../media/image8.jpeg"/><Relationship Id="rId12" Type="http://schemas.openxmlformats.org/officeDocument/2006/relationships/image" Target="../media/image16.png"/><Relationship Id="rId2" Type="http://schemas.openxmlformats.org/officeDocument/2006/relationships/tags" Target="../tags/tag18.xml"/><Relationship Id="rId1" Type="http://schemas.openxmlformats.org/officeDocument/2006/relationships/themeOverride" Target="../theme/themeOverride4.xml"/><Relationship Id="rId6" Type="http://schemas.openxmlformats.org/officeDocument/2006/relationships/notesSlide" Target="../notesSlides/notesSlide6.xml"/><Relationship Id="rId11" Type="http://schemas.microsoft.com/office/2007/relationships/hdphoto" Target="../media/hdphoto2.wdp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5.png"/><Relationship Id="rId4" Type="http://schemas.openxmlformats.org/officeDocument/2006/relationships/tags" Target="../tags/tag20.xml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tags" Target="../tags/tag22.xml"/><Relationship Id="rId7" Type="http://schemas.openxmlformats.org/officeDocument/2006/relationships/image" Target="../media/image5.png"/><Relationship Id="rId2" Type="http://schemas.openxmlformats.org/officeDocument/2006/relationships/tags" Target="../tags/tag2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jpe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3.xml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5.xml"/><Relationship Id="rId7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jpe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6.xml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8.xml"/><Relationship Id="rId7" Type="http://schemas.openxmlformats.org/officeDocument/2006/relationships/image" Target="../media/image8.jpeg"/><Relationship Id="rId2" Type="http://schemas.openxmlformats.org/officeDocument/2006/relationships/tags" Target="../tags/tag27.xml"/><Relationship Id="rId1" Type="http://schemas.openxmlformats.org/officeDocument/2006/relationships/themeOverride" Target="../theme/themeOverride7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20.jpg"/><Relationship Id="rId4" Type="http://schemas.openxmlformats.org/officeDocument/2006/relationships/tags" Target="../tags/tag29.xml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21.jp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32A23D-AD44-4906-9E02-E510CDCAF1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29029"/>
            <a:ext cx="12192000" cy="6858000"/>
          </a:xfrm>
          <a:prstGeom prst="rect">
            <a:avLst/>
          </a:prstGeom>
          <a:solidFill>
            <a:srgbClr val="52D6F0"/>
          </a:solidFill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4E761C8-0F74-4E7C-919F-7BFA74A8C3F7}"/>
              </a:ext>
            </a:extLst>
          </p:cNvPr>
          <p:cNvSpPr/>
          <p:nvPr/>
        </p:nvSpPr>
        <p:spPr>
          <a:xfrm>
            <a:off x="1826976" y="1843223"/>
            <a:ext cx="8408709" cy="3002675"/>
          </a:xfrm>
          <a:prstGeom prst="rect">
            <a:avLst/>
          </a:prstGeom>
          <a:solidFill>
            <a:srgbClr val="52D6F0">
              <a:alpha val="74902"/>
            </a:srgbClr>
          </a:solidFill>
          <a:ln>
            <a:solidFill>
              <a:srgbClr val="52D6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" name="PA-文本 文本框 3">
            <a:extLst>
              <a:ext uri="{FF2B5EF4-FFF2-40B4-BE49-F238E27FC236}">
                <a16:creationId xmlns:a16="http://schemas.microsoft.com/office/drawing/2014/main" id="{78D93898-4DC3-41A7-B793-F999CE31CEC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76633" y="2590572"/>
            <a:ext cx="6483826" cy="1109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/>
              <a:t>校园自习预约系统设计报告</a:t>
            </a:r>
          </a:p>
        </p:txBody>
      </p:sp>
      <p:sp>
        <p:nvSpPr>
          <p:cNvPr id="17" name="PA-文本 Rectangle 97">
            <a:extLst>
              <a:ext uri="{FF2B5EF4-FFF2-40B4-BE49-F238E27FC236}">
                <a16:creationId xmlns:a16="http://schemas.microsoft.com/office/drawing/2014/main" id="{73E8069C-6325-4D4D-A879-FFDF5374244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16091" y="4144867"/>
            <a:ext cx="2342352" cy="237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400" dirty="0" err="1"/>
              <a:t>汇报人</a:t>
            </a:r>
            <a:r>
              <a:rPr sz="1400" dirty="0"/>
              <a:t>：</a:t>
            </a:r>
            <a:r>
              <a:rPr lang="zh-CN" altLang="en-US" sz="1400"/>
              <a:t>大梦一瓜小队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7630D95-2198-4A8C-9672-CF8CCA95D374}"/>
              </a:ext>
            </a:extLst>
          </p:cNvPr>
          <p:cNvCxnSpPr>
            <a:cxnSpLocks/>
          </p:cNvCxnSpPr>
          <p:nvPr/>
        </p:nvCxnSpPr>
        <p:spPr>
          <a:xfrm>
            <a:off x="2375754" y="3864990"/>
            <a:ext cx="744048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-文本 Rectangle 97">
            <a:extLst>
              <a:ext uri="{FF2B5EF4-FFF2-40B4-BE49-F238E27FC236}">
                <a16:creationId xmlns:a16="http://schemas.microsoft.com/office/drawing/2014/main" id="{98B3CA81-5748-4DF7-9D8A-6F578FC40DE7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72839" y="4144867"/>
            <a:ext cx="3714337" cy="33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400"/>
              <a:t>汇报时间：2026年7月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6" name="PA-装饰 矩形 5">
            <a:extLst>
              <a:ext uri="{FF2B5EF4-FFF2-40B4-BE49-F238E27FC236}">
                <a16:creationId xmlns:a16="http://schemas.microsoft.com/office/drawing/2014/main" id="{046592F1-F1B3-40F1-BEE2-B8F6B10BE6B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38546" y="258109"/>
            <a:ext cx="11714907" cy="6341136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 w="12700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473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7" grpId="0"/>
      <p:bldP spid="19" grpId="0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927B7230-21B6-40DE-852A-5477A1B53AD9}"/>
              </a:ext>
            </a:extLst>
          </p:cNvPr>
          <p:cNvSpPr/>
          <p:nvPr/>
        </p:nvSpPr>
        <p:spPr>
          <a:xfrm>
            <a:off x="702428" y="1022722"/>
            <a:ext cx="10867698" cy="499193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43" name="文本框 4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52CF359F-1478-4B16-A261-50C977B54FA2}"/>
              </a:ext>
            </a:extLst>
          </p:cNvPr>
          <p:cNvSpPr txBox="1"/>
          <p:nvPr/>
        </p:nvSpPr>
        <p:spPr>
          <a:xfrm rot="5400000">
            <a:off x="9156901" y="4216521"/>
            <a:ext cx="1833392" cy="327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CONTENES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44" name="矩形 43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5EBBAF7B-8117-45F1-9570-F06034A334D7}"/>
              </a:ext>
            </a:extLst>
          </p:cNvPr>
          <p:cNvSpPr/>
          <p:nvPr/>
        </p:nvSpPr>
        <p:spPr>
          <a:xfrm>
            <a:off x="9544392" y="1459573"/>
            <a:ext cx="1015663" cy="3972943"/>
          </a:xfrm>
          <a:prstGeom prst="rect">
            <a:avLst/>
          </a:prstGeom>
          <a:noFill/>
          <a:ln w="6350">
            <a:solidFill>
              <a:srgbClr val="35879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45" name="矩形 44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332352BF-7CBB-4D38-A73A-FBEF18BC929C}"/>
              </a:ext>
            </a:extLst>
          </p:cNvPr>
          <p:cNvSpPr/>
          <p:nvPr/>
        </p:nvSpPr>
        <p:spPr>
          <a:xfrm>
            <a:off x="9404262" y="1293826"/>
            <a:ext cx="1295925" cy="4270343"/>
          </a:xfrm>
          <a:prstGeom prst="rect">
            <a:avLst/>
          </a:prstGeom>
          <a:noFill/>
          <a:ln w="6350">
            <a:solidFill>
              <a:srgbClr val="35879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E37B08-2C3E-4F0F-9C0A-EC7E12720D8F}"/>
              </a:ext>
            </a:extLst>
          </p:cNvPr>
          <p:cNvSpPr/>
          <p:nvPr/>
        </p:nvSpPr>
        <p:spPr>
          <a:xfrm>
            <a:off x="5110095" y="1539450"/>
            <a:ext cx="1755663" cy="29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200"/>
              <a:t>PART ONE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BFF910-880D-49A2-BD25-8E2DB4C3E471}"/>
              </a:ext>
            </a:extLst>
          </p:cNvPr>
          <p:cNvSpPr/>
          <p:nvPr/>
        </p:nvSpPr>
        <p:spPr>
          <a:xfrm>
            <a:off x="2963004" y="1475469"/>
            <a:ext cx="2728250" cy="431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600"/>
              <a:t>项目概述与技术栈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7859C53-3DA6-4D4C-B73B-7D18A5A5B985}"/>
              </a:ext>
            </a:extLst>
          </p:cNvPr>
          <p:cNvSpPr/>
          <p:nvPr/>
        </p:nvSpPr>
        <p:spPr>
          <a:xfrm>
            <a:off x="5513403" y="2657278"/>
            <a:ext cx="1755663" cy="29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200"/>
              <a:t>PART TWO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39AFEF9-9BC4-404D-B5EC-DD271C2C3701}"/>
              </a:ext>
            </a:extLst>
          </p:cNvPr>
          <p:cNvSpPr/>
          <p:nvPr/>
        </p:nvSpPr>
        <p:spPr>
          <a:xfrm>
            <a:off x="5979636" y="3849872"/>
            <a:ext cx="2063946" cy="29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200"/>
              <a:t>PART THREE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360D550-EB97-43A3-94BE-C585DF44D9F8}"/>
              </a:ext>
            </a:extLst>
          </p:cNvPr>
          <p:cNvSpPr/>
          <p:nvPr/>
        </p:nvSpPr>
        <p:spPr>
          <a:xfrm>
            <a:off x="6453555" y="5041373"/>
            <a:ext cx="2029029" cy="293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200"/>
              <a:t>PART FOUR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63B3392-DF73-4E6D-85F9-8516A49FE14D}"/>
              </a:ext>
            </a:extLst>
          </p:cNvPr>
          <p:cNvSpPr/>
          <p:nvPr/>
        </p:nvSpPr>
        <p:spPr>
          <a:xfrm>
            <a:off x="3306209" y="2569147"/>
            <a:ext cx="2728250" cy="431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600"/>
              <a:t>核心难点与解法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A6DD85B-B1A9-4111-9801-55B253628CA6}"/>
              </a:ext>
            </a:extLst>
          </p:cNvPr>
          <p:cNvSpPr/>
          <p:nvPr/>
        </p:nvSpPr>
        <p:spPr>
          <a:xfrm>
            <a:off x="3797020" y="3789483"/>
            <a:ext cx="2728250" cy="431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600"/>
              <a:t>数据模型与系统设计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FD3092D-0960-45CC-A575-6842CE492590}"/>
              </a:ext>
            </a:extLst>
          </p:cNvPr>
          <p:cNvSpPr/>
          <p:nvPr/>
        </p:nvSpPr>
        <p:spPr>
          <a:xfrm>
            <a:off x="999471" y="1373089"/>
            <a:ext cx="1755721" cy="605532"/>
          </a:xfrm>
          <a:prstGeom prst="homePlate">
            <a:avLst/>
          </a:prstGeom>
          <a:solidFill>
            <a:srgbClr val="52D6F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7B19352-DD86-4208-B9A8-F73A6C33BC40}"/>
              </a:ext>
            </a:extLst>
          </p:cNvPr>
          <p:cNvSpPr/>
          <p:nvPr/>
        </p:nvSpPr>
        <p:spPr>
          <a:xfrm>
            <a:off x="4262769" y="4965086"/>
            <a:ext cx="2728250" cy="431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600"/>
              <a:t>分阶段落地计划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8C8CCC-D026-44D3-A53A-0AD79FA5718C}"/>
              </a:ext>
            </a:extLst>
          </p:cNvPr>
          <p:cNvSpPr txBox="1"/>
          <p:nvPr/>
        </p:nvSpPr>
        <p:spPr>
          <a:xfrm>
            <a:off x="1789306" y="1344287"/>
            <a:ext cx="507775" cy="634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壹</a:t>
            </a:r>
          </a:p>
        </p:txBody>
      </p:sp>
      <p:sp>
        <p:nvSpPr>
          <p:cNvPr id="28" name="箭头: 五边形 27">
            <a:extLst>
              <a:ext uri="{FF2B5EF4-FFF2-40B4-BE49-F238E27FC236}">
                <a16:creationId xmlns:a16="http://schemas.microsoft.com/office/drawing/2014/main" id="{8FB7CF28-BE35-47D6-A02A-580811E8FDDC}"/>
              </a:ext>
            </a:extLst>
          </p:cNvPr>
          <p:cNvSpPr/>
          <p:nvPr/>
        </p:nvSpPr>
        <p:spPr>
          <a:xfrm>
            <a:off x="999471" y="2492758"/>
            <a:ext cx="2087446" cy="605532"/>
          </a:xfrm>
          <a:prstGeom prst="homePlate">
            <a:avLst/>
          </a:prstGeom>
          <a:solidFill>
            <a:srgbClr val="52D6F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4912DC-D3E0-48E4-8034-3FEA0D8E5248}"/>
              </a:ext>
            </a:extLst>
          </p:cNvPr>
          <p:cNvSpPr txBox="1"/>
          <p:nvPr/>
        </p:nvSpPr>
        <p:spPr>
          <a:xfrm>
            <a:off x="1960028" y="2480045"/>
            <a:ext cx="814097" cy="634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30" name="箭头: 五边形 29">
            <a:extLst>
              <a:ext uri="{FF2B5EF4-FFF2-40B4-BE49-F238E27FC236}">
                <a16:creationId xmlns:a16="http://schemas.microsoft.com/office/drawing/2014/main" id="{BD824DD8-31B0-4EE6-82A4-1DBC17192160}"/>
              </a:ext>
            </a:extLst>
          </p:cNvPr>
          <p:cNvSpPr/>
          <p:nvPr/>
        </p:nvSpPr>
        <p:spPr>
          <a:xfrm>
            <a:off x="1004546" y="3708658"/>
            <a:ext cx="2438534" cy="605532"/>
          </a:xfrm>
          <a:prstGeom prst="homePlate">
            <a:avLst/>
          </a:prstGeom>
          <a:solidFill>
            <a:srgbClr val="52D6F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4B29936-C247-476F-AD73-0ABFC1F55E64}"/>
              </a:ext>
            </a:extLst>
          </p:cNvPr>
          <p:cNvSpPr txBox="1"/>
          <p:nvPr/>
        </p:nvSpPr>
        <p:spPr>
          <a:xfrm>
            <a:off x="2395055" y="3695985"/>
            <a:ext cx="814097" cy="634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31" name="箭头: 五边形 30">
            <a:extLst>
              <a:ext uri="{FF2B5EF4-FFF2-40B4-BE49-F238E27FC236}">
                <a16:creationId xmlns:a16="http://schemas.microsoft.com/office/drawing/2014/main" id="{0471C498-1891-4901-97E7-2C263A2DB662}"/>
              </a:ext>
            </a:extLst>
          </p:cNvPr>
          <p:cNvSpPr/>
          <p:nvPr/>
        </p:nvSpPr>
        <p:spPr>
          <a:xfrm>
            <a:off x="1025716" y="4879379"/>
            <a:ext cx="2892872" cy="605532"/>
          </a:xfrm>
          <a:prstGeom prst="homePlate">
            <a:avLst/>
          </a:prstGeom>
          <a:solidFill>
            <a:srgbClr val="52D6F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724134-7587-4374-9DC8-94406484AF77}"/>
              </a:ext>
            </a:extLst>
          </p:cNvPr>
          <p:cNvSpPr txBox="1"/>
          <p:nvPr/>
        </p:nvSpPr>
        <p:spPr>
          <a:xfrm>
            <a:off x="2910502" y="4878455"/>
            <a:ext cx="814097" cy="634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02B8E3-CD67-43D4-9A41-418D8217E04B}"/>
              </a:ext>
            </a:extLst>
          </p:cNvPr>
          <p:cNvSpPr txBox="1"/>
          <p:nvPr/>
        </p:nvSpPr>
        <p:spPr>
          <a:xfrm>
            <a:off x="9548028" y="1654819"/>
            <a:ext cx="1181862" cy="165045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目 录</a:t>
            </a:r>
          </a:p>
        </p:txBody>
      </p:sp>
      <p:pic>
        <p:nvPicPr>
          <p:cNvPr id="24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005631B1-7605-4D26-BC68-7AF7F543B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033" y="5973745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39D1521-6392-4630-A48B-C871CB4A8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31D63C9-65A2-42DF-85D3-B3CF396A1437}"/>
              </a:ext>
            </a:extLst>
          </p:cNvPr>
          <p:cNvSpPr txBox="1"/>
          <p:nvPr/>
        </p:nvSpPr>
        <p:spPr>
          <a:xfrm>
            <a:off x="8907676" y="6246595"/>
            <a:ext cx="2345514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  <p:sp>
        <p:nvSpPr>
          <p:cNvPr id="27" name="图文框 26">
            <a:extLst>
              <a:ext uri="{FF2B5EF4-FFF2-40B4-BE49-F238E27FC236}">
                <a16:creationId xmlns:a16="http://schemas.microsoft.com/office/drawing/2014/main" id="{6EC45269-20BA-4345-92C9-9D329DFC4B87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442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BA92FC08-412B-406C-9EF5-346FB41AB2D3}"/>
              </a:ext>
            </a:extLst>
          </p:cNvPr>
          <p:cNvSpPr/>
          <p:nvPr/>
        </p:nvSpPr>
        <p:spPr>
          <a:xfrm>
            <a:off x="0" y="-777438"/>
            <a:ext cx="12192000" cy="4843015"/>
          </a:xfrm>
          <a:custGeom>
            <a:avLst/>
            <a:gdLst>
              <a:gd name="connsiteX0" fmla="*/ 0 w 12192000"/>
              <a:gd name="connsiteY0" fmla="*/ 0 h 4843015"/>
              <a:gd name="connsiteX1" fmla="*/ 12192000 w 12192000"/>
              <a:gd name="connsiteY1" fmla="*/ 0 h 4843015"/>
              <a:gd name="connsiteX2" fmla="*/ 12192000 w 12192000"/>
              <a:gd name="connsiteY2" fmla="*/ 3446240 h 4843015"/>
              <a:gd name="connsiteX3" fmla="*/ 12121155 w 12192000"/>
              <a:gd name="connsiteY3" fmla="*/ 3490831 h 4843015"/>
              <a:gd name="connsiteX4" fmla="*/ 6094360 w 12192000"/>
              <a:gd name="connsiteY4" fmla="*/ 4843015 h 4843015"/>
              <a:gd name="connsiteX5" fmla="*/ 67565 w 12192000"/>
              <a:gd name="connsiteY5" fmla="*/ 3490831 h 4843015"/>
              <a:gd name="connsiteX6" fmla="*/ 0 w 12192000"/>
              <a:gd name="connsiteY6" fmla="*/ 3448305 h 48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43015">
                <a:moveTo>
                  <a:pt x="0" y="0"/>
                </a:moveTo>
                <a:lnTo>
                  <a:pt x="12192000" y="0"/>
                </a:lnTo>
                <a:lnTo>
                  <a:pt x="12192000" y="3446240"/>
                </a:lnTo>
                <a:lnTo>
                  <a:pt x="12121155" y="3490831"/>
                </a:lnTo>
                <a:cubicBezTo>
                  <a:pt x="10749621" y="4311690"/>
                  <a:pt x="8560619" y="4843015"/>
                  <a:pt x="6094360" y="4843015"/>
                </a:cubicBezTo>
                <a:cubicBezTo>
                  <a:pt x="3628101" y="4843015"/>
                  <a:pt x="1439099" y="4311690"/>
                  <a:pt x="67565" y="3490831"/>
                </a:cubicBezTo>
                <a:lnTo>
                  <a:pt x="0" y="3448305"/>
                </a:lnTo>
                <a:close/>
              </a:path>
            </a:pathLst>
          </a:custGeom>
          <a:solidFill>
            <a:srgbClr val="61A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8FA8A98-929C-42EE-9124-F1BF28C89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" t="15935" r="13" b="16638"/>
          <a:stretch>
            <a:fillRect/>
          </a:stretch>
        </p:blipFill>
        <p:spPr>
          <a:xfrm>
            <a:off x="0" y="-777439"/>
            <a:ext cx="12165171" cy="4624148"/>
          </a:xfrm>
          <a:custGeom>
            <a:avLst/>
            <a:gdLst>
              <a:gd name="connsiteX0" fmla="*/ 0 w 12165171"/>
              <a:gd name="connsiteY0" fmla="*/ 0 h 4624148"/>
              <a:gd name="connsiteX1" fmla="*/ 12165171 w 12165171"/>
              <a:gd name="connsiteY1" fmla="*/ 0 h 4624148"/>
              <a:gd name="connsiteX2" fmla="*/ 12165171 w 12165171"/>
              <a:gd name="connsiteY2" fmla="*/ 2999890 h 4624148"/>
              <a:gd name="connsiteX3" fmla="*/ 12039246 w 12165171"/>
              <a:gd name="connsiteY3" fmla="*/ 3082244 h 4624148"/>
              <a:gd name="connsiteX4" fmla="*/ 6069171 w 12165171"/>
              <a:gd name="connsiteY4" fmla="*/ 4624148 h 4624148"/>
              <a:gd name="connsiteX5" fmla="*/ 99096 w 12165171"/>
              <a:gd name="connsiteY5" fmla="*/ 3082244 h 4624148"/>
              <a:gd name="connsiteX6" fmla="*/ 0 w 12165171"/>
              <a:gd name="connsiteY6" fmla="*/ 3017436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65171" h="4624148">
                <a:moveTo>
                  <a:pt x="0" y="0"/>
                </a:moveTo>
                <a:lnTo>
                  <a:pt x="12165171" y="0"/>
                </a:lnTo>
                <a:lnTo>
                  <a:pt x="12165171" y="2999890"/>
                </a:lnTo>
                <a:lnTo>
                  <a:pt x="12039246" y="3082244"/>
                </a:lnTo>
                <a:cubicBezTo>
                  <a:pt x="10511371" y="4034911"/>
                  <a:pt x="8400631" y="4624148"/>
                  <a:pt x="6069171" y="4624148"/>
                </a:cubicBezTo>
                <a:cubicBezTo>
                  <a:pt x="3737712" y="4624148"/>
                  <a:pt x="1626971" y="4034911"/>
                  <a:pt x="99096" y="3082244"/>
                </a:cubicBezTo>
                <a:lnTo>
                  <a:pt x="0" y="3017436"/>
                </a:lnTo>
                <a:close/>
              </a:path>
            </a:pathLst>
          </a:custGeom>
          <a:effectLst>
            <a:outerShdw blurRad="292100" dist="139700" dir="2700000" algn="tl" rotWithShape="0">
              <a:prstClr val="black">
                <a:alpha val="65000"/>
              </a:prst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69D1897-6A15-4DC6-A1F8-C2A2342925DF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rgbClr val="61A3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F9ED650-4A99-4204-828A-AB51D93E3FF3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9AC3C1-8024-40F5-AC69-6797DD57C77D}"/>
              </a:ext>
            </a:extLst>
          </p:cNvPr>
          <p:cNvSpPr txBox="1"/>
          <p:nvPr/>
        </p:nvSpPr>
        <p:spPr>
          <a:xfrm>
            <a:off x="4387840" y="3634093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2800" b="1"/>
              <a:t>项目概述与技术栈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5FF35B-BB6F-429B-BF44-B37487A80627}"/>
              </a:ext>
            </a:extLst>
          </p:cNvPr>
          <p:cNvSpPr/>
          <p:nvPr/>
        </p:nvSpPr>
        <p:spPr>
          <a:xfrm>
            <a:off x="4434140" y="4280424"/>
            <a:ext cx="341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/>
              <a:t>PROJECT OVERVIEW &amp; TECH STACK</a:t>
            </a:r>
            <a:endParaRPr kumimoji="0" lang="en-US" altLang="zh-CN" sz="14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97BDF2-6B77-447A-840E-ECE705CE49D8}"/>
              </a:ext>
            </a:extLst>
          </p:cNvPr>
          <p:cNvSpPr txBox="1"/>
          <p:nvPr/>
        </p:nvSpPr>
        <p:spPr>
          <a:xfrm>
            <a:off x="4630981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2EE9E-C60E-4100-A8AE-F6906FCD70DD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rgbClr val="61A3F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 Light"/>
                <a:cs typeface="+mn-cs"/>
              </a:rPr>
              <a:t>1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微软雅黑 Light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83A02F-CF0E-458D-8A48-C5ABF5ED61D0}"/>
              </a:ext>
            </a:extLst>
          </p:cNvPr>
          <p:cNvSpPr txBox="1"/>
          <p:nvPr/>
        </p:nvSpPr>
        <p:spPr>
          <a:xfrm>
            <a:off x="5712105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E25F0A4-526B-4D59-ACF8-172CC210BBFE}"/>
              </a:ext>
            </a:extLst>
          </p:cNvPr>
          <p:cNvSpPr txBox="1"/>
          <p:nvPr/>
        </p:nvSpPr>
        <p:spPr>
          <a:xfrm>
            <a:off x="6829296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3523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5243896" y="378991"/>
            <a:ext cx="1871477" cy="634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2200" b="1"/>
              <a:t>项目概述</a:t>
            </a:r>
          </a:p>
        </p:txBody>
      </p:sp>
      <p:sp>
        <p:nvSpPr>
          <p:cNvPr id="15" name="矩形 14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12E1C810-E67F-4A66-AC0B-9BEACA33FDD6}"/>
              </a:ext>
            </a:extLst>
          </p:cNvPr>
          <p:cNvSpPr/>
          <p:nvPr/>
        </p:nvSpPr>
        <p:spPr>
          <a:xfrm>
            <a:off x="702428" y="1022722"/>
            <a:ext cx="10867698" cy="499193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45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3FD28FB3-930D-4288-A6FF-F5460AB12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2151" y="6014660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78DDF569-1862-4455-ADD3-03C0A2F8BB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F3D5DEF7-C25F-46E0-8CB5-36822AFEC616}"/>
              </a:ext>
            </a:extLst>
          </p:cNvPr>
          <p:cNvSpPr/>
          <p:nvPr/>
        </p:nvSpPr>
        <p:spPr>
          <a:xfrm>
            <a:off x="2931736" y="1342757"/>
            <a:ext cx="4468304" cy="4222513"/>
          </a:xfrm>
          <a:prstGeom prst="rect">
            <a:avLst/>
          </a:prstGeom>
          <a:solidFill>
            <a:schemeClr val="bg1"/>
          </a:solidFill>
          <a:ln w="38100">
            <a:solidFill>
              <a:srgbClr val="1AB2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ln>
                <a:solidFill>
                  <a:srgbClr val="6FCFF1"/>
                </a:solidFill>
              </a:ln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BE2B2996-563E-427E-B85E-72219E639E2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32952" r="-1443" b="18114"/>
          <a:stretch/>
        </p:blipFill>
        <p:spPr>
          <a:xfrm>
            <a:off x="5620443" y="1585984"/>
            <a:ext cx="5078980" cy="3759014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22ABB7F0-8543-49C9-B7B0-7A3237385D32}"/>
              </a:ext>
            </a:extLst>
          </p:cNvPr>
          <p:cNvSpPr/>
          <p:nvPr/>
        </p:nvSpPr>
        <p:spPr>
          <a:xfrm>
            <a:off x="5590446" y="1547811"/>
            <a:ext cx="5086850" cy="3762375"/>
          </a:xfrm>
          <a:prstGeom prst="rect">
            <a:avLst/>
          </a:prstGeom>
          <a:solidFill>
            <a:srgbClr val="FFFFFF">
              <a:alpha val="32941"/>
            </a:srgbClr>
          </a:solidFill>
          <a:ln>
            <a:solidFill>
              <a:srgbClr val="FFFFFF">
                <a:alpha val="1607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ln>
                <a:solidFill>
                  <a:srgbClr val="000000"/>
                </a:solidFill>
              </a:ln>
              <a:solidFill>
                <a:srgbClr val="FFFFFF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477BADC-2871-484F-B5B0-A2A522567141}"/>
              </a:ext>
            </a:extLst>
          </p:cNvPr>
          <p:cNvSpPr/>
          <p:nvPr/>
        </p:nvSpPr>
        <p:spPr>
          <a:xfrm>
            <a:off x="1683048" y="1955110"/>
            <a:ext cx="4717754" cy="3003051"/>
          </a:xfrm>
          <a:prstGeom prst="rect">
            <a:avLst/>
          </a:prstGeom>
          <a:solidFill>
            <a:srgbClr val="6FCFF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highlight>
                <a:srgbClr val="1AB2D6"/>
              </a:highlight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A6EA41B-4FF6-4867-94B0-CBC5D4016EAA}"/>
              </a:ext>
            </a:extLst>
          </p:cNvPr>
          <p:cNvSpPr txBox="1"/>
          <p:nvPr/>
        </p:nvSpPr>
        <p:spPr>
          <a:xfrm>
            <a:off x="2324336" y="4077844"/>
            <a:ext cx="3467616" cy="65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25F92D0-FC9E-4B47-B55B-5ED9E2F7CF5E}"/>
              </a:ext>
            </a:extLst>
          </p:cNvPr>
          <p:cNvSpPr txBox="1"/>
          <p:nvPr/>
        </p:nvSpPr>
        <p:spPr>
          <a:xfrm>
            <a:off x="1798644" y="2538957"/>
            <a:ext cx="4031874" cy="517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dirty="0" err="1">
                <a:latin typeface="+mn-ea"/>
              </a:rPr>
              <a:t>高校自习室座位资源紧张、占座现象严重</a:t>
            </a:r>
            <a:r>
              <a:rPr sz="1200" dirty="0">
                <a:latin typeface="+mn-ea"/>
              </a:rPr>
              <a:t>。
</a:t>
            </a:r>
            <a:r>
              <a:rPr sz="1200" dirty="0" err="1">
                <a:latin typeface="+mn-ea"/>
              </a:rPr>
              <a:t>本系统实现可视化在线预约、签到管理与实时座位监控</a:t>
            </a:r>
            <a:r>
              <a:rPr sz="1200" dirty="0"/>
              <a:t>。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779C6A8-08D5-4DC1-BE54-E81FCAE9A747}"/>
              </a:ext>
            </a:extLst>
          </p:cNvPr>
          <p:cNvSpPr txBox="1"/>
          <p:nvPr/>
        </p:nvSpPr>
        <p:spPr>
          <a:xfrm>
            <a:off x="3157898" y="2212006"/>
            <a:ext cx="1800493" cy="397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sz="1400" b="1"/>
              <a:t>项目背景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78D269F-A36F-496B-BF14-6B0B2C42D14E}"/>
              </a:ext>
            </a:extLst>
          </p:cNvPr>
          <p:cNvSpPr txBox="1"/>
          <p:nvPr/>
        </p:nvSpPr>
        <p:spPr>
          <a:xfrm>
            <a:off x="1431506" y="3596955"/>
            <a:ext cx="4241489" cy="1213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dirty="0" err="1"/>
              <a:t>核心功能</a:t>
            </a:r>
            <a:endParaRPr lang="en-US" sz="1200" b="1" dirty="0"/>
          </a:p>
          <a:p>
            <a:pPr algn="ctr">
              <a:lnSpc>
                <a:spcPct val="120000"/>
              </a:lnSpc>
            </a:pPr>
            <a:r>
              <a:rPr lang="zh-CN" altLang="en-US" sz="1200" dirty="0"/>
              <a:t>多校区</a:t>
            </a:r>
            <a:r>
              <a:rPr lang="en-US" altLang="zh-CN" sz="1200" dirty="0"/>
              <a:t>/</a:t>
            </a:r>
            <a:r>
              <a:rPr lang="zh-CN" altLang="en-US" sz="1200" dirty="0"/>
              <a:t>楼栋管理  </a:t>
            </a:r>
            <a:r>
              <a:rPr lang="en-US" altLang="zh-CN" sz="1200" dirty="0"/>
              <a:t>|  </a:t>
            </a:r>
            <a:r>
              <a:rPr lang="zh-CN" altLang="en-US" sz="1200" dirty="0"/>
              <a:t>可视化选座预约
签到</a:t>
            </a:r>
            <a:r>
              <a:rPr lang="en-US" altLang="zh-CN" sz="1200" dirty="0"/>
              <a:t>/</a:t>
            </a:r>
            <a:r>
              <a:rPr lang="zh-CN" altLang="en-US" sz="1200" dirty="0"/>
              <a:t>取消</a:t>
            </a:r>
            <a:r>
              <a:rPr lang="en-US" altLang="zh-CN" sz="1200" dirty="0"/>
              <a:t>/</a:t>
            </a:r>
            <a:r>
              <a:rPr lang="zh-CN" altLang="en-US" sz="1200" dirty="0"/>
              <a:t>爽约机制  </a:t>
            </a:r>
            <a:r>
              <a:rPr lang="en-US" altLang="zh-CN" sz="1200" dirty="0"/>
              <a:t>|  </a:t>
            </a:r>
            <a:r>
              <a:rPr lang="zh-CN" altLang="en-US" sz="1200" dirty="0"/>
              <a:t>实时热力图
数据报表统计  </a:t>
            </a:r>
            <a:r>
              <a:rPr lang="en-US" altLang="zh-CN" sz="1200" dirty="0"/>
              <a:t>|  </a:t>
            </a:r>
            <a:r>
              <a:rPr lang="zh-CN" altLang="en-US" sz="1200" dirty="0"/>
              <a:t>黑名单管理</a:t>
            </a:r>
            <a:endParaRPr lang="zh-CN" altLang="en-US" sz="1200" dirty="0">
              <a:highlight>
                <a:srgbClr val="1AB2D6"/>
              </a:highlight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sz="1400" b="1" dirty="0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2CD2AA0-5146-4160-BE1A-64F493AE893B}"/>
              </a:ext>
            </a:extLst>
          </p:cNvPr>
          <p:cNvCxnSpPr>
            <a:cxnSpLocks/>
          </p:cNvCxnSpPr>
          <p:nvPr/>
        </p:nvCxnSpPr>
        <p:spPr>
          <a:xfrm>
            <a:off x="1854511" y="3429000"/>
            <a:ext cx="4241489" cy="885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图文框 17">
            <a:extLst>
              <a:ext uri="{FF2B5EF4-FFF2-40B4-BE49-F238E27FC236}">
                <a16:creationId xmlns:a16="http://schemas.microsoft.com/office/drawing/2014/main" id="{2EBE83A1-9AC6-4AAE-9316-5E2D580EB763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8D34321-1295-4C02-BDBC-357E16A48E78}"/>
              </a:ext>
            </a:extLst>
          </p:cNvPr>
          <p:cNvSpPr txBox="1"/>
          <p:nvPr/>
        </p:nvSpPr>
        <p:spPr>
          <a:xfrm>
            <a:off x="8907676" y="6246595"/>
            <a:ext cx="2345514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10643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CF1B89CE-327F-434A-85E1-F3B3FD2F0A66}"/>
              </a:ext>
            </a:extLst>
          </p:cNvPr>
          <p:cNvSpPr/>
          <p:nvPr/>
        </p:nvSpPr>
        <p:spPr>
          <a:xfrm>
            <a:off x="645795" y="954856"/>
            <a:ext cx="10867698" cy="499193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5160260" y="319939"/>
            <a:ext cx="1871477" cy="634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2200" b="1"/>
              <a:t>技术栈选型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2A2988-95E6-467B-B863-B0EB7269E73D}"/>
              </a:ext>
            </a:extLst>
          </p:cNvPr>
          <p:cNvSpPr/>
          <p:nvPr/>
        </p:nvSpPr>
        <p:spPr>
          <a:xfrm>
            <a:off x="6583010" y="1988005"/>
            <a:ext cx="4264626" cy="117640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r>
              <a:rPr sz="1200"/>
              <a:t>后端：JDK 21 + Spring Boot 3.5.x
ORM：MyBatis-Plus（分页/逻辑删除）
数据库：MySQL 8 + Redis 7
分布式锁：Redisson
认证鉴权：Sa-Token  |  文档：Knife4j
前端：Vue 3 + Vite + Element Plus
可视化：ECharts
部署：Docker Compose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1" name="图文框 10">
            <a:extLst>
              <a:ext uri="{FF2B5EF4-FFF2-40B4-BE49-F238E27FC236}">
                <a16:creationId xmlns:a16="http://schemas.microsoft.com/office/drawing/2014/main" id="{979916CB-B292-4656-AFAF-0225C3A71233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`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2936E2-8A2F-46A7-B2BA-13809057A7A7}"/>
              </a:ext>
            </a:extLst>
          </p:cNvPr>
          <p:cNvSpPr/>
          <p:nvPr/>
        </p:nvSpPr>
        <p:spPr>
          <a:xfrm>
            <a:off x="7621990" y="1509892"/>
            <a:ext cx="2728250" cy="397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800" b="1"/>
              <a:t>技术栈全景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43BDE0-2BE4-442D-B03B-D073B88C98B3}"/>
              </a:ext>
            </a:extLst>
          </p:cNvPr>
          <p:cNvSpPr/>
          <p:nvPr/>
        </p:nvSpPr>
        <p:spPr>
          <a:xfrm>
            <a:off x="645795" y="961241"/>
            <a:ext cx="4489139" cy="5007522"/>
          </a:xfrm>
          <a:prstGeom prst="rect">
            <a:avLst/>
          </a:prstGeom>
          <a:solidFill>
            <a:srgbClr val="52D6F0">
              <a:alpha val="90980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59C97C0-36E6-4AAF-BD39-C6067957C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624" y="961241"/>
            <a:ext cx="4731173" cy="499193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1DFC09E-04AA-45B4-B671-83921E969090}"/>
              </a:ext>
            </a:extLst>
          </p:cNvPr>
          <p:cNvSpPr/>
          <p:nvPr/>
        </p:nvSpPr>
        <p:spPr>
          <a:xfrm>
            <a:off x="6538569" y="3711804"/>
            <a:ext cx="4264626" cy="117640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15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ECDCAE59-B5D2-4767-B225-F62077635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506" y="5953546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D8505EC-2A26-4852-9DEA-8864BA159613}"/>
              </a:ext>
            </a:extLst>
          </p:cNvPr>
          <p:cNvSpPr/>
          <p:nvPr/>
        </p:nvSpPr>
        <p:spPr>
          <a:xfrm>
            <a:off x="557288" y="939272"/>
            <a:ext cx="5307362" cy="5007522"/>
          </a:xfrm>
          <a:prstGeom prst="rect">
            <a:avLst/>
          </a:prstGeom>
          <a:solidFill>
            <a:srgbClr val="FFFFFF">
              <a:alpha val="12157"/>
            </a:srgbClr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D397061-7D67-4ACE-AEA5-F2DB743D06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2583" y="6161706"/>
            <a:ext cx="430163" cy="43016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A1C2E8E-6516-4FA1-B599-2FE1D7433277}"/>
              </a:ext>
            </a:extLst>
          </p:cNvPr>
          <p:cNvSpPr txBox="1"/>
          <p:nvPr/>
        </p:nvSpPr>
        <p:spPr>
          <a:xfrm>
            <a:off x="8907676" y="6246595"/>
            <a:ext cx="2345514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3529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44DF250E-2595-4E66-8684-E9DE5FD27969}"/>
              </a:ext>
            </a:extLst>
          </p:cNvPr>
          <p:cNvSpPr/>
          <p:nvPr/>
        </p:nvSpPr>
        <p:spPr>
          <a:xfrm>
            <a:off x="0" y="-777438"/>
            <a:ext cx="12192000" cy="4843015"/>
          </a:xfrm>
          <a:custGeom>
            <a:avLst/>
            <a:gdLst>
              <a:gd name="connsiteX0" fmla="*/ 0 w 12192000"/>
              <a:gd name="connsiteY0" fmla="*/ 0 h 4843015"/>
              <a:gd name="connsiteX1" fmla="*/ 12192000 w 12192000"/>
              <a:gd name="connsiteY1" fmla="*/ 0 h 4843015"/>
              <a:gd name="connsiteX2" fmla="*/ 12192000 w 12192000"/>
              <a:gd name="connsiteY2" fmla="*/ 3446240 h 4843015"/>
              <a:gd name="connsiteX3" fmla="*/ 12121155 w 12192000"/>
              <a:gd name="connsiteY3" fmla="*/ 3490831 h 4843015"/>
              <a:gd name="connsiteX4" fmla="*/ 6094360 w 12192000"/>
              <a:gd name="connsiteY4" fmla="*/ 4843015 h 4843015"/>
              <a:gd name="connsiteX5" fmla="*/ 67565 w 12192000"/>
              <a:gd name="connsiteY5" fmla="*/ 3490831 h 4843015"/>
              <a:gd name="connsiteX6" fmla="*/ 0 w 12192000"/>
              <a:gd name="connsiteY6" fmla="*/ 3448305 h 48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43015">
                <a:moveTo>
                  <a:pt x="0" y="0"/>
                </a:moveTo>
                <a:lnTo>
                  <a:pt x="12192000" y="0"/>
                </a:lnTo>
                <a:lnTo>
                  <a:pt x="12192000" y="3446240"/>
                </a:lnTo>
                <a:lnTo>
                  <a:pt x="12121155" y="3490831"/>
                </a:lnTo>
                <a:cubicBezTo>
                  <a:pt x="10749621" y="4311690"/>
                  <a:pt x="8560619" y="4843015"/>
                  <a:pt x="6094360" y="4843015"/>
                </a:cubicBezTo>
                <a:cubicBezTo>
                  <a:pt x="3628101" y="4843015"/>
                  <a:pt x="1439099" y="4311690"/>
                  <a:pt x="67565" y="3490831"/>
                </a:cubicBezTo>
                <a:lnTo>
                  <a:pt x="0" y="3448305"/>
                </a:lnTo>
                <a:close/>
              </a:path>
            </a:pathLst>
          </a:custGeom>
          <a:solidFill>
            <a:srgbClr val="CCD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3F269FF-5FA8-4FA8-B67F-CA50A794C3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5" r="13" b="12356"/>
          <a:stretch/>
        </p:blipFill>
        <p:spPr>
          <a:xfrm>
            <a:off x="25189" y="-777439"/>
            <a:ext cx="12165171" cy="4624148"/>
          </a:xfrm>
          <a:custGeom>
            <a:avLst/>
            <a:gdLst>
              <a:gd name="connsiteX0" fmla="*/ 0 w 12165171"/>
              <a:gd name="connsiteY0" fmla="*/ 0 h 4624148"/>
              <a:gd name="connsiteX1" fmla="*/ 12165171 w 12165171"/>
              <a:gd name="connsiteY1" fmla="*/ 0 h 4624148"/>
              <a:gd name="connsiteX2" fmla="*/ 12165171 w 12165171"/>
              <a:gd name="connsiteY2" fmla="*/ 2999890 h 4624148"/>
              <a:gd name="connsiteX3" fmla="*/ 12039246 w 12165171"/>
              <a:gd name="connsiteY3" fmla="*/ 3082244 h 4624148"/>
              <a:gd name="connsiteX4" fmla="*/ 6069171 w 12165171"/>
              <a:gd name="connsiteY4" fmla="*/ 4624148 h 4624148"/>
              <a:gd name="connsiteX5" fmla="*/ 99096 w 12165171"/>
              <a:gd name="connsiteY5" fmla="*/ 3082244 h 4624148"/>
              <a:gd name="connsiteX6" fmla="*/ 0 w 12165171"/>
              <a:gd name="connsiteY6" fmla="*/ 3017436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65171" h="4624148">
                <a:moveTo>
                  <a:pt x="0" y="0"/>
                </a:moveTo>
                <a:lnTo>
                  <a:pt x="12165171" y="0"/>
                </a:lnTo>
                <a:lnTo>
                  <a:pt x="12165171" y="2999890"/>
                </a:lnTo>
                <a:lnTo>
                  <a:pt x="12039246" y="3082244"/>
                </a:lnTo>
                <a:cubicBezTo>
                  <a:pt x="10511371" y="4034911"/>
                  <a:pt x="8400631" y="4624148"/>
                  <a:pt x="6069171" y="4624148"/>
                </a:cubicBezTo>
                <a:cubicBezTo>
                  <a:pt x="3737712" y="4624148"/>
                  <a:pt x="1626971" y="4034911"/>
                  <a:pt x="99096" y="3082244"/>
                </a:cubicBezTo>
                <a:lnTo>
                  <a:pt x="0" y="3017436"/>
                </a:lnTo>
                <a:close/>
              </a:path>
            </a:pathLst>
          </a:custGeom>
          <a:effectLst>
            <a:outerShdw blurRad="292100" dist="139700" dir="2700000" algn="tl" rotWithShape="0">
              <a:prstClr val="black">
                <a:alpha val="65000"/>
              </a:prst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69D1897-6A15-4DC6-A1F8-C2A2342925DF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rgbClr val="CCDDF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F9ED650-4A99-4204-828A-AB51D93E3FF3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9AC3C1-8024-40F5-AC69-6797DD57C77D}"/>
              </a:ext>
            </a:extLst>
          </p:cNvPr>
          <p:cNvSpPr txBox="1"/>
          <p:nvPr/>
        </p:nvSpPr>
        <p:spPr>
          <a:xfrm>
            <a:off x="4387840" y="3634093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2800" b="1"/>
              <a:t>核心难点与解法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5FF35B-BB6F-429B-BF44-B37487A80627}"/>
              </a:ext>
            </a:extLst>
          </p:cNvPr>
          <p:cNvSpPr/>
          <p:nvPr/>
        </p:nvSpPr>
        <p:spPr>
          <a:xfrm>
            <a:off x="4434140" y="4280424"/>
            <a:ext cx="341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/>
              <a:t>CORE CHALLENGES &amp; SOLUTIONS</a:t>
            </a:r>
            <a:endParaRPr kumimoji="0" lang="en-US" altLang="zh-CN" sz="14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97BDF2-6B77-447A-840E-ECE705CE49D8}"/>
              </a:ext>
            </a:extLst>
          </p:cNvPr>
          <p:cNvSpPr txBox="1"/>
          <p:nvPr/>
        </p:nvSpPr>
        <p:spPr>
          <a:xfrm>
            <a:off x="4630981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2EE9E-C60E-4100-A8AE-F6906FCD70DD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rgbClr val="CCDDF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 Light"/>
                <a:cs typeface="+mn-cs"/>
              </a:rPr>
              <a:t>2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微软雅黑 Light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83A02F-CF0E-458D-8A48-C5ABF5ED61D0}"/>
              </a:ext>
            </a:extLst>
          </p:cNvPr>
          <p:cNvSpPr txBox="1"/>
          <p:nvPr/>
        </p:nvSpPr>
        <p:spPr>
          <a:xfrm>
            <a:off x="5712105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E25F0A4-526B-4D59-ACF8-172CC210BBFE}"/>
              </a:ext>
            </a:extLst>
          </p:cNvPr>
          <p:cNvSpPr txBox="1"/>
          <p:nvPr/>
        </p:nvSpPr>
        <p:spPr>
          <a:xfrm>
            <a:off x="6829296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9090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25592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CF4183B2-E1F3-4FF1-9312-147F8966D129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763541" y="961488"/>
            <a:ext cx="10867697" cy="5112370"/>
            <a:chOff x="-257557" y="13729"/>
            <a:chExt cx="12192000" cy="6150220"/>
          </a:xfrm>
        </p:grpSpPr>
        <p:sp>
          <p:nvSpPr>
            <p:cNvPr id="45" name="íšḻídè">
              <a:extLst>
                <a:ext uri="{FF2B5EF4-FFF2-40B4-BE49-F238E27FC236}">
                  <a16:creationId xmlns:a16="http://schemas.microsoft.com/office/drawing/2014/main" id="{8A873F55-5AF2-403D-9AE4-E0411EE8CDCE}"/>
                </a:ext>
              </a:extLst>
            </p:cNvPr>
            <p:cNvSpPr/>
            <p:nvPr/>
          </p:nvSpPr>
          <p:spPr>
            <a:xfrm>
              <a:off x="-257557" y="13729"/>
              <a:ext cx="12192000" cy="3350589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6" name="íṡḷïḍe">
              <a:extLst>
                <a:ext uri="{FF2B5EF4-FFF2-40B4-BE49-F238E27FC236}">
                  <a16:creationId xmlns:a16="http://schemas.microsoft.com/office/drawing/2014/main" id="{40AB903D-C3B3-4FB0-8D81-948C27928FDD}"/>
                </a:ext>
              </a:extLst>
            </p:cNvPr>
            <p:cNvSpPr/>
            <p:nvPr/>
          </p:nvSpPr>
          <p:spPr>
            <a:xfrm rot="5400000">
              <a:off x="4377831" y="1187448"/>
              <a:ext cx="3330373" cy="3502449"/>
            </a:xfrm>
            <a:prstGeom prst="homePlate">
              <a:avLst>
                <a:gd name="adj" fmla="val 22102"/>
              </a:avLst>
            </a:prstGeom>
            <a:solidFill>
              <a:srgbClr val="52D6F0">
                <a:alpha val="90000"/>
              </a:srgb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vert="vert270"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1200" dirty="0"/>
                <a:t>UPDATE seat SET status=</a:t>
              </a:r>
              <a:r>
                <a:rPr lang="zh-CN" altLang="en-US" sz="1200" dirty="0"/>
                <a:t>占用
</a:t>
              </a:r>
              <a:r>
                <a:rPr lang="en-US" altLang="zh-CN" sz="1200" dirty="0"/>
                <a:t>WHERE </a:t>
              </a:r>
              <a:r>
                <a:rPr lang="en-US" altLang="zh-CN" sz="1200" dirty="0" err="1"/>
                <a:t>seat_id</a:t>
              </a:r>
              <a:r>
                <a:rPr lang="en-US" altLang="zh-CN" sz="1200" dirty="0"/>
                <a:t>=? AND status=</a:t>
              </a:r>
              <a:r>
                <a:rPr lang="zh-CN" altLang="en-US" sz="1200" dirty="0"/>
                <a:t>空闲
判断 </a:t>
              </a:r>
              <a:r>
                <a:rPr lang="en-US" altLang="zh-CN" sz="1200" dirty="0"/>
                <a:t>affected rows</a:t>
              </a:r>
              <a:r>
                <a:rPr lang="zh-CN" altLang="en-US" sz="1200" dirty="0"/>
                <a:t>，并发安全</a:t>
              </a: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7" name="îṩlïḑé">
              <a:extLst>
                <a:ext uri="{FF2B5EF4-FFF2-40B4-BE49-F238E27FC236}">
                  <a16:creationId xmlns:a16="http://schemas.microsoft.com/office/drawing/2014/main" id="{660422D2-2E52-40C9-BCF0-C741D01ED1B4}"/>
                </a:ext>
              </a:extLst>
            </p:cNvPr>
            <p:cNvSpPr/>
            <p:nvPr/>
          </p:nvSpPr>
          <p:spPr bwMode="auto">
            <a:xfrm>
              <a:off x="5563591" y="5582356"/>
              <a:ext cx="620400" cy="581593"/>
            </a:xfrm>
            <a:custGeom>
              <a:avLst/>
              <a:gdLst>
                <a:gd name="connsiteX0" fmla="*/ 325000 h 606722"/>
                <a:gd name="connsiteY0" fmla="*/ 325000 h 606722"/>
                <a:gd name="connsiteX1" fmla="*/ 325000 h 606722"/>
                <a:gd name="connsiteY1" fmla="*/ 325000 h 606722"/>
                <a:gd name="connsiteX2" fmla="*/ 325000 h 606722"/>
                <a:gd name="connsiteY2" fmla="*/ 325000 h 606722"/>
                <a:gd name="connsiteX3" fmla="*/ 325000 h 606722"/>
                <a:gd name="connsiteY3" fmla="*/ 325000 h 606722"/>
                <a:gd name="connsiteX4" fmla="*/ 325000 h 606722"/>
                <a:gd name="connsiteY4" fmla="*/ 325000 h 606722"/>
                <a:gd name="connsiteX5" fmla="*/ 325000 h 606722"/>
                <a:gd name="connsiteY5" fmla="*/ 325000 h 606722"/>
                <a:gd name="connsiteX6" fmla="*/ 325000 h 606722"/>
                <a:gd name="connsiteY6" fmla="*/ 325000 h 606722"/>
                <a:gd name="connsiteX7" fmla="*/ 325000 h 606722"/>
                <a:gd name="connsiteY7" fmla="*/ 325000 h 606722"/>
                <a:gd name="connsiteX8" fmla="*/ 325000 h 606722"/>
                <a:gd name="connsiteY8" fmla="*/ 325000 h 606722"/>
                <a:gd name="connsiteX9" fmla="*/ 325000 h 606722"/>
                <a:gd name="connsiteY9" fmla="*/ 325000 h 606722"/>
                <a:gd name="connsiteX10" fmla="*/ 325000 h 606722"/>
                <a:gd name="connsiteY10" fmla="*/ 325000 h 606722"/>
                <a:gd name="connsiteX11" fmla="*/ 325000 h 606722"/>
                <a:gd name="connsiteY11" fmla="*/ 325000 h 606722"/>
                <a:gd name="connsiteX12" fmla="*/ 325000 h 606722"/>
                <a:gd name="connsiteY12" fmla="*/ 325000 h 606722"/>
                <a:gd name="connsiteX13" fmla="*/ 325000 h 606722"/>
                <a:gd name="connsiteY13" fmla="*/ 325000 h 606722"/>
                <a:gd name="connsiteX14" fmla="*/ 325000 h 606722"/>
                <a:gd name="connsiteY14" fmla="*/ 325000 h 606722"/>
                <a:gd name="connsiteX15" fmla="*/ 325000 h 606722"/>
                <a:gd name="connsiteY15" fmla="*/ 325000 h 606722"/>
                <a:gd name="connsiteX16" fmla="*/ 325000 h 606722"/>
                <a:gd name="connsiteY16" fmla="*/ 32500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06933" h="568969">
                  <a:moveTo>
                    <a:pt x="186787" y="175073"/>
                  </a:moveTo>
                  <a:lnTo>
                    <a:pt x="606933" y="175073"/>
                  </a:lnTo>
                  <a:lnTo>
                    <a:pt x="606933" y="474766"/>
                  </a:lnTo>
                  <a:lnTo>
                    <a:pt x="542311" y="474766"/>
                  </a:lnTo>
                  <a:lnTo>
                    <a:pt x="542311" y="568969"/>
                  </a:lnTo>
                  <a:lnTo>
                    <a:pt x="447978" y="474766"/>
                  </a:lnTo>
                  <a:lnTo>
                    <a:pt x="186787" y="474766"/>
                  </a:lnTo>
                  <a:close/>
                  <a:moveTo>
                    <a:pt x="0" y="0"/>
                  </a:moveTo>
                  <a:lnTo>
                    <a:pt x="420217" y="0"/>
                  </a:lnTo>
                  <a:lnTo>
                    <a:pt x="420217" y="135062"/>
                  </a:lnTo>
                  <a:lnTo>
                    <a:pt x="186797" y="135062"/>
                  </a:lnTo>
                  <a:lnTo>
                    <a:pt x="146776" y="135062"/>
                  </a:lnTo>
                  <a:lnTo>
                    <a:pt x="146776" y="175021"/>
                  </a:lnTo>
                  <a:lnTo>
                    <a:pt x="146776" y="311880"/>
                  </a:lnTo>
                  <a:lnTo>
                    <a:pt x="64634" y="393896"/>
                  </a:lnTo>
                  <a:lnTo>
                    <a:pt x="64634" y="299693"/>
                  </a:lnTo>
                  <a:lnTo>
                    <a:pt x="0" y="299693"/>
                  </a:lnTo>
                  <a:close/>
                </a:path>
              </a:pathLst>
            </a:custGeom>
            <a:solidFill>
              <a:srgbClr val="52D6F0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</p:grpSp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4818737" y="179213"/>
            <a:ext cx="2506309" cy="465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2200" b="1" dirty="0" err="1"/>
              <a:t>难点一：并</a:t>
            </a:r>
            <a:r>
              <a:rPr lang="zh-CN" altLang="en-US" sz="2200" b="1" dirty="0"/>
              <a:t>发</a:t>
            </a:r>
            <a:r>
              <a:rPr sz="2200" b="1" dirty="0" err="1"/>
              <a:t>抢座</a:t>
            </a:r>
            <a:endParaRPr sz="2200" b="1" dirty="0"/>
          </a:p>
        </p:txBody>
      </p:sp>
      <p:pic>
        <p:nvPicPr>
          <p:cNvPr id="14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87629AD9-D353-4915-B315-33F7A5DD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6871" y="6034974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stomText2">
            <a:extLst>
              <a:ext uri="{FF2B5EF4-FFF2-40B4-BE49-F238E27FC236}">
                <a16:creationId xmlns:a16="http://schemas.microsoft.com/office/drawing/2014/main" id="{DAFB178E-C9BE-46BD-B342-8394F169252E}"/>
              </a:ext>
            </a:extLst>
          </p:cNvPr>
          <p:cNvSpPr txBox="1"/>
          <p:nvPr/>
        </p:nvSpPr>
        <p:spPr bwMode="auto">
          <a:xfrm>
            <a:off x="2650199" y="4075701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 dirty="0" err="1"/>
              <a:t>第一层：唯一索引</a:t>
            </a:r>
            <a:endParaRPr sz="1400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6581E38-654F-4D18-9F1E-E11D9EDD37F1}"/>
              </a:ext>
            </a:extLst>
          </p:cNvPr>
          <p:cNvSpPr txBox="1"/>
          <p:nvPr/>
        </p:nvSpPr>
        <p:spPr>
          <a:xfrm>
            <a:off x="8907676" y="6246595"/>
            <a:ext cx="2403222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DF23506-552E-487F-86D8-918A4C42BF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31" name="图文框 30">
            <a:extLst>
              <a:ext uri="{FF2B5EF4-FFF2-40B4-BE49-F238E27FC236}">
                <a16:creationId xmlns:a16="http://schemas.microsoft.com/office/drawing/2014/main" id="{C674F360-61EF-4C54-B413-D4E89B600EF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`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061E876-C0D4-4788-9DC9-3C368E2EFB41}"/>
              </a:ext>
            </a:extLst>
          </p:cNvPr>
          <p:cNvSpPr/>
          <p:nvPr/>
        </p:nvSpPr>
        <p:spPr>
          <a:xfrm>
            <a:off x="8220397" y="4488910"/>
            <a:ext cx="3090501" cy="9146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100" dirty="0" err="1"/>
              <a:t>Redisson</a:t>
            </a:r>
            <a:r>
              <a:rPr sz="1100" dirty="0"/>
              <a:t> </a:t>
            </a:r>
            <a:r>
              <a:rPr sz="1100" dirty="0" err="1"/>
              <a:t>分布式锁</a:t>
            </a:r>
            <a:r>
              <a:rPr sz="1100" dirty="0"/>
              <a:t>
锁 key = </a:t>
            </a:r>
            <a:r>
              <a:rPr sz="1100" dirty="0" err="1"/>
              <a:t>座位+时段</a:t>
            </a:r>
            <a:r>
              <a:rPr sz="1100" dirty="0"/>
              <a:t>
</a:t>
            </a:r>
            <a:r>
              <a:rPr sz="1100" dirty="0" err="1"/>
              <a:t>高并发下拦截无效请求</a:t>
            </a:r>
            <a:endParaRPr sz="1100" dirty="0"/>
          </a:p>
        </p:txBody>
      </p:sp>
      <p:sp>
        <p:nvSpPr>
          <p:cNvPr id="56" name="CustomText2">
            <a:extLst>
              <a:ext uri="{FF2B5EF4-FFF2-40B4-BE49-F238E27FC236}">
                <a16:creationId xmlns:a16="http://schemas.microsoft.com/office/drawing/2014/main" id="{BA1D2908-1C02-416A-81A6-2FEBA29FB87A}"/>
              </a:ext>
            </a:extLst>
          </p:cNvPr>
          <p:cNvSpPr txBox="1"/>
          <p:nvPr/>
        </p:nvSpPr>
        <p:spPr bwMode="auto">
          <a:xfrm>
            <a:off x="2605188" y="4763826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defRPr/>
            </a:pPr>
            <a:r>
              <a:rPr lang="en-US" altLang="zh-CN" sz="1100" dirty="0"/>
              <a:t>reservation </a:t>
            </a:r>
            <a:r>
              <a:rPr lang="zh-CN" altLang="en-US" sz="1100" dirty="0"/>
              <a:t>表建唯一索引
</a:t>
            </a:r>
            <a:r>
              <a:rPr lang="en-US" altLang="zh-CN" sz="1100" dirty="0"/>
              <a:t>(</a:t>
            </a:r>
            <a:r>
              <a:rPr lang="en-US" altLang="zh-CN" sz="1100" dirty="0" err="1"/>
              <a:t>seat_id</a:t>
            </a:r>
            <a:r>
              <a:rPr lang="en-US" altLang="zh-CN" sz="1100" dirty="0"/>
              <a:t>, date, </a:t>
            </a:r>
            <a:r>
              <a:rPr lang="en-US" altLang="zh-CN" sz="1100" dirty="0" err="1"/>
              <a:t>time_slot</a:t>
            </a:r>
            <a:r>
              <a:rPr lang="en-US" altLang="zh-CN" sz="1100" dirty="0"/>
              <a:t>)
</a:t>
            </a:r>
            <a:r>
              <a:rPr lang="zh-CN" altLang="en-US" sz="1100" dirty="0"/>
              <a:t>数据库层面保证不超卖</a:t>
            </a:r>
            <a:endParaRPr lang="zh-CN" altLang="en-US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endParaRPr sz="1100" dirty="0"/>
          </a:p>
        </p:txBody>
      </p:sp>
      <p:sp>
        <p:nvSpPr>
          <p:cNvPr id="57" name="CustomText2">
            <a:extLst>
              <a:ext uri="{FF2B5EF4-FFF2-40B4-BE49-F238E27FC236}">
                <a16:creationId xmlns:a16="http://schemas.microsoft.com/office/drawing/2014/main" id="{71BAA01F-F6F4-4B1A-9D7E-6D861E7535D6}"/>
              </a:ext>
            </a:extLst>
          </p:cNvPr>
          <p:cNvSpPr txBox="1"/>
          <p:nvPr/>
        </p:nvSpPr>
        <p:spPr bwMode="auto">
          <a:xfrm>
            <a:off x="8107844" y="4132367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 dirty="0" err="1"/>
              <a:t>第三层：分布式锁</a:t>
            </a:r>
            <a:endParaRPr sz="1400" b="1" dirty="0"/>
          </a:p>
        </p:txBody>
      </p:sp>
      <p:sp>
        <p:nvSpPr>
          <p:cNvPr id="58" name="CustomText2">
            <a:extLst>
              <a:ext uri="{FF2B5EF4-FFF2-40B4-BE49-F238E27FC236}">
                <a16:creationId xmlns:a16="http://schemas.microsoft.com/office/drawing/2014/main" id="{1F305CE6-1A30-436A-843F-ACB15D618F07}"/>
              </a:ext>
            </a:extLst>
          </p:cNvPr>
          <p:cNvSpPr txBox="1"/>
          <p:nvPr/>
        </p:nvSpPr>
        <p:spPr bwMode="auto">
          <a:xfrm>
            <a:off x="5505576" y="2230942"/>
            <a:ext cx="2130001" cy="45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 dirty="0" err="1"/>
              <a:t>第二层：乐观锁</a:t>
            </a:r>
            <a:r>
              <a:rPr sz="1400" b="1" dirty="0"/>
              <a:t> CAS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F2A7F54-E2BA-4207-88B7-B1317215D3FC}"/>
              </a:ext>
            </a:extLst>
          </p:cNvPr>
          <p:cNvSpPr/>
          <p:nvPr/>
        </p:nvSpPr>
        <p:spPr>
          <a:xfrm>
            <a:off x="4466190" y="3753603"/>
            <a:ext cx="3090501" cy="1059004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……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704606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4964481" y="37145"/>
            <a:ext cx="2130233" cy="871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2200" b="1" dirty="0" err="1"/>
              <a:t>难点二：超时自动释放</a:t>
            </a:r>
            <a:endParaRPr sz="2200" b="1" dirty="0"/>
          </a:p>
        </p:txBody>
      </p:sp>
      <p:sp>
        <p:nvSpPr>
          <p:cNvPr id="15" name="矩形 14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12E1C810-E67F-4A66-AC0B-9BEACA33FDD6}"/>
              </a:ext>
            </a:extLst>
          </p:cNvPr>
          <p:cNvSpPr/>
          <p:nvPr/>
        </p:nvSpPr>
        <p:spPr>
          <a:xfrm>
            <a:off x="1054579" y="930376"/>
            <a:ext cx="10716835" cy="50644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lnSpc>
                <a:spcPct val="120000"/>
              </a:lnSpc>
            </a:pPr>
            <a:r>
              <a:rPr sz="1100" dirty="0"/>
              <a:t>Redis </a:t>
            </a:r>
            <a:r>
              <a:rPr sz="1100" dirty="0" err="1"/>
              <a:t>ZSet</a:t>
            </a:r>
            <a:r>
              <a:rPr sz="1100" dirty="0"/>
              <a:t> </a:t>
            </a:r>
            <a:r>
              <a:rPr sz="1100" dirty="0" err="1"/>
              <a:t>延迟队列</a:t>
            </a:r>
            <a:r>
              <a:rPr sz="1100" dirty="0"/>
              <a:t>
</a:t>
            </a:r>
            <a:r>
              <a:rPr sz="1100" dirty="0" err="1"/>
              <a:t>签到截止时间作为</a:t>
            </a:r>
            <a:r>
              <a:rPr sz="1100" dirty="0"/>
              <a:t> score
</a:t>
            </a:r>
            <a:r>
              <a:rPr sz="1100" dirty="0" err="1"/>
              <a:t>到点精准触发释放+爽约计数</a:t>
            </a:r>
            <a:endParaRPr lang="zh-CN" altLang="en-US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14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87629AD9-D353-4915-B315-33F7A5DD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2151" y="6014660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2EAE386C-37A7-4C44-990A-C0F10FB5D6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45" name="图文框 44">
            <a:extLst>
              <a:ext uri="{FF2B5EF4-FFF2-40B4-BE49-F238E27FC236}">
                <a16:creationId xmlns:a16="http://schemas.microsoft.com/office/drawing/2014/main" id="{B28479FE-6275-4D5C-B4A4-62B5C8C0BD18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100" dirty="0">
                <a:solidFill>
                  <a:srgbClr val="000000"/>
                </a:solidFill>
              </a:rPr>
              <a:t>@Scheduled </a:t>
            </a:r>
            <a:r>
              <a:rPr sz="1100" dirty="0" err="1">
                <a:solidFill>
                  <a:srgbClr val="000000"/>
                </a:solidFill>
              </a:rPr>
              <a:t>定时任务</a:t>
            </a:r>
            <a:r>
              <a:rPr sz="1100" dirty="0"/>
              <a:t>
</a:t>
            </a:r>
            <a:r>
              <a:rPr sz="1100" dirty="0" err="1">
                <a:solidFill>
                  <a:srgbClr val="000000"/>
                </a:solidFill>
              </a:rPr>
              <a:t>每分钟扫全表</a:t>
            </a:r>
            <a:r>
              <a:rPr sz="1100" dirty="0">
                <a:solidFill>
                  <a:srgbClr val="000000"/>
                </a:solidFill>
              </a:rPr>
              <a:t>
</a:t>
            </a:r>
            <a:r>
              <a:rPr sz="1100" dirty="0" err="1">
                <a:solidFill>
                  <a:srgbClr val="000000"/>
                </a:solidFill>
              </a:rPr>
              <a:t>缺陷：扫全表、精度差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22F351-C1CD-44DC-9DC0-D1C7BD716205}"/>
              </a:ext>
            </a:extLst>
          </p:cNvPr>
          <p:cNvSpPr/>
          <p:nvPr/>
        </p:nvSpPr>
        <p:spPr>
          <a:xfrm>
            <a:off x="7118588" y="949339"/>
            <a:ext cx="4378550" cy="5057689"/>
          </a:xfrm>
          <a:prstGeom prst="rect">
            <a:avLst/>
          </a:prstGeom>
          <a:solidFill>
            <a:srgbClr val="52D6F0"/>
          </a:solidFill>
          <a:ln>
            <a:solidFill>
              <a:srgbClr val="52D6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sz="1100"/>
              <a:t>释放时 no_show_count + 1
达阈值写入 blacklist_until
预约接口前置校验拦截</a:t>
            </a:r>
            <a:endParaRPr lang="zh-CN" altLang="en-US" dirty="0"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3C63D49-735A-4F3A-92B8-41AF5E0B66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845" y="941705"/>
            <a:ext cx="3656293" cy="5041829"/>
          </a:xfrm>
          <a:prstGeom prst="rect">
            <a:avLst/>
          </a:prstGeom>
        </p:spPr>
      </p:pic>
      <p:sp>
        <p:nvSpPr>
          <p:cNvPr id="136" name="ïṥḷíde">
            <a:extLst>
              <a:ext uri="{FF2B5EF4-FFF2-40B4-BE49-F238E27FC236}">
                <a16:creationId xmlns:a16="http://schemas.microsoft.com/office/drawing/2014/main" id="{E856D8F1-564C-4D7F-9C63-5334F6D9FB99}"/>
              </a:ext>
            </a:extLst>
          </p:cNvPr>
          <p:cNvSpPr/>
          <p:nvPr/>
        </p:nvSpPr>
        <p:spPr>
          <a:xfrm>
            <a:off x="1834674" y="1809021"/>
            <a:ext cx="656373" cy="648034"/>
          </a:xfrm>
          <a:prstGeom prst="ellipse">
            <a:avLst/>
          </a:prstGeom>
          <a:solidFill>
            <a:schemeClr val="bg1"/>
          </a:solidFill>
          <a:ln w="12700">
            <a:solidFill>
              <a:srgbClr val="52D6F0"/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7" name="í$líḍê">
            <a:extLst>
              <a:ext uri="{FF2B5EF4-FFF2-40B4-BE49-F238E27FC236}">
                <a16:creationId xmlns:a16="http://schemas.microsoft.com/office/drawing/2014/main" id="{F7D35092-B758-488E-9989-86D970ED102A}"/>
              </a:ext>
            </a:extLst>
          </p:cNvPr>
          <p:cNvSpPr/>
          <p:nvPr/>
        </p:nvSpPr>
        <p:spPr>
          <a:xfrm>
            <a:off x="1934757" y="1977668"/>
            <a:ext cx="426500" cy="330272"/>
          </a:xfrm>
          <a:custGeom>
            <a:avLst/>
            <a:gdLst>
              <a:gd name="T0" fmla="*/ 4312 w 5733"/>
              <a:gd name="T1" fmla="*/ 1076 h 4446"/>
              <a:gd name="T2" fmla="*/ 4149 w 5733"/>
              <a:gd name="T3" fmla="*/ 1085 h 4446"/>
              <a:gd name="T4" fmla="*/ 3733 w 5733"/>
              <a:gd name="T5" fmla="*/ 378 h 4446"/>
              <a:gd name="T6" fmla="*/ 2768 w 5733"/>
              <a:gd name="T7" fmla="*/ 0 h 4446"/>
              <a:gd name="T8" fmla="*/ 1389 w 5733"/>
              <a:gd name="T9" fmla="*/ 1076 h 4446"/>
              <a:gd name="T10" fmla="*/ 0 w 5733"/>
              <a:gd name="T11" fmla="*/ 2497 h 4446"/>
              <a:gd name="T12" fmla="*/ 1421 w 5733"/>
              <a:gd name="T13" fmla="*/ 3918 h 4446"/>
              <a:gd name="T14" fmla="*/ 2255 w 5733"/>
              <a:gd name="T15" fmla="*/ 3918 h 4446"/>
              <a:gd name="T16" fmla="*/ 2484 w 5733"/>
              <a:gd name="T17" fmla="*/ 4246 h 4446"/>
              <a:gd name="T18" fmla="*/ 2867 w 5733"/>
              <a:gd name="T19" fmla="*/ 4446 h 4446"/>
              <a:gd name="T20" fmla="*/ 3249 w 5733"/>
              <a:gd name="T21" fmla="*/ 4246 h 4446"/>
              <a:gd name="T22" fmla="*/ 3478 w 5733"/>
              <a:gd name="T23" fmla="*/ 3918 h 4446"/>
              <a:gd name="T24" fmla="*/ 4312 w 5733"/>
              <a:gd name="T25" fmla="*/ 3918 h 4446"/>
              <a:gd name="T26" fmla="*/ 5733 w 5733"/>
              <a:gd name="T27" fmla="*/ 2497 h 4446"/>
              <a:gd name="T28" fmla="*/ 4312 w 5733"/>
              <a:gd name="T29" fmla="*/ 1076 h 4446"/>
              <a:gd name="T30" fmla="*/ 3698 w 5733"/>
              <a:gd name="T31" fmla="*/ 3159 h 4446"/>
              <a:gd name="T32" fmla="*/ 3031 w 5733"/>
              <a:gd name="T33" fmla="*/ 4116 h 4446"/>
              <a:gd name="T34" fmla="*/ 2867 w 5733"/>
              <a:gd name="T35" fmla="*/ 4201 h 4446"/>
              <a:gd name="T36" fmla="*/ 2703 w 5733"/>
              <a:gd name="T37" fmla="*/ 4116 h 4446"/>
              <a:gd name="T38" fmla="*/ 2035 w 5733"/>
              <a:gd name="T39" fmla="*/ 3159 h 4446"/>
              <a:gd name="T40" fmla="*/ 2022 w 5733"/>
              <a:gd name="T41" fmla="*/ 2952 h 4446"/>
              <a:gd name="T42" fmla="*/ 2200 w 5733"/>
              <a:gd name="T43" fmla="*/ 2845 h 4446"/>
              <a:gd name="T44" fmla="*/ 2480 w 5733"/>
              <a:gd name="T45" fmla="*/ 2845 h 4446"/>
              <a:gd name="T46" fmla="*/ 2480 w 5733"/>
              <a:gd name="T47" fmla="*/ 2016 h 4446"/>
              <a:gd name="T48" fmla="*/ 2680 w 5733"/>
              <a:gd name="T49" fmla="*/ 1816 h 4446"/>
              <a:gd name="T50" fmla="*/ 3053 w 5733"/>
              <a:gd name="T51" fmla="*/ 1816 h 4446"/>
              <a:gd name="T52" fmla="*/ 3253 w 5733"/>
              <a:gd name="T53" fmla="*/ 2016 h 4446"/>
              <a:gd name="T54" fmla="*/ 3253 w 5733"/>
              <a:gd name="T55" fmla="*/ 2845 h 4446"/>
              <a:gd name="T56" fmla="*/ 3534 w 5733"/>
              <a:gd name="T57" fmla="*/ 2845 h 4446"/>
              <a:gd name="T58" fmla="*/ 3711 w 5733"/>
              <a:gd name="T59" fmla="*/ 2952 h 4446"/>
              <a:gd name="T60" fmla="*/ 3698 w 5733"/>
              <a:gd name="T61" fmla="*/ 3159 h 4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5733" h="4446">
                <a:moveTo>
                  <a:pt x="4312" y="1076"/>
                </a:moveTo>
                <a:cubicBezTo>
                  <a:pt x="4257" y="1076"/>
                  <a:pt x="4203" y="1079"/>
                  <a:pt x="4149" y="1085"/>
                </a:cubicBezTo>
                <a:cubicBezTo>
                  <a:pt x="4083" y="815"/>
                  <a:pt x="3940" y="570"/>
                  <a:pt x="3733" y="378"/>
                </a:cubicBezTo>
                <a:cubicBezTo>
                  <a:pt x="3470" y="134"/>
                  <a:pt x="3127" y="0"/>
                  <a:pt x="2768" y="0"/>
                </a:cubicBezTo>
                <a:cubicBezTo>
                  <a:pt x="2107" y="0"/>
                  <a:pt x="1544" y="451"/>
                  <a:pt x="1389" y="1076"/>
                </a:cubicBezTo>
                <a:cubicBezTo>
                  <a:pt x="620" y="1093"/>
                  <a:pt x="0" y="1724"/>
                  <a:pt x="0" y="2497"/>
                </a:cubicBezTo>
                <a:cubicBezTo>
                  <a:pt x="0" y="3280"/>
                  <a:pt x="637" y="3918"/>
                  <a:pt x="1421" y="3918"/>
                </a:cubicBezTo>
                <a:lnTo>
                  <a:pt x="2255" y="3918"/>
                </a:lnTo>
                <a:lnTo>
                  <a:pt x="2484" y="4246"/>
                </a:lnTo>
                <a:cubicBezTo>
                  <a:pt x="2571" y="4371"/>
                  <a:pt x="2714" y="4446"/>
                  <a:pt x="2867" y="4446"/>
                </a:cubicBezTo>
                <a:cubicBezTo>
                  <a:pt x="3019" y="4446"/>
                  <a:pt x="3162" y="4371"/>
                  <a:pt x="3249" y="4246"/>
                </a:cubicBezTo>
                <a:lnTo>
                  <a:pt x="3478" y="3918"/>
                </a:lnTo>
                <a:lnTo>
                  <a:pt x="4312" y="3918"/>
                </a:lnTo>
                <a:cubicBezTo>
                  <a:pt x="5096" y="3918"/>
                  <a:pt x="5733" y="3280"/>
                  <a:pt x="5733" y="2497"/>
                </a:cubicBezTo>
                <a:cubicBezTo>
                  <a:pt x="5733" y="1713"/>
                  <a:pt x="5096" y="1076"/>
                  <a:pt x="4312" y="1076"/>
                </a:cubicBezTo>
                <a:close/>
                <a:moveTo>
                  <a:pt x="3698" y="3159"/>
                </a:moveTo>
                <a:lnTo>
                  <a:pt x="3031" y="4116"/>
                </a:lnTo>
                <a:cubicBezTo>
                  <a:pt x="2993" y="4169"/>
                  <a:pt x="2932" y="4201"/>
                  <a:pt x="2867" y="4201"/>
                </a:cubicBezTo>
                <a:cubicBezTo>
                  <a:pt x="2801" y="4201"/>
                  <a:pt x="2740" y="4169"/>
                  <a:pt x="2703" y="4116"/>
                </a:cubicBezTo>
                <a:lnTo>
                  <a:pt x="2035" y="3159"/>
                </a:lnTo>
                <a:cubicBezTo>
                  <a:pt x="1993" y="3098"/>
                  <a:pt x="1988" y="3018"/>
                  <a:pt x="2022" y="2952"/>
                </a:cubicBezTo>
                <a:cubicBezTo>
                  <a:pt x="2057" y="2886"/>
                  <a:pt x="2125" y="2845"/>
                  <a:pt x="2200" y="2845"/>
                </a:cubicBezTo>
                <a:lnTo>
                  <a:pt x="2480" y="2845"/>
                </a:lnTo>
                <a:lnTo>
                  <a:pt x="2480" y="2016"/>
                </a:lnTo>
                <a:cubicBezTo>
                  <a:pt x="2480" y="1906"/>
                  <a:pt x="2570" y="1816"/>
                  <a:pt x="2680" y="1816"/>
                </a:cubicBezTo>
                <a:lnTo>
                  <a:pt x="3053" y="1816"/>
                </a:lnTo>
                <a:cubicBezTo>
                  <a:pt x="3164" y="1816"/>
                  <a:pt x="3253" y="1906"/>
                  <a:pt x="3253" y="2016"/>
                </a:cubicBezTo>
                <a:lnTo>
                  <a:pt x="3253" y="2845"/>
                </a:lnTo>
                <a:lnTo>
                  <a:pt x="3534" y="2845"/>
                </a:lnTo>
                <a:cubicBezTo>
                  <a:pt x="3608" y="2845"/>
                  <a:pt x="3677" y="2886"/>
                  <a:pt x="3711" y="2952"/>
                </a:cubicBezTo>
                <a:cubicBezTo>
                  <a:pt x="3746" y="3018"/>
                  <a:pt x="3740" y="3098"/>
                  <a:pt x="3698" y="3159"/>
                </a:cubicBezTo>
                <a:close/>
              </a:path>
            </a:pathLst>
          </a:custGeom>
          <a:solidFill>
            <a:srgbClr val="52D6F0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40000"/>
              </a:lnSpc>
            </a:pPr>
            <a:endParaRPr lang="zh-CN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8" name="îṡľiḑè">
            <a:extLst>
              <a:ext uri="{FF2B5EF4-FFF2-40B4-BE49-F238E27FC236}">
                <a16:creationId xmlns:a16="http://schemas.microsoft.com/office/drawing/2014/main" id="{89F5A579-15D1-47B5-962F-A72A1536D1DB}"/>
              </a:ext>
            </a:extLst>
          </p:cNvPr>
          <p:cNvSpPr/>
          <p:nvPr/>
        </p:nvSpPr>
        <p:spPr>
          <a:xfrm>
            <a:off x="3534757" y="1809021"/>
            <a:ext cx="656373" cy="648034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B0F0"/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2000" b="1" i="1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9" name="íṣ1ïḓè">
            <a:extLst>
              <a:ext uri="{FF2B5EF4-FFF2-40B4-BE49-F238E27FC236}">
                <a16:creationId xmlns:a16="http://schemas.microsoft.com/office/drawing/2014/main" id="{630FB40B-6970-47B1-BBC9-4B2E09669C2B}"/>
              </a:ext>
            </a:extLst>
          </p:cNvPr>
          <p:cNvSpPr/>
          <p:nvPr/>
        </p:nvSpPr>
        <p:spPr>
          <a:xfrm>
            <a:off x="3683728" y="1951958"/>
            <a:ext cx="394934" cy="408394"/>
          </a:xfrm>
          <a:custGeom>
            <a:avLst/>
            <a:gdLst>
              <a:gd name="connsiteX0" fmla="*/ 554327 w 582017"/>
              <a:gd name="connsiteY0" fmla="*/ 398973 h 601853"/>
              <a:gd name="connsiteX1" fmla="*/ 563560 w 582017"/>
              <a:gd name="connsiteY1" fmla="*/ 402454 h 601853"/>
              <a:gd name="connsiteX2" fmla="*/ 577799 w 582017"/>
              <a:gd name="connsiteY2" fmla="*/ 415635 h 601853"/>
              <a:gd name="connsiteX3" fmla="*/ 578540 w 582017"/>
              <a:gd name="connsiteY3" fmla="*/ 434001 h 601853"/>
              <a:gd name="connsiteX4" fmla="*/ 468040 w 582017"/>
              <a:gd name="connsiteY4" fmla="*/ 550266 h 601853"/>
              <a:gd name="connsiteX5" fmla="*/ 448758 w 582017"/>
              <a:gd name="connsiteY5" fmla="*/ 552043 h 601853"/>
              <a:gd name="connsiteX6" fmla="*/ 357392 w 582017"/>
              <a:gd name="connsiteY6" fmla="*/ 484654 h 601853"/>
              <a:gd name="connsiteX7" fmla="*/ 354870 w 582017"/>
              <a:gd name="connsiteY7" fmla="*/ 466584 h 601853"/>
              <a:gd name="connsiteX8" fmla="*/ 366588 w 582017"/>
              <a:gd name="connsiteY8" fmla="*/ 451033 h 601853"/>
              <a:gd name="connsiteX9" fmla="*/ 384831 w 582017"/>
              <a:gd name="connsiteY9" fmla="*/ 448367 h 601853"/>
              <a:gd name="connsiteX10" fmla="*/ 443419 w 582017"/>
              <a:gd name="connsiteY10" fmla="*/ 491319 h 601853"/>
              <a:gd name="connsiteX11" fmla="*/ 462701 w 582017"/>
              <a:gd name="connsiteY11" fmla="*/ 489393 h 601853"/>
              <a:gd name="connsiteX12" fmla="*/ 545316 w 582017"/>
              <a:gd name="connsiteY12" fmla="*/ 403046 h 601853"/>
              <a:gd name="connsiteX13" fmla="*/ 554327 w 582017"/>
              <a:gd name="connsiteY13" fmla="*/ 398973 h 601853"/>
              <a:gd name="connsiteX14" fmla="*/ 262860 w 582017"/>
              <a:gd name="connsiteY14" fmla="*/ 0 h 601853"/>
              <a:gd name="connsiteX15" fmla="*/ 415651 w 582017"/>
              <a:gd name="connsiteY15" fmla="*/ 73473 h 601853"/>
              <a:gd name="connsiteX16" fmla="*/ 510885 w 582017"/>
              <a:gd name="connsiteY16" fmla="*/ 82805 h 601853"/>
              <a:gd name="connsiteX17" fmla="*/ 524829 w 582017"/>
              <a:gd name="connsiteY17" fmla="*/ 99543 h 601853"/>
              <a:gd name="connsiteX18" fmla="*/ 525571 w 582017"/>
              <a:gd name="connsiteY18" fmla="*/ 272856 h 601853"/>
              <a:gd name="connsiteX19" fmla="*/ 517412 w 582017"/>
              <a:gd name="connsiteY19" fmla="*/ 332108 h 601853"/>
              <a:gd name="connsiteX20" fmla="*/ 506138 w 582017"/>
              <a:gd name="connsiteY20" fmla="*/ 338181 h 601853"/>
              <a:gd name="connsiteX21" fmla="*/ 467125 w 582017"/>
              <a:gd name="connsiteY21" fmla="*/ 332849 h 601853"/>
              <a:gd name="connsiteX22" fmla="*/ 322938 w 582017"/>
              <a:gd name="connsiteY22" fmla="*/ 476831 h 601853"/>
              <a:gd name="connsiteX23" fmla="*/ 344002 w 582017"/>
              <a:gd name="connsiteY23" fmla="*/ 551933 h 601853"/>
              <a:gd name="connsiteX24" fmla="*/ 343260 w 582017"/>
              <a:gd name="connsiteY24" fmla="*/ 561265 h 601853"/>
              <a:gd name="connsiteX25" fmla="*/ 262860 w 582017"/>
              <a:gd name="connsiteY25" fmla="*/ 601853 h 601853"/>
              <a:gd name="connsiteX26" fmla="*/ 0 w 582017"/>
              <a:gd name="connsiteY26" fmla="*/ 272856 h 601853"/>
              <a:gd name="connsiteX27" fmla="*/ 3263 w 582017"/>
              <a:gd name="connsiteY27" fmla="*/ 93766 h 601853"/>
              <a:gd name="connsiteX28" fmla="*/ 15872 w 582017"/>
              <a:gd name="connsiteY28" fmla="*/ 80879 h 601853"/>
              <a:gd name="connsiteX29" fmla="*/ 126386 w 582017"/>
              <a:gd name="connsiteY29" fmla="*/ 73473 h 601853"/>
              <a:gd name="connsiteX30" fmla="*/ 262860 w 582017"/>
              <a:gd name="connsiteY30" fmla="*/ 0 h 601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82017" h="601853">
                <a:moveTo>
                  <a:pt x="554327" y="398973"/>
                </a:moveTo>
                <a:cubicBezTo>
                  <a:pt x="557627" y="398862"/>
                  <a:pt x="560965" y="400010"/>
                  <a:pt x="563560" y="402454"/>
                </a:cubicBezTo>
                <a:lnTo>
                  <a:pt x="577799" y="415635"/>
                </a:lnTo>
                <a:cubicBezTo>
                  <a:pt x="583138" y="420523"/>
                  <a:pt x="583435" y="428817"/>
                  <a:pt x="578540" y="434001"/>
                </a:cubicBezTo>
                <a:lnTo>
                  <a:pt x="468040" y="550266"/>
                </a:lnTo>
                <a:cubicBezTo>
                  <a:pt x="463146" y="555449"/>
                  <a:pt x="454543" y="556338"/>
                  <a:pt x="448758" y="552043"/>
                </a:cubicBezTo>
                <a:lnTo>
                  <a:pt x="357392" y="484654"/>
                </a:lnTo>
                <a:cubicBezTo>
                  <a:pt x="351756" y="480358"/>
                  <a:pt x="350569" y="472361"/>
                  <a:pt x="354870" y="466584"/>
                </a:cubicBezTo>
                <a:lnTo>
                  <a:pt x="366588" y="451033"/>
                </a:lnTo>
                <a:cubicBezTo>
                  <a:pt x="370741" y="445405"/>
                  <a:pt x="379047" y="444220"/>
                  <a:pt x="384831" y="448367"/>
                </a:cubicBezTo>
                <a:lnTo>
                  <a:pt x="443419" y="491319"/>
                </a:lnTo>
                <a:cubicBezTo>
                  <a:pt x="449055" y="495466"/>
                  <a:pt x="457806" y="494725"/>
                  <a:pt x="462701" y="489393"/>
                </a:cubicBezTo>
                <a:lnTo>
                  <a:pt x="545316" y="403046"/>
                </a:lnTo>
                <a:cubicBezTo>
                  <a:pt x="547764" y="400454"/>
                  <a:pt x="551027" y="399084"/>
                  <a:pt x="554327" y="398973"/>
                </a:cubicBezTo>
                <a:close/>
                <a:moveTo>
                  <a:pt x="262860" y="0"/>
                </a:moveTo>
                <a:cubicBezTo>
                  <a:pt x="286001" y="0"/>
                  <a:pt x="346969" y="53623"/>
                  <a:pt x="415651" y="73473"/>
                </a:cubicBezTo>
                <a:cubicBezTo>
                  <a:pt x="448731" y="82953"/>
                  <a:pt x="480179" y="82953"/>
                  <a:pt x="510885" y="82805"/>
                </a:cubicBezTo>
                <a:cubicBezTo>
                  <a:pt x="515187" y="82805"/>
                  <a:pt x="524829" y="82805"/>
                  <a:pt x="524829" y="99543"/>
                </a:cubicBezTo>
                <a:cubicBezTo>
                  <a:pt x="524829" y="101617"/>
                  <a:pt x="525571" y="271523"/>
                  <a:pt x="525571" y="272856"/>
                </a:cubicBezTo>
                <a:cubicBezTo>
                  <a:pt x="525571" y="292853"/>
                  <a:pt x="522604" y="312703"/>
                  <a:pt x="517412" y="332108"/>
                </a:cubicBezTo>
                <a:cubicBezTo>
                  <a:pt x="516671" y="335071"/>
                  <a:pt x="513704" y="341440"/>
                  <a:pt x="506138" y="338181"/>
                </a:cubicBezTo>
                <a:cubicBezTo>
                  <a:pt x="494716" y="334922"/>
                  <a:pt x="483887" y="332849"/>
                  <a:pt x="467125" y="332849"/>
                </a:cubicBezTo>
                <a:cubicBezTo>
                  <a:pt x="387466" y="332849"/>
                  <a:pt x="322938" y="397433"/>
                  <a:pt x="322938" y="476831"/>
                </a:cubicBezTo>
                <a:cubicBezTo>
                  <a:pt x="322938" y="504383"/>
                  <a:pt x="330651" y="530158"/>
                  <a:pt x="344002" y="551933"/>
                </a:cubicBezTo>
                <a:cubicBezTo>
                  <a:pt x="345485" y="554303"/>
                  <a:pt x="348156" y="557118"/>
                  <a:pt x="343260" y="561265"/>
                </a:cubicBezTo>
                <a:cubicBezTo>
                  <a:pt x="306768" y="588373"/>
                  <a:pt x="279622" y="601853"/>
                  <a:pt x="262860" y="601853"/>
                </a:cubicBezTo>
                <a:cubicBezTo>
                  <a:pt x="210199" y="601853"/>
                  <a:pt x="0" y="442613"/>
                  <a:pt x="0" y="272856"/>
                </a:cubicBezTo>
                <a:cubicBezTo>
                  <a:pt x="0" y="270930"/>
                  <a:pt x="2670" y="97322"/>
                  <a:pt x="3263" y="93766"/>
                </a:cubicBezTo>
                <a:cubicBezTo>
                  <a:pt x="5192" y="79694"/>
                  <a:pt x="11719" y="80731"/>
                  <a:pt x="15872" y="80879"/>
                </a:cubicBezTo>
                <a:cubicBezTo>
                  <a:pt x="50584" y="82509"/>
                  <a:pt x="87669" y="84582"/>
                  <a:pt x="126386" y="73473"/>
                </a:cubicBezTo>
                <a:cubicBezTo>
                  <a:pt x="195068" y="53623"/>
                  <a:pt x="240312" y="0"/>
                  <a:pt x="262860" y="0"/>
                </a:cubicBezTo>
                <a:close/>
              </a:path>
            </a:pathLst>
          </a:custGeom>
          <a:solidFill>
            <a:srgbClr val="00B0F0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30000"/>
              </a:lnSpc>
            </a:pPr>
            <a:endParaRPr lang="zh-CN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1" name="íşḷíḋé">
            <a:extLst>
              <a:ext uri="{FF2B5EF4-FFF2-40B4-BE49-F238E27FC236}">
                <a16:creationId xmlns:a16="http://schemas.microsoft.com/office/drawing/2014/main" id="{6D0E6600-29D1-4F88-8560-914EEDCA3849}"/>
              </a:ext>
            </a:extLst>
          </p:cNvPr>
          <p:cNvSpPr/>
          <p:nvPr/>
        </p:nvSpPr>
        <p:spPr>
          <a:xfrm>
            <a:off x="5373225" y="1832138"/>
            <a:ext cx="656373" cy="648035"/>
          </a:xfrm>
          <a:prstGeom prst="ellipse">
            <a:avLst/>
          </a:prstGeom>
          <a:solidFill>
            <a:schemeClr val="bg1"/>
          </a:solidFill>
          <a:ln w="12700">
            <a:solidFill>
              <a:srgbClr val="1AB2D6"/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20000"/>
              </a:lnSpc>
            </a:pPr>
            <a:endParaRPr lang="zh-CN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2" name="ïŝľïḓé">
            <a:extLst>
              <a:ext uri="{FF2B5EF4-FFF2-40B4-BE49-F238E27FC236}">
                <a16:creationId xmlns:a16="http://schemas.microsoft.com/office/drawing/2014/main" id="{B101B3DF-0212-451B-8D8C-7FAD240334D8}"/>
              </a:ext>
            </a:extLst>
          </p:cNvPr>
          <p:cNvSpPr/>
          <p:nvPr/>
        </p:nvSpPr>
        <p:spPr>
          <a:xfrm>
            <a:off x="5492756" y="1970046"/>
            <a:ext cx="426499" cy="345516"/>
          </a:xfrm>
          <a:custGeom>
            <a:avLst/>
            <a:gdLst>
              <a:gd name="connsiteX0" fmla="*/ 16411 w 608731"/>
              <a:gd name="connsiteY0" fmla="*/ 453912 h 493146"/>
              <a:gd name="connsiteX1" fmla="*/ 586924 w 608731"/>
              <a:gd name="connsiteY1" fmla="*/ 453912 h 493146"/>
              <a:gd name="connsiteX2" fmla="*/ 603335 w 608731"/>
              <a:gd name="connsiteY2" fmla="*/ 470291 h 493146"/>
              <a:gd name="connsiteX3" fmla="*/ 603335 w 608731"/>
              <a:gd name="connsiteY3" fmla="*/ 476842 h 493146"/>
              <a:gd name="connsiteX4" fmla="*/ 586924 w 608731"/>
              <a:gd name="connsiteY4" fmla="*/ 493146 h 493146"/>
              <a:gd name="connsiteX5" fmla="*/ 16411 w 608731"/>
              <a:gd name="connsiteY5" fmla="*/ 493146 h 493146"/>
              <a:gd name="connsiteX6" fmla="*/ 0 w 608731"/>
              <a:gd name="connsiteY6" fmla="*/ 476842 h 493146"/>
              <a:gd name="connsiteX7" fmla="*/ 0 w 608731"/>
              <a:gd name="connsiteY7" fmla="*/ 470291 h 493146"/>
              <a:gd name="connsiteX8" fmla="*/ 16411 w 608731"/>
              <a:gd name="connsiteY8" fmla="*/ 453912 h 493146"/>
              <a:gd name="connsiteX9" fmla="*/ 327127 w 608731"/>
              <a:gd name="connsiteY9" fmla="*/ 87 h 493146"/>
              <a:gd name="connsiteX10" fmla="*/ 338514 w 608731"/>
              <a:gd name="connsiteY10" fmla="*/ 10608 h 493146"/>
              <a:gd name="connsiteX11" fmla="*/ 375068 w 608731"/>
              <a:gd name="connsiteY11" fmla="*/ 199358 h 493146"/>
              <a:gd name="connsiteX12" fmla="*/ 451312 w 608731"/>
              <a:gd name="connsiteY12" fmla="*/ 149080 h 493146"/>
              <a:gd name="connsiteX13" fmla="*/ 471678 w 608731"/>
              <a:gd name="connsiteY13" fmla="*/ 160029 h 493146"/>
              <a:gd name="connsiteX14" fmla="*/ 471678 w 608731"/>
              <a:gd name="connsiteY14" fmla="*/ 266918 h 493146"/>
              <a:gd name="connsiteX15" fmla="*/ 594622 w 608731"/>
              <a:gd name="connsiteY15" fmla="*/ 257905 h 493146"/>
              <a:gd name="connsiteX16" fmla="*/ 604768 w 608731"/>
              <a:gd name="connsiteY16" fmla="*/ 280326 h 493146"/>
              <a:gd name="connsiteX17" fmla="*/ 496819 w 608731"/>
              <a:gd name="connsiteY17" fmla="*/ 386544 h 493146"/>
              <a:gd name="connsiteX18" fmla="*/ 564483 w 608731"/>
              <a:gd name="connsiteY18" fmla="*/ 429002 h 493146"/>
              <a:gd name="connsiteX19" fmla="*/ 437809 w 608731"/>
              <a:gd name="connsiteY19" fmla="*/ 429002 h 493146"/>
              <a:gd name="connsiteX20" fmla="*/ 401851 w 608731"/>
              <a:gd name="connsiteY20" fmla="*/ 406432 h 493146"/>
              <a:gd name="connsiteX21" fmla="*/ 472946 w 608731"/>
              <a:gd name="connsiteY21" fmla="*/ 336415 h 493146"/>
              <a:gd name="connsiteX22" fmla="*/ 388422 w 608731"/>
              <a:gd name="connsiteY22" fmla="*/ 342597 h 493146"/>
              <a:gd name="connsiteX23" fmla="*/ 388422 w 608731"/>
              <a:gd name="connsiteY23" fmla="*/ 272579 h 493146"/>
              <a:gd name="connsiteX24" fmla="*/ 336872 w 608731"/>
              <a:gd name="connsiteY24" fmla="*/ 306545 h 493146"/>
              <a:gd name="connsiteX25" fmla="*/ 313149 w 608731"/>
              <a:gd name="connsiteY25" fmla="*/ 184088 h 493146"/>
              <a:gd name="connsiteX26" fmla="*/ 263688 w 608731"/>
              <a:gd name="connsiteY26" fmla="*/ 295223 h 493146"/>
              <a:gd name="connsiteX27" fmla="*/ 185356 w 608731"/>
              <a:gd name="connsiteY27" fmla="*/ 240699 h 493146"/>
              <a:gd name="connsiteX28" fmla="*/ 209079 w 608731"/>
              <a:gd name="connsiteY28" fmla="*/ 345651 h 493146"/>
              <a:gd name="connsiteX29" fmla="*/ 142087 w 608731"/>
              <a:gd name="connsiteY29" fmla="*/ 360101 h 493146"/>
              <a:gd name="connsiteX30" fmla="*/ 190503 w 608731"/>
              <a:gd name="connsiteY30" fmla="*/ 402261 h 493146"/>
              <a:gd name="connsiteX31" fmla="*/ 156560 w 608731"/>
              <a:gd name="connsiteY31" fmla="*/ 429002 h 493146"/>
              <a:gd name="connsiteX32" fmla="*/ 36824 w 608731"/>
              <a:gd name="connsiteY32" fmla="*/ 429002 h 493146"/>
              <a:gd name="connsiteX33" fmla="*/ 100608 w 608731"/>
              <a:gd name="connsiteY33" fmla="*/ 378798 h 493146"/>
              <a:gd name="connsiteX34" fmla="*/ 29513 w 608731"/>
              <a:gd name="connsiteY34" fmla="*/ 316899 h 493146"/>
              <a:gd name="connsiteX35" fmla="*/ 35332 w 608731"/>
              <a:gd name="connsiteY35" fmla="*/ 294180 h 493146"/>
              <a:gd name="connsiteX36" fmla="*/ 135373 w 608731"/>
              <a:gd name="connsiteY36" fmla="*/ 272654 h 493146"/>
              <a:gd name="connsiteX37" fmla="*/ 98370 w 608731"/>
              <a:gd name="connsiteY37" fmla="*/ 108782 h 493146"/>
              <a:gd name="connsiteX38" fmla="*/ 118662 w 608731"/>
              <a:gd name="connsiteY38" fmla="*/ 95151 h 493146"/>
              <a:gd name="connsiteX39" fmla="*/ 237801 w 608731"/>
              <a:gd name="connsiteY39" fmla="*/ 178129 h 493146"/>
              <a:gd name="connsiteX40" fmla="*/ 313671 w 608731"/>
              <a:gd name="connsiteY40" fmla="*/ 7777 h 493146"/>
              <a:gd name="connsiteX41" fmla="*/ 327127 w 608731"/>
              <a:gd name="connsiteY41" fmla="*/ 87 h 49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8731" h="493146">
                <a:moveTo>
                  <a:pt x="16411" y="453912"/>
                </a:moveTo>
                <a:lnTo>
                  <a:pt x="586924" y="453912"/>
                </a:lnTo>
                <a:cubicBezTo>
                  <a:pt x="596025" y="453912"/>
                  <a:pt x="603335" y="461208"/>
                  <a:pt x="603335" y="470291"/>
                </a:cubicBezTo>
                <a:lnTo>
                  <a:pt x="603335" y="476842"/>
                </a:lnTo>
                <a:cubicBezTo>
                  <a:pt x="603335" y="485850"/>
                  <a:pt x="596025" y="493146"/>
                  <a:pt x="586924" y="493146"/>
                </a:cubicBezTo>
                <a:lnTo>
                  <a:pt x="16411" y="493146"/>
                </a:lnTo>
                <a:cubicBezTo>
                  <a:pt x="7310" y="493146"/>
                  <a:pt x="0" y="485850"/>
                  <a:pt x="0" y="476842"/>
                </a:cubicBezTo>
                <a:lnTo>
                  <a:pt x="0" y="470291"/>
                </a:lnTo>
                <a:cubicBezTo>
                  <a:pt x="0" y="461208"/>
                  <a:pt x="7310" y="453912"/>
                  <a:pt x="16411" y="453912"/>
                </a:cubicBezTo>
                <a:close/>
                <a:moveTo>
                  <a:pt x="327127" y="87"/>
                </a:moveTo>
                <a:cubicBezTo>
                  <a:pt x="332378" y="683"/>
                  <a:pt x="337283" y="4314"/>
                  <a:pt x="338514" y="10608"/>
                </a:cubicBezTo>
                <a:lnTo>
                  <a:pt x="375068" y="199358"/>
                </a:lnTo>
                <a:lnTo>
                  <a:pt x="451312" y="149080"/>
                </a:lnTo>
                <a:cubicBezTo>
                  <a:pt x="460040" y="143344"/>
                  <a:pt x="471678" y="149601"/>
                  <a:pt x="471678" y="160029"/>
                </a:cubicBezTo>
                <a:lnTo>
                  <a:pt x="471678" y="266918"/>
                </a:lnTo>
                <a:lnTo>
                  <a:pt x="594622" y="257905"/>
                </a:lnTo>
                <a:cubicBezTo>
                  <a:pt x="606782" y="257011"/>
                  <a:pt x="613496" y="271760"/>
                  <a:pt x="604768" y="280326"/>
                </a:cubicBezTo>
                <a:lnTo>
                  <a:pt x="496819" y="386544"/>
                </a:lnTo>
                <a:lnTo>
                  <a:pt x="564483" y="429002"/>
                </a:lnTo>
                <a:lnTo>
                  <a:pt x="437809" y="429002"/>
                </a:lnTo>
                <a:lnTo>
                  <a:pt x="401851" y="406432"/>
                </a:lnTo>
                <a:lnTo>
                  <a:pt x="472946" y="336415"/>
                </a:lnTo>
                <a:lnTo>
                  <a:pt x="388422" y="342597"/>
                </a:lnTo>
                <a:lnTo>
                  <a:pt x="388422" y="272579"/>
                </a:lnTo>
                <a:lnTo>
                  <a:pt x="336872" y="306545"/>
                </a:lnTo>
                <a:lnTo>
                  <a:pt x="313149" y="184088"/>
                </a:lnTo>
                <a:lnTo>
                  <a:pt x="263688" y="295223"/>
                </a:lnTo>
                <a:lnTo>
                  <a:pt x="185356" y="240699"/>
                </a:lnTo>
                <a:lnTo>
                  <a:pt x="209079" y="345651"/>
                </a:lnTo>
                <a:lnTo>
                  <a:pt x="142087" y="360101"/>
                </a:lnTo>
                <a:lnTo>
                  <a:pt x="190503" y="402261"/>
                </a:lnTo>
                <a:lnTo>
                  <a:pt x="156560" y="429002"/>
                </a:lnTo>
                <a:lnTo>
                  <a:pt x="36824" y="429002"/>
                </a:lnTo>
                <a:lnTo>
                  <a:pt x="100608" y="378798"/>
                </a:lnTo>
                <a:lnTo>
                  <a:pt x="29513" y="316899"/>
                </a:lnTo>
                <a:cubicBezTo>
                  <a:pt x="21381" y="309748"/>
                  <a:pt x="24813" y="296489"/>
                  <a:pt x="35332" y="294180"/>
                </a:cubicBezTo>
                <a:lnTo>
                  <a:pt x="135373" y="272654"/>
                </a:lnTo>
                <a:lnTo>
                  <a:pt x="98370" y="108782"/>
                </a:lnTo>
                <a:cubicBezTo>
                  <a:pt x="95759" y="97088"/>
                  <a:pt x="108889" y="88298"/>
                  <a:pt x="118662" y="95151"/>
                </a:cubicBezTo>
                <a:lnTo>
                  <a:pt x="237801" y="178129"/>
                </a:lnTo>
                <a:lnTo>
                  <a:pt x="313671" y="7777"/>
                </a:lnTo>
                <a:cubicBezTo>
                  <a:pt x="316282" y="1930"/>
                  <a:pt x="321877" y="-509"/>
                  <a:pt x="327127" y="87"/>
                </a:cubicBezTo>
                <a:close/>
              </a:path>
            </a:pathLst>
          </a:custGeom>
          <a:solidFill>
            <a:srgbClr val="1AB2D6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>
              <a:lnSpc>
                <a:spcPct val="140000"/>
              </a:lnSpc>
            </a:pPr>
            <a:endParaRPr lang="zh-CN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FBD12007-52C8-4576-9ADA-F294D6C1D476}"/>
              </a:ext>
            </a:extLst>
          </p:cNvPr>
          <p:cNvCxnSpPr/>
          <p:nvPr/>
        </p:nvCxnSpPr>
        <p:spPr>
          <a:xfrm>
            <a:off x="2973809" y="2629813"/>
            <a:ext cx="0" cy="2299291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81CECA6C-1D8A-4602-AF2E-275BAB1F1B27}"/>
              </a:ext>
            </a:extLst>
          </p:cNvPr>
          <p:cNvCxnSpPr/>
          <p:nvPr/>
        </p:nvCxnSpPr>
        <p:spPr>
          <a:xfrm>
            <a:off x="4851377" y="2660435"/>
            <a:ext cx="0" cy="2299291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44">
            <a:extLst>
              <a:ext uri="{FF2B5EF4-FFF2-40B4-BE49-F238E27FC236}">
                <a16:creationId xmlns:a16="http://schemas.microsoft.com/office/drawing/2014/main" id="{A0BBFA0C-0493-479E-A1EC-2EA8B8354A25}"/>
              </a:ext>
            </a:extLst>
          </p:cNvPr>
          <p:cNvSpPr/>
          <p:nvPr/>
        </p:nvSpPr>
        <p:spPr>
          <a:xfrm>
            <a:off x="3355425" y="3261502"/>
            <a:ext cx="1051540" cy="184094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D9452C6A-1D8D-40CA-B28A-E4BD4818D0FB}"/>
              </a:ext>
            </a:extLst>
          </p:cNvPr>
          <p:cNvSpPr/>
          <p:nvPr/>
        </p:nvSpPr>
        <p:spPr>
          <a:xfrm>
            <a:off x="5180150" y="3261502"/>
            <a:ext cx="1051540" cy="184094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5EFA6489-7158-45E4-B6C3-D637D7A16ADC}"/>
              </a:ext>
            </a:extLst>
          </p:cNvPr>
          <p:cNvSpPr/>
          <p:nvPr/>
        </p:nvSpPr>
        <p:spPr>
          <a:xfrm>
            <a:off x="1460733" y="2791638"/>
            <a:ext cx="1367023" cy="312774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1" dirty="0"/>
              <a:t>推荐</a:t>
            </a:r>
            <a:r>
              <a:rPr sz="1300" b="1" dirty="0" err="1"/>
              <a:t>做法</a:t>
            </a:r>
            <a:endParaRPr sz="1300" b="1" dirty="0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1A4C37D7-5A33-4538-A573-AB3E41A269BF}"/>
              </a:ext>
            </a:extLst>
          </p:cNvPr>
          <p:cNvSpPr/>
          <p:nvPr/>
        </p:nvSpPr>
        <p:spPr>
          <a:xfrm>
            <a:off x="3253465" y="2791638"/>
            <a:ext cx="1367023" cy="363622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r>
              <a:rPr sz="1300" b="1" dirty="0" err="1"/>
              <a:t>黑名单联动</a:t>
            </a:r>
            <a:endParaRPr sz="1300" b="1" dirty="0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E1D27A94-6FCC-4FCC-A7DD-670269C329B0}"/>
              </a:ext>
            </a:extLst>
          </p:cNvPr>
          <p:cNvSpPr/>
          <p:nvPr/>
        </p:nvSpPr>
        <p:spPr>
          <a:xfrm>
            <a:off x="5138257" y="2754241"/>
            <a:ext cx="1367023" cy="312774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dirty="0" err="1"/>
              <a:t>入门做法</a:t>
            </a:r>
            <a:endParaRPr sz="1300" b="1" dirty="0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DDE2BE3C-79C7-410E-8CC4-5B310E125DAA}"/>
              </a:ext>
            </a:extLst>
          </p:cNvPr>
          <p:cNvSpPr/>
          <p:nvPr/>
        </p:nvSpPr>
        <p:spPr>
          <a:xfrm>
            <a:off x="1638287" y="3261502"/>
            <a:ext cx="1051540" cy="184094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5D5752-1B88-4891-9301-BAB8D3BE5933}"/>
              </a:ext>
            </a:extLst>
          </p:cNvPr>
          <p:cNvSpPr txBox="1"/>
          <p:nvPr/>
        </p:nvSpPr>
        <p:spPr>
          <a:xfrm>
            <a:off x="8907676" y="6246595"/>
            <a:ext cx="2345514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641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4613031" y="390290"/>
            <a:ext cx="2852539" cy="465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2200" b="1" dirty="0" err="1"/>
              <a:t>难点三：实时热力图</a:t>
            </a:r>
            <a:endParaRPr sz="2200" b="1" dirty="0"/>
          </a:p>
        </p:txBody>
      </p:sp>
      <p:sp>
        <p:nvSpPr>
          <p:cNvPr id="15" name="矩形 14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12E1C810-E67F-4A66-AC0B-9BEACA33FDD6}"/>
              </a:ext>
            </a:extLst>
          </p:cNvPr>
          <p:cNvSpPr/>
          <p:nvPr/>
        </p:nvSpPr>
        <p:spPr>
          <a:xfrm>
            <a:off x="662151" y="1083926"/>
            <a:ext cx="10867698" cy="499193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lnSpc>
                <a:spcPct val="120000"/>
              </a:lnSpc>
              <a:defRPr/>
            </a:pP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14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87629AD9-D353-4915-B315-33F7A5DD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139" y="5996742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stomText2">
            <a:extLst>
              <a:ext uri="{FF2B5EF4-FFF2-40B4-BE49-F238E27FC236}">
                <a16:creationId xmlns:a16="http://schemas.microsoft.com/office/drawing/2014/main" id="{DAFB178E-C9BE-46BD-B342-8394F169252E}"/>
              </a:ext>
            </a:extLst>
          </p:cNvPr>
          <p:cNvSpPr txBox="1"/>
          <p:nvPr/>
        </p:nvSpPr>
        <p:spPr bwMode="auto">
          <a:xfrm>
            <a:off x="2361809" y="2570417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 dirty="0" err="1"/>
              <a:t>网格数据建模</a:t>
            </a:r>
            <a:endParaRPr sz="1400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6581E38-654F-4D18-9F1E-E11D9EDD37F1}"/>
              </a:ext>
            </a:extLst>
          </p:cNvPr>
          <p:cNvSpPr txBox="1"/>
          <p:nvPr/>
        </p:nvSpPr>
        <p:spPr>
          <a:xfrm>
            <a:off x="8907676" y="6246595"/>
            <a:ext cx="2403222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DF23506-552E-487F-86D8-918A4C42BF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31" name="图文框 30">
            <a:extLst>
              <a:ext uri="{FF2B5EF4-FFF2-40B4-BE49-F238E27FC236}">
                <a16:creationId xmlns:a16="http://schemas.microsoft.com/office/drawing/2014/main" id="{C674F360-61EF-4C54-B413-D4E89B600EF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32" name="26479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E2A1483-9845-4A37-BDB0-9BE5773285DC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2546988" y="1717911"/>
            <a:ext cx="7265292" cy="2542272"/>
            <a:chOff x="1049384" y="1130300"/>
            <a:chExt cx="10080531" cy="3527381"/>
          </a:xfrm>
        </p:grpSpPr>
        <p:sp>
          <p:nvSpPr>
            <p:cNvPr id="33" name="îṧḻîḓê">
              <a:extLst>
                <a:ext uri="{FF2B5EF4-FFF2-40B4-BE49-F238E27FC236}">
                  <a16:creationId xmlns:a16="http://schemas.microsoft.com/office/drawing/2014/main" id="{BC8E88B9-9760-4C0E-8899-04742231C398}"/>
                </a:ext>
              </a:extLst>
            </p:cNvPr>
            <p:cNvSpPr/>
            <p:nvPr/>
          </p:nvSpPr>
          <p:spPr>
            <a:xfrm>
              <a:off x="1049384" y="1130300"/>
              <a:ext cx="1023844" cy="1023844"/>
            </a:xfrm>
            <a:prstGeom prst="ellipse">
              <a:avLst/>
            </a:prstGeom>
            <a:solidFill>
              <a:srgbClr val="52D6F0"/>
            </a:solidFill>
            <a:ln w="3175" cap="rnd">
              <a:noFill/>
              <a:prstDash val="solid"/>
              <a:round/>
              <a:headEnd/>
              <a:tailEnd/>
            </a:ln>
            <a:effectLst>
              <a:outerShdw blurRad="635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>
                <a:lnSpc>
                  <a:spcPct val="12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" name="iş1îḑe">
              <a:extLst>
                <a:ext uri="{FF2B5EF4-FFF2-40B4-BE49-F238E27FC236}">
                  <a16:creationId xmlns:a16="http://schemas.microsoft.com/office/drawing/2014/main" id="{C1A14BA4-0801-4462-A3C1-15041C55DC85}"/>
                </a:ext>
              </a:extLst>
            </p:cNvPr>
            <p:cNvSpPr/>
            <p:nvPr/>
          </p:nvSpPr>
          <p:spPr>
            <a:xfrm>
              <a:off x="1366596" y="1438391"/>
              <a:ext cx="389422" cy="407662"/>
            </a:xfrm>
            <a:custGeom>
              <a:avLst/>
              <a:gdLst>
                <a:gd name="T0" fmla="*/ 4199 w 4494"/>
                <a:gd name="T1" fmla="*/ 3838 h 4712"/>
                <a:gd name="T2" fmla="*/ 3932 w 4494"/>
                <a:gd name="T3" fmla="*/ 2881 h 4712"/>
                <a:gd name="T4" fmla="*/ 2447 w 4494"/>
                <a:gd name="T5" fmla="*/ 2438 h 4712"/>
                <a:gd name="T6" fmla="*/ 3263 w 4494"/>
                <a:gd name="T7" fmla="*/ 2440 h 4712"/>
                <a:gd name="T8" fmla="*/ 3263 w 4494"/>
                <a:gd name="T9" fmla="*/ 897 h 4712"/>
                <a:gd name="T10" fmla="*/ 2194 w 4494"/>
                <a:gd name="T11" fmla="*/ 0 h 4712"/>
                <a:gd name="T12" fmla="*/ 460 w 4494"/>
                <a:gd name="T13" fmla="*/ 1619 h 4712"/>
                <a:gd name="T14" fmla="*/ 2047 w 4494"/>
                <a:gd name="T15" fmla="*/ 2438 h 4712"/>
                <a:gd name="T16" fmla="*/ 562 w 4494"/>
                <a:gd name="T17" fmla="*/ 2881 h 4712"/>
                <a:gd name="T18" fmla="*/ 296 w 4494"/>
                <a:gd name="T19" fmla="*/ 3838 h 4712"/>
                <a:gd name="T20" fmla="*/ 0 w 4494"/>
                <a:gd name="T21" fmla="*/ 3971 h 4712"/>
                <a:gd name="T22" fmla="*/ 134 w 4494"/>
                <a:gd name="T23" fmla="*/ 4712 h 4712"/>
                <a:gd name="T24" fmla="*/ 991 w 4494"/>
                <a:gd name="T25" fmla="*/ 4579 h 4712"/>
                <a:gd name="T26" fmla="*/ 858 w 4494"/>
                <a:gd name="T27" fmla="*/ 3838 h 4712"/>
                <a:gd name="T28" fmla="*/ 696 w 4494"/>
                <a:gd name="T29" fmla="*/ 3281 h 4712"/>
                <a:gd name="T30" fmla="*/ 2047 w 4494"/>
                <a:gd name="T31" fmla="*/ 3838 h 4712"/>
                <a:gd name="T32" fmla="*/ 1752 w 4494"/>
                <a:gd name="T33" fmla="*/ 3971 h 4712"/>
                <a:gd name="T34" fmla="*/ 1885 w 4494"/>
                <a:gd name="T35" fmla="*/ 4712 h 4712"/>
                <a:gd name="T36" fmla="*/ 2742 w 4494"/>
                <a:gd name="T37" fmla="*/ 4579 h 4712"/>
                <a:gd name="T38" fmla="*/ 2609 w 4494"/>
                <a:gd name="T39" fmla="*/ 3838 h 4712"/>
                <a:gd name="T40" fmla="*/ 2447 w 4494"/>
                <a:gd name="T41" fmla="*/ 3281 h 4712"/>
                <a:gd name="T42" fmla="*/ 3799 w 4494"/>
                <a:gd name="T43" fmla="*/ 3838 h 4712"/>
                <a:gd name="T44" fmla="*/ 3503 w 4494"/>
                <a:gd name="T45" fmla="*/ 3971 h 4712"/>
                <a:gd name="T46" fmla="*/ 3637 w 4494"/>
                <a:gd name="T47" fmla="*/ 4712 h 4712"/>
                <a:gd name="T48" fmla="*/ 4494 w 4494"/>
                <a:gd name="T49" fmla="*/ 4579 h 4712"/>
                <a:gd name="T50" fmla="*/ 4360 w 4494"/>
                <a:gd name="T51" fmla="*/ 3838 h 4712"/>
                <a:gd name="T52" fmla="*/ 1278 w 4494"/>
                <a:gd name="T53" fmla="*/ 1201 h 4712"/>
                <a:gd name="T54" fmla="*/ 1288 w 4494"/>
                <a:gd name="T55" fmla="*/ 1201 h 4712"/>
                <a:gd name="T56" fmla="*/ 1311 w 4494"/>
                <a:gd name="T57" fmla="*/ 1202 h 4712"/>
                <a:gd name="T58" fmla="*/ 2194 w 4494"/>
                <a:gd name="T59" fmla="*/ 400 h 4712"/>
                <a:gd name="T60" fmla="*/ 2858 w 4494"/>
                <a:gd name="T61" fmla="*/ 1073 h 4712"/>
                <a:gd name="T62" fmla="*/ 2915 w 4494"/>
                <a:gd name="T63" fmla="*/ 1252 h 4712"/>
                <a:gd name="T64" fmla="*/ 3148 w 4494"/>
                <a:gd name="T65" fmla="*/ 1315 h 4712"/>
                <a:gd name="T66" fmla="*/ 3634 w 4494"/>
                <a:gd name="T67" fmla="*/ 1668 h 4712"/>
                <a:gd name="T68" fmla="*/ 2832 w 4494"/>
                <a:gd name="T69" fmla="*/ 2039 h 4712"/>
                <a:gd name="T70" fmla="*/ 1278 w 4494"/>
                <a:gd name="T71" fmla="*/ 2038 h 4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94" h="4712">
                  <a:moveTo>
                    <a:pt x="4360" y="3838"/>
                  </a:moveTo>
                  <a:lnTo>
                    <a:pt x="4199" y="3838"/>
                  </a:lnTo>
                  <a:lnTo>
                    <a:pt x="4199" y="3148"/>
                  </a:lnTo>
                  <a:cubicBezTo>
                    <a:pt x="4199" y="3001"/>
                    <a:pt x="4079" y="2881"/>
                    <a:pt x="3932" y="2881"/>
                  </a:cubicBezTo>
                  <a:lnTo>
                    <a:pt x="2447" y="2881"/>
                  </a:lnTo>
                  <a:lnTo>
                    <a:pt x="2447" y="2438"/>
                  </a:lnTo>
                  <a:cubicBezTo>
                    <a:pt x="2520" y="2438"/>
                    <a:pt x="2675" y="2438"/>
                    <a:pt x="2831" y="2439"/>
                  </a:cubicBezTo>
                  <a:cubicBezTo>
                    <a:pt x="3043" y="2439"/>
                    <a:pt x="3256" y="2440"/>
                    <a:pt x="3263" y="2440"/>
                  </a:cubicBezTo>
                  <a:cubicBezTo>
                    <a:pt x="3688" y="2440"/>
                    <a:pt x="4034" y="2094"/>
                    <a:pt x="4034" y="1668"/>
                  </a:cubicBezTo>
                  <a:cubicBezTo>
                    <a:pt x="4034" y="1243"/>
                    <a:pt x="3688" y="897"/>
                    <a:pt x="3263" y="897"/>
                  </a:cubicBezTo>
                  <a:cubicBezTo>
                    <a:pt x="3257" y="897"/>
                    <a:pt x="3251" y="897"/>
                    <a:pt x="3245" y="897"/>
                  </a:cubicBezTo>
                  <a:cubicBezTo>
                    <a:pt x="3165" y="389"/>
                    <a:pt x="2724" y="0"/>
                    <a:pt x="2194" y="0"/>
                  </a:cubicBezTo>
                  <a:cubicBezTo>
                    <a:pt x="1698" y="0"/>
                    <a:pt x="1276" y="339"/>
                    <a:pt x="1161" y="809"/>
                  </a:cubicBezTo>
                  <a:cubicBezTo>
                    <a:pt x="765" y="866"/>
                    <a:pt x="460" y="1208"/>
                    <a:pt x="460" y="1619"/>
                  </a:cubicBezTo>
                  <a:cubicBezTo>
                    <a:pt x="460" y="2071"/>
                    <a:pt x="827" y="2438"/>
                    <a:pt x="1278" y="2438"/>
                  </a:cubicBezTo>
                  <a:lnTo>
                    <a:pt x="2047" y="2438"/>
                  </a:lnTo>
                  <a:lnTo>
                    <a:pt x="2047" y="2881"/>
                  </a:lnTo>
                  <a:lnTo>
                    <a:pt x="562" y="2881"/>
                  </a:lnTo>
                  <a:cubicBezTo>
                    <a:pt x="415" y="2881"/>
                    <a:pt x="296" y="3001"/>
                    <a:pt x="296" y="3148"/>
                  </a:cubicBezTo>
                  <a:lnTo>
                    <a:pt x="296" y="3838"/>
                  </a:lnTo>
                  <a:lnTo>
                    <a:pt x="134" y="3838"/>
                  </a:lnTo>
                  <a:cubicBezTo>
                    <a:pt x="60" y="3838"/>
                    <a:pt x="0" y="3897"/>
                    <a:pt x="0" y="3971"/>
                  </a:cubicBezTo>
                  <a:lnTo>
                    <a:pt x="0" y="4579"/>
                  </a:lnTo>
                  <a:cubicBezTo>
                    <a:pt x="0" y="4652"/>
                    <a:pt x="60" y="4712"/>
                    <a:pt x="134" y="4712"/>
                  </a:cubicBezTo>
                  <a:lnTo>
                    <a:pt x="858" y="4712"/>
                  </a:lnTo>
                  <a:cubicBezTo>
                    <a:pt x="931" y="4712"/>
                    <a:pt x="991" y="4652"/>
                    <a:pt x="991" y="4579"/>
                  </a:cubicBezTo>
                  <a:lnTo>
                    <a:pt x="991" y="3971"/>
                  </a:lnTo>
                  <a:cubicBezTo>
                    <a:pt x="991" y="3897"/>
                    <a:pt x="931" y="3838"/>
                    <a:pt x="858" y="3838"/>
                  </a:cubicBezTo>
                  <a:lnTo>
                    <a:pt x="696" y="3838"/>
                  </a:lnTo>
                  <a:lnTo>
                    <a:pt x="696" y="3281"/>
                  </a:lnTo>
                  <a:lnTo>
                    <a:pt x="2047" y="3281"/>
                  </a:lnTo>
                  <a:lnTo>
                    <a:pt x="2047" y="3838"/>
                  </a:lnTo>
                  <a:lnTo>
                    <a:pt x="1885" y="3838"/>
                  </a:lnTo>
                  <a:cubicBezTo>
                    <a:pt x="1812" y="3838"/>
                    <a:pt x="1752" y="3897"/>
                    <a:pt x="1752" y="3971"/>
                  </a:cubicBezTo>
                  <a:lnTo>
                    <a:pt x="1752" y="4579"/>
                  </a:lnTo>
                  <a:cubicBezTo>
                    <a:pt x="1752" y="4652"/>
                    <a:pt x="1812" y="4712"/>
                    <a:pt x="1885" y="4712"/>
                  </a:cubicBezTo>
                  <a:lnTo>
                    <a:pt x="2609" y="4712"/>
                  </a:lnTo>
                  <a:cubicBezTo>
                    <a:pt x="2682" y="4712"/>
                    <a:pt x="2742" y="4652"/>
                    <a:pt x="2742" y="4579"/>
                  </a:cubicBezTo>
                  <a:lnTo>
                    <a:pt x="2742" y="3971"/>
                  </a:lnTo>
                  <a:cubicBezTo>
                    <a:pt x="2742" y="3897"/>
                    <a:pt x="2682" y="3838"/>
                    <a:pt x="2609" y="3838"/>
                  </a:cubicBezTo>
                  <a:lnTo>
                    <a:pt x="2447" y="3838"/>
                  </a:lnTo>
                  <a:lnTo>
                    <a:pt x="2447" y="3281"/>
                  </a:lnTo>
                  <a:lnTo>
                    <a:pt x="3799" y="3281"/>
                  </a:lnTo>
                  <a:lnTo>
                    <a:pt x="3799" y="3838"/>
                  </a:lnTo>
                  <a:lnTo>
                    <a:pt x="3637" y="3838"/>
                  </a:lnTo>
                  <a:cubicBezTo>
                    <a:pt x="3563" y="3838"/>
                    <a:pt x="3503" y="3897"/>
                    <a:pt x="3503" y="3971"/>
                  </a:cubicBezTo>
                  <a:lnTo>
                    <a:pt x="3503" y="4579"/>
                  </a:lnTo>
                  <a:cubicBezTo>
                    <a:pt x="3503" y="4652"/>
                    <a:pt x="3563" y="4712"/>
                    <a:pt x="3637" y="4712"/>
                  </a:cubicBezTo>
                  <a:lnTo>
                    <a:pt x="4360" y="4712"/>
                  </a:lnTo>
                  <a:cubicBezTo>
                    <a:pt x="4434" y="4712"/>
                    <a:pt x="4494" y="4652"/>
                    <a:pt x="4494" y="4579"/>
                  </a:cubicBezTo>
                  <a:lnTo>
                    <a:pt x="4494" y="3971"/>
                  </a:lnTo>
                  <a:cubicBezTo>
                    <a:pt x="4494" y="3897"/>
                    <a:pt x="4434" y="3838"/>
                    <a:pt x="4360" y="3838"/>
                  </a:cubicBezTo>
                  <a:close/>
                  <a:moveTo>
                    <a:pt x="860" y="1619"/>
                  </a:moveTo>
                  <a:cubicBezTo>
                    <a:pt x="860" y="1389"/>
                    <a:pt x="1048" y="1201"/>
                    <a:pt x="1278" y="1201"/>
                  </a:cubicBezTo>
                  <a:lnTo>
                    <a:pt x="1283" y="1201"/>
                  </a:lnTo>
                  <a:cubicBezTo>
                    <a:pt x="1284" y="1201"/>
                    <a:pt x="1286" y="1201"/>
                    <a:pt x="1288" y="1201"/>
                  </a:cubicBezTo>
                  <a:cubicBezTo>
                    <a:pt x="1288" y="1201"/>
                    <a:pt x="1289" y="1201"/>
                    <a:pt x="1290" y="1201"/>
                  </a:cubicBezTo>
                  <a:cubicBezTo>
                    <a:pt x="1297" y="1202"/>
                    <a:pt x="1304" y="1202"/>
                    <a:pt x="1311" y="1202"/>
                  </a:cubicBezTo>
                  <a:cubicBezTo>
                    <a:pt x="1408" y="1202"/>
                    <a:pt x="1519" y="1136"/>
                    <a:pt x="1534" y="992"/>
                  </a:cubicBezTo>
                  <a:cubicBezTo>
                    <a:pt x="1571" y="654"/>
                    <a:pt x="1854" y="400"/>
                    <a:pt x="2194" y="400"/>
                  </a:cubicBezTo>
                  <a:cubicBezTo>
                    <a:pt x="2560" y="400"/>
                    <a:pt x="2858" y="698"/>
                    <a:pt x="2858" y="1064"/>
                  </a:cubicBezTo>
                  <a:lnTo>
                    <a:pt x="2858" y="1073"/>
                  </a:lnTo>
                  <a:cubicBezTo>
                    <a:pt x="2858" y="1074"/>
                    <a:pt x="2858" y="1076"/>
                    <a:pt x="2858" y="1078"/>
                  </a:cubicBezTo>
                  <a:cubicBezTo>
                    <a:pt x="2853" y="1144"/>
                    <a:pt x="2873" y="1205"/>
                    <a:pt x="2915" y="1252"/>
                  </a:cubicBezTo>
                  <a:cubicBezTo>
                    <a:pt x="2957" y="1299"/>
                    <a:pt x="3017" y="1325"/>
                    <a:pt x="3080" y="1325"/>
                  </a:cubicBezTo>
                  <a:cubicBezTo>
                    <a:pt x="3103" y="1325"/>
                    <a:pt x="3126" y="1322"/>
                    <a:pt x="3148" y="1315"/>
                  </a:cubicBezTo>
                  <a:cubicBezTo>
                    <a:pt x="3185" y="1303"/>
                    <a:pt x="3224" y="1297"/>
                    <a:pt x="3263" y="1297"/>
                  </a:cubicBezTo>
                  <a:cubicBezTo>
                    <a:pt x="3468" y="1297"/>
                    <a:pt x="3634" y="1463"/>
                    <a:pt x="3634" y="1668"/>
                  </a:cubicBezTo>
                  <a:cubicBezTo>
                    <a:pt x="3634" y="1873"/>
                    <a:pt x="3468" y="2040"/>
                    <a:pt x="3263" y="2040"/>
                  </a:cubicBezTo>
                  <a:cubicBezTo>
                    <a:pt x="3255" y="2040"/>
                    <a:pt x="3043" y="2039"/>
                    <a:pt x="2832" y="2039"/>
                  </a:cubicBezTo>
                  <a:cubicBezTo>
                    <a:pt x="2621" y="2038"/>
                    <a:pt x="2411" y="2038"/>
                    <a:pt x="2405" y="2038"/>
                  </a:cubicBezTo>
                  <a:lnTo>
                    <a:pt x="1278" y="2038"/>
                  </a:lnTo>
                  <a:cubicBezTo>
                    <a:pt x="1048" y="2038"/>
                    <a:pt x="860" y="1850"/>
                    <a:pt x="860" y="161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>
                <a:lnSpc>
                  <a:spcPct val="140000"/>
                </a:lnSpc>
              </a:pPr>
              <a:endParaRPr lang="zh-CN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" name="íṧļiḑe">
              <a:extLst>
                <a:ext uri="{FF2B5EF4-FFF2-40B4-BE49-F238E27FC236}">
                  <a16:creationId xmlns:a16="http://schemas.microsoft.com/office/drawing/2014/main" id="{6F4864F2-7D2C-46C1-8E85-53A17A8CCED3}"/>
                </a:ext>
              </a:extLst>
            </p:cNvPr>
            <p:cNvSpPr/>
            <p:nvPr/>
          </p:nvSpPr>
          <p:spPr>
            <a:xfrm>
              <a:off x="3313556" y="3633837"/>
              <a:ext cx="1023844" cy="1023844"/>
            </a:xfrm>
            <a:prstGeom prst="ellipse">
              <a:avLst/>
            </a:prstGeom>
            <a:solidFill>
              <a:srgbClr val="52D6F0"/>
            </a:solidFill>
            <a:ln w="3175" cap="rnd">
              <a:noFill/>
              <a:prstDash val="solid"/>
              <a:round/>
              <a:headEnd/>
              <a:tailEnd/>
            </a:ln>
            <a:effectLst>
              <a:outerShdw blurRad="635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>
                <a:lnSpc>
                  <a:spcPct val="120000"/>
                </a:lnSpc>
              </a:pPr>
              <a:endParaRPr lang="zh-CN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7" name="iṧ1íḋè">
              <a:extLst>
                <a:ext uri="{FF2B5EF4-FFF2-40B4-BE49-F238E27FC236}">
                  <a16:creationId xmlns:a16="http://schemas.microsoft.com/office/drawing/2014/main" id="{FE7E4593-52B7-43AD-90D8-D47C2A538BD3}"/>
                </a:ext>
              </a:extLst>
            </p:cNvPr>
            <p:cNvSpPr/>
            <p:nvPr/>
          </p:nvSpPr>
          <p:spPr>
            <a:xfrm>
              <a:off x="3621647" y="3969898"/>
              <a:ext cx="407662" cy="351722"/>
            </a:xfrm>
            <a:custGeom>
              <a:avLst/>
              <a:gdLst>
                <a:gd name="connsiteX0" fmla="*/ 470014 w 606298"/>
                <a:gd name="connsiteY0" fmla="*/ 471938 h 523102"/>
                <a:gd name="connsiteX1" fmla="*/ 453448 w 606298"/>
                <a:gd name="connsiteY1" fmla="*/ 488480 h 523102"/>
                <a:gd name="connsiteX2" fmla="*/ 455470 w 606298"/>
                <a:gd name="connsiteY2" fmla="*/ 495885 h 523102"/>
                <a:gd name="connsiteX3" fmla="*/ 470014 w 606298"/>
                <a:gd name="connsiteY3" fmla="*/ 504925 h 523102"/>
                <a:gd name="connsiteX4" fmla="*/ 484557 w 606298"/>
                <a:gd name="connsiteY4" fmla="*/ 495885 h 523102"/>
                <a:gd name="connsiteX5" fmla="*/ 486483 w 606298"/>
                <a:gd name="connsiteY5" fmla="*/ 488480 h 523102"/>
                <a:gd name="connsiteX6" fmla="*/ 470014 w 606298"/>
                <a:gd name="connsiteY6" fmla="*/ 471938 h 523102"/>
                <a:gd name="connsiteX7" fmla="*/ 381212 w 606298"/>
                <a:gd name="connsiteY7" fmla="*/ 203804 h 523102"/>
                <a:gd name="connsiteX8" fmla="*/ 374278 w 606298"/>
                <a:gd name="connsiteY8" fmla="*/ 210728 h 523102"/>
                <a:gd name="connsiteX9" fmla="*/ 374278 w 606298"/>
                <a:gd name="connsiteY9" fmla="*/ 456646 h 523102"/>
                <a:gd name="connsiteX10" fmla="*/ 565653 w 606298"/>
                <a:gd name="connsiteY10" fmla="*/ 456646 h 523102"/>
                <a:gd name="connsiteX11" fmla="*/ 565653 w 606298"/>
                <a:gd name="connsiteY11" fmla="*/ 210728 h 523102"/>
                <a:gd name="connsiteX12" fmla="*/ 558719 w 606298"/>
                <a:gd name="connsiteY12" fmla="*/ 203804 h 523102"/>
                <a:gd name="connsiteX13" fmla="*/ 381212 w 606298"/>
                <a:gd name="connsiteY13" fmla="*/ 163218 h 523102"/>
                <a:gd name="connsiteX14" fmla="*/ 558719 w 606298"/>
                <a:gd name="connsiteY14" fmla="*/ 163218 h 523102"/>
                <a:gd name="connsiteX15" fmla="*/ 606298 w 606298"/>
                <a:gd name="connsiteY15" fmla="*/ 210728 h 523102"/>
                <a:gd name="connsiteX16" fmla="*/ 606298 w 606298"/>
                <a:gd name="connsiteY16" fmla="*/ 475592 h 523102"/>
                <a:gd name="connsiteX17" fmla="*/ 558719 w 606298"/>
                <a:gd name="connsiteY17" fmla="*/ 523102 h 523102"/>
                <a:gd name="connsiteX18" fmla="*/ 381212 w 606298"/>
                <a:gd name="connsiteY18" fmla="*/ 523102 h 523102"/>
                <a:gd name="connsiteX19" fmla="*/ 333633 w 606298"/>
                <a:gd name="connsiteY19" fmla="*/ 475592 h 523102"/>
                <a:gd name="connsiteX20" fmla="*/ 333633 w 606298"/>
                <a:gd name="connsiteY20" fmla="*/ 210728 h 523102"/>
                <a:gd name="connsiteX21" fmla="*/ 381212 w 606298"/>
                <a:gd name="connsiteY21" fmla="*/ 163218 h 523102"/>
                <a:gd name="connsiteX22" fmla="*/ 43821 w 606298"/>
                <a:gd name="connsiteY22" fmla="*/ 0 h 523102"/>
                <a:gd name="connsiteX23" fmla="*/ 452369 w 606298"/>
                <a:gd name="connsiteY23" fmla="*/ 0 h 523102"/>
                <a:gd name="connsiteX24" fmla="*/ 496287 w 606298"/>
                <a:gd name="connsiteY24" fmla="*/ 43855 h 523102"/>
                <a:gd name="connsiteX25" fmla="*/ 496287 w 606298"/>
                <a:gd name="connsiteY25" fmla="*/ 122621 h 523102"/>
                <a:gd name="connsiteX26" fmla="*/ 455644 w 606298"/>
                <a:gd name="connsiteY26" fmla="*/ 122621 h 523102"/>
                <a:gd name="connsiteX27" fmla="*/ 455644 w 606298"/>
                <a:gd name="connsiteY27" fmla="*/ 43855 h 523102"/>
                <a:gd name="connsiteX28" fmla="*/ 452369 w 606298"/>
                <a:gd name="connsiteY28" fmla="*/ 40585 h 523102"/>
                <a:gd name="connsiteX29" fmla="*/ 43821 w 606298"/>
                <a:gd name="connsiteY29" fmla="*/ 40585 h 523102"/>
                <a:gd name="connsiteX30" fmla="*/ 40643 w 606298"/>
                <a:gd name="connsiteY30" fmla="*/ 43855 h 523102"/>
                <a:gd name="connsiteX31" fmla="*/ 40643 w 606298"/>
                <a:gd name="connsiteY31" fmla="*/ 320738 h 523102"/>
                <a:gd name="connsiteX32" fmla="*/ 43821 w 606298"/>
                <a:gd name="connsiteY32" fmla="*/ 323911 h 523102"/>
                <a:gd name="connsiteX33" fmla="*/ 292976 w 606298"/>
                <a:gd name="connsiteY33" fmla="*/ 323911 h 523102"/>
                <a:gd name="connsiteX34" fmla="*/ 292976 w 606298"/>
                <a:gd name="connsiteY34" fmla="*/ 344204 h 523102"/>
                <a:gd name="connsiteX35" fmla="*/ 292976 w 606298"/>
                <a:gd name="connsiteY35" fmla="*/ 418161 h 523102"/>
                <a:gd name="connsiteX36" fmla="*/ 292976 w 606298"/>
                <a:gd name="connsiteY36" fmla="*/ 458746 h 523102"/>
                <a:gd name="connsiteX37" fmla="*/ 159201 w 606298"/>
                <a:gd name="connsiteY37" fmla="*/ 458746 h 523102"/>
                <a:gd name="connsiteX38" fmla="*/ 138879 w 606298"/>
                <a:gd name="connsiteY38" fmla="*/ 438454 h 523102"/>
                <a:gd name="connsiteX39" fmla="*/ 159201 w 606298"/>
                <a:gd name="connsiteY39" fmla="*/ 418161 h 523102"/>
                <a:gd name="connsiteX40" fmla="*/ 180774 w 606298"/>
                <a:gd name="connsiteY40" fmla="*/ 418161 h 523102"/>
                <a:gd name="connsiteX41" fmla="*/ 180774 w 606298"/>
                <a:gd name="connsiteY41" fmla="*/ 364497 h 523102"/>
                <a:gd name="connsiteX42" fmla="*/ 43821 w 606298"/>
                <a:gd name="connsiteY42" fmla="*/ 364497 h 523102"/>
                <a:gd name="connsiteX43" fmla="*/ 0 w 606298"/>
                <a:gd name="connsiteY43" fmla="*/ 320738 h 523102"/>
                <a:gd name="connsiteX44" fmla="*/ 0 w 606298"/>
                <a:gd name="connsiteY44" fmla="*/ 43855 h 523102"/>
                <a:gd name="connsiteX45" fmla="*/ 43821 w 606298"/>
                <a:gd name="connsiteY45" fmla="*/ 0 h 52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606298" h="523102">
                  <a:moveTo>
                    <a:pt x="470014" y="471938"/>
                  </a:moveTo>
                  <a:cubicBezTo>
                    <a:pt x="460864" y="471938"/>
                    <a:pt x="453448" y="479343"/>
                    <a:pt x="453448" y="488480"/>
                  </a:cubicBezTo>
                  <a:cubicBezTo>
                    <a:pt x="453448" y="491172"/>
                    <a:pt x="454314" y="493577"/>
                    <a:pt x="455470" y="495885"/>
                  </a:cubicBezTo>
                  <a:cubicBezTo>
                    <a:pt x="458167" y="501175"/>
                    <a:pt x="463561" y="504925"/>
                    <a:pt x="470014" y="504925"/>
                  </a:cubicBezTo>
                  <a:cubicBezTo>
                    <a:pt x="476370" y="504925"/>
                    <a:pt x="481764" y="501175"/>
                    <a:pt x="484557" y="495885"/>
                  </a:cubicBezTo>
                  <a:cubicBezTo>
                    <a:pt x="485713" y="493577"/>
                    <a:pt x="486483" y="491172"/>
                    <a:pt x="486483" y="488480"/>
                  </a:cubicBezTo>
                  <a:cubicBezTo>
                    <a:pt x="486483" y="479343"/>
                    <a:pt x="479067" y="471938"/>
                    <a:pt x="470014" y="471938"/>
                  </a:cubicBezTo>
                  <a:close/>
                  <a:moveTo>
                    <a:pt x="381212" y="203804"/>
                  </a:moveTo>
                  <a:cubicBezTo>
                    <a:pt x="377456" y="203804"/>
                    <a:pt x="374278" y="206881"/>
                    <a:pt x="374278" y="210728"/>
                  </a:cubicBezTo>
                  <a:lnTo>
                    <a:pt x="374278" y="456646"/>
                  </a:lnTo>
                  <a:lnTo>
                    <a:pt x="565653" y="456646"/>
                  </a:lnTo>
                  <a:lnTo>
                    <a:pt x="565653" y="210728"/>
                  </a:lnTo>
                  <a:cubicBezTo>
                    <a:pt x="565653" y="206881"/>
                    <a:pt x="562571" y="203804"/>
                    <a:pt x="558719" y="203804"/>
                  </a:cubicBezTo>
                  <a:close/>
                  <a:moveTo>
                    <a:pt x="381212" y="163218"/>
                  </a:moveTo>
                  <a:lnTo>
                    <a:pt x="558719" y="163218"/>
                  </a:lnTo>
                  <a:cubicBezTo>
                    <a:pt x="585013" y="163218"/>
                    <a:pt x="606298" y="184473"/>
                    <a:pt x="606298" y="210728"/>
                  </a:cubicBezTo>
                  <a:lnTo>
                    <a:pt x="606298" y="475592"/>
                  </a:lnTo>
                  <a:cubicBezTo>
                    <a:pt x="606298" y="501752"/>
                    <a:pt x="585013" y="523102"/>
                    <a:pt x="558719" y="523102"/>
                  </a:cubicBezTo>
                  <a:lnTo>
                    <a:pt x="381212" y="523102"/>
                  </a:lnTo>
                  <a:cubicBezTo>
                    <a:pt x="355015" y="523102"/>
                    <a:pt x="333633" y="501752"/>
                    <a:pt x="333633" y="475592"/>
                  </a:cubicBezTo>
                  <a:lnTo>
                    <a:pt x="333633" y="210728"/>
                  </a:lnTo>
                  <a:cubicBezTo>
                    <a:pt x="333633" y="184473"/>
                    <a:pt x="355015" y="163218"/>
                    <a:pt x="381212" y="163218"/>
                  </a:cubicBezTo>
                  <a:close/>
                  <a:moveTo>
                    <a:pt x="43821" y="0"/>
                  </a:moveTo>
                  <a:lnTo>
                    <a:pt x="452369" y="0"/>
                  </a:lnTo>
                  <a:cubicBezTo>
                    <a:pt x="476543" y="0"/>
                    <a:pt x="496287" y="19715"/>
                    <a:pt x="496287" y="43855"/>
                  </a:cubicBezTo>
                  <a:lnTo>
                    <a:pt x="496287" y="122621"/>
                  </a:lnTo>
                  <a:lnTo>
                    <a:pt x="455644" y="122621"/>
                  </a:lnTo>
                  <a:lnTo>
                    <a:pt x="455644" y="43855"/>
                  </a:lnTo>
                  <a:cubicBezTo>
                    <a:pt x="455644" y="42027"/>
                    <a:pt x="454199" y="40585"/>
                    <a:pt x="452369" y="40585"/>
                  </a:cubicBezTo>
                  <a:lnTo>
                    <a:pt x="43821" y="40585"/>
                  </a:lnTo>
                  <a:cubicBezTo>
                    <a:pt x="42088" y="40585"/>
                    <a:pt x="40643" y="42027"/>
                    <a:pt x="40643" y="43855"/>
                  </a:cubicBezTo>
                  <a:lnTo>
                    <a:pt x="40643" y="320738"/>
                  </a:lnTo>
                  <a:cubicBezTo>
                    <a:pt x="40643" y="322469"/>
                    <a:pt x="42088" y="323911"/>
                    <a:pt x="43821" y="323911"/>
                  </a:cubicBezTo>
                  <a:lnTo>
                    <a:pt x="292976" y="323911"/>
                  </a:lnTo>
                  <a:lnTo>
                    <a:pt x="292976" y="344204"/>
                  </a:lnTo>
                  <a:lnTo>
                    <a:pt x="292976" y="418161"/>
                  </a:lnTo>
                  <a:lnTo>
                    <a:pt x="292976" y="458746"/>
                  </a:lnTo>
                  <a:lnTo>
                    <a:pt x="159201" y="458746"/>
                  </a:lnTo>
                  <a:cubicBezTo>
                    <a:pt x="148029" y="458746"/>
                    <a:pt x="138879" y="449610"/>
                    <a:pt x="138879" y="438454"/>
                  </a:cubicBezTo>
                  <a:cubicBezTo>
                    <a:pt x="138879" y="427201"/>
                    <a:pt x="148029" y="418161"/>
                    <a:pt x="159201" y="418161"/>
                  </a:cubicBezTo>
                  <a:lnTo>
                    <a:pt x="180774" y="418161"/>
                  </a:lnTo>
                  <a:lnTo>
                    <a:pt x="180774" y="364497"/>
                  </a:lnTo>
                  <a:lnTo>
                    <a:pt x="43821" y="364497"/>
                  </a:lnTo>
                  <a:cubicBezTo>
                    <a:pt x="19647" y="364497"/>
                    <a:pt x="0" y="344877"/>
                    <a:pt x="0" y="320738"/>
                  </a:cubicBezTo>
                  <a:lnTo>
                    <a:pt x="0" y="43855"/>
                  </a:lnTo>
                  <a:cubicBezTo>
                    <a:pt x="0" y="19715"/>
                    <a:pt x="19647" y="0"/>
                    <a:pt x="4382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>
                <a:lnSpc>
                  <a:spcPct val="14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9" name="îśľiḑè">
              <a:extLst>
                <a:ext uri="{FF2B5EF4-FFF2-40B4-BE49-F238E27FC236}">
                  <a16:creationId xmlns:a16="http://schemas.microsoft.com/office/drawing/2014/main" id="{5959089F-3136-4E41-A1D1-C95155DD4847}"/>
                </a:ext>
              </a:extLst>
            </p:cNvPr>
            <p:cNvSpPr/>
            <p:nvPr/>
          </p:nvSpPr>
          <p:spPr>
            <a:xfrm>
              <a:off x="5577727" y="1130300"/>
              <a:ext cx="1023844" cy="1023844"/>
            </a:xfrm>
            <a:prstGeom prst="ellipse">
              <a:avLst/>
            </a:prstGeom>
            <a:solidFill>
              <a:srgbClr val="52D6F0"/>
            </a:solidFill>
            <a:ln w="3175" cap="rnd">
              <a:noFill/>
              <a:prstDash val="solid"/>
              <a:round/>
              <a:headEnd/>
              <a:tailEnd/>
            </a:ln>
            <a:effectLst>
              <a:outerShdw blurRad="635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>
                <a:lnSpc>
                  <a:spcPct val="12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0" name="îṣ1îḋê">
              <a:extLst>
                <a:ext uri="{FF2B5EF4-FFF2-40B4-BE49-F238E27FC236}">
                  <a16:creationId xmlns:a16="http://schemas.microsoft.com/office/drawing/2014/main" id="{B0BE696E-912F-4CCF-AB09-4091A35F4F10}"/>
                </a:ext>
              </a:extLst>
            </p:cNvPr>
            <p:cNvSpPr/>
            <p:nvPr/>
          </p:nvSpPr>
          <p:spPr>
            <a:xfrm>
              <a:off x="5894938" y="1438391"/>
              <a:ext cx="389422" cy="407662"/>
            </a:xfrm>
            <a:custGeom>
              <a:avLst/>
              <a:gdLst>
                <a:gd name="T0" fmla="*/ 4199 w 4494"/>
                <a:gd name="T1" fmla="*/ 3838 h 4712"/>
                <a:gd name="T2" fmla="*/ 3932 w 4494"/>
                <a:gd name="T3" fmla="*/ 2881 h 4712"/>
                <a:gd name="T4" fmla="*/ 2447 w 4494"/>
                <a:gd name="T5" fmla="*/ 2438 h 4712"/>
                <a:gd name="T6" fmla="*/ 3263 w 4494"/>
                <a:gd name="T7" fmla="*/ 2440 h 4712"/>
                <a:gd name="T8" fmla="*/ 3263 w 4494"/>
                <a:gd name="T9" fmla="*/ 897 h 4712"/>
                <a:gd name="T10" fmla="*/ 2194 w 4494"/>
                <a:gd name="T11" fmla="*/ 0 h 4712"/>
                <a:gd name="T12" fmla="*/ 460 w 4494"/>
                <a:gd name="T13" fmla="*/ 1619 h 4712"/>
                <a:gd name="T14" fmla="*/ 2047 w 4494"/>
                <a:gd name="T15" fmla="*/ 2438 h 4712"/>
                <a:gd name="T16" fmla="*/ 562 w 4494"/>
                <a:gd name="T17" fmla="*/ 2881 h 4712"/>
                <a:gd name="T18" fmla="*/ 296 w 4494"/>
                <a:gd name="T19" fmla="*/ 3838 h 4712"/>
                <a:gd name="T20" fmla="*/ 0 w 4494"/>
                <a:gd name="T21" fmla="*/ 3971 h 4712"/>
                <a:gd name="T22" fmla="*/ 134 w 4494"/>
                <a:gd name="T23" fmla="*/ 4712 h 4712"/>
                <a:gd name="T24" fmla="*/ 991 w 4494"/>
                <a:gd name="T25" fmla="*/ 4579 h 4712"/>
                <a:gd name="T26" fmla="*/ 858 w 4494"/>
                <a:gd name="T27" fmla="*/ 3838 h 4712"/>
                <a:gd name="T28" fmla="*/ 696 w 4494"/>
                <a:gd name="T29" fmla="*/ 3281 h 4712"/>
                <a:gd name="T30" fmla="*/ 2047 w 4494"/>
                <a:gd name="T31" fmla="*/ 3838 h 4712"/>
                <a:gd name="T32" fmla="*/ 1752 w 4494"/>
                <a:gd name="T33" fmla="*/ 3971 h 4712"/>
                <a:gd name="T34" fmla="*/ 1885 w 4494"/>
                <a:gd name="T35" fmla="*/ 4712 h 4712"/>
                <a:gd name="T36" fmla="*/ 2742 w 4494"/>
                <a:gd name="T37" fmla="*/ 4579 h 4712"/>
                <a:gd name="T38" fmla="*/ 2609 w 4494"/>
                <a:gd name="T39" fmla="*/ 3838 h 4712"/>
                <a:gd name="T40" fmla="*/ 2447 w 4494"/>
                <a:gd name="T41" fmla="*/ 3281 h 4712"/>
                <a:gd name="T42" fmla="*/ 3799 w 4494"/>
                <a:gd name="T43" fmla="*/ 3838 h 4712"/>
                <a:gd name="T44" fmla="*/ 3503 w 4494"/>
                <a:gd name="T45" fmla="*/ 3971 h 4712"/>
                <a:gd name="T46" fmla="*/ 3637 w 4494"/>
                <a:gd name="T47" fmla="*/ 4712 h 4712"/>
                <a:gd name="T48" fmla="*/ 4494 w 4494"/>
                <a:gd name="T49" fmla="*/ 4579 h 4712"/>
                <a:gd name="T50" fmla="*/ 4360 w 4494"/>
                <a:gd name="T51" fmla="*/ 3838 h 4712"/>
                <a:gd name="T52" fmla="*/ 1278 w 4494"/>
                <a:gd name="T53" fmla="*/ 1201 h 4712"/>
                <a:gd name="T54" fmla="*/ 1288 w 4494"/>
                <a:gd name="T55" fmla="*/ 1201 h 4712"/>
                <a:gd name="T56" fmla="*/ 1311 w 4494"/>
                <a:gd name="T57" fmla="*/ 1202 h 4712"/>
                <a:gd name="T58" fmla="*/ 2194 w 4494"/>
                <a:gd name="T59" fmla="*/ 400 h 4712"/>
                <a:gd name="T60" fmla="*/ 2858 w 4494"/>
                <a:gd name="T61" fmla="*/ 1073 h 4712"/>
                <a:gd name="T62" fmla="*/ 2915 w 4494"/>
                <a:gd name="T63" fmla="*/ 1252 h 4712"/>
                <a:gd name="T64" fmla="*/ 3148 w 4494"/>
                <a:gd name="T65" fmla="*/ 1315 h 4712"/>
                <a:gd name="T66" fmla="*/ 3634 w 4494"/>
                <a:gd name="T67" fmla="*/ 1668 h 4712"/>
                <a:gd name="T68" fmla="*/ 2832 w 4494"/>
                <a:gd name="T69" fmla="*/ 2039 h 4712"/>
                <a:gd name="T70" fmla="*/ 1278 w 4494"/>
                <a:gd name="T71" fmla="*/ 2038 h 4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94" h="4712">
                  <a:moveTo>
                    <a:pt x="4360" y="3838"/>
                  </a:moveTo>
                  <a:lnTo>
                    <a:pt x="4199" y="3838"/>
                  </a:lnTo>
                  <a:lnTo>
                    <a:pt x="4199" y="3148"/>
                  </a:lnTo>
                  <a:cubicBezTo>
                    <a:pt x="4199" y="3001"/>
                    <a:pt x="4079" y="2881"/>
                    <a:pt x="3932" y="2881"/>
                  </a:cubicBezTo>
                  <a:lnTo>
                    <a:pt x="2447" y="2881"/>
                  </a:lnTo>
                  <a:lnTo>
                    <a:pt x="2447" y="2438"/>
                  </a:lnTo>
                  <a:cubicBezTo>
                    <a:pt x="2520" y="2438"/>
                    <a:pt x="2675" y="2438"/>
                    <a:pt x="2831" y="2439"/>
                  </a:cubicBezTo>
                  <a:cubicBezTo>
                    <a:pt x="3043" y="2439"/>
                    <a:pt x="3256" y="2440"/>
                    <a:pt x="3263" y="2440"/>
                  </a:cubicBezTo>
                  <a:cubicBezTo>
                    <a:pt x="3688" y="2440"/>
                    <a:pt x="4034" y="2094"/>
                    <a:pt x="4034" y="1668"/>
                  </a:cubicBezTo>
                  <a:cubicBezTo>
                    <a:pt x="4034" y="1243"/>
                    <a:pt x="3688" y="897"/>
                    <a:pt x="3263" y="897"/>
                  </a:cubicBezTo>
                  <a:cubicBezTo>
                    <a:pt x="3257" y="897"/>
                    <a:pt x="3251" y="897"/>
                    <a:pt x="3245" y="897"/>
                  </a:cubicBezTo>
                  <a:cubicBezTo>
                    <a:pt x="3165" y="389"/>
                    <a:pt x="2724" y="0"/>
                    <a:pt x="2194" y="0"/>
                  </a:cubicBezTo>
                  <a:cubicBezTo>
                    <a:pt x="1698" y="0"/>
                    <a:pt x="1276" y="339"/>
                    <a:pt x="1161" y="809"/>
                  </a:cubicBezTo>
                  <a:cubicBezTo>
                    <a:pt x="765" y="866"/>
                    <a:pt x="460" y="1208"/>
                    <a:pt x="460" y="1619"/>
                  </a:cubicBezTo>
                  <a:cubicBezTo>
                    <a:pt x="460" y="2071"/>
                    <a:pt x="827" y="2438"/>
                    <a:pt x="1278" y="2438"/>
                  </a:cubicBezTo>
                  <a:lnTo>
                    <a:pt x="2047" y="2438"/>
                  </a:lnTo>
                  <a:lnTo>
                    <a:pt x="2047" y="2881"/>
                  </a:lnTo>
                  <a:lnTo>
                    <a:pt x="562" y="2881"/>
                  </a:lnTo>
                  <a:cubicBezTo>
                    <a:pt x="415" y="2881"/>
                    <a:pt x="296" y="3001"/>
                    <a:pt x="296" y="3148"/>
                  </a:cubicBezTo>
                  <a:lnTo>
                    <a:pt x="296" y="3838"/>
                  </a:lnTo>
                  <a:lnTo>
                    <a:pt x="134" y="3838"/>
                  </a:lnTo>
                  <a:cubicBezTo>
                    <a:pt x="60" y="3838"/>
                    <a:pt x="0" y="3897"/>
                    <a:pt x="0" y="3971"/>
                  </a:cubicBezTo>
                  <a:lnTo>
                    <a:pt x="0" y="4579"/>
                  </a:lnTo>
                  <a:cubicBezTo>
                    <a:pt x="0" y="4652"/>
                    <a:pt x="60" y="4712"/>
                    <a:pt x="134" y="4712"/>
                  </a:cubicBezTo>
                  <a:lnTo>
                    <a:pt x="858" y="4712"/>
                  </a:lnTo>
                  <a:cubicBezTo>
                    <a:pt x="931" y="4712"/>
                    <a:pt x="991" y="4652"/>
                    <a:pt x="991" y="4579"/>
                  </a:cubicBezTo>
                  <a:lnTo>
                    <a:pt x="991" y="3971"/>
                  </a:lnTo>
                  <a:cubicBezTo>
                    <a:pt x="991" y="3897"/>
                    <a:pt x="931" y="3838"/>
                    <a:pt x="858" y="3838"/>
                  </a:cubicBezTo>
                  <a:lnTo>
                    <a:pt x="696" y="3838"/>
                  </a:lnTo>
                  <a:lnTo>
                    <a:pt x="696" y="3281"/>
                  </a:lnTo>
                  <a:lnTo>
                    <a:pt x="2047" y="3281"/>
                  </a:lnTo>
                  <a:lnTo>
                    <a:pt x="2047" y="3838"/>
                  </a:lnTo>
                  <a:lnTo>
                    <a:pt x="1885" y="3838"/>
                  </a:lnTo>
                  <a:cubicBezTo>
                    <a:pt x="1812" y="3838"/>
                    <a:pt x="1752" y="3897"/>
                    <a:pt x="1752" y="3971"/>
                  </a:cubicBezTo>
                  <a:lnTo>
                    <a:pt x="1752" y="4579"/>
                  </a:lnTo>
                  <a:cubicBezTo>
                    <a:pt x="1752" y="4652"/>
                    <a:pt x="1812" y="4712"/>
                    <a:pt x="1885" y="4712"/>
                  </a:cubicBezTo>
                  <a:lnTo>
                    <a:pt x="2609" y="4712"/>
                  </a:lnTo>
                  <a:cubicBezTo>
                    <a:pt x="2682" y="4712"/>
                    <a:pt x="2742" y="4652"/>
                    <a:pt x="2742" y="4579"/>
                  </a:cubicBezTo>
                  <a:lnTo>
                    <a:pt x="2742" y="3971"/>
                  </a:lnTo>
                  <a:cubicBezTo>
                    <a:pt x="2742" y="3897"/>
                    <a:pt x="2682" y="3838"/>
                    <a:pt x="2609" y="3838"/>
                  </a:cubicBezTo>
                  <a:lnTo>
                    <a:pt x="2447" y="3838"/>
                  </a:lnTo>
                  <a:lnTo>
                    <a:pt x="2447" y="3281"/>
                  </a:lnTo>
                  <a:lnTo>
                    <a:pt x="3799" y="3281"/>
                  </a:lnTo>
                  <a:lnTo>
                    <a:pt x="3799" y="3838"/>
                  </a:lnTo>
                  <a:lnTo>
                    <a:pt x="3637" y="3838"/>
                  </a:lnTo>
                  <a:cubicBezTo>
                    <a:pt x="3563" y="3838"/>
                    <a:pt x="3503" y="3897"/>
                    <a:pt x="3503" y="3971"/>
                  </a:cubicBezTo>
                  <a:lnTo>
                    <a:pt x="3503" y="4579"/>
                  </a:lnTo>
                  <a:cubicBezTo>
                    <a:pt x="3503" y="4652"/>
                    <a:pt x="3563" y="4712"/>
                    <a:pt x="3637" y="4712"/>
                  </a:cubicBezTo>
                  <a:lnTo>
                    <a:pt x="4360" y="4712"/>
                  </a:lnTo>
                  <a:cubicBezTo>
                    <a:pt x="4434" y="4712"/>
                    <a:pt x="4494" y="4652"/>
                    <a:pt x="4494" y="4579"/>
                  </a:cubicBezTo>
                  <a:lnTo>
                    <a:pt x="4494" y="3971"/>
                  </a:lnTo>
                  <a:cubicBezTo>
                    <a:pt x="4494" y="3897"/>
                    <a:pt x="4434" y="3838"/>
                    <a:pt x="4360" y="3838"/>
                  </a:cubicBezTo>
                  <a:close/>
                  <a:moveTo>
                    <a:pt x="860" y="1619"/>
                  </a:moveTo>
                  <a:cubicBezTo>
                    <a:pt x="860" y="1389"/>
                    <a:pt x="1048" y="1201"/>
                    <a:pt x="1278" y="1201"/>
                  </a:cubicBezTo>
                  <a:lnTo>
                    <a:pt x="1283" y="1201"/>
                  </a:lnTo>
                  <a:cubicBezTo>
                    <a:pt x="1284" y="1201"/>
                    <a:pt x="1286" y="1201"/>
                    <a:pt x="1288" y="1201"/>
                  </a:cubicBezTo>
                  <a:cubicBezTo>
                    <a:pt x="1288" y="1201"/>
                    <a:pt x="1289" y="1201"/>
                    <a:pt x="1290" y="1201"/>
                  </a:cubicBezTo>
                  <a:cubicBezTo>
                    <a:pt x="1297" y="1202"/>
                    <a:pt x="1304" y="1202"/>
                    <a:pt x="1311" y="1202"/>
                  </a:cubicBezTo>
                  <a:cubicBezTo>
                    <a:pt x="1408" y="1202"/>
                    <a:pt x="1519" y="1136"/>
                    <a:pt x="1534" y="992"/>
                  </a:cubicBezTo>
                  <a:cubicBezTo>
                    <a:pt x="1571" y="654"/>
                    <a:pt x="1854" y="400"/>
                    <a:pt x="2194" y="400"/>
                  </a:cubicBezTo>
                  <a:cubicBezTo>
                    <a:pt x="2560" y="400"/>
                    <a:pt x="2858" y="698"/>
                    <a:pt x="2858" y="1064"/>
                  </a:cubicBezTo>
                  <a:lnTo>
                    <a:pt x="2858" y="1073"/>
                  </a:lnTo>
                  <a:cubicBezTo>
                    <a:pt x="2858" y="1074"/>
                    <a:pt x="2858" y="1076"/>
                    <a:pt x="2858" y="1078"/>
                  </a:cubicBezTo>
                  <a:cubicBezTo>
                    <a:pt x="2853" y="1144"/>
                    <a:pt x="2873" y="1205"/>
                    <a:pt x="2915" y="1252"/>
                  </a:cubicBezTo>
                  <a:cubicBezTo>
                    <a:pt x="2957" y="1299"/>
                    <a:pt x="3017" y="1325"/>
                    <a:pt x="3080" y="1325"/>
                  </a:cubicBezTo>
                  <a:cubicBezTo>
                    <a:pt x="3103" y="1325"/>
                    <a:pt x="3126" y="1322"/>
                    <a:pt x="3148" y="1315"/>
                  </a:cubicBezTo>
                  <a:cubicBezTo>
                    <a:pt x="3185" y="1303"/>
                    <a:pt x="3224" y="1297"/>
                    <a:pt x="3263" y="1297"/>
                  </a:cubicBezTo>
                  <a:cubicBezTo>
                    <a:pt x="3468" y="1297"/>
                    <a:pt x="3634" y="1463"/>
                    <a:pt x="3634" y="1668"/>
                  </a:cubicBezTo>
                  <a:cubicBezTo>
                    <a:pt x="3634" y="1873"/>
                    <a:pt x="3468" y="2040"/>
                    <a:pt x="3263" y="2040"/>
                  </a:cubicBezTo>
                  <a:cubicBezTo>
                    <a:pt x="3255" y="2040"/>
                    <a:pt x="3043" y="2039"/>
                    <a:pt x="2832" y="2039"/>
                  </a:cubicBezTo>
                  <a:cubicBezTo>
                    <a:pt x="2621" y="2038"/>
                    <a:pt x="2411" y="2038"/>
                    <a:pt x="2405" y="2038"/>
                  </a:cubicBezTo>
                  <a:lnTo>
                    <a:pt x="1278" y="2038"/>
                  </a:lnTo>
                  <a:cubicBezTo>
                    <a:pt x="1048" y="2038"/>
                    <a:pt x="860" y="1850"/>
                    <a:pt x="860" y="161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>
                <a:lnSpc>
                  <a:spcPct val="14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3" name="îṥḷiďé">
              <a:extLst>
                <a:ext uri="{FF2B5EF4-FFF2-40B4-BE49-F238E27FC236}">
                  <a16:creationId xmlns:a16="http://schemas.microsoft.com/office/drawing/2014/main" id="{C38F5A68-F60C-47FF-9F01-DB4F8079824D}"/>
                </a:ext>
              </a:extLst>
            </p:cNvPr>
            <p:cNvSpPr/>
            <p:nvPr/>
          </p:nvSpPr>
          <p:spPr>
            <a:xfrm>
              <a:off x="7841900" y="3633837"/>
              <a:ext cx="1023844" cy="1023844"/>
            </a:xfrm>
            <a:prstGeom prst="ellipse">
              <a:avLst/>
            </a:prstGeom>
            <a:solidFill>
              <a:srgbClr val="52D6F0"/>
            </a:solidFill>
            <a:ln w="3175" cap="rnd">
              <a:noFill/>
              <a:prstDash val="solid"/>
              <a:round/>
              <a:headEnd/>
              <a:tailEnd/>
            </a:ln>
            <a:effectLst>
              <a:outerShdw blurRad="635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>
                <a:lnSpc>
                  <a:spcPct val="12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4" name="îṧļîḍè">
              <a:extLst>
                <a:ext uri="{FF2B5EF4-FFF2-40B4-BE49-F238E27FC236}">
                  <a16:creationId xmlns:a16="http://schemas.microsoft.com/office/drawing/2014/main" id="{C449BD24-0334-4C54-B6A5-4465C647D8BE}"/>
                </a:ext>
              </a:extLst>
            </p:cNvPr>
            <p:cNvSpPr/>
            <p:nvPr/>
          </p:nvSpPr>
          <p:spPr>
            <a:xfrm>
              <a:off x="8149991" y="3969898"/>
              <a:ext cx="407662" cy="351722"/>
            </a:xfrm>
            <a:custGeom>
              <a:avLst/>
              <a:gdLst>
                <a:gd name="connsiteX0" fmla="*/ 470014 w 606298"/>
                <a:gd name="connsiteY0" fmla="*/ 471938 h 523102"/>
                <a:gd name="connsiteX1" fmla="*/ 453448 w 606298"/>
                <a:gd name="connsiteY1" fmla="*/ 488480 h 523102"/>
                <a:gd name="connsiteX2" fmla="*/ 455470 w 606298"/>
                <a:gd name="connsiteY2" fmla="*/ 495885 h 523102"/>
                <a:gd name="connsiteX3" fmla="*/ 470014 w 606298"/>
                <a:gd name="connsiteY3" fmla="*/ 504925 h 523102"/>
                <a:gd name="connsiteX4" fmla="*/ 484557 w 606298"/>
                <a:gd name="connsiteY4" fmla="*/ 495885 h 523102"/>
                <a:gd name="connsiteX5" fmla="*/ 486483 w 606298"/>
                <a:gd name="connsiteY5" fmla="*/ 488480 h 523102"/>
                <a:gd name="connsiteX6" fmla="*/ 470014 w 606298"/>
                <a:gd name="connsiteY6" fmla="*/ 471938 h 523102"/>
                <a:gd name="connsiteX7" fmla="*/ 381212 w 606298"/>
                <a:gd name="connsiteY7" fmla="*/ 203804 h 523102"/>
                <a:gd name="connsiteX8" fmla="*/ 374278 w 606298"/>
                <a:gd name="connsiteY8" fmla="*/ 210728 h 523102"/>
                <a:gd name="connsiteX9" fmla="*/ 374278 w 606298"/>
                <a:gd name="connsiteY9" fmla="*/ 456646 h 523102"/>
                <a:gd name="connsiteX10" fmla="*/ 565653 w 606298"/>
                <a:gd name="connsiteY10" fmla="*/ 456646 h 523102"/>
                <a:gd name="connsiteX11" fmla="*/ 565653 w 606298"/>
                <a:gd name="connsiteY11" fmla="*/ 210728 h 523102"/>
                <a:gd name="connsiteX12" fmla="*/ 558719 w 606298"/>
                <a:gd name="connsiteY12" fmla="*/ 203804 h 523102"/>
                <a:gd name="connsiteX13" fmla="*/ 381212 w 606298"/>
                <a:gd name="connsiteY13" fmla="*/ 163218 h 523102"/>
                <a:gd name="connsiteX14" fmla="*/ 558719 w 606298"/>
                <a:gd name="connsiteY14" fmla="*/ 163218 h 523102"/>
                <a:gd name="connsiteX15" fmla="*/ 606298 w 606298"/>
                <a:gd name="connsiteY15" fmla="*/ 210728 h 523102"/>
                <a:gd name="connsiteX16" fmla="*/ 606298 w 606298"/>
                <a:gd name="connsiteY16" fmla="*/ 475592 h 523102"/>
                <a:gd name="connsiteX17" fmla="*/ 558719 w 606298"/>
                <a:gd name="connsiteY17" fmla="*/ 523102 h 523102"/>
                <a:gd name="connsiteX18" fmla="*/ 381212 w 606298"/>
                <a:gd name="connsiteY18" fmla="*/ 523102 h 523102"/>
                <a:gd name="connsiteX19" fmla="*/ 333633 w 606298"/>
                <a:gd name="connsiteY19" fmla="*/ 475592 h 523102"/>
                <a:gd name="connsiteX20" fmla="*/ 333633 w 606298"/>
                <a:gd name="connsiteY20" fmla="*/ 210728 h 523102"/>
                <a:gd name="connsiteX21" fmla="*/ 381212 w 606298"/>
                <a:gd name="connsiteY21" fmla="*/ 163218 h 523102"/>
                <a:gd name="connsiteX22" fmla="*/ 43821 w 606298"/>
                <a:gd name="connsiteY22" fmla="*/ 0 h 523102"/>
                <a:gd name="connsiteX23" fmla="*/ 452369 w 606298"/>
                <a:gd name="connsiteY23" fmla="*/ 0 h 523102"/>
                <a:gd name="connsiteX24" fmla="*/ 496287 w 606298"/>
                <a:gd name="connsiteY24" fmla="*/ 43855 h 523102"/>
                <a:gd name="connsiteX25" fmla="*/ 496287 w 606298"/>
                <a:gd name="connsiteY25" fmla="*/ 122621 h 523102"/>
                <a:gd name="connsiteX26" fmla="*/ 455644 w 606298"/>
                <a:gd name="connsiteY26" fmla="*/ 122621 h 523102"/>
                <a:gd name="connsiteX27" fmla="*/ 455644 w 606298"/>
                <a:gd name="connsiteY27" fmla="*/ 43855 h 523102"/>
                <a:gd name="connsiteX28" fmla="*/ 452369 w 606298"/>
                <a:gd name="connsiteY28" fmla="*/ 40585 h 523102"/>
                <a:gd name="connsiteX29" fmla="*/ 43821 w 606298"/>
                <a:gd name="connsiteY29" fmla="*/ 40585 h 523102"/>
                <a:gd name="connsiteX30" fmla="*/ 40643 w 606298"/>
                <a:gd name="connsiteY30" fmla="*/ 43855 h 523102"/>
                <a:gd name="connsiteX31" fmla="*/ 40643 w 606298"/>
                <a:gd name="connsiteY31" fmla="*/ 320738 h 523102"/>
                <a:gd name="connsiteX32" fmla="*/ 43821 w 606298"/>
                <a:gd name="connsiteY32" fmla="*/ 323911 h 523102"/>
                <a:gd name="connsiteX33" fmla="*/ 292976 w 606298"/>
                <a:gd name="connsiteY33" fmla="*/ 323911 h 523102"/>
                <a:gd name="connsiteX34" fmla="*/ 292976 w 606298"/>
                <a:gd name="connsiteY34" fmla="*/ 344204 h 523102"/>
                <a:gd name="connsiteX35" fmla="*/ 292976 w 606298"/>
                <a:gd name="connsiteY35" fmla="*/ 418161 h 523102"/>
                <a:gd name="connsiteX36" fmla="*/ 292976 w 606298"/>
                <a:gd name="connsiteY36" fmla="*/ 458746 h 523102"/>
                <a:gd name="connsiteX37" fmla="*/ 159201 w 606298"/>
                <a:gd name="connsiteY37" fmla="*/ 458746 h 523102"/>
                <a:gd name="connsiteX38" fmla="*/ 138879 w 606298"/>
                <a:gd name="connsiteY38" fmla="*/ 438454 h 523102"/>
                <a:gd name="connsiteX39" fmla="*/ 159201 w 606298"/>
                <a:gd name="connsiteY39" fmla="*/ 418161 h 523102"/>
                <a:gd name="connsiteX40" fmla="*/ 180774 w 606298"/>
                <a:gd name="connsiteY40" fmla="*/ 418161 h 523102"/>
                <a:gd name="connsiteX41" fmla="*/ 180774 w 606298"/>
                <a:gd name="connsiteY41" fmla="*/ 364497 h 523102"/>
                <a:gd name="connsiteX42" fmla="*/ 43821 w 606298"/>
                <a:gd name="connsiteY42" fmla="*/ 364497 h 523102"/>
                <a:gd name="connsiteX43" fmla="*/ 0 w 606298"/>
                <a:gd name="connsiteY43" fmla="*/ 320738 h 523102"/>
                <a:gd name="connsiteX44" fmla="*/ 0 w 606298"/>
                <a:gd name="connsiteY44" fmla="*/ 43855 h 523102"/>
                <a:gd name="connsiteX45" fmla="*/ 43821 w 606298"/>
                <a:gd name="connsiteY45" fmla="*/ 0 h 52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606298" h="523102">
                  <a:moveTo>
                    <a:pt x="470014" y="471938"/>
                  </a:moveTo>
                  <a:cubicBezTo>
                    <a:pt x="460864" y="471938"/>
                    <a:pt x="453448" y="479343"/>
                    <a:pt x="453448" y="488480"/>
                  </a:cubicBezTo>
                  <a:cubicBezTo>
                    <a:pt x="453448" y="491172"/>
                    <a:pt x="454314" y="493577"/>
                    <a:pt x="455470" y="495885"/>
                  </a:cubicBezTo>
                  <a:cubicBezTo>
                    <a:pt x="458167" y="501175"/>
                    <a:pt x="463561" y="504925"/>
                    <a:pt x="470014" y="504925"/>
                  </a:cubicBezTo>
                  <a:cubicBezTo>
                    <a:pt x="476370" y="504925"/>
                    <a:pt x="481764" y="501175"/>
                    <a:pt x="484557" y="495885"/>
                  </a:cubicBezTo>
                  <a:cubicBezTo>
                    <a:pt x="485713" y="493577"/>
                    <a:pt x="486483" y="491172"/>
                    <a:pt x="486483" y="488480"/>
                  </a:cubicBezTo>
                  <a:cubicBezTo>
                    <a:pt x="486483" y="479343"/>
                    <a:pt x="479067" y="471938"/>
                    <a:pt x="470014" y="471938"/>
                  </a:cubicBezTo>
                  <a:close/>
                  <a:moveTo>
                    <a:pt x="381212" y="203804"/>
                  </a:moveTo>
                  <a:cubicBezTo>
                    <a:pt x="377456" y="203804"/>
                    <a:pt x="374278" y="206881"/>
                    <a:pt x="374278" y="210728"/>
                  </a:cubicBezTo>
                  <a:lnTo>
                    <a:pt x="374278" y="456646"/>
                  </a:lnTo>
                  <a:lnTo>
                    <a:pt x="565653" y="456646"/>
                  </a:lnTo>
                  <a:lnTo>
                    <a:pt x="565653" y="210728"/>
                  </a:lnTo>
                  <a:cubicBezTo>
                    <a:pt x="565653" y="206881"/>
                    <a:pt x="562571" y="203804"/>
                    <a:pt x="558719" y="203804"/>
                  </a:cubicBezTo>
                  <a:close/>
                  <a:moveTo>
                    <a:pt x="381212" y="163218"/>
                  </a:moveTo>
                  <a:lnTo>
                    <a:pt x="558719" y="163218"/>
                  </a:lnTo>
                  <a:cubicBezTo>
                    <a:pt x="585013" y="163218"/>
                    <a:pt x="606298" y="184473"/>
                    <a:pt x="606298" y="210728"/>
                  </a:cubicBezTo>
                  <a:lnTo>
                    <a:pt x="606298" y="475592"/>
                  </a:lnTo>
                  <a:cubicBezTo>
                    <a:pt x="606298" y="501752"/>
                    <a:pt x="585013" y="523102"/>
                    <a:pt x="558719" y="523102"/>
                  </a:cubicBezTo>
                  <a:lnTo>
                    <a:pt x="381212" y="523102"/>
                  </a:lnTo>
                  <a:cubicBezTo>
                    <a:pt x="355015" y="523102"/>
                    <a:pt x="333633" y="501752"/>
                    <a:pt x="333633" y="475592"/>
                  </a:cubicBezTo>
                  <a:lnTo>
                    <a:pt x="333633" y="210728"/>
                  </a:lnTo>
                  <a:cubicBezTo>
                    <a:pt x="333633" y="184473"/>
                    <a:pt x="355015" y="163218"/>
                    <a:pt x="381212" y="163218"/>
                  </a:cubicBezTo>
                  <a:close/>
                  <a:moveTo>
                    <a:pt x="43821" y="0"/>
                  </a:moveTo>
                  <a:lnTo>
                    <a:pt x="452369" y="0"/>
                  </a:lnTo>
                  <a:cubicBezTo>
                    <a:pt x="476543" y="0"/>
                    <a:pt x="496287" y="19715"/>
                    <a:pt x="496287" y="43855"/>
                  </a:cubicBezTo>
                  <a:lnTo>
                    <a:pt x="496287" y="122621"/>
                  </a:lnTo>
                  <a:lnTo>
                    <a:pt x="455644" y="122621"/>
                  </a:lnTo>
                  <a:lnTo>
                    <a:pt x="455644" y="43855"/>
                  </a:lnTo>
                  <a:cubicBezTo>
                    <a:pt x="455644" y="42027"/>
                    <a:pt x="454199" y="40585"/>
                    <a:pt x="452369" y="40585"/>
                  </a:cubicBezTo>
                  <a:lnTo>
                    <a:pt x="43821" y="40585"/>
                  </a:lnTo>
                  <a:cubicBezTo>
                    <a:pt x="42088" y="40585"/>
                    <a:pt x="40643" y="42027"/>
                    <a:pt x="40643" y="43855"/>
                  </a:cubicBezTo>
                  <a:lnTo>
                    <a:pt x="40643" y="320738"/>
                  </a:lnTo>
                  <a:cubicBezTo>
                    <a:pt x="40643" y="322469"/>
                    <a:pt x="42088" y="323911"/>
                    <a:pt x="43821" y="323911"/>
                  </a:cubicBezTo>
                  <a:lnTo>
                    <a:pt x="292976" y="323911"/>
                  </a:lnTo>
                  <a:lnTo>
                    <a:pt x="292976" y="344204"/>
                  </a:lnTo>
                  <a:lnTo>
                    <a:pt x="292976" y="418161"/>
                  </a:lnTo>
                  <a:lnTo>
                    <a:pt x="292976" y="458746"/>
                  </a:lnTo>
                  <a:lnTo>
                    <a:pt x="159201" y="458746"/>
                  </a:lnTo>
                  <a:cubicBezTo>
                    <a:pt x="148029" y="458746"/>
                    <a:pt x="138879" y="449610"/>
                    <a:pt x="138879" y="438454"/>
                  </a:cubicBezTo>
                  <a:cubicBezTo>
                    <a:pt x="138879" y="427201"/>
                    <a:pt x="148029" y="418161"/>
                    <a:pt x="159201" y="418161"/>
                  </a:cubicBezTo>
                  <a:lnTo>
                    <a:pt x="180774" y="418161"/>
                  </a:lnTo>
                  <a:lnTo>
                    <a:pt x="180774" y="364497"/>
                  </a:lnTo>
                  <a:lnTo>
                    <a:pt x="43821" y="364497"/>
                  </a:lnTo>
                  <a:cubicBezTo>
                    <a:pt x="19647" y="364497"/>
                    <a:pt x="0" y="344877"/>
                    <a:pt x="0" y="320738"/>
                  </a:cubicBezTo>
                  <a:lnTo>
                    <a:pt x="0" y="43855"/>
                  </a:lnTo>
                  <a:cubicBezTo>
                    <a:pt x="0" y="19715"/>
                    <a:pt x="19647" y="0"/>
                    <a:pt x="43821" y="0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>
                <a:lnSpc>
                  <a:spcPct val="14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6" name="íSļïḑe">
              <a:extLst>
                <a:ext uri="{FF2B5EF4-FFF2-40B4-BE49-F238E27FC236}">
                  <a16:creationId xmlns:a16="http://schemas.microsoft.com/office/drawing/2014/main" id="{60E63C79-992B-4BBF-B62A-5262391019F5}"/>
                </a:ext>
              </a:extLst>
            </p:cNvPr>
            <p:cNvSpPr/>
            <p:nvPr/>
          </p:nvSpPr>
          <p:spPr>
            <a:xfrm>
              <a:off x="10106071" y="1130300"/>
              <a:ext cx="1023844" cy="1023844"/>
            </a:xfrm>
            <a:prstGeom prst="ellipse">
              <a:avLst/>
            </a:prstGeom>
            <a:solidFill>
              <a:srgbClr val="52D6F0"/>
            </a:solidFill>
            <a:ln w="3175" cap="rnd">
              <a:noFill/>
              <a:prstDash val="solid"/>
              <a:round/>
              <a:headEnd/>
              <a:tailEnd/>
            </a:ln>
            <a:effectLst>
              <a:outerShdw blurRad="635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>
                <a:lnSpc>
                  <a:spcPct val="120000"/>
                </a:lnSpc>
              </a:pPr>
              <a:endParaRPr lang="zh-CN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7" name="îṧḷíḑe">
              <a:extLst>
                <a:ext uri="{FF2B5EF4-FFF2-40B4-BE49-F238E27FC236}">
                  <a16:creationId xmlns:a16="http://schemas.microsoft.com/office/drawing/2014/main" id="{BCA05768-DCE9-4EA4-81D7-2BBF70C67BBD}"/>
                </a:ext>
              </a:extLst>
            </p:cNvPr>
            <p:cNvSpPr/>
            <p:nvPr/>
          </p:nvSpPr>
          <p:spPr>
            <a:xfrm>
              <a:off x="10423282" y="1438391"/>
              <a:ext cx="389422" cy="407662"/>
            </a:xfrm>
            <a:custGeom>
              <a:avLst/>
              <a:gdLst>
                <a:gd name="T0" fmla="*/ 4199 w 4494"/>
                <a:gd name="T1" fmla="*/ 3838 h 4712"/>
                <a:gd name="T2" fmla="*/ 3932 w 4494"/>
                <a:gd name="T3" fmla="*/ 2881 h 4712"/>
                <a:gd name="T4" fmla="*/ 2447 w 4494"/>
                <a:gd name="T5" fmla="*/ 2438 h 4712"/>
                <a:gd name="T6" fmla="*/ 3263 w 4494"/>
                <a:gd name="T7" fmla="*/ 2440 h 4712"/>
                <a:gd name="T8" fmla="*/ 3263 w 4494"/>
                <a:gd name="T9" fmla="*/ 897 h 4712"/>
                <a:gd name="T10" fmla="*/ 2194 w 4494"/>
                <a:gd name="T11" fmla="*/ 0 h 4712"/>
                <a:gd name="T12" fmla="*/ 460 w 4494"/>
                <a:gd name="T13" fmla="*/ 1619 h 4712"/>
                <a:gd name="T14" fmla="*/ 2047 w 4494"/>
                <a:gd name="T15" fmla="*/ 2438 h 4712"/>
                <a:gd name="T16" fmla="*/ 562 w 4494"/>
                <a:gd name="T17" fmla="*/ 2881 h 4712"/>
                <a:gd name="T18" fmla="*/ 296 w 4494"/>
                <a:gd name="T19" fmla="*/ 3838 h 4712"/>
                <a:gd name="T20" fmla="*/ 0 w 4494"/>
                <a:gd name="T21" fmla="*/ 3971 h 4712"/>
                <a:gd name="T22" fmla="*/ 134 w 4494"/>
                <a:gd name="T23" fmla="*/ 4712 h 4712"/>
                <a:gd name="T24" fmla="*/ 991 w 4494"/>
                <a:gd name="T25" fmla="*/ 4579 h 4712"/>
                <a:gd name="T26" fmla="*/ 858 w 4494"/>
                <a:gd name="T27" fmla="*/ 3838 h 4712"/>
                <a:gd name="T28" fmla="*/ 696 w 4494"/>
                <a:gd name="T29" fmla="*/ 3281 h 4712"/>
                <a:gd name="T30" fmla="*/ 2047 w 4494"/>
                <a:gd name="T31" fmla="*/ 3838 h 4712"/>
                <a:gd name="T32" fmla="*/ 1752 w 4494"/>
                <a:gd name="T33" fmla="*/ 3971 h 4712"/>
                <a:gd name="T34" fmla="*/ 1885 w 4494"/>
                <a:gd name="T35" fmla="*/ 4712 h 4712"/>
                <a:gd name="T36" fmla="*/ 2742 w 4494"/>
                <a:gd name="T37" fmla="*/ 4579 h 4712"/>
                <a:gd name="T38" fmla="*/ 2609 w 4494"/>
                <a:gd name="T39" fmla="*/ 3838 h 4712"/>
                <a:gd name="T40" fmla="*/ 2447 w 4494"/>
                <a:gd name="T41" fmla="*/ 3281 h 4712"/>
                <a:gd name="T42" fmla="*/ 3799 w 4494"/>
                <a:gd name="T43" fmla="*/ 3838 h 4712"/>
                <a:gd name="T44" fmla="*/ 3503 w 4494"/>
                <a:gd name="T45" fmla="*/ 3971 h 4712"/>
                <a:gd name="T46" fmla="*/ 3637 w 4494"/>
                <a:gd name="T47" fmla="*/ 4712 h 4712"/>
                <a:gd name="T48" fmla="*/ 4494 w 4494"/>
                <a:gd name="T49" fmla="*/ 4579 h 4712"/>
                <a:gd name="T50" fmla="*/ 4360 w 4494"/>
                <a:gd name="T51" fmla="*/ 3838 h 4712"/>
                <a:gd name="T52" fmla="*/ 1278 w 4494"/>
                <a:gd name="T53" fmla="*/ 1201 h 4712"/>
                <a:gd name="T54" fmla="*/ 1288 w 4494"/>
                <a:gd name="T55" fmla="*/ 1201 h 4712"/>
                <a:gd name="T56" fmla="*/ 1311 w 4494"/>
                <a:gd name="T57" fmla="*/ 1202 h 4712"/>
                <a:gd name="T58" fmla="*/ 2194 w 4494"/>
                <a:gd name="T59" fmla="*/ 400 h 4712"/>
                <a:gd name="T60" fmla="*/ 2858 w 4494"/>
                <a:gd name="T61" fmla="*/ 1073 h 4712"/>
                <a:gd name="T62" fmla="*/ 2915 w 4494"/>
                <a:gd name="T63" fmla="*/ 1252 h 4712"/>
                <a:gd name="T64" fmla="*/ 3148 w 4494"/>
                <a:gd name="T65" fmla="*/ 1315 h 4712"/>
                <a:gd name="T66" fmla="*/ 3634 w 4494"/>
                <a:gd name="T67" fmla="*/ 1668 h 4712"/>
                <a:gd name="T68" fmla="*/ 2832 w 4494"/>
                <a:gd name="T69" fmla="*/ 2039 h 4712"/>
                <a:gd name="T70" fmla="*/ 1278 w 4494"/>
                <a:gd name="T71" fmla="*/ 2038 h 4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94" h="4712">
                  <a:moveTo>
                    <a:pt x="4360" y="3838"/>
                  </a:moveTo>
                  <a:lnTo>
                    <a:pt x="4199" y="3838"/>
                  </a:lnTo>
                  <a:lnTo>
                    <a:pt x="4199" y="3148"/>
                  </a:lnTo>
                  <a:cubicBezTo>
                    <a:pt x="4199" y="3001"/>
                    <a:pt x="4079" y="2881"/>
                    <a:pt x="3932" y="2881"/>
                  </a:cubicBezTo>
                  <a:lnTo>
                    <a:pt x="2447" y="2881"/>
                  </a:lnTo>
                  <a:lnTo>
                    <a:pt x="2447" y="2438"/>
                  </a:lnTo>
                  <a:cubicBezTo>
                    <a:pt x="2520" y="2438"/>
                    <a:pt x="2675" y="2438"/>
                    <a:pt x="2831" y="2439"/>
                  </a:cubicBezTo>
                  <a:cubicBezTo>
                    <a:pt x="3043" y="2439"/>
                    <a:pt x="3256" y="2440"/>
                    <a:pt x="3263" y="2440"/>
                  </a:cubicBezTo>
                  <a:cubicBezTo>
                    <a:pt x="3688" y="2440"/>
                    <a:pt x="4034" y="2094"/>
                    <a:pt x="4034" y="1668"/>
                  </a:cubicBezTo>
                  <a:cubicBezTo>
                    <a:pt x="4034" y="1243"/>
                    <a:pt x="3688" y="897"/>
                    <a:pt x="3263" y="897"/>
                  </a:cubicBezTo>
                  <a:cubicBezTo>
                    <a:pt x="3257" y="897"/>
                    <a:pt x="3251" y="897"/>
                    <a:pt x="3245" y="897"/>
                  </a:cubicBezTo>
                  <a:cubicBezTo>
                    <a:pt x="3165" y="389"/>
                    <a:pt x="2724" y="0"/>
                    <a:pt x="2194" y="0"/>
                  </a:cubicBezTo>
                  <a:cubicBezTo>
                    <a:pt x="1698" y="0"/>
                    <a:pt x="1276" y="339"/>
                    <a:pt x="1161" y="809"/>
                  </a:cubicBezTo>
                  <a:cubicBezTo>
                    <a:pt x="765" y="866"/>
                    <a:pt x="460" y="1208"/>
                    <a:pt x="460" y="1619"/>
                  </a:cubicBezTo>
                  <a:cubicBezTo>
                    <a:pt x="460" y="2071"/>
                    <a:pt x="827" y="2438"/>
                    <a:pt x="1278" y="2438"/>
                  </a:cubicBezTo>
                  <a:lnTo>
                    <a:pt x="2047" y="2438"/>
                  </a:lnTo>
                  <a:lnTo>
                    <a:pt x="2047" y="2881"/>
                  </a:lnTo>
                  <a:lnTo>
                    <a:pt x="562" y="2881"/>
                  </a:lnTo>
                  <a:cubicBezTo>
                    <a:pt x="415" y="2881"/>
                    <a:pt x="296" y="3001"/>
                    <a:pt x="296" y="3148"/>
                  </a:cubicBezTo>
                  <a:lnTo>
                    <a:pt x="296" y="3838"/>
                  </a:lnTo>
                  <a:lnTo>
                    <a:pt x="134" y="3838"/>
                  </a:lnTo>
                  <a:cubicBezTo>
                    <a:pt x="60" y="3838"/>
                    <a:pt x="0" y="3897"/>
                    <a:pt x="0" y="3971"/>
                  </a:cubicBezTo>
                  <a:lnTo>
                    <a:pt x="0" y="4579"/>
                  </a:lnTo>
                  <a:cubicBezTo>
                    <a:pt x="0" y="4652"/>
                    <a:pt x="60" y="4712"/>
                    <a:pt x="134" y="4712"/>
                  </a:cubicBezTo>
                  <a:lnTo>
                    <a:pt x="858" y="4712"/>
                  </a:lnTo>
                  <a:cubicBezTo>
                    <a:pt x="931" y="4712"/>
                    <a:pt x="991" y="4652"/>
                    <a:pt x="991" y="4579"/>
                  </a:cubicBezTo>
                  <a:lnTo>
                    <a:pt x="991" y="3971"/>
                  </a:lnTo>
                  <a:cubicBezTo>
                    <a:pt x="991" y="3897"/>
                    <a:pt x="931" y="3838"/>
                    <a:pt x="858" y="3838"/>
                  </a:cubicBezTo>
                  <a:lnTo>
                    <a:pt x="696" y="3838"/>
                  </a:lnTo>
                  <a:lnTo>
                    <a:pt x="696" y="3281"/>
                  </a:lnTo>
                  <a:lnTo>
                    <a:pt x="2047" y="3281"/>
                  </a:lnTo>
                  <a:lnTo>
                    <a:pt x="2047" y="3838"/>
                  </a:lnTo>
                  <a:lnTo>
                    <a:pt x="1885" y="3838"/>
                  </a:lnTo>
                  <a:cubicBezTo>
                    <a:pt x="1812" y="3838"/>
                    <a:pt x="1752" y="3897"/>
                    <a:pt x="1752" y="3971"/>
                  </a:cubicBezTo>
                  <a:lnTo>
                    <a:pt x="1752" y="4579"/>
                  </a:lnTo>
                  <a:cubicBezTo>
                    <a:pt x="1752" y="4652"/>
                    <a:pt x="1812" y="4712"/>
                    <a:pt x="1885" y="4712"/>
                  </a:cubicBezTo>
                  <a:lnTo>
                    <a:pt x="2609" y="4712"/>
                  </a:lnTo>
                  <a:cubicBezTo>
                    <a:pt x="2682" y="4712"/>
                    <a:pt x="2742" y="4652"/>
                    <a:pt x="2742" y="4579"/>
                  </a:cubicBezTo>
                  <a:lnTo>
                    <a:pt x="2742" y="3971"/>
                  </a:lnTo>
                  <a:cubicBezTo>
                    <a:pt x="2742" y="3897"/>
                    <a:pt x="2682" y="3838"/>
                    <a:pt x="2609" y="3838"/>
                  </a:cubicBezTo>
                  <a:lnTo>
                    <a:pt x="2447" y="3838"/>
                  </a:lnTo>
                  <a:lnTo>
                    <a:pt x="2447" y="3281"/>
                  </a:lnTo>
                  <a:lnTo>
                    <a:pt x="3799" y="3281"/>
                  </a:lnTo>
                  <a:lnTo>
                    <a:pt x="3799" y="3838"/>
                  </a:lnTo>
                  <a:lnTo>
                    <a:pt x="3637" y="3838"/>
                  </a:lnTo>
                  <a:cubicBezTo>
                    <a:pt x="3563" y="3838"/>
                    <a:pt x="3503" y="3897"/>
                    <a:pt x="3503" y="3971"/>
                  </a:cubicBezTo>
                  <a:lnTo>
                    <a:pt x="3503" y="4579"/>
                  </a:lnTo>
                  <a:cubicBezTo>
                    <a:pt x="3503" y="4652"/>
                    <a:pt x="3563" y="4712"/>
                    <a:pt x="3637" y="4712"/>
                  </a:cubicBezTo>
                  <a:lnTo>
                    <a:pt x="4360" y="4712"/>
                  </a:lnTo>
                  <a:cubicBezTo>
                    <a:pt x="4434" y="4712"/>
                    <a:pt x="4494" y="4652"/>
                    <a:pt x="4494" y="4579"/>
                  </a:cubicBezTo>
                  <a:lnTo>
                    <a:pt x="4494" y="3971"/>
                  </a:lnTo>
                  <a:cubicBezTo>
                    <a:pt x="4494" y="3897"/>
                    <a:pt x="4434" y="3838"/>
                    <a:pt x="4360" y="3838"/>
                  </a:cubicBezTo>
                  <a:close/>
                  <a:moveTo>
                    <a:pt x="860" y="1619"/>
                  </a:moveTo>
                  <a:cubicBezTo>
                    <a:pt x="860" y="1389"/>
                    <a:pt x="1048" y="1201"/>
                    <a:pt x="1278" y="1201"/>
                  </a:cubicBezTo>
                  <a:lnTo>
                    <a:pt x="1283" y="1201"/>
                  </a:lnTo>
                  <a:cubicBezTo>
                    <a:pt x="1284" y="1201"/>
                    <a:pt x="1286" y="1201"/>
                    <a:pt x="1288" y="1201"/>
                  </a:cubicBezTo>
                  <a:cubicBezTo>
                    <a:pt x="1288" y="1201"/>
                    <a:pt x="1289" y="1201"/>
                    <a:pt x="1290" y="1201"/>
                  </a:cubicBezTo>
                  <a:cubicBezTo>
                    <a:pt x="1297" y="1202"/>
                    <a:pt x="1304" y="1202"/>
                    <a:pt x="1311" y="1202"/>
                  </a:cubicBezTo>
                  <a:cubicBezTo>
                    <a:pt x="1408" y="1202"/>
                    <a:pt x="1519" y="1136"/>
                    <a:pt x="1534" y="992"/>
                  </a:cubicBezTo>
                  <a:cubicBezTo>
                    <a:pt x="1571" y="654"/>
                    <a:pt x="1854" y="400"/>
                    <a:pt x="2194" y="400"/>
                  </a:cubicBezTo>
                  <a:cubicBezTo>
                    <a:pt x="2560" y="400"/>
                    <a:pt x="2858" y="698"/>
                    <a:pt x="2858" y="1064"/>
                  </a:cubicBezTo>
                  <a:lnTo>
                    <a:pt x="2858" y="1073"/>
                  </a:lnTo>
                  <a:cubicBezTo>
                    <a:pt x="2858" y="1074"/>
                    <a:pt x="2858" y="1076"/>
                    <a:pt x="2858" y="1078"/>
                  </a:cubicBezTo>
                  <a:cubicBezTo>
                    <a:pt x="2853" y="1144"/>
                    <a:pt x="2873" y="1205"/>
                    <a:pt x="2915" y="1252"/>
                  </a:cubicBezTo>
                  <a:cubicBezTo>
                    <a:pt x="2957" y="1299"/>
                    <a:pt x="3017" y="1325"/>
                    <a:pt x="3080" y="1325"/>
                  </a:cubicBezTo>
                  <a:cubicBezTo>
                    <a:pt x="3103" y="1325"/>
                    <a:pt x="3126" y="1322"/>
                    <a:pt x="3148" y="1315"/>
                  </a:cubicBezTo>
                  <a:cubicBezTo>
                    <a:pt x="3185" y="1303"/>
                    <a:pt x="3224" y="1297"/>
                    <a:pt x="3263" y="1297"/>
                  </a:cubicBezTo>
                  <a:cubicBezTo>
                    <a:pt x="3468" y="1297"/>
                    <a:pt x="3634" y="1463"/>
                    <a:pt x="3634" y="1668"/>
                  </a:cubicBezTo>
                  <a:cubicBezTo>
                    <a:pt x="3634" y="1873"/>
                    <a:pt x="3468" y="2040"/>
                    <a:pt x="3263" y="2040"/>
                  </a:cubicBezTo>
                  <a:cubicBezTo>
                    <a:pt x="3255" y="2040"/>
                    <a:pt x="3043" y="2039"/>
                    <a:pt x="2832" y="2039"/>
                  </a:cubicBezTo>
                  <a:cubicBezTo>
                    <a:pt x="2621" y="2038"/>
                    <a:pt x="2411" y="2038"/>
                    <a:pt x="2405" y="2038"/>
                  </a:cubicBezTo>
                  <a:lnTo>
                    <a:pt x="1278" y="2038"/>
                  </a:lnTo>
                  <a:cubicBezTo>
                    <a:pt x="1048" y="2038"/>
                    <a:pt x="860" y="1850"/>
                    <a:pt x="860" y="1619"/>
                  </a:cubicBezTo>
                  <a:close/>
                </a:path>
              </a:pathLst>
            </a:custGeom>
            <a:solidFill>
              <a:srgbClr val="FFFFFF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>
                <a:lnSpc>
                  <a:spcPct val="14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106B623F-9602-4059-80C7-C677875BA429}"/>
                </a:ext>
              </a:extLst>
            </p:cNvPr>
            <p:cNvCxnSpPr>
              <a:stCxn id="33" idx="6"/>
            </p:cNvCxnSpPr>
            <p:nvPr/>
          </p:nvCxnSpPr>
          <p:spPr>
            <a:xfrm>
              <a:off x="2073228" y="1642222"/>
              <a:ext cx="1752250" cy="63008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F4701EDE-127A-4B26-9122-50DADE41A401}"/>
                </a:ext>
              </a:extLst>
            </p:cNvPr>
            <p:cNvCxnSpPr>
              <a:endCxn id="39" idx="2"/>
            </p:cNvCxnSpPr>
            <p:nvPr/>
          </p:nvCxnSpPr>
          <p:spPr>
            <a:xfrm flipV="1">
              <a:off x="3825478" y="1642222"/>
              <a:ext cx="1752249" cy="63008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AC21C699-FCB7-45D0-BF11-289DB9E72E47}"/>
                </a:ext>
              </a:extLst>
            </p:cNvPr>
            <p:cNvCxnSpPr>
              <a:stCxn id="39" idx="6"/>
            </p:cNvCxnSpPr>
            <p:nvPr/>
          </p:nvCxnSpPr>
          <p:spPr>
            <a:xfrm>
              <a:off x="6601571" y="1642222"/>
              <a:ext cx="1752250" cy="63008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C1DE3AD-7097-4FD1-9B01-4B820D53E250}"/>
                </a:ext>
              </a:extLst>
            </p:cNvPr>
            <p:cNvCxnSpPr>
              <a:endCxn id="46" idx="2"/>
            </p:cNvCxnSpPr>
            <p:nvPr/>
          </p:nvCxnSpPr>
          <p:spPr>
            <a:xfrm flipV="1">
              <a:off x="8353821" y="1642222"/>
              <a:ext cx="1752250" cy="63008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E7B03EF9-F673-4E16-97EB-EFAD722A164D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8353821" y="2272309"/>
              <a:ext cx="1" cy="1361528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BC9E4ADE-2EF4-4CA3-B98F-1413DF15C603}"/>
                </a:ext>
              </a:extLst>
            </p:cNvPr>
            <p:cNvCxnSpPr>
              <a:endCxn id="36" idx="0"/>
            </p:cNvCxnSpPr>
            <p:nvPr/>
          </p:nvCxnSpPr>
          <p:spPr>
            <a:xfrm>
              <a:off x="3825478" y="2272309"/>
              <a:ext cx="0" cy="1361528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îslïḑê">
              <a:extLst>
                <a:ext uri="{FF2B5EF4-FFF2-40B4-BE49-F238E27FC236}">
                  <a16:creationId xmlns:a16="http://schemas.microsoft.com/office/drawing/2014/main" id="{04FA8E9F-D83D-4D35-93EE-6A7CAD298715}"/>
                </a:ext>
              </a:extLst>
            </p:cNvPr>
            <p:cNvSpPr/>
            <p:nvPr/>
          </p:nvSpPr>
          <p:spPr>
            <a:xfrm>
              <a:off x="3769069" y="2187488"/>
              <a:ext cx="112818" cy="112818"/>
            </a:xfrm>
            <a:prstGeom prst="flowChartConnector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algn="ctr" defTabSz="914354">
                <a:lnSpc>
                  <a:spcPct val="14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56" name="íś1ïḓê">
              <a:extLst>
                <a:ext uri="{FF2B5EF4-FFF2-40B4-BE49-F238E27FC236}">
                  <a16:creationId xmlns:a16="http://schemas.microsoft.com/office/drawing/2014/main" id="{8AF9E332-F64A-43BB-A8EE-ADE003AFE86F}"/>
                </a:ext>
              </a:extLst>
            </p:cNvPr>
            <p:cNvSpPr/>
            <p:nvPr/>
          </p:nvSpPr>
          <p:spPr>
            <a:xfrm>
              <a:off x="8297412" y="2187488"/>
              <a:ext cx="112818" cy="112818"/>
            </a:xfrm>
            <a:prstGeom prst="flowChartConnector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algn="ctr" defTabSz="914354">
                <a:lnSpc>
                  <a:spcPct val="140000"/>
                </a:lnSpc>
              </a:pP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67" name="CustomText2">
            <a:extLst>
              <a:ext uri="{FF2B5EF4-FFF2-40B4-BE49-F238E27FC236}">
                <a16:creationId xmlns:a16="http://schemas.microsoft.com/office/drawing/2014/main" id="{02A779CC-F9BA-4227-B1AB-63BCE69C1562}"/>
              </a:ext>
            </a:extLst>
          </p:cNvPr>
          <p:cNvSpPr txBox="1"/>
          <p:nvPr/>
        </p:nvSpPr>
        <p:spPr bwMode="auto">
          <a:xfrm>
            <a:off x="3851743" y="4402180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69" name="CustomText2">
            <a:extLst>
              <a:ext uri="{FF2B5EF4-FFF2-40B4-BE49-F238E27FC236}">
                <a16:creationId xmlns:a16="http://schemas.microsoft.com/office/drawing/2014/main" id="{F41DFD9C-5D4E-4AF4-A1CE-3616024B53DA}"/>
              </a:ext>
            </a:extLst>
          </p:cNvPr>
          <p:cNvSpPr txBox="1"/>
          <p:nvPr/>
        </p:nvSpPr>
        <p:spPr bwMode="auto">
          <a:xfrm>
            <a:off x="7124543" y="4355138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70" name="CustomText2">
            <a:extLst>
              <a:ext uri="{FF2B5EF4-FFF2-40B4-BE49-F238E27FC236}">
                <a16:creationId xmlns:a16="http://schemas.microsoft.com/office/drawing/2014/main" id="{7BABB978-E735-4361-B0E4-149A97EC4422}"/>
              </a:ext>
            </a:extLst>
          </p:cNvPr>
          <p:cNvSpPr txBox="1"/>
          <p:nvPr/>
        </p:nvSpPr>
        <p:spPr bwMode="auto">
          <a:xfrm>
            <a:off x="8722088" y="2566493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/>
              <a:t>SSE 推送方案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CECA6A1-DAD5-43B7-8486-B91CC5D29B3C}"/>
              </a:ext>
            </a:extLst>
          </p:cNvPr>
          <p:cNvSpPr/>
          <p:nvPr/>
        </p:nvSpPr>
        <p:spPr>
          <a:xfrm>
            <a:off x="3351942" y="4824712"/>
            <a:ext cx="2310382" cy="69627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B7663E9-DF14-4839-9062-775949866D05}"/>
              </a:ext>
            </a:extLst>
          </p:cNvPr>
          <p:cNvSpPr/>
          <p:nvPr/>
        </p:nvSpPr>
        <p:spPr>
          <a:xfrm>
            <a:off x="8292393" y="2992699"/>
            <a:ext cx="2310382" cy="88767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SSE </a:t>
            </a:r>
            <a:r>
              <a:rPr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单向推送</a:t>
            </a:r>
            <a:r>
              <a:rPr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
比 WebSocket </a:t>
            </a:r>
            <a:r>
              <a:rPr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更简单</a:t>
            </a:r>
            <a:r>
              <a:rPr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
</a:t>
            </a:r>
            <a:r>
              <a:rPr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座位状态变化即时推送到前端</a:t>
            </a:r>
            <a:r>
              <a:rPr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
</a:t>
            </a:r>
            <a:r>
              <a:rPr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ECharts</a:t>
            </a:r>
            <a:r>
              <a:rPr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对应格子变色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5296773-874C-4E68-9514-6E956C511D9E}"/>
              </a:ext>
            </a:extLst>
          </p:cNvPr>
          <p:cNvSpPr/>
          <p:nvPr/>
        </p:nvSpPr>
        <p:spPr>
          <a:xfrm>
            <a:off x="6615633" y="4841574"/>
            <a:ext cx="2310382" cy="69627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E1AD93-802D-2619-DC5C-FDF65DE845B1}"/>
              </a:ext>
            </a:extLst>
          </p:cNvPr>
          <p:cNvSpPr txBox="1"/>
          <p:nvPr/>
        </p:nvSpPr>
        <p:spPr>
          <a:xfrm>
            <a:off x="1901086" y="3096657"/>
            <a:ext cx="23103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列网格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单元格类型建模
（座位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过道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空）
选座与热力图复用同一套数据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  <a:p>
            <a:endParaRPr lang="zh-CN" altLang="en-US" sz="12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43527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44DF250E-2595-4E66-8684-E9DE5FD27969}"/>
              </a:ext>
            </a:extLst>
          </p:cNvPr>
          <p:cNvSpPr/>
          <p:nvPr/>
        </p:nvSpPr>
        <p:spPr>
          <a:xfrm>
            <a:off x="0" y="-777438"/>
            <a:ext cx="12192000" cy="4843015"/>
          </a:xfrm>
          <a:custGeom>
            <a:avLst/>
            <a:gdLst>
              <a:gd name="connsiteX0" fmla="*/ 0 w 12192000"/>
              <a:gd name="connsiteY0" fmla="*/ 0 h 4843015"/>
              <a:gd name="connsiteX1" fmla="*/ 12192000 w 12192000"/>
              <a:gd name="connsiteY1" fmla="*/ 0 h 4843015"/>
              <a:gd name="connsiteX2" fmla="*/ 12192000 w 12192000"/>
              <a:gd name="connsiteY2" fmla="*/ 3446240 h 4843015"/>
              <a:gd name="connsiteX3" fmla="*/ 12121155 w 12192000"/>
              <a:gd name="connsiteY3" fmla="*/ 3490831 h 4843015"/>
              <a:gd name="connsiteX4" fmla="*/ 6094360 w 12192000"/>
              <a:gd name="connsiteY4" fmla="*/ 4843015 h 4843015"/>
              <a:gd name="connsiteX5" fmla="*/ 67565 w 12192000"/>
              <a:gd name="connsiteY5" fmla="*/ 3490831 h 4843015"/>
              <a:gd name="connsiteX6" fmla="*/ 0 w 12192000"/>
              <a:gd name="connsiteY6" fmla="*/ 3448305 h 48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43015">
                <a:moveTo>
                  <a:pt x="0" y="0"/>
                </a:moveTo>
                <a:lnTo>
                  <a:pt x="12192000" y="0"/>
                </a:lnTo>
                <a:lnTo>
                  <a:pt x="12192000" y="3446240"/>
                </a:lnTo>
                <a:lnTo>
                  <a:pt x="12121155" y="3490831"/>
                </a:lnTo>
                <a:cubicBezTo>
                  <a:pt x="10749621" y="4311690"/>
                  <a:pt x="8560619" y="4843015"/>
                  <a:pt x="6094360" y="4843015"/>
                </a:cubicBezTo>
                <a:cubicBezTo>
                  <a:pt x="3628101" y="4843015"/>
                  <a:pt x="1439099" y="4311690"/>
                  <a:pt x="67565" y="3490831"/>
                </a:cubicBezTo>
                <a:lnTo>
                  <a:pt x="0" y="3448305"/>
                </a:lnTo>
                <a:close/>
              </a:path>
            </a:pathLst>
          </a:custGeom>
          <a:solidFill>
            <a:srgbClr val="97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9F14834-9E3F-4D55-A93A-1F2B792B72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9" t="30878" r="6894" b="15062"/>
          <a:stretch/>
        </p:blipFill>
        <p:spPr>
          <a:xfrm>
            <a:off x="0" y="-800924"/>
            <a:ext cx="12165171" cy="4624148"/>
          </a:xfrm>
          <a:custGeom>
            <a:avLst/>
            <a:gdLst>
              <a:gd name="connsiteX0" fmla="*/ 0 w 12165171"/>
              <a:gd name="connsiteY0" fmla="*/ 0 h 4624148"/>
              <a:gd name="connsiteX1" fmla="*/ 12165171 w 12165171"/>
              <a:gd name="connsiteY1" fmla="*/ 0 h 4624148"/>
              <a:gd name="connsiteX2" fmla="*/ 12165171 w 12165171"/>
              <a:gd name="connsiteY2" fmla="*/ 2999890 h 4624148"/>
              <a:gd name="connsiteX3" fmla="*/ 12039246 w 12165171"/>
              <a:gd name="connsiteY3" fmla="*/ 3082244 h 4624148"/>
              <a:gd name="connsiteX4" fmla="*/ 6069171 w 12165171"/>
              <a:gd name="connsiteY4" fmla="*/ 4624148 h 4624148"/>
              <a:gd name="connsiteX5" fmla="*/ 99096 w 12165171"/>
              <a:gd name="connsiteY5" fmla="*/ 3082244 h 4624148"/>
              <a:gd name="connsiteX6" fmla="*/ 0 w 12165171"/>
              <a:gd name="connsiteY6" fmla="*/ 3017436 h 462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65171" h="4624148">
                <a:moveTo>
                  <a:pt x="0" y="0"/>
                </a:moveTo>
                <a:lnTo>
                  <a:pt x="12165171" y="0"/>
                </a:lnTo>
                <a:lnTo>
                  <a:pt x="12165171" y="2999890"/>
                </a:lnTo>
                <a:lnTo>
                  <a:pt x="12039246" y="3082244"/>
                </a:lnTo>
                <a:cubicBezTo>
                  <a:pt x="10511371" y="4034911"/>
                  <a:pt x="8400631" y="4624148"/>
                  <a:pt x="6069171" y="4624148"/>
                </a:cubicBezTo>
                <a:cubicBezTo>
                  <a:pt x="3737712" y="4624148"/>
                  <a:pt x="1626971" y="4034911"/>
                  <a:pt x="99096" y="3082244"/>
                </a:cubicBezTo>
                <a:lnTo>
                  <a:pt x="0" y="3017436"/>
                </a:lnTo>
                <a:close/>
              </a:path>
            </a:pathLst>
          </a:cu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69D1897-6A15-4DC6-A1F8-C2A2342925DF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rgbClr val="97BB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F9ED650-4A99-4204-828A-AB51D93E3FF3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9AC3C1-8024-40F5-AC69-6797DD57C77D}"/>
              </a:ext>
            </a:extLst>
          </p:cNvPr>
          <p:cNvSpPr txBox="1"/>
          <p:nvPr/>
        </p:nvSpPr>
        <p:spPr>
          <a:xfrm>
            <a:off x="4387840" y="3634093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2800" b="1"/>
              <a:t>数据模型与系统设计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5FF35B-BB6F-429B-BF44-B37487A80627}"/>
              </a:ext>
            </a:extLst>
          </p:cNvPr>
          <p:cNvSpPr/>
          <p:nvPr/>
        </p:nvSpPr>
        <p:spPr>
          <a:xfrm>
            <a:off x="4434140" y="4280424"/>
            <a:ext cx="341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/>
              <a:t>DATA MODEL &amp; SYSTEM DESIGN</a:t>
            </a:r>
            <a:endParaRPr kumimoji="0" lang="en-US" altLang="zh-CN" sz="14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97BDF2-6B77-447A-840E-ECE705CE49D8}"/>
              </a:ext>
            </a:extLst>
          </p:cNvPr>
          <p:cNvSpPr txBox="1"/>
          <p:nvPr/>
        </p:nvSpPr>
        <p:spPr>
          <a:xfrm>
            <a:off x="4630981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2EE9E-C60E-4100-A8AE-F6906FCD70DD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rgbClr val="97BB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 Light"/>
                <a:cs typeface="+mn-cs"/>
              </a:rPr>
              <a:t>3</a:t>
            </a:r>
            <a:endParaRPr kumimoji="0" lang="zh-CN" altLang="en-US" sz="6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微软雅黑 Light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83A02F-CF0E-458D-8A48-C5ABF5ED61D0}"/>
              </a:ext>
            </a:extLst>
          </p:cNvPr>
          <p:cNvSpPr txBox="1"/>
          <p:nvPr/>
        </p:nvSpPr>
        <p:spPr>
          <a:xfrm>
            <a:off x="5712105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E25F0A4-526B-4D59-ACF8-172CC210BBFE}"/>
              </a:ext>
            </a:extLst>
          </p:cNvPr>
          <p:cNvSpPr txBox="1"/>
          <p:nvPr/>
        </p:nvSpPr>
        <p:spPr>
          <a:xfrm>
            <a:off x="6829296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7782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5243896" y="378991"/>
            <a:ext cx="1871477" cy="634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2200" b="1"/>
              <a:t>核心数据模型</a:t>
            </a:r>
          </a:p>
        </p:txBody>
      </p:sp>
      <p:pic>
        <p:nvPicPr>
          <p:cNvPr id="14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87629AD9-D353-4915-B315-33F7A5DD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6871" y="6034974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7C654D4C-45D9-4991-9544-EE345F420F45}"/>
              </a:ext>
            </a:extLst>
          </p:cNvPr>
          <p:cNvSpPr/>
          <p:nvPr/>
        </p:nvSpPr>
        <p:spPr>
          <a:xfrm>
            <a:off x="650932" y="4897454"/>
            <a:ext cx="5376790" cy="88068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28" name="CustomText2">
            <a:extLst>
              <a:ext uri="{FF2B5EF4-FFF2-40B4-BE49-F238E27FC236}">
                <a16:creationId xmlns:a16="http://schemas.microsoft.com/office/drawing/2014/main" id="{DAFB178E-C9BE-46BD-B342-8394F169252E}"/>
              </a:ext>
            </a:extLst>
          </p:cNvPr>
          <p:cNvSpPr txBox="1"/>
          <p:nvPr/>
        </p:nvSpPr>
        <p:spPr bwMode="auto">
          <a:xfrm>
            <a:off x="3982877" y="4558885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endParaRPr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DF23506-552E-487F-86D8-918A4C42BF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31" name="图文框 30">
            <a:extLst>
              <a:ext uri="{FF2B5EF4-FFF2-40B4-BE49-F238E27FC236}">
                <a16:creationId xmlns:a16="http://schemas.microsoft.com/office/drawing/2014/main" id="{C674F360-61EF-4C54-B413-D4E89B600EF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32" name="20641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05271A2E-4132-491E-A5F9-FE17F2107D06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976871" y="953158"/>
            <a:ext cx="10654383" cy="5045659"/>
            <a:chOff x="808461" y="1137037"/>
            <a:chExt cx="10654383" cy="5045659"/>
          </a:xfrm>
        </p:grpSpPr>
        <p:sp>
          <p:nvSpPr>
            <p:cNvPr id="33" name="íŝlíḓé">
              <a:extLst>
                <a:ext uri="{FF2B5EF4-FFF2-40B4-BE49-F238E27FC236}">
                  <a16:creationId xmlns:a16="http://schemas.microsoft.com/office/drawing/2014/main" id="{FF5B3632-BC29-4290-A1EB-E7F4BD4EE5B0}"/>
                </a:ext>
              </a:extLst>
            </p:cNvPr>
            <p:cNvSpPr/>
            <p:nvPr/>
          </p:nvSpPr>
          <p:spPr>
            <a:xfrm>
              <a:off x="8173627" y="1156326"/>
              <a:ext cx="3289217" cy="5026370"/>
            </a:xfrm>
            <a:custGeom>
              <a:avLst/>
              <a:gdLst>
                <a:gd name="connsiteX0" fmla="*/ 0 w 3871913"/>
                <a:gd name="connsiteY0" fmla="*/ 0 h 5019675"/>
                <a:gd name="connsiteX1" fmla="*/ 3871913 w 3871913"/>
                <a:gd name="connsiteY1" fmla="*/ 0 h 5019675"/>
                <a:gd name="connsiteX2" fmla="*/ 3871913 w 3871913"/>
                <a:gd name="connsiteY2" fmla="*/ 5019675 h 5019675"/>
                <a:gd name="connsiteX3" fmla="*/ 0 w 3871913"/>
                <a:gd name="connsiteY3" fmla="*/ 5019675 h 5019675"/>
                <a:gd name="connsiteX4" fmla="*/ 0 w 3871913"/>
                <a:gd name="connsiteY4" fmla="*/ 0 h 5019675"/>
                <a:gd name="connsiteX0" fmla="*/ 0 w 3871913"/>
                <a:gd name="connsiteY0" fmla="*/ 0 h 5019675"/>
                <a:gd name="connsiteX1" fmla="*/ 3560185 w 3871913"/>
                <a:gd name="connsiteY1" fmla="*/ 10391 h 5019675"/>
                <a:gd name="connsiteX2" fmla="*/ 3871913 w 3871913"/>
                <a:gd name="connsiteY2" fmla="*/ 5019675 h 5019675"/>
                <a:gd name="connsiteX3" fmla="*/ 0 w 3871913"/>
                <a:gd name="connsiteY3" fmla="*/ 5019675 h 5019675"/>
                <a:gd name="connsiteX4" fmla="*/ 0 w 3871913"/>
                <a:gd name="connsiteY4" fmla="*/ 0 h 5019675"/>
                <a:gd name="connsiteX0" fmla="*/ 0 w 3560185"/>
                <a:gd name="connsiteY0" fmla="*/ 0 h 5019675"/>
                <a:gd name="connsiteX1" fmla="*/ 3560185 w 3560185"/>
                <a:gd name="connsiteY1" fmla="*/ 10391 h 5019675"/>
                <a:gd name="connsiteX2" fmla="*/ 3456277 w 3560185"/>
                <a:gd name="connsiteY2" fmla="*/ 5009284 h 5019675"/>
                <a:gd name="connsiteX3" fmla="*/ 0 w 3560185"/>
                <a:gd name="connsiteY3" fmla="*/ 5019675 h 5019675"/>
                <a:gd name="connsiteX4" fmla="*/ 0 w 3560185"/>
                <a:gd name="connsiteY4" fmla="*/ 0 h 5019675"/>
                <a:gd name="connsiteX0" fmla="*/ 0 w 3456277"/>
                <a:gd name="connsiteY0" fmla="*/ 0 h 5019675"/>
                <a:gd name="connsiteX1" fmla="*/ 2812040 w 3456277"/>
                <a:gd name="connsiteY1" fmla="*/ 20782 h 5019675"/>
                <a:gd name="connsiteX2" fmla="*/ 3456277 w 3456277"/>
                <a:gd name="connsiteY2" fmla="*/ 5009284 h 5019675"/>
                <a:gd name="connsiteX3" fmla="*/ 0 w 3456277"/>
                <a:gd name="connsiteY3" fmla="*/ 5019675 h 5019675"/>
                <a:gd name="connsiteX4" fmla="*/ 0 w 3456277"/>
                <a:gd name="connsiteY4" fmla="*/ 0 h 5019675"/>
                <a:gd name="connsiteX0" fmla="*/ 0 w 2832823"/>
                <a:gd name="connsiteY0" fmla="*/ 0 h 5019675"/>
                <a:gd name="connsiteX1" fmla="*/ 2812040 w 2832823"/>
                <a:gd name="connsiteY1" fmla="*/ 20782 h 5019675"/>
                <a:gd name="connsiteX2" fmla="*/ 2832823 w 2832823"/>
                <a:gd name="connsiteY2" fmla="*/ 4998893 h 5019675"/>
                <a:gd name="connsiteX3" fmla="*/ 0 w 2832823"/>
                <a:gd name="connsiteY3" fmla="*/ 5019675 h 5019675"/>
                <a:gd name="connsiteX4" fmla="*/ 0 w 2832823"/>
                <a:gd name="connsiteY4" fmla="*/ 0 h 5019675"/>
                <a:gd name="connsiteX0" fmla="*/ 0 w 2812640"/>
                <a:gd name="connsiteY0" fmla="*/ 0 h 5019675"/>
                <a:gd name="connsiteX1" fmla="*/ 2812040 w 2812640"/>
                <a:gd name="connsiteY1" fmla="*/ 20782 h 5019675"/>
                <a:gd name="connsiteX2" fmla="*/ 2770477 w 2812640"/>
                <a:gd name="connsiteY2" fmla="*/ 5019675 h 5019675"/>
                <a:gd name="connsiteX3" fmla="*/ 0 w 2812640"/>
                <a:gd name="connsiteY3" fmla="*/ 5019675 h 5019675"/>
                <a:gd name="connsiteX4" fmla="*/ 0 w 2812640"/>
                <a:gd name="connsiteY4" fmla="*/ 0 h 5019675"/>
                <a:gd name="connsiteX0" fmla="*/ 0 w 2814940"/>
                <a:gd name="connsiteY0" fmla="*/ 0 h 5040661"/>
                <a:gd name="connsiteX1" fmla="*/ 2812040 w 2814940"/>
                <a:gd name="connsiteY1" fmla="*/ 20782 h 5040661"/>
                <a:gd name="connsiteX2" fmla="*/ 2814940 w 2814940"/>
                <a:gd name="connsiteY2" fmla="*/ 5040661 h 5040661"/>
                <a:gd name="connsiteX3" fmla="*/ 0 w 2814940"/>
                <a:gd name="connsiteY3" fmla="*/ 5019675 h 5040661"/>
                <a:gd name="connsiteX4" fmla="*/ 0 w 2814940"/>
                <a:gd name="connsiteY4" fmla="*/ 0 h 504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40" h="5040661">
                  <a:moveTo>
                    <a:pt x="0" y="0"/>
                  </a:moveTo>
                  <a:lnTo>
                    <a:pt x="2812040" y="20782"/>
                  </a:lnTo>
                  <a:cubicBezTo>
                    <a:pt x="2818968" y="1680152"/>
                    <a:pt x="2808012" y="3381291"/>
                    <a:pt x="2814940" y="5040661"/>
                  </a:cubicBezTo>
                  <a:lnTo>
                    <a:pt x="0" y="5019675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CrisscrossEtching trans="82000" pressure="16"/>
                        </a14:imgEffect>
                        <a14:imgEffect>
                          <a14:saturation sat="129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6411" r="-21238"/>
              </a:stretch>
            </a:blip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" name="iŝḻídê">
              <a:extLst>
                <a:ext uri="{FF2B5EF4-FFF2-40B4-BE49-F238E27FC236}">
                  <a16:creationId xmlns:a16="http://schemas.microsoft.com/office/drawing/2014/main" id="{466E3F75-C7D9-4AFE-B5C9-67916723F5F4}"/>
                </a:ext>
              </a:extLst>
            </p:cNvPr>
            <p:cNvSpPr/>
            <p:nvPr/>
          </p:nvSpPr>
          <p:spPr>
            <a:xfrm>
              <a:off x="7307933" y="1137037"/>
              <a:ext cx="3666093" cy="1611797"/>
            </a:xfrm>
            <a:prstGeom prst="parallelogram">
              <a:avLst>
                <a:gd name="adj" fmla="val 52419"/>
              </a:avLst>
            </a:prstGeom>
            <a:solidFill>
              <a:srgbClr val="52D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dirty="0"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" name="ïṥľíḋe">
              <a:extLst>
                <a:ext uri="{FF2B5EF4-FFF2-40B4-BE49-F238E27FC236}">
                  <a16:creationId xmlns:a16="http://schemas.microsoft.com/office/drawing/2014/main" id="{3E4D2175-9F9A-4C6D-8706-97425C45FE46}"/>
                </a:ext>
              </a:extLst>
            </p:cNvPr>
            <p:cNvSpPr/>
            <p:nvPr/>
          </p:nvSpPr>
          <p:spPr>
            <a:xfrm>
              <a:off x="5531434" y="4553373"/>
              <a:ext cx="3666093" cy="1590644"/>
            </a:xfrm>
            <a:prstGeom prst="parallelogram">
              <a:avLst>
                <a:gd name="adj" fmla="val 52419"/>
              </a:avLst>
            </a:prstGeom>
            <a:solidFill>
              <a:srgbClr val="52D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dirty="0"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7" name="íśļíḍê">
              <a:extLst>
                <a:ext uri="{FF2B5EF4-FFF2-40B4-BE49-F238E27FC236}">
                  <a16:creationId xmlns:a16="http://schemas.microsoft.com/office/drawing/2014/main" id="{7BEAED26-516F-4D27-B31C-043337B19C9B}"/>
                </a:ext>
              </a:extLst>
            </p:cNvPr>
            <p:cNvSpPr/>
            <p:nvPr/>
          </p:nvSpPr>
          <p:spPr bwMode="auto">
            <a:xfrm>
              <a:off x="8742976" y="1655705"/>
              <a:ext cx="597324" cy="574460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" name="îŝļide">
              <a:extLst>
                <a:ext uri="{FF2B5EF4-FFF2-40B4-BE49-F238E27FC236}">
                  <a16:creationId xmlns:a16="http://schemas.microsoft.com/office/drawing/2014/main" id="{CD804EFE-450F-4ECE-99E2-DA071010DEFF}"/>
                </a:ext>
              </a:extLst>
            </p:cNvPr>
            <p:cNvSpPr/>
            <p:nvPr/>
          </p:nvSpPr>
          <p:spPr>
            <a:xfrm>
              <a:off x="6435034" y="2842741"/>
              <a:ext cx="3666093" cy="1590644"/>
            </a:xfrm>
            <a:prstGeom prst="parallelogram">
              <a:avLst>
                <a:gd name="adj" fmla="val 52419"/>
              </a:avLst>
            </a:prstGeom>
            <a:solidFill>
              <a:srgbClr val="52D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dirty="0"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8" name="ïṥ1iďê">
              <a:extLst>
                <a:ext uri="{FF2B5EF4-FFF2-40B4-BE49-F238E27FC236}">
                  <a16:creationId xmlns:a16="http://schemas.microsoft.com/office/drawing/2014/main" id="{22A92E47-32C2-4C53-AC25-0F73C3F7BB79}"/>
                </a:ext>
              </a:extLst>
            </p:cNvPr>
            <p:cNvSpPr/>
            <p:nvPr/>
          </p:nvSpPr>
          <p:spPr bwMode="auto">
            <a:xfrm>
              <a:off x="7079876" y="4996568"/>
              <a:ext cx="597330" cy="574644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en-US"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9" name="iŝ1ïḓê">
              <a:extLst>
                <a:ext uri="{FF2B5EF4-FFF2-40B4-BE49-F238E27FC236}">
                  <a16:creationId xmlns:a16="http://schemas.microsoft.com/office/drawing/2014/main" id="{FBA78057-2DB1-4A95-8DF8-D302F6B9FADE}"/>
                </a:ext>
              </a:extLst>
            </p:cNvPr>
            <p:cNvSpPr/>
            <p:nvPr/>
          </p:nvSpPr>
          <p:spPr bwMode="auto">
            <a:xfrm>
              <a:off x="7946020" y="3380097"/>
              <a:ext cx="668966" cy="541468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endParaRPr lang="id-ID"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8F2AD292-0A1B-4B6C-8CDE-DEBA3DE6C348}"/>
                </a:ext>
              </a:extLst>
            </p:cNvPr>
            <p:cNvCxnSpPr>
              <a:cxnSpLocks/>
            </p:cNvCxnSpPr>
            <p:nvPr/>
          </p:nvCxnSpPr>
          <p:spPr>
            <a:xfrm>
              <a:off x="941374" y="2962446"/>
              <a:ext cx="5945153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68DF4DE3-0470-4072-A24E-07C7AD5057C3}"/>
                </a:ext>
              </a:extLst>
            </p:cNvPr>
            <p:cNvCxnSpPr>
              <a:cxnSpLocks/>
            </p:cNvCxnSpPr>
            <p:nvPr/>
          </p:nvCxnSpPr>
          <p:spPr>
            <a:xfrm>
              <a:off x="808461" y="4565359"/>
              <a:ext cx="5335676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CustomText2">
            <a:extLst>
              <a:ext uri="{FF2B5EF4-FFF2-40B4-BE49-F238E27FC236}">
                <a16:creationId xmlns:a16="http://schemas.microsoft.com/office/drawing/2014/main" id="{A9265E10-8363-4515-875B-356E7C8489A9}"/>
              </a:ext>
            </a:extLst>
          </p:cNvPr>
          <p:cNvSpPr txBox="1"/>
          <p:nvPr/>
        </p:nvSpPr>
        <p:spPr bwMode="auto">
          <a:xfrm>
            <a:off x="4471194" y="2990192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/>
              <a:t>预约状态机</a:t>
            </a:r>
          </a:p>
        </p:txBody>
      </p:sp>
      <p:sp>
        <p:nvSpPr>
          <p:cNvPr id="54" name="CustomText2">
            <a:extLst>
              <a:ext uri="{FF2B5EF4-FFF2-40B4-BE49-F238E27FC236}">
                <a16:creationId xmlns:a16="http://schemas.microsoft.com/office/drawing/2014/main" id="{9AC39975-8B60-46B5-AABE-4EE59F5ABAB6}"/>
              </a:ext>
            </a:extLst>
          </p:cNvPr>
          <p:cNvSpPr txBox="1"/>
          <p:nvPr/>
        </p:nvSpPr>
        <p:spPr bwMode="auto">
          <a:xfrm>
            <a:off x="5395994" y="1419367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/>
              <a:t>表结构设计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702A22D-2054-46A6-B830-981E8C4C4363}"/>
              </a:ext>
            </a:extLst>
          </p:cNvPr>
          <p:cNvSpPr txBox="1"/>
          <p:nvPr/>
        </p:nvSpPr>
        <p:spPr>
          <a:xfrm>
            <a:off x="8907676" y="6246595"/>
            <a:ext cx="2345514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D3AEFC-C66C-8A2A-9186-62C1F8B01D1B}"/>
              </a:ext>
            </a:extLst>
          </p:cNvPr>
          <p:cNvSpPr txBox="1"/>
          <p:nvPr/>
        </p:nvSpPr>
        <p:spPr>
          <a:xfrm>
            <a:off x="1727685" y="3044698"/>
            <a:ext cx="948569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campus(</a:t>
            </a:r>
            <a:r>
              <a:rPr lang="zh-CN" altLang="en-US" sz="1200" dirty="0"/>
              <a:t>校区</a:t>
            </a:r>
            <a:r>
              <a:rPr lang="en-US" altLang="zh-CN" sz="1200" dirty="0"/>
              <a:t>) -&gt; building(</a:t>
            </a:r>
            <a:r>
              <a:rPr lang="zh-CN" altLang="en-US" sz="1200" dirty="0"/>
              <a:t>楼栋</a:t>
            </a:r>
            <a:r>
              <a:rPr lang="en-US" altLang="zh-CN" sz="1200" dirty="0"/>
              <a:t>)
-&gt; room(</a:t>
            </a:r>
            <a:r>
              <a:rPr lang="zh-CN" altLang="en-US" sz="1200" dirty="0"/>
              <a:t>自习室</a:t>
            </a:r>
            <a:r>
              <a:rPr lang="en-US" altLang="zh-CN" sz="1200" dirty="0"/>
              <a:t>,</a:t>
            </a:r>
            <a:r>
              <a:rPr lang="zh-CN" altLang="en-US" sz="1200" dirty="0"/>
              <a:t>含开放时段</a:t>
            </a:r>
            <a:r>
              <a:rPr lang="en-US" altLang="zh-CN" sz="1200" dirty="0"/>
              <a:t>)
-&gt; seat(</a:t>
            </a:r>
            <a:r>
              <a:rPr lang="zh-CN" altLang="en-US" sz="1200" dirty="0"/>
              <a:t>座位</a:t>
            </a:r>
            <a:r>
              <a:rPr lang="en-US" altLang="zh-CN" sz="1200" dirty="0"/>
              <a:t>, row/col/</a:t>
            </a:r>
            <a:r>
              <a:rPr lang="zh-CN" altLang="en-US" sz="1200" dirty="0"/>
              <a:t>类型</a:t>
            </a:r>
            <a:r>
              <a:rPr lang="en-US" altLang="zh-CN" sz="1200" dirty="0"/>
              <a:t>)
reservation(</a:t>
            </a:r>
            <a:r>
              <a:rPr lang="zh-CN" altLang="en-US" sz="1200" dirty="0"/>
              <a:t>预约</a:t>
            </a:r>
            <a:r>
              <a:rPr lang="en-US" altLang="zh-CN" sz="1200" dirty="0"/>
              <a:t>):
  </a:t>
            </a:r>
            <a:r>
              <a:rPr lang="en-US" altLang="zh-CN" sz="1200" dirty="0" err="1"/>
              <a:t>user_id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seat_id</a:t>
            </a:r>
            <a:r>
              <a:rPr lang="en-US" altLang="zh-CN" sz="1200" dirty="0"/>
              <a:t>, date
  start/</a:t>
            </a:r>
            <a:r>
              <a:rPr lang="en-US" altLang="zh-CN" sz="1200" dirty="0" err="1"/>
              <a:t>end_time</a:t>
            </a:r>
            <a:r>
              <a:rPr lang="en-US" altLang="zh-CN" sz="1200" dirty="0"/>
              <a:t>, status
user: </a:t>
            </a:r>
            <a:r>
              <a:rPr lang="en-US" altLang="zh-CN" sz="1200" dirty="0" err="1"/>
              <a:t>student_id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no_show_count</a:t>
            </a:r>
            <a:r>
              <a:rPr lang="en-US" altLang="zh-CN" sz="1200" dirty="0"/>
              <a:t>
  </a:t>
            </a:r>
            <a:r>
              <a:rPr lang="en-US" altLang="zh-CN" sz="1200" dirty="0" err="1"/>
              <a:t>blacklist_until</a:t>
            </a:r>
            <a:r>
              <a:rPr lang="en-US" altLang="zh-CN" sz="1200" dirty="0"/>
              <a:t>, role
</a:t>
            </a:r>
            <a:r>
              <a:rPr lang="en-US" altLang="zh-CN" sz="1200" dirty="0" err="1"/>
              <a:t>daily_stats</a:t>
            </a:r>
            <a:r>
              <a:rPr lang="en-US" altLang="zh-CN" sz="1200" dirty="0"/>
              <a:t>: </a:t>
            </a:r>
            <a:r>
              <a:rPr lang="en-US" altLang="zh-CN" sz="1200" dirty="0" err="1"/>
              <a:t>room_id</a:t>
            </a:r>
            <a:r>
              <a:rPr lang="en-US" altLang="zh-CN" sz="1200" dirty="0"/>
              <a:t>, date
  </a:t>
            </a:r>
            <a:r>
              <a:rPr lang="en-US" altLang="zh-CN" sz="1200" dirty="0" err="1"/>
              <a:t>usage_rate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peak_hour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84B2B6-6F47-FC25-DCB2-B98F5A2BB4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8" b="22383"/>
          <a:stretch>
            <a:fillRect/>
          </a:stretch>
        </p:blipFill>
        <p:spPr>
          <a:xfrm>
            <a:off x="4167343" y="3643500"/>
            <a:ext cx="2457302" cy="16117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AA497BE-77DE-0835-1AA0-037902737D49}"/>
              </a:ext>
            </a:extLst>
          </p:cNvPr>
          <p:cNvSpPr txBox="1"/>
          <p:nvPr/>
        </p:nvSpPr>
        <p:spPr>
          <a:xfrm>
            <a:off x="2112885" y="1233996"/>
            <a:ext cx="235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user</a:t>
            </a:r>
            <a:r>
              <a:rPr lang="zh-CN" altLang="en-US" dirty="0"/>
              <a:t>、</a:t>
            </a:r>
            <a:r>
              <a:rPr lang="en-US" altLang="zh-CN" dirty="0"/>
              <a:t>daily_-stats</a:t>
            </a:r>
            <a:r>
              <a:rPr lang="zh-CN" altLang="en-US" dirty="0"/>
              <a:t>、</a:t>
            </a:r>
            <a:r>
              <a:rPr lang="en-US" altLang="zh-CN" dirty="0"/>
              <a:t>seat</a:t>
            </a:r>
            <a:r>
              <a:rPr lang="zh-CN" altLang="en-US" dirty="0"/>
              <a:t>、</a:t>
            </a:r>
            <a:r>
              <a:rPr lang="en-US" altLang="zh-CN" dirty="0"/>
              <a:t>reservation</a:t>
            </a:r>
            <a:endParaRPr lang="zh-CN" altLang="en-US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27919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5243896" y="378991"/>
            <a:ext cx="1871477" cy="634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2200" b="1"/>
              <a:t>关键表设计</a:t>
            </a:r>
          </a:p>
        </p:txBody>
      </p:sp>
      <p:sp>
        <p:nvSpPr>
          <p:cNvPr id="15" name="矩形 14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12E1C810-E67F-4A66-AC0B-9BEACA33FDD6}"/>
              </a:ext>
            </a:extLst>
          </p:cNvPr>
          <p:cNvSpPr/>
          <p:nvPr/>
        </p:nvSpPr>
        <p:spPr>
          <a:xfrm>
            <a:off x="739425" y="1073760"/>
            <a:ext cx="10867698" cy="499193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lnSpc>
                <a:spcPct val="120000"/>
              </a:lnSpc>
            </a:pPr>
            <a:endParaRPr lang="zh-CN" altLang="en-US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14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87629AD9-D353-4915-B315-33F7A5DD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2151" y="6014660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7C654D4C-45D9-4991-9544-EE345F420F45}"/>
              </a:ext>
            </a:extLst>
          </p:cNvPr>
          <p:cNvSpPr/>
          <p:nvPr/>
        </p:nvSpPr>
        <p:spPr>
          <a:xfrm>
            <a:off x="1334577" y="4344734"/>
            <a:ext cx="1976316" cy="117640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r>
              <a:rPr sz="1100"/>
              <a:t>daily_stats（统计表）
按自习室+日期聚合
usage_rate 使用率
peak_hour 峰值时段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8" name="138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A761F44-AB0E-4675-B3A4-C84F9BABA7B6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739424" y="1054282"/>
            <a:ext cx="10867697" cy="4749433"/>
            <a:chOff x="-1" y="1"/>
            <a:chExt cx="12205304" cy="5287653"/>
          </a:xfrm>
        </p:grpSpPr>
        <p:sp>
          <p:nvSpPr>
            <p:cNvPr id="9" name="íşľide">
              <a:extLst>
                <a:ext uri="{FF2B5EF4-FFF2-40B4-BE49-F238E27FC236}">
                  <a16:creationId xmlns:a16="http://schemas.microsoft.com/office/drawing/2014/main" id="{3262E7EE-F9B5-463E-8E4E-45CD011F95EC}"/>
                </a:ext>
              </a:extLst>
            </p:cNvPr>
            <p:cNvSpPr/>
            <p:nvPr/>
          </p:nvSpPr>
          <p:spPr>
            <a:xfrm>
              <a:off x="1" y="1"/>
              <a:ext cx="12205302" cy="2446208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10" name="îšḻíḓè">
              <a:extLst>
                <a:ext uri="{FF2B5EF4-FFF2-40B4-BE49-F238E27FC236}">
                  <a16:creationId xmlns:a16="http://schemas.microsoft.com/office/drawing/2014/main" id="{805DD5F3-8C15-4A24-A74B-C2C7E71B32BB}"/>
                </a:ext>
              </a:extLst>
            </p:cNvPr>
            <p:cNvSpPr/>
            <p:nvPr/>
          </p:nvSpPr>
          <p:spPr bwMode="auto">
            <a:xfrm>
              <a:off x="-1" y="2307960"/>
              <a:ext cx="3051326" cy="14401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12" name="iSlïḓé">
              <a:extLst>
                <a:ext uri="{FF2B5EF4-FFF2-40B4-BE49-F238E27FC236}">
                  <a16:creationId xmlns:a16="http://schemas.microsoft.com/office/drawing/2014/main" id="{4A47E53C-FD38-489A-BABC-10905DC18DC1}"/>
                </a:ext>
              </a:extLst>
            </p:cNvPr>
            <p:cNvSpPr/>
            <p:nvPr/>
          </p:nvSpPr>
          <p:spPr bwMode="auto">
            <a:xfrm>
              <a:off x="3051325" y="2307960"/>
              <a:ext cx="3051326" cy="14401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13" name="ïSliďe">
              <a:extLst>
                <a:ext uri="{FF2B5EF4-FFF2-40B4-BE49-F238E27FC236}">
                  <a16:creationId xmlns:a16="http://schemas.microsoft.com/office/drawing/2014/main" id="{BA90E764-76CB-43A1-AE57-B9E33E4C7750}"/>
                </a:ext>
              </a:extLst>
            </p:cNvPr>
            <p:cNvSpPr/>
            <p:nvPr/>
          </p:nvSpPr>
          <p:spPr bwMode="auto">
            <a:xfrm>
              <a:off x="6102651" y="2307960"/>
              <a:ext cx="3051326" cy="144016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16" name="isļiḑê">
              <a:extLst>
                <a:ext uri="{FF2B5EF4-FFF2-40B4-BE49-F238E27FC236}">
                  <a16:creationId xmlns:a16="http://schemas.microsoft.com/office/drawing/2014/main" id="{4F99A719-81EF-4ACB-B787-5F4568ACCF9F}"/>
                </a:ext>
              </a:extLst>
            </p:cNvPr>
            <p:cNvSpPr/>
            <p:nvPr/>
          </p:nvSpPr>
          <p:spPr bwMode="auto">
            <a:xfrm>
              <a:off x="9153976" y="2307960"/>
              <a:ext cx="3051326" cy="144016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dirty="0"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27CA2D8-5131-4129-99FB-758268CE44AA}"/>
                </a:ext>
              </a:extLst>
            </p:cNvPr>
            <p:cNvCxnSpPr/>
            <p:nvPr/>
          </p:nvCxnSpPr>
          <p:spPr>
            <a:xfrm>
              <a:off x="3230712" y="3351309"/>
              <a:ext cx="0" cy="15954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306B979-5AE8-46E1-8072-0E0380EAA7C8}"/>
                </a:ext>
              </a:extLst>
            </p:cNvPr>
            <p:cNvCxnSpPr/>
            <p:nvPr/>
          </p:nvCxnSpPr>
          <p:spPr>
            <a:xfrm>
              <a:off x="6098969" y="3692254"/>
              <a:ext cx="0" cy="15954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C7BA29E-6995-40F5-8A19-8A67B7CCB78E}"/>
                </a:ext>
              </a:extLst>
            </p:cNvPr>
            <p:cNvCxnSpPr/>
            <p:nvPr/>
          </p:nvCxnSpPr>
          <p:spPr>
            <a:xfrm>
              <a:off x="8920546" y="3692254"/>
              <a:ext cx="0" cy="15954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îšḷîḍè">
              <a:extLst>
                <a:ext uri="{FF2B5EF4-FFF2-40B4-BE49-F238E27FC236}">
                  <a16:creationId xmlns:a16="http://schemas.microsoft.com/office/drawing/2014/main" id="{23D5A55D-240A-4092-B404-7427A45699EF}"/>
                </a:ext>
              </a:extLst>
            </p:cNvPr>
            <p:cNvSpPr/>
            <p:nvPr/>
          </p:nvSpPr>
          <p:spPr>
            <a:xfrm>
              <a:off x="1471295" y="2896148"/>
              <a:ext cx="538792" cy="5387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dirty="0"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1" name="ïśḷïďé">
              <a:extLst>
                <a:ext uri="{FF2B5EF4-FFF2-40B4-BE49-F238E27FC236}">
                  <a16:creationId xmlns:a16="http://schemas.microsoft.com/office/drawing/2014/main" id="{C94A1A73-18A2-4AD8-BE2E-A6FBD9CD34D0}"/>
                </a:ext>
              </a:extLst>
            </p:cNvPr>
            <p:cNvSpPr/>
            <p:nvPr/>
          </p:nvSpPr>
          <p:spPr>
            <a:xfrm>
              <a:off x="1611094" y="3018606"/>
              <a:ext cx="259192" cy="293875"/>
            </a:xfrm>
            <a:custGeom>
              <a:avLst/>
              <a:gdLst>
                <a:gd name="T0" fmla="*/ 2125 w 2288"/>
                <a:gd name="T1" fmla="*/ 924 h 2598"/>
                <a:gd name="T2" fmla="*/ 1863 w 2288"/>
                <a:gd name="T3" fmla="*/ 1258 h 2598"/>
                <a:gd name="T4" fmla="*/ 1848 w 2288"/>
                <a:gd name="T5" fmla="*/ 1586 h 2598"/>
                <a:gd name="T6" fmla="*/ 1899 w 2288"/>
                <a:gd name="T7" fmla="*/ 1716 h 2598"/>
                <a:gd name="T8" fmla="*/ 1211 w 2288"/>
                <a:gd name="T9" fmla="*/ 2079 h 2598"/>
                <a:gd name="T10" fmla="*/ 1176 w 2288"/>
                <a:gd name="T11" fmla="*/ 2038 h 2598"/>
                <a:gd name="T12" fmla="*/ 1200 w 2288"/>
                <a:gd name="T13" fmla="*/ 965 h 2598"/>
                <a:gd name="T14" fmla="*/ 1409 w 2288"/>
                <a:gd name="T15" fmla="*/ 1012 h 2598"/>
                <a:gd name="T16" fmla="*/ 1522 w 2288"/>
                <a:gd name="T17" fmla="*/ 978 h 2598"/>
                <a:gd name="T18" fmla="*/ 1526 w 2288"/>
                <a:gd name="T19" fmla="*/ 847 h 2598"/>
                <a:gd name="T20" fmla="*/ 1387 w 2288"/>
                <a:gd name="T21" fmla="*/ 828 h 2598"/>
                <a:gd name="T22" fmla="*/ 1193 w 2288"/>
                <a:gd name="T23" fmla="*/ 584 h 2598"/>
                <a:gd name="T24" fmla="*/ 1375 w 2288"/>
                <a:gd name="T25" fmla="*/ 124 h 2598"/>
                <a:gd name="T26" fmla="*/ 1109 w 2288"/>
                <a:gd name="T27" fmla="*/ 37 h 2598"/>
                <a:gd name="T28" fmla="*/ 1013 w 2288"/>
                <a:gd name="T29" fmla="*/ 570 h 2598"/>
                <a:gd name="T30" fmla="*/ 1056 w 2288"/>
                <a:gd name="T31" fmla="*/ 808 h 2598"/>
                <a:gd name="T32" fmla="*/ 891 w 2288"/>
                <a:gd name="T33" fmla="*/ 784 h 2598"/>
                <a:gd name="T34" fmla="*/ 748 w 2288"/>
                <a:gd name="T35" fmla="*/ 921 h 2598"/>
                <a:gd name="T36" fmla="*/ 899 w 2288"/>
                <a:gd name="T37" fmla="*/ 946 h 2598"/>
                <a:gd name="T38" fmla="*/ 1024 w 2288"/>
                <a:gd name="T39" fmla="*/ 1479 h 2598"/>
                <a:gd name="T40" fmla="*/ 1022 w 2288"/>
                <a:gd name="T41" fmla="*/ 2081 h 2598"/>
                <a:gd name="T42" fmla="*/ 434 w 2288"/>
                <a:gd name="T43" fmla="*/ 1569 h 2598"/>
                <a:gd name="T44" fmla="*/ 395 w 2288"/>
                <a:gd name="T45" fmla="*/ 1470 h 2598"/>
                <a:gd name="T46" fmla="*/ 88 w 2288"/>
                <a:gd name="T47" fmla="*/ 1148 h 2598"/>
                <a:gd name="T48" fmla="*/ 101 w 2288"/>
                <a:gd name="T49" fmla="*/ 1658 h 2598"/>
                <a:gd name="T50" fmla="*/ 906 w 2288"/>
                <a:gd name="T51" fmla="*/ 2228 h 2598"/>
                <a:gd name="T52" fmla="*/ 1177 w 2288"/>
                <a:gd name="T53" fmla="*/ 2500 h 2598"/>
                <a:gd name="T54" fmla="*/ 1223 w 2288"/>
                <a:gd name="T55" fmla="*/ 2405 h 2598"/>
                <a:gd name="T56" fmla="*/ 1273 w 2288"/>
                <a:gd name="T57" fmla="*/ 2328 h 2598"/>
                <a:gd name="T58" fmla="*/ 1280 w 2288"/>
                <a:gd name="T59" fmla="*/ 2234 h 2598"/>
                <a:gd name="T60" fmla="*/ 2094 w 2288"/>
                <a:gd name="T61" fmla="*/ 1624 h 2598"/>
                <a:gd name="T62" fmla="*/ 2274 w 2288"/>
                <a:gd name="T63" fmla="*/ 1517 h 2598"/>
                <a:gd name="T64" fmla="*/ 1065 w 2288"/>
                <a:gd name="T65" fmla="*/ 420 h 2598"/>
                <a:gd name="T66" fmla="*/ 1131 w 2288"/>
                <a:gd name="T67" fmla="*/ 148 h 2598"/>
                <a:gd name="T68" fmla="*/ 1165 w 2288"/>
                <a:gd name="T69" fmla="*/ 430 h 2598"/>
                <a:gd name="T70" fmla="*/ 1065 w 2288"/>
                <a:gd name="T71" fmla="*/ 420 h 2598"/>
                <a:gd name="T72" fmla="*/ 1040 w 2288"/>
                <a:gd name="T73" fmla="*/ 2287 h 2598"/>
                <a:gd name="T74" fmla="*/ 1032 w 2288"/>
                <a:gd name="T75" fmla="*/ 2241 h 2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88" h="2598">
                  <a:moveTo>
                    <a:pt x="2281" y="1465"/>
                  </a:moveTo>
                  <a:cubicBezTo>
                    <a:pt x="2220" y="1286"/>
                    <a:pt x="2159" y="1111"/>
                    <a:pt x="2125" y="924"/>
                  </a:cubicBezTo>
                  <a:cubicBezTo>
                    <a:pt x="2112" y="850"/>
                    <a:pt x="2015" y="868"/>
                    <a:pt x="1992" y="924"/>
                  </a:cubicBezTo>
                  <a:cubicBezTo>
                    <a:pt x="1948" y="1035"/>
                    <a:pt x="1904" y="1146"/>
                    <a:pt x="1863" y="1258"/>
                  </a:cubicBezTo>
                  <a:cubicBezTo>
                    <a:pt x="1840" y="1319"/>
                    <a:pt x="1790" y="1411"/>
                    <a:pt x="1809" y="1480"/>
                  </a:cubicBezTo>
                  <a:cubicBezTo>
                    <a:pt x="1783" y="1516"/>
                    <a:pt x="1783" y="1565"/>
                    <a:pt x="1848" y="1586"/>
                  </a:cubicBezTo>
                  <a:cubicBezTo>
                    <a:pt x="1878" y="1596"/>
                    <a:pt x="1908" y="1602"/>
                    <a:pt x="1938" y="1607"/>
                  </a:cubicBezTo>
                  <a:cubicBezTo>
                    <a:pt x="1927" y="1644"/>
                    <a:pt x="1916" y="1681"/>
                    <a:pt x="1899" y="1716"/>
                  </a:cubicBezTo>
                  <a:cubicBezTo>
                    <a:pt x="1861" y="1789"/>
                    <a:pt x="1799" y="1850"/>
                    <a:pt x="1734" y="1899"/>
                  </a:cubicBezTo>
                  <a:cubicBezTo>
                    <a:pt x="1586" y="2012"/>
                    <a:pt x="1393" y="2062"/>
                    <a:pt x="1211" y="2079"/>
                  </a:cubicBezTo>
                  <a:cubicBezTo>
                    <a:pt x="1201" y="2080"/>
                    <a:pt x="1190" y="2080"/>
                    <a:pt x="1180" y="2081"/>
                  </a:cubicBezTo>
                  <a:cubicBezTo>
                    <a:pt x="1178" y="2066"/>
                    <a:pt x="1177" y="2052"/>
                    <a:pt x="1176" y="2038"/>
                  </a:cubicBezTo>
                  <a:cubicBezTo>
                    <a:pt x="1167" y="1852"/>
                    <a:pt x="1173" y="1665"/>
                    <a:pt x="1178" y="1479"/>
                  </a:cubicBezTo>
                  <a:cubicBezTo>
                    <a:pt x="1183" y="1309"/>
                    <a:pt x="1195" y="1137"/>
                    <a:pt x="1200" y="965"/>
                  </a:cubicBezTo>
                  <a:cubicBezTo>
                    <a:pt x="1262" y="972"/>
                    <a:pt x="1326" y="981"/>
                    <a:pt x="1388" y="979"/>
                  </a:cubicBezTo>
                  <a:cubicBezTo>
                    <a:pt x="1391" y="992"/>
                    <a:pt x="1399" y="1003"/>
                    <a:pt x="1409" y="1012"/>
                  </a:cubicBezTo>
                  <a:cubicBezTo>
                    <a:pt x="1434" y="1041"/>
                    <a:pt x="1476" y="1041"/>
                    <a:pt x="1501" y="1012"/>
                  </a:cubicBezTo>
                  <a:cubicBezTo>
                    <a:pt x="1511" y="1003"/>
                    <a:pt x="1519" y="991"/>
                    <a:pt x="1522" y="978"/>
                  </a:cubicBezTo>
                  <a:cubicBezTo>
                    <a:pt x="1528" y="956"/>
                    <a:pt x="1526" y="931"/>
                    <a:pt x="1526" y="908"/>
                  </a:cubicBezTo>
                  <a:lnTo>
                    <a:pt x="1526" y="847"/>
                  </a:lnTo>
                  <a:cubicBezTo>
                    <a:pt x="1526" y="809"/>
                    <a:pt x="1493" y="776"/>
                    <a:pt x="1455" y="776"/>
                  </a:cubicBezTo>
                  <a:cubicBezTo>
                    <a:pt x="1423" y="776"/>
                    <a:pt x="1395" y="799"/>
                    <a:pt x="1387" y="828"/>
                  </a:cubicBezTo>
                  <a:cubicBezTo>
                    <a:pt x="1327" y="813"/>
                    <a:pt x="1264" y="812"/>
                    <a:pt x="1202" y="810"/>
                  </a:cubicBezTo>
                  <a:cubicBezTo>
                    <a:pt x="1202" y="735"/>
                    <a:pt x="1199" y="659"/>
                    <a:pt x="1193" y="584"/>
                  </a:cubicBezTo>
                  <a:cubicBezTo>
                    <a:pt x="1297" y="558"/>
                    <a:pt x="1391" y="480"/>
                    <a:pt x="1431" y="385"/>
                  </a:cubicBezTo>
                  <a:cubicBezTo>
                    <a:pt x="1470" y="292"/>
                    <a:pt x="1441" y="197"/>
                    <a:pt x="1375" y="124"/>
                  </a:cubicBezTo>
                  <a:cubicBezTo>
                    <a:pt x="1315" y="57"/>
                    <a:pt x="1196" y="0"/>
                    <a:pt x="1109" y="37"/>
                  </a:cubicBezTo>
                  <a:cubicBezTo>
                    <a:pt x="1109" y="37"/>
                    <a:pt x="1109" y="37"/>
                    <a:pt x="1109" y="37"/>
                  </a:cubicBezTo>
                  <a:cubicBezTo>
                    <a:pt x="988" y="48"/>
                    <a:pt x="885" y="127"/>
                    <a:pt x="860" y="255"/>
                  </a:cubicBezTo>
                  <a:cubicBezTo>
                    <a:pt x="837" y="376"/>
                    <a:pt x="900" y="516"/>
                    <a:pt x="1013" y="570"/>
                  </a:cubicBezTo>
                  <a:cubicBezTo>
                    <a:pt x="1033" y="580"/>
                    <a:pt x="1055" y="586"/>
                    <a:pt x="1077" y="590"/>
                  </a:cubicBezTo>
                  <a:cubicBezTo>
                    <a:pt x="1068" y="662"/>
                    <a:pt x="1062" y="735"/>
                    <a:pt x="1056" y="808"/>
                  </a:cubicBezTo>
                  <a:cubicBezTo>
                    <a:pt x="1001" y="808"/>
                    <a:pt x="947" y="810"/>
                    <a:pt x="892" y="813"/>
                  </a:cubicBezTo>
                  <a:cubicBezTo>
                    <a:pt x="892" y="803"/>
                    <a:pt x="891" y="793"/>
                    <a:pt x="891" y="784"/>
                  </a:cubicBezTo>
                  <a:cubicBezTo>
                    <a:pt x="896" y="691"/>
                    <a:pt x="748" y="690"/>
                    <a:pt x="747" y="784"/>
                  </a:cubicBezTo>
                  <a:cubicBezTo>
                    <a:pt x="747" y="829"/>
                    <a:pt x="742" y="876"/>
                    <a:pt x="748" y="921"/>
                  </a:cubicBezTo>
                  <a:cubicBezTo>
                    <a:pt x="756" y="983"/>
                    <a:pt x="811" y="1002"/>
                    <a:pt x="851" y="981"/>
                  </a:cubicBezTo>
                  <a:cubicBezTo>
                    <a:pt x="872" y="980"/>
                    <a:pt x="891" y="967"/>
                    <a:pt x="899" y="946"/>
                  </a:cubicBezTo>
                  <a:cubicBezTo>
                    <a:pt x="948" y="949"/>
                    <a:pt x="998" y="951"/>
                    <a:pt x="1047" y="954"/>
                  </a:cubicBezTo>
                  <a:cubicBezTo>
                    <a:pt x="1037" y="1129"/>
                    <a:pt x="1031" y="1305"/>
                    <a:pt x="1024" y="1479"/>
                  </a:cubicBezTo>
                  <a:cubicBezTo>
                    <a:pt x="1017" y="1665"/>
                    <a:pt x="1014" y="1851"/>
                    <a:pt x="1021" y="2038"/>
                  </a:cubicBezTo>
                  <a:cubicBezTo>
                    <a:pt x="1022" y="2051"/>
                    <a:pt x="1022" y="2066"/>
                    <a:pt x="1022" y="2081"/>
                  </a:cubicBezTo>
                  <a:cubicBezTo>
                    <a:pt x="722" y="2061"/>
                    <a:pt x="421" y="1927"/>
                    <a:pt x="289" y="1649"/>
                  </a:cubicBezTo>
                  <a:cubicBezTo>
                    <a:pt x="342" y="1639"/>
                    <a:pt x="422" y="1633"/>
                    <a:pt x="434" y="1569"/>
                  </a:cubicBezTo>
                  <a:cubicBezTo>
                    <a:pt x="439" y="1539"/>
                    <a:pt x="429" y="1506"/>
                    <a:pt x="402" y="1492"/>
                  </a:cubicBezTo>
                  <a:cubicBezTo>
                    <a:pt x="401" y="1485"/>
                    <a:pt x="399" y="1478"/>
                    <a:pt x="395" y="1470"/>
                  </a:cubicBezTo>
                  <a:cubicBezTo>
                    <a:pt x="338" y="1362"/>
                    <a:pt x="258" y="1263"/>
                    <a:pt x="215" y="1148"/>
                  </a:cubicBezTo>
                  <a:cubicBezTo>
                    <a:pt x="192" y="1085"/>
                    <a:pt x="111" y="1085"/>
                    <a:pt x="88" y="1148"/>
                  </a:cubicBezTo>
                  <a:cubicBezTo>
                    <a:pt x="29" y="1306"/>
                    <a:pt x="0" y="1457"/>
                    <a:pt x="39" y="1624"/>
                  </a:cubicBezTo>
                  <a:cubicBezTo>
                    <a:pt x="45" y="1653"/>
                    <a:pt x="75" y="1663"/>
                    <a:pt x="101" y="1658"/>
                  </a:cubicBezTo>
                  <a:cubicBezTo>
                    <a:pt x="125" y="1661"/>
                    <a:pt x="149" y="1661"/>
                    <a:pt x="172" y="1661"/>
                  </a:cubicBezTo>
                  <a:cubicBezTo>
                    <a:pt x="253" y="2008"/>
                    <a:pt x="572" y="2179"/>
                    <a:pt x="906" y="2228"/>
                  </a:cubicBezTo>
                  <a:cubicBezTo>
                    <a:pt x="931" y="2337"/>
                    <a:pt x="982" y="2443"/>
                    <a:pt x="1043" y="2536"/>
                  </a:cubicBezTo>
                  <a:cubicBezTo>
                    <a:pt x="1083" y="2598"/>
                    <a:pt x="1172" y="2572"/>
                    <a:pt x="1177" y="2500"/>
                  </a:cubicBezTo>
                  <a:cubicBezTo>
                    <a:pt x="1177" y="2509"/>
                    <a:pt x="1185" y="2477"/>
                    <a:pt x="1189" y="2468"/>
                  </a:cubicBezTo>
                  <a:cubicBezTo>
                    <a:pt x="1199" y="2446"/>
                    <a:pt x="1211" y="2426"/>
                    <a:pt x="1223" y="2405"/>
                  </a:cubicBezTo>
                  <a:cubicBezTo>
                    <a:pt x="1234" y="2386"/>
                    <a:pt x="1247" y="2368"/>
                    <a:pt x="1259" y="2349"/>
                  </a:cubicBezTo>
                  <a:cubicBezTo>
                    <a:pt x="1264" y="2342"/>
                    <a:pt x="1268" y="2335"/>
                    <a:pt x="1273" y="2328"/>
                  </a:cubicBezTo>
                  <a:cubicBezTo>
                    <a:pt x="1277" y="2322"/>
                    <a:pt x="1293" y="2305"/>
                    <a:pt x="1277" y="2322"/>
                  </a:cubicBezTo>
                  <a:cubicBezTo>
                    <a:pt x="1304" y="2294"/>
                    <a:pt x="1300" y="2258"/>
                    <a:pt x="1280" y="2234"/>
                  </a:cubicBezTo>
                  <a:cubicBezTo>
                    <a:pt x="1483" y="2210"/>
                    <a:pt x="1683" y="2139"/>
                    <a:pt x="1845" y="2015"/>
                  </a:cubicBezTo>
                  <a:cubicBezTo>
                    <a:pt x="1948" y="1936"/>
                    <a:pt x="2086" y="1773"/>
                    <a:pt x="2094" y="1624"/>
                  </a:cubicBezTo>
                  <a:cubicBezTo>
                    <a:pt x="2146" y="1628"/>
                    <a:pt x="2201" y="1630"/>
                    <a:pt x="2245" y="1609"/>
                  </a:cubicBezTo>
                  <a:cubicBezTo>
                    <a:pt x="2278" y="1594"/>
                    <a:pt x="2287" y="1550"/>
                    <a:pt x="2274" y="1517"/>
                  </a:cubicBezTo>
                  <a:cubicBezTo>
                    <a:pt x="2284" y="1503"/>
                    <a:pt x="2288" y="1485"/>
                    <a:pt x="2281" y="1465"/>
                  </a:cubicBezTo>
                  <a:close/>
                  <a:moveTo>
                    <a:pt x="1065" y="420"/>
                  </a:moveTo>
                  <a:cubicBezTo>
                    <a:pt x="1019" y="392"/>
                    <a:pt x="1002" y="323"/>
                    <a:pt x="1010" y="274"/>
                  </a:cubicBezTo>
                  <a:cubicBezTo>
                    <a:pt x="1021" y="207"/>
                    <a:pt x="1073" y="171"/>
                    <a:pt x="1131" y="148"/>
                  </a:cubicBezTo>
                  <a:cubicBezTo>
                    <a:pt x="1208" y="195"/>
                    <a:pt x="1340" y="234"/>
                    <a:pt x="1280" y="343"/>
                  </a:cubicBezTo>
                  <a:cubicBezTo>
                    <a:pt x="1258" y="383"/>
                    <a:pt x="1213" y="417"/>
                    <a:pt x="1165" y="430"/>
                  </a:cubicBezTo>
                  <a:cubicBezTo>
                    <a:pt x="1148" y="418"/>
                    <a:pt x="1121" y="420"/>
                    <a:pt x="1105" y="434"/>
                  </a:cubicBezTo>
                  <a:cubicBezTo>
                    <a:pt x="1091" y="432"/>
                    <a:pt x="1077" y="428"/>
                    <a:pt x="1065" y="420"/>
                  </a:cubicBezTo>
                  <a:close/>
                  <a:moveTo>
                    <a:pt x="1032" y="2241"/>
                  </a:moveTo>
                  <a:cubicBezTo>
                    <a:pt x="1034" y="2257"/>
                    <a:pt x="1037" y="2272"/>
                    <a:pt x="1040" y="2287"/>
                  </a:cubicBezTo>
                  <a:cubicBezTo>
                    <a:pt x="1029" y="2271"/>
                    <a:pt x="1019" y="2255"/>
                    <a:pt x="1010" y="2239"/>
                  </a:cubicBezTo>
                  <a:cubicBezTo>
                    <a:pt x="1017" y="2240"/>
                    <a:pt x="1025" y="2241"/>
                    <a:pt x="1032" y="22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4" name="ïṡ1íďê">
              <a:extLst>
                <a:ext uri="{FF2B5EF4-FFF2-40B4-BE49-F238E27FC236}">
                  <a16:creationId xmlns:a16="http://schemas.microsoft.com/office/drawing/2014/main" id="{9A92B2B1-E012-4A24-BC48-85633CFDDBB0}"/>
                </a:ext>
              </a:extLst>
            </p:cNvPr>
            <p:cNvSpPr/>
            <p:nvPr/>
          </p:nvSpPr>
          <p:spPr>
            <a:xfrm>
              <a:off x="4431071" y="2901514"/>
              <a:ext cx="538792" cy="5387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5" name="íŝľiďê">
              <a:extLst>
                <a:ext uri="{FF2B5EF4-FFF2-40B4-BE49-F238E27FC236}">
                  <a16:creationId xmlns:a16="http://schemas.microsoft.com/office/drawing/2014/main" id="{A3B6F359-4189-438D-9B8C-6002900C996D}"/>
                </a:ext>
              </a:extLst>
            </p:cNvPr>
            <p:cNvSpPr/>
            <p:nvPr/>
          </p:nvSpPr>
          <p:spPr>
            <a:xfrm>
              <a:off x="4553529" y="3027771"/>
              <a:ext cx="293875" cy="265786"/>
            </a:xfrm>
            <a:custGeom>
              <a:avLst/>
              <a:gdLst>
                <a:gd name="connsiteX0" fmla="*/ 503202 w 607568"/>
                <a:gd name="connsiteY0" fmla="*/ 459310 h 549494"/>
                <a:gd name="connsiteX1" fmla="*/ 548364 w 607568"/>
                <a:gd name="connsiteY1" fmla="*/ 504402 h 549494"/>
                <a:gd name="connsiteX2" fmla="*/ 503202 w 607568"/>
                <a:gd name="connsiteY2" fmla="*/ 549494 h 549494"/>
                <a:gd name="connsiteX3" fmla="*/ 458040 w 607568"/>
                <a:gd name="connsiteY3" fmla="*/ 504402 h 549494"/>
                <a:gd name="connsiteX4" fmla="*/ 503202 w 607568"/>
                <a:gd name="connsiteY4" fmla="*/ 459310 h 549494"/>
                <a:gd name="connsiteX5" fmla="*/ 197795 w 607568"/>
                <a:gd name="connsiteY5" fmla="*/ 459310 h 549494"/>
                <a:gd name="connsiteX6" fmla="*/ 242957 w 607568"/>
                <a:gd name="connsiteY6" fmla="*/ 504402 h 549494"/>
                <a:gd name="connsiteX7" fmla="*/ 197795 w 607568"/>
                <a:gd name="connsiteY7" fmla="*/ 549494 h 549494"/>
                <a:gd name="connsiteX8" fmla="*/ 152633 w 607568"/>
                <a:gd name="connsiteY8" fmla="*/ 504402 h 549494"/>
                <a:gd name="connsiteX9" fmla="*/ 197795 w 607568"/>
                <a:gd name="connsiteY9" fmla="*/ 459310 h 549494"/>
                <a:gd name="connsiteX10" fmla="*/ 143318 w 607568"/>
                <a:gd name="connsiteY10" fmla="*/ 390791 h 549494"/>
                <a:gd name="connsiteX11" fmla="*/ 554573 w 607568"/>
                <a:gd name="connsiteY11" fmla="*/ 390791 h 549494"/>
                <a:gd name="connsiteX12" fmla="*/ 554573 w 607568"/>
                <a:gd name="connsiteY12" fmla="*/ 437435 h 549494"/>
                <a:gd name="connsiteX13" fmla="*/ 143318 w 607568"/>
                <a:gd name="connsiteY13" fmla="*/ 437435 h 549494"/>
                <a:gd name="connsiteX14" fmla="*/ 115304 w 607568"/>
                <a:gd name="connsiteY14" fmla="*/ 313028 h 549494"/>
                <a:gd name="connsiteX15" fmla="*/ 582659 w 607568"/>
                <a:gd name="connsiteY15" fmla="*/ 313028 h 549494"/>
                <a:gd name="connsiteX16" fmla="*/ 582659 w 607568"/>
                <a:gd name="connsiteY16" fmla="*/ 359672 h 549494"/>
                <a:gd name="connsiteX17" fmla="*/ 115304 w 607568"/>
                <a:gd name="connsiteY17" fmla="*/ 359672 h 549494"/>
                <a:gd name="connsiteX18" fmla="*/ 0 w 607568"/>
                <a:gd name="connsiteY18" fmla="*/ 169922 h 549494"/>
                <a:gd name="connsiteX19" fmla="*/ 78962 w 607568"/>
                <a:gd name="connsiteY19" fmla="*/ 169922 h 549494"/>
                <a:gd name="connsiteX20" fmla="*/ 108516 w 607568"/>
                <a:gd name="connsiteY20" fmla="*/ 235254 h 549494"/>
                <a:gd name="connsiteX21" fmla="*/ 607568 w 607568"/>
                <a:gd name="connsiteY21" fmla="*/ 235254 h 549494"/>
                <a:gd name="connsiteX22" fmla="*/ 607568 w 607568"/>
                <a:gd name="connsiteY22" fmla="*/ 281909 h 549494"/>
                <a:gd name="connsiteX23" fmla="*/ 78428 w 607568"/>
                <a:gd name="connsiteY23" fmla="*/ 281909 h 549494"/>
                <a:gd name="connsiteX24" fmla="*/ 48798 w 607568"/>
                <a:gd name="connsiteY24" fmla="*/ 216577 h 549494"/>
                <a:gd name="connsiteX25" fmla="*/ 0 w 607568"/>
                <a:gd name="connsiteY25" fmla="*/ 216577 h 549494"/>
                <a:gd name="connsiteX26" fmla="*/ 257720 w 607568"/>
                <a:gd name="connsiteY26" fmla="*/ 0 h 549494"/>
                <a:gd name="connsiteX27" fmla="*/ 254207 w 607568"/>
                <a:gd name="connsiteY27" fmla="*/ 30201 h 549494"/>
                <a:gd name="connsiteX28" fmla="*/ 407797 w 607568"/>
                <a:gd name="connsiteY28" fmla="*/ 197372 h 549494"/>
                <a:gd name="connsiteX29" fmla="*/ 241147 w 607568"/>
                <a:gd name="connsiteY29" fmla="*/ 144063 h 549494"/>
                <a:gd name="connsiteX30" fmla="*/ 237633 w 607568"/>
                <a:gd name="connsiteY30" fmla="*/ 174264 h 549494"/>
                <a:gd name="connsiteX31" fmla="*/ 115586 w 607568"/>
                <a:gd name="connsiteY31" fmla="*/ 71993 h 54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568" h="549494">
                  <a:moveTo>
                    <a:pt x="503202" y="459310"/>
                  </a:moveTo>
                  <a:cubicBezTo>
                    <a:pt x="528144" y="459310"/>
                    <a:pt x="548364" y="479498"/>
                    <a:pt x="548364" y="504402"/>
                  </a:cubicBezTo>
                  <a:cubicBezTo>
                    <a:pt x="548364" y="529306"/>
                    <a:pt x="528144" y="549494"/>
                    <a:pt x="503202" y="549494"/>
                  </a:cubicBezTo>
                  <a:cubicBezTo>
                    <a:pt x="478260" y="549494"/>
                    <a:pt x="458040" y="529306"/>
                    <a:pt x="458040" y="504402"/>
                  </a:cubicBezTo>
                  <a:cubicBezTo>
                    <a:pt x="458040" y="479498"/>
                    <a:pt x="478260" y="459310"/>
                    <a:pt x="503202" y="459310"/>
                  </a:cubicBezTo>
                  <a:close/>
                  <a:moveTo>
                    <a:pt x="197795" y="459310"/>
                  </a:moveTo>
                  <a:cubicBezTo>
                    <a:pt x="222737" y="459310"/>
                    <a:pt x="242957" y="479498"/>
                    <a:pt x="242957" y="504402"/>
                  </a:cubicBezTo>
                  <a:cubicBezTo>
                    <a:pt x="242957" y="529306"/>
                    <a:pt x="222737" y="549494"/>
                    <a:pt x="197795" y="549494"/>
                  </a:cubicBezTo>
                  <a:cubicBezTo>
                    <a:pt x="172853" y="549494"/>
                    <a:pt x="152633" y="529306"/>
                    <a:pt x="152633" y="504402"/>
                  </a:cubicBezTo>
                  <a:cubicBezTo>
                    <a:pt x="152633" y="479498"/>
                    <a:pt x="172853" y="459310"/>
                    <a:pt x="197795" y="459310"/>
                  </a:cubicBezTo>
                  <a:close/>
                  <a:moveTo>
                    <a:pt x="143318" y="390791"/>
                  </a:moveTo>
                  <a:lnTo>
                    <a:pt x="554573" y="390791"/>
                  </a:lnTo>
                  <a:lnTo>
                    <a:pt x="554573" y="437435"/>
                  </a:lnTo>
                  <a:lnTo>
                    <a:pt x="143318" y="437435"/>
                  </a:lnTo>
                  <a:close/>
                  <a:moveTo>
                    <a:pt x="115304" y="313028"/>
                  </a:moveTo>
                  <a:lnTo>
                    <a:pt x="582659" y="313028"/>
                  </a:lnTo>
                  <a:lnTo>
                    <a:pt x="582659" y="359672"/>
                  </a:lnTo>
                  <a:lnTo>
                    <a:pt x="115304" y="359672"/>
                  </a:lnTo>
                  <a:close/>
                  <a:moveTo>
                    <a:pt x="0" y="169922"/>
                  </a:moveTo>
                  <a:lnTo>
                    <a:pt x="78962" y="169922"/>
                  </a:lnTo>
                  <a:lnTo>
                    <a:pt x="108516" y="235254"/>
                  </a:lnTo>
                  <a:lnTo>
                    <a:pt x="607568" y="235254"/>
                  </a:lnTo>
                  <a:lnTo>
                    <a:pt x="607568" y="281909"/>
                  </a:lnTo>
                  <a:lnTo>
                    <a:pt x="78428" y="281909"/>
                  </a:lnTo>
                  <a:lnTo>
                    <a:pt x="48798" y="216577"/>
                  </a:lnTo>
                  <a:lnTo>
                    <a:pt x="0" y="216577"/>
                  </a:lnTo>
                  <a:close/>
                  <a:moveTo>
                    <a:pt x="257720" y="0"/>
                  </a:moveTo>
                  <a:lnTo>
                    <a:pt x="254207" y="30201"/>
                  </a:lnTo>
                  <a:cubicBezTo>
                    <a:pt x="405964" y="47665"/>
                    <a:pt x="407797" y="197372"/>
                    <a:pt x="407797" y="197372"/>
                  </a:cubicBezTo>
                  <a:cubicBezTo>
                    <a:pt x="407797" y="197372"/>
                    <a:pt x="364340" y="158248"/>
                    <a:pt x="241147" y="144063"/>
                  </a:cubicBezTo>
                  <a:lnTo>
                    <a:pt x="237633" y="174264"/>
                  </a:lnTo>
                  <a:lnTo>
                    <a:pt x="115586" y="719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8" name="ï$ľiḋê">
              <a:extLst>
                <a:ext uri="{FF2B5EF4-FFF2-40B4-BE49-F238E27FC236}">
                  <a16:creationId xmlns:a16="http://schemas.microsoft.com/office/drawing/2014/main" id="{BDEA1386-0E0E-45A1-A18A-0E3C1E29FB5E}"/>
                </a:ext>
              </a:extLst>
            </p:cNvPr>
            <p:cNvSpPr/>
            <p:nvPr/>
          </p:nvSpPr>
          <p:spPr>
            <a:xfrm>
              <a:off x="7295511" y="2901058"/>
              <a:ext cx="538792" cy="53879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9" name="íš1iḓe">
              <a:extLst>
                <a:ext uri="{FF2B5EF4-FFF2-40B4-BE49-F238E27FC236}">
                  <a16:creationId xmlns:a16="http://schemas.microsoft.com/office/drawing/2014/main" id="{BBFBB702-83A1-404A-9924-07E873A8C0CE}"/>
                </a:ext>
              </a:extLst>
            </p:cNvPr>
            <p:cNvSpPr/>
            <p:nvPr/>
          </p:nvSpPr>
          <p:spPr>
            <a:xfrm>
              <a:off x="7417970" y="3023740"/>
              <a:ext cx="293875" cy="293431"/>
            </a:xfrm>
            <a:custGeom>
              <a:avLst/>
              <a:gdLst>
                <a:gd name="connsiteX0" fmla="*/ 497095 w 607639"/>
                <a:gd name="connsiteY0" fmla="*/ 261992 h 606722"/>
                <a:gd name="connsiteX1" fmla="*/ 497095 w 607639"/>
                <a:gd name="connsiteY1" fmla="*/ 468794 h 606722"/>
                <a:gd name="connsiteX2" fmla="*/ 524775 w 607639"/>
                <a:gd name="connsiteY2" fmla="*/ 468794 h 606722"/>
                <a:gd name="connsiteX3" fmla="*/ 524775 w 607639"/>
                <a:gd name="connsiteY3" fmla="*/ 261992 h 606722"/>
                <a:gd name="connsiteX4" fmla="*/ 414320 w 607639"/>
                <a:gd name="connsiteY4" fmla="*/ 261992 h 606722"/>
                <a:gd name="connsiteX5" fmla="*/ 414320 w 607639"/>
                <a:gd name="connsiteY5" fmla="*/ 468794 h 606722"/>
                <a:gd name="connsiteX6" fmla="*/ 469503 w 607639"/>
                <a:gd name="connsiteY6" fmla="*/ 468794 h 606722"/>
                <a:gd name="connsiteX7" fmla="*/ 469503 w 607639"/>
                <a:gd name="connsiteY7" fmla="*/ 261992 h 606722"/>
                <a:gd name="connsiteX8" fmla="*/ 359047 w 607639"/>
                <a:gd name="connsiteY8" fmla="*/ 261992 h 606722"/>
                <a:gd name="connsiteX9" fmla="*/ 359047 w 607639"/>
                <a:gd name="connsiteY9" fmla="*/ 468794 h 606722"/>
                <a:gd name="connsiteX10" fmla="*/ 386639 w 607639"/>
                <a:gd name="connsiteY10" fmla="*/ 468794 h 606722"/>
                <a:gd name="connsiteX11" fmla="*/ 386639 w 607639"/>
                <a:gd name="connsiteY11" fmla="*/ 261992 h 606722"/>
                <a:gd name="connsiteX12" fmla="*/ 276183 w 607639"/>
                <a:gd name="connsiteY12" fmla="*/ 261992 h 606722"/>
                <a:gd name="connsiteX13" fmla="*/ 276183 w 607639"/>
                <a:gd name="connsiteY13" fmla="*/ 468794 h 606722"/>
                <a:gd name="connsiteX14" fmla="*/ 331456 w 607639"/>
                <a:gd name="connsiteY14" fmla="*/ 468794 h 606722"/>
                <a:gd name="connsiteX15" fmla="*/ 331456 w 607639"/>
                <a:gd name="connsiteY15" fmla="*/ 261992 h 606722"/>
                <a:gd name="connsiteX16" fmla="*/ 220911 w 607639"/>
                <a:gd name="connsiteY16" fmla="*/ 261992 h 606722"/>
                <a:gd name="connsiteX17" fmla="*/ 220911 w 607639"/>
                <a:gd name="connsiteY17" fmla="*/ 468794 h 606722"/>
                <a:gd name="connsiteX18" fmla="*/ 248592 w 607639"/>
                <a:gd name="connsiteY18" fmla="*/ 468794 h 606722"/>
                <a:gd name="connsiteX19" fmla="*/ 248592 w 607639"/>
                <a:gd name="connsiteY19" fmla="*/ 261992 h 606722"/>
                <a:gd name="connsiteX20" fmla="*/ 138136 w 607639"/>
                <a:gd name="connsiteY20" fmla="*/ 261992 h 606722"/>
                <a:gd name="connsiteX21" fmla="*/ 138136 w 607639"/>
                <a:gd name="connsiteY21" fmla="*/ 468794 h 606722"/>
                <a:gd name="connsiteX22" fmla="*/ 193319 w 607639"/>
                <a:gd name="connsiteY22" fmla="*/ 468794 h 606722"/>
                <a:gd name="connsiteX23" fmla="*/ 193319 w 607639"/>
                <a:gd name="connsiteY23" fmla="*/ 261992 h 606722"/>
                <a:gd name="connsiteX24" fmla="*/ 82864 w 607639"/>
                <a:gd name="connsiteY24" fmla="*/ 261992 h 606722"/>
                <a:gd name="connsiteX25" fmla="*/ 82864 w 607639"/>
                <a:gd name="connsiteY25" fmla="*/ 468794 h 606722"/>
                <a:gd name="connsiteX26" fmla="*/ 110455 w 607639"/>
                <a:gd name="connsiteY26" fmla="*/ 468794 h 606722"/>
                <a:gd name="connsiteX27" fmla="*/ 110455 w 607639"/>
                <a:gd name="connsiteY27" fmla="*/ 261992 h 606722"/>
                <a:gd name="connsiteX28" fmla="*/ 303820 w 607639"/>
                <a:gd name="connsiteY28" fmla="*/ 110294 h 606722"/>
                <a:gd name="connsiteX29" fmla="*/ 331447 w 607639"/>
                <a:gd name="connsiteY29" fmla="*/ 137885 h 606722"/>
                <a:gd name="connsiteX30" fmla="*/ 303820 w 607639"/>
                <a:gd name="connsiteY30" fmla="*/ 165476 h 606722"/>
                <a:gd name="connsiteX31" fmla="*/ 276193 w 607639"/>
                <a:gd name="connsiteY31" fmla="*/ 137885 h 606722"/>
                <a:gd name="connsiteX32" fmla="*/ 303820 w 607639"/>
                <a:gd name="connsiteY32" fmla="*/ 110294 h 606722"/>
                <a:gd name="connsiteX33" fmla="*/ 303775 w 607639"/>
                <a:gd name="connsiteY33" fmla="*/ 27550 h 606722"/>
                <a:gd name="connsiteX34" fmla="*/ 174005 w 607639"/>
                <a:gd name="connsiteY34" fmla="*/ 103446 h 606722"/>
                <a:gd name="connsiteX35" fmla="*/ 299681 w 607639"/>
                <a:gd name="connsiteY35" fmla="*/ 56522 h 606722"/>
                <a:gd name="connsiteX36" fmla="*/ 309293 w 607639"/>
                <a:gd name="connsiteY36" fmla="*/ 55189 h 606722"/>
                <a:gd name="connsiteX37" fmla="*/ 434969 w 607639"/>
                <a:gd name="connsiteY37" fmla="*/ 102024 h 606722"/>
                <a:gd name="connsiteX38" fmla="*/ 303775 w 607639"/>
                <a:gd name="connsiteY38" fmla="*/ 27550 h 606722"/>
                <a:gd name="connsiteX39" fmla="*/ 303775 w 607639"/>
                <a:gd name="connsiteY39" fmla="*/ 0 h 606722"/>
                <a:gd name="connsiteX40" fmla="*/ 470927 w 607639"/>
                <a:gd name="connsiteY40" fmla="*/ 115799 h 606722"/>
                <a:gd name="connsiteX41" fmla="*/ 570346 w 607639"/>
                <a:gd name="connsiteY41" fmla="*/ 153036 h 606722"/>
                <a:gd name="connsiteX42" fmla="*/ 579958 w 607639"/>
                <a:gd name="connsiteY42" fmla="*/ 165478 h 606722"/>
                <a:gd name="connsiteX43" fmla="*/ 579958 w 607639"/>
                <a:gd name="connsiteY43" fmla="*/ 193028 h 606722"/>
                <a:gd name="connsiteX44" fmla="*/ 579958 w 607639"/>
                <a:gd name="connsiteY44" fmla="*/ 248217 h 606722"/>
                <a:gd name="connsiteX45" fmla="*/ 566163 w 607639"/>
                <a:gd name="connsiteY45" fmla="*/ 261992 h 606722"/>
                <a:gd name="connsiteX46" fmla="*/ 552367 w 607639"/>
                <a:gd name="connsiteY46" fmla="*/ 261992 h 606722"/>
                <a:gd name="connsiteX47" fmla="*/ 552367 w 607639"/>
                <a:gd name="connsiteY47" fmla="*/ 468794 h 606722"/>
                <a:gd name="connsiteX48" fmla="*/ 566163 w 607639"/>
                <a:gd name="connsiteY48" fmla="*/ 468794 h 606722"/>
                <a:gd name="connsiteX49" fmla="*/ 579958 w 607639"/>
                <a:gd name="connsiteY49" fmla="*/ 482569 h 606722"/>
                <a:gd name="connsiteX50" fmla="*/ 566163 w 607639"/>
                <a:gd name="connsiteY50" fmla="*/ 496344 h 606722"/>
                <a:gd name="connsiteX51" fmla="*/ 538571 w 607639"/>
                <a:gd name="connsiteY51" fmla="*/ 496344 h 606722"/>
                <a:gd name="connsiteX52" fmla="*/ 483299 w 607639"/>
                <a:gd name="connsiteY52" fmla="*/ 496344 h 606722"/>
                <a:gd name="connsiteX53" fmla="*/ 400435 w 607639"/>
                <a:gd name="connsiteY53" fmla="*/ 496344 h 606722"/>
                <a:gd name="connsiteX54" fmla="*/ 345252 w 607639"/>
                <a:gd name="connsiteY54" fmla="*/ 496344 h 606722"/>
                <a:gd name="connsiteX55" fmla="*/ 262387 w 607639"/>
                <a:gd name="connsiteY55" fmla="*/ 496344 h 606722"/>
                <a:gd name="connsiteX56" fmla="*/ 207115 w 607639"/>
                <a:gd name="connsiteY56" fmla="*/ 496344 h 606722"/>
                <a:gd name="connsiteX57" fmla="*/ 124251 w 607639"/>
                <a:gd name="connsiteY57" fmla="*/ 496344 h 606722"/>
                <a:gd name="connsiteX58" fmla="*/ 69068 w 607639"/>
                <a:gd name="connsiteY58" fmla="*/ 496344 h 606722"/>
                <a:gd name="connsiteX59" fmla="*/ 55272 w 607639"/>
                <a:gd name="connsiteY59" fmla="*/ 496344 h 606722"/>
                <a:gd name="connsiteX60" fmla="*/ 55272 w 607639"/>
                <a:gd name="connsiteY60" fmla="*/ 537758 h 606722"/>
                <a:gd name="connsiteX61" fmla="*/ 41387 w 607639"/>
                <a:gd name="connsiteY61" fmla="*/ 551533 h 606722"/>
                <a:gd name="connsiteX62" fmla="*/ 27592 w 607639"/>
                <a:gd name="connsiteY62" fmla="*/ 551533 h 606722"/>
                <a:gd name="connsiteX63" fmla="*/ 27592 w 607639"/>
                <a:gd name="connsiteY63" fmla="*/ 579083 h 606722"/>
                <a:gd name="connsiteX64" fmla="*/ 579958 w 607639"/>
                <a:gd name="connsiteY64" fmla="*/ 579083 h 606722"/>
                <a:gd name="connsiteX65" fmla="*/ 579958 w 607639"/>
                <a:gd name="connsiteY65" fmla="*/ 551533 h 606722"/>
                <a:gd name="connsiteX66" fmla="*/ 96660 w 607639"/>
                <a:gd name="connsiteY66" fmla="*/ 551533 h 606722"/>
                <a:gd name="connsiteX67" fmla="*/ 82864 w 607639"/>
                <a:gd name="connsiteY67" fmla="*/ 537758 h 606722"/>
                <a:gd name="connsiteX68" fmla="*/ 96660 w 607639"/>
                <a:gd name="connsiteY68" fmla="*/ 523983 h 606722"/>
                <a:gd name="connsiteX69" fmla="*/ 593843 w 607639"/>
                <a:gd name="connsiteY69" fmla="*/ 523983 h 606722"/>
                <a:gd name="connsiteX70" fmla="*/ 607639 w 607639"/>
                <a:gd name="connsiteY70" fmla="*/ 537758 h 606722"/>
                <a:gd name="connsiteX71" fmla="*/ 607639 w 607639"/>
                <a:gd name="connsiteY71" fmla="*/ 592947 h 606722"/>
                <a:gd name="connsiteX72" fmla="*/ 593843 w 607639"/>
                <a:gd name="connsiteY72" fmla="*/ 606722 h 606722"/>
                <a:gd name="connsiteX73" fmla="*/ 13796 w 607639"/>
                <a:gd name="connsiteY73" fmla="*/ 606722 h 606722"/>
                <a:gd name="connsiteX74" fmla="*/ 0 w 607639"/>
                <a:gd name="connsiteY74" fmla="*/ 592947 h 606722"/>
                <a:gd name="connsiteX75" fmla="*/ 0 w 607639"/>
                <a:gd name="connsiteY75" fmla="*/ 537758 h 606722"/>
                <a:gd name="connsiteX76" fmla="*/ 13796 w 607639"/>
                <a:gd name="connsiteY76" fmla="*/ 523983 h 606722"/>
                <a:gd name="connsiteX77" fmla="*/ 27592 w 607639"/>
                <a:gd name="connsiteY77" fmla="*/ 523983 h 606722"/>
                <a:gd name="connsiteX78" fmla="*/ 27592 w 607639"/>
                <a:gd name="connsiteY78" fmla="*/ 482569 h 606722"/>
                <a:gd name="connsiteX79" fmla="*/ 41387 w 607639"/>
                <a:gd name="connsiteY79" fmla="*/ 468794 h 606722"/>
                <a:gd name="connsiteX80" fmla="*/ 55272 w 607639"/>
                <a:gd name="connsiteY80" fmla="*/ 468794 h 606722"/>
                <a:gd name="connsiteX81" fmla="*/ 55272 w 607639"/>
                <a:gd name="connsiteY81" fmla="*/ 261992 h 606722"/>
                <a:gd name="connsiteX82" fmla="*/ 41387 w 607639"/>
                <a:gd name="connsiteY82" fmla="*/ 261992 h 606722"/>
                <a:gd name="connsiteX83" fmla="*/ 27592 w 607639"/>
                <a:gd name="connsiteY83" fmla="*/ 248217 h 606722"/>
                <a:gd name="connsiteX84" fmla="*/ 41387 w 607639"/>
                <a:gd name="connsiteY84" fmla="*/ 234442 h 606722"/>
                <a:gd name="connsiteX85" fmla="*/ 69068 w 607639"/>
                <a:gd name="connsiteY85" fmla="*/ 234442 h 606722"/>
                <a:gd name="connsiteX86" fmla="*/ 124251 w 607639"/>
                <a:gd name="connsiteY86" fmla="*/ 234442 h 606722"/>
                <a:gd name="connsiteX87" fmla="*/ 207115 w 607639"/>
                <a:gd name="connsiteY87" fmla="*/ 234442 h 606722"/>
                <a:gd name="connsiteX88" fmla="*/ 262387 w 607639"/>
                <a:gd name="connsiteY88" fmla="*/ 234442 h 606722"/>
                <a:gd name="connsiteX89" fmla="*/ 345252 w 607639"/>
                <a:gd name="connsiteY89" fmla="*/ 234442 h 606722"/>
                <a:gd name="connsiteX90" fmla="*/ 400435 w 607639"/>
                <a:gd name="connsiteY90" fmla="*/ 234442 h 606722"/>
                <a:gd name="connsiteX91" fmla="*/ 483299 w 607639"/>
                <a:gd name="connsiteY91" fmla="*/ 234442 h 606722"/>
                <a:gd name="connsiteX92" fmla="*/ 538571 w 607639"/>
                <a:gd name="connsiteY92" fmla="*/ 234442 h 606722"/>
                <a:gd name="connsiteX93" fmla="*/ 552367 w 607639"/>
                <a:gd name="connsiteY93" fmla="*/ 234442 h 606722"/>
                <a:gd name="connsiteX94" fmla="*/ 552367 w 607639"/>
                <a:gd name="connsiteY94" fmla="*/ 193028 h 606722"/>
                <a:gd name="connsiteX95" fmla="*/ 552367 w 607639"/>
                <a:gd name="connsiteY95" fmla="*/ 175076 h 606722"/>
                <a:gd name="connsiteX96" fmla="*/ 303775 w 607639"/>
                <a:gd name="connsiteY96" fmla="*/ 84072 h 606722"/>
                <a:gd name="connsiteX97" fmla="*/ 55272 w 607639"/>
                <a:gd name="connsiteY97" fmla="*/ 175076 h 606722"/>
                <a:gd name="connsiteX98" fmla="*/ 55272 w 607639"/>
                <a:gd name="connsiteY98" fmla="*/ 179253 h 606722"/>
                <a:gd name="connsiteX99" fmla="*/ 510979 w 607639"/>
                <a:gd name="connsiteY99" fmla="*/ 179253 h 606722"/>
                <a:gd name="connsiteX100" fmla="*/ 524775 w 607639"/>
                <a:gd name="connsiteY100" fmla="*/ 193028 h 606722"/>
                <a:gd name="connsiteX101" fmla="*/ 510979 w 607639"/>
                <a:gd name="connsiteY101" fmla="*/ 206803 h 606722"/>
                <a:gd name="connsiteX102" fmla="*/ 41387 w 607639"/>
                <a:gd name="connsiteY102" fmla="*/ 206803 h 606722"/>
                <a:gd name="connsiteX103" fmla="*/ 27592 w 607639"/>
                <a:gd name="connsiteY103" fmla="*/ 193028 h 606722"/>
                <a:gd name="connsiteX104" fmla="*/ 27592 w 607639"/>
                <a:gd name="connsiteY104" fmla="*/ 165478 h 606722"/>
                <a:gd name="connsiteX105" fmla="*/ 37293 w 607639"/>
                <a:gd name="connsiteY105" fmla="*/ 153036 h 606722"/>
                <a:gd name="connsiteX106" fmla="*/ 136712 w 607639"/>
                <a:gd name="connsiteY106" fmla="*/ 115799 h 606722"/>
                <a:gd name="connsiteX107" fmla="*/ 303775 w 607639"/>
                <a:gd name="connsiteY107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607639" h="606722">
                  <a:moveTo>
                    <a:pt x="497095" y="261992"/>
                  </a:moveTo>
                  <a:lnTo>
                    <a:pt x="497095" y="468794"/>
                  </a:lnTo>
                  <a:lnTo>
                    <a:pt x="524775" y="468794"/>
                  </a:lnTo>
                  <a:lnTo>
                    <a:pt x="524775" y="261992"/>
                  </a:lnTo>
                  <a:close/>
                  <a:moveTo>
                    <a:pt x="414320" y="261992"/>
                  </a:moveTo>
                  <a:lnTo>
                    <a:pt x="414320" y="468794"/>
                  </a:lnTo>
                  <a:lnTo>
                    <a:pt x="469503" y="468794"/>
                  </a:lnTo>
                  <a:lnTo>
                    <a:pt x="469503" y="261992"/>
                  </a:lnTo>
                  <a:close/>
                  <a:moveTo>
                    <a:pt x="359047" y="261992"/>
                  </a:moveTo>
                  <a:lnTo>
                    <a:pt x="359047" y="468794"/>
                  </a:lnTo>
                  <a:lnTo>
                    <a:pt x="386639" y="468794"/>
                  </a:lnTo>
                  <a:lnTo>
                    <a:pt x="386639" y="261992"/>
                  </a:lnTo>
                  <a:close/>
                  <a:moveTo>
                    <a:pt x="276183" y="261992"/>
                  </a:moveTo>
                  <a:lnTo>
                    <a:pt x="276183" y="468794"/>
                  </a:lnTo>
                  <a:lnTo>
                    <a:pt x="331456" y="468794"/>
                  </a:lnTo>
                  <a:lnTo>
                    <a:pt x="331456" y="261992"/>
                  </a:lnTo>
                  <a:close/>
                  <a:moveTo>
                    <a:pt x="220911" y="261992"/>
                  </a:moveTo>
                  <a:lnTo>
                    <a:pt x="220911" y="468794"/>
                  </a:lnTo>
                  <a:lnTo>
                    <a:pt x="248592" y="468794"/>
                  </a:lnTo>
                  <a:lnTo>
                    <a:pt x="248592" y="261992"/>
                  </a:lnTo>
                  <a:close/>
                  <a:moveTo>
                    <a:pt x="138136" y="261992"/>
                  </a:moveTo>
                  <a:lnTo>
                    <a:pt x="138136" y="468794"/>
                  </a:lnTo>
                  <a:lnTo>
                    <a:pt x="193319" y="468794"/>
                  </a:lnTo>
                  <a:lnTo>
                    <a:pt x="193319" y="261992"/>
                  </a:lnTo>
                  <a:close/>
                  <a:moveTo>
                    <a:pt x="82864" y="261992"/>
                  </a:moveTo>
                  <a:lnTo>
                    <a:pt x="82864" y="468794"/>
                  </a:lnTo>
                  <a:lnTo>
                    <a:pt x="110455" y="468794"/>
                  </a:lnTo>
                  <a:lnTo>
                    <a:pt x="110455" y="261992"/>
                  </a:lnTo>
                  <a:close/>
                  <a:moveTo>
                    <a:pt x="303820" y="110294"/>
                  </a:moveTo>
                  <a:cubicBezTo>
                    <a:pt x="319078" y="110294"/>
                    <a:pt x="331447" y="122647"/>
                    <a:pt x="331447" y="137885"/>
                  </a:cubicBezTo>
                  <a:cubicBezTo>
                    <a:pt x="331447" y="153123"/>
                    <a:pt x="319078" y="165476"/>
                    <a:pt x="303820" y="165476"/>
                  </a:cubicBezTo>
                  <a:cubicBezTo>
                    <a:pt x="288562" y="165476"/>
                    <a:pt x="276193" y="153123"/>
                    <a:pt x="276193" y="137885"/>
                  </a:cubicBezTo>
                  <a:cubicBezTo>
                    <a:pt x="276193" y="122647"/>
                    <a:pt x="288562" y="110294"/>
                    <a:pt x="303820" y="110294"/>
                  </a:cubicBezTo>
                  <a:close/>
                  <a:moveTo>
                    <a:pt x="303775" y="27550"/>
                  </a:moveTo>
                  <a:cubicBezTo>
                    <a:pt x="248592" y="27550"/>
                    <a:pt x="198838" y="57944"/>
                    <a:pt x="174005" y="103446"/>
                  </a:cubicBezTo>
                  <a:lnTo>
                    <a:pt x="299681" y="56522"/>
                  </a:lnTo>
                  <a:cubicBezTo>
                    <a:pt x="302440" y="55189"/>
                    <a:pt x="305199" y="55189"/>
                    <a:pt x="309293" y="55189"/>
                  </a:cubicBezTo>
                  <a:lnTo>
                    <a:pt x="434969" y="102024"/>
                  </a:lnTo>
                  <a:cubicBezTo>
                    <a:pt x="408712" y="57944"/>
                    <a:pt x="359047" y="27550"/>
                    <a:pt x="303775" y="27550"/>
                  </a:cubicBezTo>
                  <a:close/>
                  <a:moveTo>
                    <a:pt x="303775" y="0"/>
                  </a:moveTo>
                  <a:cubicBezTo>
                    <a:pt x="379786" y="0"/>
                    <a:pt x="446006" y="48257"/>
                    <a:pt x="470927" y="115799"/>
                  </a:cubicBezTo>
                  <a:lnTo>
                    <a:pt x="570346" y="153036"/>
                  </a:lnTo>
                  <a:cubicBezTo>
                    <a:pt x="575864" y="154458"/>
                    <a:pt x="579958" y="159968"/>
                    <a:pt x="579958" y="165478"/>
                  </a:cubicBezTo>
                  <a:lnTo>
                    <a:pt x="579958" y="193028"/>
                  </a:lnTo>
                  <a:lnTo>
                    <a:pt x="579958" y="248217"/>
                  </a:lnTo>
                  <a:cubicBezTo>
                    <a:pt x="579958" y="256482"/>
                    <a:pt x="574440" y="261992"/>
                    <a:pt x="566163" y="261992"/>
                  </a:cubicBezTo>
                  <a:lnTo>
                    <a:pt x="552367" y="261992"/>
                  </a:lnTo>
                  <a:lnTo>
                    <a:pt x="552367" y="468794"/>
                  </a:lnTo>
                  <a:lnTo>
                    <a:pt x="566163" y="468794"/>
                  </a:lnTo>
                  <a:cubicBezTo>
                    <a:pt x="574440" y="468794"/>
                    <a:pt x="579958" y="474304"/>
                    <a:pt x="579958" y="482569"/>
                  </a:cubicBezTo>
                  <a:cubicBezTo>
                    <a:pt x="579958" y="490834"/>
                    <a:pt x="574440" y="496344"/>
                    <a:pt x="566163" y="496344"/>
                  </a:cubicBezTo>
                  <a:lnTo>
                    <a:pt x="538571" y="496344"/>
                  </a:lnTo>
                  <a:lnTo>
                    <a:pt x="483299" y="496344"/>
                  </a:lnTo>
                  <a:lnTo>
                    <a:pt x="400435" y="496344"/>
                  </a:lnTo>
                  <a:lnTo>
                    <a:pt x="345252" y="496344"/>
                  </a:lnTo>
                  <a:lnTo>
                    <a:pt x="262387" y="496344"/>
                  </a:lnTo>
                  <a:lnTo>
                    <a:pt x="207115" y="496344"/>
                  </a:lnTo>
                  <a:lnTo>
                    <a:pt x="124251" y="496344"/>
                  </a:lnTo>
                  <a:lnTo>
                    <a:pt x="69068" y="496344"/>
                  </a:lnTo>
                  <a:lnTo>
                    <a:pt x="55272" y="496344"/>
                  </a:lnTo>
                  <a:lnTo>
                    <a:pt x="55272" y="537758"/>
                  </a:lnTo>
                  <a:cubicBezTo>
                    <a:pt x="55272" y="546023"/>
                    <a:pt x="49754" y="551533"/>
                    <a:pt x="41387" y="551533"/>
                  </a:cubicBezTo>
                  <a:lnTo>
                    <a:pt x="27592" y="551533"/>
                  </a:lnTo>
                  <a:lnTo>
                    <a:pt x="27592" y="579083"/>
                  </a:lnTo>
                  <a:lnTo>
                    <a:pt x="579958" y="579083"/>
                  </a:lnTo>
                  <a:lnTo>
                    <a:pt x="579958" y="551533"/>
                  </a:lnTo>
                  <a:lnTo>
                    <a:pt x="96660" y="551533"/>
                  </a:lnTo>
                  <a:cubicBezTo>
                    <a:pt x="88382" y="551533"/>
                    <a:pt x="82864" y="546023"/>
                    <a:pt x="82864" y="537758"/>
                  </a:cubicBezTo>
                  <a:cubicBezTo>
                    <a:pt x="82864" y="529493"/>
                    <a:pt x="88382" y="523983"/>
                    <a:pt x="96660" y="523983"/>
                  </a:cubicBezTo>
                  <a:lnTo>
                    <a:pt x="593843" y="523983"/>
                  </a:lnTo>
                  <a:cubicBezTo>
                    <a:pt x="602121" y="523983"/>
                    <a:pt x="607639" y="529493"/>
                    <a:pt x="607639" y="537758"/>
                  </a:cubicBezTo>
                  <a:lnTo>
                    <a:pt x="607639" y="592947"/>
                  </a:lnTo>
                  <a:cubicBezTo>
                    <a:pt x="607639" y="601212"/>
                    <a:pt x="602121" y="606722"/>
                    <a:pt x="593843" y="606722"/>
                  </a:cubicBezTo>
                  <a:lnTo>
                    <a:pt x="13796" y="606722"/>
                  </a:lnTo>
                  <a:cubicBezTo>
                    <a:pt x="5518" y="606722"/>
                    <a:pt x="0" y="601212"/>
                    <a:pt x="0" y="592947"/>
                  </a:cubicBezTo>
                  <a:lnTo>
                    <a:pt x="0" y="537758"/>
                  </a:lnTo>
                  <a:cubicBezTo>
                    <a:pt x="0" y="529493"/>
                    <a:pt x="5518" y="523983"/>
                    <a:pt x="13796" y="523983"/>
                  </a:cubicBezTo>
                  <a:lnTo>
                    <a:pt x="27592" y="523983"/>
                  </a:lnTo>
                  <a:lnTo>
                    <a:pt x="27592" y="482569"/>
                  </a:lnTo>
                  <a:cubicBezTo>
                    <a:pt x="27592" y="474304"/>
                    <a:pt x="33110" y="468794"/>
                    <a:pt x="41387" y="468794"/>
                  </a:cubicBezTo>
                  <a:lnTo>
                    <a:pt x="55272" y="468794"/>
                  </a:lnTo>
                  <a:lnTo>
                    <a:pt x="55272" y="261992"/>
                  </a:lnTo>
                  <a:lnTo>
                    <a:pt x="41387" y="261992"/>
                  </a:lnTo>
                  <a:cubicBezTo>
                    <a:pt x="33110" y="261992"/>
                    <a:pt x="27592" y="256482"/>
                    <a:pt x="27592" y="248217"/>
                  </a:cubicBezTo>
                  <a:cubicBezTo>
                    <a:pt x="27592" y="239952"/>
                    <a:pt x="33110" y="234442"/>
                    <a:pt x="41387" y="234442"/>
                  </a:cubicBezTo>
                  <a:lnTo>
                    <a:pt x="69068" y="234442"/>
                  </a:lnTo>
                  <a:lnTo>
                    <a:pt x="124251" y="234442"/>
                  </a:lnTo>
                  <a:lnTo>
                    <a:pt x="207115" y="234442"/>
                  </a:lnTo>
                  <a:lnTo>
                    <a:pt x="262387" y="234442"/>
                  </a:lnTo>
                  <a:lnTo>
                    <a:pt x="345252" y="234442"/>
                  </a:lnTo>
                  <a:lnTo>
                    <a:pt x="400435" y="234442"/>
                  </a:lnTo>
                  <a:lnTo>
                    <a:pt x="483299" y="234442"/>
                  </a:lnTo>
                  <a:lnTo>
                    <a:pt x="538571" y="234442"/>
                  </a:lnTo>
                  <a:lnTo>
                    <a:pt x="552367" y="234442"/>
                  </a:lnTo>
                  <a:lnTo>
                    <a:pt x="552367" y="193028"/>
                  </a:lnTo>
                  <a:lnTo>
                    <a:pt x="552367" y="175076"/>
                  </a:lnTo>
                  <a:lnTo>
                    <a:pt x="303775" y="84072"/>
                  </a:lnTo>
                  <a:lnTo>
                    <a:pt x="55272" y="175076"/>
                  </a:lnTo>
                  <a:lnTo>
                    <a:pt x="55272" y="179253"/>
                  </a:lnTo>
                  <a:lnTo>
                    <a:pt x="510979" y="179253"/>
                  </a:lnTo>
                  <a:cubicBezTo>
                    <a:pt x="519257" y="179253"/>
                    <a:pt x="524775" y="184763"/>
                    <a:pt x="524775" y="193028"/>
                  </a:cubicBezTo>
                  <a:cubicBezTo>
                    <a:pt x="524775" y="201293"/>
                    <a:pt x="519257" y="206803"/>
                    <a:pt x="510979" y="206803"/>
                  </a:cubicBezTo>
                  <a:lnTo>
                    <a:pt x="41387" y="206803"/>
                  </a:lnTo>
                  <a:cubicBezTo>
                    <a:pt x="33110" y="206803"/>
                    <a:pt x="27592" y="201293"/>
                    <a:pt x="27592" y="193028"/>
                  </a:cubicBezTo>
                  <a:lnTo>
                    <a:pt x="27592" y="165478"/>
                  </a:lnTo>
                  <a:cubicBezTo>
                    <a:pt x="27592" y="159968"/>
                    <a:pt x="31775" y="154458"/>
                    <a:pt x="37293" y="153036"/>
                  </a:cubicBezTo>
                  <a:lnTo>
                    <a:pt x="136712" y="115799"/>
                  </a:lnTo>
                  <a:cubicBezTo>
                    <a:pt x="161545" y="48257"/>
                    <a:pt x="227853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32" name="ïṧľïḓé">
              <a:extLst>
                <a:ext uri="{FF2B5EF4-FFF2-40B4-BE49-F238E27FC236}">
                  <a16:creationId xmlns:a16="http://schemas.microsoft.com/office/drawing/2014/main" id="{2B92EFC2-E412-4F49-9D5D-6AC7290BA092}"/>
                </a:ext>
              </a:extLst>
            </p:cNvPr>
            <p:cNvSpPr/>
            <p:nvPr/>
          </p:nvSpPr>
          <p:spPr>
            <a:xfrm>
              <a:off x="10159950" y="2896148"/>
              <a:ext cx="538792" cy="53879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dirty="0"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33" name="ís1iḍé">
              <a:extLst>
                <a:ext uri="{FF2B5EF4-FFF2-40B4-BE49-F238E27FC236}">
                  <a16:creationId xmlns:a16="http://schemas.microsoft.com/office/drawing/2014/main" id="{B2F7EE41-31BD-45E6-AF99-61F8E57DE844}"/>
                </a:ext>
              </a:extLst>
            </p:cNvPr>
            <p:cNvSpPr/>
            <p:nvPr/>
          </p:nvSpPr>
          <p:spPr>
            <a:xfrm>
              <a:off x="10282408" y="2976125"/>
              <a:ext cx="293875" cy="293412"/>
            </a:xfrm>
            <a:custGeom>
              <a:avLst/>
              <a:gdLst>
                <a:gd name="connsiteX0" fmla="*/ 325000 h 606722"/>
                <a:gd name="connsiteY0" fmla="*/ 325000 h 606722"/>
                <a:gd name="connsiteX1" fmla="*/ 325000 h 606722"/>
                <a:gd name="connsiteY1" fmla="*/ 325000 h 606722"/>
                <a:gd name="connsiteX2" fmla="*/ 325000 h 606722"/>
                <a:gd name="connsiteY2" fmla="*/ 325000 h 606722"/>
                <a:gd name="connsiteX3" fmla="*/ 325000 h 606722"/>
                <a:gd name="connsiteY3" fmla="*/ 325000 h 606722"/>
                <a:gd name="connsiteX4" fmla="*/ 325000 h 606722"/>
                <a:gd name="connsiteY4" fmla="*/ 325000 h 606722"/>
                <a:gd name="connsiteX5" fmla="*/ 325000 h 606722"/>
                <a:gd name="connsiteY5" fmla="*/ 325000 h 606722"/>
                <a:gd name="connsiteX6" fmla="*/ 325000 h 606722"/>
                <a:gd name="connsiteY6" fmla="*/ 325000 h 606722"/>
                <a:gd name="connsiteX7" fmla="*/ 325000 h 606722"/>
                <a:gd name="connsiteY7" fmla="*/ 325000 h 606722"/>
                <a:gd name="connsiteX8" fmla="*/ 325000 h 606722"/>
                <a:gd name="connsiteY8" fmla="*/ 325000 h 606722"/>
                <a:gd name="connsiteX9" fmla="*/ 325000 h 606722"/>
                <a:gd name="connsiteY9" fmla="*/ 325000 h 606722"/>
                <a:gd name="connsiteX10" fmla="*/ 325000 h 606722"/>
                <a:gd name="connsiteY10" fmla="*/ 325000 h 606722"/>
                <a:gd name="connsiteX11" fmla="*/ 325000 h 606722"/>
                <a:gd name="connsiteY11" fmla="*/ 325000 h 606722"/>
                <a:gd name="connsiteX12" fmla="*/ 325000 h 606722"/>
                <a:gd name="connsiteY12" fmla="*/ 325000 h 606722"/>
                <a:gd name="connsiteX13" fmla="*/ 325000 h 606722"/>
                <a:gd name="connsiteY13" fmla="*/ 325000 h 606722"/>
                <a:gd name="connsiteX14" fmla="*/ 325000 h 606722"/>
                <a:gd name="connsiteY14" fmla="*/ 325000 h 606722"/>
                <a:gd name="connsiteX15" fmla="*/ 325000 h 606722"/>
                <a:gd name="connsiteY15" fmla="*/ 325000 h 606722"/>
                <a:gd name="connsiteX16" fmla="*/ 325000 h 606722"/>
                <a:gd name="connsiteY16" fmla="*/ 325000 h 606722"/>
                <a:gd name="connsiteX17" fmla="*/ 325000 h 606722"/>
                <a:gd name="connsiteY17" fmla="*/ 325000 h 606722"/>
                <a:gd name="connsiteX18" fmla="*/ 325000 h 606722"/>
                <a:gd name="connsiteY18" fmla="*/ 325000 h 606722"/>
                <a:gd name="connsiteX19" fmla="*/ 325000 h 606722"/>
                <a:gd name="connsiteY19" fmla="*/ 325000 h 606722"/>
                <a:gd name="connsiteX20" fmla="*/ 325000 h 606722"/>
                <a:gd name="connsiteY20" fmla="*/ 325000 h 606722"/>
                <a:gd name="connsiteX21" fmla="*/ 325000 h 606722"/>
                <a:gd name="connsiteY21" fmla="*/ 325000 h 606722"/>
                <a:gd name="connsiteX22" fmla="*/ 325000 h 606722"/>
                <a:gd name="connsiteY22" fmla="*/ 325000 h 606722"/>
                <a:gd name="connsiteX23" fmla="*/ 325000 h 606722"/>
                <a:gd name="connsiteY23" fmla="*/ 325000 h 606722"/>
                <a:gd name="connsiteX24" fmla="*/ 325000 h 606722"/>
                <a:gd name="connsiteY24" fmla="*/ 325000 h 606722"/>
                <a:gd name="connsiteX25" fmla="*/ 325000 h 606722"/>
                <a:gd name="connsiteY25" fmla="*/ 325000 h 606722"/>
                <a:gd name="connsiteX26" fmla="*/ 325000 h 606722"/>
                <a:gd name="connsiteY26" fmla="*/ 325000 h 606722"/>
                <a:gd name="connsiteX27" fmla="*/ 325000 h 606722"/>
                <a:gd name="connsiteY27" fmla="*/ 325000 h 606722"/>
                <a:gd name="connsiteX28" fmla="*/ 325000 h 606722"/>
                <a:gd name="connsiteY28" fmla="*/ 325000 h 606722"/>
                <a:gd name="connsiteX29" fmla="*/ 325000 h 606722"/>
                <a:gd name="connsiteY29" fmla="*/ 325000 h 606722"/>
                <a:gd name="connsiteX30" fmla="*/ 325000 h 606722"/>
                <a:gd name="connsiteY30" fmla="*/ 325000 h 606722"/>
                <a:gd name="connsiteX31" fmla="*/ 325000 h 606722"/>
                <a:gd name="connsiteY31" fmla="*/ 325000 h 606722"/>
                <a:gd name="connsiteX32" fmla="*/ 325000 h 606722"/>
                <a:gd name="connsiteY32" fmla="*/ 325000 h 606722"/>
                <a:gd name="connsiteX33" fmla="*/ 325000 h 606722"/>
                <a:gd name="connsiteY33" fmla="*/ 325000 h 606722"/>
                <a:gd name="connsiteX34" fmla="*/ 325000 h 606722"/>
                <a:gd name="connsiteY34" fmla="*/ 325000 h 606722"/>
                <a:gd name="connsiteX35" fmla="*/ 325000 h 606722"/>
                <a:gd name="connsiteY35" fmla="*/ 325000 h 606722"/>
                <a:gd name="connsiteX36" fmla="*/ 325000 h 606722"/>
                <a:gd name="connsiteY36" fmla="*/ 325000 h 606722"/>
                <a:gd name="connsiteX37" fmla="*/ 325000 h 606722"/>
                <a:gd name="connsiteY37" fmla="*/ 325000 h 606722"/>
                <a:gd name="connsiteX38" fmla="*/ 325000 h 606722"/>
                <a:gd name="connsiteY38" fmla="*/ 325000 h 606722"/>
                <a:gd name="connsiteX39" fmla="*/ 325000 h 606722"/>
                <a:gd name="connsiteY39" fmla="*/ 32500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81459" h="580542">
                  <a:moveTo>
                    <a:pt x="213875" y="146706"/>
                  </a:moveTo>
                  <a:cubicBezTo>
                    <a:pt x="227226" y="146706"/>
                    <a:pt x="238084" y="157547"/>
                    <a:pt x="238084" y="171055"/>
                  </a:cubicBezTo>
                  <a:cubicBezTo>
                    <a:pt x="238084" y="184562"/>
                    <a:pt x="227226" y="195493"/>
                    <a:pt x="213875" y="195493"/>
                  </a:cubicBezTo>
                  <a:cubicBezTo>
                    <a:pt x="161630" y="195493"/>
                    <a:pt x="118998" y="238236"/>
                    <a:pt x="118998" y="290755"/>
                  </a:cubicBezTo>
                  <a:cubicBezTo>
                    <a:pt x="118998" y="300086"/>
                    <a:pt x="120422" y="309328"/>
                    <a:pt x="123092" y="318214"/>
                  </a:cubicBezTo>
                  <a:cubicBezTo>
                    <a:pt x="126741" y="330300"/>
                    <a:pt x="120422" y="343274"/>
                    <a:pt x="108673" y="347895"/>
                  </a:cubicBezTo>
                  <a:cubicBezTo>
                    <a:pt x="72182" y="362291"/>
                    <a:pt x="48507" y="397126"/>
                    <a:pt x="48507" y="436582"/>
                  </a:cubicBezTo>
                  <a:cubicBezTo>
                    <a:pt x="48507" y="489101"/>
                    <a:pt x="91050" y="531844"/>
                    <a:pt x="143384" y="531844"/>
                  </a:cubicBezTo>
                  <a:lnTo>
                    <a:pt x="438164" y="531844"/>
                  </a:lnTo>
                  <a:cubicBezTo>
                    <a:pt x="490320" y="531844"/>
                    <a:pt x="532952" y="489101"/>
                    <a:pt x="532952" y="436582"/>
                  </a:cubicBezTo>
                  <a:cubicBezTo>
                    <a:pt x="532952" y="408678"/>
                    <a:pt x="520759" y="382108"/>
                    <a:pt x="499398" y="363979"/>
                  </a:cubicBezTo>
                  <a:cubicBezTo>
                    <a:pt x="494147" y="359625"/>
                    <a:pt x="491032" y="353049"/>
                    <a:pt x="490854" y="346207"/>
                  </a:cubicBezTo>
                  <a:cubicBezTo>
                    <a:pt x="489252" y="294399"/>
                    <a:pt x="447598" y="253876"/>
                    <a:pt x="395976" y="253876"/>
                  </a:cubicBezTo>
                  <a:cubicBezTo>
                    <a:pt x="382625" y="253876"/>
                    <a:pt x="371767" y="243035"/>
                    <a:pt x="371767" y="229528"/>
                  </a:cubicBezTo>
                  <a:cubicBezTo>
                    <a:pt x="371767" y="216020"/>
                    <a:pt x="382625" y="205090"/>
                    <a:pt x="395976" y="205090"/>
                  </a:cubicBezTo>
                  <a:cubicBezTo>
                    <a:pt x="433535" y="205090"/>
                    <a:pt x="468959" y="219575"/>
                    <a:pt x="495927" y="245879"/>
                  </a:cubicBezTo>
                  <a:cubicBezTo>
                    <a:pt x="520225" y="269517"/>
                    <a:pt x="535177" y="300441"/>
                    <a:pt x="538648" y="334032"/>
                  </a:cubicBezTo>
                  <a:cubicBezTo>
                    <a:pt x="565972" y="361047"/>
                    <a:pt x="581459" y="397748"/>
                    <a:pt x="581459" y="436582"/>
                  </a:cubicBezTo>
                  <a:cubicBezTo>
                    <a:pt x="581459" y="516026"/>
                    <a:pt x="517199" y="580542"/>
                    <a:pt x="438164" y="580542"/>
                  </a:cubicBezTo>
                  <a:lnTo>
                    <a:pt x="143384" y="580542"/>
                  </a:lnTo>
                  <a:cubicBezTo>
                    <a:pt x="64349" y="580542"/>
                    <a:pt x="0" y="516026"/>
                    <a:pt x="0" y="436582"/>
                  </a:cubicBezTo>
                  <a:cubicBezTo>
                    <a:pt x="0" y="407079"/>
                    <a:pt x="8811" y="378820"/>
                    <a:pt x="25544" y="354471"/>
                  </a:cubicBezTo>
                  <a:cubicBezTo>
                    <a:pt x="37737" y="336698"/>
                    <a:pt x="53669" y="322124"/>
                    <a:pt x="72004" y="311638"/>
                  </a:cubicBezTo>
                  <a:cubicBezTo>
                    <a:pt x="70936" y="304618"/>
                    <a:pt x="70491" y="297598"/>
                    <a:pt x="70491" y="290666"/>
                  </a:cubicBezTo>
                  <a:cubicBezTo>
                    <a:pt x="70491" y="211222"/>
                    <a:pt x="134840" y="146706"/>
                    <a:pt x="213875" y="146706"/>
                  </a:cubicBezTo>
                  <a:close/>
                  <a:moveTo>
                    <a:pt x="301555" y="0"/>
                  </a:moveTo>
                  <a:cubicBezTo>
                    <a:pt x="314815" y="0"/>
                    <a:pt x="325673" y="10930"/>
                    <a:pt x="325673" y="24259"/>
                  </a:cubicBezTo>
                  <a:lnTo>
                    <a:pt x="325673" y="369392"/>
                  </a:lnTo>
                  <a:lnTo>
                    <a:pt x="379960" y="313055"/>
                  </a:lnTo>
                  <a:cubicBezTo>
                    <a:pt x="389215" y="303458"/>
                    <a:pt x="404433" y="303191"/>
                    <a:pt x="414045" y="312522"/>
                  </a:cubicBezTo>
                  <a:cubicBezTo>
                    <a:pt x="423567" y="321763"/>
                    <a:pt x="423745" y="337225"/>
                    <a:pt x="414490" y="346822"/>
                  </a:cubicBezTo>
                  <a:lnTo>
                    <a:pt x="318642" y="446079"/>
                  </a:lnTo>
                  <a:cubicBezTo>
                    <a:pt x="314103" y="450788"/>
                    <a:pt x="307874" y="453454"/>
                    <a:pt x="301288" y="453454"/>
                  </a:cubicBezTo>
                  <a:cubicBezTo>
                    <a:pt x="294791" y="453454"/>
                    <a:pt x="288473" y="450788"/>
                    <a:pt x="284023" y="446079"/>
                  </a:cubicBezTo>
                  <a:lnTo>
                    <a:pt x="188086" y="346822"/>
                  </a:lnTo>
                  <a:cubicBezTo>
                    <a:pt x="178742" y="337225"/>
                    <a:pt x="179009" y="321941"/>
                    <a:pt x="188620" y="312522"/>
                  </a:cubicBezTo>
                  <a:cubicBezTo>
                    <a:pt x="198054" y="303191"/>
                    <a:pt x="213361" y="303458"/>
                    <a:pt x="222617" y="313055"/>
                  </a:cubicBezTo>
                  <a:lnTo>
                    <a:pt x="277437" y="369392"/>
                  </a:lnTo>
                  <a:lnTo>
                    <a:pt x="277437" y="24259"/>
                  </a:lnTo>
                  <a:cubicBezTo>
                    <a:pt x="277437" y="10930"/>
                    <a:pt x="288295" y="0"/>
                    <a:pt x="30155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CF23FE0-36AE-47D9-962B-0DE3918D354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4" b="86473"/>
          <a:stretch/>
        </p:blipFill>
        <p:spPr>
          <a:xfrm>
            <a:off x="745787" y="1066906"/>
            <a:ext cx="10867694" cy="2056260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4437FB1E-46E1-4EEA-B5B3-6ADB429FA1C9}"/>
              </a:ext>
            </a:extLst>
          </p:cNvPr>
          <p:cNvSpPr/>
          <p:nvPr/>
        </p:nvSpPr>
        <p:spPr>
          <a:xfrm>
            <a:off x="3930329" y="4356026"/>
            <a:ext cx="1976316" cy="117640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C75BDAE-F8AE-463B-AB61-58CAD470AAF9}"/>
              </a:ext>
            </a:extLst>
          </p:cNvPr>
          <p:cNvSpPr/>
          <p:nvPr/>
        </p:nvSpPr>
        <p:spPr>
          <a:xfrm>
            <a:off x="6432235" y="4305778"/>
            <a:ext cx="1976316" cy="117640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r>
              <a:rPr sz="1100"/>
              <a:t>seat（座位表）
row/col 网格定位
type 区分座位/过道/空位
room_id 关联自习室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A69633C-7072-4F8C-B831-14B962DFDA53}"/>
              </a:ext>
            </a:extLst>
          </p:cNvPr>
          <p:cNvSpPr/>
          <p:nvPr/>
        </p:nvSpPr>
        <p:spPr>
          <a:xfrm>
            <a:off x="8986153" y="4346787"/>
            <a:ext cx="1976316" cy="117640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20000"/>
              </a:lnSpc>
            </a:pPr>
            <a:endParaRPr lang="zh-CN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C02C1556-10D7-467E-9CBC-2D2F01B288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34" name="图文框 33">
            <a:extLst>
              <a:ext uri="{FF2B5EF4-FFF2-40B4-BE49-F238E27FC236}">
                <a16:creationId xmlns:a16="http://schemas.microsoft.com/office/drawing/2014/main" id="{90C181AE-FFC7-430E-8FAA-BA38575E1B52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531878B-7AB6-47A5-B518-DC55E7233830}"/>
              </a:ext>
            </a:extLst>
          </p:cNvPr>
          <p:cNvSpPr txBox="1"/>
          <p:nvPr/>
        </p:nvSpPr>
        <p:spPr>
          <a:xfrm>
            <a:off x="8907676" y="6246595"/>
            <a:ext cx="2345514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3B116F-E782-2512-4AA7-8344BE77856E}"/>
              </a:ext>
            </a:extLst>
          </p:cNvPr>
          <p:cNvSpPr txBox="1"/>
          <p:nvPr/>
        </p:nvSpPr>
        <p:spPr>
          <a:xfrm>
            <a:off x="3906045" y="4402304"/>
            <a:ext cx="19243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user</a:t>
            </a:r>
            <a:r>
              <a:rPr lang="zh-CN" altLang="en-US" sz="1200" dirty="0"/>
              <a:t>（用户表）</a:t>
            </a:r>
            <a:r>
              <a:rPr lang="en-US" altLang="zh-CN" sz="1200" dirty="0" err="1"/>
              <a:t>student_id</a:t>
            </a:r>
            <a:r>
              <a:rPr lang="en-US" altLang="zh-CN" sz="1200" dirty="0"/>
              <a:t> </a:t>
            </a:r>
            <a:r>
              <a:rPr lang="zh-CN" altLang="en-US" sz="1200" dirty="0"/>
              <a:t>学号认证</a:t>
            </a:r>
            <a:r>
              <a:rPr lang="en-US" altLang="zh-CN" sz="1200" dirty="0" err="1"/>
              <a:t>no_show_count</a:t>
            </a:r>
            <a:r>
              <a:rPr lang="en-US" altLang="zh-CN" sz="1200" dirty="0"/>
              <a:t> </a:t>
            </a:r>
            <a:r>
              <a:rPr lang="zh-CN" altLang="en-US" sz="1200" dirty="0"/>
              <a:t>爽约计数</a:t>
            </a:r>
            <a:r>
              <a:rPr lang="en-US" altLang="zh-CN" sz="1200" dirty="0" err="1"/>
              <a:t>blacklist_until</a:t>
            </a:r>
            <a:r>
              <a:rPr lang="en-US" altLang="zh-CN" sz="1200" dirty="0"/>
              <a:t> </a:t>
            </a:r>
            <a:r>
              <a:rPr lang="zh-CN" altLang="en-US" sz="1200" dirty="0"/>
              <a:t>黑名单截止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BF7255-7D31-4D0F-D015-48DCF5C6BE98}"/>
              </a:ext>
            </a:extLst>
          </p:cNvPr>
          <p:cNvSpPr txBox="1"/>
          <p:nvPr/>
        </p:nvSpPr>
        <p:spPr>
          <a:xfrm>
            <a:off x="9179511" y="4344735"/>
            <a:ext cx="215770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0000"/>
                </a:solidFill>
              </a:rPr>
              <a:t>reservation</a:t>
            </a:r>
            <a:r>
              <a:rPr lang="zh-CN" altLang="en-US" sz="1100" dirty="0">
                <a:solidFill>
                  <a:srgbClr val="000000"/>
                </a:solidFill>
              </a:rPr>
              <a:t>（预约表）
唯一索引</a:t>
            </a:r>
            <a:r>
              <a:rPr lang="en-US" altLang="zh-CN" sz="1100" dirty="0">
                <a:solidFill>
                  <a:srgbClr val="000000"/>
                </a:solidFill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</a:rPr>
              <a:t>seat_id,date,time_slot</a:t>
            </a:r>
            <a:r>
              <a:rPr lang="en-US" altLang="zh-CN" sz="1100" dirty="0">
                <a:solidFill>
                  <a:srgbClr val="000000"/>
                </a:solidFill>
              </a:rPr>
              <a:t>)
status </a:t>
            </a:r>
            <a:r>
              <a:rPr lang="zh-CN" altLang="en-US" sz="1100" dirty="0">
                <a:solidFill>
                  <a:srgbClr val="000000"/>
                </a:solidFill>
              </a:rPr>
              <a:t>枚举控制状态流转
</a:t>
            </a:r>
            <a:r>
              <a:rPr lang="en-US" altLang="zh-CN" sz="1100" dirty="0" err="1">
                <a:solidFill>
                  <a:srgbClr val="000000"/>
                </a:solidFill>
              </a:rPr>
              <a:t>sign_in_time</a:t>
            </a:r>
            <a:r>
              <a:rPr lang="en-US" altLang="zh-CN" sz="1100" dirty="0">
                <a:solidFill>
                  <a:srgbClr val="000000"/>
                </a:solidFill>
              </a:rPr>
              <a:t> </a:t>
            </a:r>
            <a:r>
              <a:rPr lang="zh-CN" altLang="en-US" sz="1100" dirty="0">
                <a:solidFill>
                  <a:srgbClr val="000000"/>
                </a:solidFill>
              </a:rPr>
              <a:t>签到时间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  <a:p>
            <a:endParaRPr lang="zh-CN" altLang="en-US" sz="8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96359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44DF250E-2595-4E66-8684-E9DE5FD27969}"/>
              </a:ext>
            </a:extLst>
          </p:cNvPr>
          <p:cNvSpPr/>
          <p:nvPr/>
        </p:nvSpPr>
        <p:spPr>
          <a:xfrm>
            <a:off x="0" y="-777438"/>
            <a:ext cx="12192000" cy="4843015"/>
          </a:xfrm>
          <a:custGeom>
            <a:avLst/>
            <a:gdLst>
              <a:gd name="connsiteX0" fmla="*/ 0 w 12192000"/>
              <a:gd name="connsiteY0" fmla="*/ 0 h 4843015"/>
              <a:gd name="connsiteX1" fmla="*/ 12192000 w 12192000"/>
              <a:gd name="connsiteY1" fmla="*/ 0 h 4843015"/>
              <a:gd name="connsiteX2" fmla="*/ 12192000 w 12192000"/>
              <a:gd name="connsiteY2" fmla="*/ 3446240 h 4843015"/>
              <a:gd name="connsiteX3" fmla="*/ 12121155 w 12192000"/>
              <a:gd name="connsiteY3" fmla="*/ 3490831 h 4843015"/>
              <a:gd name="connsiteX4" fmla="*/ 6094360 w 12192000"/>
              <a:gd name="connsiteY4" fmla="*/ 4843015 h 4843015"/>
              <a:gd name="connsiteX5" fmla="*/ 67565 w 12192000"/>
              <a:gd name="connsiteY5" fmla="*/ 3490831 h 4843015"/>
              <a:gd name="connsiteX6" fmla="*/ 0 w 12192000"/>
              <a:gd name="connsiteY6" fmla="*/ 3448305 h 48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843015">
                <a:moveTo>
                  <a:pt x="0" y="0"/>
                </a:moveTo>
                <a:lnTo>
                  <a:pt x="12192000" y="0"/>
                </a:lnTo>
                <a:lnTo>
                  <a:pt x="12192000" y="3446240"/>
                </a:lnTo>
                <a:lnTo>
                  <a:pt x="12121155" y="3490831"/>
                </a:lnTo>
                <a:cubicBezTo>
                  <a:pt x="10749621" y="4311690"/>
                  <a:pt x="8560619" y="4843015"/>
                  <a:pt x="6094360" y="4843015"/>
                </a:cubicBezTo>
                <a:cubicBezTo>
                  <a:pt x="3628101" y="4843015"/>
                  <a:pt x="1439099" y="4311690"/>
                  <a:pt x="67565" y="3490831"/>
                </a:cubicBezTo>
                <a:lnTo>
                  <a:pt x="0" y="3448305"/>
                </a:lnTo>
                <a:close/>
              </a:path>
            </a:pathLst>
          </a:custGeom>
          <a:solidFill>
            <a:srgbClr val="CAD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C3EB8CD-6A87-4DF8-AA7D-1CFFFB4CE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04" r="220"/>
          <a:stretch>
            <a:fillRect/>
          </a:stretch>
        </p:blipFill>
        <p:spPr>
          <a:xfrm>
            <a:off x="1" y="-800924"/>
            <a:ext cx="12165171" cy="4608304"/>
          </a:xfrm>
          <a:custGeom>
            <a:avLst/>
            <a:gdLst>
              <a:gd name="connsiteX0" fmla="*/ 0 w 12165171"/>
              <a:gd name="connsiteY0" fmla="*/ 0 h 4608304"/>
              <a:gd name="connsiteX1" fmla="*/ 12165171 w 12165171"/>
              <a:gd name="connsiteY1" fmla="*/ 0 h 4608304"/>
              <a:gd name="connsiteX2" fmla="*/ 12165171 w 12165171"/>
              <a:gd name="connsiteY2" fmla="*/ 2999890 h 4608304"/>
              <a:gd name="connsiteX3" fmla="*/ 12039246 w 12165171"/>
              <a:gd name="connsiteY3" fmla="*/ 3082244 h 4608304"/>
              <a:gd name="connsiteX4" fmla="*/ 6932415 w 12165171"/>
              <a:gd name="connsiteY4" fmla="*/ 4596969 h 4608304"/>
              <a:gd name="connsiteX5" fmla="*/ 6693339 w 12165171"/>
              <a:gd name="connsiteY5" fmla="*/ 4608304 h 4608304"/>
              <a:gd name="connsiteX6" fmla="*/ 5445004 w 12165171"/>
              <a:gd name="connsiteY6" fmla="*/ 4608304 h 4608304"/>
              <a:gd name="connsiteX7" fmla="*/ 5205928 w 12165171"/>
              <a:gd name="connsiteY7" fmla="*/ 4596969 h 4608304"/>
              <a:gd name="connsiteX8" fmla="*/ 99096 w 12165171"/>
              <a:gd name="connsiteY8" fmla="*/ 3082244 h 4608304"/>
              <a:gd name="connsiteX9" fmla="*/ 0 w 12165171"/>
              <a:gd name="connsiteY9" fmla="*/ 3017436 h 460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65171" h="4608304">
                <a:moveTo>
                  <a:pt x="0" y="0"/>
                </a:moveTo>
                <a:lnTo>
                  <a:pt x="12165171" y="0"/>
                </a:lnTo>
                <a:lnTo>
                  <a:pt x="12165171" y="2999890"/>
                </a:lnTo>
                <a:lnTo>
                  <a:pt x="12039246" y="3082244"/>
                </a:lnTo>
                <a:cubicBezTo>
                  <a:pt x="10702355" y="3915828"/>
                  <a:pt x="8919209" y="4471160"/>
                  <a:pt x="6932415" y="4596969"/>
                </a:cubicBezTo>
                <a:lnTo>
                  <a:pt x="6693339" y="4608304"/>
                </a:lnTo>
                <a:lnTo>
                  <a:pt x="5445004" y="4608304"/>
                </a:lnTo>
                <a:lnTo>
                  <a:pt x="5205928" y="4596969"/>
                </a:lnTo>
                <a:cubicBezTo>
                  <a:pt x="3219134" y="4471160"/>
                  <a:pt x="1435987" y="3915828"/>
                  <a:pt x="99096" y="3082244"/>
                </a:cubicBezTo>
                <a:lnTo>
                  <a:pt x="0" y="3017436"/>
                </a:lnTo>
                <a:close/>
              </a:path>
            </a:pathLst>
          </a:custGeom>
          <a:effectLst>
            <a:outerShdw blurRad="292100" dist="139700" dir="2700000" algn="tl" rotWithShape="0">
              <a:prstClr val="black">
                <a:alpha val="65000"/>
              </a:prst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69D1897-6A15-4DC6-A1F8-C2A2342925DF}"/>
              </a:ext>
            </a:extLst>
          </p:cNvPr>
          <p:cNvSpPr/>
          <p:nvPr/>
        </p:nvSpPr>
        <p:spPr>
          <a:xfrm flipH="1" flipV="1">
            <a:off x="5712105" y="6308725"/>
            <a:ext cx="767787" cy="45719"/>
          </a:xfrm>
          <a:prstGeom prst="rect">
            <a:avLst/>
          </a:prstGeom>
          <a:solidFill>
            <a:srgbClr val="CADBF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F9ED650-4A99-4204-828A-AB51D93E3FF3}"/>
              </a:ext>
            </a:extLst>
          </p:cNvPr>
          <p:cNvSpPr/>
          <p:nvPr/>
        </p:nvSpPr>
        <p:spPr>
          <a:xfrm>
            <a:off x="3440482" y="1763235"/>
            <a:ext cx="5311035" cy="4088290"/>
          </a:xfrm>
          <a:prstGeom prst="roundRect">
            <a:avLst>
              <a:gd name="adj" fmla="val 7573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9AC3C1-8024-40F5-AC69-6797DD57C77D}"/>
              </a:ext>
            </a:extLst>
          </p:cNvPr>
          <p:cNvSpPr txBox="1"/>
          <p:nvPr/>
        </p:nvSpPr>
        <p:spPr>
          <a:xfrm>
            <a:off x="4387840" y="3634093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2800" b="1"/>
              <a:t>分阶段落地计划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5FF35B-BB6F-429B-BF44-B37487A80627}"/>
              </a:ext>
            </a:extLst>
          </p:cNvPr>
          <p:cNvSpPr/>
          <p:nvPr/>
        </p:nvSpPr>
        <p:spPr>
          <a:xfrm>
            <a:off x="4434140" y="4280424"/>
            <a:ext cx="341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/>
              <a:t>IMPLEMENTATION PLAN</a:t>
            </a:r>
            <a:endParaRPr kumimoji="0" lang="en-US" altLang="zh-CN" sz="1400" b="0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97BDF2-6B77-447A-840E-ECE705CE49D8}"/>
              </a:ext>
            </a:extLst>
          </p:cNvPr>
          <p:cNvSpPr txBox="1"/>
          <p:nvPr/>
        </p:nvSpPr>
        <p:spPr>
          <a:xfrm>
            <a:off x="4630981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12EE9E-C60E-4100-A8AE-F6906FCD70DD}"/>
              </a:ext>
            </a:extLst>
          </p:cNvPr>
          <p:cNvSpPr/>
          <p:nvPr/>
        </p:nvSpPr>
        <p:spPr>
          <a:xfrm flipH="1">
            <a:off x="5288280" y="1759136"/>
            <a:ext cx="1615440" cy="1644782"/>
          </a:xfrm>
          <a:prstGeom prst="rect">
            <a:avLst/>
          </a:prstGeom>
          <a:solidFill>
            <a:srgbClr val="CADBF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600" dirty="0">
                <a:solidFill>
                  <a:prstClr val="white"/>
                </a:solidFill>
                <a:ea typeface="微软雅黑 Light"/>
              </a:rPr>
              <a:t>4</a:t>
            </a:r>
            <a:endParaRPr kumimoji="0" lang="zh-CN" altLang="en-US" sz="6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微软雅黑 Light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83A02F-CF0E-458D-8A48-C5ABF5ED61D0}"/>
              </a:ext>
            </a:extLst>
          </p:cNvPr>
          <p:cNvSpPr txBox="1"/>
          <p:nvPr/>
        </p:nvSpPr>
        <p:spPr>
          <a:xfrm>
            <a:off x="5712105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E25F0A4-526B-4D59-ACF8-172CC210BBFE}"/>
              </a:ext>
            </a:extLst>
          </p:cNvPr>
          <p:cNvSpPr txBox="1"/>
          <p:nvPr/>
        </p:nvSpPr>
        <p:spPr>
          <a:xfrm>
            <a:off x="6829296" y="48030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60511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4775150" y="340769"/>
            <a:ext cx="3775817" cy="465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2200" b="1" dirty="0"/>
              <a:t>核心阶段（P0-P2）</a:t>
            </a:r>
          </a:p>
        </p:txBody>
      </p:sp>
      <p:sp>
        <p:nvSpPr>
          <p:cNvPr id="15" name="矩形 14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12E1C810-E67F-4A66-AC0B-9BEACA33FDD6}"/>
              </a:ext>
            </a:extLst>
          </p:cNvPr>
          <p:cNvSpPr/>
          <p:nvPr/>
        </p:nvSpPr>
        <p:spPr>
          <a:xfrm>
            <a:off x="745785" y="1011359"/>
            <a:ext cx="10867698" cy="499193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14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87629AD9-D353-4915-B315-33F7A5DD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2151" y="6014660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B198FB65-10D4-4C4C-91A4-47F94A452C17}"/>
              </a:ext>
            </a:extLst>
          </p:cNvPr>
          <p:cNvSpPr txBox="1"/>
          <p:nvPr/>
        </p:nvSpPr>
        <p:spPr>
          <a:xfrm>
            <a:off x="8907676" y="6246595"/>
            <a:ext cx="2403222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2A0F7454-1BF0-4EB4-B355-B040C6ACE9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45" name="图文框 44">
            <a:extLst>
              <a:ext uri="{FF2B5EF4-FFF2-40B4-BE49-F238E27FC236}">
                <a16:creationId xmlns:a16="http://schemas.microsoft.com/office/drawing/2014/main" id="{8AAB9E36-018C-4329-B080-7443495A8D87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`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49" name="29312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CE779D7-4A73-4081-9627-63EC656344DE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745785" y="2145599"/>
            <a:ext cx="10867698" cy="3727391"/>
            <a:chOff x="-22225" y="1941612"/>
            <a:chExt cx="12223750" cy="4192488"/>
          </a:xfrm>
        </p:grpSpPr>
        <p:grpSp>
          <p:nvGrpSpPr>
            <p:cNvPr id="50" name="îṡ1îḑé">
              <a:extLst>
                <a:ext uri="{FF2B5EF4-FFF2-40B4-BE49-F238E27FC236}">
                  <a16:creationId xmlns:a16="http://schemas.microsoft.com/office/drawing/2014/main" id="{C90BC664-748D-4E4F-9D43-CA1BD9984B33}"/>
                </a:ext>
              </a:extLst>
            </p:cNvPr>
            <p:cNvGrpSpPr/>
            <p:nvPr/>
          </p:nvGrpSpPr>
          <p:grpSpPr>
            <a:xfrm>
              <a:off x="-12700" y="2111913"/>
              <a:ext cx="12204700" cy="4022187"/>
              <a:chOff x="-12700" y="2111913"/>
              <a:chExt cx="12204700" cy="4152541"/>
            </a:xfrm>
          </p:grpSpPr>
          <p:sp>
            <p:nvSpPr>
              <p:cNvPr id="78" name="î$ļiḓê">
                <a:extLst>
                  <a:ext uri="{FF2B5EF4-FFF2-40B4-BE49-F238E27FC236}">
                    <a16:creationId xmlns:a16="http://schemas.microsoft.com/office/drawing/2014/main" id="{888B2BF4-E95D-4717-BE02-35D0CF4091A3}"/>
                  </a:ext>
                </a:extLst>
              </p:cNvPr>
              <p:cNvSpPr/>
              <p:nvPr/>
            </p:nvSpPr>
            <p:spPr bwMode="auto">
              <a:xfrm>
                <a:off x="-12700" y="2111913"/>
                <a:ext cx="12204700" cy="4152541"/>
              </a:xfrm>
              <a:prstGeom prst="rect">
                <a:avLst/>
              </a:prstGeom>
              <a:blipFill dpi="0"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79" name="îṧḷidê">
                <a:extLst>
                  <a:ext uri="{FF2B5EF4-FFF2-40B4-BE49-F238E27FC236}">
                    <a16:creationId xmlns:a16="http://schemas.microsoft.com/office/drawing/2014/main" id="{81D56171-976B-48EC-B78E-C3E8302D9032}"/>
                  </a:ext>
                </a:extLst>
              </p:cNvPr>
              <p:cNvSpPr/>
              <p:nvPr/>
            </p:nvSpPr>
            <p:spPr bwMode="auto">
              <a:xfrm>
                <a:off x="660400" y="2111913"/>
                <a:ext cx="10858500" cy="4152541"/>
              </a:xfrm>
              <a:prstGeom prst="rect">
                <a:avLst/>
              </a:prstGeom>
              <a:solidFill>
                <a:sysClr val="window" lastClr="FFFFFF">
                  <a:alpha val="70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51" name="iṣ1íḑè">
              <a:extLst>
                <a:ext uri="{FF2B5EF4-FFF2-40B4-BE49-F238E27FC236}">
                  <a16:creationId xmlns:a16="http://schemas.microsoft.com/office/drawing/2014/main" id="{FC9BEACE-52B4-43B3-96F2-BFC4E637A7A5}"/>
                </a:ext>
              </a:extLst>
            </p:cNvPr>
            <p:cNvSpPr/>
            <p:nvPr/>
          </p:nvSpPr>
          <p:spPr bwMode="auto">
            <a:xfrm>
              <a:off x="-22225" y="2111914"/>
              <a:ext cx="12223750" cy="323491"/>
            </a:xfrm>
            <a:prstGeom prst="rect">
              <a:avLst/>
            </a:prstGeom>
            <a:solidFill>
              <a:srgbClr val="52D6F0">
                <a:alpha val="70000"/>
              </a:srgbClr>
            </a:solidFill>
            <a:ln w="12700" cap="flat" cmpd="sng" algn="ctr">
              <a:solidFill>
                <a:srgbClr val="52D6F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52" name="îṩḻíḓe">
              <a:extLst>
                <a:ext uri="{FF2B5EF4-FFF2-40B4-BE49-F238E27FC236}">
                  <a16:creationId xmlns:a16="http://schemas.microsoft.com/office/drawing/2014/main" id="{BD8FBE3B-B23E-4DD3-A619-62D61418E8FE}"/>
                </a:ext>
              </a:extLst>
            </p:cNvPr>
            <p:cNvGrpSpPr/>
            <p:nvPr/>
          </p:nvGrpSpPr>
          <p:grpSpPr>
            <a:xfrm>
              <a:off x="2110638" y="1941612"/>
              <a:ext cx="664094" cy="664094"/>
              <a:chOff x="1536181" y="2331142"/>
              <a:chExt cx="923827" cy="923827"/>
            </a:xfrm>
          </p:grpSpPr>
          <p:sp>
            <p:nvSpPr>
              <p:cNvPr id="76" name="íṣľîḍè">
                <a:extLst>
                  <a:ext uri="{FF2B5EF4-FFF2-40B4-BE49-F238E27FC236}">
                    <a16:creationId xmlns:a16="http://schemas.microsoft.com/office/drawing/2014/main" id="{E6C90EC6-952E-4875-AB9F-D9CB29F4312B}"/>
                  </a:ext>
                </a:extLst>
              </p:cNvPr>
              <p:cNvSpPr/>
              <p:nvPr/>
            </p:nvSpPr>
            <p:spPr>
              <a:xfrm>
                <a:off x="1536181" y="2331142"/>
                <a:ext cx="923827" cy="923827"/>
              </a:xfrm>
              <a:prstGeom prst="ellipse">
                <a:avLst/>
              </a:prstGeom>
              <a:solidFill>
                <a:srgbClr val="52D6F0"/>
              </a:solidFill>
              <a:ln w="381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77" name="í$ḻiďê">
                <a:extLst>
                  <a:ext uri="{FF2B5EF4-FFF2-40B4-BE49-F238E27FC236}">
                    <a16:creationId xmlns:a16="http://schemas.microsoft.com/office/drawing/2014/main" id="{AB152AC8-6969-4C32-8B50-C25297381D5E}"/>
                  </a:ext>
                </a:extLst>
              </p:cNvPr>
              <p:cNvSpPr/>
              <p:nvPr/>
            </p:nvSpPr>
            <p:spPr>
              <a:xfrm>
                <a:off x="1724703" y="2513339"/>
                <a:ext cx="546784" cy="548254"/>
              </a:xfrm>
              <a:custGeom>
                <a:avLst/>
                <a:gdLst>
                  <a:gd name="T0" fmla="*/ 916 w 955"/>
                  <a:gd name="T1" fmla="*/ 717 h 959"/>
                  <a:gd name="T2" fmla="*/ 878 w 955"/>
                  <a:gd name="T3" fmla="*/ 690 h 959"/>
                  <a:gd name="T4" fmla="*/ 654 w 955"/>
                  <a:gd name="T5" fmla="*/ 618 h 959"/>
                  <a:gd name="T6" fmla="*/ 627 w 955"/>
                  <a:gd name="T7" fmla="*/ 564 h 959"/>
                  <a:gd name="T8" fmla="*/ 606 w 955"/>
                  <a:gd name="T9" fmla="*/ 541 h 959"/>
                  <a:gd name="T10" fmla="*/ 600 w 955"/>
                  <a:gd name="T11" fmla="*/ 529 h 959"/>
                  <a:gd name="T12" fmla="*/ 597 w 955"/>
                  <a:gd name="T13" fmla="*/ 469 h 959"/>
                  <a:gd name="T14" fmla="*/ 606 w 955"/>
                  <a:gd name="T15" fmla="*/ 457 h 959"/>
                  <a:gd name="T16" fmla="*/ 639 w 955"/>
                  <a:gd name="T17" fmla="*/ 352 h 959"/>
                  <a:gd name="T18" fmla="*/ 648 w 955"/>
                  <a:gd name="T19" fmla="*/ 340 h 959"/>
                  <a:gd name="T20" fmla="*/ 660 w 955"/>
                  <a:gd name="T21" fmla="*/ 302 h 959"/>
                  <a:gd name="T22" fmla="*/ 648 w 955"/>
                  <a:gd name="T23" fmla="*/ 257 h 959"/>
                  <a:gd name="T24" fmla="*/ 639 w 955"/>
                  <a:gd name="T25" fmla="*/ 245 h 959"/>
                  <a:gd name="T26" fmla="*/ 639 w 955"/>
                  <a:gd name="T27" fmla="*/ 143 h 959"/>
                  <a:gd name="T28" fmla="*/ 597 w 955"/>
                  <a:gd name="T29" fmla="*/ 75 h 959"/>
                  <a:gd name="T30" fmla="*/ 552 w 955"/>
                  <a:gd name="T31" fmla="*/ 45 h 959"/>
                  <a:gd name="T32" fmla="*/ 552 w 955"/>
                  <a:gd name="T33" fmla="*/ 15 h 959"/>
                  <a:gd name="T34" fmla="*/ 570 w 955"/>
                  <a:gd name="T35" fmla="*/ 0 h 959"/>
                  <a:gd name="T36" fmla="*/ 564 w 955"/>
                  <a:gd name="T37" fmla="*/ 0 h 959"/>
                  <a:gd name="T38" fmla="*/ 480 w 955"/>
                  <a:gd name="T39" fmla="*/ 15 h 959"/>
                  <a:gd name="T40" fmla="*/ 358 w 955"/>
                  <a:gd name="T41" fmla="*/ 69 h 959"/>
                  <a:gd name="T42" fmla="*/ 313 w 955"/>
                  <a:gd name="T43" fmla="*/ 143 h 959"/>
                  <a:gd name="T44" fmla="*/ 313 w 955"/>
                  <a:gd name="T45" fmla="*/ 245 h 959"/>
                  <a:gd name="T46" fmla="*/ 301 w 955"/>
                  <a:gd name="T47" fmla="*/ 257 h 959"/>
                  <a:gd name="T48" fmla="*/ 292 w 955"/>
                  <a:gd name="T49" fmla="*/ 299 h 959"/>
                  <a:gd name="T50" fmla="*/ 307 w 955"/>
                  <a:gd name="T51" fmla="*/ 343 h 959"/>
                  <a:gd name="T52" fmla="*/ 316 w 955"/>
                  <a:gd name="T53" fmla="*/ 355 h 959"/>
                  <a:gd name="T54" fmla="*/ 355 w 955"/>
                  <a:gd name="T55" fmla="*/ 460 h 959"/>
                  <a:gd name="T56" fmla="*/ 361 w 955"/>
                  <a:gd name="T57" fmla="*/ 475 h 959"/>
                  <a:gd name="T58" fmla="*/ 355 w 955"/>
                  <a:gd name="T59" fmla="*/ 535 h 959"/>
                  <a:gd name="T60" fmla="*/ 346 w 955"/>
                  <a:gd name="T61" fmla="*/ 547 h 959"/>
                  <a:gd name="T62" fmla="*/ 328 w 955"/>
                  <a:gd name="T63" fmla="*/ 570 h 959"/>
                  <a:gd name="T64" fmla="*/ 301 w 955"/>
                  <a:gd name="T65" fmla="*/ 624 h 959"/>
                  <a:gd name="T66" fmla="*/ 83 w 955"/>
                  <a:gd name="T67" fmla="*/ 696 h 959"/>
                  <a:gd name="T68" fmla="*/ 38 w 955"/>
                  <a:gd name="T69" fmla="*/ 726 h 959"/>
                  <a:gd name="T70" fmla="*/ 0 w 955"/>
                  <a:gd name="T71" fmla="*/ 824 h 959"/>
                  <a:gd name="T72" fmla="*/ 433 w 955"/>
                  <a:gd name="T73" fmla="*/ 959 h 959"/>
                  <a:gd name="T74" fmla="*/ 436 w 955"/>
                  <a:gd name="T75" fmla="*/ 959 h 959"/>
                  <a:gd name="T76" fmla="*/ 388 w 955"/>
                  <a:gd name="T77" fmla="*/ 875 h 959"/>
                  <a:gd name="T78" fmla="*/ 480 w 955"/>
                  <a:gd name="T79" fmla="*/ 618 h 959"/>
                  <a:gd name="T80" fmla="*/ 450 w 955"/>
                  <a:gd name="T81" fmla="*/ 556 h 959"/>
                  <a:gd name="T82" fmla="*/ 510 w 955"/>
                  <a:gd name="T83" fmla="*/ 556 h 959"/>
                  <a:gd name="T84" fmla="*/ 480 w 955"/>
                  <a:gd name="T85" fmla="*/ 618 h 959"/>
                  <a:gd name="T86" fmla="*/ 573 w 955"/>
                  <a:gd name="T87" fmla="*/ 875 h 959"/>
                  <a:gd name="T88" fmla="*/ 516 w 955"/>
                  <a:gd name="T89" fmla="*/ 953 h 959"/>
                  <a:gd name="T90" fmla="*/ 522 w 955"/>
                  <a:gd name="T91" fmla="*/ 953 h 959"/>
                  <a:gd name="T92" fmla="*/ 955 w 955"/>
                  <a:gd name="T93" fmla="*/ 818 h 959"/>
                  <a:gd name="T94" fmla="*/ 916 w 955"/>
                  <a:gd name="T95" fmla="*/ 717 h 959"/>
                  <a:gd name="T96" fmla="*/ 806 w 955"/>
                  <a:gd name="T97" fmla="*/ 768 h 959"/>
                  <a:gd name="T98" fmla="*/ 669 w 955"/>
                  <a:gd name="T99" fmla="*/ 768 h 959"/>
                  <a:gd name="T100" fmla="*/ 669 w 955"/>
                  <a:gd name="T101" fmla="*/ 744 h 959"/>
                  <a:gd name="T102" fmla="*/ 806 w 955"/>
                  <a:gd name="T103" fmla="*/ 744 h 959"/>
                  <a:gd name="T104" fmla="*/ 806 w 955"/>
                  <a:gd name="T105" fmla="*/ 768 h 9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55" h="959">
                    <a:moveTo>
                      <a:pt x="916" y="717"/>
                    </a:moveTo>
                    <a:cubicBezTo>
                      <a:pt x="907" y="699"/>
                      <a:pt x="896" y="696"/>
                      <a:pt x="878" y="690"/>
                    </a:cubicBezTo>
                    <a:cubicBezTo>
                      <a:pt x="800" y="660"/>
                      <a:pt x="731" y="645"/>
                      <a:pt x="654" y="618"/>
                    </a:cubicBezTo>
                    <a:cubicBezTo>
                      <a:pt x="648" y="615"/>
                      <a:pt x="627" y="603"/>
                      <a:pt x="627" y="564"/>
                    </a:cubicBezTo>
                    <a:cubicBezTo>
                      <a:pt x="627" y="550"/>
                      <a:pt x="624" y="541"/>
                      <a:pt x="606" y="541"/>
                    </a:cubicBezTo>
                    <a:cubicBezTo>
                      <a:pt x="600" y="541"/>
                      <a:pt x="603" y="541"/>
                      <a:pt x="600" y="529"/>
                    </a:cubicBezTo>
                    <a:cubicBezTo>
                      <a:pt x="594" y="493"/>
                      <a:pt x="597" y="475"/>
                      <a:pt x="597" y="469"/>
                    </a:cubicBezTo>
                    <a:cubicBezTo>
                      <a:pt x="597" y="463"/>
                      <a:pt x="603" y="460"/>
                      <a:pt x="606" y="457"/>
                    </a:cubicBezTo>
                    <a:cubicBezTo>
                      <a:pt x="633" y="421"/>
                      <a:pt x="639" y="376"/>
                      <a:pt x="639" y="352"/>
                    </a:cubicBezTo>
                    <a:cubicBezTo>
                      <a:pt x="639" y="352"/>
                      <a:pt x="645" y="355"/>
                      <a:pt x="648" y="340"/>
                    </a:cubicBezTo>
                    <a:cubicBezTo>
                      <a:pt x="654" y="326"/>
                      <a:pt x="654" y="320"/>
                      <a:pt x="660" y="302"/>
                    </a:cubicBezTo>
                    <a:cubicBezTo>
                      <a:pt x="666" y="287"/>
                      <a:pt x="666" y="257"/>
                      <a:pt x="648" y="257"/>
                    </a:cubicBezTo>
                    <a:cubicBezTo>
                      <a:pt x="636" y="260"/>
                      <a:pt x="639" y="257"/>
                      <a:pt x="639" y="245"/>
                    </a:cubicBezTo>
                    <a:lnTo>
                      <a:pt x="639" y="143"/>
                    </a:lnTo>
                    <a:cubicBezTo>
                      <a:pt x="636" y="108"/>
                      <a:pt x="615" y="87"/>
                      <a:pt x="597" y="75"/>
                    </a:cubicBezTo>
                    <a:cubicBezTo>
                      <a:pt x="573" y="60"/>
                      <a:pt x="564" y="54"/>
                      <a:pt x="552" y="45"/>
                    </a:cubicBezTo>
                    <a:cubicBezTo>
                      <a:pt x="540" y="36"/>
                      <a:pt x="543" y="27"/>
                      <a:pt x="552" y="15"/>
                    </a:cubicBezTo>
                    <a:cubicBezTo>
                      <a:pt x="558" y="9"/>
                      <a:pt x="567" y="3"/>
                      <a:pt x="570" y="0"/>
                    </a:cubicBezTo>
                    <a:lnTo>
                      <a:pt x="564" y="0"/>
                    </a:lnTo>
                    <a:cubicBezTo>
                      <a:pt x="558" y="0"/>
                      <a:pt x="501" y="9"/>
                      <a:pt x="480" y="15"/>
                    </a:cubicBezTo>
                    <a:cubicBezTo>
                      <a:pt x="436" y="27"/>
                      <a:pt x="394" y="39"/>
                      <a:pt x="358" y="69"/>
                    </a:cubicBezTo>
                    <a:cubicBezTo>
                      <a:pt x="334" y="87"/>
                      <a:pt x="313" y="113"/>
                      <a:pt x="313" y="143"/>
                    </a:cubicBezTo>
                    <a:lnTo>
                      <a:pt x="313" y="245"/>
                    </a:lnTo>
                    <a:cubicBezTo>
                      <a:pt x="313" y="254"/>
                      <a:pt x="313" y="260"/>
                      <a:pt x="301" y="257"/>
                    </a:cubicBezTo>
                    <a:cubicBezTo>
                      <a:pt x="280" y="254"/>
                      <a:pt x="292" y="296"/>
                      <a:pt x="292" y="299"/>
                    </a:cubicBezTo>
                    <a:cubicBezTo>
                      <a:pt x="295" y="314"/>
                      <a:pt x="301" y="326"/>
                      <a:pt x="307" y="343"/>
                    </a:cubicBezTo>
                    <a:cubicBezTo>
                      <a:pt x="310" y="355"/>
                      <a:pt x="316" y="355"/>
                      <a:pt x="316" y="355"/>
                    </a:cubicBezTo>
                    <a:cubicBezTo>
                      <a:pt x="322" y="382"/>
                      <a:pt x="331" y="430"/>
                      <a:pt x="355" y="460"/>
                    </a:cubicBezTo>
                    <a:cubicBezTo>
                      <a:pt x="358" y="463"/>
                      <a:pt x="361" y="469"/>
                      <a:pt x="361" y="475"/>
                    </a:cubicBezTo>
                    <a:cubicBezTo>
                      <a:pt x="358" y="493"/>
                      <a:pt x="358" y="517"/>
                      <a:pt x="355" y="535"/>
                    </a:cubicBezTo>
                    <a:cubicBezTo>
                      <a:pt x="355" y="538"/>
                      <a:pt x="352" y="547"/>
                      <a:pt x="346" y="547"/>
                    </a:cubicBezTo>
                    <a:cubicBezTo>
                      <a:pt x="331" y="547"/>
                      <a:pt x="325" y="558"/>
                      <a:pt x="328" y="570"/>
                    </a:cubicBezTo>
                    <a:cubicBezTo>
                      <a:pt x="328" y="597"/>
                      <a:pt x="310" y="618"/>
                      <a:pt x="301" y="624"/>
                    </a:cubicBezTo>
                    <a:cubicBezTo>
                      <a:pt x="262" y="642"/>
                      <a:pt x="128" y="681"/>
                      <a:pt x="83" y="696"/>
                    </a:cubicBezTo>
                    <a:cubicBezTo>
                      <a:pt x="53" y="705"/>
                      <a:pt x="44" y="714"/>
                      <a:pt x="38" y="726"/>
                    </a:cubicBezTo>
                    <a:lnTo>
                      <a:pt x="0" y="824"/>
                    </a:lnTo>
                    <a:cubicBezTo>
                      <a:pt x="170" y="824"/>
                      <a:pt x="256" y="929"/>
                      <a:pt x="433" y="959"/>
                    </a:cubicBezTo>
                    <a:lnTo>
                      <a:pt x="436" y="959"/>
                    </a:lnTo>
                    <a:lnTo>
                      <a:pt x="388" y="875"/>
                    </a:lnTo>
                    <a:lnTo>
                      <a:pt x="480" y="618"/>
                    </a:lnTo>
                    <a:lnTo>
                      <a:pt x="450" y="556"/>
                    </a:lnTo>
                    <a:lnTo>
                      <a:pt x="510" y="556"/>
                    </a:lnTo>
                    <a:lnTo>
                      <a:pt x="480" y="618"/>
                    </a:lnTo>
                    <a:lnTo>
                      <a:pt x="573" y="875"/>
                    </a:lnTo>
                    <a:lnTo>
                      <a:pt x="516" y="953"/>
                    </a:lnTo>
                    <a:lnTo>
                      <a:pt x="522" y="953"/>
                    </a:lnTo>
                    <a:cubicBezTo>
                      <a:pt x="704" y="923"/>
                      <a:pt x="830" y="818"/>
                      <a:pt x="955" y="818"/>
                    </a:cubicBezTo>
                    <a:lnTo>
                      <a:pt x="916" y="717"/>
                    </a:lnTo>
                    <a:close/>
                    <a:moveTo>
                      <a:pt x="806" y="768"/>
                    </a:moveTo>
                    <a:lnTo>
                      <a:pt x="669" y="768"/>
                    </a:lnTo>
                    <a:lnTo>
                      <a:pt x="669" y="744"/>
                    </a:lnTo>
                    <a:lnTo>
                      <a:pt x="806" y="744"/>
                    </a:lnTo>
                    <a:lnTo>
                      <a:pt x="806" y="76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pitchFamily="34" charset="-122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îsḷïde">
              <a:extLst>
                <a:ext uri="{FF2B5EF4-FFF2-40B4-BE49-F238E27FC236}">
                  <a16:creationId xmlns:a16="http://schemas.microsoft.com/office/drawing/2014/main" id="{2CE252AA-D4CC-485D-ACD8-A550C52D0D06}"/>
                </a:ext>
              </a:extLst>
            </p:cNvPr>
            <p:cNvGrpSpPr/>
            <p:nvPr/>
          </p:nvGrpSpPr>
          <p:grpSpPr>
            <a:xfrm>
              <a:off x="5757603" y="1941612"/>
              <a:ext cx="664094" cy="664094"/>
              <a:chOff x="1536181" y="2331142"/>
              <a:chExt cx="923827" cy="923827"/>
            </a:xfrm>
          </p:grpSpPr>
          <p:sp>
            <p:nvSpPr>
              <p:cNvPr id="69" name="ïṥḻïde">
                <a:extLst>
                  <a:ext uri="{FF2B5EF4-FFF2-40B4-BE49-F238E27FC236}">
                    <a16:creationId xmlns:a16="http://schemas.microsoft.com/office/drawing/2014/main" id="{2CA8CF79-797F-446E-8F69-56E7EE0220F5}"/>
                  </a:ext>
                </a:extLst>
              </p:cNvPr>
              <p:cNvSpPr/>
              <p:nvPr/>
            </p:nvSpPr>
            <p:spPr>
              <a:xfrm>
                <a:off x="1536181" y="2331142"/>
                <a:ext cx="923827" cy="923827"/>
              </a:xfrm>
              <a:prstGeom prst="ellipse">
                <a:avLst/>
              </a:prstGeom>
              <a:solidFill>
                <a:srgbClr val="52D6F0"/>
              </a:solidFill>
              <a:ln w="381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70" name="î$lîḋê">
                <a:extLst>
                  <a:ext uri="{FF2B5EF4-FFF2-40B4-BE49-F238E27FC236}">
                    <a16:creationId xmlns:a16="http://schemas.microsoft.com/office/drawing/2014/main" id="{042550BA-C8A5-4BCF-8596-18D65FA261D6}"/>
                  </a:ext>
                </a:extLst>
              </p:cNvPr>
              <p:cNvSpPr/>
              <p:nvPr/>
            </p:nvSpPr>
            <p:spPr>
              <a:xfrm>
                <a:off x="1724703" y="2513339"/>
                <a:ext cx="546784" cy="548254"/>
              </a:xfrm>
              <a:custGeom>
                <a:avLst/>
                <a:gdLst>
                  <a:gd name="T0" fmla="*/ 916 w 955"/>
                  <a:gd name="T1" fmla="*/ 717 h 959"/>
                  <a:gd name="T2" fmla="*/ 878 w 955"/>
                  <a:gd name="T3" fmla="*/ 690 h 959"/>
                  <a:gd name="T4" fmla="*/ 654 w 955"/>
                  <a:gd name="T5" fmla="*/ 618 h 959"/>
                  <a:gd name="T6" fmla="*/ 627 w 955"/>
                  <a:gd name="T7" fmla="*/ 564 h 959"/>
                  <a:gd name="T8" fmla="*/ 606 w 955"/>
                  <a:gd name="T9" fmla="*/ 541 h 959"/>
                  <a:gd name="T10" fmla="*/ 600 w 955"/>
                  <a:gd name="T11" fmla="*/ 529 h 959"/>
                  <a:gd name="T12" fmla="*/ 597 w 955"/>
                  <a:gd name="T13" fmla="*/ 469 h 959"/>
                  <a:gd name="T14" fmla="*/ 606 w 955"/>
                  <a:gd name="T15" fmla="*/ 457 h 959"/>
                  <a:gd name="T16" fmla="*/ 639 w 955"/>
                  <a:gd name="T17" fmla="*/ 352 h 959"/>
                  <a:gd name="T18" fmla="*/ 648 w 955"/>
                  <a:gd name="T19" fmla="*/ 340 h 959"/>
                  <a:gd name="T20" fmla="*/ 660 w 955"/>
                  <a:gd name="T21" fmla="*/ 302 h 959"/>
                  <a:gd name="T22" fmla="*/ 648 w 955"/>
                  <a:gd name="T23" fmla="*/ 257 h 959"/>
                  <a:gd name="T24" fmla="*/ 639 w 955"/>
                  <a:gd name="T25" fmla="*/ 245 h 959"/>
                  <a:gd name="T26" fmla="*/ 639 w 955"/>
                  <a:gd name="T27" fmla="*/ 143 h 959"/>
                  <a:gd name="T28" fmla="*/ 597 w 955"/>
                  <a:gd name="T29" fmla="*/ 75 h 959"/>
                  <a:gd name="T30" fmla="*/ 552 w 955"/>
                  <a:gd name="T31" fmla="*/ 45 h 959"/>
                  <a:gd name="T32" fmla="*/ 552 w 955"/>
                  <a:gd name="T33" fmla="*/ 15 h 959"/>
                  <a:gd name="T34" fmla="*/ 570 w 955"/>
                  <a:gd name="T35" fmla="*/ 0 h 959"/>
                  <a:gd name="T36" fmla="*/ 564 w 955"/>
                  <a:gd name="T37" fmla="*/ 0 h 959"/>
                  <a:gd name="T38" fmla="*/ 480 w 955"/>
                  <a:gd name="T39" fmla="*/ 15 h 959"/>
                  <a:gd name="T40" fmla="*/ 358 w 955"/>
                  <a:gd name="T41" fmla="*/ 69 h 959"/>
                  <a:gd name="T42" fmla="*/ 313 w 955"/>
                  <a:gd name="T43" fmla="*/ 143 h 959"/>
                  <a:gd name="T44" fmla="*/ 313 w 955"/>
                  <a:gd name="T45" fmla="*/ 245 h 959"/>
                  <a:gd name="T46" fmla="*/ 301 w 955"/>
                  <a:gd name="T47" fmla="*/ 257 h 959"/>
                  <a:gd name="T48" fmla="*/ 292 w 955"/>
                  <a:gd name="T49" fmla="*/ 299 h 959"/>
                  <a:gd name="T50" fmla="*/ 307 w 955"/>
                  <a:gd name="T51" fmla="*/ 343 h 959"/>
                  <a:gd name="T52" fmla="*/ 316 w 955"/>
                  <a:gd name="T53" fmla="*/ 355 h 959"/>
                  <a:gd name="T54" fmla="*/ 355 w 955"/>
                  <a:gd name="T55" fmla="*/ 460 h 959"/>
                  <a:gd name="T56" fmla="*/ 361 w 955"/>
                  <a:gd name="T57" fmla="*/ 475 h 959"/>
                  <a:gd name="T58" fmla="*/ 355 w 955"/>
                  <a:gd name="T59" fmla="*/ 535 h 959"/>
                  <a:gd name="T60" fmla="*/ 346 w 955"/>
                  <a:gd name="T61" fmla="*/ 547 h 959"/>
                  <a:gd name="T62" fmla="*/ 328 w 955"/>
                  <a:gd name="T63" fmla="*/ 570 h 959"/>
                  <a:gd name="T64" fmla="*/ 301 w 955"/>
                  <a:gd name="T65" fmla="*/ 624 h 959"/>
                  <a:gd name="T66" fmla="*/ 83 w 955"/>
                  <a:gd name="T67" fmla="*/ 696 h 959"/>
                  <a:gd name="T68" fmla="*/ 38 w 955"/>
                  <a:gd name="T69" fmla="*/ 726 h 959"/>
                  <a:gd name="T70" fmla="*/ 0 w 955"/>
                  <a:gd name="T71" fmla="*/ 824 h 959"/>
                  <a:gd name="T72" fmla="*/ 433 w 955"/>
                  <a:gd name="T73" fmla="*/ 959 h 959"/>
                  <a:gd name="T74" fmla="*/ 436 w 955"/>
                  <a:gd name="T75" fmla="*/ 959 h 959"/>
                  <a:gd name="T76" fmla="*/ 388 w 955"/>
                  <a:gd name="T77" fmla="*/ 875 h 959"/>
                  <a:gd name="T78" fmla="*/ 480 w 955"/>
                  <a:gd name="T79" fmla="*/ 618 h 959"/>
                  <a:gd name="T80" fmla="*/ 450 w 955"/>
                  <a:gd name="T81" fmla="*/ 556 h 959"/>
                  <a:gd name="T82" fmla="*/ 510 w 955"/>
                  <a:gd name="T83" fmla="*/ 556 h 959"/>
                  <a:gd name="T84" fmla="*/ 480 w 955"/>
                  <a:gd name="T85" fmla="*/ 618 h 959"/>
                  <a:gd name="T86" fmla="*/ 573 w 955"/>
                  <a:gd name="T87" fmla="*/ 875 h 959"/>
                  <a:gd name="T88" fmla="*/ 516 w 955"/>
                  <a:gd name="T89" fmla="*/ 953 h 959"/>
                  <a:gd name="T90" fmla="*/ 522 w 955"/>
                  <a:gd name="T91" fmla="*/ 953 h 959"/>
                  <a:gd name="T92" fmla="*/ 955 w 955"/>
                  <a:gd name="T93" fmla="*/ 818 h 959"/>
                  <a:gd name="T94" fmla="*/ 916 w 955"/>
                  <a:gd name="T95" fmla="*/ 717 h 959"/>
                  <a:gd name="T96" fmla="*/ 806 w 955"/>
                  <a:gd name="T97" fmla="*/ 768 h 959"/>
                  <a:gd name="T98" fmla="*/ 669 w 955"/>
                  <a:gd name="T99" fmla="*/ 768 h 959"/>
                  <a:gd name="T100" fmla="*/ 669 w 955"/>
                  <a:gd name="T101" fmla="*/ 744 h 959"/>
                  <a:gd name="T102" fmla="*/ 806 w 955"/>
                  <a:gd name="T103" fmla="*/ 744 h 959"/>
                  <a:gd name="T104" fmla="*/ 806 w 955"/>
                  <a:gd name="T105" fmla="*/ 768 h 9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55" h="959">
                    <a:moveTo>
                      <a:pt x="916" y="717"/>
                    </a:moveTo>
                    <a:cubicBezTo>
                      <a:pt x="907" y="699"/>
                      <a:pt x="896" y="696"/>
                      <a:pt x="878" y="690"/>
                    </a:cubicBezTo>
                    <a:cubicBezTo>
                      <a:pt x="800" y="660"/>
                      <a:pt x="731" y="645"/>
                      <a:pt x="654" y="618"/>
                    </a:cubicBezTo>
                    <a:cubicBezTo>
                      <a:pt x="648" y="615"/>
                      <a:pt x="627" y="603"/>
                      <a:pt x="627" y="564"/>
                    </a:cubicBezTo>
                    <a:cubicBezTo>
                      <a:pt x="627" y="550"/>
                      <a:pt x="624" y="541"/>
                      <a:pt x="606" y="541"/>
                    </a:cubicBezTo>
                    <a:cubicBezTo>
                      <a:pt x="600" y="541"/>
                      <a:pt x="603" y="541"/>
                      <a:pt x="600" y="529"/>
                    </a:cubicBezTo>
                    <a:cubicBezTo>
                      <a:pt x="594" y="493"/>
                      <a:pt x="597" y="475"/>
                      <a:pt x="597" y="469"/>
                    </a:cubicBezTo>
                    <a:cubicBezTo>
                      <a:pt x="597" y="463"/>
                      <a:pt x="603" y="460"/>
                      <a:pt x="606" y="457"/>
                    </a:cubicBezTo>
                    <a:cubicBezTo>
                      <a:pt x="633" y="421"/>
                      <a:pt x="639" y="376"/>
                      <a:pt x="639" y="352"/>
                    </a:cubicBezTo>
                    <a:cubicBezTo>
                      <a:pt x="639" y="352"/>
                      <a:pt x="645" y="355"/>
                      <a:pt x="648" y="340"/>
                    </a:cubicBezTo>
                    <a:cubicBezTo>
                      <a:pt x="654" y="326"/>
                      <a:pt x="654" y="320"/>
                      <a:pt x="660" y="302"/>
                    </a:cubicBezTo>
                    <a:cubicBezTo>
                      <a:pt x="666" y="287"/>
                      <a:pt x="666" y="257"/>
                      <a:pt x="648" y="257"/>
                    </a:cubicBezTo>
                    <a:cubicBezTo>
                      <a:pt x="636" y="260"/>
                      <a:pt x="639" y="257"/>
                      <a:pt x="639" y="245"/>
                    </a:cubicBezTo>
                    <a:lnTo>
                      <a:pt x="639" y="143"/>
                    </a:lnTo>
                    <a:cubicBezTo>
                      <a:pt x="636" y="108"/>
                      <a:pt x="615" y="87"/>
                      <a:pt x="597" y="75"/>
                    </a:cubicBezTo>
                    <a:cubicBezTo>
                      <a:pt x="573" y="60"/>
                      <a:pt x="564" y="54"/>
                      <a:pt x="552" y="45"/>
                    </a:cubicBezTo>
                    <a:cubicBezTo>
                      <a:pt x="540" y="36"/>
                      <a:pt x="543" y="27"/>
                      <a:pt x="552" y="15"/>
                    </a:cubicBezTo>
                    <a:cubicBezTo>
                      <a:pt x="558" y="9"/>
                      <a:pt x="567" y="3"/>
                      <a:pt x="570" y="0"/>
                    </a:cubicBezTo>
                    <a:lnTo>
                      <a:pt x="564" y="0"/>
                    </a:lnTo>
                    <a:cubicBezTo>
                      <a:pt x="558" y="0"/>
                      <a:pt x="501" y="9"/>
                      <a:pt x="480" y="15"/>
                    </a:cubicBezTo>
                    <a:cubicBezTo>
                      <a:pt x="436" y="27"/>
                      <a:pt x="394" y="39"/>
                      <a:pt x="358" y="69"/>
                    </a:cubicBezTo>
                    <a:cubicBezTo>
                      <a:pt x="334" y="87"/>
                      <a:pt x="313" y="113"/>
                      <a:pt x="313" y="143"/>
                    </a:cubicBezTo>
                    <a:lnTo>
                      <a:pt x="313" y="245"/>
                    </a:lnTo>
                    <a:cubicBezTo>
                      <a:pt x="313" y="254"/>
                      <a:pt x="313" y="260"/>
                      <a:pt x="301" y="257"/>
                    </a:cubicBezTo>
                    <a:cubicBezTo>
                      <a:pt x="280" y="254"/>
                      <a:pt x="292" y="296"/>
                      <a:pt x="292" y="299"/>
                    </a:cubicBezTo>
                    <a:cubicBezTo>
                      <a:pt x="295" y="314"/>
                      <a:pt x="301" y="326"/>
                      <a:pt x="307" y="343"/>
                    </a:cubicBezTo>
                    <a:cubicBezTo>
                      <a:pt x="310" y="355"/>
                      <a:pt x="316" y="355"/>
                      <a:pt x="316" y="355"/>
                    </a:cubicBezTo>
                    <a:cubicBezTo>
                      <a:pt x="322" y="382"/>
                      <a:pt x="331" y="430"/>
                      <a:pt x="355" y="460"/>
                    </a:cubicBezTo>
                    <a:cubicBezTo>
                      <a:pt x="358" y="463"/>
                      <a:pt x="361" y="469"/>
                      <a:pt x="361" y="475"/>
                    </a:cubicBezTo>
                    <a:cubicBezTo>
                      <a:pt x="358" y="493"/>
                      <a:pt x="358" y="517"/>
                      <a:pt x="355" y="535"/>
                    </a:cubicBezTo>
                    <a:cubicBezTo>
                      <a:pt x="355" y="538"/>
                      <a:pt x="352" y="547"/>
                      <a:pt x="346" y="547"/>
                    </a:cubicBezTo>
                    <a:cubicBezTo>
                      <a:pt x="331" y="547"/>
                      <a:pt x="325" y="558"/>
                      <a:pt x="328" y="570"/>
                    </a:cubicBezTo>
                    <a:cubicBezTo>
                      <a:pt x="328" y="597"/>
                      <a:pt x="310" y="618"/>
                      <a:pt x="301" y="624"/>
                    </a:cubicBezTo>
                    <a:cubicBezTo>
                      <a:pt x="262" y="642"/>
                      <a:pt x="128" y="681"/>
                      <a:pt x="83" y="696"/>
                    </a:cubicBezTo>
                    <a:cubicBezTo>
                      <a:pt x="53" y="705"/>
                      <a:pt x="44" y="714"/>
                      <a:pt x="38" y="726"/>
                    </a:cubicBezTo>
                    <a:lnTo>
                      <a:pt x="0" y="824"/>
                    </a:lnTo>
                    <a:cubicBezTo>
                      <a:pt x="170" y="824"/>
                      <a:pt x="256" y="929"/>
                      <a:pt x="433" y="959"/>
                    </a:cubicBezTo>
                    <a:lnTo>
                      <a:pt x="436" y="959"/>
                    </a:lnTo>
                    <a:lnTo>
                      <a:pt x="388" y="875"/>
                    </a:lnTo>
                    <a:lnTo>
                      <a:pt x="480" y="618"/>
                    </a:lnTo>
                    <a:lnTo>
                      <a:pt x="450" y="556"/>
                    </a:lnTo>
                    <a:lnTo>
                      <a:pt x="510" y="556"/>
                    </a:lnTo>
                    <a:lnTo>
                      <a:pt x="480" y="618"/>
                    </a:lnTo>
                    <a:lnTo>
                      <a:pt x="573" y="875"/>
                    </a:lnTo>
                    <a:lnTo>
                      <a:pt x="516" y="953"/>
                    </a:lnTo>
                    <a:lnTo>
                      <a:pt x="522" y="953"/>
                    </a:lnTo>
                    <a:cubicBezTo>
                      <a:pt x="704" y="923"/>
                      <a:pt x="830" y="818"/>
                      <a:pt x="955" y="818"/>
                    </a:cubicBezTo>
                    <a:lnTo>
                      <a:pt x="916" y="717"/>
                    </a:lnTo>
                    <a:close/>
                    <a:moveTo>
                      <a:pt x="806" y="768"/>
                    </a:moveTo>
                    <a:lnTo>
                      <a:pt x="669" y="768"/>
                    </a:lnTo>
                    <a:lnTo>
                      <a:pt x="669" y="744"/>
                    </a:lnTo>
                    <a:lnTo>
                      <a:pt x="806" y="744"/>
                    </a:lnTo>
                    <a:lnTo>
                      <a:pt x="806" y="76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pitchFamily="34" charset="-122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56" name="îṩļïďê">
              <a:extLst>
                <a:ext uri="{FF2B5EF4-FFF2-40B4-BE49-F238E27FC236}">
                  <a16:creationId xmlns:a16="http://schemas.microsoft.com/office/drawing/2014/main" id="{3BA1F6A3-0F3D-471E-8B40-37EAFE301AAB}"/>
                </a:ext>
              </a:extLst>
            </p:cNvPr>
            <p:cNvGrpSpPr/>
            <p:nvPr/>
          </p:nvGrpSpPr>
          <p:grpSpPr>
            <a:xfrm>
              <a:off x="9404567" y="1941612"/>
              <a:ext cx="664094" cy="664094"/>
              <a:chOff x="1536181" y="2331142"/>
              <a:chExt cx="923827" cy="923827"/>
            </a:xfrm>
          </p:grpSpPr>
          <p:sp>
            <p:nvSpPr>
              <p:cNvPr id="63" name="iSḻîḍè">
                <a:extLst>
                  <a:ext uri="{FF2B5EF4-FFF2-40B4-BE49-F238E27FC236}">
                    <a16:creationId xmlns:a16="http://schemas.microsoft.com/office/drawing/2014/main" id="{A0B0B65E-1E71-4C8A-B5E8-9F8ACA033787}"/>
                  </a:ext>
                </a:extLst>
              </p:cNvPr>
              <p:cNvSpPr/>
              <p:nvPr/>
            </p:nvSpPr>
            <p:spPr>
              <a:xfrm>
                <a:off x="1536181" y="2331142"/>
                <a:ext cx="923827" cy="923827"/>
              </a:xfrm>
              <a:prstGeom prst="ellipse">
                <a:avLst/>
              </a:prstGeom>
              <a:solidFill>
                <a:srgbClr val="52D6F0"/>
              </a:solidFill>
              <a:ln w="381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64" name="ïṥľíďè">
                <a:extLst>
                  <a:ext uri="{FF2B5EF4-FFF2-40B4-BE49-F238E27FC236}">
                    <a16:creationId xmlns:a16="http://schemas.microsoft.com/office/drawing/2014/main" id="{E3638F60-F10D-4128-BB52-EFFE9BEDE35B}"/>
                  </a:ext>
                </a:extLst>
              </p:cNvPr>
              <p:cNvSpPr/>
              <p:nvPr/>
            </p:nvSpPr>
            <p:spPr>
              <a:xfrm>
                <a:off x="1724703" y="2513339"/>
                <a:ext cx="546784" cy="548254"/>
              </a:xfrm>
              <a:custGeom>
                <a:avLst/>
                <a:gdLst>
                  <a:gd name="T0" fmla="*/ 916 w 955"/>
                  <a:gd name="T1" fmla="*/ 717 h 959"/>
                  <a:gd name="T2" fmla="*/ 878 w 955"/>
                  <a:gd name="T3" fmla="*/ 690 h 959"/>
                  <a:gd name="T4" fmla="*/ 654 w 955"/>
                  <a:gd name="T5" fmla="*/ 618 h 959"/>
                  <a:gd name="T6" fmla="*/ 627 w 955"/>
                  <a:gd name="T7" fmla="*/ 564 h 959"/>
                  <a:gd name="T8" fmla="*/ 606 w 955"/>
                  <a:gd name="T9" fmla="*/ 541 h 959"/>
                  <a:gd name="T10" fmla="*/ 600 w 955"/>
                  <a:gd name="T11" fmla="*/ 529 h 959"/>
                  <a:gd name="T12" fmla="*/ 597 w 955"/>
                  <a:gd name="T13" fmla="*/ 469 h 959"/>
                  <a:gd name="T14" fmla="*/ 606 w 955"/>
                  <a:gd name="T15" fmla="*/ 457 h 959"/>
                  <a:gd name="T16" fmla="*/ 639 w 955"/>
                  <a:gd name="T17" fmla="*/ 352 h 959"/>
                  <a:gd name="T18" fmla="*/ 648 w 955"/>
                  <a:gd name="T19" fmla="*/ 340 h 959"/>
                  <a:gd name="T20" fmla="*/ 660 w 955"/>
                  <a:gd name="T21" fmla="*/ 302 h 959"/>
                  <a:gd name="T22" fmla="*/ 648 w 955"/>
                  <a:gd name="T23" fmla="*/ 257 h 959"/>
                  <a:gd name="T24" fmla="*/ 639 w 955"/>
                  <a:gd name="T25" fmla="*/ 245 h 959"/>
                  <a:gd name="T26" fmla="*/ 639 w 955"/>
                  <a:gd name="T27" fmla="*/ 143 h 959"/>
                  <a:gd name="T28" fmla="*/ 597 w 955"/>
                  <a:gd name="T29" fmla="*/ 75 h 959"/>
                  <a:gd name="T30" fmla="*/ 552 w 955"/>
                  <a:gd name="T31" fmla="*/ 45 h 959"/>
                  <a:gd name="T32" fmla="*/ 552 w 955"/>
                  <a:gd name="T33" fmla="*/ 15 h 959"/>
                  <a:gd name="T34" fmla="*/ 570 w 955"/>
                  <a:gd name="T35" fmla="*/ 0 h 959"/>
                  <a:gd name="T36" fmla="*/ 564 w 955"/>
                  <a:gd name="T37" fmla="*/ 0 h 959"/>
                  <a:gd name="T38" fmla="*/ 480 w 955"/>
                  <a:gd name="T39" fmla="*/ 15 h 959"/>
                  <a:gd name="T40" fmla="*/ 358 w 955"/>
                  <a:gd name="T41" fmla="*/ 69 h 959"/>
                  <a:gd name="T42" fmla="*/ 313 w 955"/>
                  <a:gd name="T43" fmla="*/ 143 h 959"/>
                  <a:gd name="T44" fmla="*/ 313 w 955"/>
                  <a:gd name="T45" fmla="*/ 245 h 959"/>
                  <a:gd name="T46" fmla="*/ 301 w 955"/>
                  <a:gd name="T47" fmla="*/ 257 h 959"/>
                  <a:gd name="T48" fmla="*/ 292 w 955"/>
                  <a:gd name="T49" fmla="*/ 299 h 959"/>
                  <a:gd name="T50" fmla="*/ 307 w 955"/>
                  <a:gd name="T51" fmla="*/ 343 h 959"/>
                  <a:gd name="T52" fmla="*/ 316 w 955"/>
                  <a:gd name="T53" fmla="*/ 355 h 959"/>
                  <a:gd name="T54" fmla="*/ 355 w 955"/>
                  <a:gd name="T55" fmla="*/ 460 h 959"/>
                  <a:gd name="T56" fmla="*/ 361 w 955"/>
                  <a:gd name="T57" fmla="*/ 475 h 959"/>
                  <a:gd name="T58" fmla="*/ 355 w 955"/>
                  <a:gd name="T59" fmla="*/ 535 h 959"/>
                  <a:gd name="T60" fmla="*/ 346 w 955"/>
                  <a:gd name="T61" fmla="*/ 547 h 959"/>
                  <a:gd name="T62" fmla="*/ 328 w 955"/>
                  <a:gd name="T63" fmla="*/ 570 h 959"/>
                  <a:gd name="T64" fmla="*/ 301 w 955"/>
                  <a:gd name="T65" fmla="*/ 624 h 959"/>
                  <a:gd name="T66" fmla="*/ 83 w 955"/>
                  <a:gd name="T67" fmla="*/ 696 h 959"/>
                  <a:gd name="T68" fmla="*/ 38 w 955"/>
                  <a:gd name="T69" fmla="*/ 726 h 959"/>
                  <a:gd name="T70" fmla="*/ 0 w 955"/>
                  <a:gd name="T71" fmla="*/ 824 h 959"/>
                  <a:gd name="T72" fmla="*/ 433 w 955"/>
                  <a:gd name="T73" fmla="*/ 959 h 959"/>
                  <a:gd name="T74" fmla="*/ 436 w 955"/>
                  <a:gd name="T75" fmla="*/ 959 h 959"/>
                  <a:gd name="T76" fmla="*/ 388 w 955"/>
                  <a:gd name="T77" fmla="*/ 875 h 959"/>
                  <a:gd name="T78" fmla="*/ 480 w 955"/>
                  <a:gd name="T79" fmla="*/ 618 h 959"/>
                  <a:gd name="T80" fmla="*/ 450 w 955"/>
                  <a:gd name="T81" fmla="*/ 556 h 959"/>
                  <a:gd name="T82" fmla="*/ 510 w 955"/>
                  <a:gd name="T83" fmla="*/ 556 h 959"/>
                  <a:gd name="T84" fmla="*/ 480 w 955"/>
                  <a:gd name="T85" fmla="*/ 618 h 959"/>
                  <a:gd name="T86" fmla="*/ 573 w 955"/>
                  <a:gd name="T87" fmla="*/ 875 h 959"/>
                  <a:gd name="T88" fmla="*/ 516 w 955"/>
                  <a:gd name="T89" fmla="*/ 953 h 959"/>
                  <a:gd name="T90" fmla="*/ 522 w 955"/>
                  <a:gd name="T91" fmla="*/ 953 h 959"/>
                  <a:gd name="T92" fmla="*/ 955 w 955"/>
                  <a:gd name="T93" fmla="*/ 818 h 959"/>
                  <a:gd name="T94" fmla="*/ 916 w 955"/>
                  <a:gd name="T95" fmla="*/ 717 h 959"/>
                  <a:gd name="T96" fmla="*/ 806 w 955"/>
                  <a:gd name="T97" fmla="*/ 768 h 959"/>
                  <a:gd name="T98" fmla="*/ 669 w 955"/>
                  <a:gd name="T99" fmla="*/ 768 h 959"/>
                  <a:gd name="T100" fmla="*/ 669 w 955"/>
                  <a:gd name="T101" fmla="*/ 744 h 959"/>
                  <a:gd name="T102" fmla="*/ 806 w 955"/>
                  <a:gd name="T103" fmla="*/ 744 h 959"/>
                  <a:gd name="T104" fmla="*/ 806 w 955"/>
                  <a:gd name="T105" fmla="*/ 768 h 9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955" h="959">
                    <a:moveTo>
                      <a:pt x="916" y="717"/>
                    </a:moveTo>
                    <a:cubicBezTo>
                      <a:pt x="907" y="699"/>
                      <a:pt x="896" y="696"/>
                      <a:pt x="878" y="690"/>
                    </a:cubicBezTo>
                    <a:cubicBezTo>
                      <a:pt x="800" y="660"/>
                      <a:pt x="731" y="645"/>
                      <a:pt x="654" y="618"/>
                    </a:cubicBezTo>
                    <a:cubicBezTo>
                      <a:pt x="648" y="615"/>
                      <a:pt x="627" y="603"/>
                      <a:pt x="627" y="564"/>
                    </a:cubicBezTo>
                    <a:cubicBezTo>
                      <a:pt x="627" y="550"/>
                      <a:pt x="624" y="541"/>
                      <a:pt x="606" y="541"/>
                    </a:cubicBezTo>
                    <a:cubicBezTo>
                      <a:pt x="600" y="541"/>
                      <a:pt x="603" y="541"/>
                      <a:pt x="600" y="529"/>
                    </a:cubicBezTo>
                    <a:cubicBezTo>
                      <a:pt x="594" y="493"/>
                      <a:pt x="597" y="475"/>
                      <a:pt x="597" y="469"/>
                    </a:cubicBezTo>
                    <a:cubicBezTo>
                      <a:pt x="597" y="463"/>
                      <a:pt x="603" y="460"/>
                      <a:pt x="606" y="457"/>
                    </a:cubicBezTo>
                    <a:cubicBezTo>
                      <a:pt x="633" y="421"/>
                      <a:pt x="639" y="376"/>
                      <a:pt x="639" y="352"/>
                    </a:cubicBezTo>
                    <a:cubicBezTo>
                      <a:pt x="639" y="352"/>
                      <a:pt x="645" y="355"/>
                      <a:pt x="648" y="340"/>
                    </a:cubicBezTo>
                    <a:cubicBezTo>
                      <a:pt x="654" y="326"/>
                      <a:pt x="654" y="320"/>
                      <a:pt x="660" y="302"/>
                    </a:cubicBezTo>
                    <a:cubicBezTo>
                      <a:pt x="666" y="287"/>
                      <a:pt x="666" y="257"/>
                      <a:pt x="648" y="257"/>
                    </a:cubicBezTo>
                    <a:cubicBezTo>
                      <a:pt x="636" y="260"/>
                      <a:pt x="639" y="257"/>
                      <a:pt x="639" y="245"/>
                    </a:cubicBezTo>
                    <a:lnTo>
                      <a:pt x="639" y="143"/>
                    </a:lnTo>
                    <a:cubicBezTo>
                      <a:pt x="636" y="108"/>
                      <a:pt x="615" y="87"/>
                      <a:pt x="597" y="75"/>
                    </a:cubicBezTo>
                    <a:cubicBezTo>
                      <a:pt x="573" y="60"/>
                      <a:pt x="564" y="54"/>
                      <a:pt x="552" y="45"/>
                    </a:cubicBezTo>
                    <a:cubicBezTo>
                      <a:pt x="540" y="36"/>
                      <a:pt x="543" y="27"/>
                      <a:pt x="552" y="15"/>
                    </a:cubicBezTo>
                    <a:cubicBezTo>
                      <a:pt x="558" y="9"/>
                      <a:pt x="567" y="3"/>
                      <a:pt x="570" y="0"/>
                    </a:cubicBezTo>
                    <a:lnTo>
                      <a:pt x="564" y="0"/>
                    </a:lnTo>
                    <a:cubicBezTo>
                      <a:pt x="558" y="0"/>
                      <a:pt x="501" y="9"/>
                      <a:pt x="480" y="15"/>
                    </a:cubicBezTo>
                    <a:cubicBezTo>
                      <a:pt x="436" y="27"/>
                      <a:pt x="394" y="39"/>
                      <a:pt x="358" y="69"/>
                    </a:cubicBezTo>
                    <a:cubicBezTo>
                      <a:pt x="334" y="87"/>
                      <a:pt x="313" y="113"/>
                      <a:pt x="313" y="143"/>
                    </a:cubicBezTo>
                    <a:lnTo>
                      <a:pt x="313" y="245"/>
                    </a:lnTo>
                    <a:cubicBezTo>
                      <a:pt x="313" y="254"/>
                      <a:pt x="313" y="260"/>
                      <a:pt x="301" y="257"/>
                    </a:cubicBezTo>
                    <a:cubicBezTo>
                      <a:pt x="280" y="254"/>
                      <a:pt x="292" y="296"/>
                      <a:pt x="292" y="299"/>
                    </a:cubicBezTo>
                    <a:cubicBezTo>
                      <a:pt x="295" y="314"/>
                      <a:pt x="301" y="326"/>
                      <a:pt x="307" y="343"/>
                    </a:cubicBezTo>
                    <a:cubicBezTo>
                      <a:pt x="310" y="355"/>
                      <a:pt x="316" y="355"/>
                      <a:pt x="316" y="355"/>
                    </a:cubicBezTo>
                    <a:cubicBezTo>
                      <a:pt x="322" y="382"/>
                      <a:pt x="331" y="430"/>
                      <a:pt x="355" y="460"/>
                    </a:cubicBezTo>
                    <a:cubicBezTo>
                      <a:pt x="358" y="463"/>
                      <a:pt x="361" y="469"/>
                      <a:pt x="361" y="475"/>
                    </a:cubicBezTo>
                    <a:cubicBezTo>
                      <a:pt x="358" y="493"/>
                      <a:pt x="358" y="517"/>
                      <a:pt x="355" y="535"/>
                    </a:cubicBezTo>
                    <a:cubicBezTo>
                      <a:pt x="355" y="538"/>
                      <a:pt x="352" y="547"/>
                      <a:pt x="346" y="547"/>
                    </a:cubicBezTo>
                    <a:cubicBezTo>
                      <a:pt x="331" y="547"/>
                      <a:pt x="325" y="558"/>
                      <a:pt x="328" y="570"/>
                    </a:cubicBezTo>
                    <a:cubicBezTo>
                      <a:pt x="328" y="597"/>
                      <a:pt x="310" y="618"/>
                      <a:pt x="301" y="624"/>
                    </a:cubicBezTo>
                    <a:cubicBezTo>
                      <a:pt x="262" y="642"/>
                      <a:pt x="128" y="681"/>
                      <a:pt x="83" y="696"/>
                    </a:cubicBezTo>
                    <a:cubicBezTo>
                      <a:pt x="53" y="705"/>
                      <a:pt x="44" y="714"/>
                      <a:pt x="38" y="726"/>
                    </a:cubicBezTo>
                    <a:lnTo>
                      <a:pt x="0" y="824"/>
                    </a:lnTo>
                    <a:cubicBezTo>
                      <a:pt x="170" y="824"/>
                      <a:pt x="256" y="929"/>
                      <a:pt x="433" y="959"/>
                    </a:cubicBezTo>
                    <a:lnTo>
                      <a:pt x="436" y="959"/>
                    </a:lnTo>
                    <a:lnTo>
                      <a:pt x="388" y="875"/>
                    </a:lnTo>
                    <a:lnTo>
                      <a:pt x="480" y="618"/>
                    </a:lnTo>
                    <a:lnTo>
                      <a:pt x="450" y="556"/>
                    </a:lnTo>
                    <a:lnTo>
                      <a:pt x="510" y="556"/>
                    </a:lnTo>
                    <a:lnTo>
                      <a:pt x="480" y="618"/>
                    </a:lnTo>
                    <a:lnTo>
                      <a:pt x="573" y="875"/>
                    </a:lnTo>
                    <a:lnTo>
                      <a:pt x="516" y="953"/>
                    </a:lnTo>
                    <a:lnTo>
                      <a:pt x="522" y="953"/>
                    </a:lnTo>
                    <a:cubicBezTo>
                      <a:pt x="704" y="923"/>
                      <a:pt x="830" y="818"/>
                      <a:pt x="955" y="818"/>
                    </a:cubicBezTo>
                    <a:lnTo>
                      <a:pt x="916" y="717"/>
                    </a:lnTo>
                    <a:close/>
                    <a:moveTo>
                      <a:pt x="806" y="768"/>
                    </a:moveTo>
                    <a:lnTo>
                      <a:pt x="669" y="768"/>
                    </a:lnTo>
                    <a:lnTo>
                      <a:pt x="669" y="744"/>
                    </a:lnTo>
                    <a:lnTo>
                      <a:pt x="806" y="744"/>
                    </a:lnTo>
                    <a:lnTo>
                      <a:pt x="806" y="768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pitchFamily="34" charset="-122"/>
                  <a:sym typeface="Times New Roman" panose="02020603050405020304" pitchFamily="18" charset="0"/>
                </a:endParaRPr>
              </a:p>
            </p:txBody>
          </p:sp>
        </p:grpSp>
      </p:grpSp>
      <p:sp>
        <p:nvSpPr>
          <p:cNvPr id="40" name="CustomText2">
            <a:extLst>
              <a:ext uri="{FF2B5EF4-FFF2-40B4-BE49-F238E27FC236}">
                <a16:creationId xmlns:a16="http://schemas.microsoft.com/office/drawing/2014/main" id="{CE174714-32B3-4A9A-81BB-226F92812704}"/>
              </a:ext>
            </a:extLst>
          </p:cNvPr>
          <p:cNvSpPr txBox="1"/>
          <p:nvPr/>
        </p:nvSpPr>
        <p:spPr bwMode="auto">
          <a:xfrm>
            <a:off x="2167458" y="1735187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/>
              <a:t>P0 脚手架</a:t>
            </a:r>
          </a:p>
        </p:txBody>
      </p:sp>
      <p:sp>
        <p:nvSpPr>
          <p:cNvPr id="41" name="CustomText2">
            <a:extLst>
              <a:ext uri="{FF2B5EF4-FFF2-40B4-BE49-F238E27FC236}">
                <a16:creationId xmlns:a16="http://schemas.microsoft.com/office/drawing/2014/main" id="{CA21A2D9-5983-4336-A099-236790566DB6}"/>
              </a:ext>
            </a:extLst>
          </p:cNvPr>
          <p:cNvSpPr txBox="1"/>
          <p:nvPr/>
        </p:nvSpPr>
        <p:spPr bwMode="auto">
          <a:xfrm>
            <a:off x="5409844" y="1735187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/>
              <a:t>P1 基础 CRUD</a:t>
            </a:r>
          </a:p>
        </p:txBody>
      </p:sp>
      <p:sp>
        <p:nvSpPr>
          <p:cNvPr id="42" name="CustomText2">
            <a:extLst>
              <a:ext uri="{FF2B5EF4-FFF2-40B4-BE49-F238E27FC236}">
                <a16:creationId xmlns:a16="http://schemas.microsoft.com/office/drawing/2014/main" id="{1E796501-4F77-47BF-8CF8-BF740F49B888}"/>
              </a:ext>
            </a:extLst>
          </p:cNvPr>
          <p:cNvSpPr txBox="1"/>
          <p:nvPr/>
        </p:nvSpPr>
        <p:spPr bwMode="auto">
          <a:xfrm>
            <a:off x="8531744" y="1735187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400" b="1"/>
              <a:t>P2 核心预约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C641182-79F0-4EFC-8BBA-CBD76F8F1946}"/>
              </a:ext>
            </a:extLst>
          </p:cNvPr>
          <p:cNvSpPr/>
          <p:nvPr/>
        </p:nvSpPr>
        <p:spPr>
          <a:xfrm>
            <a:off x="2066197" y="3358030"/>
            <a:ext cx="1742101" cy="2358014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100"/>
              <a:t>建库建表
Docker Compose 环境
Sa-Token 登录骨架
Knife4j 接口文档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7E11750-E4ED-4B86-BF7C-1A4C2C321538}"/>
              </a:ext>
            </a:extLst>
          </p:cNvPr>
          <p:cNvSpPr/>
          <p:nvPr/>
        </p:nvSpPr>
        <p:spPr>
          <a:xfrm>
            <a:off x="5308582" y="3358030"/>
            <a:ext cx="1742101" cy="2358014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100"/>
              <a:t>校区/楼栋/自习室管理
座位排布录入
用户学号注册认证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EBD1971-14EC-4A91-99E5-94F8FEA77064}"/>
              </a:ext>
            </a:extLst>
          </p:cNvPr>
          <p:cNvSpPr/>
          <p:nvPr/>
        </p:nvSpPr>
        <p:spPr>
          <a:xfrm>
            <a:off x="8550967" y="3358030"/>
            <a:ext cx="1742101" cy="2358014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sz="1100"/>
              <a:t>筛选空闲座位
预约（唯一索引+锁）
单日次数限制
主流程跑通！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23251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-图片 4-36772" hidden="1">
            <a:extLst>
              <a:ext uri="{FF2B5EF4-FFF2-40B4-BE49-F238E27FC236}">
                <a16:creationId xmlns:a16="http://schemas.microsoft.com/office/drawing/2014/main" id="{CCD1F033-62B8-4B43-B53D-696E679DBE52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" b="3580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15" name="矩形 14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12E1C810-E67F-4A66-AC0B-9BEACA33FDD6}"/>
              </a:ext>
            </a:extLst>
          </p:cNvPr>
          <p:cNvSpPr/>
          <p:nvPr/>
        </p:nvSpPr>
        <p:spPr>
          <a:xfrm>
            <a:off x="764285" y="1090622"/>
            <a:ext cx="10834988" cy="493127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pic>
        <p:nvPicPr>
          <p:cNvPr id="14" name="Picture 2" descr="e7d195523061f1c0c989bbdf341b111e769f2ee359bd8df638E53E9931A62DC22263A6E1A75FFBC630BB5D77BA969D9175F253EB94D93A1189E24A7D909BAD0376573965191318DE1FD009565C070D073BB9699A615072F33A2D7F2042825409E74418739478CCFE042368A9978AAA8C0D69BECA006E016AFCFD402FEC3B700C5AEC73BEFFE372DE">
            <a:extLst>
              <a:ext uri="{FF2B5EF4-FFF2-40B4-BE49-F238E27FC236}">
                <a16:creationId xmlns:a16="http://schemas.microsoft.com/office/drawing/2014/main" id="{87629AD9-D353-4915-B315-33F7A5DD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6871" y="6034974"/>
            <a:ext cx="10834987" cy="4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6581E38-654F-4D18-9F1E-E11D9EDD37F1}"/>
              </a:ext>
            </a:extLst>
          </p:cNvPr>
          <p:cNvSpPr txBox="1"/>
          <p:nvPr/>
        </p:nvSpPr>
        <p:spPr>
          <a:xfrm>
            <a:off x="8907676" y="6246595"/>
            <a:ext cx="2403222" cy="363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强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息   止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善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DF23506-552E-487F-86D8-918A4C42BF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341" y="6200790"/>
            <a:ext cx="430163" cy="430163"/>
          </a:xfrm>
          <a:prstGeom prst="rect">
            <a:avLst/>
          </a:prstGeom>
        </p:spPr>
      </p:pic>
      <p:sp>
        <p:nvSpPr>
          <p:cNvPr id="31" name="图文框 30">
            <a:extLst>
              <a:ext uri="{FF2B5EF4-FFF2-40B4-BE49-F238E27FC236}">
                <a16:creationId xmlns:a16="http://schemas.microsoft.com/office/drawing/2014/main" id="{C674F360-61EF-4C54-B413-D4E89B600EFA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frame">
            <a:avLst>
              <a:gd name="adj1" fmla="val 2553"/>
            </a:avLst>
          </a:prstGeom>
          <a:solidFill>
            <a:srgbClr val="52D6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`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32" name="27194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71C2688-6F0A-46A7-9CD5-51BBBA66D10B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764285" y="1691250"/>
            <a:ext cx="10834987" cy="4307567"/>
            <a:chOff x="55565" y="1297784"/>
            <a:chExt cx="12192000" cy="4875139"/>
          </a:xfrm>
        </p:grpSpPr>
        <p:sp>
          <p:nvSpPr>
            <p:cNvPr id="33" name="iŝḷïḍè">
              <a:extLst>
                <a:ext uri="{FF2B5EF4-FFF2-40B4-BE49-F238E27FC236}">
                  <a16:creationId xmlns:a16="http://schemas.microsoft.com/office/drawing/2014/main" id="{B1080EA9-2F87-4590-8536-44B5F95DEBDD}"/>
                </a:ext>
              </a:extLst>
            </p:cNvPr>
            <p:cNvSpPr/>
            <p:nvPr/>
          </p:nvSpPr>
          <p:spPr>
            <a:xfrm>
              <a:off x="55565" y="3012601"/>
              <a:ext cx="12192000" cy="3160322"/>
            </a:xfrm>
            <a:prstGeom prst="rect">
              <a:avLst/>
            </a:prstGeom>
            <a:solidFill>
              <a:srgbClr val="52D6F0"/>
            </a:solidFill>
            <a:ln w="12700" cap="flat" cmpd="sng" algn="ctr">
              <a:solidFill>
                <a:srgbClr val="52D6F0"/>
              </a:solidFill>
              <a:prstDash val="solid"/>
              <a:miter lim="800000"/>
            </a:ln>
            <a:effectLst/>
          </p:spPr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" name="íSḷiḑé">
              <a:extLst>
                <a:ext uri="{FF2B5EF4-FFF2-40B4-BE49-F238E27FC236}">
                  <a16:creationId xmlns:a16="http://schemas.microsoft.com/office/drawing/2014/main" id="{92BBDE24-7E79-4170-8DCF-A85D5832F2CB}"/>
                </a:ext>
              </a:extLst>
            </p:cNvPr>
            <p:cNvSpPr/>
            <p:nvPr/>
          </p:nvSpPr>
          <p:spPr>
            <a:xfrm>
              <a:off x="670560" y="1841496"/>
              <a:ext cx="2341545" cy="2342211"/>
            </a:xfrm>
            <a:prstGeom prst="diamond">
              <a:avLst/>
            </a:prstGeom>
            <a:blipFill dpi="0" rotWithShape="1">
              <a:blip r:embed="rId10">
                <a:alphaModFix amt="9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900" t="-47414" r="-71100" b="4773"/>
              </a:stretch>
            </a:blipFill>
            <a:ln w="76200" cap="flat" cmpd="sng" algn="ctr">
              <a:solidFill>
                <a:sysClr val="window" lastClr="FFFFFF">
                  <a:alpha val="73000"/>
                </a:sysClr>
              </a:solidFill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" name="ïṥḷïďê">
              <a:extLst>
                <a:ext uri="{FF2B5EF4-FFF2-40B4-BE49-F238E27FC236}">
                  <a16:creationId xmlns:a16="http://schemas.microsoft.com/office/drawing/2014/main" id="{772FED26-1DE2-4754-937E-40C9238BF440}"/>
                </a:ext>
              </a:extLst>
            </p:cNvPr>
            <p:cNvSpPr/>
            <p:nvPr/>
          </p:nvSpPr>
          <p:spPr>
            <a:xfrm>
              <a:off x="2801756" y="1841496"/>
              <a:ext cx="2341545" cy="2342211"/>
            </a:xfrm>
            <a:prstGeom prst="diamond">
              <a:avLst/>
            </a:prstGeom>
            <a:blipFill dpi="0" rotWithShape="1">
              <a:blip r:embed="rId10">
                <a:alphaModFix amt="93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58125" t="-126563" r="-68505" b="2164"/>
              </a:stretch>
            </a:blipFill>
            <a:ln w="76200" cap="flat" cmpd="sng" algn="ctr">
              <a:solidFill>
                <a:sysClr val="window" lastClr="FFFFFF">
                  <a:alpha val="73000"/>
                </a:sysClr>
              </a:solidFill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" name="isļíḑé">
              <a:extLst>
                <a:ext uri="{FF2B5EF4-FFF2-40B4-BE49-F238E27FC236}">
                  <a16:creationId xmlns:a16="http://schemas.microsoft.com/office/drawing/2014/main" id="{D96E9862-F87C-4241-BE13-7356A9077821}"/>
                </a:ext>
              </a:extLst>
            </p:cNvPr>
            <p:cNvSpPr/>
            <p:nvPr/>
          </p:nvSpPr>
          <p:spPr>
            <a:xfrm>
              <a:off x="7052561" y="1841496"/>
              <a:ext cx="2341545" cy="2342211"/>
            </a:xfrm>
            <a:prstGeom prst="diamond">
              <a:avLst/>
            </a:prstGeom>
            <a:blipFill dpi="0" rotWithShape="1">
              <a:blip r:embed="rId10">
                <a:alphaModFix amt="9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33380" t="-150045" r="-26120" b="-3925"/>
              </a:stretch>
            </a:blipFill>
            <a:ln w="76200" cap="flat" cmpd="sng" algn="ctr">
              <a:solidFill>
                <a:sysClr val="window" lastClr="FFFFFF">
                  <a:alpha val="73000"/>
                </a:sysClr>
              </a:solidFill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7" name="işlîḓe">
              <a:extLst>
                <a:ext uri="{FF2B5EF4-FFF2-40B4-BE49-F238E27FC236}">
                  <a16:creationId xmlns:a16="http://schemas.microsoft.com/office/drawing/2014/main" id="{35717105-7340-4E5A-8BF2-943ED21389D8}"/>
                </a:ext>
              </a:extLst>
            </p:cNvPr>
            <p:cNvSpPr/>
            <p:nvPr/>
          </p:nvSpPr>
          <p:spPr>
            <a:xfrm>
              <a:off x="9179895" y="1841496"/>
              <a:ext cx="2341545" cy="2342211"/>
            </a:xfrm>
            <a:prstGeom prst="diamond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91860" t="-56981" r="-1900" b="-39585"/>
              </a:stretch>
            </a:blipFill>
            <a:ln w="76200" cap="flat" cmpd="sng" algn="ctr">
              <a:solidFill>
                <a:sysClr val="window" lastClr="FFFFFF">
                  <a:alpha val="73000"/>
                </a:sysClr>
              </a:solidFill>
              <a:prstDash val="solid"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8" name="íṧľídé">
              <a:extLst>
                <a:ext uri="{FF2B5EF4-FFF2-40B4-BE49-F238E27FC236}">
                  <a16:creationId xmlns:a16="http://schemas.microsoft.com/office/drawing/2014/main" id="{C240F444-60ED-484A-AC58-3916167123D5}"/>
                </a:ext>
              </a:extLst>
            </p:cNvPr>
            <p:cNvSpPr/>
            <p:nvPr/>
          </p:nvSpPr>
          <p:spPr>
            <a:xfrm>
              <a:off x="4430473" y="1297784"/>
              <a:ext cx="3187258" cy="3188165"/>
            </a:xfrm>
            <a:prstGeom prst="diamond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9" name="î$líďé">
              <a:extLst>
                <a:ext uri="{FF2B5EF4-FFF2-40B4-BE49-F238E27FC236}">
                  <a16:creationId xmlns:a16="http://schemas.microsoft.com/office/drawing/2014/main" id="{C38E7F1C-FE16-4236-8480-6FD0B56DEBF1}"/>
                </a:ext>
              </a:extLst>
            </p:cNvPr>
            <p:cNvSpPr/>
            <p:nvPr/>
          </p:nvSpPr>
          <p:spPr bwMode="auto">
            <a:xfrm>
              <a:off x="5888435" y="2538665"/>
              <a:ext cx="415130" cy="444638"/>
            </a:xfrm>
            <a:custGeom>
              <a:avLst/>
              <a:gdLst>
                <a:gd name="connsiteX0" fmla="*/ 458586 w 565731"/>
                <a:gd name="connsiteY0" fmla="*/ 166887 h 605945"/>
                <a:gd name="connsiteX1" fmla="*/ 538915 w 565731"/>
                <a:gd name="connsiteY1" fmla="*/ 182885 h 605945"/>
                <a:gd name="connsiteX2" fmla="*/ 541140 w 565731"/>
                <a:gd name="connsiteY2" fmla="*/ 184218 h 605945"/>
                <a:gd name="connsiteX3" fmla="*/ 544478 w 565731"/>
                <a:gd name="connsiteY3" fmla="*/ 186217 h 605945"/>
                <a:gd name="connsiteX4" fmla="*/ 546703 w 565731"/>
                <a:gd name="connsiteY4" fmla="*/ 188884 h 605945"/>
                <a:gd name="connsiteX5" fmla="*/ 548929 w 565731"/>
                <a:gd name="connsiteY5" fmla="*/ 191772 h 605945"/>
                <a:gd name="connsiteX6" fmla="*/ 550041 w 565731"/>
                <a:gd name="connsiteY6" fmla="*/ 195549 h 605945"/>
                <a:gd name="connsiteX7" fmla="*/ 550931 w 565731"/>
                <a:gd name="connsiteY7" fmla="*/ 198215 h 605945"/>
                <a:gd name="connsiteX8" fmla="*/ 565617 w 565731"/>
                <a:gd name="connsiteY8" fmla="*/ 331082 h 605945"/>
                <a:gd name="connsiteX9" fmla="*/ 549374 w 565731"/>
                <a:gd name="connsiteY9" fmla="*/ 351301 h 605945"/>
                <a:gd name="connsiteX10" fmla="*/ 547371 w 565731"/>
                <a:gd name="connsiteY10" fmla="*/ 351524 h 605945"/>
                <a:gd name="connsiteX11" fmla="*/ 528902 w 565731"/>
                <a:gd name="connsiteY11" fmla="*/ 335082 h 605945"/>
                <a:gd name="connsiteX12" fmla="*/ 515551 w 565731"/>
                <a:gd name="connsiteY12" fmla="*/ 213991 h 605945"/>
                <a:gd name="connsiteX13" fmla="*/ 510433 w 565731"/>
                <a:gd name="connsiteY13" fmla="*/ 212657 h 605945"/>
                <a:gd name="connsiteX14" fmla="*/ 510433 w 565731"/>
                <a:gd name="connsiteY14" fmla="*/ 338415 h 605945"/>
                <a:gd name="connsiteX15" fmla="*/ 525119 w 565731"/>
                <a:gd name="connsiteY15" fmla="*/ 521051 h 605945"/>
                <a:gd name="connsiteX16" fmla="*/ 504647 w 565731"/>
                <a:gd name="connsiteY16" fmla="*/ 544825 h 605945"/>
                <a:gd name="connsiteX17" fmla="*/ 502867 w 565731"/>
                <a:gd name="connsiteY17" fmla="*/ 545047 h 605945"/>
                <a:gd name="connsiteX18" fmla="*/ 480838 w 565731"/>
                <a:gd name="connsiteY18" fmla="*/ 524606 h 605945"/>
                <a:gd name="connsiteX19" fmla="*/ 467487 w 565731"/>
                <a:gd name="connsiteY19" fmla="*/ 359522 h 605945"/>
                <a:gd name="connsiteX20" fmla="*/ 458586 w 565731"/>
                <a:gd name="connsiteY20" fmla="*/ 361522 h 605945"/>
                <a:gd name="connsiteX21" fmla="*/ 449685 w 565731"/>
                <a:gd name="connsiteY21" fmla="*/ 359522 h 605945"/>
                <a:gd name="connsiteX22" fmla="*/ 436334 w 565731"/>
                <a:gd name="connsiteY22" fmla="*/ 524606 h 605945"/>
                <a:gd name="connsiteX23" fmla="*/ 414305 w 565731"/>
                <a:gd name="connsiteY23" fmla="*/ 545047 h 605945"/>
                <a:gd name="connsiteX24" fmla="*/ 412525 w 565731"/>
                <a:gd name="connsiteY24" fmla="*/ 544825 h 605945"/>
                <a:gd name="connsiteX25" fmla="*/ 392276 w 565731"/>
                <a:gd name="connsiteY25" fmla="*/ 521051 h 605945"/>
                <a:gd name="connsiteX26" fmla="*/ 403402 w 565731"/>
                <a:gd name="connsiteY26" fmla="*/ 380852 h 605945"/>
                <a:gd name="connsiteX27" fmla="*/ 426321 w 565731"/>
                <a:gd name="connsiteY27" fmla="*/ 366632 h 605945"/>
                <a:gd name="connsiteX28" fmla="*/ 435222 w 565731"/>
                <a:gd name="connsiteY28" fmla="*/ 335971 h 605945"/>
                <a:gd name="connsiteX29" fmla="*/ 416975 w 565731"/>
                <a:gd name="connsiteY29" fmla="*/ 171998 h 605945"/>
                <a:gd name="connsiteX30" fmla="*/ 458586 w 565731"/>
                <a:gd name="connsiteY30" fmla="*/ 166887 h 605945"/>
                <a:gd name="connsiteX31" fmla="*/ 107223 w 565731"/>
                <a:gd name="connsiteY31" fmla="*/ 166887 h 605945"/>
                <a:gd name="connsiteX32" fmla="*/ 148848 w 565731"/>
                <a:gd name="connsiteY32" fmla="*/ 171998 h 605945"/>
                <a:gd name="connsiteX33" fmla="*/ 130595 w 565731"/>
                <a:gd name="connsiteY33" fmla="*/ 335971 h 605945"/>
                <a:gd name="connsiteX34" fmla="*/ 139499 w 565731"/>
                <a:gd name="connsiteY34" fmla="*/ 366632 h 605945"/>
                <a:gd name="connsiteX35" fmla="*/ 162204 w 565731"/>
                <a:gd name="connsiteY35" fmla="*/ 380852 h 605945"/>
                <a:gd name="connsiteX36" fmla="*/ 173556 w 565731"/>
                <a:gd name="connsiteY36" fmla="*/ 521051 h 605945"/>
                <a:gd name="connsiteX37" fmla="*/ 153300 w 565731"/>
                <a:gd name="connsiteY37" fmla="*/ 545047 h 605945"/>
                <a:gd name="connsiteX38" fmla="*/ 151519 w 565731"/>
                <a:gd name="connsiteY38" fmla="*/ 545047 h 605945"/>
                <a:gd name="connsiteX39" fmla="*/ 129483 w 565731"/>
                <a:gd name="connsiteY39" fmla="*/ 524606 h 605945"/>
                <a:gd name="connsiteX40" fmla="*/ 116127 w 565731"/>
                <a:gd name="connsiteY40" fmla="*/ 359522 h 605945"/>
                <a:gd name="connsiteX41" fmla="*/ 107223 w 565731"/>
                <a:gd name="connsiteY41" fmla="*/ 361522 h 605945"/>
                <a:gd name="connsiteX42" fmla="*/ 98097 w 565731"/>
                <a:gd name="connsiteY42" fmla="*/ 359522 h 605945"/>
                <a:gd name="connsiteX43" fmla="*/ 84964 w 565731"/>
                <a:gd name="connsiteY43" fmla="*/ 524606 h 605945"/>
                <a:gd name="connsiteX44" fmla="*/ 62704 w 565731"/>
                <a:gd name="connsiteY44" fmla="*/ 545047 h 605945"/>
                <a:gd name="connsiteX45" fmla="*/ 60924 w 565731"/>
                <a:gd name="connsiteY45" fmla="*/ 545047 h 605945"/>
                <a:gd name="connsiteX46" fmla="*/ 40668 w 565731"/>
                <a:gd name="connsiteY46" fmla="*/ 521051 h 605945"/>
                <a:gd name="connsiteX47" fmla="*/ 55359 w 565731"/>
                <a:gd name="connsiteY47" fmla="*/ 338415 h 605945"/>
                <a:gd name="connsiteX48" fmla="*/ 55359 w 565731"/>
                <a:gd name="connsiteY48" fmla="*/ 212657 h 605945"/>
                <a:gd name="connsiteX49" fmla="*/ 50239 w 565731"/>
                <a:gd name="connsiteY49" fmla="*/ 213991 h 605945"/>
                <a:gd name="connsiteX50" fmla="*/ 36884 w 565731"/>
                <a:gd name="connsiteY50" fmla="*/ 335082 h 605945"/>
                <a:gd name="connsiteX51" fmla="*/ 18408 w 565731"/>
                <a:gd name="connsiteY51" fmla="*/ 351524 h 605945"/>
                <a:gd name="connsiteX52" fmla="*/ 16405 w 565731"/>
                <a:gd name="connsiteY52" fmla="*/ 351301 h 605945"/>
                <a:gd name="connsiteX53" fmla="*/ 156 w 565731"/>
                <a:gd name="connsiteY53" fmla="*/ 331082 h 605945"/>
                <a:gd name="connsiteX54" fmla="*/ 14847 w 565731"/>
                <a:gd name="connsiteY54" fmla="*/ 198215 h 605945"/>
                <a:gd name="connsiteX55" fmla="*/ 15737 w 565731"/>
                <a:gd name="connsiteY55" fmla="*/ 195549 h 605945"/>
                <a:gd name="connsiteX56" fmla="*/ 16850 w 565731"/>
                <a:gd name="connsiteY56" fmla="*/ 191772 h 605945"/>
                <a:gd name="connsiteX57" fmla="*/ 19299 w 565731"/>
                <a:gd name="connsiteY57" fmla="*/ 188439 h 605945"/>
                <a:gd name="connsiteX58" fmla="*/ 21079 w 565731"/>
                <a:gd name="connsiteY58" fmla="*/ 186440 h 605945"/>
                <a:gd name="connsiteX59" fmla="*/ 25976 w 565731"/>
                <a:gd name="connsiteY59" fmla="*/ 183551 h 605945"/>
                <a:gd name="connsiteX60" fmla="*/ 26867 w 565731"/>
                <a:gd name="connsiteY60" fmla="*/ 182885 h 605945"/>
                <a:gd name="connsiteX61" fmla="*/ 27312 w 565731"/>
                <a:gd name="connsiteY61" fmla="*/ 182662 h 605945"/>
                <a:gd name="connsiteX62" fmla="*/ 28202 w 565731"/>
                <a:gd name="connsiteY62" fmla="*/ 182440 h 605945"/>
                <a:gd name="connsiteX63" fmla="*/ 107223 w 565731"/>
                <a:gd name="connsiteY63" fmla="*/ 166887 h 605945"/>
                <a:gd name="connsiteX64" fmla="*/ 291929 w 565731"/>
                <a:gd name="connsiteY64" fmla="*/ 132875 h 605945"/>
                <a:gd name="connsiteX65" fmla="*/ 383170 w 565731"/>
                <a:gd name="connsiteY65" fmla="*/ 152651 h 605945"/>
                <a:gd name="connsiteX66" fmla="*/ 386063 w 565731"/>
                <a:gd name="connsiteY66" fmla="*/ 154207 h 605945"/>
                <a:gd name="connsiteX67" fmla="*/ 390291 w 565731"/>
                <a:gd name="connsiteY67" fmla="*/ 156873 h 605945"/>
                <a:gd name="connsiteX68" fmla="*/ 393184 w 565731"/>
                <a:gd name="connsiteY68" fmla="*/ 160206 h 605945"/>
                <a:gd name="connsiteX69" fmla="*/ 395855 w 565731"/>
                <a:gd name="connsiteY69" fmla="*/ 163761 h 605945"/>
                <a:gd name="connsiteX70" fmla="*/ 397412 w 565731"/>
                <a:gd name="connsiteY70" fmla="*/ 168650 h 605945"/>
                <a:gd name="connsiteX71" fmla="*/ 398303 w 565731"/>
                <a:gd name="connsiteY71" fmla="*/ 171761 h 605945"/>
                <a:gd name="connsiteX72" fmla="*/ 416773 w 565731"/>
                <a:gd name="connsiteY72" fmla="*/ 337969 h 605945"/>
                <a:gd name="connsiteX73" fmla="*/ 396522 w 565731"/>
                <a:gd name="connsiteY73" fmla="*/ 363522 h 605945"/>
                <a:gd name="connsiteX74" fmla="*/ 393852 w 565731"/>
                <a:gd name="connsiteY74" fmla="*/ 363744 h 605945"/>
                <a:gd name="connsiteX75" fmla="*/ 370930 w 565731"/>
                <a:gd name="connsiteY75" fmla="*/ 343079 h 605945"/>
                <a:gd name="connsiteX76" fmla="*/ 354017 w 565731"/>
                <a:gd name="connsiteY76" fmla="*/ 191759 h 605945"/>
                <a:gd name="connsiteX77" fmla="*/ 347564 w 565731"/>
                <a:gd name="connsiteY77" fmla="*/ 189759 h 605945"/>
                <a:gd name="connsiteX78" fmla="*/ 347564 w 565731"/>
                <a:gd name="connsiteY78" fmla="*/ 347523 h 605945"/>
                <a:gd name="connsiteX79" fmla="*/ 366034 w 565731"/>
                <a:gd name="connsiteY79" fmla="*/ 575948 h 605945"/>
                <a:gd name="connsiteX80" fmla="*/ 340665 w 565731"/>
                <a:gd name="connsiteY80" fmla="*/ 605723 h 605945"/>
                <a:gd name="connsiteX81" fmla="*/ 338440 w 565731"/>
                <a:gd name="connsiteY81" fmla="*/ 605945 h 605945"/>
                <a:gd name="connsiteX82" fmla="*/ 310622 w 565731"/>
                <a:gd name="connsiteY82" fmla="*/ 580392 h 605945"/>
                <a:gd name="connsiteX83" fmla="*/ 294154 w 565731"/>
                <a:gd name="connsiteY83" fmla="*/ 373965 h 605945"/>
                <a:gd name="connsiteX84" fmla="*/ 282805 w 565731"/>
                <a:gd name="connsiteY84" fmla="*/ 376187 h 605945"/>
                <a:gd name="connsiteX85" fmla="*/ 271678 w 565731"/>
                <a:gd name="connsiteY85" fmla="*/ 373965 h 605945"/>
                <a:gd name="connsiteX86" fmla="*/ 254987 w 565731"/>
                <a:gd name="connsiteY86" fmla="*/ 580392 h 605945"/>
                <a:gd name="connsiteX87" fmla="*/ 227393 w 565731"/>
                <a:gd name="connsiteY87" fmla="*/ 605945 h 605945"/>
                <a:gd name="connsiteX88" fmla="*/ 225167 w 565731"/>
                <a:gd name="connsiteY88" fmla="*/ 605723 h 605945"/>
                <a:gd name="connsiteX89" fmla="*/ 199798 w 565731"/>
                <a:gd name="connsiteY89" fmla="*/ 575948 h 605945"/>
                <a:gd name="connsiteX90" fmla="*/ 218046 w 565731"/>
                <a:gd name="connsiteY90" fmla="*/ 347523 h 605945"/>
                <a:gd name="connsiteX91" fmla="*/ 218046 w 565731"/>
                <a:gd name="connsiteY91" fmla="*/ 189759 h 605945"/>
                <a:gd name="connsiteX92" fmla="*/ 211815 w 565731"/>
                <a:gd name="connsiteY92" fmla="*/ 191759 h 605945"/>
                <a:gd name="connsiteX93" fmla="*/ 194902 w 565731"/>
                <a:gd name="connsiteY93" fmla="*/ 343079 h 605945"/>
                <a:gd name="connsiteX94" fmla="*/ 171980 w 565731"/>
                <a:gd name="connsiteY94" fmla="*/ 363744 h 605945"/>
                <a:gd name="connsiteX95" fmla="*/ 169310 w 565731"/>
                <a:gd name="connsiteY95" fmla="*/ 363522 h 605945"/>
                <a:gd name="connsiteX96" fmla="*/ 148836 w 565731"/>
                <a:gd name="connsiteY96" fmla="*/ 337969 h 605945"/>
                <a:gd name="connsiteX97" fmla="*/ 167307 w 565731"/>
                <a:gd name="connsiteY97" fmla="*/ 171761 h 605945"/>
                <a:gd name="connsiteX98" fmla="*/ 168420 w 565731"/>
                <a:gd name="connsiteY98" fmla="*/ 168428 h 605945"/>
                <a:gd name="connsiteX99" fmla="*/ 169977 w 565731"/>
                <a:gd name="connsiteY99" fmla="*/ 163984 h 605945"/>
                <a:gd name="connsiteX100" fmla="*/ 173093 w 565731"/>
                <a:gd name="connsiteY100" fmla="*/ 159540 h 605945"/>
                <a:gd name="connsiteX101" fmla="*/ 175096 w 565731"/>
                <a:gd name="connsiteY101" fmla="*/ 157095 h 605945"/>
                <a:gd name="connsiteX102" fmla="*/ 181327 w 565731"/>
                <a:gd name="connsiteY102" fmla="*/ 153318 h 605945"/>
                <a:gd name="connsiteX103" fmla="*/ 182440 w 565731"/>
                <a:gd name="connsiteY103" fmla="*/ 152651 h 605945"/>
                <a:gd name="connsiteX104" fmla="*/ 183107 w 565731"/>
                <a:gd name="connsiteY104" fmla="*/ 152429 h 605945"/>
                <a:gd name="connsiteX105" fmla="*/ 184220 w 565731"/>
                <a:gd name="connsiteY105" fmla="*/ 151985 h 605945"/>
                <a:gd name="connsiteX106" fmla="*/ 273903 w 565731"/>
                <a:gd name="connsiteY106" fmla="*/ 133097 h 605945"/>
                <a:gd name="connsiteX107" fmla="*/ 279689 w 565731"/>
                <a:gd name="connsiteY107" fmla="*/ 144652 h 605945"/>
                <a:gd name="connsiteX108" fmla="*/ 279912 w 565731"/>
                <a:gd name="connsiteY108" fmla="*/ 144652 h 605945"/>
                <a:gd name="connsiteX109" fmla="*/ 264334 w 565731"/>
                <a:gd name="connsiteY109" fmla="*/ 265975 h 605945"/>
                <a:gd name="connsiteX110" fmla="*/ 282805 w 565731"/>
                <a:gd name="connsiteY110" fmla="*/ 298194 h 605945"/>
                <a:gd name="connsiteX111" fmla="*/ 301498 w 565731"/>
                <a:gd name="connsiteY111" fmla="*/ 265975 h 605945"/>
                <a:gd name="connsiteX112" fmla="*/ 285920 w 565731"/>
                <a:gd name="connsiteY112" fmla="*/ 144652 h 605945"/>
                <a:gd name="connsiteX113" fmla="*/ 458589 w 565731"/>
                <a:gd name="connsiteY113" fmla="*/ 60898 h 605945"/>
                <a:gd name="connsiteX114" fmla="*/ 505339 w 565731"/>
                <a:gd name="connsiteY114" fmla="*/ 111988 h 605945"/>
                <a:gd name="connsiteX115" fmla="*/ 458589 w 565731"/>
                <a:gd name="connsiteY115" fmla="*/ 163078 h 605945"/>
                <a:gd name="connsiteX116" fmla="*/ 411839 w 565731"/>
                <a:gd name="connsiteY116" fmla="*/ 111988 h 605945"/>
                <a:gd name="connsiteX117" fmla="*/ 458589 w 565731"/>
                <a:gd name="connsiteY117" fmla="*/ 60898 h 605945"/>
                <a:gd name="connsiteX118" fmla="*/ 107209 w 565731"/>
                <a:gd name="connsiteY118" fmla="*/ 60898 h 605945"/>
                <a:gd name="connsiteX119" fmla="*/ 153924 w 565731"/>
                <a:gd name="connsiteY119" fmla="*/ 111988 h 605945"/>
                <a:gd name="connsiteX120" fmla="*/ 107209 w 565731"/>
                <a:gd name="connsiteY120" fmla="*/ 163078 h 605945"/>
                <a:gd name="connsiteX121" fmla="*/ 60494 w 565731"/>
                <a:gd name="connsiteY121" fmla="*/ 111988 h 605945"/>
                <a:gd name="connsiteX122" fmla="*/ 107209 w 565731"/>
                <a:gd name="connsiteY122" fmla="*/ 60898 h 605945"/>
                <a:gd name="connsiteX123" fmla="*/ 282810 w 565731"/>
                <a:gd name="connsiteY123" fmla="*/ 0 h 605945"/>
                <a:gd name="connsiteX124" fmla="*/ 341344 w 565731"/>
                <a:gd name="connsiteY124" fmla="*/ 64003 h 605945"/>
                <a:gd name="connsiteX125" fmla="*/ 282810 w 565731"/>
                <a:gd name="connsiteY125" fmla="*/ 128006 h 605945"/>
                <a:gd name="connsiteX126" fmla="*/ 224276 w 565731"/>
                <a:gd name="connsiteY126" fmla="*/ 64003 h 605945"/>
                <a:gd name="connsiteX127" fmla="*/ 282810 w 565731"/>
                <a:gd name="connsiteY127" fmla="*/ 0 h 605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565731" h="605945">
                  <a:moveTo>
                    <a:pt x="458586" y="166887"/>
                  </a:moveTo>
                  <a:cubicBezTo>
                    <a:pt x="494634" y="166887"/>
                    <a:pt x="537135" y="182218"/>
                    <a:pt x="538915" y="182885"/>
                  </a:cubicBezTo>
                  <a:cubicBezTo>
                    <a:pt x="539583" y="183107"/>
                    <a:pt x="540250" y="183773"/>
                    <a:pt x="541140" y="184218"/>
                  </a:cubicBezTo>
                  <a:cubicBezTo>
                    <a:pt x="542253" y="184884"/>
                    <a:pt x="543366" y="185329"/>
                    <a:pt x="544478" y="186217"/>
                  </a:cubicBezTo>
                  <a:cubicBezTo>
                    <a:pt x="545368" y="187106"/>
                    <a:pt x="546036" y="187995"/>
                    <a:pt x="546703" y="188884"/>
                  </a:cubicBezTo>
                  <a:cubicBezTo>
                    <a:pt x="547593" y="189772"/>
                    <a:pt x="548261" y="190661"/>
                    <a:pt x="548929" y="191772"/>
                  </a:cubicBezTo>
                  <a:cubicBezTo>
                    <a:pt x="549596" y="193105"/>
                    <a:pt x="549819" y="194216"/>
                    <a:pt x="550041" y="195549"/>
                  </a:cubicBezTo>
                  <a:cubicBezTo>
                    <a:pt x="550264" y="196438"/>
                    <a:pt x="550709" y="197327"/>
                    <a:pt x="550931" y="198215"/>
                  </a:cubicBezTo>
                  <a:lnTo>
                    <a:pt x="565617" y="331082"/>
                  </a:lnTo>
                  <a:cubicBezTo>
                    <a:pt x="566730" y="341081"/>
                    <a:pt x="559609" y="350190"/>
                    <a:pt x="549374" y="351301"/>
                  </a:cubicBezTo>
                  <a:cubicBezTo>
                    <a:pt x="548706" y="351524"/>
                    <a:pt x="548038" y="351524"/>
                    <a:pt x="547371" y="351524"/>
                  </a:cubicBezTo>
                  <a:cubicBezTo>
                    <a:pt x="538025" y="351524"/>
                    <a:pt x="530015" y="344414"/>
                    <a:pt x="528902" y="335082"/>
                  </a:cubicBezTo>
                  <a:lnTo>
                    <a:pt x="515551" y="213991"/>
                  </a:lnTo>
                  <a:cubicBezTo>
                    <a:pt x="513993" y="213546"/>
                    <a:pt x="512213" y="213102"/>
                    <a:pt x="510433" y="212657"/>
                  </a:cubicBezTo>
                  <a:lnTo>
                    <a:pt x="510433" y="338415"/>
                  </a:lnTo>
                  <a:lnTo>
                    <a:pt x="525119" y="521051"/>
                  </a:lnTo>
                  <a:cubicBezTo>
                    <a:pt x="526009" y="533271"/>
                    <a:pt x="516886" y="543936"/>
                    <a:pt x="504647" y="544825"/>
                  </a:cubicBezTo>
                  <a:cubicBezTo>
                    <a:pt x="504202" y="545047"/>
                    <a:pt x="503535" y="545047"/>
                    <a:pt x="502867" y="545047"/>
                  </a:cubicBezTo>
                  <a:cubicBezTo>
                    <a:pt x="491519" y="545047"/>
                    <a:pt x="481728" y="536160"/>
                    <a:pt x="480838" y="524606"/>
                  </a:cubicBezTo>
                  <a:lnTo>
                    <a:pt x="467487" y="359522"/>
                  </a:lnTo>
                  <a:cubicBezTo>
                    <a:pt x="464817" y="360855"/>
                    <a:pt x="461924" y="361522"/>
                    <a:pt x="458586" y="361522"/>
                  </a:cubicBezTo>
                  <a:cubicBezTo>
                    <a:pt x="455471" y="361522"/>
                    <a:pt x="452356" y="360855"/>
                    <a:pt x="449685" y="359522"/>
                  </a:cubicBezTo>
                  <a:lnTo>
                    <a:pt x="436334" y="524606"/>
                  </a:lnTo>
                  <a:cubicBezTo>
                    <a:pt x="435444" y="536160"/>
                    <a:pt x="425653" y="545047"/>
                    <a:pt x="414305" y="545047"/>
                  </a:cubicBezTo>
                  <a:cubicBezTo>
                    <a:pt x="413637" y="545047"/>
                    <a:pt x="413192" y="545047"/>
                    <a:pt x="412525" y="544825"/>
                  </a:cubicBezTo>
                  <a:cubicBezTo>
                    <a:pt x="400286" y="543936"/>
                    <a:pt x="391163" y="533271"/>
                    <a:pt x="392276" y="521051"/>
                  </a:cubicBezTo>
                  <a:lnTo>
                    <a:pt x="403402" y="380852"/>
                  </a:lnTo>
                  <a:cubicBezTo>
                    <a:pt x="412525" y="378630"/>
                    <a:pt x="420535" y="373964"/>
                    <a:pt x="426321" y="366632"/>
                  </a:cubicBezTo>
                  <a:cubicBezTo>
                    <a:pt x="433219" y="357967"/>
                    <a:pt x="436557" y="347080"/>
                    <a:pt x="435222" y="335971"/>
                  </a:cubicBezTo>
                  <a:lnTo>
                    <a:pt x="416975" y="171998"/>
                  </a:lnTo>
                  <a:cubicBezTo>
                    <a:pt x="430104" y="169331"/>
                    <a:pt x="444790" y="166887"/>
                    <a:pt x="458586" y="166887"/>
                  </a:cubicBezTo>
                  <a:close/>
                  <a:moveTo>
                    <a:pt x="107223" y="166887"/>
                  </a:moveTo>
                  <a:cubicBezTo>
                    <a:pt x="121024" y="166887"/>
                    <a:pt x="135715" y="169331"/>
                    <a:pt x="148848" y="171998"/>
                  </a:cubicBezTo>
                  <a:lnTo>
                    <a:pt x="130595" y="335971"/>
                  </a:lnTo>
                  <a:cubicBezTo>
                    <a:pt x="129260" y="347080"/>
                    <a:pt x="132376" y="357967"/>
                    <a:pt x="139499" y="366632"/>
                  </a:cubicBezTo>
                  <a:cubicBezTo>
                    <a:pt x="145287" y="373964"/>
                    <a:pt x="153300" y="378852"/>
                    <a:pt x="162204" y="380852"/>
                  </a:cubicBezTo>
                  <a:lnTo>
                    <a:pt x="173556" y="521051"/>
                  </a:lnTo>
                  <a:cubicBezTo>
                    <a:pt x="174669" y="533271"/>
                    <a:pt x="165543" y="543936"/>
                    <a:pt x="153300" y="545047"/>
                  </a:cubicBezTo>
                  <a:cubicBezTo>
                    <a:pt x="152632" y="545047"/>
                    <a:pt x="151964" y="545047"/>
                    <a:pt x="151519" y="545047"/>
                  </a:cubicBezTo>
                  <a:cubicBezTo>
                    <a:pt x="139944" y="545047"/>
                    <a:pt x="130373" y="536160"/>
                    <a:pt x="129483" y="524606"/>
                  </a:cubicBezTo>
                  <a:lnTo>
                    <a:pt x="116127" y="359522"/>
                  </a:lnTo>
                  <a:cubicBezTo>
                    <a:pt x="113456" y="360855"/>
                    <a:pt x="110339" y="361522"/>
                    <a:pt x="107223" y="361522"/>
                  </a:cubicBezTo>
                  <a:cubicBezTo>
                    <a:pt x="103884" y="361522"/>
                    <a:pt x="100991" y="360855"/>
                    <a:pt x="98097" y="359522"/>
                  </a:cubicBezTo>
                  <a:lnTo>
                    <a:pt x="84964" y="524606"/>
                  </a:lnTo>
                  <a:cubicBezTo>
                    <a:pt x="84073" y="536160"/>
                    <a:pt x="74279" y="545047"/>
                    <a:pt x="62704" y="545047"/>
                  </a:cubicBezTo>
                  <a:cubicBezTo>
                    <a:pt x="62259" y="545047"/>
                    <a:pt x="61591" y="545047"/>
                    <a:pt x="60924" y="545047"/>
                  </a:cubicBezTo>
                  <a:cubicBezTo>
                    <a:pt x="48904" y="543936"/>
                    <a:pt x="39777" y="533271"/>
                    <a:pt x="40668" y="521051"/>
                  </a:cubicBezTo>
                  <a:lnTo>
                    <a:pt x="55359" y="338415"/>
                  </a:lnTo>
                  <a:lnTo>
                    <a:pt x="55359" y="212657"/>
                  </a:lnTo>
                  <a:cubicBezTo>
                    <a:pt x="53578" y="213102"/>
                    <a:pt x="51797" y="213546"/>
                    <a:pt x="50239" y="213991"/>
                  </a:cubicBezTo>
                  <a:lnTo>
                    <a:pt x="36884" y="335082"/>
                  </a:lnTo>
                  <a:cubicBezTo>
                    <a:pt x="35771" y="344636"/>
                    <a:pt x="27757" y="351524"/>
                    <a:pt x="18408" y="351524"/>
                  </a:cubicBezTo>
                  <a:cubicBezTo>
                    <a:pt x="17740" y="351524"/>
                    <a:pt x="17073" y="351524"/>
                    <a:pt x="16405" y="351301"/>
                  </a:cubicBezTo>
                  <a:cubicBezTo>
                    <a:pt x="6166" y="350190"/>
                    <a:pt x="-1180" y="341081"/>
                    <a:pt x="156" y="331082"/>
                  </a:cubicBezTo>
                  <a:lnTo>
                    <a:pt x="14847" y="198215"/>
                  </a:lnTo>
                  <a:cubicBezTo>
                    <a:pt x="14847" y="197104"/>
                    <a:pt x="15515" y="196438"/>
                    <a:pt x="15737" y="195549"/>
                  </a:cubicBezTo>
                  <a:cubicBezTo>
                    <a:pt x="15960" y="194216"/>
                    <a:pt x="16182" y="193105"/>
                    <a:pt x="16850" y="191772"/>
                  </a:cubicBezTo>
                  <a:cubicBezTo>
                    <a:pt x="17518" y="190661"/>
                    <a:pt x="18408" y="189550"/>
                    <a:pt x="19299" y="188439"/>
                  </a:cubicBezTo>
                  <a:cubicBezTo>
                    <a:pt x="19966" y="187773"/>
                    <a:pt x="20412" y="187106"/>
                    <a:pt x="21079" y="186440"/>
                  </a:cubicBezTo>
                  <a:cubicBezTo>
                    <a:pt x="22415" y="185106"/>
                    <a:pt x="24196" y="184218"/>
                    <a:pt x="25976" y="183551"/>
                  </a:cubicBezTo>
                  <a:cubicBezTo>
                    <a:pt x="26199" y="183329"/>
                    <a:pt x="26644" y="183107"/>
                    <a:pt x="26867" y="182885"/>
                  </a:cubicBezTo>
                  <a:cubicBezTo>
                    <a:pt x="26867" y="182885"/>
                    <a:pt x="27312" y="182662"/>
                    <a:pt x="27312" y="182662"/>
                  </a:cubicBezTo>
                  <a:cubicBezTo>
                    <a:pt x="27757" y="182662"/>
                    <a:pt x="27980" y="182440"/>
                    <a:pt x="28202" y="182440"/>
                  </a:cubicBezTo>
                  <a:cubicBezTo>
                    <a:pt x="35771" y="179774"/>
                    <a:pt x="74279" y="166887"/>
                    <a:pt x="107223" y="166887"/>
                  </a:cubicBezTo>
                  <a:close/>
                  <a:moveTo>
                    <a:pt x="291929" y="132875"/>
                  </a:moveTo>
                  <a:cubicBezTo>
                    <a:pt x="334656" y="135097"/>
                    <a:pt x="381167" y="151762"/>
                    <a:pt x="383170" y="152651"/>
                  </a:cubicBezTo>
                  <a:cubicBezTo>
                    <a:pt x="384283" y="153096"/>
                    <a:pt x="385173" y="153762"/>
                    <a:pt x="386063" y="154207"/>
                  </a:cubicBezTo>
                  <a:cubicBezTo>
                    <a:pt x="387621" y="155096"/>
                    <a:pt x="389178" y="155762"/>
                    <a:pt x="390291" y="156873"/>
                  </a:cubicBezTo>
                  <a:cubicBezTo>
                    <a:pt x="391626" y="157984"/>
                    <a:pt x="392294" y="159095"/>
                    <a:pt x="393184" y="160206"/>
                  </a:cubicBezTo>
                  <a:cubicBezTo>
                    <a:pt x="394074" y="161539"/>
                    <a:pt x="395187" y="162428"/>
                    <a:pt x="395855" y="163761"/>
                  </a:cubicBezTo>
                  <a:cubicBezTo>
                    <a:pt x="396522" y="165317"/>
                    <a:pt x="396967" y="166872"/>
                    <a:pt x="397412" y="168650"/>
                  </a:cubicBezTo>
                  <a:cubicBezTo>
                    <a:pt x="397635" y="169761"/>
                    <a:pt x="398303" y="170650"/>
                    <a:pt x="398303" y="171761"/>
                  </a:cubicBezTo>
                  <a:lnTo>
                    <a:pt x="416773" y="337969"/>
                  </a:lnTo>
                  <a:cubicBezTo>
                    <a:pt x="418331" y="350634"/>
                    <a:pt x="409207" y="362189"/>
                    <a:pt x="396522" y="363522"/>
                  </a:cubicBezTo>
                  <a:cubicBezTo>
                    <a:pt x="395632" y="363522"/>
                    <a:pt x="394742" y="363744"/>
                    <a:pt x="393852" y="363744"/>
                  </a:cubicBezTo>
                  <a:cubicBezTo>
                    <a:pt x="382280" y="363744"/>
                    <a:pt x="372265" y="354856"/>
                    <a:pt x="370930" y="343079"/>
                  </a:cubicBezTo>
                  <a:lnTo>
                    <a:pt x="354017" y="191759"/>
                  </a:lnTo>
                  <a:cubicBezTo>
                    <a:pt x="352014" y="191092"/>
                    <a:pt x="350012" y="190426"/>
                    <a:pt x="347564" y="189759"/>
                  </a:cubicBezTo>
                  <a:lnTo>
                    <a:pt x="347564" y="347523"/>
                  </a:lnTo>
                  <a:lnTo>
                    <a:pt x="366034" y="575948"/>
                  </a:lnTo>
                  <a:cubicBezTo>
                    <a:pt x="367370" y="591280"/>
                    <a:pt x="355798" y="604612"/>
                    <a:pt x="340665" y="605723"/>
                  </a:cubicBezTo>
                  <a:cubicBezTo>
                    <a:pt x="339775" y="605945"/>
                    <a:pt x="339107" y="605945"/>
                    <a:pt x="338440" y="605945"/>
                  </a:cubicBezTo>
                  <a:cubicBezTo>
                    <a:pt x="323974" y="605945"/>
                    <a:pt x="311957" y="594835"/>
                    <a:pt x="310622" y="580392"/>
                  </a:cubicBezTo>
                  <a:lnTo>
                    <a:pt x="294154" y="373965"/>
                  </a:lnTo>
                  <a:cubicBezTo>
                    <a:pt x="290594" y="375299"/>
                    <a:pt x="286810" y="376187"/>
                    <a:pt x="282805" y="376187"/>
                  </a:cubicBezTo>
                  <a:cubicBezTo>
                    <a:pt x="279022" y="376187"/>
                    <a:pt x="275238" y="375299"/>
                    <a:pt x="271678" y="373965"/>
                  </a:cubicBezTo>
                  <a:lnTo>
                    <a:pt x="254987" y="580392"/>
                  </a:lnTo>
                  <a:cubicBezTo>
                    <a:pt x="253875" y="594835"/>
                    <a:pt x="241858" y="605945"/>
                    <a:pt x="227393" y="605945"/>
                  </a:cubicBezTo>
                  <a:cubicBezTo>
                    <a:pt x="226725" y="605945"/>
                    <a:pt x="225835" y="605945"/>
                    <a:pt x="225167" y="605723"/>
                  </a:cubicBezTo>
                  <a:cubicBezTo>
                    <a:pt x="209812" y="604612"/>
                    <a:pt x="198462" y="591280"/>
                    <a:pt x="199798" y="575948"/>
                  </a:cubicBezTo>
                  <a:lnTo>
                    <a:pt x="218046" y="347523"/>
                  </a:lnTo>
                  <a:lnTo>
                    <a:pt x="218046" y="189759"/>
                  </a:lnTo>
                  <a:cubicBezTo>
                    <a:pt x="215821" y="190426"/>
                    <a:pt x="213595" y="191092"/>
                    <a:pt x="211815" y="191759"/>
                  </a:cubicBezTo>
                  <a:lnTo>
                    <a:pt x="194902" y="343079"/>
                  </a:lnTo>
                  <a:cubicBezTo>
                    <a:pt x="193567" y="354856"/>
                    <a:pt x="183552" y="363744"/>
                    <a:pt x="171980" y="363744"/>
                  </a:cubicBezTo>
                  <a:cubicBezTo>
                    <a:pt x="171090" y="363744"/>
                    <a:pt x="170200" y="363744"/>
                    <a:pt x="169310" y="363522"/>
                  </a:cubicBezTo>
                  <a:cubicBezTo>
                    <a:pt x="156625" y="362189"/>
                    <a:pt x="147501" y="350634"/>
                    <a:pt x="148836" y="337969"/>
                  </a:cubicBezTo>
                  <a:lnTo>
                    <a:pt x="167307" y="171761"/>
                  </a:lnTo>
                  <a:cubicBezTo>
                    <a:pt x="167530" y="170650"/>
                    <a:pt x="168197" y="169539"/>
                    <a:pt x="168420" y="168428"/>
                  </a:cubicBezTo>
                  <a:cubicBezTo>
                    <a:pt x="168865" y="166872"/>
                    <a:pt x="169087" y="165317"/>
                    <a:pt x="169977" y="163984"/>
                  </a:cubicBezTo>
                  <a:cubicBezTo>
                    <a:pt x="170645" y="162206"/>
                    <a:pt x="171980" y="160873"/>
                    <a:pt x="173093" y="159540"/>
                  </a:cubicBezTo>
                  <a:cubicBezTo>
                    <a:pt x="173761" y="158651"/>
                    <a:pt x="174206" y="157762"/>
                    <a:pt x="175096" y="157095"/>
                  </a:cubicBezTo>
                  <a:cubicBezTo>
                    <a:pt x="176876" y="155540"/>
                    <a:pt x="179102" y="154429"/>
                    <a:pt x="181327" y="153318"/>
                  </a:cubicBezTo>
                  <a:cubicBezTo>
                    <a:pt x="181772" y="153096"/>
                    <a:pt x="181995" y="152874"/>
                    <a:pt x="182440" y="152651"/>
                  </a:cubicBezTo>
                  <a:cubicBezTo>
                    <a:pt x="182662" y="152651"/>
                    <a:pt x="182885" y="152429"/>
                    <a:pt x="183107" y="152429"/>
                  </a:cubicBezTo>
                  <a:cubicBezTo>
                    <a:pt x="183552" y="152207"/>
                    <a:pt x="183775" y="152207"/>
                    <a:pt x="184220" y="151985"/>
                  </a:cubicBezTo>
                  <a:cubicBezTo>
                    <a:pt x="192899" y="148874"/>
                    <a:pt x="234959" y="135097"/>
                    <a:pt x="273903" y="133097"/>
                  </a:cubicBezTo>
                  <a:lnTo>
                    <a:pt x="279689" y="144652"/>
                  </a:lnTo>
                  <a:lnTo>
                    <a:pt x="279912" y="144652"/>
                  </a:lnTo>
                  <a:lnTo>
                    <a:pt x="264334" y="265975"/>
                  </a:lnTo>
                  <a:lnTo>
                    <a:pt x="282805" y="298194"/>
                  </a:lnTo>
                  <a:lnTo>
                    <a:pt x="301498" y="265975"/>
                  </a:lnTo>
                  <a:lnTo>
                    <a:pt x="285920" y="144652"/>
                  </a:lnTo>
                  <a:close/>
                  <a:moveTo>
                    <a:pt x="458589" y="60898"/>
                  </a:moveTo>
                  <a:cubicBezTo>
                    <a:pt x="484408" y="60898"/>
                    <a:pt x="505339" y="83772"/>
                    <a:pt x="505339" y="111988"/>
                  </a:cubicBezTo>
                  <a:cubicBezTo>
                    <a:pt x="505339" y="140204"/>
                    <a:pt x="484408" y="163078"/>
                    <a:pt x="458589" y="163078"/>
                  </a:cubicBezTo>
                  <a:cubicBezTo>
                    <a:pt x="432770" y="163078"/>
                    <a:pt x="411839" y="140204"/>
                    <a:pt x="411839" y="111988"/>
                  </a:cubicBezTo>
                  <a:cubicBezTo>
                    <a:pt x="411839" y="83772"/>
                    <a:pt x="432770" y="60898"/>
                    <a:pt x="458589" y="60898"/>
                  </a:cubicBezTo>
                  <a:close/>
                  <a:moveTo>
                    <a:pt x="107209" y="60898"/>
                  </a:moveTo>
                  <a:cubicBezTo>
                    <a:pt x="133009" y="60898"/>
                    <a:pt x="153924" y="83772"/>
                    <a:pt x="153924" y="111988"/>
                  </a:cubicBezTo>
                  <a:cubicBezTo>
                    <a:pt x="153924" y="140204"/>
                    <a:pt x="133009" y="163078"/>
                    <a:pt x="107209" y="163078"/>
                  </a:cubicBezTo>
                  <a:cubicBezTo>
                    <a:pt x="81409" y="163078"/>
                    <a:pt x="60494" y="140204"/>
                    <a:pt x="60494" y="111988"/>
                  </a:cubicBezTo>
                  <a:cubicBezTo>
                    <a:pt x="60494" y="83772"/>
                    <a:pt x="81409" y="60898"/>
                    <a:pt x="107209" y="60898"/>
                  </a:cubicBezTo>
                  <a:close/>
                  <a:moveTo>
                    <a:pt x="282810" y="0"/>
                  </a:moveTo>
                  <a:cubicBezTo>
                    <a:pt x="315137" y="0"/>
                    <a:pt x="341344" y="28655"/>
                    <a:pt x="341344" y="64003"/>
                  </a:cubicBezTo>
                  <a:cubicBezTo>
                    <a:pt x="341344" y="99351"/>
                    <a:pt x="315137" y="128006"/>
                    <a:pt x="282810" y="128006"/>
                  </a:cubicBezTo>
                  <a:cubicBezTo>
                    <a:pt x="250483" y="128006"/>
                    <a:pt x="224276" y="99351"/>
                    <a:pt x="224276" y="64003"/>
                  </a:cubicBezTo>
                  <a:cubicBezTo>
                    <a:pt x="224276" y="28655"/>
                    <a:pt x="250483" y="0"/>
                    <a:pt x="28281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tabLst/>
                <a:defRPr/>
              </a:pPr>
              <a:endParaRPr kumimoji="0" lang="en-US" sz="179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ïšḻíḑê">
              <a:extLst>
                <a:ext uri="{FF2B5EF4-FFF2-40B4-BE49-F238E27FC236}">
                  <a16:creationId xmlns:a16="http://schemas.microsoft.com/office/drawing/2014/main" id="{88AD85B5-1DAD-4AEB-9E63-063C356BCA6E}"/>
                </a:ext>
              </a:extLst>
            </p:cNvPr>
            <p:cNvSpPr/>
            <p:nvPr/>
          </p:nvSpPr>
          <p:spPr>
            <a:xfrm>
              <a:off x="2761561" y="2867231"/>
              <a:ext cx="290740" cy="290740"/>
            </a:xfrm>
            <a:prstGeom prst="ellipse">
              <a:avLst/>
            </a:prstGeom>
            <a:solidFill>
              <a:srgbClr val="52D6F0"/>
            </a:solidFill>
            <a:ln w="2857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40000"/>
                </a:lnSpc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3" name="îŝlíḓè">
              <a:extLst>
                <a:ext uri="{FF2B5EF4-FFF2-40B4-BE49-F238E27FC236}">
                  <a16:creationId xmlns:a16="http://schemas.microsoft.com/office/drawing/2014/main" id="{A455C553-2192-418D-9080-43C347880F07}"/>
                </a:ext>
              </a:extLst>
            </p:cNvPr>
            <p:cNvSpPr/>
            <p:nvPr/>
          </p:nvSpPr>
          <p:spPr>
            <a:xfrm>
              <a:off x="9139699" y="2867231"/>
              <a:ext cx="290740" cy="290740"/>
            </a:xfrm>
            <a:prstGeom prst="ellipse">
              <a:avLst/>
            </a:prstGeom>
            <a:solidFill>
              <a:srgbClr val="52D6F0"/>
            </a:solidFill>
            <a:ln w="28575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4400" eaLnBrk="1" fontAlgn="auto" latinLnBrk="0" hangingPunct="1">
                <a:lnSpc>
                  <a:spcPct val="140000"/>
                </a:lnSpc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 panose="020B0502040204020203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8" name="CustomText2">
            <a:extLst>
              <a:ext uri="{FF2B5EF4-FFF2-40B4-BE49-F238E27FC236}">
                <a16:creationId xmlns:a16="http://schemas.microsoft.com/office/drawing/2014/main" id="{DAFB178E-C9BE-46BD-B342-8394F169252E}"/>
              </a:ext>
            </a:extLst>
          </p:cNvPr>
          <p:cNvSpPr txBox="1"/>
          <p:nvPr/>
        </p:nvSpPr>
        <p:spPr bwMode="auto">
          <a:xfrm>
            <a:off x="1783438" y="4295198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300" b="1"/>
              <a:t>并发安全</a:t>
            </a:r>
          </a:p>
        </p:txBody>
      </p:sp>
      <p:sp>
        <p:nvSpPr>
          <p:cNvPr id="54" name="CustomText2">
            <a:extLst>
              <a:ext uri="{FF2B5EF4-FFF2-40B4-BE49-F238E27FC236}">
                <a16:creationId xmlns:a16="http://schemas.microsoft.com/office/drawing/2014/main" id="{95DC4587-CABB-4FBD-B4E9-0823C82DE6A7}"/>
              </a:ext>
            </a:extLst>
          </p:cNvPr>
          <p:cNvSpPr txBox="1"/>
          <p:nvPr/>
        </p:nvSpPr>
        <p:spPr bwMode="auto">
          <a:xfrm>
            <a:off x="3877068" y="4315340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300" b="1" dirty="0" err="1"/>
              <a:t>精准释放</a:t>
            </a:r>
            <a:endParaRPr sz="1300" b="1" dirty="0"/>
          </a:p>
        </p:txBody>
      </p:sp>
      <p:sp>
        <p:nvSpPr>
          <p:cNvPr id="55" name="CustomText2">
            <a:extLst>
              <a:ext uri="{FF2B5EF4-FFF2-40B4-BE49-F238E27FC236}">
                <a16:creationId xmlns:a16="http://schemas.microsoft.com/office/drawing/2014/main" id="{06AC8530-7DF5-4592-8242-1DF97F6CD0CA}"/>
              </a:ext>
            </a:extLst>
          </p:cNvPr>
          <p:cNvSpPr txBox="1"/>
          <p:nvPr/>
        </p:nvSpPr>
        <p:spPr bwMode="auto">
          <a:xfrm>
            <a:off x="7412012" y="4357434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300" b="1"/>
              <a:t>容器化部署</a:t>
            </a:r>
          </a:p>
        </p:txBody>
      </p:sp>
      <p:sp>
        <p:nvSpPr>
          <p:cNvPr id="56" name="CustomText2">
            <a:extLst>
              <a:ext uri="{FF2B5EF4-FFF2-40B4-BE49-F238E27FC236}">
                <a16:creationId xmlns:a16="http://schemas.microsoft.com/office/drawing/2014/main" id="{045ABAFC-95EA-40FD-A101-3CB761936FAE}"/>
              </a:ext>
            </a:extLst>
          </p:cNvPr>
          <p:cNvSpPr txBox="1"/>
          <p:nvPr/>
        </p:nvSpPr>
        <p:spPr bwMode="auto">
          <a:xfrm>
            <a:off x="9414914" y="4335479"/>
            <a:ext cx="2130001" cy="41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  <a:tabLst/>
              <a:defRPr/>
            </a:pPr>
            <a:r>
              <a:rPr sz="1300" b="1" dirty="0" err="1"/>
              <a:t>实时可视化</a:t>
            </a:r>
            <a:endParaRPr sz="1300" b="1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C654D4C-45D9-4991-9544-EE345F420F45}"/>
              </a:ext>
            </a:extLst>
          </p:cNvPr>
          <p:cNvSpPr/>
          <p:nvPr/>
        </p:nvSpPr>
        <p:spPr>
          <a:xfrm>
            <a:off x="1164382" y="4874948"/>
            <a:ext cx="2080923" cy="95480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D496293-5F2D-4B39-91C2-4B85482AC2DC}"/>
              </a:ext>
            </a:extLst>
          </p:cNvPr>
          <p:cNvSpPr/>
          <p:nvPr/>
        </p:nvSpPr>
        <p:spPr>
          <a:xfrm>
            <a:off x="9073097" y="4866644"/>
            <a:ext cx="2130001" cy="95480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4" name="íṧľídé">
            <a:extLst>
              <a:ext uri="{FF2B5EF4-FFF2-40B4-BE49-F238E27FC236}">
                <a16:creationId xmlns:a16="http://schemas.microsoft.com/office/drawing/2014/main" id="{8A496518-878B-453E-A1D7-98E837A56B66}"/>
              </a:ext>
            </a:extLst>
          </p:cNvPr>
          <p:cNvSpPr/>
          <p:nvPr/>
        </p:nvSpPr>
        <p:spPr>
          <a:xfrm>
            <a:off x="1308684" y="2214983"/>
            <a:ext cx="2080923" cy="2045766"/>
          </a:xfrm>
          <a:prstGeom prst="diamond">
            <a:avLst/>
          </a:prstGeom>
          <a:solidFill>
            <a:srgbClr val="CEEEF7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" name="íṧľídé">
            <a:extLst>
              <a:ext uri="{FF2B5EF4-FFF2-40B4-BE49-F238E27FC236}">
                <a16:creationId xmlns:a16="http://schemas.microsoft.com/office/drawing/2014/main" id="{F62F7C73-C95F-4BF8-B53B-89A210094BBD}"/>
              </a:ext>
            </a:extLst>
          </p:cNvPr>
          <p:cNvSpPr/>
          <p:nvPr/>
        </p:nvSpPr>
        <p:spPr>
          <a:xfrm>
            <a:off x="3202460" y="2219349"/>
            <a:ext cx="2080923" cy="2045766"/>
          </a:xfrm>
          <a:prstGeom prst="diamond">
            <a:avLst/>
          </a:prstGeom>
          <a:solidFill>
            <a:srgbClr val="CEEEF7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6" name="íṧľídé">
            <a:extLst>
              <a:ext uri="{FF2B5EF4-FFF2-40B4-BE49-F238E27FC236}">
                <a16:creationId xmlns:a16="http://schemas.microsoft.com/office/drawing/2014/main" id="{D762C2B9-02E7-4694-926A-B5657B3515A2}"/>
              </a:ext>
            </a:extLst>
          </p:cNvPr>
          <p:cNvSpPr/>
          <p:nvPr/>
        </p:nvSpPr>
        <p:spPr>
          <a:xfrm>
            <a:off x="6975844" y="2245586"/>
            <a:ext cx="2080923" cy="2045766"/>
          </a:xfrm>
          <a:prstGeom prst="diamond">
            <a:avLst/>
          </a:prstGeom>
          <a:solidFill>
            <a:srgbClr val="CEEEF7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7" name="íṧľídé">
            <a:extLst>
              <a:ext uri="{FF2B5EF4-FFF2-40B4-BE49-F238E27FC236}">
                <a16:creationId xmlns:a16="http://schemas.microsoft.com/office/drawing/2014/main" id="{AB53B98A-8ED6-42A9-A21C-452E6F01D0EB}"/>
              </a:ext>
            </a:extLst>
          </p:cNvPr>
          <p:cNvSpPr/>
          <p:nvPr/>
        </p:nvSpPr>
        <p:spPr>
          <a:xfrm>
            <a:off x="8854544" y="2145971"/>
            <a:ext cx="2080923" cy="2045766"/>
          </a:xfrm>
          <a:prstGeom prst="diamond">
            <a:avLst/>
          </a:prstGeom>
          <a:solidFill>
            <a:srgbClr val="CEEEF7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3B3A3B-D14C-4ECA-A60E-783ED29D0850}"/>
              </a:ext>
            </a:extLst>
          </p:cNvPr>
          <p:cNvSpPr/>
          <p:nvPr/>
        </p:nvSpPr>
        <p:spPr>
          <a:xfrm>
            <a:off x="5194447" y="3749426"/>
            <a:ext cx="1871477" cy="276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A97204-F7B0-886A-26C8-01FB441131F7}"/>
              </a:ext>
            </a:extLst>
          </p:cNvPr>
          <p:cNvSpPr txBox="1"/>
          <p:nvPr/>
        </p:nvSpPr>
        <p:spPr>
          <a:xfrm>
            <a:off x="1657162" y="4675797"/>
            <a:ext cx="1128118" cy="109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lang="zh-CN" altLang="en-US" sz="1100" dirty="0"/>
              <a:t>唯一索引 </a:t>
            </a:r>
            <a:r>
              <a:rPr lang="en-US" altLang="zh-CN" sz="1100" dirty="0"/>
              <a:t>+ </a:t>
            </a:r>
            <a:r>
              <a:rPr lang="zh-CN" altLang="en-US" sz="1100" dirty="0"/>
              <a:t>乐观锁
</a:t>
            </a:r>
            <a:r>
              <a:rPr lang="en-US" altLang="zh-CN" sz="1100" dirty="0"/>
              <a:t>+ </a:t>
            </a:r>
            <a:r>
              <a:rPr lang="zh-CN" altLang="en-US" sz="1100" dirty="0"/>
              <a:t>分布式锁三层保障
绝不超卖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C068A0-1E31-1454-A350-56B02BD66F86}"/>
              </a:ext>
            </a:extLst>
          </p:cNvPr>
          <p:cNvSpPr txBox="1"/>
          <p:nvPr/>
        </p:nvSpPr>
        <p:spPr>
          <a:xfrm>
            <a:off x="8405091" y="4777917"/>
            <a:ext cx="2905807" cy="739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SSE + </a:t>
            </a:r>
            <a:r>
              <a:rPr lang="en-US" altLang="zh-CN" sz="1200" dirty="0" err="1"/>
              <a:t>ECharts</a:t>
            </a:r>
            <a:r>
              <a:rPr lang="en-US" altLang="zh-CN" sz="1200" dirty="0"/>
              <a:t> </a:t>
            </a:r>
            <a:r>
              <a:rPr lang="zh-CN" altLang="en-US" sz="1200" dirty="0"/>
              <a:t>组合
座位即时反馈
演示效果拉满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9D89D0-0BDE-A980-47F8-4CE1ED999303}"/>
              </a:ext>
            </a:extLst>
          </p:cNvPr>
          <p:cNvSpPr txBox="1"/>
          <p:nvPr/>
        </p:nvSpPr>
        <p:spPr>
          <a:xfrm>
            <a:off x="5933673" y="4787988"/>
            <a:ext cx="3896294" cy="739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Docker Compose
</a:t>
            </a:r>
            <a:r>
              <a:rPr lang="zh-CN" altLang="en-US" sz="1200" dirty="0"/>
              <a:t>一键编排部署
答辩加分项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6481E3-44CE-D12A-2834-6EF2BBFA16D8}"/>
              </a:ext>
            </a:extLst>
          </p:cNvPr>
          <p:cNvSpPr txBox="1"/>
          <p:nvPr/>
        </p:nvSpPr>
        <p:spPr>
          <a:xfrm>
            <a:off x="2767750" y="4647248"/>
            <a:ext cx="3048740" cy="739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Redis </a:t>
            </a:r>
            <a:r>
              <a:rPr lang="en-US" altLang="zh-CN" sz="1200" dirty="0" err="1"/>
              <a:t>ZSet</a:t>
            </a:r>
            <a:r>
              <a:rPr lang="zh-CN" altLang="en-US" sz="1200" dirty="0"/>
              <a:t> 延迟队列
替代定时扫全表
精准触发释放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32061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39E00-FEF4-0D4C-DFDE-1DB023FC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86250" cy="43853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附录：人员分工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9D1693B2-942C-79C1-DBF0-109FBD4BF8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132053"/>
              </p:ext>
            </p:extLst>
          </p:nvPr>
        </p:nvGraphicFramePr>
        <p:xfrm>
          <a:off x="323846" y="803662"/>
          <a:ext cx="11525252" cy="5288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1313">
                  <a:extLst>
                    <a:ext uri="{9D8B030D-6E8A-4147-A177-3AD203B41FA5}">
                      <a16:colId xmlns:a16="http://schemas.microsoft.com/office/drawing/2014/main" val="3034030171"/>
                    </a:ext>
                  </a:extLst>
                </a:gridCol>
                <a:gridCol w="2881313">
                  <a:extLst>
                    <a:ext uri="{9D8B030D-6E8A-4147-A177-3AD203B41FA5}">
                      <a16:colId xmlns:a16="http://schemas.microsoft.com/office/drawing/2014/main" val="465903012"/>
                    </a:ext>
                  </a:extLst>
                </a:gridCol>
                <a:gridCol w="2881313">
                  <a:extLst>
                    <a:ext uri="{9D8B030D-6E8A-4147-A177-3AD203B41FA5}">
                      <a16:colId xmlns:a16="http://schemas.microsoft.com/office/drawing/2014/main" val="1209197654"/>
                    </a:ext>
                  </a:extLst>
                </a:gridCol>
                <a:gridCol w="2881313">
                  <a:extLst>
                    <a:ext uri="{9D8B030D-6E8A-4147-A177-3AD203B41FA5}">
                      <a16:colId xmlns:a16="http://schemas.microsoft.com/office/drawing/2014/main" val="3319620613"/>
                    </a:ext>
                  </a:extLst>
                </a:gridCol>
              </a:tblGrid>
              <a:tr h="441964">
                <a:tc>
                  <a:txBody>
                    <a:bodyPr/>
                    <a:lstStyle/>
                    <a:p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主要任务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最终交付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95012"/>
                  </a:ext>
                </a:extLst>
              </a:tr>
              <a:tr h="441964">
                <a:tc>
                  <a:txBody>
                    <a:bodyPr/>
                    <a:lstStyle/>
                    <a:p>
                      <a:r>
                        <a:rPr lang="zh-CN" altLang="en-US" dirty="0"/>
                        <a:t>王子恒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PPT /</a:t>
                      </a:r>
                      <a:r>
                        <a:rPr lang="zh-CN" altLang="en-US" dirty="0"/>
                        <a:t>答辩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项目经理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、答辩稿、需求文档、演示流程、截图录屏、催接口进度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、演示脚本、项目说明文档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726810"/>
                  </a:ext>
                </a:extLst>
              </a:tr>
              <a:tr h="441964">
                <a:tc>
                  <a:txBody>
                    <a:bodyPr/>
                    <a:lstStyle/>
                    <a:p>
                      <a:r>
                        <a:rPr lang="zh-CN" altLang="en-US" dirty="0"/>
                        <a:t>吕宜家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后端架构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登录权限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Spring Boot </a:t>
                      </a:r>
                      <a:r>
                        <a:rPr lang="zh-CN" altLang="en-US" dirty="0"/>
                        <a:t>项目骨架、</a:t>
                      </a:r>
                      <a:r>
                        <a:rPr lang="en-US" altLang="zh-CN" dirty="0"/>
                        <a:t>Sa-Token</a:t>
                      </a:r>
                      <a:r>
                        <a:rPr lang="zh-CN" altLang="en-US" dirty="0"/>
                        <a:t>登录、用户角色、</a:t>
                      </a:r>
                      <a:r>
                        <a:rPr lang="en-US" altLang="zh-CN" dirty="0"/>
                        <a:t>Knife4j</a:t>
                      </a:r>
                      <a:r>
                        <a:rPr lang="zh-CN" altLang="en-US" dirty="0"/>
                        <a:t>接口文档、统一返回体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后端基础框架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868085"/>
                  </a:ext>
                </a:extLst>
              </a:tr>
              <a:tr h="441964">
                <a:tc>
                  <a:txBody>
                    <a:bodyPr/>
                    <a:lstStyle/>
                    <a:p>
                      <a:r>
                        <a:rPr lang="zh-CN" altLang="en-US" dirty="0"/>
                        <a:t>林润宸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后端座位管理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校区、楼栋、自习室、座位排布基础数据管理接口</a:t>
                      </a:r>
                      <a:r>
                        <a:rPr lang="en-US" altLang="zh-CN" dirty="0"/>
                        <a:t>CRUD</a:t>
                      </a:r>
                      <a:r>
                        <a:rPr lang="zh-CN" altLang="en-US" dirty="0"/>
                        <a:t>，管理端接口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基础数据管理接口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978160"/>
                  </a:ext>
                </a:extLst>
              </a:tr>
              <a:tr h="441964">
                <a:tc>
                  <a:txBody>
                    <a:bodyPr/>
                    <a:lstStyle/>
                    <a:p>
                      <a:r>
                        <a:rPr lang="zh-CN" altLang="en-US" dirty="0"/>
                        <a:t>谭嘉亮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后端核心预约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预约接口、唯一索引、</a:t>
                      </a:r>
                      <a:r>
                        <a:rPr lang="en-US" altLang="zh-CN" dirty="0" err="1"/>
                        <a:t>Redisson</a:t>
                      </a:r>
                      <a:r>
                        <a:rPr lang="zh-CN" altLang="en-US" dirty="0"/>
                        <a:t>锁、并发抢座、防止超卖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项目核心亮点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：并发预约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148052"/>
                  </a:ext>
                </a:extLst>
              </a:tr>
              <a:tr h="441964">
                <a:tc>
                  <a:txBody>
                    <a:bodyPr/>
                    <a:lstStyle/>
                    <a:p>
                      <a:r>
                        <a:rPr lang="zh-CN" altLang="en-US" dirty="0"/>
                        <a:t>莫岢毅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后端签到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超时释放</a:t>
                      </a:r>
                      <a:r>
                        <a:rPr lang="en-US" altLang="zh-CN" dirty="0"/>
                        <a:t>/SSE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签到、取消、超时自动释放、爽约黑名单、</a:t>
                      </a:r>
                      <a:r>
                        <a:rPr lang="en-US" altLang="zh-CN" dirty="0"/>
                        <a:t>SSE</a:t>
                      </a:r>
                      <a:r>
                        <a:rPr lang="zh-CN" altLang="en-US" dirty="0"/>
                        <a:t>推送座位变化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项目核心亮点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617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834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85510-C610-B436-C3D7-69321CBD2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34150" cy="49212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附录：人员分工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E0FB3FC-4A7E-52B2-ECB4-0AF4521E2B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755165"/>
              </p:ext>
            </p:extLst>
          </p:nvPr>
        </p:nvGraphicFramePr>
        <p:xfrm>
          <a:off x="838200" y="1825624"/>
          <a:ext cx="10515600" cy="2285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2340438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635053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56122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8806761"/>
                    </a:ext>
                  </a:extLst>
                </a:gridCol>
              </a:tblGrid>
              <a:tr h="365126">
                <a:tc>
                  <a:txBody>
                    <a:bodyPr/>
                    <a:lstStyle/>
                    <a:p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主要任务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最终交付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93910"/>
                  </a:ext>
                </a:extLst>
              </a:tr>
              <a:tr h="959908">
                <a:tc>
                  <a:txBody>
                    <a:bodyPr/>
                    <a:lstStyle/>
                    <a:p>
                      <a:r>
                        <a:rPr lang="zh-CN" altLang="en-US" dirty="0"/>
                        <a:t>林俊豪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学生端前端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登录、选校区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自习室、查看座位、预约、签到、取消预约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学生使用主流程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718305"/>
                  </a:ext>
                </a:extLst>
              </a:tr>
              <a:tr h="959908">
                <a:tc>
                  <a:txBody>
                    <a:bodyPr/>
                    <a:lstStyle/>
                    <a:p>
                      <a:r>
                        <a:rPr lang="zh-CN" altLang="en-US" dirty="0"/>
                        <a:t>叶雨杨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管理端前端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可视化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部署测试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管理端座位录入、热力图、报表、</a:t>
                      </a:r>
                      <a:r>
                        <a:rPr lang="en-US" altLang="zh-CN" dirty="0"/>
                        <a:t>Docker Compose</a:t>
                      </a:r>
                      <a:r>
                        <a:rPr lang="zh-CN" altLang="en-US" dirty="0"/>
                        <a:t>、联调测试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管理端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可视化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部署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08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912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373C790-CF2D-4510-8500-DF921A81D3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0"/>
            <a:ext cx="12192000" cy="68580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F4DF501-A6A4-4BEA-95D8-9DBB65D72E1A}"/>
              </a:ext>
            </a:extLst>
          </p:cNvPr>
          <p:cNvSpPr/>
          <p:nvPr/>
        </p:nvSpPr>
        <p:spPr>
          <a:xfrm>
            <a:off x="1804804" y="2151370"/>
            <a:ext cx="8408709" cy="3002675"/>
          </a:xfrm>
          <a:prstGeom prst="rect">
            <a:avLst/>
          </a:prstGeom>
          <a:solidFill>
            <a:srgbClr val="52D6F0">
              <a:alpha val="74902"/>
            </a:srgbClr>
          </a:solidFill>
          <a:ln>
            <a:solidFill>
              <a:srgbClr val="52D6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latin typeface="Times New Roman" panose="02020603050405020304" pitchFamily="18" charset="0"/>
              <a:ea typeface="微软雅黑 Light" panose="020B0502040204020203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2" name="PA-文本 文本框 11">
            <a:extLst>
              <a:ext uri="{FF2B5EF4-FFF2-40B4-BE49-F238E27FC236}">
                <a16:creationId xmlns:a16="http://schemas.microsoft.com/office/drawing/2014/main" id="{B7E798AB-745A-4E82-B940-930303B878F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48658" y="3876773"/>
            <a:ext cx="1630575" cy="564257"/>
          </a:xfrm>
          <a:prstGeom prst="rect">
            <a:avLst/>
          </a:prstGeom>
          <a:noFill/>
          <a:effectLst>
            <a:outerShdw dist="50800" dir="5400000" sx="22000" sy="22000" algn="ctr" rotWithShape="0">
              <a:srgbClr val="00A296">
                <a:alpha val="78000"/>
              </a:srgbClr>
            </a:outerShdw>
          </a:effectLst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spc="300" dirty="0">
                <a:solidFill>
                  <a:schemeClr val="bg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Thanks!</a:t>
            </a:r>
            <a:endParaRPr lang="zh-CN" altLang="en-US" sz="2800" spc="300" dirty="0">
              <a:solidFill>
                <a:schemeClr val="bg1"/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3" name="PA-装饰 矩形 5">
            <a:extLst>
              <a:ext uri="{FF2B5EF4-FFF2-40B4-BE49-F238E27FC236}">
                <a16:creationId xmlns:a16="http://schemas.microsoft.com/office/drawing/2014/main" id="{51FD8D90-0ED0-4CFA-88E6-0B14CD59B63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546" y="258109"/>
            <a:ext cx="11714907" cy="6341136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 Light" panose="020B0502040204020203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5" name="PA-文本 文本框 11">
            <a:extLst>
              <a:ext uri="{FF2B5EF4-FFF2-40B4-BE49-F238E27FC236}">
                <a16:creationId xmlns:a16="http://schemas.microsoft.com/office/drawing/2014/main" id="{F9599626-6494-4D85-AFDC-8E3CF89D76B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083279" y="2637045"/>
            <a:ext cx="4224233" cy="1110753"/>
          </a:xfrm>
          <a:prstGeom prst="rect">
            <a:avLst/>
          </a:prstGeom>
          <a:noFill/>
          <a:effectLst>
            <a:outerShdw dist="50800" dir="5400000" sx="22000" sy="22000" algn="ctr" rotWithShape="0">
              <a:srgbClr val="00A296">
                <a:alpha val="78000"/>
              </a:srgbClr>
            </a:outerShdw>
          </a:effectLst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000" spc="300" dirty="0">
                <a:solidFill>
                  <a:schemeClr val="bg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+mn-ea"/>
                <a:sym typeface="Times New Roman" panose="02020603050405020304" pitchFamily="18" charset="0"/>
              </a:rPr>
              <a:t>谢谢大家！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78877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4|NoFill|#FFFFFF|False|True|"/>
  <p:tag name="RESOURCELIBID_SMARTLAYOUT" val="5560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HAPETYPE" val="Text"/>
  <p:tag name="SMARTLAYOUT_SHAPETEXT" val="0|KeepOriginal|True|Title|None|"/>
  <p:tag name="PA" val="v5.2.9"/>
  <p:tag name="RESOURCELIBID_SMARTLAYOUT" val="5560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HAPETYPE" val="NullText"/>
  <p:tag name="SMARTLAYOUT_SHAPETEXT" val="3|KeepOriginal|True|Content|None|"/>
  <p:tag name="PA" val="v5.2.9"/>
  <p:tag name="RESOURCELIBID_SMARTLAYOUT" val="5560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HAPETYPE" val="NullText"/>
  <p:tag name="SMARTLAYOUT_SHAPETEXT" val="3|KeepOriginal|True|Content|None|"/>
  <p:tag name="PA" val="v5.2.9"/>
  <p:tag name="RESOURCELIBID_SMARTLAYOUT" val="5560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SMARTLAYOUT_SHAPETYPE" val="Ornament"/>
  <p:tag name="RESOURCELIBID_SMARTLAYOUT" val="55607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5592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6479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0641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38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9312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0|NoFill|#FFFFFF|False|True|"/>
  <p:tag name="RESOURCELIBID_SMARTLAYOUT" val="55604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0"/>
  <p:tag name="RESOURCELIBID_SHAPE" val="36772"/>
  <p:tag name="RESOURCELIB_SHAPETYPE" val="5"/>
  <p:tag name="POCKET_SHAPE_SH" val="H"/>
  <p:tag name="RESOURCELIBID_SMARTLAYOUT" val="55604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7194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LIDE" val="1|4|NoFill|#FFFFFF|False|True|"/>
  <p:tag name="RESOURCELIBID_SMARTLAYOUT" val="55607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HAPETYPE" val="NullText"/>
  <p:tag name="SMARTLAYOUT_SHAPETEXT" val="1|KeepOriginal|True|Subtitle|None|"/>
  <p:tag name="PA" val="v5.2.9"/>
  <p:tag name="RESOURCELIBID_SMARTLAYOUT" val="55607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SMARTLAYOUT_SHAPETYPE" val="Ornament"/>
  <p:tag name="RESOURCELIBID_SMARTLAYOUT" val="55607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LAYOUT_SHAPETYPE" val="NullText"/>
  <p:tag name="SMARTLAYOUT_SHAPETEXT" val="1|KeepOriginal|True|Subtitle|None|"/>
  <p:tag name="PA" val="v5.2.9"/>
  <p:tag name="RESOURCELIBID_SMARTLAYOUT" val="556076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cp1df3l">
      <a:majorFont>
        <a:latin typeface="" panose="020F0302020204030204"/>
        <a:ea typeface="微软雅黑 Light"/>
        <a:cs typeface=""/>
      </a:majorFont>
      <a:minorFont>
        <a:latin typeface="" panose="020F0502020204030204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cp1df3l">
      <a:majorFont>
        <a:latin typeface="" panose="020F0302020204030204"/>
        <a:ea typeface="微软雅黑 Light"/>
        <a:cs typeface=""/>
      </a:majorFont>
      <a:minorFont>
        <a:latin typeface="" panose="020F0502020204030204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noFill/>
          <a:prstDash val="solid"/>
          <a:miter lim="800000"/>
        </a:ln>
        <a:effectLst/>
      </a:spPr>
      <a:bodyPr rot="0" spcFirstLastPara="0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rm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A87D0"/>
    </a:accent1>
    <a:accent2>
      <a:srgbClr val="639ECE"/>
    </a:accent2>
    <a:accent3>
      <a:srgbClr val="49C2ED"/>
    </a:accent3>
    <a:accent4>
      <a:srgbClr val="688FD9"/>
    </a:accent4>
    <a:accent5>
      <a:srgbClr val="939393"/>
    </a:accent5>
    <a:accent6>
      <a:srgbClr val="BBBBBB"/>
    </a:accent6>
    <a:hlink>
      <a:srgbClr val="0A87D0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25DAB"/>
    </a:accent1>
    <a:accent2>
      <a:srgbClr val="117BC2"/>
    </a:accent2>
    <a:accent3>
      <a:srgbClr val="4BAAE9"/>
    </a:accent3>
    <a:accent4>
      <a:srgbClr val="FFCA21"/>
    </a:accent4>
    <a:accent5>
      <a:srgbClr val="1F9EC2"/>
    </a:accent5>
    <a:accent6>
      <a:srgbClr val="FA7541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25DAB"/>
    </a:accent1>
    <a:accent2>
      <a:srgbClr val="117BC2"/>
    </a:accent2>
    <a:accent3>
      <a:srgbClr val="4BAAE9"/>
    </a:accent3>
    <a:accent4>
      <a:srgbClr val="FFCA21"/>
    </a:accent4>
    <a:accent5>
      <a:srgbClr val="1F9EC2"/>
    </a:accent5>
    <a:accent6>
      <a:srgbClr val="FA7541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25DAB"/>
    </a:accent1>
    <a:accent2>
      <a:srgbClr val="117BC2"/>
    </a:accent2>
    <a:accent3>
      <a:srgbClr val="4BAAE9"/>
    </a:accent3>
    <a:accent4>
      <a:srgbClr val="FFCA21"/>
    </a:accent4>
    <a:accent5>
      <a:srgbClr val="1F9EC2"/>
    </a:accent5>
    <a:accent6>
      <a:srgbClr val="FA7541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A87D0"/>
    </a:accent1>
    <a:accent2>
      <a:srgbClr val="639ECE"/>
    </a:accent2>
    <a:accent3>
      <a:srgbClr val="49C2ED"/>
    </a:accent3>
    <a:accent4>
      <a:srgbClr val="688FD9"/>
    </a:accent4>
    <a:accent5>
      <a:srgbClr val="939393"/>
    </a:accent5>
    <a:accent6>
      <a:srgbClr val="BBBBBB"/>
    </a:accent6>
    <a:hlink>
      <a:srgbClr val="0A87D0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A87D0"/>
    </a:accent1>
    <a:accent2>
      <a:srgbClr val="639ECE"/>
    </a:accent2>
    <a:accent3>
      <a:srgbClr val="49C2ED"/>
    </a:accent3>
    <a:accent4>
      <a:srgbClr val="688FD9"/>
    </a:accent4>
    <a:accent5>
      <a:srgbClr val="939393"/>
    </a:accent5>
    <a:accent6>
      <a:srgbClr val="BBBBBB"/>
    </a:accent6>
    <a:hlink>
      <a:srgbClr val="0A87D0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025DAB"/>
    </a:accent1>
    <a:accent2>
      <a:srgbClr val="117BC2"/>
    </a:accent2>
    <a:accent3>
      <a:srgbClr val="4BAAE9"/>
    </a:accent3>
    <a:accent4>
      <a:srgbClr val="FFCA21"/>
    </a:accent4>
    <a:accent5>
      <a:srgbClr val="1F9EC2"/>
    </a:accent5>
    <a:accent6>
      <a:srgbClr val="FA7541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637099367330814939</Template>
  <TotalTime>1466</TotalTime>
  <Words>1018</Words>
  <Application>Microsoft Office PowerPoint</Application>
  <PresentationFormat>宽屏</PresentationFormat>
  <Paragraphs>146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微软雅黑</vt:lpstr>
      <vt:lpstr>微软雅黑 Light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附录：人员分工</vt:lpstr>
      <vt:lpstr>附录：人员分工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玖玲</dc:creator>
  <cp:lastModifiedBy>Qi Jiu</cp:lastModifiedBy>
  <cp:revision>157</cp:revision>
  <dcterms:created xsi:type="dcterms:W3CDTF">2019-11-21T02:24:46Z</dcterms:created>
  <dcterms:modified xsi:type="dcterms:W3CDTF">2026-07-02T10:58:30Z</dcterms:modified>
</cp:coreProperties>
</file>