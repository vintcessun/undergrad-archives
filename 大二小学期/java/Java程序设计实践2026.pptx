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71" r:id="rId5"/>
    <p:sldId id="258" r:id="rId6"/>
    <p:sldId id="262" r:id="rId7"/>
    <p:sldId id="268" r:id="rId8"/>
    <p:sldId id="309" r:id="rId9"/>
    <p:sldId id="367" r:id="rId10"/>
    <p:sldId id="267" r:id="rId11"/>
    <p:sldId id="284" r:id="rId12"/>
    <p:sldId id="272" r:id="rId13"/>
    <p:sldId id="361" r:id="rId14"/>
    <p:sldId id="362" r:id="rId15"/>
    <p:sldId id="363" r:id="rId16"/>
    <p:sldId id="364" r:id="rId17"/>
    <p:sldId id="365" r:id="rId18"/>
    <p:sldId id="366" r:id="rId19"/>
  </p:sldIdLst>
  <p:sldSz cx="9144000" cy="6858000" type="screen4x3"/>
  <p:notesSz cx="6783070" cy="9928225"/>
  <p:custDataLst>
    <p:tags r:id="rId2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7"/>
    <p:restoredTop sz="94660"/>
  </p:normalViewPr>
  <p:slideViewPr>
    <p:cSldViewPr showGuides="1">
      <p:cViewPr varScale="1">
        <p:scale>
          <a:sx n="83" d="100"/>
          <a:sy n="83" d="100"/>
        </p:scale>
        <p:origin x="1445" y="67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9330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5"/>
            </a:lvl1pPr>
          </a:lstStyle>
          <a:p>
            <a:endParaRPr lang="zh-CN" altLang="en-US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2170" y="0"/>
            <a:ext cx="2939330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5"/>
            </a:lvl1pPr>
          </a:lstStyle>
          <a:p>
            <a:fld id="{0F9B84EA-7D68-4D60-9CB1-D50884785D1C}" type="datetimeFigureOut">
              <a:rPr lang="zh-CN" altLang="en-US" smtClean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39330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5"/>
            </a:lvl1pPr>
          </a:lstStyle>
          <a:p>
            <a:endParaRPr lang="zh-CN" altLang="en-US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2170" y="9430091"/>
            <a:ext cx="2939330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5"/>
            </a:lvl1pPr>
          </a:lstStyle>
          <a:p>
            <a:fld id="{8D4E0FC9-F1F8-4FAE-9988-3BA365CFD46F}" type="slidenum">
              <a:rPr lang="zh-CN" altLang="en-US" smtClean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9330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2170" y="0"/>
            <a:ext cx="2939330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3068" y="1241028"/>
            <a:ext cx="5956935" cy="335077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8307" y="4777958"/>
            <a:ext cx="5426456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39330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2170" y="9430091"/>
            <a:ext cx="2939330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6400800" y="6354763"/>
            <a:ext cx="2286000" cy="366713"/>
          </a:xfrm>
          <a:prstGeom prst="rect">
            <a:avLst/>
          </a:prstGeom>
        </p:spPr>
        <p:txBody>
          <a:bodyPr vert="horz"/>
          <a:lstStyle>
            <a:lvl1pPr>
              <a:defRPr sz="140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2898775" y="6354763"/>
            <a:ext cx="3475038" cy="366713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216025" y="6354763"/>
            <a:ext cx="1219200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dirty="0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6400800" y="6354763"/>
            <a:ext cx="2286000" cy="366713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98775" y="6354763"/>
            <a:ext cx="3475038" cy="366713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9975" y="6354763"/>
            <a:ext cx="1520825" cy="366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dirty="0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dirty="0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等腰三角形 10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等腰三角形 11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日期占位符 1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5" name="页脚占位符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直接连接符 11"/>
          <p:cNvSpPr>
            <a:spLocks noChangeShapeType="1"/>
          </p:cNvSpPr>
          <p:nvPr/>
        </p:nvSpPr>
        <p:spPr bwMode="auto">
          <a:xfrm rot="5400000">
            <a:off x="3160713" y="3324225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等腰三角形 12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微软雅黑" panose="020B050302020402020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等腰三角形 11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dirty="0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等腰三角形 11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ChangeShapeType="1"/>
          </p:cNvSpPr>
          <p:nvPr/>
        </p:nvSpPr>
        <p:spPr bwMode="auto">
          <a:xfrm rot="5400000">
            <a:off x="3630613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Times New Roman" panose="0202060305040502030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  <a:sym typeface="Times New Roman" panose="0202060305040502030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charset="0"/>
                <a:ea typeface="微软雅黑" panose="020B0503020204020204" charset="-122"/>
                <a:cs typeface="微软雅黑" panose="020B0503020204020204" charset="-122"/>
              </a:rPr>
            </a:fld>
            <a:endParaRPr lang="en-US" altLang="zh-CN" dirty="0"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1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2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  <a:ea typeface="宋体" panose="02010600030101010101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Times New Roman" panose="02020603050405020304" charset="0"/>
          <a:ea typeface="微软雅黑" panose="020B0503020204020204" charset="-122"/>
          <a:cs typeface="微软雅黑" panose="020B0503020204020204" charset="-122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Times New Roman" panose="02020603050405020304" charset="0"/>
          <a:ea typeface="微软雅黑" panose="020B0503020204020204" charset="-122"/>
          <a:cs typeface="微软雅黑" panose="020B0503020204020204" charset="-122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Times New Roman" panose="02020603050405020304" charset="0"/>
          <a:ea typeface="微软雅黑" panose="020B0503020204020204" charset="-122"/>
          <a:cs typeface="微软雅黑" panose="020B0503020204020204" charset="-122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rgbClr val="20775B"/>
        </a:buClr>
        <a:buSzPct val="70000"/>
        <a:buFont typeface="Wingdings" panose="05000000000000000000" pitchFamily="2" charset="2"/>
        <a:buChar char=""/>
        <a:defRPr sz="2000" kern="1200">
          <a:solidFill>
            <a:schemeClr val="tx1"/>
          </a:solidFill>
          <a:latin typeface="Times New Roman" panose="02020603050405020304" charset="0"/>
          <a:ea typeface="微软雅黑" panose="020B0503020204020204" charset="-122"/>
          <a:cs typeface="微软雅黑" panose="020B0503020204020204" charset="-122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Times New Roman" panose="02020603050405020304" charset="0"/>
          <a:ea typeface="微软雅黑" panose="020B0503020204020204" charset="-122"/>
          <a:cs typeface="微软雅黑" panose="020B0503020204020204" charset="-122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ctrTitle"/>
          </p:nvPr>
        </p:nvSpPr>
        <p:spPr>
          <a:xfrm>
            <a:off x="1143000" y="3886200"/>
            <a:ext cx="7010400" cy="9906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</a:pPr>
            <a:r>
              <a:rPr lang="en-US" altLang="zh-CN" kern="1200" dirty="0">
                <a:solidFill>
                  <a:schemeClr val="bg1"/>
                </a:solidFill>
                <a:latin typeface="+mj-lt"/>
                <a:ea typeface="+mj-ea"/>
              </a:rPr>
              <a:t>Java</a:t>
            </a:r>
            <a:r>
              <a:rPr lang="zh-CN" altLang="en-US" kern="1200" dirty="0">
                <a:solidFill>
                  <a:schemeClr val="bg1"/>
                </a:solidFill>
                <a:latin typeface="+mj-lt"/>
                <a:ea typeface="+mj-ea"/>
              </a:rPr>
              <a:t>程序设计实践课程说明（</a:t>
            </a:r>
            <a:r>
              <a:rPr lang="en-US" altLang="zh-CN" kern="1200" smtClean="0">
                <a:solidFill>
                  <a:schemeClr val="bg1"/>
                </a:solidFill>
                <a:latin typeface="+mj-lt"/>
                <a:ea typeface="+mj-ea"/>
              </a:rPr>
              <a:t>2026</a:t>
            </a:r>
            <a:r>
              <a:rPr lang="zh-CN" altLang="en-US" kern="1200" smtClean="0">
                <a:solidFill>
                  <a:schemeClr val="bg1"/>
                </a:solidFill>
                <a:latin typeface="+mj-lt"/>
                <a:ea typeface="+mj-ea"/>
              </a:rPr>
              <a:t>年</a:t>
            </a:r>
            <a:r>
              <a:rPr lang="zh-CN" altLang="en-US" kern="1200" dirty="0">
                <a:solidFill>
                  <a:schemeClr val="bg1"/>
                </a:solidFill>
                <a:latin typeface="+mj-lt"/>
                <a:ea typeface="+mj-ea"/>
              </a:rPr>
              <a:t>）</a:t>
            </a:r>
            <a:endParaRPr lang="zh-CN" altLang="en-US" kern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</a:rPr>
              <a:t>罗 斌   吴克青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4343400" cy="4937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Char char="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罗  斌 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4955" marR="0" lvl="1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en-US" altLang="zh-CN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robin@xmu.edu.cn</a:t>
            </a:r>
            <a:endParaRPr kumimoji="0" lang="en-US" altLang="zh-CN" sz="2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Char char="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吴克青 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4955" marR="0" lvl="1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kqwu@xmu.edu.cn</a:t>
            </a:r>
            <a:endParaRPr kumimoji="0" lang="zh-CN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548005" marR="0" lvl="1" indent="-27305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Char char="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0244" name="内容占位符 3"/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3200" b="1" dirty="0"/>
              <a:t>助教</a:t>
            </a:r>
            <a:endParaRPr lang="en-US" altLang="zh-CN" sz="3200" b="1" dirty="0"/>
          </a:p>
          <a:p>
            <a:pPr marL="0" indent="0" eaLnBrk="1" hangingPunct="1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dirty="0"/>
              <a:t>陈泽海</a:t>
            </a:r>
            <a:endParaRPr lang="zh-CN" altLang="en-US" dirty="0"/>
          </a:p>
          <a:p>
            <a:pPr marL="0" indent="0" eaLnBrk="1" hangingPunct="1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dirty="0"/>
              <a:t>高荣鑫</a:t>
            </a:r>
            <a:endParaRPr lang="zh-CN" altLang="en-US" dirty="0"/>
          </a:p>
          <a:p>
            <a:pPr marL="0" indent="0" eaLnBrk="1" hangingPunct="1">
              <a:buNone/>
            </a:pPr>
            <a:r>
              <a:rPr lang="zh-CN" altLang="en-US" dirty="0"/>
              <a:t>刘东暄</a:t>
            </a:r>
            <a:endParaRPr lang="zh-CN" altLang="en-US" dirty="0"/>
          </a:p>
          <a:p>
            <a:pPr marL="0" indent="0" eaLnBrk="1" hangingPunct="1">
              <a:buNone/>
            </a:pPr>
            <a:endParaRPr lang="zh-CN" altLang="en-US" dirty="0"/>
          </a:p>
          <a:p>
            <a:pPr marL="0" indent="0" eaLnBrk="1" hangingPunct="1">
              <a:buNone/>
            </a:pPr>
            <a:r>
              <a:rPr lang="zh-CN" altLang="en-US" dirty="0"/>
              <a:t>课程</a:t>
            </a:r>
            <a:r>
              <a:rPr lang="en-US" altLang="zh-CN" dirty="0"/>
              <a:t>QQ</a:t>
            </a:r>
            <a:r>
              <a:rPr lang="zh-CN" altLang="en-US" dirty="0"/>
              <a:t>群</a:t>
            </a:r>
            <a:r>
              <a:rPr lang="zh-CN" altLang="en-US" dirty="0" smtClean="0"/>
              <a:t>：</a:t>
            </a:r>
            <a:r>
              <a:rPr lang="en-US" altLang="zh-CN" dirty="0"/>
              <a:t>496529910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kern="1200" dirty="0">
                <a:latin typeface="+mj-lt"/>
                <a:ea typeface="+mj-ea"/>
              </a:rPr>
              <a:t>课程组织及考核方式</a:t>
            </a:r>
            <a:endParaRPr lang="zh-CN" altLang="en-US" kern="1200" dirty="0">
              <a:latin typeface="+mj-lt"/>
              <a:ea typeface="+mj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课程形式 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150000"/>
              </a:lnSpc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dirty="0"/>
              <a:t>实践课程，以自己动手为主，学会运用互联网上各种学习资源，如：专业论坛、在线教程、人工智能等。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  <a:buClr>
                <a:schemeClr val="accent1"/>
              </a:buClr>
              <a:buSzPct val="76000"/>
            </a:pPr>
            <a:r>
              <a:rPr lang="zh-CN" altLang="en-US" dirty="0"/>
              <a:t>第一周，主要学习</a:t>
            </a:r>
            <a:r>
              <a:rPr lang="en-US" altLang="zh-CN" dirty="0"/>
              <a:t>Linux</a:t>
            </a:r>
            <a:r>
              <a:rPr lang="zh-CN" altLang="en-US" dirty="0"/>
              <a:t>基本操作，完成</a:t>
            </a:r>
            <a:r>
              <a:rPr lang="en-US" altLang="zh-CN" dirty="0">
                <a:sym typeface="+mn-ea"/>
              </a:rPr>
              <a:t>Linux</a:t>
            </a:r>
            <a:r>
              <a:rPr lang="zh-CN" dirty="0">
                <a:sym typeface="+mn-ea"/>
              </a:rPr>
              <a:t>实验</a:t>
            </a:r>
            <a:r>
              <a:rPr lang="zh-CN" altLang="en-US" dirty="0">
                <a:sym typeface="+mn-ea"/>
              </a:rPr>
              <a:t>报告。</a:t>
            </a:r>
            <a:r>
              <a:rPr lang="zh-CN" altLang="en-US" dirty="0">
                <a:sym typeface="+mn-ea"/>
              </a:rPr>
              <a:t>组队</a:t>
            </a:r>
            <a:r>
              <a:rPr lang="zh-CN" altLang="en-US" dirty="0">
                <a:sym typeface="+mn-ea"/>
              </a:rPr>
              <a:t>选题</a:t>
            </a:r>
            <a:r>
              <a:rPr lang="zh-CN" altLang="en-US" dirty="0">
                <a:sym typeface="+mn-ea"/>
              </a:rPr>
              <a:t>，进行项目前期准备，着手项目开发。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  <a:buClr>
                <a:schemeClr val="accent1"/>
              </a:buClr>
              <a:buSzPct val="76000"/>
            </a:pPr>
            <a:r>
              <a:rPr lang="zh-CN" altLang="en-US" dirty="0"/>
              <a:t>第二至三周，进行项目设计与实现。</a:t>
            </a:r>
            <a:endParaRPr lang="zh-CN" altLang="en-US" dirty="0"/>
          </a:p>
          <a:p>
            <a:pPr marL="0" indent="0" algn="just" eaLnBrk="1" hangingPunct="1">
              <a:lnSpc>
                <a:spcPct val="150000"/>
              </a:lnSpc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dirty="0"/>
              <a:t>小组内各成员应分工明确，由小组组长负责安排计划，详细制定每位成员应该完成哪些功能，所有的组员要积极配合，协力完成整个项目的开发。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考核方式</a:t>
            </a:r>
            <a:endParaRPr lang="zh-CN" altLang="en-US" dirty="0"/>
          </a:p>
        </p:txBody>
      </p:sp>
      <p:sp>
        <p:nvSpPr>
          <p:cNvPr id="13315" name="Rectangle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7315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800" dirty="0"/>
              <a:t>个人最终成绩</a:t>
            </a:r>
            <a:r>
              <a:rPr lang="en-US" altLang="zh-CN" sz="2800" dirty="0"/>
              <a:t> = Linux</a:t>
            </a:r>
            <a:r>
              <a:rPr lang="zh-CN" sz="2800" dirty="0">
                <a:sym typeface="+mn-ea"/>
              </a:rPr>
              <a:t>实验</a:t>
            </a:r>
            <a:r>
              <a:rPr lang="zh-CN" altLang="en-US" sz="2800" dirty="0">
                <a:sym typeface="+mn-ea"/>
              </a:rPr>
              <a:t>报告及个人项目总结（</a:t>
            </a:r>
            <a:r>
              <a:rPr lang="en-US" altLang="zh-CN" sz="2800" dirty="0">
                <a:sym typeface="+mn-ea"/>
              </a:rPr>
              <a:t>4</a:t>
            </a:r>
            <a:r>
              <a:rPr lang="en-US" altLang="zh-CN" sz="2800" dirty="0">
                <a:sym typeface="+mn-ea"/>
              </a:rPr>
              <a:t>0</a:t>
            </a:r>
            <a:r>
              <a:rPr lang="en-US" altLang="zh-CN" sz="2800" dirty="0">
                <a:sym typeface="+mn-ea"/>
              </a:rPr>
              <a:t>%</a:t>
            </a:r>
            <a:r>
              <a:rPr lang="zh-CN" altLang="en-US" sz="2800" dirty="0">
                <a:sym typeface="+mn-ea"/>
              </a:rPr>
              <a:t>）</a:t>
            </a:r>
            <a:r>
              <a:rPr lang="en-US" altLang="zh-CN" sz="2800" dirty="0">
                <a:sym typeface="+mn-ea"/>
              </a:rPr>
              <a:t> + </a:t>
            </a:r>
            <a:r>
              <a:rPr lang="zh-CN" altLang="en-US" sz="2800" dirty="0"/>
              <a:t>项目期末成绩（</a:t>
            </a:r>
            <a:r>
              <a:rPr lang="en-US" altLang="zh-CN" sz="2800" dirty="0"/>
              <a:t>50%</a:t>
            </a:r>
            <a:r>
              <a:rPr lang="zh-CN" altLang="en-US" sz="2800" dirty="0"/>
              <a:t>）</a:t>
            </a:r>
            <a:r>
              <a:rPr lang="en-US" altLang="zh-CN" sz="2800" dirty="0"/>
              <a:t> + </a:t>
            </a:r>
            <a:r>
              <a:rPr lang="zh-CN" altLang="en-US" sz="2800" dirty="0"/>
              <a:t>个人考勤成绩（</a:t>
            </a:r>
            <a:r>
              <a:rPr lang="en-US" altLang="zh-CN" sz="2800" dirty="0"/>
              <a:t>1</a:t>
            </a:r>
            <a:r>
              <a:rPr lang="en-US" altLang="zh-CN" sz="2800" dirty="0"/>
              <a:t>0%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0" indent="0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en-US" altLang="zh-CN" sz="2400" dirty="0"/>
              <a:t>1. </a:t>
            </a:r>
            <a:r>
              <a:rPr lang="en-US" altLang="zh-CN" sz="2400" dirty="0">
                <a:sym typeface="+mn-ea"/>
              </a:rPr>
              <a:t>Lunix</a:t>
            </a:r>
            <a:r>
              <a:rPr lang="zh-CN" sz="2400" dirty="0">
                <a:sym typeface="+mn-ea"/>
              </a:rPr>
              <a:t>实验</a:t>
            </a:r>
            <a:r>
              <a:rPr lang="zh-CN" altLang="en-US" sz="2400" dirty="0">
                <a:sym typeface="+mn-ea"/>
              </a:rPr>
              <a:t>报告请于第一周内（即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7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日</a:t>
            </a:r>
            <a:r>
              <a:rPr lang="zh-CN" altLang="en-US" sz="2400" dirty="0">
                <a:sym typeface="+mn-ea"/>
              </a:rPr>
              <a:t>前）提交到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400" dirty="0"/>
              <a:t>数字化教学平台</a:t>
            </a:r>
            <a:r>
              <a:rPr lang="en-US" altLang="zh-CN" sz="2400" dirty="0"/>
              <a:t>https://lnt.xmu.edu.cn/</a:t>
            </a:r>
            <a:endParaRPr lang="en-US" altLang="zh-CN" sz="2400" dirty="0"/>
          </a:p>
          <a:p>
            <a:pPr marL="0" indent="0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en-US" altLang="zh-CN" sz="2400" dirty="0"/>
              <a:t>2.</a:t>
            </a:r>
            <a:r>
              <a:rPr lang="zh-CN" altLang="en-US" sz="2400" dirty="0">
                <a:sym typeface="+mn-ea"/>
              </a:rPr>
              <a:t>个人项目总结请于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7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15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日</a:t>
            </a:r>
            <a:r>
              <a:rPr lang="zh-CN" altLang="en-US" sz="2400" dirty="0">
                <a:sym typeface="+mn-ea"/>
              </a:rPr>
              <a:t>前提交到</a:t>
            </a:r>
            <a:r>
              <a:rPr lang="zh-CN" altLang="en-US" sz="2400" dirty="0">
                <a:sym typeface="+mn-ea"/>
              </a:rPr>
              <a:t>：数字化教学平台</a:t>
            </a:r>
            <a:r>
              <a:rPr lang="en-US" altLang="zh-CN" sz="2400" dirty="0">
                <a:sym typeface="+mn-ea"/>
              </a:rPr>
              <a:t>https://lnt.xmu.edu.cn/</a:t>
            </a:r>
            <a:endParaRPr lang="en-US" altLang="zh-CN" sz="2400" dirty="0"/>
          </a:p>
          <a:p>
            <a:pPr marL="0" indent="0"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项目成绩由两部分成绩组成：</a:t>
            </a:r>
            <a:endParaRPr lang="zh-CN" altLang="en-US" sz="2400" dirty="0"/>
          </a:p>
          <a:p>
            <a:pPr marL="274955" lvl="1" indent="0"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000" dirty="0"/>
              <a:t>学期结束前分组进行汇报（成绩为</a:t>
            </a:r>
            <a:r>
              <a:rPr lang="en-US" altLang="zh-CN" sz="2000" dirty="0"/>
              <a:t>100</a:t>
            </a:r>
            <a:r>
              <a:rPr lang="zh-CN" altLang="en-US" sz="2000" dirty="0"/>
              <a:t>分，占总成绩</a:t>
            </a:r>
            <a:r>
              <a:rPr lang="en-US" altLang="zh-CN" sz="2000" dirty="0"/>
              <a:t>50%</a:t>
            </a:r>
            <a:r>
              <a:rPr lang="zh-CN" altLang="en-US" sz="2000" dirty="0"/>
              <a:t>），其中包含小组功能点演示和代码文档提交</a:t>
            </a:r>
            <a:endParaRPr lang="zh-CN" altLang="en-US" sz="2000" dirty="0"/>
          </a:p>
          <a:p>
            <a:pPr marL="274955" lvl="1" indent="0"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汇报要求：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593725" lvl="2" indent="0">
              <a:buClr>
                <a:srgbClr val="BCBCBC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1900" dirty="0"/>
              <a:t>分小组上讲台，准备演示文稿，介绍系统的运行界面和主要功能。</a:t>
            </a:r>
            <a:endParaRPr lang="zh-CN" altLang="en-US" sz="1900" dirty="0"/>
          </a:p>
          <a:p>
            <a:pPr marL="593725" lvl="2" indent="0">
              <a:buClr>
                <a:srgbClr val="BCBCBC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1900" dirty="0"/>
              <a:t>老师提问，小组人员按照要求回答问题，展示项目成果和代码。</a:t>
            </a:r>
            <a:endParaRPr lang="en-US" altLang="zh-CN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考核方式（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r>
              <a:rPr lang="en-US" altLang="zh-CN" sz="2800" dirty="0"/>
              <a:t>2</a:t>
            </a:r>
            <a:r>
              <a:rPr lang="zh-CN" altLang="en-US" sz="2800" dirty="0"/>
              <a:t>、考勤成绩（</a:t>
            </a:r>
            <a:r>
              <a:rPr lang="en-US" altLang="zh-CN" sz="2800" dirty="0"/>
              <a:t>100</a:t>
            </a:r>
            <a:r>
              <a:rPr lang="zh-CN" altLang="en-US" sz="2800" dirty="0"/>
              <a:t>分，占总成绩</a:t>
            </a:r>
            <a:r>
              <a:rPr lang="en-US" altLang="zh-CN" sz="2800" dirty="0"/>
              <a:t>1</a:t>
            </a:r>
            <a:r>
              <a:rPr lang="en-US" altLang="zh-CN" sz="2800" dirty="0"/>
              <a:t>0%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29210" lvl="1" indent="0" latinLnBrk="0"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800" dirty="0"/>
              <a:t>根据</a:t>
            </a:r>
            <a:r>
              <a:rPr lang="en-US" altLang="zh-CN" sz="2800" dirty="0"/>
              <a:t>《</a:t>
            </a:r>
            <a:r>
              <a:rPr lang="zh-CN" altLang="en-US" sz="2800" dirty="0"/>
              <a:t>厦门大学本科生学籍管理规定</a:t>
            </a:r>
            <a:r>
              <a:rPr lang="en-US" altLang="zh-CN" sz="2800" dirty="0"/>
              <a:t>》</a:t>
            </a:r>
            <a:r>
              <a:rPr lang="zh-CN" altLang="en-US" sz="2800" dirty="0"/>
              <a:t>第十二条 </a:t>
            </a:r>
            <a:endParaRPr lang="zh-CN" altLang="en-US" sz="2800" dirty="0"/>
          </a:p>
          <a:p>
            <a:pPr marL="19685" lvl="1" indent="711200" latinLnBrk="0">
              <a:buClr>
                <a:schemeClr val="accent2"/>
              </a:buClr>
              <a:buSzPct val="76000"/>
              <a:buFont typeface="Times New Roman" panose="02020603050405020304" charset="0"/>
            </a:pPr>
            <a:r>
              <a:rPr lang="zh-CN" altLang="en-US" sz="2800" dirty="0"/>
              <a:t>“学生未按时参加课程考核，该课程考核为不合格。</a:t>
            </a:r>
            <a:endParaRPr lang="zh-CN" altLang="en-US" sz="2800" dirty="0"/>
          </a:p>
          <a:p>
            <a:pPr marL="19685" lvl="1" indent="711200" latinLnBrk="0">
              <a:buClr>
                <a:schemeClr val="accent2"/>
              </a:buClr>
              <a:buSzPct val="76000"/>
              <a:buFont typeface="Times New Roman" panose="02020603050405020304" charset="0"/>
            </a:pPr>
            <a:r>
              <a:rPr lang="zh-CN" altLang="en-US" sz="2800" dirty="0"/>
              <a:t>一门课程缺课（含请假）的学时累计达到该门课程总学时数的 1/3 者（获准部分免听者除外），或者实验课缺做实验达 1／3者，不得参加该课程的期末考核。”</a:t>
            </a:r>
            <a:endParaRPr lang="zh-CN" altLang="en-US" sz="2800" dirty="0"/>
          </a:p>
          <a:p>
            <a:pPr marL="19685" lvl="1" indent="711200" latinLnBrk="0">
              <a:buClr>
                <a:schemeClr val="accent2"/>
              </a:buClr>
              <a:buSzPct val="76000"/>
              <a:buFont typeface="Times New Roman" panose="02020603050405020304" charset="0"/>
            </a:pPr>
            <a:r>
              <a:rPr lang="zh-CN" altLang="en-US" sz="2800" dirty="0"/>
              <a:t>本课程缺勤时间（包括事假、病假等请假，不包括学校及学院安排的公务外出）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22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学时</a:t>
            </a:r>
            <a:r>
              <a:rPr lang="zh-CN" altLang="en-US" sz="2800" dirty="0"/>
              <a:t>，没有成绩。</a:t>
            </a:r>
            <a:endParaRPr lang="en-US" altLang="zh-CN" sz="2500" dirty="0"/>
          </a:p>
          <a:p>
            <a:pPr lvl="1">
              <a:buClr>
                <a:schemeClr val="accent2"/>
              </a:buClr>
              <a:buSzPct val="76000"/>
              <a:buFont typeface="Times New Roman" panose="02020603050405020304" charset="0"/>
            </a:pPr>
            <a:endParaRPr lang="en-US" altLang="zh-CN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考核方式（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zh-CN" altLang="en-US" sz="2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严格执行请假制度，因公请假不影响考勤成绩。</a:t>
            </a:r>
            <a:endParaRPr kumimoji="0" lang="en-US" altLang="zh-CN" sz="25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短学期请假的审批流程如下：</a:t>
            </a:r>
            <a:endParaRPr kumimoji="0" lang="zh-CN" alt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4955" marR="0" lvl="1" indent="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en-US" altLang="zh-CN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、学生填写请假条（学院官方假条）</a:t>
            </a:r>
            <a:endParaRPr kumimoji="0" lang="zh-CN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4955" marR="0" lvl="1" indent="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en-US" altLang="zh-CN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、交所在班级的辅导员审批</a:t>
            </a:r>
            <a:endParaRPr kumimoji="0" lang="zh-CN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4955" marR="0" lvl="1" indent="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Times New Roman" panose="02020603050405020304" charset="0"/>
              <a:buNone/>
              <a:defRPr/>
            </a:pPr>
            <a:r>
              <a:rPr kumimoji="0" lang="en-US" altLang="zh-CN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3</a:t>
            </a:r>
            <a:r>
              <a:rPr kumimoji="0" lang="zh-CN" altLang="en-US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、交任课教师审批</a:t>
            </a:r>
            <a:endParaRPr kumimoji="0" lang="zh-CN" altLang="en-US" sz="23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600" dirty="0">
                <a:sym typeface="+mn-ea"/>
              </a:rPr>
              <a:t>考勤：</a:t>
            </a:r>
            <a:endParaRPr lang="zh-CN" altLang="en-US" sz="2600" dirty="0"/>
          </a:p>
          <a:p>
            <a:pPr marL="274955" lvl="1" indent="0" eaLnBrk="1" hangingPunct="1">
              <a:lnSpc>
                <a:spcPct val="150000"/>
              </a:lnSpc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600" dirty="0">
                <a:sym typeface="+mn-ea"/>
              </a:rPr>
              <a:t>数字化教学平台点名签到</a:t>
            </a:r>
            <a:r>
              <a:rPr lang="en-US" altLang="zh-CN" sz="2600" dirty="0">
                <a:sym typeface="+mn-ea"/>
              </a:rPr>
              <a:t>+</a:t>
            </a:r>
            <a:r>
              <a:rPr lang="zh-CN" altLang="en-US" sz="2600" dirty="0">
                <a:sym typeface="+mn-ea"/>
              </a:rPr>
              <a:t>随时抽查。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274955" lvl="1" indent="0" eaLnBrk="1" hangingPunct="1">
              <a:lnSpc>
                <a:spcPct val="150000"/>
              </a:lnSpc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600" dirty="0">
                <a:sym typeface="+mn-ea"/>
              </a:rPr>
              <a:t>请假：需如实向辅导员汇报情况，并签学院请假条，交至老师处备案。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考核方式（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1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Char char=""/>
              <a:defRPr/>
            </a:pPr>
            <a:r>
              <a:rPr kumimoji="0" 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每周考查（第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、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周）</a:t>
            </a:r>
            <a:r>
              <a:rPr kumimoji="0" 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r>
              <a:rPr kumimoji="0" 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每周五将安排各组对本组的任务进展情况进行公开汇报</a:t>
            </a:r>
            <a:endParaRPr kumimoji="0" 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r>
              <a:rPr kumimoji="0" 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每组汇报时间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3-5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分钟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分三间教室同时汇报，具体各项目组汇报地点将提前公布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Char char=""/>
              <a:defRPr/>
            </a:pP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考核方式（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50000"/>
              </a:lnSpc>
              <a:buClr>
                <a:schemeClr val="accent1"/>
              </a:buClr>
              <a:buSzPct val="76000"/>
              <a:buFont typeface="Times New Roman" panose="02020603050405020304" charset="0"/>
              <a:buNone/>
            </a:pPr>
            <a:r>
              <a:rPr lang="zh-CN" altLang="en-US" sz="2800" dirty="0"/>
              <a:t>最终考核时间：</a:t>
            </a:r>
            <a:endParaRPr lang="zh-CN" altLang="en-US" sz="2800" dirty="0"/>
          </a:p>
          <a:p>
            <a:pPr marL="623570" lvl="2" indent="-342900" eaLnBrk="1" hangingPunct="1">
              <a:lnSpc>
                <a:spcPct val="150000"/>
              </a:lnSpc>
              <a:buClr>
                <a:schemeClr val="accent2"/>
              </a:buClr>
              <a:buSzPct val="76000"/>
            </a:pP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第三周周四（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7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日）前</a:t>
            </a:r>
            <a:r>
              <a:rPr lang="zh-CN" altLang="en-US" sz="2400" dirty="0">
                <a:sym typeface="+mn-ea"/>
              </a:rPr>
              <a:t>，需将小组项目文档</a:t>
            </a:r>
            <a:r>
              <a:rPr lang="zh-CN" altLang="en-US" sz="2400" dirty="0">
                <a:sym typeface="+mn-ea"/>
              </a:rPr>
              <a:t>提交到数字化教学平台；</a:t>
            </a:r>
            <a:endParaRPr lang="zh-CN" altLang="en-US" sz="2400" dirty="0">
              <a:sym typeface="+mn-ea"/>
            </a:endParaRPr>
          </a:p>
          <a:p>
            <a:pPr marL="623570" lvl="2" indent="-342900" eaLnBrk="1" hangingPunct="1">
              <a:lnSpc>
                <a:spcPct val="150000"/>
              </a:lnSpc>
              <a:buClr>
                <a:schemeClr val="accent2"/>
              </a:buClr>
              <a:buSzPct val="76000"/>
            </a:pPr>
            <a:r>
              <a:rPr lang="zh-CN" altLang="en-US" sz="2400" dirty="0">
                <a:sym typeface="+mn-ea"/>
              </a:rPr>
              <a:t>项目代码、项目展示</a:t>
            </a:r>
            <a:r>
              <a:rPr lang="en-US" altLang="zh-CN" sz="2400" dirty="0">
                <a:sym typeface="+mn-ea"/>
              </a:rPr>
              <a:t>PPT</a:t>
            </a:r>
            <a:r>
              <a:rPr lang="zh-CN" altLang="en-US" sz="2400" dirty="0">
                <a:sym typeface="+mn-ea"/>
              </a:rPr>
              <a:t>、演示视频（以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组号</a:t>
            </a:r>
            <a:r>
              <a:rPr lang="en-US" altLang="zh-CN" sz="2400" dirty="0">
                <a:sym typeface="+mn-ea"/>
              </a:rPr>
              <a:t>+</a:t>
            </a:r>
            <a:r>
              <a:rPr lang="zh-CN" altLang="en-US" sz="2400" dirty="0">
                <a:sym typeface="+mn-ea"/>
              </a:rPr>
              <a:t>组名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形式命名后，上传到</a:t>
            </a:r>
            <a:r>
              <a:rPr lang="en-US" altLang="zh-CN" sz="2400" dirty="0">
                <a:sym typeface="+mn-ea"/>
              </a:rPr>
              <a:t>“ftp://student:ILoveSoftware!@121.192.180.236/</a:t>
            </a:r>
            <a:r>
              <a:rPr lang="zh-CN" altLang="en-US" sz="2400" dirty="0">
                <a:sym typeface="+mn-ea"/>
              </a:rPr>
              <a:t>上传作业/罗斌/202</a:t>
            </a:r>
            <a:r>
              <a:rPr lang="en-US" altLang="zh-CN" sz="2400" dirty="0">
                <a:sym typeface="+mn-ea"/>
              </a:rPr>
              <a:t>6</a:t>
            </a:r>
            <a:r>
              <a:rPr lang="zh-CN" altLang="en-US" sz="2400" dirty="0">
                <a:sym typeface="+mn-ea"/>
              </a:rPr>
              <a:t>年</a:t>
            </a:r>
            <a:r>
              <a:rPr lang="en-US" altLang="zh-CN" sz="2400" dirty="0">
                <a:sym typeface="+mn-ea"/>
              </a:rPr>
              <a:t>Java</a:t>
            </a:r>
            <a:r>
              <a:rPr lang="zh-CN" altLang="en-US" sz="2400" dirty="0">
                <a:sym typeface="+mn-ea"/>
              </a:rPr>
              <a:t>程序设计实践/项目资料</a:t>
            </a:r>
            <a:r>
              <a:rPr lang="en-US" altLang="zh-CN" sz="2400" dirty="0">
                <a:sym typeface="+mn-ea"/>
              </a:rPr>
              <a:t>/”</a:t>
            </a:r>
            <a:r>
              <a:rPr lang="zh-CN" altLang="en-US" sz="2400" dirty="0">
                <a:sym typeface="+mn-ea"/>
              </a:rPr>
              <a:t>中对应的目录</a:t>
            </a:r>
            <a:endParaRPr lang="zh-CN" altLang="en-US" sz="2400" dirty="0">
              <a:sym typeface="+mn-ea"/>
            </a:endParaRPr>
          </a:p>
          <a:p>
            <a:pPr marL="623570" lvl="2" indent="-342900" eaLnBrk="1" hangingPunct="1">
              <a:lnSpc>
                <a:spcPct val="150000"/>
              </a:lnSpc>
              <a:buClr>
                <a:schemeClr val="accent2"/>
              </a:buClr>
              <a:buSzPct val="76000"/>
            </a:pPr>
            <a:r>
              <a:rPr lang="zh-CN" altLang="en-US" sz="2400" dirty="0">
                <a:solidFill>
                  <a:srgbClr val="FF0000"/>
                </a:solidFill>
              </a:rPr>
              <a:t>小学期第三周周五即</a:t>
            </a:r>
            <a:r>
              <a:rPr lang="en-US" altLang="zh-CN" sz="2400" dirty="0">
                <a:solidFill>
                  <a:srgbClr val="FF0000"/>
                </a:solidFill>
              </a:rPr>
              <a:t>7</a:t>
            </a:r>
            <a:r>
              <a:rPr lang="zh-CN" altLang="en-US" sz="2400" dirty="0">
                <a:solidFill>
                  <a:srgbClr val="FF0000"/>
                </a:solidFill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</a:rPr>
              <a:t>17</a:t>
            </a:r>
            <a:r>
              <a:rPr lang="zh-CN" altLang="en-US" sz="2400" dirty="0">
                <a:solidFill>
                  <a:srgbClr val="FF0000"/>
                </a:solidFill>
              </a:rPr>
              <a:t>日</a:t>
            </a:r>
            <a:r>
              <a:rPr lang="zh-CN" altLang="en-US" sz="2400" dirty="0">
                <a:solidFill>
                  <a:schemeClr val="tx1"/>
                </a:solidFill>
              </a:rPr>
              <a:t>（分组演示考核），须全员参加，未参加的同学本课程的最终成绩扣</a:t>
            </a:r>
            <a:r>
              <a:rPr lang="en-US" altLang="zh-CN" sz="2400" dirty="0">
                <a:solidFill>
                  <a:schemeClr val="tx1"/>
                </a:solidFill>
              </a:rPr>
              <a:t>10</a:t>
            </a:r>
            <a:r>
              <a:rPr lang="zh-CN" altLang="en-US" sz="2400" dirty="0">
                <a:solidFill>
                  <a:schemeClr val="tx1"/>
                </a:solidFill>
              </a:rPr>
              <a:t>分。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chemeClr val="accent2"/>
              </a:buClr>
              <a:buSzPct val="76000"/>
              <a:buFont typeface="Times New Roman" panose="02020603050405020304" charset="0"/>
            </a:pP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实验室要求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>
              <a:buClr>
                <a:schemeClr val="accent1"/>
              </a:buClr>
              <a:buSzPct val="76000"/>
              <a:buFont typeface="Wingdings" panose="05000000000000000000" charset="0"/>
              <a:buChar char="l"/>
            </a:pPr>
            <a:r>
              <a:rPr lang="zh-CN" altLang="en-US" dirty="0"/>
              <a:t>保持自己座位的整洁，及时清理垃圾，特别是纸巾</a:t>
            </a:r>
            <a:endParaRPr lang="en-US" altLang="zh-CN" dirty="0"/>
          </a:p>
          <a:p>
            <a:pPr>
              <a:buClr>
                <a:schemeClr val="accent1"/>
              </a:buClr>
              <a:buSzPct val="76000"/>
              <a:buFont typeface="Wingdings" panose="05000000000000000000" charset="0"/>
              <a:buChar char="l"/>
            </a:pPr>
            <a:r>
              <a:rPr lang="zh-CN" altLang="en-US" dirty="0"/>
              <a:t>下课请关机，并检查座位避免物品遗失，特别是</a:t>
            </a:r>
            <a:r>
              <a:rPr lang="en-US" altLang="zh-CN" dirty="0"/>
              <a:t>U</a:t>
            </a:r>
            <a:r>
              <a:rPr lang="zh-CN" altLang="en-US" dirty="0"/>
              <a:t>盘</a:t>
            </a:r>
            <a:endParaRPr lang="en-US" altLang="zh-CN" dirty="0"/>
          </a:p>
          <a:p>
            <a:pPr>
              <a:buClr>
                <a:schemeClr val="accent1"/>
              </a:buClr>
              <a:buSzPct val="76000"/>
              <a:buFont typeface="Wingdings" panose="05000000000000000000" charset="0"/>
              <a:buChar char="l"/>
            </a:pPr>
            <a:r>
              <a:rPr lang="zh-CN" altLang="en-US" dirty="0"/>
              <a:t>实践环节严禁打网络游戏和看片，屡次警告不改者个人成绩直接扣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kern="1200" dirty="0">
                <a:latin typeface="+mj-lt"/>
                <a:ea typeface="+mj-ea"/>
              </a:rPr>
              <a:t>课程项目介绍</a:t>
            </a:r>
            <a:endParaRPr lang="zh-CN" altLang="en-US" kern="1200" dirty="0">
              <a:latin typeface="+mj-lt"/>
              <a:ea typeface="+mj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Times New Roman" panose="0202060305040502030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mtClean="0"/>
              <a:t>题目一：</a:t>
            </a:r>
            <a:r>
              <a:rPr lang="zh-CN" altLang="en-US" dirty="0" smtClean="0">
                <a:sym typeface="+mn-ea"/>
              </a:rPr>
              <a:t>校园闲置物品智慧流转小程序</a:t>
            </a:r>
            <a:endParaRPr lang="zh-CN" altLang="en-US" smtClean="0"/>
          </a:p>
        </p:txBody>
      </p:sp>
      <p:sp>
        <p:nvSpPr>
          <p:cNvPr id="10243" name="内容占位符 2"/>
          <p:cNvSpPr>
            <a:spLocks noGrp="1"/>
          </p:cNvSpPr>
          <p:nvPr>
            <p:ph sz="quarter" idx="1"/>
          </p:nvPr>
        </p:nvSpPr>
        <p:spPr>
          <a:xfrm>
            <a:off x="349885" y="1219200"/>
            <a:ext cx="8501380" cy="4892040"/>
          </a:xfrm>
        </p:spPr>
        <p:txBody>
          <a:bodyPr/>
          <a:lstStyle/>
          <a:p>
            <a:pPr lvl="1" algn="l" eaLnBrk="1" hangingPunct="1"/>
            <a:r>
              <a:rPr lang="zh-CN" altLang="en-US" dirty="0" smtClean="0"/>
              <a:t>面向本校师生的二手物品交易平台，聚焦教材、数码、宿舍用品、运动器材闲置流转，新增校园专属核验机制，杜绝校外商贩入驻。</a:t>
            </a:r>
            <a:endParaRPr lang="zh-CN" altLang="en-US" dirty="0" smtClean="0"/>
          </a:p>
          <a:p>
            <a:pPr lvl="1" algn="l" eaLnBrk="1" hangingPunct="1"/>
            <a:r>
              <a:rPr lang="zh-CN" altLang="en-US" dirty="0" smtClean="0"/>
              <a:t>功能需求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1.用户模块：学生手机号+校园学号双重实名认证、角色区分（普通用户/管理员）、个人信息、收货地址管理。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2.商品发布：分类发布闲置、图文上传、定价/自提/送货到校、商品上下架、编辑商品。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3.交易互动：商品搜索/分类筛选/关键词检索、收藏商品、私信聊天、预约自提。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4.订单模块：下单、订单状态流转（待沟通→待自提→已完成）、订单记录。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5.后台管理：商品审核、违规下架、用户黑名单、类目管理、数据看板（发布量、成交统计）。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6.附加轻量化：闲置求购板块（用户发布求购需求，系统匹配对应商品）。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mtClean="0"/>
              <a:t>题目二：</a:t>
            </a:r>
            <a:r>
              <a:rPr lang="zh-CN" altLang="en-US" dirty="0" smtClean="0">
                <a:sym typeface="+mn-ea"/>
              </a:rPr>
              <a:t>智能校园自习室预约管理平台</a:t>
            </a:r>
            <a:endParaRPr lang="zh-CN" altLang="en-US" smtClean="0"/>
          </a:p>
        </p:txBody>
      </p:sp>
      <p:sp>
        <p:nvSpPr>
          <p:cNvPr id="1024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lvl="1" algn="l" eaLnBrk="1" hangingPunct="1"/>
            <a:r>
              <a:rPr lang="zh-CN" altLang="en-US" dirty="0" smtClean="0"/>
              <a:t>解决高校自习室占座、空位不明痛点，实现全校区自习室在线选座、限时预约、超时释放座位，适配图书馆、教学楼自习房间。</a:t>
            </a:r>
            <a:endParaRPr lang="zh-CN" altLang="en-US" dirty="0" smtClean="0"/>
          </a:p>
          <a:p>
            <a:pPr lvl="1" algn="l" eaLnBrk="1" hangingPunct="1"/>
            <a:r>
              <a:rPr lang="zh-CN" altLang="en-US" dirty="0" smtClean="0"/>
              <a:t>功能需求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1.自习室管理：管理员录入楼栋、楼层、自习室房间、座位排布信息。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2.学生预约：按校区/楼层筛选自习室、自选空闲座位、设置预约起止时间，单日预约次数限制。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3.座位管控：预约超时未签到自动释放座位、临时取消预约、黑名单（爽约多次禁止预约）。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4.实时看板：自习室座位热力图（空闲/已占用可视化展示）。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5.数据报表：各自习室日均使用率、热门时段统计。</a:t>
            </a:r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mtClean="0"/>
              <a:t>题目三：线上互助答疑学习平台</a:t>
            </a:r>
            <a:endParaRPr lang="zh-CN" altLang="en-US" smtClean="0"/>
          </a:p>
        </p:txBody>
      </p:sp>
      <p:sp>
        <p:nvSpPr>
          <p:cNvPr id="1024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lvl="1" algn="l" eaLnBrk="1" hangingPunct="1"/>
            <a:r>
              <a:rPr lang="zh-CN" altLang="en-US" dirty="0" smtClean="0"/>
              <a:t>对标轻量化知乎校园版，聚焦专业课疑难答疑、课程资料分享，打通同校学生互助学习场景，兼具问答、资料上传、收藏功能。</a:t>
            </a:r>
            <a:endParaRPr lang="zh-CN" altLang="en-US" dirty="0" smtClean="0"/>
          </a:p>
          <a:p>
            <a:pPr lvl="1" algn="l" eaLnBrk="1" hangingPunct="1"/>
            <a:r>
              <a:rPr lang="zh-CN" altLang="en-US" dirty="0" smtClean="0"/>
              <a:t>功能需求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1.用户模块：学号注册认证、个人主页、关注好友、修改资料。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2.问答板块：发布课程问题、图文补充提问、回答问题、评论回复、点赞采纳优质答案。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3.资源板块：上传课件/习题资料、按课程分类检索、下载资料。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4.后台管理：违规问答下架、课程分类维护、活跃用户数据统计。</a:t>
            </a:r>
            <a:endParaRPr lang="zh-CN" altLang="en-US" dirty="0" smtClean="0"/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mtClean="0"/>
              <a:t>题目四：</a:t>
            </a:r>
            <a:r>
              <a:rPr lang="en-US" altLang="zh-CN" dirty="0" smtClean="0">
                <a:sym typeface="+mn-ea"/>
              </a:rPr>
              <a:t>​​</a:t>
            </a:r>
            <a:r>
              <a:rPr lang="zh-CN" altLang="en-US" dirty="0" smtClean="0">
                <a:sym typeface="+mn-ea"/>
              </a:rPr>
              <a:t>校园快递代取互助平台</a:t>
            </a:r>
            <a:endParaRPr lang="zh-CN" altLang="en-US" smtClean="0"/>
          </a:p>
        </p:txBody>
      </p:sp>
      <p:sp>
        <p:nvSpPr>
          <p:cNvPr id="1024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lvl="1" algn="l" eaLnBrk="1" hangingPunct="1"/>
            <a:r>
              <a:rPr lang="zh-CN" altLang="en-US" dirty="0" smtClean="0"/>
              <a:t>聚焦高校驿站取件痛点，搭建校内代取跑腿小程序/</a:t>
            </a:r>
            <a:r>
              <a:rPr lang="en-US" altLang="zh-CN" dirty="0" smtClean="0"/>
              <a:t>Web</a:t>
            </a:r>
            <a:r>
              <a:rPr lang="zh-CN" altLang="en-US" dirty="0" smtClean="0"/>
              <a:t>系统，学生发布取件需求、跑腿同学接单，实现校内小件代取交易，场景落地性强，工单+支付订单业务完整。</a:t>
            </a:r>
            <a:endParaRPr lang="zh-CN" altLang="en-US" dirty="0" smtClean="0"/>
          </a:p>
          <a:p>
            <a:pPr lvl="1" algn="l" eaLnBrk="1" hangingPunct="1"/>
            <a:r>
              <a:rPr lang="zh-CN" altLang="en-US" dirty="0" smtClean="0"/>
              <a:t>功能需求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1.用户端：实名绑定学号、发布快递代取订单（填写驿站、楼栋、酬劳、物品信息）、查看订单进度、确认收货评价。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2.跑腿端：申请跑腿身份、就近接单、修改订单状态、提现收益、查看历史账单。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3.管理后台：用户与跑腿资质审核、违规订单管控、平台费率设置、订单数据统计、热门驿站数据分析。</a:t>
            </a:r>
            <a:endParaRPr lang="zh-CN" altLang="en-US" dirty="0" smtClean="0"/>
          </a:p>
          <a:p>
            <a:pPr lvl="2" algn="l" eaLnBrk="1" hangingPunct="1"/>
            <a:r>
              <a:rPr lang="zh-CN" altLang="en-US" dirty="0" smtClean="0"/>
              <a:t>4.订单超时自动取消、关键词检索历史订单。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项目列表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r>
              <a:rPr lang="zh-CN" altLang="en-US" b="1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题目一：校园闲置物品智慧流转小程序</a:t>
            </a:r>
            <a:endParaRPr lang="zh-CN" altLang="en-US" b="1" dirty="0" smtClean="0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r>
              <a:rPr lang="zh-CN" altLang="en-US" b="1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题目二：智能校园自习室预约管理平台</a:t>
            </a:r>
            <a:endParaRPr lang="en-US" altLang="zh-CN" b="1" dirty="0" smtClean="0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r>
              <a:rPr lang="zh-CN" altLang="en-US" b="1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题目三：线上互助答疑学习平台</a:t>
            </a:r>
            <a:endParaRPr lang="en-US" altLang="zh-CN" b="1" dirty="0" smtClean="0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r>
              <a:rPr lang="zh-CN" altLang="en-US" b="1" dirty="0" smtClean="0">
                <a:solidFill>
                  <a:schemeClr val="accent4">
                    <a:lumMod val="50000"/>
                  </a:schemeClr>
                </a:solidFill>
                <a:sym typeface="+mn-ea"/>
              </a:rPr>
              <a:t>题目四：​​校园快递代取互助平台</a:t>
            </a:r>
            <a:endParaRPr lang="zh-CN" altLang="en-US" b="1" dirty="0" smtClean="0">
              <a:solidFill>
                <a:schemeClr val="accent4">
                  <a:lumMod val="50000"/>
                </a:schemeClr>
              </a:solidFill>
              <a:sym typeface="+mn-ea"/>
            </a:endParaRPr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endParaRPr lang="zh-CN" altLang="en-US" b="1" dirty="0"/>
          </a:p>
          <a:p>
            <a:pPr>
              <a:buClr>
                <a:schemeClr val="accent1"/>
              </a:buClr>
              <a:buSzPct val="76000"/>
              <a:buFont typeface="Times New Roman" panose="02020603050405020304" charset="0"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zh-CN" altLang="en-US" dirty="0"/>
              <a:t>组队吧！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 vert="horz" wrap="square" lIns="91440" tIns="45720" rIns="91440" bIns="45720" anchor="t" anchorCtr="0"/>
          <a:lstStyle/>
          <a:p>
            <a:pPr indent="660400" latinLnBrk="0">
              <a:buClr>
                <a:schemeClr val="accent1"/>
              </a:buClr>
              <a:buSzPct val="76000"/>
              <a:buFont typeface="Times New Roman" panose="02020603050405020304" charset="0"/>
              <a:buNone/>
              <a:extLst>
                <a:ext uri="{35155182-B16C-46BC-9424-99874614C6A1}">
                  <wpsdc:indentchars xmlns:wpsdc="http://www.wps.cn/officeDocument/2017/drawingmlCustomData" val="200" checksum="326428930"/>
                </a:ext>
              </a:extLst>
            </a:pPr>
            <a:r>
              <a:rPr lang="zh-CN" altLang="en-US" dirty="0"/>
              <a:t>请大家自由组队（每队人数</a:t>
            </a:r>
            <a:r>
              <a:rPr lang="en-US" altLang="zh-CN" dirty="0"/>
              <a:t>5-7</a:t>
            </a:r>
            <a:r>
              <a:rPr lang="zh-CN" altLang="en-US" dirty="0"/>
              <a:t>人），并由组长登记到在线文档中。</a:t>
            </a:r>
            <a:endParaRPr lang="zh-CN" altLang="en-US" dirty="0"/>
          </a:p>
          <a:p>
            <a:pPr indent="660400" latinLnBrk="0">
              <a:buClr>
                <a:schemeClr val="accent1"/>
              </a:buClr>
              <a:buSzPct val="76000"/>
              <a:buFont typeface="Times New Roman" panose="02020603050405020304" charset="0"/>
              <a:buNone/>
              <a:extLst>
                <a:ext uri="{35155182-B16C-46BC-9424-99874614C6A1}">
                  <wpsdc:indentchars xmlns:wpsdc="http://www.wps.cn/officeDocument/2017/drawingmlCustomData" val="200" checksum="326428930"/>
                </a:ext>
              </a:extLst>
            </a:pPr>
            <a:r>
              <a:rPr lang="zh-CN" altLang="en-US" dirty="0"/>
              <a:t>在线文档链接在群公告中。</a:t>
            </a:r>
            <a:endParaRPr lang="en-US" altLang="zh-CN" dirty="0"/>
          </a:p>
          <a:p>
            <a:pPr algn="r">
              <a:buClr>
                <a:schemeClr val="accent1"/>
              </a:buClr>
              <a:buSzPct val="76000"/>
              <a:buFont typeface="Times New Roman" panose="02020603050405020304" charset="0"/>
            </a:pPr>
            <a:endParaRPr lang="zh-CN" altLang="en-US" dirty="0"/>
          </a:p>
          <a:p>
            <a:pPr lvl="1" algn="just">
              <a:buClr>
                <a:schemeClr val="accent2"/>
              </a:buClr>
              <a:buSzPct val="76000"/>
              <a:buFont typeface="Times New Roman" panose="02020603050405020304" charset="0"/>
              <a:buNone/>
            </a:pPr>
            <a:endParaRPr lang="zh-CN" altLang="en-US" dirty="0"/>
          </a:p>
        </p:txBody>
      </p:sp>
      <p:pic>
        <p:nvPicPr>
          <p:cNvPr id="2" name="图片 1" descr="2026课程群"/>
          <p:cNvPicPr>
            <a:picLocks noChangeAspect="1"/>
          </p:cNvPicPr>
          <p:nvPr/>
        </p:nvPicPr>
        <p:blipFill>
          <a:blip r:embed="rId1"/>
          <a:srcRect l="4494" t="14231" r="4642" b="24657"/>
          <a:stretch>
            <a:fillRect/>
          </a:stretch>
        </p:blipFill>
        <p:spPr>
          <a:xfrm>
            <a:off x="5943600" y="2895600"/>
            <a:ext cx="2677795" cy="3202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62fd4c49-0ed2-4c2e-b4c3-93a48831b21e"/>
  <p:tag name="COMMONDATA" val="eyJoZGlkIjoiMGY5NjYwZTM5OWVlY2JmZjg3NDU1ODE3NGQxMzA0ZTcifQ=="/>
  <p:tag name="commondata" val="eyJoZGlkIjoiY2VmYTJhNjhlMzczYjFkYmRjYjg2MmRmYzRhNDYxOD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质朴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质朴">
      <a:majorFont>
        <a:latin typeface="微软雅黑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微软雅黑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Times New Roman"/>
        <a:ea typeface=""/>
        <a:cs typeface=""/>
        <a:font script="Grek" typeface="微软雅黑"/>
        <a:font script="Cyrl" typeface="微软雅黑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2433</Words>
  <Application>WPS 演示</Application>
  <PresentationFormat>全屏显示(4:3)</PresentationFormat>
  <Paragraphs>143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Tahoma</vt:lpstr>
      <vt:lpstr>Times New Roman</vt:lpstr>
      <vt:lpstr>微软雅黑</vt:lpstr>
      <vt:lpstr>Bookman Old Style</vt:lpstr>
      <vt:lpstr>Wingdings 3</vt:lpstr>
      <vt:lpstr>Wingdings 3</vt:lpstr>
      <vt:lpstr>Wingdings</vt:lpstr>
      <vt:lpstr>Arial Unicode MS</vt:lpstr>
      <vt:lpstr>质朴</vt:lpstr>
      <vt:lpstr>Java程序设计实践课程说明（2026年）</vt:lpstr>
      <vt:lpstr>联系方式</vt:lpstr>
      <vt:lpstr>课程组织及考核方式</vt:lpstr>
      <vt:lpstr>课程形式 </vt:lpstr>
      <vt:lpstr>考核方式</vt:lpstr>
      <vt:lpstr>考核方式（2）</vt:lpstr>
      <vt:lpstr>考核方式（3）</vt:lpstr>
      <vt:lpstr>考核方式（3）</vt:lpstr>
      <vt:lpstr>考核方式（4）</vt:lpstr>
      <vt:lpstr>实验室要求</vt:lpstr>
      <vt:lpstr>课程项目介绍</vt:lpstr>
      <vt:lpstr>题目一：校园闲置物品智慧流转小程序</vt:lpstr>
      <vt:lpstr>题目二：智能校园自习室预约管理平台</vt:lpstr>
      <vt:lpstr>题目三：线上互助答疑学习平台</vt:lpstr>
      <vt:lpstr>题目四：​​校园快递代取互助平台</vt:lpstr>
      <vt:lpstr>项目列表</vt:lpstr>
      <vt:lpstr>组队吧！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Crystal</dc:creator>
  <cp:lastModifiedBy>燊燊</cp:lastModifiedBy>
  <cp:revision>655</cp:revision>
  <dcterms:created xsi:type="dcterms:W3CDTF">2023-06-27T09:24:00Z</dcterms:created>
  <dcterms:modified xsi:type="dcterms:W3CDTF">2026-06-29T09:45:38Z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993442F84D3A42A79E197E3CCEBF9EA4_13</vt:lpwstr>
  </property>
  <property fmtid="{D5CDD505-2E9C-101B-9397-08002B2CF9AE}" pid="4" name="KSOProductBuildVer">
    <vt:lpwstr>2052-12.1.0.26895</vt:lpwstr>
  </property>
</Properties>
</file>