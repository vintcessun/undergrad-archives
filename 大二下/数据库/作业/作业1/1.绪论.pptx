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661" r:id="rId2"/>
  </p:sldMasterIdLst>
  <p:notesMasterIdLst>
    <p:notesMasterId r:id="rId75"/>
  </p:notesMasterIdLst>
  <p:sldIdLst>
    <p:sldId id="256" r:id="rId3"/>
    <p:sldId id="257" r:id="rId4"/>
    <p:sldId id="258" r:id="rId5"/>
    <p:sldId id="259" r:id="rId6"/>
    <p:sldId id="260" r:id="rId7"/>
    <p:sldId id="261" r:id="rId8"/>
    <p:sldId id="262" r:id="rId9"/>
    <p:sldId id="263" r:id="rId10"/>
    <p:sldId id="265" r:id="rId11"/>
    <p:sldId id="264"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6" r:id="rId34"/>
    <p:sldId id="288" r:id="rId35"/>
    <p:sldId id="289" r:id="rId36"/>
    <p:sldId id="290" r:id="rId37"/>
    <p:sldId id="292" r:id="rId38"/>
    <p:sldId id="291" r:id="rId39"/>
    <p:sldId id="293" r:id="rId40"/>
    <p:sldId id="294" r:id="rId41"/>
    <p:sldId id="295" r:id="rId42"/>
    <p:sldId id="296" r:id="rId43"/>
    <p:sldId id="297" r:id="rId44"/>
    <p:sldId id="298" r:id="rId45"/>
    <p:sldId id="299" r:id="rId46"/>
    <p:sldId id="300" r:id="rId47"/>
    <p:sldId id="328"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00"/>
    <a:srgbClr val="E2F0D9"/>
    <a:srgbClr val="E6B400"/>
    <a:srgbClr val="EBB4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BB286-4DA6-4C42-8BA1-35378295EE21}" type="datetimeFigureOut">
              <a:rPr lang="zh-CN" altLang="en-US" smtClean="0"/>
              <a:t>2026/2/28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637D9-7081-4CC7-8E04-BC583EE06E73}" type="slidenum">
              <a:rPr lang="zh-CN" altLang="en-US" smtClean="0"/>
              <a:t>‹#›</a:t>
            </a:fld>
            <a:endParaRPr lang="zh-CN" altLang="en-US"/>
          </a:p>
        </p:txBody>
      </p:sp>
    </p:spTree>
    <p:extLst>
      <p:ext uri="{BB962C8B-B14F-4D97-AF65-F5344CB8AC3E}">
        <p14:creationId xmlns:p14="http://schemas.microsoft.com/office/powerpoint/2010/main" val="256140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E8FD4-A6D4-4F1C-923F-D6E6121691E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19463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DB62EC-C0A1-4D69-AE92-ADE60909125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7A8AB1F-83CC-4238-992D-83EC89D614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C77F12B-463D-45EB-96D2-B282708672A8}"/>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5" name="页脚占位符 4">
            <a:extLst>
              <a:ext uri="{FF2B5EF4-FFF2-40B4-BE49-F238E27FC236}">
                <a16:creationId xmlns:a16="http://schemas.microsoft.com/office/drawing/2014/main" id="{207BC530-8967-4C4D-A225-E301245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703D2B-5769-439B-AED1-D82D8EE8AEC2}"/>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663394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rgbClr val="E2F0D9">
            <a:alpha val="44000"/>
          </a:srgbClr>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9E61B47E-8008-475B-8E27-D18C1C53D1B4}"/>
              </a:ext>
            </a:extLst>
          </p:cNvPr>
          <p:cNvSpPr/>
          <p:nvPr userDrawn="1"/>
        </p:nvSpPr>
        <p:spPr>
          <a:xfrm>
            <a:off x="0" y="0"/>
            <a:ext cx="12192000" cy="793102"/>
          </a:xfrm>
          <a:prstGeom prst="rect">
            <a:avLst/>
          </a:prstGeom>
          <a:solidFill>
            <a:srgbClr val="E6B400">
              <a:alpha val="74902"/>
            </a:srgb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6565D87E-5C26-43F2-8FEF-1A1DCF570594}"/>
              </a:ext>
            </a:extLst>
          </p:cNvPr>
          <p:cNvSpPr>
            <a:spLocks noGrp="1"/>
          </p:cNvSpPr>
          <p:nvPr>
            <p:ph type="title"/>
          </p:nvPr>
        </p:nvSpPr>
        <p:spPr>
          <a:xfrm>
            <a:off x="1166326" y="65314"/>
            <a:ext cx="11025673" cy="707525"/>
          </a:xfrm>
        </p:spPr>
        <p:txBody>
          <a:bodyPr>
            <a:normAutofit/>
          </a:bodyPr>
          <a:lstStyle>
            <a:lvl1pPr>
              <a:defRPr sz="3600" b="1">
                <a:solidFill>
                  <a:srgbClr val="0000CC"/>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57D9AA69-EA4D-4CC8-BABE-15315410F99D}"/>
              </a:ext>
            </a:extLst>
          </p:cNvPr>
          <p:cNvSpPr>
            <a:spLocks noGrp="1"/>
          </p:cNvSpPr>
          <p:nvPr>
            <p:ph idx="1"/>
          </p:nvPr>
        </p:nvSpPr>
        <p:spPr>
          <a:xfrm>
            <a:off x="606489" y="1007705"/>
            <a:ext cx="10842171" cy="5225143"/>
          </a:xfrm>
        </p:spPr>
        <p:txBody>
          <a:bodyPr/>
          <a:lstStyle>
            <a:lvl1pPr marL="269875" indent="-269875">
              <a:lnSpc>
                <a:spcPct val="120000"/>
              </a:lnSpc>
              <a:buClr>
                <a:srgbClr val="C00000"/>
              </a:buClr>
              <a:buFont typeface="Wingdings" panose="05000000000000000000" pitchFamily="2" charset="2"/>
              <a:buChar char=""/>
              <a:defRPr sz="2400" baseline="0">
                <a:latin typeface="HP Simplified Hans" panose="020B0500000000000000" pitchFamily="34" charset="-122"/>
                <a:ea typeface="阿里巴巴普惠体 3.0 55 Regular" panose="00020600040101010101" pitchFamily="18" charset="-122"/>
              </a:defRPr>
            </a:lvl1pPr>
            <a:lvl2pPr marL="539750" indent="-269875">
              <a:lnSpc>
                <a:spcPct val="120000"/>
              </a:lnSpc>
              <a:buFont typeface="微软雅黑" panose="020B0503020204020204" pitchFamily="34" charset="-122"/>
              <a:buChar char="−"/>
              <a:defRPr sz="2000" baseline="0">
                <a:latin typeface="HP Simplified Hans" panose="020B0500000000000000" pitchFamily="34" charset="-122"/>
                <a:ea typeface="阿里巴巴普惠体 3.0 55 Regular" panose="00020600040101010101" pitchFamily="18" charset="-122"/>
              </a:defRPr>
            </a:lvl2pPr>
            <a:lvl3pPr marL="809625" indent="-269875">
              <a:lnSpc>
                <a:spcPct val="120000"/>
              </a:lnSpc>
              <a:buFont typeface="微软雅黑" panose="020B0503020204020204" pitchFamily="34" charset="-122"/>
              <a:buChar char="▪"/>
              <a:defRPr sz="1800" baseline="0">
                <a:latin typeface="HP Simplified Hans" panose="020B0500000000000000" pitchFamily="34" charset="-122"/>
                <a:ea typeface="阿里巴巴普惠体 3.0 55 Regular" panose="00020600040101010101" pitchFamily="18" charset="-122"/>
              </a:defRPr>
            </a:lvl3pPr>
            <a:lvl4pPr marL="1079500" indent="-269875">
              <a:lnSpc>
                <a:spcPct val="120000"/>
              </a:lnSpc>
              <a:defRPr sz="1600" baseline="0">
                <a:latin typeface="HP Simplified Hans" panose="020B0500000000000000" pitchFamily="34" charset="-122"/>
                <a:ea typeface="阿里巴巴普惠体 3.0 55 Regular" panose="00020600040101010101" pitchFamily="18" charset="-122"/>
              </a:defRPr>
            </a:lvl4pPr>
            <a:lvl5pPr marL="1341438" indent="-261938">
              <a:lnSpc>
                <a:spcPct val="120000"/>
              </a:lnSpc>
              <a:buFont typeface="Roboto" panose="02000000000000000000" pitchFamily="2" charset="0"/>
              <a:buChar char="–"/>
              <a:defRPr sz="1400" baseline="0">
                <a:latin typeface="HP Simplified Hans" panose="020B0500000000000000" pitchFamily="34" charset="-122"/>
                <a:ea typeface="阿里巴巴普惠体 3.0 55 Regular" panose="00020600040101010101" pitchFamily="18"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灯片编号占位符 5">
            <a:extLst>
              <a:ext uri="{FF2B5EF4-FFF2-40B4-BE49-F238E27FC236}">
                <a16:creationId xmlns:a16="http://schemas.microsoft.com/office/drawing/2014/main" id="{18921243-3388-4A8B-AFF5-045F18F83D2F}"/>
              </a:ext>
            </a:extLst>
          </p:cNvPr>
          <p:cNvSpPr txBox="1">
            <a:spLocks/>
          </p:cNvSpPr>
          <p:nvPr userDrawn="1"/>
        </p:nvSpPr>
        <p:spPr>
          <a:xfrm>
            <a:off x="11513966" y="6074858"/>
            <a:ext cx="557349" cy="365125"/>
          </a:xfrm>
          <a:prstGeom prst="rect">
            <a:avLst/>
          </a:prstGeom>
          <a:noFill/>
        </p:spPr>
        <p:txBody>
          <a:bodyPr/>
          <a:lstStyle>
            <a:defPPr>
              <a:defRPr lang="zh-CN"/>
            </a:defPPr>
            <a:lvl1pPr marL="0" algn="ctr" defTabSz="914400" rtl="0" eaLnBrk="1" latinLnBrk="0" hangingPunct="1">
              <a:defRPr sz="2000" b="0" kern="1200">
                <a:solidFill>
                  <a:srgbClr val="C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115DEFE-2FF6-4E57-A95D-4FCBC31620A6}" type="slidenum">
              <a:rPr kumimoji="0" lang="zh-CN" altLang="en-US" sz="2000" b="1" i="0" u="none" strike="noStrike" kern="1200" cap="none" spc="0" normalizeH="0" baseline="0" noProof="0" smtClean="0">
                <a:ln>
                  <a:noFill/>
                </a:ln>
                <a:solidFill>
                  <a:srgbClr val="C00000"/>
                </a:solidFill>
                <a:effectLst/>
                <a:uLnTx/>
                <a:uFillTx/>
                <a:latin typeface="HP Simplified Hans" panose="020B0500000000000000" pitchFamily="34" charset="-122"/>
                <a:ea typeface="HP Simplified Hans" panose="020B0500000000000000"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2000" b="1" i="0" u="none" strike="noStrike" kern="1200" cap="none" spc="0" normalizeH="0" baseline="0" noProof="0" dirty="0">
              <a:ln>
                <a:noFill/>
              </a:ln>
              <a:solidFill>
                <a:srgbClr val="C00000"/>
              </a:solidFill>
              <a:effectLst/>
              <a:uLnTx/>
              <a:uFillTx/>
              <a:latin typeface="HP Simplified Hans" panose="020B0500000000000000" pitchFamily="34" charset="-122"/>
              <a:ea typeface="HP Simplified Hans" panose="020B0500000000000000" pitchFamily="34" charset="-122"/>
              <a:cs typeface="+mn-cs"/>
            </a:endParaRPr>
          </a:p>
        </p:txBody>
      </p:sp>
      <p:pic>
        <p:nvPicPr>
          <p:cNvPr id="12" name="图片 11">
            <a:extLst>
              <a:ext uri="{FF2B5EF4-FFF2-40B4-BE49-F238E27FC236}">
                <a16:creationId xmlns:a16="http://schemas.microsoft.com/office/drawing/2014/main" id="{965F2CB3-CA5B-4613-935B-54FEF0ACA51C}"/>
              </a:ext>
            </a:extLst>
          </p:cNvPr>
          <p:cNvPicPr/>
          <p:nvPr userDrawn="1"/>
        </p:nvPicPr>
        <p:blipFill>
          <a:blip r:embed="rId2" cstate="print">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a:ext>
            </a:extLst>
          </a:blip>
          <a:stretch>
            <a:fillRect/>
          </a:stretch>
        </p:blipFill>
        <p:spPr>
          <a:xfrm>
            <a:off x="10778846" y="273321"/>
            <a:ext cx="1338509" cy="382134"/>
          </a:xfrm>
          <a:prstGeom prst="rect">
            <a:avLst/>
          </a:prstGeom>
        </p:spPr>
      </p:pic>
      <p:sp>
        <p:nvSpPr>
          <p:cNvPr id="9" name="箭头: 五边形 8">
            <a:extLst>
              <a:ext uri="{FF2B5EF4-FFF2-40B4-BE49-F238E27FC236}">
                <a16:creationId xmlns:a16="http://schemas.microsoft.com/office/drawing/2014/main" id="{8FCA1893-5700-44B2-A62B-E960D4D0AF27}"/>
              </a:ext>
            </a:extLst>
          </p:cNvPr>
          <p:cNvSpPr/>
          <p:nvPr userDrawn="1"/>
        </p:nvSpPr>
        <p:spPr>
          <a:xfrm>
            <a:off x="0" y="0"/>
            <a:ext cx="1156996" cy="793102"/>
          </a:xfrm>
          <a:prstGeom prst="homePlat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pic>
        <p:nvPicPr>
          <p:cNvPr id="10" name="图形 9" descr="森林场景">
            <a:extLst>
              <a:ext uri="{FF2B5EF4-FFF2-40B4-BE49-F238E27FC236}">
                <a16:creationId xmlns:a16="http://schemas.microsoft.com/office/drawing/2014/main" id="{87A81DC8-895C-4792-8F7F-266AC32D16C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86188" y="5626360"/>
            <a:ext cx="851589" cy="877078"/>
          </a:xfrm>
          <a:prstGeom prst="rect">
            <a:avLst/>
          </a:prstGeom>
        </p:spPr>
      </p:pic>
      <p:sp>
        <p:nvSpPr>
          <p:cNvPr id="11" name="矩形 10">
            <a:extLst>
              <a:ext uri="{FF2B5EF4-FFF2-40B4-BE49-F238E27FC236}">
                <a16:creationId xmlns:a16="http://schemas.microsoft.com/office/drawing/2014/main" id="{F7B8EAEA-B6E7-4112-9B32-5D7684701ED9}"/>
              </a:ext>
            </a:extLst>
          </p:cNvPr>
          <p:cNvSpPr/>
          <p:nvPr userDrawn="1"/>
        </p:nvSpPr>
        <p:spPr>
          <a:xfrm>
            <a:off x="0" y="6539946"/>
            <a:ext cx="12191999" cy="31805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10241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D879E-2C5E-406F-8D4C-5E881421DE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A24454-F7BF-44D7-B0FB-C6CA6ED3C418}"/>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58C0F40-13B3-416F-AA0B-544C338BE1DF}"/>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5" name="页脚占位符 4">
            <a:extLst>
              <a:ext uri="{FF2B5EF4-FFF2-40B4-BE49-F238E27FC236}">
                <a16:creationId xmlns:a16="http://schemas.microsoft.com/office/drawing/2014/main" id="{5C132164-9F43-4321-A56B-06A3F1E667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05377A8-C23A-4DB1-8932-2626BBCDC5AB}"/>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3962338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93B117-DC37-4664-9B78-BB4F9E76B0B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CA3C41D-7963-4F67-828F-8D64237F5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DE6F4878-D0F3-4619-A86A-EAB95A381DB1}"/>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5" name="页脚占位符 4">
            <a:extLst>
              <a:ext uri="{FF2B5EF4-FFF2-40B4-BE49-F238E27FC236}">
                <a16:creationId xmlns:a16="http://schemas.microsoft.com/office/drawing/2014/main" id="{5CD95989-0D82-4EBA-B55F-01497EA019A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C9A8B3-84C9-41D9-9B50-606655982751}"/>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265482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BF8FE-FEC1-4B71-A108-8646E9C3D42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E29949-0FF0-448F-BE37-FE9047AB1DAF}"/>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3E5DF7D2-B712-4C0F-BE1F-204A40690E5D}"/>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96B2C87-FBB1-4359-8F13-BCD0C5C4DACB}"/>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6" name="页脚占位符 5">
            <a:extLst>
              <a:ext uri="{FF2B5EF4-FFF2-40B4-BE49-F238E27FC236}">
                <a16:creationId xmlns:a16="http://schemas.microsoft.com/office/drawing/2014/main" id="{899CA753-64D3-473F-96E3-5024EFD710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192635-51BA-4F27-BD77-C2AABB54D899}"/>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485638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AF1AF9-FE5A-4D3D-8BA6-1A0A32E984B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D2B2172-D226-4C44-8FB7-7CA48CEB3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AF583703-6B24-4442-A861-16D8ACD90DC8}"/>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E2C93718-6216-4F5F-AB66-05EDBBE5EB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829DF6C-EE6A-46B0-B253-52B1BA0D1850}"/>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FD99B78-85C3-4D81-895E-6CC7EDF6F6E3}"/>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8" name="页脚占位符 7">
            <a:extLst>
              <a:ext uri="{FF2B5EF4-FFF2-40B4-BE49-F238E27FC236}">
                <a16:creationId xmlns:a16="http://schemas.microsoft.com/office/drawing/2014/main" id="{164A36BE-CD76-4C86-B9D4-278687E5C43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27A7A71-8AD2-438D-8EEE-3017BA3F3B0F}"/>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1010223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FAA858-8BE5-47C2-AF27-E768F3C82F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9F32D5D-E7E3-4CA2-851F-FD7FE369506C}"/>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4" name="页脚占位符 3">
            <a:extLst>
              <a:ext uri="{FF2B5EF4-FFF2-40B4-BE49-F238E27FC236}">
                <a16:creationId xmlns:a16="http://schemas.microsoft.com/office/drawing/2014/main" id="{200113B0-3C3B-4A8B-B088-54622A97749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3346EEE-4BF1-4B13-AE26-904DDB424608}"/>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159966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D9C723-A119-41FF-B869-940C8914E0D0}"/>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3" name="页脚占位符 2">
            <a:extLst>
              <a:ext uri="{FF2B5EF4-FFF2-40B4-BE49-F238E27FC236}">
                <a16:creationId xmlns:a16="http://schemas.microsoft.com/office/drawing/2014/main" id="{890CF8D1-96BC-4036-8233-CA3B9DD0C78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BC20000-E7BC-42C7-BD91-6315B2255519}"/>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3110229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9EF511-E609-4E58-B9AD-2027F2F15A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1943B80-EA73-4EF0-A496-128D7CDFA1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1998F34E-B8C7-4FF0-8A75-0CD3892762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BED478B-4CE7-4F71-9BE3-6C2262A0CC73}"/>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6" name="页脚占位符 5">
            <a:extLst>
              <a:ext uri="{FF2B5EF4-FFF2-40B4-BE49-F238E27FC236}">
                <a16:creationId xmlns:a16="http://schemas.microsoft.com/office/drawing/2014/main" id="{09056684-ED6B-4A7A-B770-5F4AC52848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6F206CF-0A16-465E-832C-35EB92A96C6B}"/>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1863793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F8A32-6D1E-4F03-94B7-CA297D5898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1B6DA19-3D6A-4CE9-A01B-E464B256C9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E352B04-668E-4B38-8B67-4309AB454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FF34643-9BFD-4F56-A5E8-C4E9BCA50CC2}"/>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6" name="页脚占位符 5">
            <a:extLst>
              <a:ext uri="{FF2B5EF4-FFF2-40B4-BE49-F238E27FC236}">
                <a16:creationId xmlns:a16="http://schemas.microsoft.com/office/drawing/2014/main" id="{16DBEFB7-327E-4938-898A-445297B3FC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0A769E-2F84-4173-841A-9C09960A09D9}"/>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97044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1805A-A344-42BB-8C9B-8066AA75E4B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56A96EA-B296-4997-BBFB-F71EF98AA2E7}"/>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9B5DD8A-C91A-4286-B31A-D39B36569061}"/>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5" name="页脚占位符 4">
            <a:extLst>
              <a:ext uri="{FF2B5EF4-FFF2-40B4-BE49-F238E27FC236}">
                <a16:creationId xmlns:a16="http://schemas.microsoft.com/office/drawing/2014/main" id="{2415C577-5E5E-4E8F-8A15-027AA50DFF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3D14EE-D21B-40B6-A8D0-22ABF5EA59CE}"/>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516470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58304C8-2890-4F4D-8558-B6AF13DFB41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26A8626-F4B5-4B00-B611-7BD2C5F7867D}"/>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F2E17D6-4B30-4938-B91B-864B6312075B}"/>
              </a:ext>
            </a:extLst>
          </p:cNvPr>
          <p:cNvSpPr>
            <a:spLocks noGrp="1"/>
          </p:cNvSpPr>
          <p:nvPr>
            <p:ph type="dt" sz="half" idx="10"/>
          </p:nvPr>
        </p:nvSpPr>
        <p:spPr/>
        <p:txBody>
          <a:bodyPr/>
          <a:lstStyle/>
          <a:p>
            <a:fld id="{4F531112-0A39-451E-80D6-AC4B4D94D164}" type="datetimeFigureOut">
              <a:rPr lang="zh-CN" altLang="en-US" smtClean="0"/>
              <a:t>2026/2/28</a:t>
            </a:fld>
            <a:endParaRPr lang="zh-CN" altLang="en-US"/>
          </a:p>
        </p:txBody>
      </p:sp>
      <p:sp>
        <p:nvSpPr>
          <p:cNvPr id="5" name="页脚占位符 4">
            <a:extLst>
              <a:ext uri="{FF2B5EF4-FFF2-40B4-BE49-F238E27FC236}">
                <a16:creationId xmlns:a16="http://schemas.microsoft.com/office/drawing/2014/main" id="{DA1B7CC2-BA3F-4EA6-9572-20694544A9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88E633-729F-4A2F-B561-74DEA941D3E6}"/>
              </a:ext>
            </a:extLst>
          </p:cNvPr>
          <p:cNvSpPr>
            <a:spLocks noGrp="1"/>
          </p:cNvSpPr>
          <p:nvPr>
            <p:ph type="sldNum" sz="quarter" idx="12"/>
          </p:nvPr>
        </p:nvSpPr>
        <p:spPr/>
        <p:txBody>
          <a:body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735861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5AD93-F10C-4976-89F2-5B587D7A80E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29D2511-33FD-4B95-A91D-B2532ABD69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4AFA8A6-2A20-4CAC-80F1-641A568D431E}"/>
              </a:ext>
            </a:extLst>
          </p:cNvPr>
          <p:cNvSpPr>
            <a:spLocks noGrp="1"/>
          </p:cNvSpPr>
          <p:nvPr>
            <p:ph type="dt" sz="half" idx="10"/>
          </p:nvPr>
        </p:nvSpPr>
        <p:spPr/>
        <p:txBody>
          <a:bodyPr/>
          <a:lstStyle/>
          <a:p>
            <a:fld id="{0EA563C5-2B4A-435C-9747-644FA7E7706E}" type="datetime1">
              <a:rPr lang="zh-CN" altLang="en-US" smtClean="0"/>
              <a:t>2026/2/28</a:t>
            </a:fld>
            <a:endParaRPr lang="zh-CN" altLang="en-US"/>
          </a:p>
        </p:txBody>
      </p:sp>
      <p:sp>
        <p:nvSpPr>
          <p:cNvPr id="5" name="页脚占位符 4">
            <a:extLst>
              <a:ext uri="{FF2B5EF4-FFF2-40B4-BE49-F238E27FC236}">
                <a16:creationId xmlns:a16="http://schemas.microsoft.com/office/drawing/2014/main" id="{FE4C48B8-A39B-4529-AABE-3559180CB8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AEB0DD-4FDB-475F-A76F-982E3E31A488}"/>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384858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accent6">
            <a:lumMod val="20000"/>
            <a:lumOff val="80000"/>
            <a:alpha val="50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5D87E-5C26-43F2-8FEF-1A1DCF570594}"/>
              </a:ext>
            </a:extLst>
          </p:cNvPr>
          <p:cNvSpPr>
            <a:spLocks noGrp="1"/>
          </p:cNvSpPr>
          <p:nvPr>
            <p:ph type="title"/>
          </p:nvPr>
        </p:nvSpPr>
        <p:spPr>
          <a:xfrm>
            <a:off x="2022763" y="387927"/>
            <a:ext cx="9494981" cy="683491"/>
          </a:xfrm>
        </p:spPr>
        <p:txBody>
          <a:bodyPr>
            <a:normAutofit/>
          </a:bodyPr>
          <a:lstStyle>
            <a:lvl1pPr>
              <a:defRPr sz="3600" b="1">
                <a:solidFill>
                  <a:srgbClr val="0000CC"/>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57D9AA69-EA4D-4CC8-BABE-15315410F99D}"/>
              </a:ext>
            </a:extLst>
          </p:cNvPr>
          <p:cNvSpPr>
            <a:spLocks noGrp="1"/>
          </p:cNvSpPr>
          <p:nvPr>
            <p:ph idx="1"/>
          </p:nvPr>
        </p:nvSpPr>
        <p:spPr>
          <a:xfrm>
            <a:off x="2004290" y="1228436"/>
            <a:ext cx="9531927" cy="5116946"/>
          </a:xfrm>
        </p:spPr>
        <p:txBody>
          <a:bodyPr/>
          <a:lstStyle>
            <a:lvl1pPr marL="228600" indent="-228600">
              <a:lnSpc>
                <a:spcPct val="120000"/>
              </a:lnSpc>
              <a:buClr>
                <a:srgbClr val="C00000"/>
              </a:buClr>
              <a:buFont typeface="Wingdings" panose="05000000000000000000" pitchFamily="2" charset="2"/>
              <a:buChar char=""/>
              <a:defRPr sz="2400">
                <a:latin typeface="微软雅黑" panose="020B0503020204020204" pitchFamily="34" charset="-122"/>
                <a:ea typeface="微软雅黑" panose="020B0503020204020204" pitchFamily="34" charset="-122"/>
              </a:defRPr>
            </a:lvl1pPr>
            <a:lvl2pPr marL="720725" indent="-263525">
              <a:lnSpc>
                <a:spcPct val="120000"/>
              </a:lnSpc>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1143000" indent="-228600">
              <a:lnSpc>
                <a:spcPct val="120000"/>
              </a:lnSpc>
              <a:buFont typeface="微软雅黑" panose="020B0503020204020204" pitchFamily="34" charset="-122"/>
              <a:buChar char="▪"/>
              <a:defRPr sz="1800">
                <a:latin typeface="微软雅黑" panose="020B0503020204020204" pitchFamily="34" charset="-122"/>
                <a:ea typeface="微软雅黑" panose="020B0503020204020204" pitchFamily="34" charset="-122"/>
              </a:defRPr>
            </a:lvl3pPr>
            <a:lvl4pPr marL="1347788" indent="-184150">
              <a:lnSpc>
                <a:spcPct val="120000"/>
              </a:lnSpc>
              <a:defRPr sz="1600">
                <a:latin typeface="微软雅黑" panose="020B0503020204020204" pitchFamily="34" charset="-122"/>
                <a:ea typeface="微软雅黑" panose="020B0503020204020204" pitchFamily="34" charset="-122"/>
              </a:defRPr>
            </a:lvl4pPr>
            <a:lvl5pPr marL="1700213" indent="-176213">
              <a:lnSpc>
                <a:spcPct val="120000"/>
              </a:lnSpc>
              <a:defRPr sz="1400">
                <a:latin typeface="微软雅黑" panose="020B0503020204020204" pitchFamily="34" charset="-122"/>
                <a:ea typeface="微软雅黑" panose="020B0503020204020204" pitchFamily="34"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9305CB3-3E20-4DD4-B3DF-440AAC14E391}"/>
              </a:ext>
            </a:extLst>
          </p:cNvPr>
          <p:cNvSpPr>
            <a:spLocks noGrp="1"/>
          </p:cNvSpPr>
          <p:nvPr>
            <p:ph type="dt" sz="half" idx="10"/>
          </p:nvPr>
        </p:nvSpPr>
        <p:spPr/>
        <p:txBody>
          <a:bodyPr/>
          <a:lstStyle/>
          <a:p>
            <a:fld id="{CD8062E9-6805-45AD-BD91-4D3632A59EF6}" type="datetime1">
              <a:rPr lang="zh-CN" altLang="en-US" smtClean="0"/>
              <a:t>2026/2/28</a:t>
            </a:fld>
            <a:endParaRPr lang="zh-CN" altLang="en-US"/>
          </a:p>
        </p:txBody>
      </p:sp>
      <p:sp>
        <p:nvSpPr>
          <p:cNvPr id="5" name="页脚占位符 4">
            <a:extLst>
              <a:ext uri="{FF2B5EF4-FFF2-40B4-BE49-F238E27FC236}">
                <a16:creationId xmlns:a16="http://schemas.microsoft.com/office/drawing/2014/main" id="{EAC7755E-EFD9-41DE-B8CE-384E395F73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D803CB-7BB1-4DE3-AD6A-32929DEB2A79}"/>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
        <p:nvSpPr>
          <p:cNvPr id="7" name="矩形 6">
            <a:extLst>
              <a:ext uri="{FF2B5EF4-FFF2-40B4-BE49-F238E27FC236}">
                <a16:creationId xmlns:a16="http://schemas.microsoft.com/office/drawing/2014/main" id="{7BD205AD-F051-4A74-8F4F-887C29C857DA}"/>
              </a:ext>
            </a:extLst>
          </p:cNvPr>
          <p:cNvSpPr/>
          <p:nvPr userDrawn="1"/>
        </p:nvSpPr>
        <p:spPr>
          <a:xfrm>
            <a:off x="-44909" y="0"/>
            <a:ext cx="2021491" cy="6858000"/>
          </a:xfrm>
          <a:prstGeom prst="rect">
            <a:avLst/>
          </a:prstGeom>
          <a:solidFill>
            <a:schemeClr val="tx1"/>
          </a:solidFill>
          <a:ln>
            <a:solidFill>
              <a:srgbClr val="33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itchFamily="34" charset="0"/>
            </a:endParaRPr>
          </a:p>
        </p:txBody>
      </p:sp>
      <p:cxnSp>
        <p:nvCxnSpPr>
          <p:cNvPr id="10" name="直接连接符 9">
            <a:extLst>
              <a:ext uri="{FF2B5EF4-FFF2-40B4-BE49-F238E27FC236}">
                <a16:creationId xmlns:a16="http://schemas.microsoft.com/office/drawing/2014/main" id="{B8CFB974-B8D9-4276-A739-4F11D3394598}"/>
              </a:ext>
            </a:extLst>
          </p:cNvPr>
          <p:cNvCxnSpPr>
            <a:cxnSpLocks/>
          </p:cNvCxnSpPr>
          <p:nvPr userDrawn="1"/>
        </p:nvCxnSpPr>
        <p:spPr>
          <a:xfrm>
            <a:off x="1995055" y="1045477"/>
            <a:ext cx="961423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5414CB-2D15-4274-8593-1D4040A36DCE}"/>
              </a:ext>
            </a:extLst>
          </p:cNvPr>
          <p:cNvCxnSpPr>
            <a:cxnSpLocks/>
          </p:cNvCxnSpPr>
          <p:nvPr userDrawn="1"/>
        </p:nvCxnSpPr>
        <p:spPr>
          <a:xfrm>
            <a:off x="2004291" y="6351768"/>
            <a:ext cx="9605818"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灯片编号占位符 5">
            <a:extLst>
              <a:ext uri="{FF2B5EF4-FFF2-40B4-BE49-F238E27FC236}">
                <a16:creationId xmlns:a16="http://schemas.microsoft.com/office/drawing/2014/main" id="{18921243-3388-4A8B-AFF5-045F18F83D2F}"/>
              </a:ext>
            </a:extLst>
          </p:cNvPr>
          <p:cNvSpPr txBox="1">
            <a:spLocks/>
          </p:cNvSpPr>
          <p:nvPr userDrawn="1"/>
        </p:nvSpPr>
        <p:spPr>
          <a:xfrm>
            <a:off x="11513966" y="6074858"/>
            <a:ext cx="557349" cy="365125"/>
          </a:xfrm>
          <a:prstGeom prst="rect">
            <a:avLst/>
          </a:prstGeom>
          <a:noFill/>
        </p:spPr>
        <p:txBody>
          <a:bodyPr/>
          <a:lstStyle>
            <a:defPPr>
              <a:defRPr lang="zh-CN"/>
            </a:defPPr>
            <a:lvl1pPr marL="0" algn="ctr" defTabSz="914400" rtl="0" eaLnBrk="1" latinLnBrk="0" hangingPunct="1">
              <a:defRPr sz="2000" b="0" kern="1200">
                <a:solidFill>
                  <a:srgbClr val="C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115DEFE-2FF6-4E57-A95D-4FCBC31620A6}" type="slidenum">
              <a:rPr kumimoji="0" lang="zh-CN" altLang="en-US" sz="2000" b="0" i="0" u="none" strike="noStrike" kern="1200" cap="none" spc="0" normalizeH="0" baseline="0" noProof="0" smtClean="0">
                <a:ln>
                  <a:noFill/>
                </a:ln>
                <a:solidFill>
                  <a:srgbClr val="C00000"/>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2000" b="0" i="0" u="none" strike="noStrike" kern="1200" cap="none" spc="0" normalizeH="0" baseline="0" noProof="0">
              <a:ln>
                <a:noFill/>
              </a:ln>
              <a:solidFill>
                <a:srgbClr val="C00000"/>
              </a:solidFill>
              <a:effectLst/>
              <a:uLnTx/>
              <a:uFillTx/>
              <a:latin typeface="等线" panose="020F0502020204030204"/>
              <a:ea typeface="等线" panose="02010600030101010101" pitchFamily="2" charset="-122"/>
              <a:cs typeface="+mn-cs"/>
            </a:endParaRPr>
          </a:p>
        </p:txBody>
      </p:sp>
      <p:pic>
        <p:nvPicPr>
          <p:cNvPr id="12" name="图片 11">
            <a:extLst>
              <a:ext uri="{FF2B5EF4-FFF2-40B4-BE49-F238E27FC236}">
                <a16:creationId xmlns:a16="http://schemas.microsoft.com/office/drawing/2014/main" id="{965F2CB3-CA5B-4613-935B-54FEF0ACA51C}"/>
              </a:ext>
            </a:extLst>
          </p:cNvPr>
          <p:cNvPicPr/>
          <p:nvPr userDrawn="1"/>
        </p:nvPicPr>
        <p:blipFill>
          <a:blip r:embed="rId2" cstate="print">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a:ext>
            </a:extLst>
          </a:blip>
          <a:stretch>
            <a:fillRect/>
          </a:stretch>
        </p:blipFill>
        <p:spPr>
          <a:xfrm>
            <a:off x="10299309" y="646545"/>
            <a:ext cx="1338509" cy="382134"/>
          </a:xfrm>
          <a:prstGeom prst="rect">
            <a:avLst/>
          </a:prstGeom>
        </p:spPr>
      </p:pic>
    </p:spTree>
    <p:extLst>
      <p:ext uri="{BB962C8B-B14F-4D97-AF65-F5344CB8AC3E}">
        <p14:creationId xmlns:p14="http://schemas.microsoft.com/office/powerpoint/2010/main" val="1824599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D54FE0-D4C3-4477-A342-E5C12B5C53B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140F4FB-FE6B-40EA-8B0B-14BE4020C8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4F6F562A-D2E7-48A5-897A-516F5645DE21}"/>
              </a:ext>
            </a:extLst>
          </p:cNvPr>
          <p:cNvSpPr>
            <a:spLocks noGrp="1"/>
          </p:cNvSpPr>
          <p:nvPr>
            <p:ph type="dt" sz="half" idx="10"/>
          </p:nvPr>
        </p:nvSpPr>
        <p:spPr/>
        <p:txBody>
          <a:bodyPr/>
          <a:lstStyle/>
          <a:p>
            <a:fld id="{E2C96895-20D3-41B4-8BDD-978FC3189537}" type="datetime1">
              <a:rPr lang="zh-CN" altLang="en-US" smtClean="0"/>
              <a:t>2026/2/28</a:t>
            </a:fld>
            <a:endParaRPr lang="zh-CN" altLang="en-US"/>
          </a:p>
        </p:txBody>
      </p:sp>
      <p:sp>
        <p:nvSpPr>
          <p:cNvPr id="5" name="页脚占位符 4">
            <a:extLst>
              <a:ext uri="{FF2B5EF4-FFF2-40B4-BE49-F238E27FC236}">
                <a16:creationId xmlns:a16="http://schemas.microsoft.com/office/drawing/2014/main" id="{58015647-E9FF-4595-B59E-96586D23324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25659BF-6401-4C6E-838E-50AEE48F9F32}"/>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1325559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7E51DC-DC78-4E61-86DF-727969D371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363683B-B09F-4FDB-8442-7175ED78369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D8A929C6-A47A-4C53-9A1F-7DFA5A0CC81D}"/>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B506E8A0-A612-45A9-AA5F-C00384B953E4}"/>
              </a:ext>
            </a:extLst>
          </p:cNvPr>
          <p:cNvSpPr>
            <a:spLocks noGrp="1"/>
          </p:cNvSpPr>
          <p:nvPr>
            <p:ph type="dt" sz="half" idx="10"/>
          </p:nvPr>
        </p:nvSpPr>
        <p:spPr/>
        <p:txBody>
          <a:bodyPr/>
          <a:lstStyle/>
          <a:p>
            <a:fld id="{4F715B61-7AFB-4274-ACAD-CB7A99D0813D}" type="datetime1">
              <a:rPr lang="zh-CN" altLang="en-US" smtClean="0"/>
              <a:t>2026/2/28</a:t>
            </a:fld>
            <a:endParaRPr lang="zh-CN" altLang="en-US"/>
          </a:p>
        </p:txBody>
      </p:sp>
      <p:sp>
        <p:nvSpPr>
          <p:cNvPr id="6" name="页脚占位符 5">
            <a:extLst>
              <a:ext uri="{FF2B5EF4-FFF2-40B4-BE49-F238E27FC236}">
                <a16:creationId xmlns:a16="http://schemas.microsoft.com/office/drawing/2014/main" id="{515288DB-CE27-468F-A69E-96EE6A48C48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742B6BA-68F0-4B8C-8FBC-FC9F2C8661ED}"/>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2152997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E40112-A710-46FB-8753-1E89A0DA48A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82F107B-07CA-4C80-9E62-FD133DA44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08DBF71B-AA3A-4007-A29A-3CA792A46B5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644A0051-7106-4DB1-9AE4-B236FE43A4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29DF202-D850-4F48-8E72-49A70A50E608}"/>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C7CFD6F-0DC2-427A-81E6-F0DCBA4C0091}"/>
              </a:ext>
            </a:extLst>
          </p:cNvPr>
          <p:cNvSpPr>
            <a:spLocks noGrp="1"/>
          </p:cNvSpPr>
          <p:nvPr>
            <p:ph type="dt" sz="half" idx="10"/>
          </p:nvPr>
        </p:nvSpPr>
        <p:spPr/>
        <p:txBody>
          <a:bodyPr/>
          <a:lstStyle/>
          <a:p>
            <a:fld id="{CB3D41EF-FA6C-4C83-98C7-60A4348FA27C}" type="datetime1">
              <a:rPr lang="zh-CN" altLang="en-US" smtClean="0"/>
              <a:t>2026/2/28</a:t>
            </a:fld>
            <a:endParaRPr lang="zh-CN" altLang="en-US"/>
          </a:p>
        </p:txBody>
      </p:sp>
      <p:sp>
        <p:nvSpPr>
          <p:cNvPr id="8" name="页脚占位符 7">
            <a:extLst>
              <a:ext uri="{FF2B5EF4-FFF2-40B4-BE49-F238E27FC236}">
                <a16:creationId xmlns:a16="http://schemas.microsoft.com/office/drawing/2014/main" id="{2C1CDC8C-29D0-43D9-B507-13855A640FE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C0074B9-A910-4785-B407-FB196A50FFD1}"/>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2829520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486487-AB9D-4A77-9A6A-B48C4480DEB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E9F2272-155A-4C31-8D12-96E61B47D508}"/>
              </a:ext>
            </a:extLst>
          </p:cNvPr>
          <p:cNvSpPr>
            <a:spLocks noGrp="1"/>
          </p:cNvSpPr>
          <p:nvPr>
            <p:ph type="dt" sz="half" idx="10"/>
          </p:nvPr>
        </p:nvSpPr>
        <p:spPr/>
        <p:txBody>
          <a:bodyPr/>
          <a:lstStyle/>
          <a:p>
            <a:fld id="{BE27E390-6C63-4289-97D7-6AD91AB77F77}" type="datetime1">
              <a:rPr lang="zh-CN" altLang="en-US" smtClean="0"/>
              <a:t>2026/2/28</a:t>
            </a:fld>
            <a:endParaRPr lang="zh-CN" altLang="en-US"/>
          </a:p>
        </p:txBody>
      </p:sp>
      <p:sp>
        <p:nvSpPr>
          <p:cNvPr id="4" name="页脚占位符 3">
            <a:extLst>
              <a:ext uri="{FF2B5EF4-FFF2-40B4-BE49-F238E27FC236}">
                <a16:creationId xmlns:a16="http://schemas.microsoft.com/office/drawing/2014/main" id="{521DB316-E81F-469D-8928-3478D00B7C9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AC11679-91A0-4B21-BCD9-93472EE070DC}"/>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2227893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1CE5FE-9249-4457-91CF-97453ED3F553}"/>
              </a:ext>
            </a:extLst>
          </p:cNvPr>
          <p:cNvSpPr>
            <a:spLocks noGrp="1"/>
          </p:cNvSpPr>
          <p:nvPr>
            <p:ph type="dt" sz="half" idx="10"/>
          </p:nvPr>
        </p:nvSpPr>
        <p:spPr/>
        <p:txBody>
          <a:bodyPr/>
          <a:lstStyle/>
          <a:p>
            <a:fld id="{B7D542CC-17FF-41D2-B02F-117872B69AD2}" type="datetime1">
              <a:rPr lang="zh-CN" altLang="en-US" smtClean="0"/>
              <a:t>2026/2/28</a:t>
            </a:fld>
            <a:endParaRPr lang="zh-CN" altLang="en-US"/>
          </a:p>
        </p:txBody>
      </p:sp>
      <p:sp>
        <p:nvSpPr>
          <p:cNvPr id="3" name="页脚占位符 2">
            <a:extLst>
              <a:ext uri="{FF2B5EF4-FFF2-40B4-BE49-F238E27FC236}">
                <a16:creationId xmlns:a16="http://schemas.microsoft.com/office/drawing/2014/main" id="{90D80C17-5787-44D1-89D1-C09DD57F17C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3AC98D5-D776-4880-8D61-679084FC369B}"/>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24850580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8C85B2-1D00-4B17-BDFC-7CA17BA8E6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57A21D6-1071-41A8-A2E1-C94A3A30F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D377748-2A78-4216-B7E5-5851AF740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AF2B172-619A-44EC-8503-E3AA5185F119}"/>
              </a:ext>
            </a:extLst>
          </p:cNvPr>
          <p:cNvSpPr>
            <a:spLocks noGrp="1"/>
          </p:cNvSpPr>
          <p:nvPr>
            <p:ph type="dt" sz="half" idx="10"/>
          </p:nvPr>
        </p:nvSpPr>
        <p:spPr/>
        <p:txBody>
          <a:bodyPr/>
          <a:lstStyle/>
          <a:p>
            <a:fld id="{1875AFCE-A338-4E16-B6B1-8690A0CED631}" type="datetime1">
              <a:rPr lang="zh-CN" altLang="en-US" smtClean="0"/>
              <a:t>2026/2/28</a:t>
            </a:fld>
            <a:endParaRPr lang="zh-CN" altLang="en-US"/>
          </a:p>
        </p:txBody>
      </p:sp>
      <p:sp>
        <p:nvSpPr>
          <p:cNvPr id="6" name="页脚占位符 5">
            <a:extLst>
              <a:ext uri="{FF2B5EF4-FFF2-40B4-BE49-F238E27FC236}">
                <a16:creationId xmlns:a16="http://schemas.microsoft.com/office/drawing/2014/main" id="{1C7E6AC4-D8A7-4E43-AF88-EEEEC55E42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051EF37-ECDE-4C5B-9E8B-BE58869BF6DF}"/>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3574874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D5EA76-1875-4BC9-A6EF-8974CC2744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1CBA4F8-0BE5-46A6-AC9A-5310BF3479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8B494F6-110C-4B6F-9F02-1A81BF223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FF60DF96-9BA4-43A8-8529-22E50FFEBC36}"/>
              </a:ext>
            </a:extLst>
          </p:cNvPr>
          <p:cNvSpPr>
            <a:spLocks noGrp="1"/>
          </p:cNvSpPr>
          <p:nvPr>
            <p:ph type="dt" sz="half" idx="10"/>
          </p:nvPr>
        </p:nvSpPr>
        <p:spPr/>
        <p:txBody>
          <a:bodyPr/>
          <a:lstStyle/>
          <a:p>
            <a:fld id="{7C8E6D67-0E6E-411E-A4A5-4F070FA6BF98}" type="datetime1">
              <a:rPr lang="zh-CN" altLang="en-US" smtClean="0"/>
              <a:t>2026/2/28</a:t>
            </a:fld>
            <a:endParaRPr lang="zh-CN" altLang="en-US"/>
          </a:p>
        </p:txBody>
      </p:sp>
      <p:sp>
        <p:nvSpPr>
          <p:cNvPr id="6" name="页脚占位符 5">
            <a:extLst>
              <a:ext uri="{FF2B5EF4-FFF2-40B4-BE49-F238E27FC236}">
                <a16:creationId xmlns:a16="http://schemas.microsoft.com/office/drawing/2014/main" id="{BB0E3221-E1BC-484B-8EB8-3E9712F6F8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981A77-AC2C-47D7-8DB3-9B48E55A3C71}"/>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949324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711C2-D430-44E1-A185-D00E9C8AE13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A0C6944-01EF-4BD1-A826-8989C309E8FF}"/>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BA95996-DF10-4F94-A64C-7823DBA3E8C4}"/>
              </a:ext>
            </a:extLst>
          </p:cNvPr>
          <p:cNvSpPr>
            <a:spLocks noGrp="1"/>
          </p:cNvSpPr>
          <p:nvPr>
            <p:ph type="dt" sz="half" idx="10"/>
          </p:nvPr>
        </p:nvSpPr>
        <p:spPr/>
        <p:txBody>
          <a:bodyPr/>
          <a:lstStyle/>
          <a:p>
            <a:fld id="{E41802B9-8D28-48E3-8F49-CF898EE85014}" type="datetime1">
              <a:rPr lang="zh-CN" altLang="en-US" smtClean="0"/>
              <a:t>2026/2/28</a:t>
            </a:fld>
            <a:endParaRPr lang="zh-CN" altLang="en-US"/>
          </a:p>
        </p:txBody>
      </p:sp>
      <p:sp>
        <p:nvSpPr>
          <p:cNvPr id="5" name="页脚占位符 4">
            <a:extLst>
              <a:ext uri="{FF2B5EF4-FFF2-40B4-BE49-F238E27FC236}">
                <a16:creationId xmlns:a16="http://schemas.microsoft.com/office/drawing/2014/main" id="{B971CFAC-2242-4056-B437-F59E4A56D1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78DEB5-E69B-4BCD-BF0F-68679FFC54E8}"/>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1177128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9579621-44FD-465D-A11A-D61E6AD6EDB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61AF0AC-C831-4A28-AAF4-DEAB5F2E863B}"/>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4D26C34-4C12-419A-830F-949FD93BDD7B}"/>
              </a:ext>
            </a:extLst>
          </p:cNvPr>
          <p:cNvSpPr>
            <a:spLocks noGrp="1"/>
          </p:cNvSpPr>
          <p:nvPr>
            <p:ph type="dt" sz="half" idx="10"/>
          </p:nvPr>
        </p:nvSpPr>
        <p:spPr/>
        <p:txBody>
          <a:bodyPr/>
          <a:lstStyle/>
          <a:p>
            <a:fld id="{4C5E2584-1079-4961-BB9C-AEC2FA63B56D}" type="datetime1">
              <a:rPr lang="zh-CN" altLang="en-US" smtClean="0"/>
              <a:t>2026/2/28</a:t>
            </a:fld>
            <a:endParaRPr lang="zh-CN" altLang="en-US"/>
          </a:p>
        </p:txBody>
      </p:sp>
      <p:sp>
        <p:nvSpPr>
          <p:cNvPr id="5" name="页脚占位符 4">
            <a:extLst>
              <a:ext uri="{FF2B5EF4-FFF2-40B4-BE49-F238E27FC236}">
                <a16:creationId xmlns:a16="http://schemas.microsoft.com/office/drawing/2014/main" id="{81BA2838-DE10-4283-9427-EE8468319D1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D1CE546-6023-4E64-BDFB-1958DA4FC1E6}"/>
              </a:ext>
            </a:extLst>
          </p:cNvPr>
          <p:cNvSpPr>
            <a:spLocks noGrp="1"/>
          </p:cNvSpPr>
          <p:nvPr>
            <p:ph type="sldNum" sz="quarter" idx="12"/>
          </p:nvPr>
        </p:nvSpPr>
        <p:spPr/>
        <p:txBody>
          <a:body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1694190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5FF992E-BBD0-4CE7-ACB6-863D040398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D84E82C-D96D-4BBE-B3B0-A59E0251EF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FA1971B-96AE-4611-8138-606979319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31112-0A39-451E-80D6-AC4B4D94D164}" type="datetimeFigureOut">
              <a:rPr lang="zh-CN" altLang="en-US" smtClean="0"/>
              <a:t>2026/2/28</a:t>
            </a:fld>
            <a:endParaRPr lang="zh-CN" altLang="en-US"/>
          </a:p>
        </p:txBody>
      </p:sp>
      <p:sp>
        <p:nvSpPr>
          <p:cNvPr id="5" name="页脚占位符 4">
            <a:extLst>
              <a:ext uri="{FF2B5EF4-FFF2-40B4-BE49-F238E27FC236}">
                <a16:creationId xmlns:a16="http://schemas.microsoft.com/office/drawing/2014/main" id="{0565CF9C-DDE5-4D75-9383-A93DFF7AEF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1DFA976-C270-451B-A2D8-6DCD9BEDF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D0E2AC-7100-4AB5-A469-3D55F6E82855}" type="slidenum">
              <a:rPr lang="zh-CN" altLang="en-US" smtClean="0"/>
              <a:t>‹#›</a:t>
            </a:fld>
            <a:endParaRPr lang="zh-CN" altLang="en-US"/>
          </a:p>
        </p:txBody>
      </p:sp>
    </p:spTree>
    <p:extLst>
      <p:ext uri="{BB962C8B-B14F-4D97-AF65-F5344CB8AC3E}">
        <p14:creationId xmlns:p14="http://schemas.microsoft.com/office/powerpoint/2010/main" val="186598783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alpha val="47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7810F3D-1DE6-44A4-85E6-2B524B586D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00B8A29-3732-4BAC-9408-D8F389ACB3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70A4CA3-B4C9-4157-B33F-6661E4878A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C54AAF-35C1-4236-BF09-7CAFDE7839BF}" type="datetime1">
              <a:rPr lang="zh-CN" altLang="en-US" smtClean="0"/>
              <a:t>2026/2/28</a:t>
            </a:fld>
            <a:endParaRPr lang="zh-CN" altLang="en-US"/>
          </a:p>
        </p:txBody>
      </p:sp>
      <p:sp>
        <p:nvSpPr>
          <p:cNvPr id="5" name="页脚占位符 4">
            <a:extLst>
              <a:ext uri="{FF2B5EF4-FFF2-40B4-BE49-F238E27FC236}">
                <a16:creationId xmlns:a16="http://schemas.microsoft.com/office/drawing/2014/main" id="{DC08E1B8-7107-43AF-A172-DF497F3EF6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364004A-7433-4AD5-BC9D-1F0E7B59C4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F96A65-AD6E-4773-831E-A7C86D39564F}" type="slidenum">
              <a:rPr lang="zh-CN" altLang="en-US" smtClean="0"/>
              <a:t>‹#›</a:t>
            </a:fld>
            <a:endParaRPr lang="zh-CN" altLang="en-US"/>
          </a:p>
        </p:txBody>
      </p:sp>
    </p:spTree>
    <p:extLst>
      <p:ext uri="{BB962C8B-B14F-4D97-AF65-F5344CB8AC3E}">
        <p14:creationId xmlns:p14="http://schemas.microsoft.com/office/powerpoint/2010/main" val="29599053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b-engines.com/en/rank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modb.pro/dbRan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opengauss.org/"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hyperlink" Target="https://www.conceptdraw.com/examples/crowfoot-notation" TargetMode="External"/><Relationship Id="rId4" Type="http://schemas.microsoft.com/office/2007/relationships/hdphoto" Target="../media/hdphoto4.wdp"/></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gitee.com/robergroup/pdmaner/releases" TargetMode="Externa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35F4DE77-B15B-4DC1-80B3-D9465FB99B9E}"/>
              </a:ext>
            </a:extLst>
          </p:cNvPr>
          <p:cNvSpPr txBox="1">
            <a:spLocks noChangeArrowheads="1"/>
          </p:cNvSpPr>
          <p:nvPr/>
        </p:nvSpPr>
        <p:spPr>
          <a:xfrm>
            <a:off x="0" y="1"/>
            <a:ext cx="12192000" cy="6857999"/>
          </a:xfrm>
          <a:prstGeom prst="rect">
            <a:avLst/>
          </a:prstGeom>
          <a:solidFill>
            <a:srgbClr val="000000">
              <a:alpha val="20000"/>
            </a:srgbClr>
          </a:solidFill>
        </p:spPr>
        <p:txBody>
          <a:bodyPr vert="horz" lIns="51435" tIns="25718" rIns="51435" bIns="25718" rtlCol="0" anchor="ctr">
            <a:noAutofit/>
          </a:bodyPr>
          <a:lstStyle>
            <a:lvl1pPr algn="ctr" defTabSz="914400" rtl="0" eaLnBrk="1" latinLnBrk="0" hangingPunct="1">
              <a:spcBef>
                <a:spcPct val="0"/>
              </a:spcBef>
              <a:buNone/>
              <a:defRPr sz="4400" b="0" i="0" u="none" kern="1200">
                <a:solidFill>
                  <a:srgbClr val="3366FF"/>
                </a:solidFill>
                <a:latin typeface="+mj-lt"/>
                <a:ea typeface="+mj-ea"/>
                <a:cs typeface="+mj-cs"/>
              </a:defRPr>
            </a:lvl1pPr>
          </a:lstStyle>
          <a:p>
            <a:pPr marL="0" marR="0" lvl="0" indent="0" defTabSz="914400" rtl="0" eaLnBrk="1" fontAlgn="auto" latinLnBrk="0" hangingPunct="1">
              <a:lnSpc>
                <a:spcPct val="120000"/>
              </a:lnSpc>
              <a:spcBef>
                <a:spcPct val="0"/>
              </a:spcBef>
              <a:spcAft>
                <a:spcPts val="0"/>
              </a:spcAft>
              <a:buClrTx/>
              <a:buSzTx/>
              <a:buFontTx/>
              <a:buNone/>
              <a:tabLst/>
              <a:defRPr/>
            </a:pPr>
            <a:r>
              <a:rPr kumimoji="0" lang="zh-CN" altLang="en-US" sz="72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j-cs"/>
              </a:rPr>
              <a:t>第</a:t>
            </a:r>
            <a:r>
              <a:rPr kumimoji="0" lang="en-US" altLang="zh-CN" sz="72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j-cs"/>
              </a:rPr>
              <a:t>1</a:t>
            </a:r>
            <a:r>
              <a:rPr kumimoji="0" lang="zh-CN" altLang="en-US" sz="72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j-cs"/>
              </a:rPr>
              <a:t>章  绪论</a:t>
            </a:r>
            <a:endParaRPr kumimoji="0" lang="en-US" altLang="zh-CN" sz="7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258524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本章导图</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1</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6" name="内容占位符 11">
            <a:extLst>
              <a:ext uri="{FF2B5EF4-FFF2-40B4-BE49-F238E27FC236}">
                <a16:creationId xmlns:a16="http://schemas.microsoft.com/office/drawing/2014/main" id="{B5DD7DC0-2005-4561-8253-686D28D041CA}"/>
              </a:ext>
            </a:extLst>
          </p:cNvPr>
          <p:cNvPicPr>
            <a:picLocks noGrp="1" noChangeAspect="1"/>
          </p:cNvPicPr>
          <p:nvPr>
            <p:ph idx="1"/>
          </p:nvPr>
        </p:nvPicPr>
        <p:blipFill rotWithShape="1">
          <a:blip r:embed="rId2" cstate="print">
            <a:extLst>
              <a:ext uri="{BEBA8EAE-BF5A-486C-A8C5-ECC9F3942E4B}">
                <a14:imgProps xmlns:a14="http://schemas.microsoft.com/office/drawing/2010/main">
                  <a14:imgLayer r:embed="rId3">
                    <a14:imgEffect>
                      <a14:sharpenSoften amount="25000"/>
                    </a14:imgEffect>
                    <a14:imgEffect>
                      <a14:colorTemperature colorTemp="5900"/>
                    </a14:imgEffect>
                  </a14:imgLayer>
                </a14:imgProps>
              </a:ext>
              <a:ext uri="{28A0092B-C50C-407E-A947-70E740481C1C}">
                <a14:useLocalDpi xmlns:a14="http://schemas.microsoft.com/office/drawing/2010/main" val="0"/>
              </a:ext>
            </a:extLst>
          </a:blip>
          <a:srcRect l="6412" t="5574" r="2795" b="12221"/>
          <a:stretch/>
        </p:blipFill>
        <p:spPr>
          <a:xfrm>
            <a:off x="2067271" y="831712"/>
            <a:ext cx="7645787" cy="5638662"/>
          </a:xfrm>
        </p:spPr>
      </p:pic>
    </p:spTree>
    <p:extLst>
      <p:ext uri="{BB962C8B-B14F-4D97-AF65-F5344CB8AC3E}">
        <p14:creationId xmlns:p14="http://schemas.microsoft.com/office/powerpoint/2010/main" val="1073919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大纲</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2</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BE604E7F-457E-435B-B4F5-50E60DF94092}"/>
              </a:ext>
            </a:extLst>
          </p:cNvPr>
          <p:cNvSpPr>
            <a:spLocks noGrp="1"/>
          </p:cNvSpPr>
          <p:nvPr>
            <p:ph idx="1"/>
          </p:nvPr>
        </p:nvSpPr>
        <p:spPr/>
        <p:txBody>
          <a:bodyPr/>
          <a:lstStyle/>
          <a:p>
            <a:pPr>
              <a:lnSpc>
                <a:spcPct val="100000"/>
              </a:lnSpc>
            </a:pPr>
            <a:r>
              <a:rPr lang="zh-CN" altLang="en-US" b="1">
                <a:solidFill>
                  <a:srgbClr val="C00000"/>
                </a:solidFill>
              </a:rPr>
              <a:t>数据库系统概述</a:t>
            </a:r>
          </a:p>
          <a:p>
            <a:pPr>
              <a:lnSpc>
                <a:spcPct val="100000"/>
              </a:lnSpc>
            </a:pPr>
            <a:r>
              <a:rPr lang="zh-CN" altLang="en-US" b="1">
                <a:solidFill>
                  <a:srgbClr val="C00000"/>
                </a:solidFill>
              </a:rPr>
              <a:t>数据模型</a:t>
            </a:r>
          </a:p>
          <a:p>
            <a:pPr>
              <a:lnSpc>
                <a:spcPct val="100000"/>
              </a:lnSpc>
            </a:pPr>
            <a:r>
              <a:rPr lang="zh-CN" altLang="en-US" b="1">
                <a:solidFill>
                  <a:srgbClr val="C00000"/>
                </a:solidFill>
              </a:rPr>
              <a:t>数据库系统三级模式结构</a:t>
            </a:r>
          </a:p>
          <a:p>
            <a:pPr>
              <a:lnSpc>
                <a:spcPct val="100000"/>
              </a:lnSpc>
            </a:pPr>
            <a:r>
              <a:rPr lang="zh-CN" altLang="en-US" b="1">
                <a:solidFill>
                  <a:srgbClr val="C00000"/>
                </a:solidFill>
              </a:rPr>
              <a:t>数据库系统组成</a:t>
            </a:r>
          </a:p>
          <a:p>
            <a:pPr>
              <a:lnSpc>
                <a:spcPct val="100000"/>
              </a:lnSpc>
            </a:pPr>
            <a:r>
              <a:rPr lang="zh-CN" altLang="en-US" b="1">
                <a:solidFill>
                  <a:srgbClr val="C00000"/>
                </a:solidFill>
              </a:rPr>
              <a:t>数据库系统体系结构</a:t>
            </a:r>
            <a:endParaRPr lang="en-US" altLang="zh-CN" b="1">
              <a:solidFill>
                <a:srgbClr val="C00000"/>
              </a:solidFill>
            </a:endParaRPr>
          </a:p>
          <a:p>
            <a:pPr>
              <a:lnSpc>
                <a:spcPct val="100000"/>
              </a:lnSpc>
            </a:pPr>
            <a:r>
              <a:rPr lang="zh-CN" altLang="en-US" b="1">
                <a:solidFill>
                  <a:srgbClr val="C00000"/>
                </a:solidFill>
              </a:rPr>
              <a:t>本章小结</a:t>
            </a:r>
            <a:endParaRPr lang="en-US" altLang="zh-CN" b="1">
              <a:solidFill>
                <a:srgbClr val="C00000"/>
              </a:solidFill>
            </a:endParaRPr>
          </a:p>
        </p:txBody>
      </p:sp>
    </p:spTree>
    <p:extLst>
      <p:ext uri="{BB962C8B-B14F-4D97-AF65-F5344CB8AC3E}">
        <p14:creationId xmlns:p14="http://schemas.microsoft.com/office/powerpoint/2010/main" val="270417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数据库系统概述</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40C584A0-C1A3-48CD-80C9-4A65668D2EEA}"/>
              </a:ext>
            </a:extLst>
          </p:cNvPr>
          <p:cNvSpPr>
            <a:spLocks noGrp="1"/>
          </p:cNvSpPr>
          <p:nvPr>
            <p:ph idx="1"/>
          </p:nvPr>
        </p:nvSpPr>
        <p:spPr/>
        <p:txBody>
          <a:bodyPr/>
          <a:lstStyle/>
          <a:p>
            <a:pPr marL="1287" lvl="0" indent="0" defTabSz="514350">
              <a:lnSpc>
                <a:spcPct val="100000"/>
              </a:lnSpc>
              <a:spcBef>
                <a:spcPct val="20000"/>
              </a:spcBef>
              <a:buClr>
                <a:srgbClr val="990033"/>
              </a:buClr>
              <a:buSzPct val="80000"/>
              <a:buNone/>
            </a:pPr>
            <a:r>
              <a:rPr lang="en-US" altLang="zh-CN" b="1" dirty="0">
                <a:solidFill>
                  <a:srgbClr val="FF0000"/>
                </a:solidFill>
              </a:rPr>
              <a:t>1.</a:t>
            </a:r>
            <a:r>
              <a:rPr lang="zh-CN" altLang="en-US" b="1" dirty="0">
                <a:solidFill>
                  <a:srgbClr val="FF0000"/>
                </a:solidFill>
              </a:rPr>
              <a:t>四个基本概念</a:t>
            </a:r>
          </a:p>
          <a:p>
            <a:pPr marL="717550" lvl="1" indent="-269875" defTabSz="514350">
              <a:lnSpc>
                <a:spcPct val="100000"/>
              </a:lnSpc>
              <a:spcBef>
                <a:spcPct val="20000"/>
              </a:spcBef>
              <a:buFont typeface="Arial" panose="020B0604020202020204" pitchFamily="34" charset="0"/>
              <a:buChar char="–"/>
            </a:pPr>
            <a:r>
              <a:rPr lang="zh-CN" altLang="en-US" b="1" dirty="0">
                <a:solidFill>
                  <a:srgbClr val="0000FF"/>
                </a:solidFill>
              </a:rPr>
              <a:t>数据</a:t>
            </a:r>
            <a:r>
              <a:rPr lang="en-US" altLang="zh-CN" b="1" dirty="0">
                <a:solidFill>
                  <a:srgbClr val="0000FF"/>
                </a:solidFill>
              </a:rPr>
              <a:t>(Data)</a:t>
            </a:r>
            <a:endParaRPr lang="zh-CN" altLang="en-US" b="1" dirty="0">
              <a:solidFill>
                <a:srgbClr val="0000FF"/>
              </a:solidFill>
            </a:endParaRPr>
          </a:p>
          <a:p>
            <a:pPr marL="717550" lvl="1" indent="-269875" defTabSz="514350">
              <a:lnSpc>
                <a:spcPct val="100000"/>
              </a:lnSpc>
              <a:spcBef>
                <a:spcPct val="20000"/>
              </a:spcBef>
              <a:buFont typeface="Arial" panose="020B0604020202020204" pitchFamily="34" charset="0"/>
              <a:buChar char="–"/>
            </a:pPr>
            <a:r>
              <a:rPr lang="zh-CN" altLang="en-US" b="1" dirty="0">
                <a:solidFill>
                  <a:srgbClr val="0000FF"/>
                </a:solidFill>
              </a:rPr>
              <a:t>数据库</a:t>
            </a:r>
            <a:r>
              <a:rPr lang="en-US" altLang="zh-CN" b="1" dirty="0">
                <a:solidFill>
                  <a:srgbClr val="0000FF"/>
                </a:solidFill>
              </a:rPr>
              <a:t>(Database)</a:t>
            </a:r>
            <a:endParaRPr lang="zh-CN" altLang="en-US" b="1" dirty="0">
              <a:solidFill>
                <a:srgbClr val="0000FF"/>
              </a:solidFill>
            </a:endParaRPr>
          </a:p>
          <a:p>
            <a:pPr marL="717550" lvl="1" indent="-269875" defTabSz="514350">
              <a:lnSpc>
                <a:spcPct val="100000"/>
              </a:lnSpc>
              <a:spcBef>
                <a:spcPct val="20000"/>
              </a:spcBef>
              <a:buFont typeface="Arial" panose="020B0604020202020204" pitchFamily="34" charset="0"/>
              <a:buChar char="–"/>
            </a:pPr>
            <a:r>
              <a:rPr lang="zh-CN" altLang="en-US" b="1" dirty="0">
                <a:solidFill>
                  <a:srgbClr val="0000FF"/>
                </a:solidFill>
              </a:rPr>
              <a:t>数据库管理系统</a:t>
            </a:r>
            <a:r>
              <a:rPr lang="en-US" altLang="zh-CN" b="1" dirty="0">
                <a:solidFill>
                  <a:srgbClr val="0000FF"/>
                </a:solidFill>
              </a:rPr>
              <a:t>(DBMS)</a:t>
            </a:r>
            <a:endParaRPr lang="zh-CN" altLang="en-US" b="1" dirty="0">
              <a:solidFill>
                <a:srgbClr val="0000FF"/>
              </a:solidFill>
            </a:endParaRPr>
          </a:p>
          <a:p>
            <a:pPr marL="717550" lvl="1" indent="-269875" defTabSz="514350">
              <a:lnSpc>
                <a:spcPct val="100000"/>
              </a:lnSpc>
              <a:spcBef>
                <a:spcPct val="20000"/>
              </a:spcBef>
              <a:buFont typeface="Arial" panose="020B0604020202020204" pitchFamily="34" charset="0"/>
              <a:buChar char="–"/>
            </a:pPr>
            <a:r>
              <a:rPr lang="zh-CN" altLang="en-US" b="1" dirty="0">
                <a:solidFill>
                  <a:srgbClr val="0000FF"/>
                </a:solidFill>
              </a:rPr>
              <a:t>数据库系统</a:t>
            </a:r>
            <a:r>
              <a:rPr lang="en-US" altLang="zh-CN" b="1" dirty="0">
                <a:solidFill>
                  <a:srgbClr val="0000FF"/>
                </a:solidFill>
              </a:rPr>
              <a:t>(DBS)</a:t>
            </a:r>
            <a:endParaRPr lang="zh-CN" altLang="en-US" b="1" dirty="0">
              <a:solidFill>
                <a:srgbClr val="0000FF"/>
              </a:solidFill>
            </a:endParaRPr>
          </a:p>
          <a:p>
            <a:pPr marL="0" lvl="0" indent="0" defTabSz="514350">
              <a:lnSpc>
                <a:spcPct val="100000"/>
              </a:lnSpc>
              <a:spcBef>
                <a:spcPct val="20000"/>
              </a:spcBef>
              <a:buClr>
                <a:srgbClr val="990033"/>
              </a:buClr>
              <a:buSzPct val="80000"/>
              <a:buNone/>
            </a:pPr>
            <a:r>
              <a:rPr lang="en-US" altLang="zh-CN" b="1" dirty="0">
                <a:solidFill>
                  <a:srgbClr val="EEECE1">
                    <a:lumMod val="90000"/>
                  </a:srgbClr>
                </a:solidFill>
              </a:rPr>
              <a:t>2.</a:t>
            </a:r>
            <a:r>
              <a:rPr lang="zh-CN" altLang="en-US" b="1" dirty="0">
                <a:solidFill>
                  <a:srgbClr val="EEECE1">
                    <a:lumMod val="90000"/>
                  </a:srgbClr>
                </a:solidFill>
              </a:rPr>
              <a:t>数据管理技术的产生与发展</a:t>
            </a:r>
          </a:p>
          <a:p>
            <a:pPr marL="717550" lvl="1" indent="-269875" defTabSz="514350">
              <a:lnSpc>
                <a:spcPct val="100000"/>
              </a:lnSpc>
              <a:spcBef>
                <a:spcPct val="20000"/>
              </a:spcBef>
              <a:buFont typeface="Arial" panose="020B0604020202020204" pitchFamily="34" charset="0"/>
              <a:buChar char="–"/>
            </a:pPr>
            <a:r>
              <a:rPr lang="zh-CN" altLang="en-US" b="1" dirty="0">
                <a:solidFill>
                  <a:srgbClr val="EEECE1">
                    <a:lumMod val="90000"/>
                  </a:srgbClr>
                </a:solidFill>
              </a:rPr>
              <a:t>人工管理阶段、文件系统阶段和数据库阶段</a:t>
            </a:r>
          </a:p>
          <a:p>
            <a:pPr marL="0" lvl="0" indent="0" defTabSz="514350">
              <a:lnSpc>
                <a:spcPct val="100000"/>
              </a:lnSpc>
              <a:spcBef>
                <a:spcPct val="20000"/>
              </a:spcBef>
              <a:buClr>
                <a:srgbClr val="990033"/>
              </a:buClr>
              <a:buSzPct val="80000"/>
              <a:buNone/>
            </a:pPr>
            <a:r>
              <a:rPr lang="en-US" altLang="zh-CN" b="1" dirty="0">
                <a:solidFill>
                  <a:srgbClr val="EEECE1">
                    <a:lumMod val="90000"/>
                  </a:srgbClr>
                </a:solidFill>
              </a:rPr>
              <a:t>3.</a:t>
            </a:r>
            <a:r>
              <a:rPr lang="zh-CN" altLang="en-US" b="1" dirty="0">
                <a:solidFill>
                  <a:srgbClr val="EEECE1">
                    <a:lumMod val="90000"/>
                  </a:srgbClr>
                </a:solidFill>
              </a:rPr>
              <a:t>数据库系统的特点</a:t>
            </a:r>
          </a:p>
          <a:p>
            <a:endParaRPr lang="zh-CN" altLang="en-US" dirty="0"/>
          </a:p>
          <a:p>
            <a:endParaRPr lang="zh-CN" altLang="en-US" dirty="0"/>
          </a:p>
        </p:txBody>
      </p:sp>
    </p:spTree>
    <p:extLst>
      <p:ext uri="{BB962C8B-B14F-4D97-AF65-F5344CB8AC3E}">
        <p14:creationId xmlns:p14="http://schemas.microsoft.com/office/powerpoint/2010/main" val="1981849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3.1.1</a:t>
            </a:r>
            <a:r>
              <a:rPr lang="zh-CN" altLang="en-US"/>
              <a:t>数据</a:t>
            </a:r>
            <a:r>
              <a:rPr lang="en-US" altLang="zh-CN"/>
              <a:t>(Data)</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7AF930C7-4D26-4C6F-8066-7D7AD8934284}"/>
              </a:ext>
            </a:extLst>
          </p:cNvPr>
          <p:cNvSpPr>
            <a:spLocks noGrp="1"/>
          </p:cNvSpPr>
          <p:nvPr>
            <p:ph idx="1"/>
          </p:nvPr>
        </p:nvSpPr>
        <p:spPr/>
        <p:txBody>
          <a:bodyPr>
            <a:normAutofit/>
          </a:bodyPr>
          <a:lstStyle/>
          <a:p>
            <a:r>
              <a:rPr lang="zh-CN" altLang="en-US" dirty="0">
                <a:solidFill>
                  <a:srgbClr val="0000CC"/>
                </a:solidFill>
              </a:rPr>
              <a:t>数据的定义</a:t>
            </a:r>
            <a:endParaRPr lang="en-US" altLang="zh-CN" dirty="0">
              <a:solidFill>
                <a:srgbClr val="0000CC"/>
              </a:solidFill>
            </a:endParaRPr>
          </a:p>
          <a:p>
            <a:pPr lvl="1"/>
            <a:r>
              <a:rPr lang="zh-CN" altLang="en-US" dirty="0"/>
              <a:t>数据是描述事物的</a:t>
            </a:r>
            <a:r>
              <a:rPr lang="zh-CN" altLang="en-US" dirty="0">
                <a:solidFill>
                  <a:srgbClr val="FF0000"/>
                </a:solidFill>
              </a:rPr>
              <a:t>符号记录</a:t>
            </a:r>
            <a:endParaRPr lang="en-US" altLang="zh-CN" dirty="0"/>
          </a:p>
          <a:p>
            <a:r>
              <a:rPr lang="zh-CN" altLang="en-US" dirty="0"/>
              <a:t>数据是数据库中</a:t>
            </a:r>
            <a:r>
              <a:rPr lang="zh-CN" altLang="en-US" dirty="0">
                <a:solidFill>
                  <a:srgbClr val="FF0000"/>
                </a:solidFill>
              </a:rPr>
              <a:t>存储的基本对象</a:t>
            </a:r>
            <a:endParaRPr lang="en-US" altLang="zh-CN" dirty="0">
              <a:solidFill>
                <a:srgbClr val="FF0000"/>
              </a:solidFill>
            </a:endParaRPr>
          </a:p>
          <a:p>
            <a:pPr lvl="1"/>
            <a:r>
              <a:rPr lang="zh-CN" altLang="en-US" dirty="0">
                <a:solidFill>
                  <a:srgbClr val="FF0000"/>
                </a:solidFill>
              </a:rPr>
              <a:t>注意：不仅是存储</a:t>
            </a:r>
            <a:r>
              <a:rPr lang="en-US" altLang="zh-CN" dirty="0">
                <a:solidFill>
                  <a:srgbClr val="FF0000"/>
                </a:solidFill>
              </a:rPr>
              <a:t>(</a:t>
            </a:r>
            <a:r>
              <a:rPr lang="zh-CN" altLang="en-US" dirty="0">
                <a:solidFill>
                  <a:srgbClr val="FF0000"/>
                </a:solidFill>
              </a:rPr>
              <a:t>静态的观点</a:t>
            </a:r>
            <a:r>
              <a:rPr lang="en-US" altLang="zh-CN" dirty="0">
                <a:solidFill>
                  <a:srgbClr val="FF0000"/>
                </a:solidFill>
              </a:rPr>
              <a:t>)</a:t>
            </a:r>
            <a:r>
              <a:rPr lang="zh-CN" altLang="en-US" dirty="0">
                <a:solidFill>
                  <a:srgbClr val="FF0000"/>
                </a:solidFill>
              </a:rPr>
              <a:t>，还包括获取、处理、使用、计算等</a:t>
            </a:r>
            <a:r>
              <a:rPr lang="en-US" altLang="zh-CN" dirty="0">
                <a:solidFill>
                  <a:srgbClr val="FF0000"/>
                </a:solidFill>
              </a:rPr>
              <a:t>(</a:t>
            </a:r>
            <a:r>
              <a:rPr lang="zh-CN" altLang="en-US" dirty="0">
                <a:solidFill>
                  <a:srgbClr val="FF0000"/>
                </a:solidFill>
              </a:rPr>
              <a:t>动态的观点</a:t>
            </a:r>
            <a:r>
              <a:rPr lang="en-US" altLang="zh-CN" dirty="0">
                <a:solidFill>
                  <a:srgbClr val="FF0000"/>
                </a:solidFill>
              </a:rPr>
              <a:t>)</a:t>
            </a:r>
          </a:p>
          <a:p>
            <a:r>
              <a:rPr lang="zh-CN" altLang="en-US" dirty="0">
                <a:solidFill>
                  <a:srgbClr val="0000CC"/>
                </a:solidFill>
              </a:rPr>
              <a:t>数据类型</a:t>
            </a:r>
            <a:endParaRPr lang="en-US" altLang="zh-CN" dirty="0">
              <a:solidFill>
                <a:srgbClr val="0000CC"/>
              </a:solidFill>
            </a:endParaRPr>
          </a:p>
          <a:p>
            <a:pPr lvl="1"/>
            <a:r>
              <a:rPr lang="zh-CN" altLang="en-US" dirty="0"/>
              <a:t>文本、图形、图像、音频、视频、</a:t>
            </a:r>
            <a:r>
              <a:rPr lang="zh-CN" altLang="zh-CN" dirty="0"/>
              <a:t>互联网上的博客、微信中的聊天记录、学生的档案记录、个人的网购记录、医院病历</a:t>
            </a:r>
            <a:r>
              <a:rPr lang="zh-CN" altLang="en-US" dirty="0"/>
              <a:t>等</a:t>
            </a:r>
            <a:endParaRPr lang="en-US" altLang="zh-CN" dirty="0"/>
          </a:p>
          <a:p>
            <a:r>
              <a:rPr lang="zh-CN" altLang="en-US" kern="1050" dirty="0">
                <a:solidFill>
                  <a:srgbClr val="0000CC"/>
                </a:solidFill>
              </a:rPr>
              <a:t>数据的含义</a:t>
            </a:r>
            <a:r>
              <a:rPr lang="zh-CN" altLang="en-US" kern="1050" dirty="0"/>
              <a:t>称为数据的语义，数据与其语义是</a:t>
            </a:r>
            <a:r>
              <a:rPr lang="zh-CN" altLang="en-US" kern="1050" dirty="0">
                <a:solidFill>
                  <a:srgbClr val="FF0000"/>
                </a:solidFill>
              </a:rPr>
              <a:t>不可分的</a:t>
            </a:r>
          </a:p>
          <a:p>
            <a:pPr lvl="2"/>
            <a:r>
              <a:rPr lang="zh-CN" altLang="en-US" dirty="0"/>
              <a:t>例子：</a:t>
            </a:r>
            <a:r>
              <a:rPr lang="zh-CN" altLang="en-US" dirty="0">
                <a:solidFill>
                  <a:srgbClr val="FF0000"/>
                </a:solidFill>
              </a:rPr>
              <a:t>数据</a:t>
            </a:r>
            <a:r>
              <a:rPr lang="en-US" altLang="zh-CN" dirty="0">
                <a:solidFill>
                  <a:srgbClr val="FF0000"/>
                </a:solidFill>
              </a:rPr>
              <a:t>93</a:t>
            </a:r>
            <a:r>
              <a:rPr lang="zh-CN" altLang="en-US" dirty="0"/>
              <a:t>含义可以是</a:t>
            </a:r>
            <a:r>
              <a:rPr lang="zh-CN" altLang="en-US" dirty="0">
                <a:solidFill>
                  <a:srgbClr val="0000FF"/>
                </a:solidFill>
              </a:rPr>
              <a:t>数据库期末总成绩</a:t>
            </a:r>
            <a:r>
              <a:rPr lang="en-US" altLang="zh-CN" dirty="0">
                <a:solidFill>
                  <a:srgbClr val="0000FF"/>
                </a:solidFill>
              </a:rPr>
              <a:t>93</a:t>
            </a:r>
            <a:r>
              <a:rPr lang="zh-CN" altLang="en-US" dirty="0">
                <a:solidFill>
                  <a:srgbClr val="0000FF"/>
                </a:solidFill>
              </a:rPr>
              <a:t>分</a:t>
            </a:r>
            <a:r>
              <a:rPr lang="en-US" altLang="zh-CN" dirty="0">
                <a:solidFill>
                  <a:srgbClr val="FF0000"/>
                </a:solidFill>
              </a:rPr>
              <a:t>|</a:t>
            </a:r>
            <a:r>
              <a:rPr lang="zh-CN" altLang="en-US" dirty="0">
                <a:solidFill>
                  <a:srgbClr val="0000FF"/>
                </a:solidFill>
              </a:rPr>
              <a:t>长度</a:t>
            </a:r>
            <a:r>
              <a:rPr lang="en-US" altLang="zh-CN" dirty="0">
                <a:solidFill>
                  <a:srgbClr val="0000FF"/>
                </a:solidFill>
              </a:rPr>
              <a:t>93</a:t>
            </a:r>
            <a:r>
              <a:rPr lang="zh-CN" altLang="en-US" dirty="0">
                <a:solidFill>
                  <a:srgbClr val="0000FF"/>
                </a:solidFill>
              </a:rPr>
              <a:t>米</a:t>
            </a:r>
            <a:r>
              <a:rPr lang="en-US" altLang="zh-CN" dirty="0">
                <a:solidFill>
                  <a:srgbClr val="FF0000"/>
                </a:solidFill>
              </a:rPr>
              <a:t>|</a:t>
            </a:r>
            <a:r>
              <a:rPr lang="zh-CN" altLang="en-US" dirty="0">
                <a:solidFill>
                  <a:srgbClr val="0000FF"/>
                </a:solidFill>
              </a:rPr>
              <a:t>摄氏</a:t>
            </a:r>
            <a:r>
              <a:rPr lang="en-US" altLang="zh-CN" dirty="0">
                <a:solidFill>
                  <a:srgbClr val="0000FF"/>
                </a:solidFill>
              </a:rPr>
              <a:t>93</a:t>
            </a:r>
            <a:r>
              <a:rPr lang="zh-CN" altLang="en-US" dirty="0">
                <a:solidFill>
                  <a:srgbClr val="0000FF"/>
                </a:solidFill>
              </a:rPr>
              <a:t>度</a:t>
            </a:r>
            <a:r>
              <a:rPr lang="en-US" altLang="zh-CN" dirty="0">
                <a:solidFill>
                  <a:srgbClr val="FF0000"/>
                </a:solidFill>
              </a:rPr>
              <a:t>|</a:t>
            </a:r>
            <a:r>
              <a:rPr lang="en-US" altLang="zh-CN" dirty="0"/>
              <a:t>…</a:t>
            </a:r>
          </a:p>
          <a:p>
            <a:pPr lvl="2"/>
            <a:r>
              <a:rPr lang="zh-CN" altLang="en-US" dirty="0"/>
              <a:t>学生档案中的学生</a:t>
            </a:r>
            <a:r>
              <a:rPr lang="zh-CN" altLang="en-US"/>
              <a:t>记录</a:t>
            </a:r>
            <a:r>
              <a:rPr lang="zh-CN" altLang="en-US">
                <a:solidFill>
                  <a:srgbClr val="FF0000"/>
                </a:solidFill>
                <a:latin typeface="Calibri" panose="020F0502020204030204" pitchFamily="34" charset="0"/>
              </a:rPr>
              <a:t>（</a:t>
            </a:r>
            <a:r>
              <a:rPr lang="en-US" altLang="zh-CN">
                <a:solidFill>
                  <a:srgbClr val="FF0000"/>
                </a:solidFill>
                <a:latin typeface="Calibri" panose="020F0502020204030204" pitchFamily="34" charset="0"/>
              </a:rPr>
              <a:t>’20240001’, ‘</a:t>
            </a:r>
            <a:r>
              <a:rPr lang="zh-CN" altLang="en-US">
                <a:solidFill>
                  <a:srgbClr val="FF0000"/>
                </a:solidFill>
                <a:latin typeface="Calibri" panose="020F0502020204030204" pitchFamily="34" charset="0"/>
              </a:rPr>
              <a:t>张栋</a:t>
            </a:r>
            <a:r>
              <a:rPr lang="en-US" altLang="zh-CN">
                <a:solidFill>
                  <a:srgbClr val="FF0000"/>
                </a:solidFill>
                <a:latin typeface="Calibri" panose="020F0502020204030204" pitchFamily="34" charset="0"/>
              </a:rPr>
              <a:t>’, ‘</a:t>
            </a:r>
            <a:r>
              <a:rPr lang="zh-CN" altLang="en-US">
                <a:solidFill>
                  <a:srgbClr val="FF0000"/>
                </a:solidFill>
                <a:latin typeface="Calibri" panose="020F0502020204030204" pitchFamily="34" charset="0"/>
              </a:rPr>
              <a:t>男</a:t>
            </a:r>
            <a:r>
              <a:rPr lang="en-US" altLang="zh-CN">
                <a:solidFill>
                  <a:srgbClr val="FF0000"/>
                </a:solidFill>
                <a:latin typeface="Calibri" panose="020F0502020204030204" pitchFamily="34" charset="0"/>
              </a:rPr>
              <a:t>’, ‘2005-3-21’, ‘</a:t>
            </a:r>
            <a:r>
              <a:rPr lang="zh-CN" altLang="en-US">
                <a:solidFill>
                  <a:srgbClr val="FF0000"/>
                </a:solidFill>
                <a:latin typeface="Calibri" panose="020F0502020204030204" pitchFamily="34" charset="0"/>
              </a:rPr>
              <a:t>软件工程</a:t>
            </a:r>
            <a:r>
              <a:rPr lang="en-US" altLang="zh-CN">
                <a:solidFill>
                  <a:srgbClr val="FF0000"/>
                </a:solidFill>
                <a:latin typeface="Calibri" panose="020F0502020204030204" pitchFamily="34" charset="0"/>
              </a:rPr>
              <a:t>’</a:t>
            </a:r>
            <a:r>
              <a:rPr lang="zh-CN" altLang="en-US">
                <a:solidFill>
                  <a:srgbClr val="FF0000"/>
                </a:solidFill>
                <a:latin typeface="Calibri" panose="020F0502020204030204" pitchFamily="34" charset="0"/>
              </a:rPr>
              <a:t>）</a:t>
            </a:r>
            <a:r>
              <a:rPr lang="zh-CN" altLang="en-US" dirty="0"/>
              <a:t>是</a:t>
            </a:r>
            <a:endParaRPr lang="en-US" altLang="zh-CN" dirty="0"/>
          </a:p>
          <a:p>
            <a:pPr marL="914400" lvl="2" indent="0">
              <a:buNone/>
            </a:pPr>
            <a:r>
              <a:rPr lang="en-US" altLang="zh-CN" dirty="0">
                <a:solidFill>
                  <a:srgbClr val="0000FF"/>
                </a:solidFill>
              </a:rPr>
              <a:t>    </a:t>
            </a:r>
            <a:r>
              <a:rPr lang="zh-CN" altLang="en-US" dirty="0">
                <a:solidFill>
                  <a:srgbClr val="0000FF"/>
                </a:solidFill>
              </a:rPr>
              <a:t>（学号，姓名，性别，出生日期，主修专业）</a:t>
            </a:r>
            <a:r>
              <a:rPr lang="zh-CN" altLang="en-US" dirty="0"/>
              <a:t>的一个实例</a:t>
            </a:r>
          </a:p>
        </p:txBody>
      </p:sp>
    </p:spTree>
    <p:extLst>
      <p:ext uri="{BB962C8B-B14F-4D97-AF65-F5344CB8AC3E}">
        <p14:creationId xmlns:p14="http://schemas.microsoft.com/office/powerpoint/2010/main" val="3908428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3.1.2</a:t>
            </a:r>
            <a:r>
              <a:rPr lang="zh-CN" altLang="en-US"/>
              <a:t>数据库</a:t>
            </a:r>
            <a:r>
              <a:rPr lang="en-US" altLang="zh-CN"/>
              <a:t>(Database,DB)</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D7B7ED22-E79B-4B83-A1D1-55E3C05C4332}"/>
              </a:ext>
            </a:extLst>
          </p:cNvPr>
          <p:cNvSpPr>
            <a:spLocks noGrp="1"/>
          </p:cNvSpPr>
          <p:nvPr>
            <p:ph idx="1"/>
          </p:nvPr>
        </p:nvSpPr>
        <p:spPr/>
        <p:txBody>
          <a:bodyPr/>
          <a:lstStyle/>
          <a:p>
            <a:r>
              <a:rPr lang="zh-CN" altLang="en-US" dirty="0">
                <a:solidFill>
                  <a:srgbClr val="FF0000"/>
                </a:solidFill>
              </a:rPr>
              <a:t>数据库定义</a:t>
            </a:r>
            <a:endParaRPr lang="en-US" altLang="zh-CN" dirty="0">
              <a:solidFill>
                <a:srgbClr val="FF0000"/>
              </a:solidFill>
            </a:endParaRPr>
          </a:p>
          <a:p>
            <a:pPr lvl="1"/>
            <a:r>
              <a:rPr lang="zh-CN" altLang="en-US" dirty="0"/>
              <a:t>是指</a:t>
            </a:r>
            <a:r>
              <a:rPr lang="zh-CN" altLang="en-US" u="sng" dirty="0">
                <a:solidFill>
                  <a:srgbClr val="FF0000"/>
                </a:solidFill>
              </a:rPr>
              <a:t>长期储存</a:t>
            </a:r>
            <a:r>
              <a:rPr lang="zh-CN" altLang="en-US" dirty="0"/>
              <a:t>在</a:t>
            </a:r>
            <a:r>
              <a:rPr lang="zh-CN" altLang="en-US" dirty="0">
                <a:solidFill>
                  <a:srgbClr val="FF0000"/>
                </a:solidFill>
              </a:rPr>
              <a:t>计算机内的</a:t>
            </a:r>
            <a:r>
              <a:rPr lang="zh-CN" altLang="en-US" dirty="0"/>
              <a:t>、</a:t>
            </a:r>
            <a:r>
              <a:rPr lang="zh-CN" altLang="en-US" u="sng" dirty="0">
                <a:solidFill>
                  <a:srgbClr val="FF0000"/>
                </a:solidFill>
              </a:rPr>
              <a:t>有组织的</a:t>
            </a:r>
            <a:r>
              <a:rPr lang="zh-CN" altLang="en-US" dirty="0"/>
              <a:t>、</a:t>
            </a:r>
            <a:r>
              <a:rPr lang="zh-CN" altLang="en-US" u="sng" dirty="0">
                <a:solidFill>
                  <a:srgbClr val="FF0000"/>
                </a:solidFill>
              </a:rPr>
              <a:t>可共享</a:t>
            </a:r>
            <a:r>
              <a:rPr lang="zh-CN" altLang="en-US" dirty="0"/>
              <a:t>的大量数据的集合</a:t>
            </a:r>
            <a:endParaRPr lang="en-US" altLang="zh-CN" dirty="0"/>
          </a:p>
          <a:p>
            <a:pPr lvl="1"/>
            <a:endParaRPr lang="en-US" altLang="zh-CN" sz="1200" dirty="0"/>
          </a:p>
          <a:p>
            <a:r>
              <a:rPr lang="zh-CN" altLang="en-US" dirty="0">
                <a:solidFill>
                  <a:srgbClr val="FF0000"/>
                </a:solidFill>
              </a:rPr>
              <a:t>数据库的特征</a:t>
            </a:r>
            <a:endParaRPr lang="en-US" altLang="zh-CN" dirty="0">
              <a:solidFill>
                <a:srgbClr val="FF0000"/>
              </a:solidFill>
            </a:endParaRPr>
          </a:p>
          <a:p>
            <a:pPr lvl="1" algn="just">
              <a:lnSpc>
                <a:spcPct val="140000"/>
              </a:lnSpc>
            </a:pPr>
            <a:r>
              <a:rPr lang="zh-CN" altLang="en-US" dirty="0"/>
              <a:t>数据按一定的</a:t>
            </a:r>
            <a:r>
              <a:rPr lang="zh-CN" altLang="en-US" dirty="0">
                <a:solidFill>
                  <a:srgbClr val="FF0000"/>
                </a:solidFill>
              </a:rPr>
              <a:t>数据模型</a:t>
            </a:r>
            <a:r>
              <a:rPr lang="en-US" altLang="zh-CN" dirty="0">
                <a:solidFill>
                  <a:srgbClr val="FF0000"/>
                </a:solidFill>
              </a:rPr>
              <a:t>(Data model)</a:t>
            </a:r>
            <a:r>
              <a:rPr lang="zh-CN" altLang="en-US" dirty="0"/>
              <a:t>组织、描述和存储</a:t>
            </a:r>
          </a:p>
          <a:p>
            <a:pPr lvl="1">
              <a:lnSpc>
                <a:spcPct val="140000"/>
              </a:lnSpc>
            </a:pPr>
            <a:r>
              <a:rPr lang="zh-CN" altLang="en-US" dirty="0"/>
              <a:t>较小的</a:t>
            </a:r>
            <a:r>
              <a:rPr lang="zh-CN" altLang="en-US" dirty="0">
                <a:solidFill>
                  <a:srgbClr val="FF0000"/>
                </a:solidFill>
              </a:rPr>
              <a:t>冗余度</a:t>
            </a:r>
          </a:p>
          <a:p>
            <a:pPr lvl="1" algn="just">
              <a:lnSpc>
                <a:spcPct val="140000"/>
              </a:lnSpc>
            </a:pPr>
            <a:r>
              <a:rPr lang="zh-CN" altLang="en-US" dirty="0"/>
              <a:t>较高的</a:t>
            </a:r>
            <a:r>
              <a:rPr lang="zh-CN" altLang="en-US" dirty="0">
                <a:solidFill>
                  <a:srgbClr val="FF0000"/>
                </a:solidFill>
              </a:rPr>
              <a:t>数据独立性</a:t>
            </a:r>
          </a:p>
          <a:p>
            <a:pPr lvl="1" algn="just">
              <a:lnSpc>
                <a:spcPct val="140000"/>
              </a:lnSpc>
            </a:pPr>
            <a:r>
              <a:rPr lang="zh-CN" altLang="en-US" dirty="0">
                <a:solidFill>
                  <a:srgbClr val="FF0000"/>
                </a:solidFill>
              </a:rPr>
              <a:t>可扩展性</a:t>
            </a:r>
            <a:endParaRPr lang="en-US" altLang="zh-CN" dirty="0">
              <a:solidFill>
                <a:srgbClr val="FF0000"/>
              </a:solidFill>
            </a:endParaRPr>
          </a:p>
          <a:p>
            <a:endParaRPr lang="zh-CN" altLang="en-US" dirty="0"/>
          </a:p>
        </p:txBody>
      </p:sp>
    </p:spTree>
    <p:extLst>
      <p:ext uri="{BB962C8B-B14F-4D97-AF65-F5344CB8AC3E}">
        <p14:creationId xmlns:p14="http://schemas.microsoft.com/office/powerpoint/2010/main" val="2641504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3.1.3</a:t>
            </a:r>
            <a:r>
              <a:rPr lang="zh-CN" altLang="en-US"/>
              <a:t>数据库管理系统</a:t>
            </a:r>
            <a:r>
              <a:rPr lang="en-US" altLang="zh-CN"/>
              <a:t>(DBMS)</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BD6B4BCB-464A-4838-8240-8E062F2ADF94}"/>
              </a:ext>
            </a:extLst>
          </p:cNvPr>
          <p:cNvSpPr>
            <a:spLocks noGrp="1"/>
          </p:cNvSpPr>
          <p:nvPr>
            <p:ph idx="1"/>
          </p:nvPr>
        </p:nvSpPr>
        <p:spPr/>
        <p:txBody>
          <a:bodyPr/>
          <a:lstStyle/>
          <a:p>
            <a:r>
              <a:rPr lang="en-US" altLang="zh-CN">
                <a:solidFill>
                  <a:srgbClr val="FF0000"/>
                </a:solidFill>
              </a:rPr>
              <a:t>Database Management System</a:t>
            </a:r>
            <a:r>
              <a:rPr lang="en-US" altLang="zh-CN"/>
              <a:t>(</a:t>
            </a:r>
            <a:r>
              <a:rPr lang="zh-CN" altLang="en-US"/>
              <a:t>简写为</a:t>
            </a:r>
            <a:r>
              <a:rPr lang="en-US" altLang="zh-CN">
                <a:solidFill>
                  <a:srgbClr val="FF0000"/>
                </a:solidFill>
              </a:rPr>
              <a:t>DBMS</a:t>
            </a:r>
            <a:r>
              <a:rPr lang="en-US" altLang="zh-CN"/>
              <a:t>)</a:t>
            </a:r>
          </a:p>
          <a:p>
            <a:pPr lvl="1">
              <a:defRPr/>
            </a:pPr>
            <a:r>
              <a:rPr lang="zh-CN" altLang="en-US"/>
              <a:t>位于用户与操作系统之间的一层</a:t>
            </a:r>
            <a:r>
              <a:rPr lang="zh-CN" altLang="en-US">
                <a:solidFill>
                  <a:srgbClr val="FF0000"/>
                </a:solidFill>
              </a:rPr>
              <a:t>数据管理软件</a:t>
            </a:r>
            <a:endParaRPr lang="en-US" altLang="zh-CN">
              <a:solidFill>
                <a:srgbClr val="FF0000"/>
              </a:solidFill>
            </a:endParaRPr>
          </a:p>
          <a:p>
            <a:pPr lvl="1">
              <a:defRPr/>
            </a:pPr>
            <a:r>
              <a:rPr lang="zh-CN" altLang="en-US"/>
              <a:t>是基础软件，</a:t>
            </a:r>
            <a:r>
              <a:rPr lang="zh-CN" altLang="en-US">
                <a:latin typeface="宋体" pitchFamily="2" charset="-122"/>
              </a:rPr>
              <a:t>是一个大型复杂的</a:t>
            </a:r>
            <a:r>
              <a:rPr lang="zh-CN" altLang="en-US">
                <a:solidFill>
                  <a:srgbClr val="FF0000"/>
                </a:solidFill>
                <a:latin typeface="宋体" pitchFamily="2" charset="-122"/>
              </a:rPr>
              <a:t>软件系统</a:t>
            </a:r>
            <a:endParaRPr lang="en-US" altLang="zh-CN">
              <a:solidFill>
                <a:srgbClr val="FF0000"/>
              </a:solidFill>
              <a:latin typeface="宋体" pitchFamily="2" charset="-122"/>
            </a:endParaRPr>
          </a:p>
          <a:p>
            <a:pPr lvl="1">
              <a:defRPr/>
            </a:pPr>
            <a:r>
              <a:rPr lang="zh-CN" altLang="en-US">
                <a:solidFill>
                  <a:srgbClr val="FF0000"/>
                </a:solidFill>
              </a:rPr>
              <a:t>总是基于某种数据模型</a:t>
            </a:r>
            <a:r>
              <a:rPr lang="zh-CN" altLang="en-US"/>
              <a:t>，如层次型、网状型、关系型和面向对象型等</a:t>
            </a:r>
          </a:p>
          <a:p>
            <a:endParaRPr lang="zh-CN" altLang="en-US"/>
          </a:p>
          <a:p>
            <a:endParaRPr lang="zh-CN" altLang="en-US"/>
          </a:p>
        </p:txBody>
      </p:sp>
      <p:grpSp>
        <p:nvGrpSpPr>
          <p:cNvPr id="8" name="组合 7">
            <a:extLst>
              <a:ext uri="{FF2B5EF4-FFF2-40B4-BE49-F238E27FC236}">
                <a16:creationId xmlns:a16="http://schemas.microsoft.com/office/drawing/2014/main" id="{53831A08-076A-4008-8F06-021A383EA709}"/>
              </a:ext>
            </a:extLst>
          </p:cNvPr>
          <p:cNvGrpSpPr/>
          <p:nvPr/>
        </p:nvGrpSpPr>
        <p:grpSpPr>
          <a:xfrm>
            <a:off x="4148675" y="3182511"/>
            <a:ext cx="3444821" cy="2522550"/>
            <a:chOff x="8458200" y="4372908"/>
            <a:chExt cx="2232025" cy="1668323"/>
          </a:xfrm>
        </p:grpSpPr>
        <p:sp>
          <p:nvSpPr>
            <p:cNvPr id="9" name="AutoShape 29">
              <a:extLst>
                <a:ext uri="{FF2B5EF4-FFF2-40B4-BE49-F238E27FC236}">
                  <a16:creationId xmlns:a16="http://schemas.microsoft.com/office/drawing/2014/main" id="{B20EABBE-FAB5-4873-B138-A9AD0C5016AB}"/>
                </a:ext>
              </a:extLst>
            </p:cNvPr>
            <p:cNvSpPr>
              <a:spLocks noChangeArrowheads="1"/>
            </p:cNvSpPr>
            <p:nvPr/>
          </p:nvSpPr>
          <p:spPr bwMode="auto">
            <a:xfrm>
              <a:off x="8458200" y="4383881"/>
              <a:ext cx="1728788" cy="165735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solidFill>
            <a:ln w="9525">
              <a:solidFill>
                <a:srgbClr val="000000"/>
              </a:solidFill>
              <a:round/>
              <a:headEnd/>
              <a:tailEnd/>
            </a:ln>
          </p:spPr>
          <p:txBody>
            <a:bodyPr tIns="0" bIns="1080000"/>
            <a:lstStyle/>
            <a:p>
              <a:endParaRPr lang="zh-CN" altLang="en-US"/>
            </a:p>
          </p:txBody>
        </p:sp>
        <p:sp>
          <p:nvSpPr>
            <p:cNvPr id="10" name="AutoShape 30">
              <a:extLst>
                <a:ext uri="{FF2B5EF4-FFF2-40B4-BE49-F238E27FC236}">
                  <a16:creationId xmlns:a16="http://schemas.microsoft.com/office/drawing/2014/main" id="{3253313E-3464-4B3E-953C-416A3C7727FE}"/>
                </a:ext>
              </a:extLst>
            </p:cNvPr>
            <p:cNvSpPr>
              <a:spLocks noChangeArrowheads="1"/>
            </p:cNvSpPr>
            <p:nvPr/>
          </p:nvSpPr>
          <p:spPr bwMode="auto">
            <a:xfrm>
              <a:off x="8824643" y="4762743"/>
              <a:ext cx="1104900" cy="1081088"/>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3">
                <a:lumMod val="20000"/>
                <a:lumOff val="80000"/>
              </a:schemeClr>
            </a:solidFill>
            <a:ln w="9525">
              <a:solidFill>
                <a:srgbClr val="000000"/>
              </a:solidFill>
              <a:round/>
              <a:headEnd/>
              <a:tailEnd/>
            </a:ln>
          </p:spPr>
          <p:txBody>
            <a:bodyPr lIns="0" tIns="0" rIns="0" bIns="576000"/>
            <a:lstStyle/>
            <a:p>
              <a:endParaRPr lang="zh-CN" altLang="en-US"/>
            </a:p>
          </p:txBody>
        </p:sp>
        <p:sp>
          <p:nvSpPr>
            <p:cNvPr id="11" name="AutoShape 31">
              <a:extLst>
                <a:ext uri="{FF2B5EF4-FFF2-40B4-BE49-F238E27FC236}">
                  <a16:creationId xmlns:a16="http://schemas.microsoft.com/office/drawing/2014/main" id="{337D3319-75CD-4283-B94D-7AC271E8A624}"/>
                </a:ext>
              </a:extLst>
            </p:cNvPr>
            <p:cNvSpPr>
              <a:spLocks noChangeArrowheads="1"/>
            </p:cNvSpPr>
            <p:nvPr/>
          </p:nvSpPr>
          <p:spPr bwMode="auto">
            <a:xfrm>
              <a:off x="9106004" y="5055224"/>
              <a:ext cx="542036" cy="508956"/>
            </a:xfrm>
            <a:prstGeom prst="flowChartConnector">
              <a:avLst/>
            </a:prstGeom>
            <a:solidFill>
              <a:srgbClr val="FFC000"/>
            </a:solidFill>
            <a:ln>
              <a:noFill/>
            </a:ln>
          </p:spPr>
          <p:txBody>
            <a:bodyPr lIns="0" tIns="0" rIns="0" bIns="0"/>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1">
                  <a:solidFill>
                    <a:srgbClr val="0000FF"/>
                  </a:solidFill>
                  <a:latin typeface="微软雅黑" panose="020B0503020204020204" pitchFamily="34" charset="-122"/>
                  <a:ea typeface="微软雅黑" panose="020B0503020204020204" pitchFamily="34" charset="-122"/>
                  <a:cs typeface="Times New Roman" pitchFamily="18" charset="0"/>
                </a:rPr>
                <a:t>DB</a:t>
              </a:r>
              <a:endParaRPr lang="en-US" altLang="zh-CN" sz="1800" b="1" dirty="0">
                <a:solidFill>
                  <a:srgbClr val="0000FF"/>
                </a:solidFill>
                <a:latin typeface="微软雅黑" panose="020B0503020204020204" pitchFamily="34" charset="-122"/>
                <a:ea typeface="微软雅黑" panose="020B0503020204020204" pitchFamily="34" charset="-122"/>
              </a:endParaRPr>
            </a:p>
          </p:txBody>
        </p:sp>
        <p:sp>
          <p:nvSpPr>
            <p:cNvPr id="12" name="Rectangle 32">
              <a:extLst>
                <a:ext uri="{FF2B5EF4-FFF2-40B4-BE49-F238E27FC236}">
                  <a16:creationId xmlns:a16="http://schemas.microsoft.com/office/drawing/2014/main" id="{F638B968-DF3E-4CE1-8789-B78DF1DE103E}"/>
                </a:ext>
              </a:extLst>
            </p:cNvPr>
            <p:cNvSpPr>
              <a:spLocks noChangeArrowheads="1"/>
            </p:cNvSpPr>
            <p:nvPr/>
          </p:nvSpPr>
          <p:spPr bwMode="auto">
            <a:xfrm>
              <a:off x="9952038" y="4455117"/>
              <a:ext cx="738187" cy="33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1200" b="1" dirty="0">
                  <a:latin typeface="微软雅黑" panose="020B0503020204020204" pitchFamily="34" charset="-122"/>
                  <a:ea typeface="微软雅黑" panose="020B0503020204020204" pitchFamily="34" charset="-122"/>
                  <a:cs typeface="Times New Roman" pitchFamily="18" charset="0"/>
                </a:rPr>
                <a:t> </a:t>
              </a:r>
              <a:r>
                <a:rPr lang="zh-CN" altLang="en-US" sz="1800" b="1" dirty="0">
                  <a:solidFill>
                    <a:srgbClr val="0000FF"/>
                  </a:solidFill>
                  <a:latin typeface="微软雅黑" panose="020B0503020204020204" pitchFamily="34" charset="-122"/>
                  <a:ea typeface="微软雅黑" panose="020B0503020204020204" pitchFamily="34" charset="-122"/>
                  <a:cs typeface="Times New Roman" pitchFamily="18" charset="0"/>
                </a:rPr>
                <a:t>用户</a:t>
              </a:r>
              <a:endParaRPr lang="zh-CN" altLang="en-US" sz="1800" b="1" dirty="0">
                <a:solidFill>
                  <a:srgbClr val="0000FF"/>
                </a:solidFill>
                <a:latin typeface="微软雅黑" panose="020B0503020204020204" pitchFamily="34" charset="-122"/>
                <a:ea typeface="微软雅黑" panose="020B0503020204020204" pitchFamily="34" charset="-122"/>
              </a:endParaRPr>
            </a:p>
          </p:txBody>
        </p:sp>
        <p:sp>
          <p:nvSpPr>
            <p:cNvPr id="13" name="Rectangle 32">
              <a:extLst>
                <a:ext uri="{FF2B5EF4-FFF2-40B4-BE49-F238E27FC236}">
                  <a16:creationId xmlns:a16="http://schemas.microsoft.com/office/drawing/2014/main" id="{5B9CBC1B-DE2D-4411-868B-02140B35A645}"/>
                </a:ext>
              </a:extLst>
            </p:cNvPr>
            <p:cNvSpPr>
              <a:spLocks noChangeArrowheads="1"/>
            </p:cNvSpPr>
            <p:nvPr/>
          </p:nvSpPr>
          <p:spPr bwMode="auto">
            <a:xfrm>
              <a:off x="8832140" y="4372908"/>
              <a:ext cx="827089" cy="507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1200" b="1">
                  <a:latin typeface="微软雅黑" panose="020B0503020204020204" pitchFamily="34" charset="-122"/>
                  <a:ea typeface="微软雅黑" panose="020B0503020204020204" pitchFamily="34" charset="-122"/>
                  <a:cs typeface="Times New Roman" pitchFamily="18" charset="0"/>
                </a:rPr>
                <a:t> </a:t>
              </a:r>
              <a:r>
                <a:rPr lang="en-US" altLang="zh-CN" sz="1800" b="1">
                  <a:solidFill>
                    <a:srgbClr val="0000FF"/>
                  </a:solidFill>
                  <a:latin typeface="微软雅黑" panose="020B0503020204020204" pitchFamily="34" charset="-122"/>
                  <a:ea typeface="微软雅黑" panose="020B0503020204020204" pitchFamily="34" charset="-122"/>
                  <a:cs typeface="Times New Roman" pitchFamily="18" charset="0"/>
                </a:rPr>
                <a:t>DBMS</a:t>
              </a:r>
              <a:endParaRPr lang="zh-CN" altLang="en-US" sz="1800" b="1">
                <a:solidFill>
                  <a:srgbClr val="0000FF"/>
                </a:solidFill>
                <a:latin typeface="微软雅黑" panose="020B0503020204020204" pitchFamily="34" charset="-122"/>
                <a:ea typeface="微软雅黑" panose="020B0503020204020204" pitchFamily="34" charset="-122"/>
              </a:endParaRPr>
            </a:p>
          </p:txBody>
        </p:sp>
        <p:sp>
          <p:nvSpPr>
            <p:cNvPr id="14" name="Rectangle 32">
              <a:extLst>
                <a:ext uri="{FF2B5EF4-FFF2-40B4-BE49-F238E27FC236}">
                  <a16:creationId xmlns:a16="http://schemas.microsoft.com/office/drawing/2014/main" id="{4C587A2E-F653-4186-AEEB-1BAA34CDA805}"/>
                </a:ext>
              </a:extLst>
            </p:cNvPr>
            <p:cNvSpPr>
              <a:spLocks noChangeArrowheads="1"/>
            </p:cNvSpPr>
            <p:nvPr/>
          </p:nvSpPr>
          <p:spPr bwMode="auto">
            <a:xfrm>
              <a:off x="9237682" y="4730573"/>
              <a:ext cx="739775" cy="33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1200" b="1">
                  <a:latin typeface="微软雅黑" panose="020B0503020204020204" pitchFamily="34" charset="-122"/>
                  <a:ea typeface="微软雅黑" panose="020B0503020204020204" pitchFamily="34" charset="-122"/>
                  <a:cs typeface="Times New Roman" pitchFamily="18" charset="0"/>
                </a:rPr>
                <a:t> </a:t>
              </a:r>
              <a:r>
                <a:rPr lang="en-US" altLang="zh-CN" sz="1800" b="1">
                  <a:solidFill>
                    <a:srgbClr val="0000FF"/>
                  </a:solidFill>
                  <a:latin typeface="微软雅黑" panose="020B0503020204020204" pitchFamily="34" charset="-122"/>
                  <a:ea typeface="微软雅黑" panose="020B0503020204020204" pitchFamily="34" charset="-122"/>
                  <a:cs typeface="Times New Roman" pitchFamily="18" charset="0"/>
                </a:rPr>
                <a:t>OS</a:t>
              </a:r>
              <a:endParaRPr lang="zh-CN" altLang="en-US" sz="1800" b="1">
                <a:solidFill>
                  <a:srgbClr val="0000FF"/>
                </a:solidFill>
                <a:latin typeface="微软雅黑" panose="020B0503020204020204" pitchFamily="34" charset="-122"/>
                <a:ea typeface="微软雅黑" panose="020B0503020204020204" pitchFamily="34" charset="-122"/>
                <a:cs typeface="Times New Roman" pitchFamily="18" charset="0"/>
              </a:endParaRPr>
            </a:p>
          </p:txBody>
        </p:sp>
      </p:grpSp>
    </p:spTree>
    <p:extLst>
      <p:ext uri="{BB962C8B-B14F-4D97-AF65-F5344CB8AC3E}">
        <p14:creationId xmlns:p14="http://schemas.microsoft.com/office/powerpoint/2010/main" val="168838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~DBMS</a:t>
            </a:r>
            <a:r>
              <a:rPr lang="zh-CN" altLang="en-US" dirty="0"/>
              <a:t>的协同工作机制</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15" name="内容占位符 4">
            <a:extLst>
              <a:ext uri="{FF2B5EF4-FFF2-40B4-BE49-F238E27FC236}">
                <a16:creationId xmlns:a16="http://schemas.microsoft.com/office/drawing/2014/main" id="{64C8D0B8-473F-4562-B978-5FAEA9613CD3}"/>
              </a:ext>
            </a:extLst>
          </p:cNvPr>
          <p:cNvPicPr>
            <a:picLocks noGrp="1" noChangeAspect="1"/>
          </p:cNvPicPr>
          <p:nvPr>
            <p:ph idx="1"/>
          </p:nvPr>
        </p:nvPicPr>
        <p:blipFill rotWithShape="1">
          <a:blip r:embed="rId2"/>
          <a:srcRect l="1119" t="6267" r="850"/>
          <a:stretch/>
        </p:blipFill>
        <p:spPr>
          <a:xfrm>
            <a:off x="695739" y="1321904"/>
            <a:ext cx="10436088" cy="4140675"/>
          </a:xfrm>
          <a:prstGeom prst="rect">
            <a:avLst/>
          </a:prstGeom>
        </p:spPr>
      </p:pic>
    </p:spTree>
    <p:extLst>
      <p:ext uri="{BB962C8B-B14F-4D97-AF65-F5344CB8AC3E}">
        <p14:creationId xmlns:p14="http://schemas.microsoft.com/office/powerpoint/2010/main" val="2298920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~DBMS</a:t>
            </a:r>
            <a:r>
              <a:rPr lang="zh-CN" altLang="en-US" dirty="0"/>
              <a:t>的</a:t>
            </a:r>
            <a:r>
              <a:rPr lang="en-US" altLang="zh-CN" dirty="0"/>
              <a:t>6</a:t>
            </a:r>
            <a:r>
              <a:rPr lang="zh-CN" altLang="en-US" dirty="0"/>
              <a:t>个主要功能</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graphicFrame>
        <p:nvGraphicFramePr>
          <p:cNvPr id="8" name="内容占位符 6">
            <a:extLst>
              <a:ext uri="{FF2B5EF4-FFF2-40B4-BE49-F238E27FC236}">
                <a16:creationId xmlns:a16="http://schemas.microsoft.com/office/drawing/2014/main" id="{0E6199F5-B546-4CCE-A7BE-E698DF759CBA}"/>
              </a:ext>
            </a:extLst>
          </p:cNvPr>
          <p:cNvGraphicFramePr>
            <a:graphicFrameLocks/>
          </p:cNvGraphicFramePr>
          <p:nvPr>
            <p:extLst>
              <p:ext uri="{D42A27DB-BD31-4B8C-83A1-F6EECF244321}">
                <p14:modId xmlns:p14="http://schemas.microsoft.com/office/powerpoint/2010/main" val="3171040879"/>
              </p:ext>
            </p:extLst>
          </p:nvPr>
        </p:nvGraphicFramePr>
        <p:xfrm>
          <a:off x="556592" y="961860"/>
          <a:ext cx="11002618" cy="5375656"/>
        </p:xfrm>
        <a:graphic>
          <a:graphicData uri="http://schemas.openxmlformats.org/drawingml/2006/table">
            <a:tbl>
              <a:tblPr firstRow="1" bandRow="1">
                <a:tableStyleId>{5940675A-B579-460E-94D1-54222C63F5DA}</a:tableStyleId>
              </a:tblPr>
              <a:tblGrid>
                <a:gridCol w="3677398">
                  <a:extLst>
                    <a:ext uri="{9D8B030D-6E8A-4147-A177-3AD203B41FA5}">
                      <a16:colId xmlns:a16="http://schemas.microsoft.com/office/drawing/2014/main" val="2421360598"/>
                    </a:ext>
                  </a:extLst>
                </a:gridCol>
                <a:gridCol w="7325220">
                  <a:extLst>
                    <a:ext uri="{9D8B030D-6E8A-4147-A177-3AD203B41FA5}">
                      <a16:colId xmlns:a16="http://schemas.microsoft.com/office/drawing/2014/main" val="1528896319"/>
                    </a:ext>
                  </a:extLst>
                </a:gridCol>
              </a:tblGrid>
              <a:tr h="201019">
                <a:tc>
                  <a:txBody>
                    <a:bodyPr/>
                    <a:lstStyle/>
                    <a:p>
                      <a:pPr algn="ctr"/>
                      <a:r>
                        <a:rPr lang="zh-CN" altLang="en-US" sz="2200" b="1" baseline="0">
                          <a:solidFill>
                            <a:srgbClr val="FF0000"/>
                          </a:solidFill>
                          <a:latin typeface="HarmonyOS Sans SC Medium" panose="00000600000000000000" pitchFamily="2" charset="-122"/>
                          <a:ea typeface="阿里巴巴普惠体 3.0 55 Regular" panose="00020600040101010101" pitchFamily="18" charset="-122"/>
                        </a:rPr>
                        <a:t>主要功能</a:t>
                      </a:r>
                    </a:p>
                  </a:txBody>
                  <a:tcP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a:ln>
                            <a:noFill/>
                          </a:ln>
                          <a:solidFill>
                            <a:srgbClr val="FF0000"/>
                          </a:solidFill>
                          <a:effectLst/>
                          <a:uLnTx/>
                          <a:uFillTx/>
                          <a:latin typeface="HarmonyOS Sans SC Medium" panose="00000600000000000000" pitchFamily="2" charset="-122"/>
                          <a:ea typeface="阿里巴巴普惠体 3.0 55 Regular" panose="00020600040101010101" pitchFamily="18" charset="-122"/>
                          <a:cs typeface="+mn-cs"/>
                        </a:rPr>
                        <a:t>主要内容</a:t>
                      </a:r>
                    </a:p>
                  </a:txBody>
                  <a:tcPr>
                    <a:solidFill>
                      <a:schemeClr val="accent3">
                        <a:lumMod val="40000"/>
                        <a:lumOff val="60000"/>
                      </a:schemeClr>
                    </a:solidFill>
                  </a:tcPr>
                </a:tc>
                <a:extLst>
                  <a:ext uri="{0D108BD9-81ED-4DB2-BD59-A6C34878D82A}">
                    <a16:rowId xmlns:a16="http://schemas.microsoft.com/office/drawing/2014/main" val="3285293063"/>
                  </a:ext>
                </a:extLst>
              </a:tr>
              <a:tr h="520296">
                <a:tc>
                  <a:txBody>
                    <a:bodyPr/>
                    <a:lstStyle/>
                    <a:p>
                      <a:r>
                        <a:rPr lang="en-US" altLang="zh-CN" sz="1800" b="1" baseline="0">
                          <a:solidFill>
                            <a:srgbClr val="0000CC"/>
                          </a:solidFill>
                          <a:latin typeface="HarmonyOS Sans SC Medium" panose="00000600000000000000" pitchFamily="2" charset="-122"/>
                          <a:ea typeface="阿里巴巴普惠体 3.0 55 Regular" panose="00020600040101010101" pitchFamily="18" charset="-122"/>
                        </a:rPr>
                        <a:t>1.</a:t>
                      </a:r>
                      <a:r>
                        <a:rPr lang="zh-CN" altLang="en-US" sz="1800" b="1" baseline="0">
                          <a:solidFill>
                            <a:srgbClr val="0000CC"/>
                          </a:solidFill>
                          <a:latin typeface="HarmonyOS Sans SC Medium" panose="00000600000000000000" pitchFamily="2" charset="-122"/>
                          <a:ea typeface="阿里巴巴普惠体 3.0 55 Regular" panose="00020600040101010101" pitchFamily="18" charset="-122"/>
                        </a:rPr>
                        <a:t>数据定义功能</a:t>
                      </a:r>
                    </a:p>
                  </a:txBody>
                  <a:tcPr>
                    <a:lnB w="12700" cap="flat" cmpd="sng" algn="ctr">
                      <a:solidFill>
                        <a:schemeClr val="tx1"/>
                      </a:solidFill>
                      <a:prstDash val="solid"/>
                      <a:round/>
                      <a:headEnd type="none" w="med" len="med"/>
                      <a:tailEnd type="none" w="med" len="med"/>
                    </a:lnB>
                  </a:tcPr>
                </a:tc>
                <a:tc>
                  <a:txBody>
                    <a:bodyPr/>
                    <a:lstStyle/>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提供</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数据定义语言</a:t>
                      </a:r>
                      <a:r>
                        <a:rPr lang="en-US" altLang="zh-CN" sz="1400" baseline="0">
                          <a:solidFill>
                            <a:srgbClr val="0000CC"/>
                          </a:solidFill>
                          <a:latin typeface="HarmonyOS Sans SC Medium" panose="00000600000000000000" pitchFamily="2" charset="-122"/>
                          <a:ea typeface="阿里巴巴普惠体 3.0 55 Regular" panose="00020600040101010101" pitchFamily="18" charset="-122"/>
                        </a:rPr>
                        <a:t>DDL</a:t>
                      </a:r>
                      <a:r>
                        <a:rPr lang="en-US" altLang="zh-CN" sz="1400" baseline="0">
                          <a:solidFill>
                            <a:srgbClr val="C00000"/>
                          </a:solidFill>
                          <a:latin typeface="HarmonyOS Sans SC Medium" panose="00000600000000000000" pitchFamily="2" charset="-122"/>
                          <a:ea typeface="阿里巴巴普惠体 3.0 55 Regular" panose="00020600040101010101" pitchFamily="18" charset="-122"/>
                        </a:rPr>
                        <a:t>(Data definition language)</a:t>
                      </a:r>
                    </a:p>
                    <a:p>
                      <a:pPr marL="179388" marR="0" lvl="0" indent="-179388"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定义数据库中数据对象的</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组成与结构</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6570117"/>
                  </a:ext>
                </a:extLst>
              </a:tr>
              <a:tr h="0">
                <a:tc>
                  <a:txBody>
                    <a:bodyPr/>
                    <a:lstStyle/>
                    <a:p>
                      <a:r>
                        <a:rPr lang="en-US" altLang="zh-CN" sz="1800" b="1" baseline="0">
                          <a:solidFill>
                            <a:srgbClr val="0000CC"/>
                          </a:solidFill>
                          <a:latin typeface="HarmonyOS Sans SC Medium" panose="00000600000000000000" pitchFamily="2" charset="-122"/>
                          <a:ea typeface="阿里巴巴普惠体 3.0 55 Regular" panose="00020600040101010101" pitchFamily="18" charset="-122"/>
                        </a:rPr>
                        <a:t>2.</a:t>
                      </a:r>
                      <a:r>
                        <a:rPr lang="zh-CN" altLang="en-US" sz="1800" b="1" baseline="0">
                          <a:solidFill>
                            <a:srgbClr val="0000CC"/>
                          </a:solidFill>
                          <a:latin typeface="HarmonyOS Sans SC Medium" panose="00000600000000000000" pitchFamily="2" charset="-122"/>
                          <a:ea typeface="阿里巴巴普惠体 3.0 55 Regular" panose="00020600040101010101" pitchFamily="18" charset="-122"/>
                        </a:rPr>
                        <a:t>数据组织、存储和管理功能</a:t>
                      </a:r>
                      <a:endParaRPr lang="en-US" altLang="zh-CN" sz="1800" b="1" baseline="0">
                        <a:solidFill>
                          <a:srgbClr val="0000CC"/>
                        </a:solidFill>
                        <a:latin typeface="HarmonyOS Sans SC Medium" panose="00000600000000000000" pitchFamily="2" charset="-122"/>
                        <a:ea typeface="阿里巴巴普惠体 3.0 55 Regular" panose="00020600040101010101" pitchFamily="18" charset="-122"/>
                      </a:endParaRPr>
                    </a:p>
                  </a:txBody>
                  <a:tcPr>
                    <a:lnT w="12700" cap="flat" cmpd="sng" algn="ctr">
                      <a:solidFill>
                        <a:schemeClr val="tx1"/>
                      </a:solidFill>
                      <a:prstDash val="solid"/>
                      <a:round/>
                      <a:headEnd type="none" w="med" len="med"/>
                      <a:tailEnd type="none" w="med" len="med"/>
                    </a:lnT>
                  </a:tcPr>
                </a:tc>
                <a:tc>
                  <a:txBody>
                    <a:bodyPr/>
                    <a:lstStyle/>
                    <a:p>
                      <a:pPr marL="179388" indent="-179388">
                        <a:lnSpc>
                          <a:spcPct val="110000"/>
                        </a:lnSpc>
                        <a:buFont typeface="Arial" panose="020B0604020202020204" pitchFamily="34" charset="0"/>
                        <a:buChar char="•"/>
                      </a:pPr>
                      <a:r>
                        <a:rPr lang="zh-CN" altLang="en-US" sz="1400" baseline="0">
                          <a:solidFill>
                            <a:srgbClr val="0000FF"/>
                          </a:solidFill>
                          <a:latin typeface="HarmonyOS Sans SC Medium" panose="00000600000000000000" pitchFamily="2" charset="-122"/>
                          <a:ea typeface="阿里巴巴普惠体 3.0 55 Regular" panose="00020600040101010101" pitchFamily="18" charset="-122"/>
                        </a:rPr>
                        <a:t>分类</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组织</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存储</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和</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管理</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各种数据</a:t>
                      </a:r>
                      <a:r>
                        <a:rPr lang="en-US" altLang="zh-CN" sz="1400" baseline="0">
                          <a:solidFill>
                            <a:srgbClr val="C00000"/>
                          </a:solidFill>
                          <a:latin typeface="HarmonyOS Sans SC Medium" panose="00000600000000000000" pitchFamily="2" charset="-122"/>
                          <a:ea typeface="阿里巴巴普惠体 3.0 55 Regular" panose="00020600040101010101" pitchFamily="18" charset="-122"/>
                        </a:rPr>
                        <a:t>(</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包括数据字典、用户数据、数据存取路径等</a:t>
                      </a:r>
                      <a:r>
                        <a:rPr lang="en-US" altLang="zh-CN" sz="1400" baseline="0">
                          <a:solidFill>
                            <a:srgbClr val="C00000"/>
                          </a:solidFill>
                          <a:latin typeface="HarmonyOS Sans SC Medium" panose="00000600000000000000" pitchFamily="2" charset="-122"/>
                          <a:ea typeface="阿里巴巴普惠体 3.0 55 Regular" panose="00020600040101010101" pitchFamily="18" charset="-122"/>
                        </a:rPr>
                        <a:t>)</a:t>
                      </a:r>
                      <a:endParaRPr lang="zh-CN" altLang="en-US" sz="1400" baseline="0">
                        <a:solidFill>
                          <a:srgbClr val="C00000"/>
                        </a:solidFill>
                        <a:latin typeface="HarmonyOS Sans SC Medium" panose="00000600000000000000" pitchFamily="2" charset="-122"/>
                        <a:ea typeface="阿里巴巴普惠体 3.0 55 Regular" panose="00020600040101010101" pitchFamily="18" charset="-122"/>
                      </a:endParaRPr>
                    </a:p>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确定以何种</a:t>
                      </a:r>
                      <a:r>
                        <a:rPr lang="zh-CN" altLang="en-US" sz="1400" baseline="0">
                          <a:solidFill>
                            <a:srgbClr val="0000FF"/>
                          </a:solidFill>
                          <a:latin typeface="HarmonyOS Sans SC Medium" panose="00000600000000000000" pitchFamily="2" charset="-122"/>
                          <a:ea typeface="阿里巴巴普惠体 3.0 55 Regular" panose="00020600040101010101" pitchFamily="18" charset="-122"/>
                        </a:rPr>
                        <a:t>文件结构</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和</a:t>
                      </a:r>
                      <a:r>
                        <a:rPr lang="zh-CN" altLang="en-US" sz="1400" baseline="0">
                          <a:solidFill>
                            <a:srgbClr val="0000FF"/>
                          </a:solidFill>
                          <a:latin typeface="HarmonyOS Sans SC Medium" panose="00000600000000000000" pitchFamily="2" charset="-122"/>
                          <a:ea typeface="阿里巴巴普惠体 3.0 55 Regular" panose="00020600040101010101" pitchFamily="18" charset="-122"/>
                        </a:rPr>
                        <a:t>存取方式</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在存储器上组织数据，如何实现</a:t>
                      </a:r>
                      <a:r>
                        <a:rPr lang="zh-CN" altLang="en-US" sz="1400" baseline="0">
                          <a:solidFill>
                            <a:srgbClr val="0000FF"/>
                          </a:solidFill>
                          <a:latin typeface="HarmonyOS Sans SC Medium" panose="00000600000000000000" pitchFamily="2" charset="-122"/>
                          <a:ea typeface="阿里巴巴普惠体 3.0 55 Regular" panose="00020600040101010101" pitchFamily="18" charset="-122"/>
                        </a:rPr>
                        <a:t>数据之间的联系</a:t>
                      </a:r>
                      <a:endParaRPr lang="en-US" altLang="zh-CN" sz="1400" baseline="0">
                        <a:solidFill>
                          <a:srgbClr val="0000FF"/>
                        </a:solidFill>
                        <a:latin typeface="HarmonyOS Sans SC Medium" panose="00000600000000000000" pitchFamily="2" charset="-122"/>
                        <a:ea typeface="阿里巴巴普惠体 3.0 55 Regular" panose="00020600040101010101" pitchFamily="18" charset="-122"/>
                      </a:endParaRPr>
                    </a:p>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目标：提高存储空间利用率；存取方便；提供多种存取方法（如索引技术）提高存取效率</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6496103"/>
                  </a:ext>
                </a:extLst>
              </a:tr>
              <a:tr h="144780">
                <a:tc>
                  <a:txBody>
                    <a:bodyPr/>
                    <a:lstStyle/>
                    <a:p>
                      <a:r>
                        <a:rPr lang="en-US" altLang="zh-CN" sz="1800" b="1" baseline="0">
                          <a:solidFill>
                            <a:srgbClr val="0000CC"/>
                          </a:solidFill>
                          <a:latin typeface="HarmonyOS Sans SC Medium" panose="00000600000000000000" pitchFamily="2" charset="-122"/>
                          <a:ea typeface="阿里巴巴普惠体 3.0 55 Regular" panose="00020600040101010101" pitchFamily="18" charset="-122"/>
                        </a:rPr>
                        <a:t>3.</a:t>
                      </a:r>
                      <a:r>
                        <a:rPr lang="zh-CN" altLang="en-US" sz="1800" b="1" baseline="0">
                          <a:solidFill>
                            <a:srgbClr val="0000CC"/>
                          </a:solidFill>
                          <a:latin typeface="HarmonyOS Sans SC Medium" panose="00000600000000000000" pitchFamily="2" charset="-122"/>
                          <a:ea typeface="阿里巴巴普惠体 3.0 55 Regular" panose="00020600040101010101" pitchFamily="18" charset="-122"/>
                        </a:rPr>
                        <a:t>数据操纵功能</a:t>
                      </a:r>
                      <a:endParaRPr lang="en-US" altLang="zh-CN" sz="1800" b="1" baseline="0">
                        <a:solidFill>
                          <a:srgbClr val="0000CC"/>
                        </a:solidFill>
                        <a:latin typeface="HarmonyOS Sans SC Medium" panose="00000600000000000000" pitchFamily="2" charset="-122"/>
                        <a:ea typeface="阿里巴巴普惠体 3.0 55 Regular" panose="00020600040101010101" pitchFamily="18" charset="-122"/>
                      </a:endParaRPr>
                    </a:p>
                  </a:txBody>
                  <a:tcPr/>
                </a:tc>
                <a:tc>
                  <a:txBody>
                    <a:bodyPr/>
                    <a:lstStyle/>
                    <a:p>
                      <a:pPr marL="179388" marR="0" lvl="0" indent="-179388"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C00000"/>
                          </a:solidFill>
                          <a:effectLst/>
                          <a:uLnTx/>
                          <a:uFillTx/>
                          <a:latin typeface="HarmonyOS Sans SC Medium" panose="00000600000000000000" pitchFamily="2" charset="-122"/>
                          <a:ea typeface="阿里巴巴普惠体 3.0 55 Regular" panose="00020600040101010101" pitchFamily="18" charset="-122"/>
                          <a:cs typeface="+mn-cs"/>
                        </a:rPr>
                        <a:t>提供</a:t>
                      </a:r>
                      <a:r>
                        <a:rPr kumimoji="0" lang="zh-CN" altLang="en-US" sz="1400" b="0" i="0" u="none" strike="noStrike" kern="1200" cap="none" spc="0" normalizeH="0" baseline="0" noProof="0">
                          <a:ln>
                            <a:noFill/>
                          </a:ln>
                          <a:solidFill>
                            <a:srgbClr val="0000CC"/>
                          </a:solidFill>
                          <a:effectLst/>
                          <a:uLnTx/>
                          <a:uFillTx/>
                          <a:latin typeface="HarmonyOS Sans SC Medium" panose="00000600000000000000" pitchFamily="2" charset="-122"/>
                          <a:ea typeface="阿里巴巴普惠体 3.0 55 Regular" panose="00020600040101010101" pitchFamily="18" charset="-122"/>
                          <a:cs typeface="+mn-cs"/>
                        </a:rPr>
                        <a:t>数据操纵语言</a:t>
                      </a:r>
                      <a:r>
                        <a:rPr kumimoji="0" lang="en-US" altLang="zh-CN" sz="1400" b="0" i="0" u="none" strike="noStrike" kern="1200" cap="none" spc="0" normalizeH="0" baseline="0" noProof="0">
                          <a:ln>
                            <a:noFill/>
                          </a:ln>
                          <a:solidFill>
                            <a:srgbClr val="0000CC"/>
                          </a:solidFill>
                          <a:effectLst/>
                          <a:uLnTx/>
                          <a:uFillTx/>
                          <a:latin typeface="HarmonyOS Sans SC Medium" panose="00000600000000000000" pitchFamily="2" charset="-122"/>
                          <a:ea typeface="阿里巴巴普惠体 3.0 55 Regular" panose="00020600040101010101" pitchFamily="18" charset="-122"/>
                          <a:cs typeface="+mn-cs"/>
                        </a:rPr>
                        <a:t>DML</a:t>
                      </a:r>
                      <a:r>
                        <a:rPr kumimoji="0" lang="en-US" altLang="zh-CN" sz="1400" b="0" i="0" u="none" strike="noStrike" kern="1200" cap="none" spc="0" normalizeH="0" baseline="0" noProof="0">
                          <a:ln>
                            <a:noFill/>
                          </a:ln>
                          <a:solidFill>
                            <a:srgbClr val="C00000"/>
                          </a:solidFill>
                          <a:effectLst/>
                          <a:uLnTx/>
                          <a:uFillTx/>
                          <a:latin typeface="HarmonyOS Sans SC Medium" panose="00000600000000000000" pitchFamily="2" charset="-122"/>
                          <a:ea typeface="阿里巴巴普惠体 3.0 55 Regular" panose="00020600040101010101" pitchFamily="18" charset="-122"/>
                          <a:cs typeface="+mn-cs"/>
                        </a:rPr>
                        <a:t>(Data manipulation language)</a:t>
                      </a:r>
                    </a:p>
                    <a:p>
                      <a:pPr marL="179388" marR="0" lvl="0" indent="-179388"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C00000"/>
                          </a:solidFill>
                          <a:effectLst/>
                          <a:uLnTx/>
                          <a:uFillTx/>
                          <a:latin typeface="HarmonyOS Sans SC Medium" panose="00000600000000000000" pitchFamily="2" charset="-122"/>
                          <a:ea typeface="阿里巴巴普惠体 3.0 55 Regular" panose="00020600040101010101" pitchFamily="18" charset="-122"/>
                          <a:cs typeface="+mn-cs"/>
                        </a:rPr>
                        <a:t>实现对数据库的基本操作（查询、插入、删除和修改）</a:t>
                      </a:r>
                      <a:endParaRPr kumimoji="0" lang="zh-CN" altLang="en-US" sz="1400" b="0" i="0" u="none" strike="noStrike" kern="1200" cap="none" spc="0" normalizeH="0" baseline="0" noProof="0">
                        <a:ln>
                          <a:noFill/>
                        </a:ln>
                        <a:solidFill>
                          <a:srgbClr val="0000CC"/>
                        </a:solidFill>
                        <a:effectLst/>
                        <a:uLnTx/>
                        <a:uFillTx/>
                        <a:latin typeface="HarmonyOS Sans SC Medium" panose="00000600000000000000" pitchFamily="2" charset="-122"/>
                        <a:ea typeface="阿里巴巴普惠体 3.0 55 Regular" panose="00020600040101010101" pitchFamily="18" charset="-122"/>
                        <a:cs typeface="+mn-cs"/>
                      </a:endParaRPr>
                    </a:p>
                  </a:txBody>
                  <a:tcPr/>
                </a:tc>
                <a:extLst>
                  <a:ext uri="{0D108BD9-81ED-4DB2-BD59-A6C34878D82A}">
                    <a16:rowId xmlns:a16="http://schemas.microsoft.com/office/drawing/2014/main" val="3539317494"/>
                  </a:ext>
                </a:extLst>
              </a:tr>
              <a:tr h="434340">
                <a:tc>
                  <a:txBody>
                    <a:bodyPr/>
                    <a:lstStyle/>
                    <a:p>
                      <a:r>
                        <a:rPr lang="en-US" altLang="zh-CN" sz="1800" b="1" baseline="0">
                          <a:solidFill>
                            <a:srgbClr val="0000CC"/>
                          </a:solidFill>
                          <a:latin typeface="HarmonyOS Sans SC Medium" panose="00000600000000000000" pitchFamily="2" charset="-122"/>
                          <a:ea typeface="阿里巴巴普惠体 3.0 55 Regular" panose="00020600040101010101" pitchFamily="18" charset="-122"/>
                        </a:rPr>
                        <a:t>4.</a:t>
                      </a:r>
                      <a:r>
                        <a:rPr lang="zh-CN" altLang="en-US" sz="1800" b="1" baseline="0">
                          <a:solidFill>
                            <a:srgbClr val="0000CC"/>
                          </a:solidFill>
                          <a:latin typeface="HarmonyOS Sans SC Medium" panose="00000600000000000000" pitchFamily="2" charset="-122"/>
                          <a:ea typeface="阿里巴巴普惠体 3.0 55 Regular" panose="00020600040101010101" pitchFamily="18" charset="-122"/>
                        </a:rPr>
                        <a:t>数据库事务管理和运行管理功能</a:t>
                      </a:r>
                    </a:p>
                  </a:txBody>
                  <a:tcPr/>
                </a:tc>
                <a:tc>
                  <a:txBody>
                    <a:bodyPr/>
                    <a:lstStyle/>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数据库在建立、运行和维护时由数据库管理系统</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统一管理和控制</a:t>
                      </a:r>
                      <a:endParaRPr lang="en-US" altLang="zh-CN" sz="1400" baseline="0">
                        <a:solidFill>
                          <a:srgbClr val="0000CC"/>
                        </a:solidFill>
                        <a:latin typeface="HarmonyOS Sans SC Medium" panose="00000600000000000000" pitchFamily="2" charset="-122"/>
                        <a:ea typeface="阿里巴巴普惠体 3.0 55 Regular" panose="00020600040101010101" pitchFamily="18" charset="-122"/>
                      </a:endParaRPr>
                    </a:p>
                    <a:p>
                      <a:pPr marL="179388" indent="-179388" algn="l" defTabSz="914400" rtl="0" eaLnBrk="1" latinLnBrk="0" hangingPunct="1">
                        <a:lnSpc>
                          <a:spcPct val="110000"/>
                        </a:lnSpc>
                        <a:buFont typeface="Arial" panose="020B0604020202020204" pitchFamily="34" charset="0"/>
                        <a:buChar char="•"/>
                      </a:pPr>
                      <a:r>
                        <a:rPr lang="zh-CN" altLang="en-US" sz="1400" kern="1200" baseline="0">
                          <a:solidFill>
                            <a:srgbClr val="C00000"/>
                          </a:solidFill>
                          <a:latin typeface="HarmonyOS Sans SC Medium" panose="00000600000000000000" pitchFamily="2" charset="-122"/>
                          <a:ea typeface="阿里巴巴普惠体 3.0 55 Regular" panose="00020600040101010101" pitchFamily="18" charset="-122"/>
                          <a:cs typeface="+mn-cs"/>
                        </a:rPr>
                        <a:t>保证数据的</a:t>
                      </a:r>
                      <a:r>
                        <a:rPr lang="zh-CN" altLang="en-US" sz="1400" kern="1200" baseline="0">
                          <a:solidFill>
                            <a:srgbClr val="0000CC"/>
                          </a:solidFill>
                          <a:latin typeface="HarmonyOS Sans SC Medium" panose="00000600000000000000" pitchFamily="2" charset="-122"/>
                          <a:ea typeface="阿里巴巴普惠体 3.0 55 Regular" panose="00020600040101010101" pitchFamily="18" charset="-122"/>
                          <a:cs typeface="+mn-cs"/>
                        </a:rPr>
                        <a:t>安全性、完整性</a:t>
                      </a:r>
                    </a:p>
                    <a:p>
                      <a:pPr marL="179388" indent="-179388" algn="l" defTabSz="914400" rtl="0" eaLnBrk="1" latinLnBrk="0" hangingPunct="1">
                        <a:lnSpc>
                          <a:spcPct val="110000"/>
                        </a:lnSpc>
                        <a:buFont typeface="Arial" panose="020B0604020202020204" pitchFamily="34" charset="0"/>
                        <a:buChar char="•"/>
                      </a:pPr>
                      <a:r>
                        <a:rPr lang="zh-CN" altLang="en-US" sz="1400" kern="1200" baseline="0">
                          <a:solidFill>
                            <a:srgbClr val="C00000"/>
                          </a:solidFill>
                          <a:latin typeface="HarmonyOS Sans SC Medium" panose="00000600000000000000" pitchFamily="2" charset="-122"/>
                          <a:ea typeface="阿里巴巴普惠体 3.0 55 Regular" panose="00020600040101010101" pitchFamily="18" charset="-122"/>
                          <a:cs typeface="+mn-cs"/>
                        </a:rPr>
                        <a:t>多用户对数据的</a:t>
                      </a:r>
                      <a:r>
                        <a:rPr lang="zh-CN" altLang="en-US" sz="1400" kern="1200" baseline="0">
                          <a:solidFill>
                            <a:srgbClr val="0000CC"/>
                          </a:solidFill>
                          <a:latin typeface="HarmonyOS Sans SC Medium" panose="00000600000000000000" pitchFamily="2" charset="-122"/>
                          <a:ea typeface="阿里巴巴普惠体 3.0 55 Regular" panose="00020600040101010101" pitchFamily="18" charset="-122"/>
                          <a:cs typeface="+mn-cs"/>
                        </a:rPr>
                        <a:t>并发</a:t>
                      </a:r>
                      <a:r>
                        <a:rPr lang="zh-CN" altLang="en-US" sz="1400" kern="1200" baseline="0">
                          <a:solidFill>
                            <a:srgbClr val="C00000"/>
                          </a:solidFill>
                          <a:latin typeface="HarmonyOS Sans SC Medium" panose="00000600000000000000" pitchFamily="2" charset="-122"/>
                          <a:ea typeface="阿里巴巴普惠体 3.0 55 Regular" panose="00020600040101010101" pitchFamily="18" charset="-122"/>
                          <a:cs typeface="+mn-cs"/>
                        </a:rPr>
                        <a:t>使用及发生故障后的</a:t>
                      </a:r>
                      <a:r>
                        <a:rPr lang="zh-CN" altLang="en-US" sz="1400" kern="1200" baseline="0">
                          <a:solidFill>
                            <a:srgbClr val="0000CC"/>
                          </a:solidFill>
                          <a:latin typeface="HarmonyOS Sans SC Medium" panose="00000600000000000000" pitchFamily="2" charset="-122"/>
                          <a:ea typeface="阿里巴巴普惠体 3.0 55 Regular" panose="00020600040101010101" pitchFamily="18" charset="-122"/>
                          <a:cs typeface="+mn-cs"/>
                        </a:rPr>
                        <a:t>系统恢复</a:t>
                      </a:r>
                    </a:p>
                  </a:txBody>
                  <a:tcPr/>
                </a:tc>
                <a:extLst>
                  <a:ext uri="{0D108BD9-81ED-4DB2-BD59-A6C34878D82A}">
                    <a16:rowId xmlns:a16="http://schemas.microsoft.com/office/drawing/2014/main" val="2633217960"/>
                  </a:ext>
                </a:extLst>
              </a:tr>
              <a:tr h="289560">
                <a:tc>
                  <a:txBody>
                    <a:bodyPr/>
                    <a:lstStyle/>
                    <a:p>
                      <a:r>
                        <a:rPr lang="en-US" altLang="zh-CN" sz="1800" b="1" baseline="0">
                          <a:solidFill>
                            <a:srgbClr val="0000CC"/>
                          </a:solidFill>
                          <a:latin typeface="HarmonyOS Sans SC Medium" panose="00000600000000000000" pitchFamily="2" charset="-122"/>
                          <a:ea typeface="阿里巴巴普惠体 3.0 55 Regular" panose="00020600040101010101" pitchFamily="18" charset="-122"/>
                        </a:rPr>
                        <a:t>5.</a:t>
                      </a:r>
                      <a:r>
                        <a:rPr lang="zh-CN" altLang="en-US" sz="1800" b="1" baseline="0">
                          <a:solidFill>
                            <a:srgbClr val="0000CC"/>
                          </a:solidFill>
                          <a:latin typeface="HarmonyOS Sans SC Medium" panose="00000600000000000000" pitchFamily="2" charset="-122"/>
                          <a:ea typeface="阿里巴巴普惠体 3.0 55 Regular" panose="00020600040101010101" pitchFamily="18" charset="-122"/>
                        </a:rPr>
                        <a:t>数据库建立和维护功能</a:t>
                      </a:r>
                      <a:endParaRPr lang="en-US" altLang="zh-CN" sz="1800" b="1" baseline="0">
                        <a:solidFill>
                          <a:srgbClr val="0000CC"/>
                        </a:solidFill>
                        <a:latin typeface="HarmonyOS Sans SC Medium" panose="00000600000000000000" pitchFamily="2" charset="-122"/>
                        <a:ea typeface="阿里巴巴普惠体 3.0 55 Regular" panose="00020600040101010101" pitchFamily="18" charset="-122"/>
                      </a:endParaRPr>
                    </a:p>
                  </a:txBody>
                  <a:tcPr/>
                </a:tc>
                <a:tc>
                  <a:txBody>
                    <a:bodyPr/>
                    <a:lstStyle/>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数据库初始数据的</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输入和转换</a:t>
                      </a:r>
                    </a:p>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数据库</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转储</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和</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恢复</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功能</a:t>
                      </a:r>
                    </a:p>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数据库的</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重组织</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性能监视</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和</a:t>
                      </a:r>
                      <a:r>
                        <a:rPr lang="zh-CN" altLang="en-US" sz="1400" baseline="0">
                          <a:solidFill>
                            <a:srgbClr val="0000CC"/>
                          </a:solidFill>
                          <a:latin typeface="HarmonyOS Sans SC Medium" panose="00000600000000000000" pitchFamily="2" charset="-122"/>
                          <a:ea typeface="阿里巴巴普惠体 3.0 55 Regular" panose="00020600040101010101" pitchFamily="18" charset="-122"/>
                        </a:rPr>
                        <a:t>数据分析</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等</a:t>
                      </a:r>
                      <a:endParaRPr lang="en-US" altLang="zh-CN" sz="1400" baseline="0">
                        <a:solidFill>
                          <a:srgbClr val="C00000"/>
                        </a:solidFill>
                        <a:latin typeface="HarmonyOS Sans SC Medium" panose="00000600000000000000" pitchFamily="2" charset="-122"/>
                        <a:ea typeface="阿里巴巴普惠体 3.0 55 Regular" panose="00020600040101010101" pitchFamily="18" charset="-122"/>
                      </a:endParaRPr>
                    </a:p>
                    <a:p>
                      <a:pPr marL="179388" indent="-179388">
                        <a:lnSpc>
                          <a:spcPct val="110000"/>
                        </a:lnSpc>
                        <a:buFont typeface="Arial" panose="020B0604020202020204" pitchFamily="34" charset="0"/>
                        <a:buChar char="•"/>
                      </a:pP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这些功能通常由一些</a:t>
                      </a:r>
                      <a:r>
                        <a:rPr lang="zh-CN" altLang="en-US" sz="1400" baseline="0">
                          <a:solidFill>
                            <a:srgbClr val="0000FF"/>
                          </a:solidFill>
                          <a:latin typeface="HarmonyOS Sans SC Medium" panose="00000600000000000000" pitchFamily="2" charset="-122"/>
                          <a:ea typeface="阿里巴巴普惠体 3.0 55 Regular" panose="00020600040101010101" pitchFamily="18" charset="-122"/>
                        </a:rPr>
                        <a:t>实用程序</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或</a:t>
                      </a:r>
                      <a:r>
                        <a:rPr lang="zh-CN" altLang="en-US" sz="1400" baseline="0">
                          <a:solidFill>
                            <a:srgbClr val="0000FF"/>
                          </a:solidFill>
                          <a:latin typeface="HarmonyOS Sans SC Medium" panose="00000600000000000000" pitchFamily="2" charset="-122"/>
                          <a:ea typeface="阿里巴巴普惠体 3.0 55 Regular" panose="00020600040101010101" pitchFamily="18" charset="-122"/>
                        </a:rPr>
                        <a:t>管理工具</a:t>
                      </a:r>
                      <a:r>
                        <a:rPr lang="zh-CN" altLang="en-US" sz="1400" baseline="0">
                          <a:solidFill>
                            <a:srgbClr val="C00000"/>
                          </a:solidFill>
                          <a:latin typeface="HarmonyOS Sans SC Medium" panose="00000600000000000000" pitchFamily="2" charset="-122"/>
                          <a:ea typeface="阿里巴巴普惠体 3.0 55 Regular" panose="00020600040101010101" pitchFamily="18" charset="-122"/>
                        </a:rPr>
                        <a:t>完成</a:t>
                      </a:r>
                      <a:endParaRPr lang="en-US" altLang="zh-CN" sz="1400" baseline="0">
                        <a:solidFill>
                          <a:srgbClr val="C00000"/>
                        </a:solidFill>
                        <a:latin typeface="HarmonyOS Sans SC Medium" panose="00000600000000000000" pitchFamily="2" charset="-122"/>
                        <a:ea typeface="阿里巴巴普惠体 3.0 55 Regular" panose="00020600040101010101" pitchFamily="18" charset="-122"/>
                      </a:endParaRPr>
                    </a:p>
                    <a:p>
                      <a:pPr marL="179388" indent="-179388">
                        <a:lnSpc>
                          <a:spcPct val="110000"/>
                        </a:lnSpc>
                        <a:buFont typeface="Arial" panose="020B0604020202020204" pitchFamily="34" charset="0"/>
                        <a:buChar char="•"/>
                      </a:pPr>
                      <a:r>
                        <a:rPr lang="en-US" altLang="zh-CN" sz="1400" baseline="0">
                          <a:solidFill>
                            <a:srgbClr val="0000CC"/>
                          </a:solidFill>
                          <a:latin typeface="HarmonyOS Sans SC Medium" panose="00000600000000000000" pitchFamily="2" charset="-122"/>
                          <a:ea typeface="阿里巴巴普惠体 3.0 55 Regular" panose="00020600040101010101" pitchFamily="18" charset="-122"/>
                        </a:rPr>
                        <a:t>AI4DB</a:t>
                      </a:r>
                    </a:p>
                    <a:p>
                      <a:pPr marL="179388" indent="-179388">
                        <a:lnSpc>
                          <a:spcPct val="110000"/>
                        </a:lnSpc>
                        <a:buFont typeface="Arial" panose="020B0604020202020204" pitchFamily="34" charset="0"/>
                        <a:buChar char="•"/>
                      </a:pPr>
                      <a:r>
                        <a:rPr lang="en-US" altLang="zh-CN" sz="1400" baseline="0">
                          <a:solidFill>
                            <a:srgbClr val="0000CC"/>
                          </a:solidFill>
                          <a:latin typeface="HarmonyOS Sans SC Medium" panose="00000600000000000000" pitchFamily="2" charset="-122"/>
                          <a:ea typeface="阿里巴巴普惠体 3.0 55 Regular" panose="00020600040101010101" pitchFamily="18" charset="-122"/>
                        </a:rPr>
                        <a:t>DB4AI</a:t>
                      </a:r>
                      <a:endParaRPr lang="zh-CN" altLang="en-US" sz="1400" baseline="0">
                        <a:solidFill>
                          <a:srgbClr val="0000CC"/>
                        </a:solidFill>
                        <a:latin typeface="HarmonyOS Sans SC Medium" panose="00000600000000000000" pitchFamily="2" charset="-122"/>
                        <a:ea typeface="阿里巴巴普惠体 3.0 55 Regular" panose="00020600040101010101" pitchFamily="18" charset="-122"/>
                      </a:endParaRPr>
                    </a:p>
                  </a:txBody>
                  <a:tcPr/>
                </a:tc>
                <a:extLst>
                  <a:ext uri="{0D108BD9-81ED-4DB2-BD59-A6C34878D82A}">
                    <a16:rowId xmlns:a16="http://schemas.microsoft.com/office/drawing/2014/main" val="399242958"/>
                  </a:ext>
                </a:extLst>
              </a:tr>
              <a:tr h="144780">
                <a:tc>
                  <a:txBody>
                    <a:bodyPr/>
                    <a:lstStyle/>
                    <a:p>
                      <a:r>
                        <a:rPr lang="en-US" altLang="zh-CN" sz="1800" b="1" baseline="0">
                          <a:solidFill>
                            <a:srgbClr val="0000CC"/>
                          </a:solidFill>
                          <a:latin typeface="HarmonyOS Sans SC Medium" panose="00000600000000000000" pitchFamily="2" charset="-122"/>
                          <a:ea typeface="阿里巴巴普惠体 3.0 55 Regular" panose="00020600040101010101" pitchFamily="18" charset="-122"/>
                        </a:rPr>
                        <a:t>6.</a:t>
                      </a:r>
                      <a:r>
                        <a:rPr lang="zh-CN" altLang="en-US" sz="1800" b="1" baseline="0">
                          <a:solidFill>
                            <a:srgbClr val="0000CC"/>
                          </a:solidFill>
                          <a:latin typeface="HarmonyOS Sans SC Medium" panose="00000600000000000000" pitchFamily="2" charset="-122"/>
                          <a:ea typeface="阿里巴巴普惠体 3.0 55 Regular" panose="00020600040101010101" pitchFamily="18" charset="-122"/>
                        </a:rPr>
                        <a:t>其它功能</a:t>
                      </a:r>
                      <a:endParaRPr lang="en-US" altLang="zh-CN" sz="1800" b="1" baseline="0">
                        <a:solidFill>
                          <a:srgbClr val="0000CC"/>
                        </a:solidFill>
                        <a:latin typeface="HarmonyOS Sans SC Medium" panose="00000600000000000000" pitchFamily="2" charset="-122"/>
                        <a:ea typeface="阿里巴巴普惠体 3.0 55 Regular" panose="00020600040101010101" pitchFamily="18" charset="-122"/>
                      </a:endParaRPr>
                    </a:p>
                  </a:txBody>
                  <a:tcPr/>
                </a:tc>
                <a:tc>
                  <a:txBody>
                    <a:bodyPr/>
                    <a:lstStyle/>
                    <a:p>
                      <a:pPr marL="179388" indent="-179388">
                        <a:lnSpc>
                          <a:spcPct val="110000"/>
                        </a:lnSpc>
                        <a:buFont typeface="Arial" panose="020B0604020202020204" pitchFamily="34" charset="0"/>
                        <a:buChar char="•"/>
                      </a:pPr>
                      <a:r>
                        <a:rPr lang="zh-CN" altLang="en-US" sz="1400" baseline="0" dirty="0">
                          <a:solidFill>
                            <a:srgbClr val="C00000"/>
                          </a:solidFill>
                          <a:latin typeface="HarmonyOS Sans SC Medium" panose="00000600000000000000" pitchFamily="2" charset="-122"/>
                          <a:ea typeface="阿里巴巴普惠体 3.0 55 Regular" panose="00020600040101010101" pitchFamily="18" charset="-122"/>
                        </a:rPr>
                        <a:t>数据库管理系统与网络中其他软件系统的</a:t>
                      </a:r>
                      <a:r>
                        <a:rPr lang="zh-CN" altLang="en-US" sz="1400" baseline="0" dirty="0">
                          <a:solidFill>
                            <a:srgbClr val="0000CC"/>
                          </a:solidFill>
                          <a:latin typeface="HarmonyOS Sans SC Medium" panose="00000600000000000000" pitchFamily="2" charset="-122"/>
                          <a:ea typeface="阿里巴巴普惠体 3.0 55 Regular" panose="00020600040101010101" pitchFamily="18" charset="-122"/>
                        </a:rPr>
                        <a:t>通信</a:t>
                      </a:r>
                    </a:p>
                    <a:p>
                      <a:pPr marL="179388" indent="-179388">
                        <a:lnSpc>
                          <a:spcPct val="110000"/>
                        </a:lnSpc>
                        <a:buFont typeface="Arial" panose="020B0604020202020204" pitchFamily="34" charset="0"/>
                        <a:buChar char="•"/>
                      </a:pPr>
                      <a:r>
                        <a:rPr lang="zh-CN" altLang="en-US" sz="1400" baseline="0" dirty="0">
                          <a:solidFill>
                            <a:srgbClr val="C00000"/>
                          </a:solidFill>
                          <a:latin typeface="HarmonyOS Sans SC Medium" panose="00000600000000000000" pitchFamily="2" charset="-122"/>
                          <a:ea typeface="阿里巴巴普惠体 3.0 55 Regular" panose="00020600040101010101" pitchFamily="18" charset="-122"/>
                        </a:rPr>
                        <a:t>数据库管理系统系统之间或与文件系统的</a:t>
                      </a:r>
                      <a:r>
                        <a:rPr lang="zh-CN" altLang="en-US" sz="1400" baseline="0" dirty="0">
                          <a:solidFill>
                            <a:srgbClr val="0000CC"/>
                          </a:solidFill>
                          <a:latin typeface="HarmonyOS Sans SC Medium" panose="00000600000000000000" pitchFamily="2" charset="-122"/>
                          <a:ea typeface="阿里巴巴普惠体 3.0 55 Regular" panose="00020600040101010101" pitchFamily="18" charset="-122"/>
                        </a:rPr>
                        <a:t>数据转换</a:t>
                      </a:r>
                    </a:p>
                    <a:p>
                      <a:pPr marL="179388" indent="-179388">
                        <a:lnSpc>
                          <a:spcPct val="110000"/>
                        </a:lnSpc>
                        <a:buFont typeface="Arial" panose="020B0604020202020204" pitchFamily="34" charset="0"/>
                        <a:buChar char="•"/>
                      </a:pPr>
                      <a:r>
                        <a:rPr lang="zh-CN" altLang="en-US" sz="1400" baseline="0" dirty="0">
                          <a:solidFill>
                            <a:srgbClr val="C00000"/>
                          </a:solidFill>
                          <a:latin typeface="HarmonyOS Sans SC Medium" panose="00000600000000000000" pitchFamily="2" charset="-122"/>
                          <a:ea typeface="阿里巴巴普惠体 3.0 55 Regular" panose="00020600040101010101" pitchFamily="18" charset="-122"/>
                        </a:rPr>
                        <a:t>异构数据库之间的</a:t>
                      </a:r>
                      <a:r>
                        <a:rPr lang="zh-CN" altLang="en-US" sz="1400" baseline="0" dirty="0">
                          <a:solidFill>
                            <a:srgbClr val="0000CC"/>
                          </a:solidFill>
                          <a:latin typeface="HarmonyOS Sans SC Medium" panose="00000600000000000000" pitchFamily="2" charset="-122"/>
                          <a:ea typeface="阿里巴巴普惠体 3.0 55 Regular" panose="00020600040101010101" pitchFamily="18" charset="-122"/>
                        </a:rPr>
                        <a:t>互访</a:t>
                      </a:r>
                      <a:r>
                        <a:rPr lang="zh-CN" altLang="en-US" sz="1400" baseline="0" dirty="0">
                          <a:solidFill>
                            <a:srgbClr val="C00000"/>
                          </a:solidFill>
                          <a:latin typeface="HarmonyOS Sans SC Medium" panose="00000600000000000000" pitchFamily="2" charset="-122"/>
                          <a:ea typeface="阿里巴巴普惠体 3.0 55 Regular" panose="00020600040101010101" pitchFamily="18" charset="-122"/>
                        </a:rPr>
                        <a:t>和</a:t>
                      </a:r>
                      <a:r>
                        <a:rPr lang="zh-CN" altLang="en-US" sz="1400" baseline="0" dirty="0">
                          <a:solidFill>
                            <a:srgbClr val="0000CC"/>
                          </a:solidFill>
                          <a:latin typeface="HarmonyOS Sans SC Medium" panose="00000600000000000000" pitchFamily="2" charset="-122"/>
                          <a:ea typeface="阿里巴巴普惠体 3.0 55 Regular" panose="00020600040101010101" pitchFamily="18" charset="-122"/>
                        </a:rPr>
                        <a:t>互操作</a:t>
                      </a:r>
                      <a:endParaRPr lang="zh-CN" altLang="en-US" sz="1400" baseline="0" dirty="0">
                        <a:latin typeface="HarmonyOS Sans SC Medium" panose="00000600000000000000" pitchFamily="2" charset="-122"/>
                        <a:ea typeface="阿里巴巴普惠体 3.0 55 Regular" panose="00020600040101010101" pitchFamily="18" charset="-122"/>
                      </a:endParaRPr>
                    </a:p>
                  </a:txBody>
                  <a:tcPr/>
                </a:tc>
                <a:extLst>
                  <a:ext uri="{0D108BD9-81ED-4DB2-BD59-A6C34878D82A}">
                    <a16:rowId xmlns:a16="http://schemas.microsoft.com/office/drawing/2014/main" val="3964756161"/>
                  </a:ext>
                </a:extLst>
              </a:tr>
            </a:tbl>
          </a:graphicData>
        </a:graphic>
      </p:graphicFrame>
    </p:spTree>
    <p:extLst>
      <p:ext uri="{BB962C8B-B14F-4D97-AF65-F5344CB8AC3E}">
        <p14:creationId xmlns:p14="http://schemas.microsoft.com/office/powerpoint/2010/main" val="2934876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a:t>
            </a:r>
            <a:r>
              <a:rPr lang="zh-CN" altLang="en-US" dirty="0"/>
              <a:t>国际工业界常见的</a:t>
            </a:r>
            <a:r>
              <a:rPr lang="en-US" altLang="zh-CN" dirty="0"/>
              <a:t>DBMS</a:t>
            </a:r>
            <a:r>
              <a:rPr lang="zh-CN" altLang="en-US" dirty="0"/>
              <a:t>产品排行榜</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7C2F0A7D-9B8A-4892-AB7D-3B3560C38225}"/>
              </a:ext>
            </a:extLst>
          </p:cNvPr>
          <p:cNvSpPr/>
          <p:nvPr/>
        </p:nvSpPr>
        <p:spPr>
          <a:xfrm>
            <a:off x="1222138" y="5549507"/>
            <a:ext cx="4651512" cy="369332"/>
          </a:xfrm>
          <a:prstGeom prst="rect">
            <a:avLst/>
          </a:prstGeom>
        </p:spPr>
        <p:txBody>
          <a:bodyPr wrap="square">
            <a:spAutoFit/>
          </a:bodyPr>
          <a:lstStyle/>
          <a:p>
            <a:r>
              <a:rPr lang="zh-CN" altLang="en-US" dirty="0">
                <a:solidFill>
                  <a:srgbClr val="0000FF"/>
                </a:solidFill>
                <a:latin typeface="Roboto" panose="02000000000000000000" pitchFamily="2" charset="0"/>
                <a:ea typeface="微软雅黑" panose="020B0503020204020204" pitchFamily="34" charset="-122"/>
                <a:cs typeface="Calibri" panose="020F0502020204030204" pitchFamily="34" charset="0"/>
              </a:rPr>
              <a:t>来源：</a:t>
            </a:r>
            <a:r>
              <a:rPr lang="zh-CN" altLang="en-US" dirty="0">
                <a:solidFill>
                  <a:srgbClr val="0000FF"/>
                </a:solidFill>
                <a:latin typeface="Roboto" panose="02000000000000000000" pitchFamily="2" charset="0"/>
                <a:ea typeface="微软雅黑" panose="020B0503020204020204" pitchFamily="34" charset="-122"/>
                <a:cs typeface="Calibri" panose="020F0502020204030204" pitchFamily="34" charset="0"/>
                <a:hlinkClick r:id="rId2">
                  <a:extLst>
                    <a:ext uri="{A12FA001-AC4F-418D-AE19-62706E023703}">
                      <ahyp:hlinkClr xmlns:ahyp="http://schemas.microsoft.com/office/drawing/2018/hyperlinkcolor" val="tx"/>
                    </a:ext>
                  </a:extLst>
                </a:hlinkClick>
              </a:rPr>
              <a:t>https://db-engines.com/en/ranking</a:t>
            </a:r>
            <a:endParaRPr lang="en-US" altLang="zh-CN" dirty="0">
              <a:solidFill>
                <a:srgbClr val="0000FF"/>
              </a:solidFill>
              <a:latin typeface="Roboto" panose="02000000000000000000" pitchFamily="2" charset="0"/>
              <a:ea typeface="微软雅黑" panose="020B0503020204020204" pitchFamily="34" charset="-122"/>
              <a:cs typeface="Calibri" panose="020F0502020204030204" pitchFamily="34" charset="0"/>
            </a:endParaRPr>
          </a:p>
        </p:txBody>
      </p:sp>
      <p:pic>
        <p:nvPicPr>
          <p:cNvPr id="7" name="内容占位符 6">
            <a:extLst>
              <a:ext uri="{FF2B5EF4-FFF2-40B4-BE49-F238E27FC236}">
                <a16:creationId xmlns:a16="http://schemas.microsoft.com/office/drawing/2014/main" id="{A65A7BB6-01B6-3168-76F9-28DB374CF5E6}"/>
              </a:ext>
            </a:extLst>
          </p:cNvPr>
          <p:cNvPicPr>
            <a:picLocks noGrp="1" noChangeAspect="1"/>
          </p:cNvPicPr>
          <p:nvPr>
            <p:ph idx="1"/>
          </p:nvPr>
        </p:nvPicPr>
        <p:blipFill>
          <a:blip r:embed="rId3"/>
          <a:stretch>
            <a:fillRect/>
          </a:stretch>
        </p:blipFill>
        <p:spPr>
          <a:xfrm>
            <a:off x="1304310" y="1228725"/>
            <a:ext cx="9230340" cy="4239154"/>
          </a:xfrm>
        </p:spPr>
      </p:pic>
    </p:spTree>
    <p:extLst>
      <p:ext uri="{BB962C8B-B14F-4D97-AF65-F5344CB8AC3E}">
        <p14:creationId xmlns:p14="http://schemas.microsoft.com/office/powerpoint/2010/main" val="3903903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a:t>
            </a:r>
            <a:r>
              <a:rPr lang="zh-CN" altLang="en-US" dirty="0"/>
              <a:t>中国工业界常见的</a:t>
            </a:r>
            <a:r>
              <a:rPr lang="en-US" altLang="zh-CN" dirty="0"/>
              <a:t>DBMS</a:t>
            </a:r>
            <a:r>
              <a:rPr lang="zh-CN" altLang="en-US" dirty="0"/>
              <a:t>产品排行榜</a:t>
            </a:r>
            <a:r>
              <a:rPr lang="en-US" altLang="zh-CN" dirty="0"/>
              <a:t>(</a:t>
            </a:r>
            <a:r>
              <a:rPr lang="zh-CN" altLang="en-US" dirty="0">
                <a:solidFill>
                  <a:srgbClr val="C00000"/>
                </a:solidFill>
              </a:rPr>
              <a:t>墨天轮</a:t>
            </a:r>
            <a:r>
              <a:rPr lang="en-US" altLang="zh-CN" dirty="0"/>
              <a:t>)</a:t>
            </a:r>
            <a:endParaRPr lang="zh-CN" altLang="en-US" dirty="0"/>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851B2A96-3E9D-4802-9F14-70657D142947}"/>
              </a:ext>
            </a:extLst>
          </p:cNvPr>
          <p:cNvSpPr/>
          <p:nvPr/>
        </p:nvSpPr>
        <p:spPr>
          <a:xfrm>
            <a:off x="1166326" y="5826887"/>
            <a:ext cx="4357802" cy="584775"/>
          </a:xfrm>
          <a:prstGeom prst="rect">
            <a:avLst/>
          </a:prstGeom>
        </p:spPr>
        <p:txBody>
          <a:bodyPr wrap="square">
            <a:spAutoFit/>
          </a:bodyPr>
          <a:lstStyle/>
          <a:p>
            <a:r>
              <a:rPr lang="zh-CN" altLang="en-US" sz="1600" dirty="0">
                <a:solidFill>
                  <a:srgbClr val="0000FF"/>
                </a:solidFill>
                <a:latin typeface="Roboto" panose="02000000000000000000" pitchFamily="2" charset="0"/>
                <a:ea typeface="微软雅黑" panose="020B0503020204020204" pitchFamily="34" charset="-122"/>
                <a:cs typeface="Calibri" panose="020F0502020204030204" pitchFamily="34" charset="0"/>
              </a:rPr>
              <a:t>来源：</a:t>
            </a:r>
            <a:r>
              <a:rPr lang="zh-CN" altLang="en-US" sz="1600" dirty="0">
                <a:solidFill>
                  <a:srgbClr val="0000FF"/>
                </a:solidFill>
                <a:latin typeface="Roboto" panose="02000000000000000000" pitchFamily="2" charset="0"/>
                <a:ea typeface="微软雅黑" panose="020B0503020204020204" pitchFamily="34" charset="-122"/>
                <a:cs typeface="Calibri" panose="020F0502020204030204" pitchFamily="34" charset="0"/>
                <a:hlinkClick r:id="rId2">
                  <a:extLst>
                    <a:ext uri="{A12FA001-AC4F-418D-AE19-62706E023703}">
                      <ahyp:hlinkClr xmlns:ahyp="http://schemas.microsoft.com/office/drawing/2018/hyperlinkcolor" val="tx"/>
                    </a:ext>
                  </a:extLst>
                </a:hlinkClick>
              </a:rPr>
              <a:t>https://www.modb.pro/dbRank</a:t>
            </a:r>
            <a:endParaRPr lang="en-US" altLang="zh-CN" sz="1600" dirty="0">
              <a:solidFill>
                <a:srgbClr val="0000FF"/>
              </a:solidFill>
              <a:latin typeface="Roboto" panose="02000000000000000000" pitchFamily="2" charset="0"/>
              <a:ea typeface="微软雅黑" panose="020B0503020204020204" pitchFamily="34" charset="-122"/>
              <a:cs typeface="Calibri" panose="020F0502020204030204" pitchFamily="34" charset="0"/>
            </a:endParaRPr>
          </a:p>
          <a:p>
            <a:endParaRPr lang="zh-CN" altLang="en-US" sz="1600" dirty="0">
              <a:solidFill>
                <a:srgbClr val="0000FF"/>
              </a:solidFill>
              <a:latin typeface="Roboto" panose="02000000000000000000" pitchFamily="2" charset="0"/>
              <a:ea typeface="微软雅黑" panose="020B0503020204020204" pitchFamily="34" charset="-122"/>
              <a:cs typeface="Calibri" panose="020F0502020204030204" pitchFamily="34" charset="0"/>
            </a:endParaRPr>
          </a:p>
        </p:txBody>
      </p:sp>
      <p:pic>
        <p:nvPicPr>
          <p:cNvPr id="7" name="内容占位符 6">
            <a:extLst>
              <a:ext uri="{FF2B5EF4-FFF2-40B4-BE49-F238E27FC236}">
                <a16:creationId xmlns:a16="http://schemas.microsoft.com/office/drawing/2014/main" id="{F4F1D245-E7EA-1E1B-7730-D1F7C9501B66}"/>
              </a:ext>
            </a:extLst>
          </p:cNvPr>
          <p:cNvPicPr>
            <a:picLocks noGrp="1" noChangeAspect="1"/>
          </p:cNvPicPr>
          <p:nvPr>
            <p:ph idx="1"/>
          </p:nvPr>
        </p:nvPicPr>
        <p:blipFill>
          <a:blip r:embed="rId3"/>
          <a:stretch>
            <a:fillRect/>
          </a:stretch>
        </p:blipFill>
        <p:spPr>
          <a:xfrm>
            <a:off x="1304256" y="1101828"/>
            <a:ext cx="9583487" cy="4725059"/>
          </a:xfrm>
        </p:spPr>
      </p:pic>
    </p:spTree>
    <p:extLst>
      <p:ext uri="{BB962C8B-B14F-4D97-AF65-F5344CB8AC3E}">
        <p14:creationId xmlns:p14="http://schemas.microsoft.com/office/powerpoint/2010/main" val="1694584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a:t>
            </a:r>
            <a:r>
              <a:rPr lang="zh-CN" altLang="en-US" dirty="0"/>
              <a:t>华为</a:t>
            </a:r>
            <a:r>
              <a:rPr lang="en-US" altLang="zh-CN" dirty="0"/>
              <a:t>openGauss</a:t>
            </a:r>
            <a:r>
              <a:rPr lang="zh-CN" altLang="en-US" dirty="0"/>
              <a:t>简介</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968A97D3-A69B-49EE-8DA6-8F7481C084C7}"/>
              </a:ext>
            </a:extLst>
          </p:cNvPr>
          <p:cNvSpPr>
            <a:spLocks noGrp="1"/>
          </p:cNvSpPr>
          <p:nvPr>
            <p:ph idx="1"/>
          </p:nvPr>
        </p:nvSpPr>
        <p:spPr/>
        <p:txBody>
          <a:bodyPr/>
          <a:lstStyle/>
          <a:p>
            <a:r>
              <a:rPr lang="zh-CN" altLang="en-US" dirty="0"/>
              <a:t>华为</a:t>
            </a:r>
            <a:r>
              <a:rPr lang="en-US" altLang="zh-CN" dirty="0"/>
              <a:t>openGauss</a:t>
            </a:r>
            <a:r>
              <a:rPr lang="zh-CN" altLang="en-US" dirty="0"/>
              <a:t>是一款</a:t>
            </a:r>
            <a:r>
              <a:rPr lang="zh-CN" altLang="en-US" dirty="0">
                <a:solidFill>
                  <a:srgbClr val="FF0000"/>
                </a:solidFill>
              </a:rPr>
              <a:t>高性能</a:t>
            </a:r>
            <a:r>
              <a:rPr lang="zh-CN" altLang="en-US" dirty="0"/>
              <a:t>、</a:t>
            </a:r>
            <a:r>
              <a:rPr lang="zh-CN" altLang="en-US" dirty="0">
                <a:solidFill>
                  <a:srgbClr val="FF0000"/>
                </a:solidFill>
              </a:rPr>
              <a:t>高安全</a:t>
            </a:r>
            <a:r>
              <a:rPr lang="zh-CN" altLang="en-US" dirty="0"/>
              <a:t>、</a:t>
            </a:r>
            <a:r>
              <a:rPr lang="zh-CN" altLang="en-US" dirty="0">
                <a:solidFill>
                  <a:srgbClr val="FF0000"/>
                </a:solidFill>
              </a:rPr>
              <a:t>高可靠</a:t>
            </a:r>
            <a:r>
              <a:rPr lang="zh-CN" altLang="en-US" dirty="0"/>
              <a:t>的企业级开源关系型数据库</a:t>
            </a:r>
          </a:p>
          <a:p>
            <a:pPr>
              <a:lnSpc>
                <a:spcPct val="100000"/>
              </a:lnSpc>
            </a:pPr>
            <a:endParaRPr lang="en-US" altLang="zh-CN" sz="800" dirty="0">
              <a:sym typeface="Huawei Sans" panose="020C0503030203020204" pitchFamily="34" charset="0"/>
            </a:endParaRPr>
          </a:p>
          <a:p>
            <a:pPr>
              <a:lnSpc>
                <a:spcPct val="100000"/>
              </a:lnSpc>
            </a:pPr>
            <a:r>
              <a:rPr lang="en-US" altLang="zh-CN" dirty="0">
                <a:sym typeface="Huawei Sans" panose="020C0503030203020204" pitchFamily="34" charset="0"/>
              </a:rPr>
              <a:t>openGauss</a:t>
            </a:r>
            <a:r>
              <a:rPr lang="zh-CN" altLang="en-US" dirty="0">
                <a:sym typeface="Huawei Sans" panose="020C0503030203020204" pitchFamily="34" charset="0"/>
              </a:rPr>
              <a:t>集中式版本内核全开源</a:t>
            </a:r>
            <a:endParaRPr lang="en-US" altLang="zh-CN" dirty="0">
              <a:sym typeface="Huawei Sans" panose="020C0503030203020204" pitchFamily="34" charset="0"/>
            </a:endParaRPr>
          </a:p>
          <a:p>
            <a:pPr lvl="1">
              <a:lnSpc>
                <a:spcPct val="100000"/>
              </a:lnSpc>
            </a:pPr>
            <a:r>
              <a:rPr lang="en-US" altLang="zh-CN" dirty="0">
                <a:solidFill>
                  <a:srgbClr val="0000FF"/>
                </a:solidFill>
                <a:sym typeface="Huawei Sans" panose="020C0503030203020204" pitchFamily="34" charset="0"/>
              </a:rPr>
              <a:t>PG(PostgreSQL)</a:t>
            </a:r>
            <a:r>
              <a:rPr lang="zh-CN" altLang="en-US" dirty="0">
                <a:solidFill>
                  <a:srgbClr val="0000FF"/>
                </a:solidFill>
                <a:sym typeface="Huawei Sans" panose="020C0503030203020204" pitchFamily="34" charset="0"/>
              </a:rPr>
              <a:t>开源数据库 </a:t>
            </a:r>
            <a:r>
              <a:rPr lang="en-US" altLang="zh-CN" dirty="0">
                <a:solidFill>
                  <a:srgbClr val="0000FF"/>
                </a:solidFill>
                <a:sym typeface="Huawei Sans" panose="020C0503030203020204" pitchFamily="34" charset="0"/>
              </a:rPr>
              <a:t>&gt; </a:t>
            </a:r>
            <a:r>
              <a:rPr lang="zh-CN" altLang="en-US" dirty="0">
                <a:solidFill>
                  <a:srgbClr val="0000FF"/>
                </a:solidFill>
                <a:sym typeface="Huawei Sans" panose="020C0503030203020204" pitchFamily="34" charset="0"/>
              </a:rPr>
              <a:t>内部自用孵化阶段 </a:t>
            </a:r>
            <a:r>
              <a:rPr lang="en-US" altLang="zh-CN" dirty="0">
                <a:solidFill>
                  <a:srgbClr val="0000FF"/>
                </a:solidFill>
                <a:sym typeface="Huawei Sans" panose="020C0503030203020204" pitchFamily="34" charset="0"/>
              </a:rPr>
              <a:t>&gt; </a:t>
            </a:r>
            <a:r>
              <a:rPr lang="zh-CN" altLang="en-US" dirty="0">
                <a:solidFill>
                  <a:srgbClr val="0000FF"/>
                </a:solidFill>
                <a:sym typeface="Huawei Sans" panose="020C0503030203020204" pitchFamily="34" charset="0"/>
              </a:rPr>
              <a:t>联创产品化阶段 </a:t>
            </a:r>
            <a:r>
              <a:rPr lang="en-US" altLang="zh-CN" dirty="0">
                <a:solidFill>
                  <a:srgbClr val="0000FF"/>
                </a:solidFill>
                <a:sym typeface="Huawei Sans" panose="020C0503030203020204" pitchFamily="34" charset="0"/>
              </a:rPr>
              <a:t>&gt; </a:t>
            </a:r>
            <a:r>
              <a:rPr lang="zh-CN" altLang="en-US" dirty="0">
                <a:solidFill>
                  <a:srgbClr val="0000FF"/>
                </a:solidFill>
                <a:sym typeface="Huawei Sans" panose="020C0503030203020204" pitchFamily="34" charset="0"/>
              </a:rPr>
              <a:t>共建生态</a:t>
            </a:r>
            <a:endParaRPr lang="en-US" altLang="zh-CN" dirty="0">
              <a:solidFill>
                <a:srgbClr val="0000FF"/>
              </a:solidFill>
              <a:sym typeface="Huawei Sans" panose="020C0503030203020204" pitchFamily="34" charset="0"/>
            </a:endParaRPr>
          </a:p>
          <a:p>
            <a:endParaRPr lang="en-US" altLang="zh-CN" sz="800" dirty="0"/>
          </a:p>
          <a:p>
            <a:r>
              <a:rPr lang="zh-CN" altLang="en-US" dirty="0"/>
              <a:t>华为</a:t>
            </a:r>
            <a:r>
              <a:rPr lang="en-US" altLang="zh-CN" dirty="0"/>
              <a:t>openGauss</a:t>
            </a:r>
            <a:r>
              <a:rPr lang="zh-CN" altLang="en-US" dirty="0"/>
              <a:t>社区网站：</a:t>
            </a:r>
            <a:endParaRPr lang="en-US" altLang="zh-CN" dirty="0"/>
          </a:p>
          <a:p>
            <a:pPr lvl="1"/>
            <a:r>
              <a:rPr lang="en-US" altLang="zh-CN" dirty="0">
                <a:hlinkClick r:id="rId2"/>
              </a:rPr>
              <a:t>www.opengauss.org</a:t>
            </a:r>
            <a:endParaRPr lang="en-US" altLang="zh-CN" dirty="0"/>
          </a:p>
          <a:p>
            <a:endParaRPr lang="zh-CN" altLang="en-US" dirty="0"/>
          </a:p>
          <a:p>
            <a:endParaRPr lang="zh-CN" altLang="en-US" dirty="0"/>
          </a:p>
        </p:txBody>
      </p:sp>
      <p:pic>
        <p:nvPicPr>
          <p:cNvPr id="10" name="图片 9">
            <a:extLst>
              <a:ext uri="{FF2B5EF4-FFF2-40B4-BE49-F238E27FC236}">
                <a16:creationId xmlns:a16="http://schemas.microsoft.com/office/drawing/2014/main" id="{E006523B-96D3-471F-AD13-8556BA38AF54}"/>
              </a:ext>
            </a:extLst>
          </p:cNvPr>
          <p:cNvPicPr>
            <a:picLocks noChangeAspect="1"/>
          </p:cNvPicPr>
          <p:nvPr/>
        </p:nvPicPr>
        <p:blipFill>
          <a:blip r:embed="rId3"/>
          <a:stretch>
            <a:fillRect/>
          </a:stretch>
        </p:blipFill>
        <p:spPr>
          <a:xfrm>
            <a:off x="7332652" y="111537"/>
            <a:ext cx="1961651" cy="581230"/>
          </a:xfrm>
          <a:prstGeom prst="rect">
            <a:avLst/>
          </a:prstGeom>
        </p:spPr>
      </p:pic>
      <p:pic>
        <p:nvPicPr>
          <p:cNvPr id="11" name="图片 10">
            <a:extLst>
              <a:ext uri="{FF2B5EF4-FFF2-40B4-BE49-F238E27FC236}">
                <a16:creationId xmlns:a16="http://schemas.microsoft.com/office/drawing/2014/main" id="{E76684C0-B8D9-452C-9529-9F5AA8A4680A}"/>
              </a:ext>
            </a:extLst>
          </p:cNvPr>
          <p:cNvPicPr>
            <a:picLocks noChangeAspect="1"/>
          </p:cNvPicPr>
          <p:nvPr/>
        </p:nvPicPr>
        <p:blipFill>
          <a:blip r:embed="rId4"/>
          <a:stretch>
            <a:fillRect/>
          </a:stretch>
        </p:blipFill>
        <p:spPr>
          <a:xfrm>
            <a:off x="4683712" y="2714227"/>
            <a:ext cx="3990899" cy="3322477"/>
          </a:xfrm>
          <a:prstGeom prst="rect">
            <a:avLst/>
          </a:prstGeom>
        </p:spPr>
      </p:pic>
    </p:spTree>
    <p:extLst>
      <p:ext uri="{BB962C8B-B14F-4D97-AF65-F5344CB8AC3E}">
        <p14:creationId xmlns:p14="http://schemas.microsoft.com/office/powerpoint/2010/main" val="202412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 5.0.0</a:t>
            </a:r>
            <a:r>
              <a:rPr lang="zh-CN" altLang="en-US" dirty="0"/>
              <a:t>运行环境</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222D6E0C-676F-4317-8A5C-1B4381D20CDE}"/>
              </a:ext>
            </a:extLst>
          </p:cNvPr>
          <p:cNvSpPr>
            <a:spLocks noGrp="1"/>
          </p:cNvSpPr>
          <p:nvPr>
            <p:ph idx="1"/>
          </p:nvPr>
        </p:nvSpPr>
        <p:spPr/>
        <p:txBody>
          <a:bodyPr>
            <a:normAutofit fontScale="85000" lnSpcReduction="20000"/>
          </a:bodyPr>
          <a:lstStyle/>
          <a:p>
            <a:r>
              <a:rPr lang="zh-CN" altLang="en-US" dirty="0"/>
              <a:t>支持的硬件平台</a:t>
            </a:r>
            <a:endParaRPr lang="en-US" altLang="zh-CN" dirty="0"/>
          </a:p>
          <a:p>
            <a:pPr lvl="1"/>
            <a:r>
              <a:rPr lang="zh-CN" altLang="en-US" dirty="0"/>
              <a:t>支持运行在</a:t>
            </a:r>
            <a:r>
              <a:rPr lang="en-US" altLang="zh-CN" dirty="0"/>
              <a:t>ARM</a:t>
            </a:r>
            <a:r>
              <a:rPr lang="zh-CN" altLang="en-US" dirty="0"/>
              <a:t>服务器和通用的</a:t>
            </a:r>
            <a:r>
              <a:rPr lang="en-US" altLang="zh-CN" dirty="0"/>
              <a:t>x86</a:t>
            </a:r>
            <a:r>
              <a:rPr lang="zh-CN" altLang="en-US" dirty="0"/>
              <a:t>服务器上</a:t>
            </a:r>
            <a:endParaRPr lang="en-US" altLang="zh-CN" dirty="0"/>
          </a:p>
          <a:p>
            <a:pPr lvl="2"/>
            <a:r>
              <a:rPr lang="zh-CN" altLang="en-US" dirty="0"/>
              <a:t>支持</a:t>
            </a:r>
            <a:r>
              <a:rPr lang="en-US" altLang="zh-CN" dirty="0"/>
              <a:t>ARM</a:t>
            </a:r>
            <a:r>
              <a:rPr lang="zh-CN" altLang="en-US" dirty="0"/>
              <a:t>服务器和基于</a:t>
            </a:r>
            <a:r>
              <a:rPr lang="en-US" altLang="zh-CN" dirty="0"/>
              <a:t>x86_64</a:t>
            </a:r>
            <a:r>
              <a:rPr lang="zh-CN" altLang="en-US" dirty="0"/>
              <a:t>的通用</a:t>
            </a:r>
            <a:r>
              <a:rPr lang="en-US" altLang="zh-CN" dirty="0"/>
              <a:t>PC</a:t>
            </a:r>
            <a:r>
              <a:rPr lang="zh-CN" altLang="en-US" dirty="0"/>
              <a:t>服务器</a:t>
            </a:r>
            <a:endParaRPr lang="en-US" altLang="zh-CN" dirty="0"/>
          </a:p>
          <a:p>
            <a:pPr lvl="2"/>
            <a:r>
              <a:rPr lang="zh-CN" altLang="en-US" dirty="0"/>
              <a:t>支持本地存储</a:t>
            </a:r>
            <a:r>
              <a:rPr lang="en-US" altLang="zh-CN" dirty="0"/>
              <a:t>(SATA, SAS, SSD)</a:t>
            </a:r>
          </a:p>
          <a:p>
            <a:pPr lvl="2"/>
            <a:r>
              <a:rPr lang="zh-CN" altLang="en-US" dirty="0"/>
              <a:t>支持千兆、万兆</a:t>
            </a:r>
            <a:r>
              <a:rPr lang="en-US" altLang="zh-CN" dirty="0"/>
              <a:t>Ethernet</a:t>
            </a:r>
            <a:r>
              <a:rPr lang="zh-CN" altLang="en-US" dirty="0"/>
              <a:t>网络</a:t>
            </a:r>
            <a:endParaRPr lang="en-US" altLang="zh-CN" sz="900" dirty="0"/>
          </a:p>
          <a:p>
            <a:r>
              <a:rPr lang="zh-CN" altLang="en-US" dirty="0"/>
              <a:t>支持的操作系统</a:t>
            </a:r>
            <a:endParaRPr lang="en-US" altLang="zh-CN" dirty="0"/>
          </a:p>
          <a:p>
            <a:pPr lvl="1"/>
            <a:r>
              <a:rPr lang="en-US" altLang="zh-CN" dirty="0">
                <a:solidFill>
                  <a:srgbClr val="0000FF"/>
                </a:solidFill>
              </a:rPr>
              <a:t>ARM</a:t>
            </a:r>
          </a:p>
          <a:p>
            <a:pPr lvl="2"/>
            <a:r>
              <a:rPr lang="en-US" altLang="zh-CN" dirty="0"/>
              <a:t>openEuler 20.03LTS</a:t>
            </a:r>
            <a:r>
              <a:rPr lang="zh-CN" altLang="en-US" dirty="0"/>
              <a:t>（推荐采用此操作系统）</a:t>
            </a:r>
          </a:p>
          <a:p>
            <a:pPr lvl="2"/>
            <a:r>
              <a:rPr lang="en-US" altLang="zh-CN" dirty="0"/>
              <a:t>openEuler 22.03LTS</a:t>
            </a:r>
          </a:p>
          <a:p>
            <a:pPr lvl="2"/>
            <a:r>
              <a:rPr lang="zh-CN" altLang="en-US" dirty="0"/>
              <a:t>麒麟</a:t>
            </a:r>
            <a:r>
              <a:rPr lang="en-US" altLang="zh-CN" dirty="0"/>
              <a:t>V10</a:t>
            </a:r>
          </a:p>
          <a:p>
            <a:pPr lvl="2"/>
            <a:r>
              <a:rPr lang="en-US" altLang="zh-CN" dirty="0"/>
              <a:t>Asianux 7.5</a:t>
            </a:r>
          </a:p>
          <a:p>
            <a:pPr lvl="1"/>
            <a:r>
              <a:rPr lang="en-US" altLang="zh-CN" dirty="0">
                <a:solidFill>
                  <a:srgbClr val="0000FF"/>
                </a:solidFill>
              </a:rPr>
              <a:t>x86</a:t>
            </a:r>
          </a:p>
          <a:p>
            <a:pPr lvl="2"/>
            <a:r>
              <a:rPr lang="en-US" altLang="zh-CN" dirty="0"/>
              <a:t>openEuler 20.03LTS</a:t>
            </a:r>
          </a:p>
          <a:p>
            <a:pPr lvl="2"/>
            <a:r>
              <a:rPr lang="en-US" altLang="zh-CN" dirty="0"/>
              <a:t>openEuler 22.03LTS</a:t>
            </a:r>
          </a:p>
          <a:p>
            <a:pPr lvl="2"/>
            <a:r>
              <a:rPr lang="en-US" altLang="zh-CN" dirty="0"/>
              <a:t>CentOS 7.6</a:t>
            </a:r>
          </a:p>
          <a:p>
            <a:pPr lvl="2"/>
            <a:r>
              <a:rPr lang="en-US" altLang="zh-CN" dirty="0"/>
              <a:t>Asianux 7.6</a:t>
            </a:r>
          </a:p>
        </p:txBody>
      </p:sp>
    </p:spTree>
    <p:extLst>
      <p:ext uri="{BB962C8B-B14F-4D97-AF65-F5344CB8AC3E}">
        <p14:creationId xmlns:p14="http://schemas.microsoft.com/office/powerpoint/2010/main" val="2709169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 5.0.0</a:t>
            </a:r>
            <a:r>
              <a:rPr lang="zh-CN" altLang="en-US" dirty="0"/>
              <a:t>技术指标</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graphicFrame>
        <p:nvGraphicFramePr>
          <p:cNvPr id="8" name="内容占位符 3">
            <a:extLst>
              <a:ext uri="{FF2B5EF4-FFF2-40B4-BE49-F238E27FC236}">
                <a16:creationId xmlns:a16="http://schemas.microsoft.com/office/drawing/2014/main" id="{06190E36-B1FB-45EE-95F2-C39D41C84DD4}"/>
              </a:ext>
            </a:extLst>
          </p:cNvPr>
          <p:cNvGraphicFramePr>
            <a:graphicFrameLocks noGrp="1"/>
          </p:cNvGraphicFramePr>
          <p:nvPr>
            <p:ph idx="1"/>
            <p:extLst>
              <p:ext uri="{D42A27DB-BD31-4B8C-83A1-F6EECF244321}">
                <p14:modId xmlns:p14="http://schemas.microsoft.com/office/powerpoint/2010/main" val="125029355"/>
              </p:ext>
            </p:extLst>
          </p:nvPr>
        </p:nvGraphicFramePr>
        <p:xfrm>
          <a:off x="2428461" y="843609"/>
          <a:ext cx="7335078" cy="5665292"/>
        </p:xfrm>
        <a:graphic>
          <a:graphicData uri="http://schemas.openxmlformats.org/drawingml/2006/table">
            <a:tbl>
              <a:tblPr/>
              <a:tblGrid>
                <a:gridCol w="3333791">
                  <a:extLst>
                    <a:ext uri="{9D8B030D-6E8A-4147-A177-3AD203B41FA5}">
                      <a16:colId xmlns:a16="http://schemas.microsoft.com/office/drawing/2014/main" val="33437270"/>
                    </a:ext>
                  </a:extLst>
                </a:gridCol>
                <a:gridCol w="4001287">
                  <a:extLst>
                    <a:ext uri="{9D8B030D-6E8A-4147-A177-3AD203B41FA5}">
                      <a16:colId xmlns:a16="http://schemas.microsoft.com/office/drawing/2014/main" val="3494788422"/>
                    </a:ext>
                  </a:extLst>
                </a:gridCol>
              </a:tblGrid>
              <a:tr h="189071">
                <a:tc>
                  <a:txBody>
                    <a:bodyPr/>
                    <a:lstStyle/>
                    <a:p>
                      <a:pPr algn="l" fontAlgn="ctr"/>
                      <a:r>
                        <a:rPr lang="zh-CN" altLang="en-US" sz="800" b="1" i="0">
                          <a:solidFill>
                            <a:srgbClr val="FF0000"/>
                          </a:solidFill>
                          <a:effectLst/>
                          <a:latin typeface="微软雅黑" panose="020B0503020204020204" pitchFamily="34" charset="-122"/>
                          <a:ea typeface="微软雅黑" panose="020B0503020204020204" pitchFamily="34" charset="-122"/>
                        </a:rPr>
                        <a:t>技术指标</a:t>
                      </a:r>
                    </a:p>
                  </a:txBody>
                  <a:tcPr marL="38909" marR="38909" marT="19454" marB="19454" anchor="ctr">
                    <a:lnL>
                      <a:noFill/>
                    </a:lnL>
                    <a:lnR>
                      <a:noFill/>
                    </a:lnR>
                    <a:lnT>
                      <a:noFill/>
                    </a:lnT>
                    <a:lnB>
                      <a:noFill/>
                    </a:lnB>
                    <a:solidFill>
                      <a:srgbClr val="F5F6F8"/>
                    </a:solidFill>
                  </a:tcPr>
                </a:tc>
                <a:tc>
                  <a:txBody>
                    <a:bodyPr/>
                    <a:lstStyle/>
                    <a:p>
                      <a:pPr algn="l" fontAlgn="ctr"/>
                      <a:r>
                        <a:rPr lang="zh-CN" altLang="en-US" sz="800" b="1" i="0">
                          <a:solidFill>
                            <a:srgbClr val="FF0000"/>
                          </a:solidFill>
                          <a:effectLst/>
                          <a:latin typeface="微软雅黑" panose="020B0503020204020204" pitchFamily="34" charset="-122"/>
                          <a:ea typeface="微软雅黑" panose="020B0503020204020204" pitchFamily="34" charset="-122"/>
                        </a:rPr>
                        <a:t>最大值</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230675560"/>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数据库容量</a:t>
                      </a:r>
                    </a:p>
                  </a:txBody>
                  <a:tcPr marL="38909" marR="38909" marT="19454" marB="19454" anchor="ctr">
                    <a:lnL>
                      <a:noFill/>
                    </a:lnL>
                    <a:lnR>
                      <a:noFill/>
                    </a:lnR>
                    <a:lnT>
                      <a:noFill/>
                    </a:lnT>
                    <a:lnB>
                      <a:noFill/>
                    </a:lnB>
                    <a:solidFill>
                      <a:srgbClr val="F5F6F8"/>
                    </a:solidFill>
                  </a:tcPr>
                </a:tc>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受限于操作系统与硬件</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3887619180"/>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单表大小</a:t>
                      </a:r>
                    </a:p>
                  </a:txBody>
                  <a:tcPr marL="38909" marR="38909" marT="19454" marB="19454" anchor="ctr">
                    <a:lnL>
                      <a:noFill/>
                    </a:lnL>
                    <a:lnR>
                      <a:noFill/>
                    </a:lnR>
                    <a:lnT>
                      <a:noFill/>
                    </a:lnT>
                    <a:lnB>
                      <a:noFill/>
                    </a:lnB>
                    <a:solidFill>
                      <a:srgbClr val="F5F6F8"/>
                    </a:solidFill>
                  </a:tcPr>
                </a:tc>
                <a:tc>
                  <a:txBody>
                    <a:bodyPr/>
                    <a:lstStyle/>
                    <a:p>
                      <a:pPr fontAlgn="ctr"/>
                      <a:r>
                        <a:rPr lang="en-US" sz="800" b="1">
                          <a:solidFill>
                            <a:srgbClr val="FF0000"/>
                          </a:solidFill>
                          <a:effectLst/>
                          <a:latin typeface="微软雅黑" panose="020B0503020204020204" pitchFamily="34" charset="-122"/>
                          <a:ea typeface="微软雅黑" panose="020B0503020204020204" pitchFamily="34" charset="-122"/>
                        </a:rPr>
                        <a:t>32TB</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2620035689"/>
                  </a:ext>
                </a:extLst>
              </a:tr>
              <a:tr h="305327">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单行数据大小</a:t>
                      </a:r>
                    </a:p>
                  </a:txBody>
                  <a:tcPr marL="38909" marR="38909" marT="19454" marB="19454" anchor="ctr">
                    <a:lnL>
                      <a:noFill/>
                    </a:lnL>
                    <a:lnR>
                      <a:noFill/>
                    </a:lnR>
                    <a:lnT>
                      <a:noFill/>
                    </a:lnT>
                    <a:lnB>
                      <a:noFill/>
                    </a:lnB>
                    <a:solidFill>
                      <a:srgbClr val="F5F6F8"/>
                    </a:solidFill>
                  </a:tcPr>
                </a:tc>
                <a:tc>
                  <a:txBody>
                    <a:bodyPr/>
                    <a:lstStyle/>
                    <a:p>
                      <a:pPr fontAlgn="ctr"/>
                      <a:r>
                        <a:rPr lang="en-US" sz="800" b="1">
                          <a:solidFill>
                            <a:srgbClr val="FF0000"/>
                          </a:solidFill>
                          <a:effectLst/>
                          <a:latin typeface="微软雅黑" panose="020B0503020204020204" pitchFamily="34" charset="-122"/>
                          <a:ea typeface="微软雅黑" panose="020B0503020204020204" pitchFamily="34" charset="-122"/>
                        </a:rPr>
                        <a:t>1GB，astore</a:t>
                      </a:r>
                      <a:r>
                        <a:rPr lang="zh-CN" altLang="en-US" sz="800" b="1">
                          <a:solidFill>
                            <a:srgbClr val="FF0000"/>
                          </a:solidFill>
                          <a:effectLst/>
                          <a:latin typeface="微软雅黑" panose="020B0503020204020204" pitchFamily="34" charset="-122"/>
                          <a:ea typeface="微软雅黑" panose="020B0503020204020204" pitchFamily="34" charset="-122"/>
                        </a:rPr>
                        <a:t>包含</a:t>
                      </a:r>
                      <a:r>
                        <a:rPr lang="en-US" sz="800" b="1">
                          <a:solidFill>
                            <a:srgbClr val="FF0000"/>
                          </a:solidFill>
                          <a:effectLst/>
                          <a:latin typeface="微软雅黑" panose="020B0503020204020204" pitchFamily="34" charset="-122"/>
                          <a:ea typeface="微软雅黑" panose="020B0503020204020204" pitchFamily="34" charset="-122"/>
                        </a:rPr>
                        <a:t>CLOB/BLOB</a:t>
                      </a:r>
                      <a:r>
                        <a:rPr lang="zh-CN" altLang="en-US" sz="800" b="1">
                          <a:solidFill>
                            <a:srgbClr val="FF0000"/>
                          </a:solidFill>
                          <a:effectLst/>
                          <a:latin typeface="微软雅黑" panose="020B0503020204020204" pitchFamily="34" charset="-122"/>
                          <a:ea typeface="微软雅黑" panose="020B0503020204020204" pitchFamily="34" charset="-122"/>
                        </a:rPr>
                        <a:t>类型单行上限为</a:t>
                      </a:r>
                      <a:r>
                        <a:rPr lang="en-US" altLang="zh-CN" sz="800" b="1">
                          <a:solidFill>
                            <a:srgbClr val="FF0000"/>
                          </a:solidFill>
                          <a:effectLst/>
                          <a:latin typeface="微软雅黑" panose="020B0503020204020204" pitchFamily="34" charset="-122"/>
                          <a:ea typeface="微软雅黑" panose="020B0503020204020204" pitchFamily="34" charset="-122"/>
                        </a:rPr>
                        <a:t>32</a:t>
                      </a:r>
                      <a:r>
                        <a:rPr lang="en-US" sz="800" b="1">
                          <a:solidFill>
                            <a:srgbClr val="FF0000"/>
                          </a:solidFill>
                          <a:effectLst/>
                          <a:latin typeface="微软雅黑" panose="020B0503020204020204" pitchFamily="34" charset="-122"/>
                          <a:ea typeface="微软雅黑" panose="020B0503020204020204" pitchFamily="34" charset="-122"/>
                        </a:rPr>
                        <a:t>TB。</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1567826600"/>
                  </a:ext>
                </a:extLst>
              </a:tr>
              <a:tr h="305327">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每条记录单个字段的大小</a:t>
                      </a:r>
                    </a:p>
                  </a:txBody>
                  <a:tcPr marL="38909" marR="38909" marT="19454" marB="19454" anchor="ctr">
                    <a:lnL>
                      <a:noFill/>
                    </a:lnL>
                    <a:lnR>
                      <a:noFill/>
                    </a:lnR>
                    <a:lnT>
                      <a:noFill/>
                    </a:lnT>
                    <a:lnB>
                      <a:noFill/>
                    </a:lnB>
                    <a:solidFill>
                      <a:srgbClr val="F5F6F8"/>
                    </a:solidFill>
                  </a:tcPr>
                </a:tc>
                <a:tc>
                  <a:txBody>
                    <a:bodyPr/>
                    <a:lstStyle/>
                    <a:p>
                      <a:pPr fontAlgn="ctr"/>
                      <a:r>
                        <a:rPr lang="en-US" sz="800" b="1">
                          <a:solidFill>
                            <a:srgbClr val="FF0000"/>
                          </a:solidFill>
                          <a:effectLst/>
                          <a:latin typeface="微软雅黑" panose="020B0503020204020204" pitchFamily="34" charset="-122"/>
                          <a:ea typeface="微软雅黑" panose="020B0503020204020204" pitchFamily="34" charset="-122"/>
                        </a:rPr>
                        <a:t>1GB，astore</a:t>
                      </a:r>
                      <a:r>
                        <a:rPr lang="zh-CN" altLang="en-US" sz="800" b="1">
                          <a:solidFill>
                            <a:srgbClr val="FF0000"/>
                          </a:solidFill>
                          <a:effectLst/>
                          <a:latin typeface="微软雅黑" panose="020B0503020204020204" pitchFamily="34" charset="-122"/>
                          <a:ea typeface="微软雅黑" panose="020B0503020204020204" pitchFamily="34" charset="-122"/>
                        </a:rPr>
                        <a:t>包含</a:t>
                      </a:r>
                      <a:r>
                        <a:rPr lang="en-US" sz="800" b="1">
                          <a:solidFill>
                            <a:srgbClr val="FF0000"/>
                          </a:solidFill>
                          <a:effectLst/>
                          <a:latin typeface="微软雅黑" panose="020B0503020204020204" pitchFamily="34" charset="-122"/>
                          <a:ea typeface="微软雅黑" panose="020B0503020204020204" pitchFamily="34" charset="-122"/>
                        </a:rPr>
                        <a:t>CLOB/BLOB</a:t>
                      </a:r>
                      <a:r>
                        <a:rPr lang="zh-CN" altLang="en-US" sz="800" b="1">
                          <a:solidFill>
                            <a:srgbClr val="FF0000"/>
                          </a:solidFill>
                          <a:effectLst/>
                          <a:latin typeface="微软雅黑" panose="020B0503020204020204" pitchFamily="34" charset="-122"/>
                          <a:ea typeface="微软雅黑" panose="020B0503020204020204" pitchFamily="34" charset="-122"/>
                        </a:rPr>
                        <a:t>类型单字段上限为</a:t>
                      </a:r>
                      <a:r>
                        <a:rPr lang="en-US" altLang="zh-CN" sz="800" b="1">
                          <a:solidFill>
                            <a:srgbClr val="FF0000"/>
                          </a:solidFill>
                          <a:effectLst/>
                          <a:latin typeface="微软雅黑" panose="020B0503020204020204" pitchFamily="34" charset="-122"/>
                          <a:ea typeface="微软雅黑" panose="020B0503020204020204" pitchFamily="34" charset="-122"/>
                        </a:rPr>
                        <a:t>32</a:t>
                      </a:r>
                      <a:r>
                        <a:rPr lang="en-US" sz="800" b="1">
                          <a:solidFill>
                            <a:srgbClr val="FF0000"/>
                          </a:solidFill>
                          <a:effectLst/>
                          <a:latin typeface="微软雅黑" panose="020B0503020204020204" pitchFamily="34" charset="-122"/>
                          <a:ea typeface="微软雅黑" panose="020B0503020204020204" pitchFamily="34" charset="-122"/>
                        </a:rPr>
                        <a:t>TB。</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2309533876"/>
                  </a:ext>
                </a:extLst>
              </a:tr>
              <a:tr h="831953">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单表记录数</a:t>
                      </a:r>
                    </a:p>
                  </a:txBody>
                  <a:tcPr marL="38909" marR="38909" marT="19454" marB="19454" anchor="ctr">
                    <a:lnL>
                      <a:noFill/>
                    </a:lnL>
                    <a:lnR>
                      <a:noFill/>
                    </a:lnR>
                    <a:lnT>
                      <a:noFill/>
                    </a:lnT>
                    <a:lnB>
                      <a:noFill/>
                    </a:lnB>
                    <a:solidFill>
                      <a:srgbClr val="F5F6F8"/>
                    </a:solidFill>
                  </a:tcPr>
                </a:tc>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最大为</a:t>
                      </a:r>
                      <a:r>
                        <a:rPr lang="en-US" altLang="zh-CN" sz="800" b="1">
                          <a:solidFill>
                            <a:srgbClr val="FF0000"/>
                          </a:solidFill>
                          <a:effectLst/>
                          <a:latin typeface="微软雅黑" panose="020B0503020204020204" pitchFamily="34" charset="-122"/>
                          <a:ea typeface="微软雅黑" panose="020B0503020204020204" pitchFamily="34" charset="-122"/>
                        </a:rPr>
                        <a:t>2</a:t>
                      </a:r>
                      <a:r>
                        <a:rPr lang="en-US" altLang="zh-CN" sz="800" b="1" baseline="30000">
                          <a:solidFill>
                            <a:srgbClr val="FF0000"/>
                          </a:solidFill>
                          <a:effectLst/>
                          <a:latin typeface="微软雅黑" panose="020B0503020204020204" pitchFamily="34" charset="-122"/>
                          <a:ea typeface="微软雅黑" panose="020B0503020204020204" pitchFamily="34" charset="-122"/>
                        </a:rPr>
                        <a:t>32</a:t>
                      </a:r>
                      <a:r>
                        <a:rPr lang="zh-CN" altLang="en-US" sz="800" b="1">
                          <a:solidFill>
                            <a:srgbClr val="FF0000"/>
                          </a:solidFill>
                          <a:effectLst/>
                          <a:latin typeface="微软雅黑" panose="020B0503020204020204" pitchFamily="34" charset="-122"/>
                          <a:ea typeface="微软雅黑" panose="020B0503020204020204" pitchFamily="34" charset="-122"/>
                        </a:rPr>
                        <a:t> * </a:t>
                      </a:r>
                      <a:r>
                        <a:rPr lang="en-US" altLang="zh-CN" sz="800" b="1">
                          <a:solidFill>
                            <a:srgbClr val="FF0000"/>
                          </a:solidFill>
                          <a:effectLst/>
                          <a:latin typeface="微软雅黑" panose="020B0503020204020204" pitchFamily="34" charset="-122"/>
                          <a:ea typeface="微软雅黑" panose="020B0503020204020204" pitchFamily="34" charset="-122"/>
                        </a:rPr>
                        <a:t>(</a:t>
                      </a:r>
                      <a:r>
                        <a:rPr lang="zh-CN" altLang="en-US" sz="800" b="1">
                          <a:solidFill>
                            <a:srgbClr val="FF0000"/>
                          </a:solidFill>
                          <a:effectLst/>
                          <a:latin typeface="微软雅黑" panose="020B0503020204020204" pitchFamily="34" charset="-122"/>
                          <a:ea typeface="微软雅黑" panose="020B0503020204020204" pitchFamily="34" charset="-122"/>
                        </a:rPr>
                        <a:t>（</a:t>
                      </a:r>
                      <a:r>
                        <a:rPr lang="en-US" altLang="zh-CN" sz="800" b="1">
                          <a:solidFill>
                            <a:srgbClr val="FF0000"/>
                          </a:solidFill>
                          <a:effectLst/>
                          <a:latin typeface="微软雅黑" panose="020B0503020204020204" pitchFamily="34" charset="-122"/>
                          <a:ea typeface="微软雅黑" panose="020B0503020204020204" pitchFamily="34" charset="-122"/>
                        </a:rPr>
                        <a:t>8k - </a:t>
                      </a:r>
                      <a:r>
                        <a:rPr lang="zh-CN" altLang="en-US" sz="800" b="1">
                          <a:solidFill>
                            <a:srgbClr val="FF0000"/>
                          </a:solidFill>
                          <a:effectLst/>
                          <a:latin typeface="微软雅黑" panose="020B0503020204020204" pitchFamily="34" charset="-122"/>
                          <a:ea typeface="微软雅黑" panose="020B0503020204020204" pitchFamily="34" charset="-122"/>
                        </a:rPr>
                        <a:t>页面头）</a:t>
                      </a:r>
                      <a:r>
                        <a:rPr lang="en-US" altLang="zh-CN" sz="800" b="1">
                          <a:solidFill>
                            <a:srgbClr val="FF0000"/>
                          </a:solidFill>
                          <a:effectLst/>
                          <a:latin typeface="微软雅黑" panose="020B0503020204020204" pitchFamily="34" charset="-122"/>
                          <a:ea typeface="微软雅黑" panose="020B0503020204020204" pitchFamily="34" charset="-122"/>
                        </a:rPr>
                        <a:t>/</a:t>
                      </a:r>
                      <a:r>
                        <a:rPr lang="zh-CN" altLang="en-US" sz="800" b="1">
                          <a:solidFill>
                            <a:srgbClr val="FF0000"/>
                          </a:solidFill>
                          <a:effectLst/>
                          <a:latin typeface="微软雅黑" panose="020B0503020204020204" pitchFamily="34" charset="-122"/>
                          <a:ea typeface="微软雅黑" panose="020B0503020204020204" pitchFamily="34" charset="-122"/>
                        </a:rPr>
                        <a:t>行宽</a:t>
                      </a:r>
                      <a:r>
                        <a:rPr lang="en-US" altLang="zh-CN" sz="800" b="1">
                          <a:solidFill>
                            <a:srgbClr val="FF0000"/>
                          </a:solidFill>
                          <a:effectLst/>
                          <a:latin typeface="微软雅黑" panose="020B0503020204020204" pitchFamily="34" charset="-122"/>
                          <a:ea typeface="微软雅黑" panose="020B0503020204020204" pitchFamily="34" charset="-122"/>
                        </a:rPr>
                        <a:t>)</a:t>
                      </a:r>
                      <a:r>
                        <a:rPr lang="zh-CN" altLang="en-US" sz="800" b="1">
                          <a:solidFill>
                            <a:srgbClr val="FF0000"/>
                          </a:solidFill>
                          <a:effectLst/>
                          <a:latin typeface="微软雅黑" panose="020B0503020204020204" pitchFamily="34" charset="-122"/>
                          <a:ea typeface="微软雅黑" panose="020B0503020204020204" pitchFamily="34" charset="-122"/>
                        </a:rPr>
                        <a:t>。代码层面的限制是单表最多</a:t>
                      </a:r>
                      <a:r>
                        <a:rPr lang="en-US" altLang="zh-CN" sz="800" b="1">
                          <a:solidFill>
                            <a:srgbClr val="FF0000"/>
                          </a:solidFill>
                          <a:effectLst/>
                          <a:latin typeface="微软雅黑" panose="020B0503020204020204" pitchFamily="34" charset="-122"/>
                          <a:ea typeface="微软雅黑" panose="020B0503020204020204" pitchFamily="34" charset="-122"/>
                        </a:rPr>
                        <a:t>2</a:t>
                      </a:r>
                      <a:r>
                        <a:rPr lang="en-US" altLang="zh-CN" sz="800" b="1" baseline="30000">
                          <a:solidFill>
                            <a:srgbClr val="FF0000"/>
                          </a:solidFill>
                          <a:effectLst/>
                          <a:latin typeface="微软雅黑" panose="020B0503020204020204" pitchFamily="34" charset="-122"/>
                          <a:ea typeface="微软雅黑" panose="020B0503020204020204" pitchFamily="34" charset="-122"/>
                        </a:rPr>
                        <a:t>32</a:t>
                      </a:r>
                      <a:r>
                        <a:rPr lang="zh-CN" altLang="en-US" sz="800" b="1">
                          <a:solidFill>
                            <a:srgbClr val="FF0000"/>
                          </a:solidFill>
                          <a:effectLst/>
                          <a:latin typeface="微软雅黑" panose="020B0503020204020204" pitchFamily="34" charset="-122"/>
                          <a:ea typeface="微软雅黑" panose="020B0503020204020204" pitchFamily="34" charset="-122"/>
                        </a:rPr>
                        <a:t>个页面，每个页面大小为</a:t>
                      </a:r>
                      <a:r>
                        <a:rPr lang="en-US" altLang="zh-CN" sz="800" b="1">
                          <a:solidFill>
                            <a:srgbClr val="FF0000"/>
                          </a:solidFill>
                          <a:effectLst/>
                          <a:latin typeface="微软雅黑" panose="020B0503020204020204" pitchFamily="34" charset="-122"/>
                          <a:ea typeface="微软雅黑" panose="020B0503020204020204" pitchFamily="34" charset="-122"/>
                        </a:rPr>
                        <a:t>8k</a:t>
                      </a:r>
                      <a:r>
                        <a:rPr lang="zh-CN" altLang="en-US" sz="800" b="1">
                          <a:solidFill>
                            <a:srgbClr val="FF0000"/>
                          </a:solidFill>
                          <a:effectLst/>
                          <a:latin typeface="微软雅黑" panose="020B0503020204020204" pitchFamily="34" charset="-122"/>
                          <a:ea typeface="微软雅黑" panose="020B0503020204020204" pitchFamily="34" charset="-122"/>
                        </a:rPr>
                        <a:t>。假设当前数据行宽是</a:t>
                      </a:r>
                      <a:r>
                        <a:rPr lang="en-US" altLang="zh-CN" sz="800" b="1">
                          <a:solidFill>
                            <a:srgbClr val="FF0000"/>
                          </a:solidFill>
                          <a:effectLst/>
                          <a:latin typeface="微软雅黑" panose="020B0503020204020204" pitchFamily="34" charset="-122"/>
                          <a:ea typeface="微软雅黑" panose="020B0503020204020204" pitchFamily="34" charset="-122"/>
                        </a:rPr>
                        <a:t>1k</a:t>
                      </a:r>
                      <a:r>
                        <a:rPr lang="zh-CN" altLang="en-US" sz="800" b="1">
                          <a:solidFill>
                            <a:srgbClr val="FF0000"/>
                          </a:solidFill>
                          <a:effectLst/>
                          <a:latin typeface="微软雅黑" panose="020B0503020204020204" pitchFamily="34" charset="-122"/>
                          <a:ea typeface="微软雅黑" panose="020B0503020204020204" pitchFamily="34" charset="-122"/>
                        </a:rPr>
                        <a:t>（包括</a:t>
                      </a:r>
                      <a:r>
                        <a:rPr lang="en-US" altLang="zh-CN" sz="800" b="1">
                          <a:solidFill>
                            <a:srgbClr val="FF0000"/>
                          </a:solidFill>
                          <a:effectLst/>
                          <a:latin typeface="微软雅黑" panose="020B0503020204020204" pitchFamily="34" charset="-122"/>
                          <a:ea typeface="微软雅黑" panose="020B0503020204020204" pitchFamily="34" charset="-122"/>
                        </a:rPr>
                        <a:t>tuple</a:t>
                      </a:r>
                      <a:r>
                        <a:rPr lang="zh-CN" altLang="en-US" sz="800" b="1">
                          <a:solidFill>
                            <a:srgbClr val="FF0000"/>
                          </a:solidFill>
                          <a:effectLst/>
                          <a:latin typeface="微软雅黑" panose="020B0503020204020204" pitchFamily="34" charset="-122"/>
                          <a:ea typeface="微软雅黑" panose="020B0503020204020204" pitchFamily="34" charset="-122"/>
                        </a:rPr>
                        <a:t>头），则单表记录数约为</a:t>
                      </a:r>
                      <a:r>
                        <a:rPr lang="en-US" altLang="zh-CN" sz="800" b="1">
                          <a:solidFill>
                            <a:srgbClr val="FF0000"/>
                          </a:solidFill>
                          <a:effectLst/>
                          <a:latin typeface="微软雅黑" panose="020B0503020204020204" pitchFamily="34" charset="-122"/>
                          <a:ea typeface="微软雅黑" panose="020B0503020204020204" pitchFamily="34" charset="-122"/>
                        </a:rPr>
                        <a:t>7 * 2</a:t>
                      </a:r>
                      <a:r>
                        <a:rPr lang="en-US" altLang="zh-CN" sz="800" b="1" baseline="30000">
                          <a:solidFill>
                            <a:srgbClr val="FF0000"/>
                          </a:solidFill>
                          <a:effectLst/>
                          <a:latin typeface="微软雅黑" panose="020B0503020204020204" pitchFamily="34" charset="-122"/>
                          <a:ea typeface="微软雅黑" panose="020B0503020204020204" pitchFamily="34" charset="-122"/>
                        </a:rPr>
                        <a:t>32</a:t>
                      </a:r>
                      <a:r>
                        <a:rPr lang="zh-CN" altLang="en-US" sz="800" b="1">
                          <a:solidFill>
                            <a:srgbClr val="FF0000"/>
                          </a:solidFill>
                          <a:effectLst/>
                          <a:latin typeface="微软雅黑" panose="020B0503020204020204" pitchFamily="34" charset="-122"/>
                          <a:ea typeface="微软雅黑" panose="020B0503020204020204" pitchFamily="34" charset="-122"/>
                        </a:rPr>
                        <a:t> 行（当前页面大小是</a:t>
                      </a:r>
                      <a:r>
                        <a:rPr lang="en-US" altLang="zh-CN" sz="800" b="1">
                          <a:solidFill>
                            <a:srgbClr val="FF0000"/>
                          </a:solidFill>
                          <a:effectLst/>
                          <a:latin typeface="微软雅黑" panose="020B0503020204020204" pitchFamily="34" charset="-122"/>
                          <a:ea typeface="微软雅黑" panose="020B0503020204020204" pitchFamily="34" charset="-122"/>
                        </a:rPr>
                        <a:t>8k</a:t>
                      </a:r>
                      <a:r>
                        <a:rPr lang="zh-CN" altLang="en-US" sz="800" b="1">
                          <a:solidFill>
                            <a:srgbClr val="FF0000"/>
                          </a:solidFill>
                          <a:effectLst/>
                          <a:latin typeface="微软雅黑" panose="020B0503020204020204" pitchFamily="34" charset="-122"/>
                          <a:ea typeface="微软雅黑" panose="020B0503020204020204" pitchFamily="34" charset="-122"/>
                        </a:rPr>
                        <a:t>，除了页面头，每个页面包含</a:t>
                      </a:r>
                      <a:r>
                        <a:rPr lang="en-US" altLang="zh-CN" sz="800" b="1">
                          <a:solidFill>
                            <a:srgbClr val="FF0000"/>
                          </a:solidFill>
                          <a:effectLst/>
                          <a:latin typeface="微软雅黑" panose="020B0503020204020204" pitchFamily="34" charset="-122"/>
                          <a:ea typeface="微软雅黑" panose="020B0503020204020204" pitchFamily="34" charset="-122"/>
                        </a:rPr>
                        <a:t>7</a:t>
                      </a:r>
                      <a:r>
                        <a:rPr lang="zh-CN" altLang="en-US" sz="800" b="1">
                          <a:solidFill>
                            <a:srgbClr val="FF0000"/>
                          </a:solidFill>
                          <a:effectLst/>
                          <a:latin typeface="微软雅黑" panose="020B0503020204020204" pitchFamily="34" charset="-122"/>
                          <a:ea typeface="微软雅黑" panose="020B0503020204020204" pitchFamily="34" charset="-122"/>
                        </a:rPr>
                        <a:t>行数据）。</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864408840"/>
                  </a:ext>
                </a:extLst>
              </a:tr>
              <a:tr h="700297">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单表最大列数</a:t>
                      </a:r>
                    </a:p>
                  </a:txBody>
                  <a:tcPr marL="38909" marR="38909" marT="19454" marB="19454" anchor="ctr">
                    <a:lnL>
                      <a:noFill/>
                    </a:lnL>
                    <a:lnR>
                      <a:noFill/>
                    </a:lnR>
                    <a:lnT>
                      <a:noFill/>
                    </a:lnT>
                    <a:lnB>
                      <a:noFill/>
                    </a:lnB>
                    <a:solidFill>
                      <a:srgbClr val="F5F6F8"/>
                    </a:solidFill>
                  </a:tcPr>
                </a:tc>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1600</a:t>
                      </a:r>
                      <a:r>
                        <a:rPr lang="zh-CN" altLang="en-US" sz="800" b="1">
                          <a:solidFill>
                            <a:srgbClr val="FF0000"/>
                          </a:solidFill>
                          <a:effectLst/>
                          <a:latin typeface="微软雅黑" panose="020B0503020204020204" pitchFamily="34" charset="-122"/>
                          <a:ea typeface="微软雅黑" panose="020B0503020204020204" pitchFamily="34" charset="-122"/>
                        </a:rPr>
                        <a:t>（随字段类型不同会有变化，建表时不校验字段类型，存入数据时校验，例如</a:t>
                      </a:r>
                      <a:r>
                        <a:rPr lang="en-US" altLang="zh-CN" sz="800" b="1">
                          <a:solidFill>
                            <a:srgbClr val="FF0000"/>
                          </a:solidFill>
                          <a:effectLst/>
                          <a:latin typeface="微软雅黑" panose="020B0503020204020204" pitchFamily="34" charset="-122"/>
                          <a:ea typeface="微软雅黑" panose="020B0503020204020204" pitchFamily="34" charset="-122"/>
                        </a:rPr>
                        <a:t>bigint</a:t>
                      </a:r>
                      <a:r>
                        <a:rPr lang="zh-CN" altLang="en-US" sz="800" b="1">
                          <a:solidFill>
                            <a:srgbClr val="FF0000"/>
                          </a:solidFill>
                          <a:effectLst/>
                          <a:latin typeface="微软雅黑" panose="020B0503020204020204" pitchFamily="34" charset="-122"/>
                          <a:ea typeface="微软雅黑" panose="020B0503020204020204" pitchFamily="34" charset="-122"/>
                        </a:rPr>
                        <a:t>类型的字段，每个字段存入</a:t>
                      </a:r>
                      <a:r>
                        <a:rPr lang="en-US" altLang="zh-CN" sz="800" b="1">
                          <a:solidFill>
                            <a:srgbClr val="FF0000"/>
                          </a:solidFill>
                          <a:effectLst/>
                          <a:latin typeface="微软雅黑" panose="020B0503020204020204" pitchFamily="34" charset="-122"/>
                          <a:ea typeface="微软雅黑" panose="020B0503020204020204" pitchFamily="34" charset="-122"/>
                        </a:rPr>
                        <a:t>8</a:t>
                      </a:r>
                      <a:r>
                        <a:rPr lang="zh-CN" altLang="en-US" sz="800" b="1">
                          <a:solidFill>
                            <a:srgbClr val="FF0000"/>
                          </a:solidFill>
                          <a:effectLst/>
                          <a:latin typeface="微软雅黑" panose="020B0503020204020204" pitchFamily="34" charset="-122"/>
                          <a:ea typeface="微软雅黑" panose="020B0503020204020204" pitchFamily="34" charset="-122"/>
                        </a:rPr>
                        <a:t>字节数据，</a:t>
                      </a:r>
                      <a:r>
                        <a:rPr lang="en-US" altLang="zh-CN" sz="800" b="1">
                          <a:solidFill>
                            <a:srgbClr val="FF0000"/>
                          </a:solidFill>
                          <a:effectLst/>
                          <a:latin typeface="微软雅黑" panose="020B0503020204020204" pitchFamily="34" charset="-122"/>
                          <a:ea typeface="微软雅黑" panose="020B0503020204020204" pitchFamily="34" charset="-122"/>
                        </a:rPr>
                        <a:t>1600</a:t>
                      </a:r>
                      <a:r>
                        <a:rPr lang="zh-CN" altLang="en-US" sz="800" b="1">
                          <a:solidFill>
                            <a:srgbClr val="FF0000"/>
                          </a:solidFill>
                          <a:effectLst/>
                          <a:latin typeface="微软雅黑" panose="020B0503020204020204" pitchFamily="34" charset="-122"/>
                          <a:ea typeface="微软雅黑" panose="020B0503020204020204" pitchFamily="34" charset="-122"/>
                        </a:rPr>
                        <a:t>个字段，需要存入</a:t>
                      </a:r>
                      <a:r>
                        <a:rPr lang="en-US" altLang="zh-CN" sz="800" b="1">
                          <a:solidFill>
                            <a:srgbClr val="FF0000"/>
                          </a:solidFill>
                          <a:effectLst/>
                          <a:latin typeface="微软雅黑" panose="020B0503020204020204" pitchFamily="34" charset="-122"/>
                          <a:ea typeface="微软雅黑" panose="020B0503020204020204" pitchFamily="34" charset="-122"/>
                        </a:rPr>
                        <a:t>12800</a:t>
                      </a:r>
                      <a:r>
                        <a:rPr lang="zh-CN" altLang="en-US" sz="800" b="1">
                          <a:solidFill>
                            <a:srgbClr val="FF0000"/>
                          </a:solidFill>
                          <a:effectLst/>
                          <a:latin typeface="微软雅黑" panose="020B0503020204020204" pitchFamily="34" charset="-122"/>
                          <a:ea typeface="微软雅黑" panose="020B0503020204020204" pitchFamily="34" charset="-122"/>
                        </a:rPr>
                        <a:t>个字节，超过一个页面</a:t>
                      </a:r>
                      <a:r>
                        <a:rPr lang="en-US" altLang="zh-CN" sz="800" b="1">
                          <a:solidFill>
                            <a:srgbClr val="FF0000"/>
                          </a:solidFill>
                          <a:effectLst/>
                          <a:latin typeface="微软雅黑" panose="020B0503020204020204" pitchFamily="34" charset="-122"/>
                          <a:ea typeface="微软雅黑" panose="020B0503020204020204" pitchFamily="34" charset="-122"/>
                        </a:rPr>
                        <a:t>8K</a:t>
                      </a:r>
                      <a:r>
                        <a:rPr lang="zh-CN" altLang="en-US" sz="800" b="1">
                          <a:solidFill>
                            <a:srgbClr val="FF0000"/>
                          </a:solidFill>
                          <a:effectLst/>
                          <a:latin typeface="微软雅黑" panose="020B0503020204020204" pitchFamily="34" charset="-122"/>
                          <a:ea typeface="微软雅黑" panose="020B0503020204020204" pitchFamily="34" charset="-122"/>
                        </a:rPr>
                        <a:t>，插入时会报错）</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2461616526"/>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单表中的索引个数</a:t>
                      </a:r>
                    </a:p>
                  </a:txBody>
                  <a:tcPr marL="38909" marR="38909" marT="19454" marB="19454" anchor="ctr">
                    <a:lnL>
                      <a:noFill/>
                    </a:lnL>
                    <a:lnR>
                      <a:noFill/>
                    </a:lnR>
                    <a:lnT>
                      <a:noFill/>
                    </a:lnT>
                    <a:lnB>
                      <a:noFill/>
                    </a:lnB>
                    <a:solidFill>
                      <a:srgbClr val="F5F6F8"/>
                    </a:solidFill>
                  </a:tcPr>
                </a:tc>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无限制</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3933058421"/>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复合索引包含列数</a:t>
                      </a:r>
                    </a:p>
                  </a:txBody>
                  <a:tcPr marL="38909" marR="38909" marT="19454" marB="19454" anchor="ctr">
                    <a:lnL>
                      <a:noFill/>
                    </a:lnL>
                    <a:lnR>
                      <a:noFill/>
                    </a:lnR>
                    <a:lnT>
                      <a:noFill/>
                    </a:lnT>
                    <a:lnB>
                      <a:noFill/>
                    </a:lnB>
                    <a:solidFill>
                      <a:srgbClr val="F5F6F8"/>
                    </a:solidFill>
                  </a:tcPr>
                </a:tc>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32</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347888963"/>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数据库名长度</a:t>
                      </a:r>
                    </a:p>
                  </a:txBody>
                  <a:tcPr marL="38909" marR="38909" marT="19454" marB="19454" anchor="ctr">
                    <a:lnL>
                      <a:noFill/>
                    </a:lnL>
                    <a:lnR>
                      <a:noFill/>
                    </a:lnR>
                    <a:lnT>
                      <a:noFill/>
                    </a:lnT>
                    <a:lnB>
                      <a:noFill/>
                    </a:lnB>
                    <a:solidFill>
                      <a:srgbClr val="F5F6F8"/>
                    </a:solidFill>
                  </a:tcPr>
                </a:tc>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63</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1888021436"/>
                  </a:ext>
                </a:extLst>
              </a:tr>
              <a:tr h="305327">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对象名长度（除数据库名以外的其他对象名）</a:t>
                      </a:r>
                    </a:p>
                  </a:txBody>
                  <a:tcPr marL="38909" marR="38909" marT="19454" marB="19454" anchor="ctr">
                    <a:lnL>
                      <a:noFill/>
                    </a:lnL>
                    <a:lnR>
                      <a:noFill/>
                    </a:lnR>
                    <a:lnT>
                      <a:noFill/>
                    </a:lnT>
                    <a:lnB>
                      <a:noFill/>
                    </a:lnB>
                    <a:solidFill>
                      <a:srgbClr val="F5F6F8"/>
                    </a:solidFill>
                  </a:tcPr>
                </a:tc>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63</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3549122729"/>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单表约束个数</a:t>
                      </a:r>
                    </a:p>
                  </a:txBody>
                  <a:tcPr marL="38909" marR="38909" marT="19454" marB="19454" anchor="ctr">
                    <a:lnL>
                      <a:noFill/>
                    </a:lnL>
                    <a:lnR>
                      <a:noFill/>
                    </a:lnR>
                    <a:lnT>
                      <a:noFill/>
                    </a:lnT>
                    <a:lnB>
                      <a:noFill/>
                    </a:lnB>
                    <a:solidFill>
                      <a:srgbClr val="F5F6F8"/>
                    </a:solidFill>
                  </a:tcPr>
                </a:tc>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无限制</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477004848"/>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并发连接数</a:t>
                      </a:r>
                    </a:p>
                  </a:txBody>
                  <a:tcPr marL="38909" marR="38909" marT="19454" marB="19454" anchor="ctr">
                    <a:lnL>
                      <a:noFill/>
                    </a:lnL>
                    <a:lnR>
                      <a:noFill/>
                    </a:lnR>
                    <a:lnT>
                      <a:noFill/>
                    </a:lnT>
                    <a:lnB>
                      <a:noFill/>
                    </a:lnB>
                    <a:solidFill>
                      <a:srgbClr val="F5F6F8"/>
                    </a:solidFill>
                  </a:tcPr>
                </a:tc>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10000</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3269421029"/>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分区表的分区个数</a:t>
                      </a:r>
                    </a:p>
                  </a:txBody>
                  <a:tcPr marL="38909" marR="38909" marT="19454" marB="19454" anchor="ctr">
                    <a:lnL>
                      <a:noFill/>
                    </a:lnL>
                    <a:lnR>
                      <a:noFill/>
                    </a:lnR>
                    <a:lnT>
                      <a:noFill/>
                    </a:lnT>
                    <a:lnB>
                      <a:noFill/>
                    </a:lnB>
                    <a:solidFill>
                      <a:srgbClr val="F5F6F8"/>
                    </a:solidFill>
                  </a:tcPr>
                </a:tc>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2</a:t>
                      </a:r>
                      <a:r>
                        <a:rPr lang="en-US" altLang="zh-CN" sz="800" b="1" baseline="30000">
                          <a:solidFill>
                            <a:srgbClr val="FF0000"/>
                          </a:solidFill>
                          <a:effectLst/>
                          <a:latin typeface="微软雅黑" panose="020B0503020204020204" pitchFamily="34" charset="-122"/>
                          <a:ea typeface="微软雅黑" panose="020B0503020204020204" pitchFamily="34" charset="-122"/>
                        </a:rPr>
                        <a:t>20</a:t>
                      </a:r>
                      <a:r>
                        <a:rPr lang="zh-CN" altLang="en-US" sz="800" b="1">
                          <a:solidFill>
                            <a:srgbClr val="FF0000"/>
                          </a:solidFill>
                          <a:effectLst/>
                          <a:latin typeface="微软雅黑" panose="020B0503020204020204" pitchFamily="34" charset="-122"/>
                          <a:ea typeface="微软雅黑" panose="020B0503020204020204" pitchFamily="34" charset="-122"/>
                        </a:rPr>
                        <a:t> </a:t>
                      </a:r>
                      <a:r>
                        <a:rPr lang="en-US" altLang="zh-CN" sz="800" b="1">
                          <a:solidFill>
                            <a:srgbClr val="FF0000"/>
                          </a:solidFill>
                          <a:effectLst/>
                          <a:latin typeface="微软雅黑" panose="020B0503020204020204" pitchFamily="34" charset="-122"/>
                          <a:ea typeface="微软雅黑" panose="020B0503020204020204" pitchFamily="34" charset="-122"/>
                        </a:rPr>
                        <a:t>- 1</a:t>
                      </a:r>
                      <a:r>
                        <a:rPr lang="zh-CN" altLang="en-US" sz="800" b="1">
                          <a:solidFill>
                            <a:srgbClr val="FF0000"/>
                          </a:solidFill>
                          <a:effectLst/>
                          <a:latin typeface="微软雅黑" panose="020B0503020204020204" pitchFamily="34" charset="-122"/>
                          <a:ea typeface="微软雅黑" panose="020B0503020204020204" pitchFamily="34" charset="-122"/>
                        </a:rPr>
                        <a:t>个</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4153180577"/>
                  </a:ext>
                </a:extLst>
              </a:tr>
              <a:tr h="189071">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分区表的单个分区大小</a:t>
                      </a:r>
                    </a:p>
                  </a:txBody>
                  <a:tcPr marL="38909" marR="38909" marT="19454" marB="19454" anchor="ctr">
                    <a:lnL>
                      <a:noFill/>
                    </a:lnL>
                    <a:lnR>
                      <a:noFill/>
                    </a:lnR>
                    <a:lnT>
                      <a:noFill/>
                    </a:lnT>
                    <a:lnB>
                      <a:noFill/>
                    </a:lnB>
                    <a:solidFill>
                      <a:srgbClr val="F5F6F8"/>
                    </a:solidFill>
                  </a:tcPr>
                </a:tc>
                <a:tc>
                  <a:txBody>
                    <a:bodyPr/>
                    <a:lstStyle/>
                    <a:p>
                      <a:pPr fontAlgn="ctr"/>
                      <a:r>
                        <a:rPr lang="en-US" sz="800" b="1">
                          <a:solidFill>
                            <a:srgbClr val="FF0000"/>
                          </a:solidFill>
                          <a:effectLst/>
                          <a:latin typeface="微软雅黑" panose="020B0503020204020204" pitchFamily="34" charset="-122"/>
                          <a:ea typeface="微软雅黑" panose="020B0503020204020204" pitchFamily="34" charset="-122"/>
                        </a:rPr>
                        <a:t>32TB</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2702493796"/>
                  </a:ext>
                </a:extLst>
              </a:tr>
              <a:tr h="831953">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分区表的单个分区记录数</a:t>
                      </a:r>
                    </a:p>
                  </a:txBody>
                  <a:tcPr marL="38909" marR="38909" marT="19454" marB="19454" anchor="ctr">
                    <a:lnL>
                      <a:noFill/>
                    </a:lnL>
                    <a:lnR>
                      <a:noFill/>
                    </a:lnR>
                    <a:lnT>
                      <a:noFill/>
                    </a:lnT>
                    <a:lnB>
                      <a:noFill/>
                    </a:lnB>
                    <a:solidFill>
                      <a:srgbClr val="F5F6F8"/>
                    </a:solidFill>
                  </a:tcPr>
                </a:tc>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最大为</a:t>
                      </a:r>
                      <a:r>
                        <a:rPr lang="en-US" altLang="zh-CN" sz="800" b="1">
                          <a:solidFill>
                            <a:srgbClr val="FF0000"/>
                          </a:solidFill>
                          <a:effectLst/>
                          <a:latin typeface="微软雅黑" panose="020B0503020204020204" pitchFamily="34" charset="-122"/>
                          <a:ea typeface="微软雅黑" panose="020B0503020204020204" pitchFamily="34" charset="-122"/>
                        </a:rPr>
                        <a:t>2</a:t>
                      </a:r>
                      <a:r>
                        <a:rPr lang="en-US" altLang="zh-CN" sz="800" b="1" baseline="30000">
                          <a:solidFill>
                            <a:srgbClr val="FF0000"/>
                          </a:solidFill>
                          <a:effectLst/>
                          <a:latin typeface="微软雅黑" panose="020B0503020204020204" pitchFamily="34" charset="-122"/>
                          <a:ea typeface="微软雅黑" panose="020B0503020204020204" pitchFamily="34" charset="-122"/>
                        </a:rPr>
                        <a:t>32</a:t>
                      </a:r>
                      <a:r>
                        <a:rPr lang="zh-CN" altLang="en-US" sz="800" b="1">
                          <a:solidFill>
                            <a:srgbClr val="FF0000"/>
                          </a:solidFill>
                          <a:effectLst/>
                          <a:latin typeface="微软雅黑" panose="020B0503020204020204" pitchFamily="34" charset="-122"/>
                          <a:ea typeface="微软雅黑" panose="020B0503020204020204" pitchFamily="34" charset="-122"/>
                        </a:rPr>
                        <a:t> * </a:t>
                      </a:r>
                      <a:r>
                        <a:rPr lang="en-US" altLang="zh-CN" sz="800" b="1">
                          <a:solidFill>
                            <a:srgbClr val="FF0000"/>
                          </a:solidFill>
                          <a:effectLst/>
                          <a:latin typeface="微软雅黑" panose="020B0503020204020204" pitchFamily="34" charset="-122"/>
                          <a:ea typeface="微软雅黑" panose="020B0503020204020204" pitchFamily="34" charset="-122"/>
                        </a:rPr>
                        <a:t>(</a:t>
                      </a:r>
                      <a:r>
                        <a:rPr lang="zh-CN" altLang="en-US" sz="800" b="1">
                          <a:solidFill>
                            <a:srgbClr val="FF0000"/>
                          </a:solidFill>
                          <a:effectLst/>
                          <a:latin typeface="微软雅黑" panose="020B0503020204020204" pitchFamily="34" charset="-122"/>
                          <a:ea typeface="微软雅黑" panose="020B0503020204020204" pitchFamily="34" charset="-122"/>
                        </a:rPr>
                        <a:t>（</a:t>
                      </a:r>
                      <a:r>
                        <a:rPr lang="en-US" altLang="zh-CN" sz="800" b="1">
                          <a:solidFill>
                            <a:srgbClr val="FF0000"/>
                          </a:solidFill>
                          <a:effectLst/>
                          <a:latin typeface="微软雅黑" panose="020B0503020204020204" pitchFamily="34" charset="-122"/>
                          <a:ea typeface="微软雅黑" panose="020B0503020204020204" pitchFamily="34" charset="-122"/>
                        </a:rPr>
                        <a:t>8k - </a:t>
                      </a:r>
                      <a:r>
                        <a:rPr lang="zh-CN" altLang="en-US" sz="800" b="1">
                          <a:solidFill>
                            <a:srgbClr val="FF0000"/>
                          </a:solidFill>
                          <a:effectLst/>
                          <a:latin typeface="微软雅黑" panose="020B0503020204020204" pitchFamily="34" charset="-122"/>
                          <a:ea typeface="微软雅黑" panose="020B0503020204020204" pitchFamily="34" charset="-122"/>
                        </a:rPr>
                        <a:t>页面头）</a:t>
                      </a:r>
                      <a:r>
                        <a:rPr lang="en-US" altLang="zh-CN" sz="800" b="1">
                          <a:solidFill>
                            <a:srgbClr val="FF0000"/>
                          </a:solidFill>
                          <a:effectLst/>
                          <a:latin typeface="微软雅黑" panose="020B0503020204020204" pitchFamily="34" charset="-122"/>
                          <a:ea typeface="微软雅黑" panose="020B0503020204020204" pitchFamily="34" charset="-122"/>
                        </a:rPr>
                        <a:t>/</a:t>
                      </a:r>
                      <a:r>
                        <a:rPr lang="zh-CN" altLang="en-US" sz="800" b="1">
                          <a:solidFill>
                            <a:srgbClr val="FF0000"/>
                          </a:solidFill>
                          <a:effectLst/>
                          <a:latin typeface="微软雅黑" panose="020B0503020204020204" pitchFamily="34" charset="-122"/>
                          <a:ea typeface="微软雅黑" panose="020B0503020204020204" pitchFamily="34" charset="-122"/>
                        </a:rPr>
                        <a:t>行宽</a:t>
                      </a:r>
                      <a:r>
                        <a:rPr lang="en-US" altLang="zh-CN" sz="800" b="1">
                          <a:solidFill>
                            <a:srgbClr val="FF0000"/>
                          </a:solidFill>
                          <a:effectLst/>
                          <a:latin typeface="微软雅黑" panose="020B0503020204020204" pitchFamily="34" charset="-122"/>
                          <a:ea typeface="微软雅黑" panose="020B0503020204020204" pitchFamily="34" charset="-122"/>
                        </a:rPr>
                        <a:t>)</a:t>
                      </a:r>
                      <a:r>
                        <a:rPr lang="zh-CN" altLang="en-US" sz="800" b="1">
                          <a:solidFill>
                            <a:srgbClr val="FF0000"/>
                          </a:solidFill>
                          <a:effectLst/>
                          <a:latin typeface="微软雅黑" panose="020B0503020204020204" pitchFamily="34" charset="-122"/>
                          <a:ea typeface="微软雅黑" panose="020B0503020204020204" pitchFamily="34" charset="-122"/>
                        </a:rPr>
                        <a:t>。代码层面的限制是单表最多</a:t>
                      </a:r>
                      <a:r>
                        <a:rPr lang="en-US" altLang="zh-CN" sz="800" b="1">
                          <a:solidFill>
                            <a:srgbClr val="FF0000"/>
                          </a:solidFill>
                          <a:effectLst/>
                          <a:latin typeface="微软雅黑" panose="020B0503020204020204" pitchFamily="34" charset="-122"/>
                          <a:ea typeface="微软雅黑" panose="020B0503020204020204" pitchFamily="34" charset="-122"/>
                        </a:rPr>
                        <a:t>2</a:t>
                      </a:r>
                      <a:r>
                        <a:rPr lang="en-US" altLang="zh-CN" sz="800" b="1" baseline="30000">
                          <a:solidFill>
                            <a:srgbClr val="FF0000"/>
                          </a:solidFill>
                          <a:effectLst/>
                          <a:latin typeface="微软雅黑" panose="020B0503020204020204" pitchFamily="34" charset="-122"/>
                          <a:ea typeface="微软雅黑" panose="020B0503020204020204" pitchFamily="34" charset="-122"/>
                        </a:rPr>
                        <a:t>32</a:t>
                      </a:r>
                      <a:r>
                        <a:rPr lang="zh-CN" altLang="en-US" sz="800" b="1">
                          <a:solidFill>
                            <a:srgbClr val="FF0000"/>
                          </a:solidFill>
                          <a:effectLst/>
                          <a:latin typeface="微软雅黑" panose="020B0503020204020204" pitchFamily="34" charset="-122"/>
                          <a:ea typeface="微软雅黑" panose="020B0503020204020204" pitchFamily="34" charset="-122"/>
                        </a:rPr>
                        <a:t>个页面，每个页面大小为</a:t>
                      </a:r>
                      <a:r>
                        <a:rPr lang="en-US" altLang="zh-CN" sz="800" b="1">
                          <a:solidFill>
                            <a:srgbClr val="FF0000"/>
                          </a:solidFill>
                          <a:effectLst/>
                          <a:latin typeface="微软雅黑" panose="020B0503020204020204" pitchFamily="34" charset="-122"/>
                          <a:ea typeface="微软雅黑" panose="020B0503020204020204" pitchFamily="34" charset="-122"/>
                        </a:rPr>
                        <a:t>8k</a:t>
                      </a:r>
                      <a:r>
                        <a:rPr lang="zh-CN" altLang="en-US" sz="800" b="1">
                          <a:solidFill>
                            <a:srgbClr val="FF0000"/>
                          </a:solidFill>
                          <a:effectLst/>
                          <a:latin typeface="微软雅黑" panose="020B0503020204020204" pitchFamily="34" charset="-122"/>
                          <a:ea typeface="微软雅黑" panose="020B0503020204020204" pitchFamily="34" charset="-122"/>
                        </a:rPr>
                        <a:t>。假设当前数据行宽是</a:t>
                      </a:r>
                      <a:r>
                        <a:rPr lang="en-US" altLang="zh-CN" sz="800" b="1">
                          <a:solidFill>
                            <a:srgbClr val="FF0000"/>
                          </a:solidFill>
                          <a:effectLst/>
                          <a:latin typeface="微软雅黑" panose="020B0503020204020204" pitchFamily="34" charset="-122"/>
                          <a:ea typeface="微软雅黑" panose="020B0503020204020204" pitchFamily="34" charset="-122"/>
                        </a:rPr>
                        <a:t>1k</a:t>
                      </a:r>
                      <a:r>
                        <a:rPr lang="zh-CN" altLang="en-US" sz="800" b="1">
                          <a:solidFill>
                            <a:srgbClr val="FF0000"/>
                          </a:solidFill>
                          <a:effectLst/>
                          <a:latin typeface="微软雅黑" panose="020B0503020204020204" pitchFamily="34" charset="-122"/>
                          <a:ea typeface="微软雅黑" panose="020B0503020204020204" pitchFamily="34" charset="-122"/>
                        </a:rPr>
                        <a:t>（包括</a:t>
                      </a:r>
                      <a:r>
                        <a:rPr lang="en-US" altLang="zh-CN" sz="800" b="1">
                          <a:solidFill>
                            <a:srgbClr val="FF0000"/>
                          </a:solidFill>
                          <a:effectLst/>
                          <a:latin typeface="微软雅黑" panose="020B0503020204020204" pitchFamily="34" charset="-122"/>
                          <a:ea typeface="微软雅黑" panose="020B0503020204020204" pitchFamily="34" charset="-122"/>
                        </a:rPr>
                        <a:t>tuple</a:t>
                      </a:r>
                      <a:r>
                        <a:rPr lang="zh-CN" altLang="en-US" sz="800" b="1">
                          <a:solidFill>
                            <a:srgbClr val="FF0000"/>
                          </a:solidFill>
                          <a:effectLst/>
                          <a:latin typeface="微软雅黑" panose="020B0503020204020204" pitchFamily="34" charset="-122"/>
                          <a:ea typeface="微软雅黑" panose="020B0503020204020204" pitchFamily="34" charset="-122"/>
                        </a:rPr>
                        <a:t>头），则单表记录数约为</a:t>
                      </a:r>
                      <a:r>
                        <a:rPr lang="en-US" altLang="zh-CN" sz="800" b="1">
                          <a:solidFill>
                            <a:srgbClr val="FF0000"/>
                          </a:solidFill>
                          <a:effectLst/>
                          <a:latin typeface="微软雅黑" panose="020B0503020204020204" pitchFamily="34" charset="-122"/>
                          <a:ea typeface="微软雅黑" panose="020B0503020204020204" pitchFamily="34" charset="-122"/>
                        </a:rPr>
                        <a:t>7 * 2</a:t>
                      </a:r>
                      <a:r>
                        <a:rPr lang="en-US" altLang="zh-CN" sz="800" b="1" baseline="30000">
                          <a:solidFill>
                            <a:srgbClr val="FF0000"/>
                          </a:solidFill>
                          <a:effectLst/>
                          <a:latin typeface="微软雅黑" panose="020B0503020204020204" pitchFamily="34" charset="-122"/>
                          <a:ea typeface="微软雅黑" panose="020B0503020204020204" pitchFamily="34" charset="-122"/>
                        </a:rPr>
                        <a:t>32</a:t>
                      </a:r>
                      <a:r>
                        <a:rPr lang="zh-CN" altLang="en-US" sz="800" b="1">
                          <a:solidFill>
                            <a:srgbClr val="FF0000"/>
                          </a:solidFill>
                          <a:effectLst/>
                          <a:latin typeface="微软雅黑" panose="020B0503020204020204" pitchFamily="34" charset="-122"/>
                          <a:ea typeface="微软雅黑" panose="020B0503020204020204" pitchFamily="34" charset="-122"/>
                        </a:rPr>
                        <a:t> 行（当前页面大小是</a:t>
                      </a:r>
                      <a:r>
                        <a:rPr lang="en-US" altLang="zh-CN" sz="800" b="1">
                          <a:solidFill>
                            <a:srgbClr val="FF0000"/>
                          </a:solidFill>
                          <a:effectLst/>
                          <a:latin typeface="微软雅黑" panose="020B0503020204020204" pitchFamily="34" charset="-122"/>
                          <a:ea typeface="微软雅黑" panose="020B0503020204020204" pitchFamily="34" charset="-122"/>
                        </a:rPr>
                        <a:t>8k</a:t>
                      </a:r>
                      <a:r>
                        <a:rPr lang="zh-CN" altLang="en-US" sz="800" b="1">
                          <a:solidFill>
                            <a:srgbClr val="FF0000"/>
                          </a:solidFill>
                          <a:effectLst/>
                          <a:latin typeface="微软雅黑" panose="020B0503020204020204" pitchFamily="34" charset="-122"/>
                          <a:ea typeface="微软雅黑" panose="020B0503020204020204" pitchFamily="34" charset="-122"/>
                        </a:rPr>
                        <a:t>，除了页面头，每个页面包含</a:t>
                      </a:r>
                      <a:r>
                        <a:rPr lang="en-US" altLang="zh-CN" sz="800" b="1">
                          <a:solidFill>
                            <a:srgbClr val="FF0000"/>
                          </a:solidFill>
                          <a:effectLst/>
                          <a:latin typeface="微软雅黑" panose="020B0503020204020204" pitchFamily="34" charset="-122"/>
                          <a:ea typeface="微软雅黑" panose="020B0503020204020204" pitchFamily="34" charset="-122"/>
                        </a:rPr>
                        <a:t>7</a:t>
                      </a:r>
                      <a:r>
                        <a:rPr lang="zh-CN" altLang="en-US" sz="800" b="1">
                          <a:solidFill>
                            <a:srgbClr val="FF0000"/>
                          </a:solidFill>
                          <a:effectLst/>
                          <a:latin typeface="微软雅黑" panose="020B0503020204020204" pitchFamily="34" charset="-122"/>
                          <a:ea typeface="微软雅黑" panose="020B0503020204020204" pitchFamily="34" charset="-122"/>
                        </a:rPr>
                        <a:t>行数据）。</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761201335"/>
                  </a:ext>
                </a:extLst>
              </a:tr>
              <a:tr h="189071">
                <a:tc>
                  <a:txBody>
                    <a:bodyPr/>
                    <a:lstStyle/>
                    <a:p>
                      <a:pPr fontAlgn="ctr"/>
                      <a:r>
                        <a:rPr lang="en-US" sz="800" b="1">
                          <a:solidFill>
                            <a:srgbClr val="FF0000"/>
                          </a:solidFill>
                          <a:effectLst/>
                          <a:latin typeface="微软雅黑" panose="020B0503020204020204" pitchFamily="34" charset="-122"/>
                          <a:ea typeface="微软雅黑" panose="020B0503020204020204" pitchFamily="34" charset="-122"/>
                        </a:rPr>
                        <a:t>LOB</a:t>
                      </a:r>
                      <a:r>
                        <a:rPr lang="zh-CN" altLang="en-US" sz="800" b="1">
                          <a:solidFill>
                            <a:srgbClr val="FF0000"/>
                          </a:solidFill>
                          <a:effectLst/>
                          <a:latin typeface="微软雅黑" panose="020B0503020204020204" pitchFamily="34" charset="-122"/>
                          <a:ea typeface="微软雅黑" panose="020B0503020204020204" pitchFamily="34" charset="-122"/>
                        </a:rPr>
                        <a:t>最大容量</a:t>
                      </a:r>
                    </a:p>
                  </a:txBody>
                  <a:tcPr marL="38909" marR="38909" marT="19454" marB="19454" anchor="ctr">
                    <a:lnL>
                      <a:noFill/>
                    </a:lnL>
                    <a:lnR>
                      <a:noFill/>
                    </a:lnR>
                    <a:lnT>
                      <a:noFill/>
                    </a:lnT>
                    <a:lnB>
                      <a:noFill/>
                    </a:lnB>
                    <a:solidFill>
                      <a:srgbClr val="F5F6F8"/>
                    </a:solidFill>
                  </a:tcPr>
                </a:tc>
                <a:tc>
                  <a:txBody>
                    <a:bodyPr/>
                    <a:lstStyle/>
                    <a:p>
                      <a:pPr fontAlgn="ctr"/>
                      <a:r>
                        <a:rPr lang="en-US" sz="800" b="1">
                          <a:solidFill>
                            <a:srgbClr val="FF0000"/>
                          </a:solidFill>
                          <a:effectLst/>
                          <a:latin typeface="微软雅黑" panose="020B0503020204020204" pitchFamily="34" charset="-122"/>
                          <a:ea typeface="微软雅黑" panose="020B0503020204020204" pitchFamily="34" charset="-122"/>
                        </a:rPr>
                        <a:t>(1G -8203)B</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550723192"/>
                  </a:ext>
                </a:extLst>
              </a:tr>
              <a:tr h="305327">
                <a:tc>
                  <a:txBody>
                    <a:bodyPr/>
                    <a:lstStyle/>
                    <a:p>
                      <a:pPr fontAlgn="ctr"/>
                      <a:r>
                        <a:rPr lang="en-US" altLang="zh-CN" sz="800" b="1">
                          <a:solidFill>
                            <a:srgbClr val="FF0000"/>
                          </a:solidFill>
                          <a:effectLst/>
                          <a:latin typeface="微软雅黑" panose="020B0503020204020204" pitchFamily="34" charset="-122"/>
                          <a:ea typeface="微软雅黑" panose="020B0503020204020204" pitchFamily="34" charset="-122"/>
                        </a:rPr>
                        <a:t>SQL</a:t>
                      </a:r>
                      <a:r>
                        <a:rPr lang="zh-CN" altLang="en-US" sz="800" b="1">
                          <a:solidFill>
                            <a:srgbClr val="FF0000"/>
                          </a:solidFill>
                          <a:effectLst/>
                          <a:latin typeface="微软雅黑" panose="020B0503020204020204" pitchFamily="34" charset="-122"/>
                          <a:ea typeface="微软雅黑" panose="020B0503020204020204" pitchFamily="34" charset="-122"/>
                        </a:rPr>
                        <a:t>文本最大长度</a:t>
                      </a:r>
                    </a:p>
                  </a:txBody>
                  <a:tcPr marL="38909" marR="38909" marT="19454" marB="19454" anchor="ctr">
                    <a:lnL>
                      <a:noFill/>
                    </a:lnL>
                    <a:lnR>
                      <a:noFill/>
                    </a:lnR>
                    <a:lnT>
                      <a:noFill/>
                    </a:lnT>
                    <a:lnB>
                      <a:noFill/>
                    </a:lnB>
                    <a:solidFill>
                      <a:srgbClr val="F5F6F8"/>
                    </a:solidFill>
                  </a:tcPr>
                </a:tc>
                <a:tc>
                  <a:txBody>
                    <a:bodyPr/>
                    <a:lstStyle/>
                    <a:p>
                      <a:pPr fontAlgn="ctr"/>
                      <a:r>
                        <a:rPr lang="zh-CN" altLang="en-US" sz="800" b="1">
                          <a:solidFill>
                            <a:srgbClr val="FF0000"/>
                          </a:solidFill>
                          <a:effectLst/>
                          <a:latin typeface="微软雅黑" panose="020B0503020204020204" pitchFamily="34" charset="-122"/>
                          <a:ea typeface="微软雅黑" panose="020B0503020204020204" pitchFamily="34" charset="-122"/>
                        </a:rPr>
                        <a:t>约为</a:t>
                      </a:r>
                      <a:r>
                        <a:rPr lang="en-US" altLang="zh-CN" sz="800" b="1">
                          <a:solidFill>
                            <a:srgbClr val="FF0000"/>
                          </a:solidFill>
                          <a:effectLst/>
                          <a:latin typeface="微软雅黑" panose="020B0503020204020204" pitchFamily="34" charset="-122"/>
                          <a:ea typeface="微软雅黑" panose="020B0503020204020204" pitchFamily="34" charset="-122"/>
                        </a:rPr>
                        <a:t>1GB</a:t>
                      </a:r>
                      <a:r>
                        <a:rPr lang="zh-CN" altLang="en-US" sz="800" b="1">
                          <a:solidFill>
                            <a:srgbClr val="FF0000"/>
                          </a:solidFill>
                          <a:effectLst/>
                          <a:latin typeface="微软雅黑" panose="020B0503020204020204" pitchFamily="34" charset="-122"/>
                          <a:ea typeface="微软雅黑" panose="020B0503020204020204" pitchFamily="34" charset="-122"/>
                        </a:rPr>
                        <a:t>，不同报文接口和处理流程会使用额外空间而略微减少最大可行</a:t>
                      </a:r>
                      <a:r>
                        <a:rPr lang="en-US" altLang="zh-CN" sz="800" b="1">
                          <a:solidFill>
                            <a:srgbClr val="FF0000"/>
                          </a:solidFill>
                          <a:effectLst/>
                          <a:latin typeface="微软雅黑" panose="020B0503020204020204" pitchFamily="34" charset="-122"/>
                          <a:ea typeface="微软雅黑" panose="020B0503020204020204" pitchFamily="34" charset="-122"/>
                        </a:rPr>
                        <a:t>SQL</a:t>
                      </a:r>
                      <a:r>
                        <a:rPr lang="zh-CN" altLang="en-US" sz="800" b="1">
                          <a:solidFill>
                            <a:srgbClr val="FF0000"/>
                          </a:solidFill>
                          <a:effectLst/>
                          <a:latin typeface="微软雅黑" panose="020B0503020204020204" pitchFamily="34" charset="-122"/>
                          <a:ea typeface="微软雅黑" panose="020B0503020204020204" pitchFamily="34" charset="-122"/>
                        </a:rPr>
                        <a:t>长度。</a:t>
                      </a:r>
                    </a:p>
                  </a:txBody>
                  <a:tcPr marL="38909" marR="38909" marT="19454" marB="19454" anchor="ctr">
                    <a:lnL>
                      <a:noFill/>
                    </a:lnL>
                    <a:lnR>
                      <a:noFill/>
                    </a:lnR>
                    <a:lnT>
                      <a:noFill/>
                    </a:lnT>
                    <a:lnB>
                      <a:noFill/>
                    </a:lnB>
                    <a:solidFill>
                      <a:srgbClr val="F5F6F8"/>
                    </a:solidFill>
                  </a:tcPr>
                </a:tc>
                <a:extLst>
                  <a:ext uri="{0D108BD9-81ED-4DB2-BD59-A6C34878D82A}">
                    <a16:rowId xmlns:a16="http://schemas.microsoft.com/office/drawing/2014/main" val="1193529801"/>
                  </a:ext>
                </a:extLst>
              </a:tr>
            </a:tbl>
          </a:graphicData>
        </a:graphic>
      </p:graphicFrame>
    </p:spTree>
    <p:extLst>
      <p:ext uri="{BB962C8B-B14F-4D97-AF65-F5344CB8AC3E}">
        <p14:creationId xmlns:p14="http://schemas.microsoft.com/office/powerpoint/2010/main" val="3126614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a:t>
            </a:r>
            <a:r>
              <a:rPr lang="zh-CN" altLang="en-US" dirty="0"/>
              <a:t>基本功能</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1CF00CA3-67B4-4C77-92DB-4DA5FEAE4185}"/>
              </a:ext>
            </a:extLst>
          </p:cNvPr>
          <p:cNvSpPr>
            <a:spLocks noGrp="1"/>
          </p:cNvSpPr>
          <p:nvPr>
            <p:ph idx="1"/>
          </p:nvPr>
        </p:nvSpPr>
        <p:spPr/>
        <p:txBody>
          <a:bodyPr/>
          <a:lstStyle/>
          <a:p>
            <a:pPr>
              <a:lnSpc>
                <a:spcPct val="100000"/>
              </a:lnSpc>
            </a:pPr>
            <a:r>
              <a:rPr lang="zh-CN" altLang="en-US" sz="2000" dirty="0">
                <a:solidFill>
                  <a:srgbClr val="0000FF"/>
                </a:solidFill>
                <a:sym typeface="Huawei Sans" panose="020C0503030203020204" pitchFamily="34" charset="0"/>
              </a:rPr>
              <a:t>标准</a:t>
            </a:r>
            <a:r>
              <a:rPr lang="en-US" altLang="zh-CN" sz="2000" dirty="0">
                <a:solidFill>
                  <a:srgbClr val="0000FF"/>
                </a:solidFill>
                <a:sym typeface="Huawei Sans" panose="020C0503030203020204" pitchFamily="34" charset="0"/>
              </a:rPr>
              <a:t>SQL</a:t>
            </a:r>
            <a:r>
              <a:rPr lang="zh-CN" altLang="en-US" sz="2000" dirty="0">
                <a:solidFill>
                  <a:srgbClr val="0000FF"/>
                </a:solidFill>
                <a:sym typeface="Huawei Sans" panose="020C0503030203020204" pitchFamily="34" charset="0"/>
              </a:rPr>
              <a:t>支持</a:t>
            </a:r>
          </a:p>
          <a:p>
            <a:pPr lvl="1">
              <a:lnSpc>
                <a:spcPct val="100000"/>
              </a:lnSpc>
            </a:pPr>
            <a:r>
              <a:rPr lang="zh-CN" altLang="en-US" sz="1800" dirty="0">
                <a:sym typeface="Huawei Sans" panose="020C0503030203020204" pitchFamily="34" charset="0"/>
              </a:rPr>
              <a:t>支持标准的</a:t>
            </a:r>
            <a:r>
              <a:rPr lang="en-US" altLang="zh-CN" sz="1800" dirty="0">
                <a:sym typeface="Huawei Sans" panose="020C0503030203020204" pitchFamily="34" charset="0"/>
              </a:rPr>
              <a:t>SQL92/SQL99/SQL2003/SQL2011</a:t>
            </a:r>
            <a:r>
              <a:rPr lang="zh-CN" altLang="en-US" sz="1800" dirty="0">
                <a:sym typeface="Huawei Sans" panose="020C0503030203020204" pitchFamily="34" charset="0"/>
              </a:rPr>
              <a:t>规范，支持</a:t>
            </a:r>
            <a:r>
              <a:rPr lang="en-US" altLang="zh-CN" sz="1800" dirty="0">
                <a:sym typeface="Huawei Sans" panose="020C0503030203020204" pitchFamily="34" charset="0"/>
              </a:rPr>
              <a:t>GBK</a:t>
            </a:r>
            <a:r>
              <a:rPr lang="zh-CN" altLang="en-US" sz="1800" dirty="0">
                <a:sym typeface="Huawei Sans" panose="020C0503030203020204" pitchFamily="34" charset="0"/>
              </a:rPr>
              <a:t>和</a:t>
            </a:r>
            <a:r>
              <a:rPr lang="en-US" altLang="zh-CN" sz="1800" dirty="0">
                <a:sym typeface="Huawei Sans" panose="020C0503030203020204" pitchFamily="34" charset="0"/>
              </a:rPr>
              <a:t>UTF-8</a:t>
            </a:r>
            <a:r>
              <a:rPr lang="zh-CN" altLang="en-US" sz="1800" dirty="0">
                <a:sym typeface="Huawei Sans" panose="020C0503030203020204" pitchFamily="34" charset="0"/>
              </a:rPr>
              <a:t>字符集，支持</a:t>
            </a:r>
            <a:r>
              <a:rPr lang="en-US" altLang="zh-CN" sz="1800" dirty="0">
                <a:sym typeface="Huawei Sans" panose="020C0503030203020204" pitchFamily="34" charset="0"/>
              </a:rPr>
              <a:t>SQL</a:t>
            </a:r>
            <a:r>
              <a:rPr lang="zh-CN" altLang="en-US" sz="1800" dirty="0">
                <a:sym typeface="Huawei Sans" panose="020C0503030203020204" pitchFamily="34" charset="0"/>
              </a:rPr>
              <a:t>标准函数与分析函数，支持存储过程</a:t>
            </a:r>
          </a:p>
          <a:p>
            <a:pPr>
              <a:lnSpc>
                <a:spcPct val="100000"/>
              </a:lnSpc>
            </a:pPr>
            <a:r>
              <a:rPr lang="zh-CN" altLang="en-US" sz="2000" dirty="0">
                <a:solidFill>
                  <a:srgbClr val="0000FF"/>
                </a:solidFill>
                <a:sym typeface="Huawei Sans" panose="020C0503030203020204" pitchFamily="34" charset="0"/>
              </a:rPr>
              <a:t>数据库存储管理功能</a:t>
            </a:r>
          </a:p>
          <a:p>
            <a:pPr lvl="1">
              <a:lnSpc>
                <a:spcPct val="100000"/>
              </a:lnSpc>
            </a:pPr>
            <a:r>
              <a:rPr lang="zh-CN" altLang="en-US" sz="1800" dirty="0">
                <a:sym typeface="Huawei Sans" panose="020C0503030203020204" pitchFamily="34" charset="0"/>
              </a:rPr>
              <a:t>支持表空间，可以把不同表规划到不同的存储位置</a:t>
            </a:r>
          </a:p>
          <a:p>
            <a:pPr>
              <a:lnSpc>
                <a:spcPct val="100000"/>
              </a:lnSpc>
            </a:pPr>
            <a:r>
              <a:rPr lang="zh-CN" altLang="en-US" sz="2000" dirty="0">
                <a:solidFill>
                  <a:srgbClr val="0000FF"/>
                </a:solidFill>
                <a:sym typeface="Huawei Sans" panose="020C0503030203020204" pitchFamily="34" charset="0"/>
              </a:rPr>
              <a:t>提供主备双机</a:t>
            </a:r>
          </a:p>
          <a:p>
            <a:pPr lvl="1">
              <a:lnSpc>
                <a:spcPct val="100000"/>
              </a:lnSpc>
            </a:pPr>
            <a:r>
              <a:rPr lang="zh-CN" altLang="en-US" sz="1800" dirty="0">
                <a:sym typeface="Huawei Sans" panose="020C0503030203020204" pitchFamily="34" charset="0"/>
              </a:rPr>
              <a:t>事务支持</a:t>
            </a:r>
            <a:r>
              <a:rPr lang="en-US" altLang="zh-CN" sz="1800" dirty="0">
                <a:sym typeface="Huawei Sans" panose="020C0503030203020204" pitchFamily="34" charset="0"/>
              </a:rPr>
              <a:t>ACID</a:t>
            </a:r>
            <a:r>
              <a:rPr lang="zh-CN" altLang="en-US" sz="1800" dirty="0">
                <a:sym typeface="Huawei Sans" panose="020C0503030203020204" pitchFamily="34" charset="0"/>
              </a:rPr>
              <a:t>特性、单节点故障恢复、双机数据同步，双机故障切换等</a:t>
            </a:r>
          </a:p>
          <a:p>
            <a:pPr>
              <a:lnSpc>
                <a:spcPct val="100000"/>
              </a:lnSpc>
            </a:pPr>
            <a:r>
              <a:rPr lang="zh-CN" altLang="en-US" sz="2000" dirty="0">
                <a:solidFill>
                  <a:srgbClr val="0000FF"/>
                </a:solidFill>
                <a:sym typeface="Huawei Sans" panose="020C0503030203020204" pitchFamily="34" charset="0"/>
              </a:rPr>
              <a:t>应用程序接口</a:t>
            </a:r>
          </a:p>
          <a:p>
            <a:pPr lvl="1">
              <a:lnSpc>
                <a:spcPct val="100000"/>
              </a:lnSpc>
            </a:pPr>
            <a:r>
              <a:rPr lang="zh-CN" altLang="en-US" sz="1800" dirty="0">
                <a:sym typeface="Huawei Sans" panose="020C0503030203020204" pitchFamily="34" charset="0"/>
              </a:rPr>
              <a:t>支持标准</a:t>
            </a:r>
            <a:r>
              <a:rPr lang="en-US" altLang="zh-CN" sz="1800" dirty="0">
                <a:sym typeface="Huawei Sans" panose="020C0503030203020204" pitchFamily="34" charset="0"/>
              </a:rPr>
              <a:t>JDBC 4.0</a:t>
            </a:r>
            <a:r>
              <a:rPr lang="zh-CN" altLang="en-US" sz="1800" dirty="0">
                <a:sym typeface="Huawei Sans" panose="020C0503030203020204" pitchFamily="34" charset="0"/>
              </a:rPr>
              <a:t>的特性、</a:t>
            </a:r>
            <a:r>
              <a:rPr lang="en-US" altLang="zh-CN" sz="1800" dirty="0">
                <a:sym typeface="Huawei Sans" panose="020C0503030203020204" pitchFamily="34" charset="0"/>
              </a:rPr>
              <a:t>ODBC 3.5</a:t>
            </a:r>
            <a:r>
              <a:rPr lang="zh-CN" altLang="en-US" sz="1800" dirty="0">
                <a:sym typeface="Huawei Sans" panose="020C0503030203020204" pitchFamily="34" charset="0"/>
              </a:rPr>
              <a:t>特性</a:t>
            </a:r>
          </a:p>
          <a:p>
            <a:pPr>
              <a:lnSpc>
                <a:spcPct val="100000"/>
              </a:lnSpc>
            </a:pPr>
            <a:r>
              <a:rPr lang="zh-CN" altLang="en-US" sz="2000" dirty="0">
                <a:solidFill>
                  <a:srgbClr val="0000FF"/>
                </a:solidFill>
                <a:sym typeface="Huawei Sans" panose="020C0503030203020204" pitchFamily="34" charset="0"/>
              </a:rPr>
              <a:t>管理工具</a:t>
            </a:r>
          </a:p>
          <a:p>
            <a:pPr lvl="1">
              <a:lnSpc>
                <a:spcPct val="100000"/>
              </a:lnSpc>
            </a:pPr>
            <a:r>
              <a:rPr lang="zh-CN" altLang="en-US" sz="1800" dirty="0">
                <a:sym typeface="Huawei Sans" panose="020C0503030203020204" pitchFamily="34" charset="0"/>
              </a:rPr>
              <a:t>提供安装部署工具、实例启停工具、备份恢复工具</a:t>
            </a:r>
          </a:p>
          <a:p>
            <a:pPr>
              <a:lnSpc>
                <a:spcPct val="100000"/>
              </a:lnSpc>
            </a:pPr>
            <a:r>
              <a:rPr lang="zh-CN" altLang="en-US" sz="2000" dirty="0">
                <a:solidFill>
                  <a:srgbClr val="0000FF"/>
                </a:solidFill>
                <a:sym typeface="Huawei Sans" panose="020C0503030203020204" pitchFamily="34" charset="0"/>
              </a:rPr>
              <a:t>安全管理</a:t>
            </a:r>
          </a:p>
          <a:p>
            <a:pPr lvl="1">
              <a:lnSpc>
                <a:spcPct val="100000"/>
              </a:lnSpc>
            </a:pPr>
            <a:r>
              <a:rPr lang="zh-CN" altLang="en-US" sz="1800" dirty="0">
                <a:sym typeface="Huawei Sans" panose="020C0503030203020204" pitchFamily="34" charset="0"/>
              </a:rPr>
              <a:t>支持</a:t>
            </a:r>
            <a:r>
              <a:rPr lang="en-US" altLang="zh-CN" sz="1800" dirty="0">
                <a:sym typeface="Huawei Sans" panose="020C0503030203020204" pitchFamily="34" charset="0"/>
              </a:rPr>
              <a:t>SSL</a:t>
            </a:r>
            <a:r>
              <a:rPr lang="zh-CN" altLang="en-US" sz="1800" dirty="0">
                <a:sym typeface="Huawei Sans" panose="020C0503030203020204" pitchFamily="34" charset="0"/>
              </a:rPr>
              <a:t>安全网络连接、用户权限管理、密码管理、安全审计等功能，保证数据库在管理层、应用层、系统层和网络层的安全性</a:t>
            </a:r>
          </a:p>
        </p:txBody>
      </p:sp>
    </p:spTree>
    <p:extLst>
      <p:ext uri="{BB962C8B-B14F-4D97-AF65-F5344CB8AC3E}">
        <p14:creationId xmlns:p14="http://schemas.microsoft.com/office/powerpoint/2010/main" val="134005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a:t>
            </a:r>
            <a:r>
              <a:rPr lang="zh-CN" altLang="en-US" dirty="0"/>
              <a:t>体系结构</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8" name="内容占位符 4">
            <a:extLst>
              <a:ext uri="{FF2B5EF4-FFF2-40B4-BE49-F238E27FC236}">
                <a16:creationId xmlns:a16="http://schemas.microsoft.com/office/drawing/2014/main" id="{6BC1D67E-F444-4171-A17D-83735BDCFA3D}"/>
              </a:ext>
            </a:extLst>
          </p:cNvPr>
          <p:cNvPicPr>
            <a:picLocks noGrp="1" noChangeAspect="1"/>
          </p:cNvPicPr>
          <p:nvPr>
            <p:ph idx="1"/>
          </p:nvPr>
        </p:nvPicPr>
        <p:blipFill>
          <a:blip r:embed="rId2"/>
          <a:stretch>
            <a:fillRect/>
          </a:stretch>
        </p:blipFill>
        <p:spPr>
          <a:xfrm>
            <a:off x="1166326" y="877284"/>
            <a:ext cx="9669083" cy="5103432"/>
          </a:xfrm>
          <a:prstGeom prst="rect">
            <a:avLst/>
          </a:prstGeom>
        </p:spPr>
      </p:pic>
    </p:spTree>
    <p:extLst>
      <p:ext uri="{BB962C8B-B14F-4D97-AF65-F5344CB8AC3E}">
        <p14:creationId xmlns:p14="http://schemas.microsoft.com/office/powerpoint/2010/main" val="2629284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a:t>
            </a:r>
            <a:r>
              <a:rPr lang="zh-CN" altLang="en-US" dirty="0"/>
              <a:t>逻辑结构</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94283F59-C205-404B-8322-45E9D226CC63}"/>
              </a:ext>
            </a:extLst>
          </p:cNvPr>
          <p:cNvGrpSpPr/>
          <p:nvPr/>
        </p:nvGrpSpPr>
        <p:grpSpPr>
          <a:xfrm>
            <a:off x="755870" y="1237451"/>
            <a:ext cx="5924146" cy="4664394"/>
            <a:chOff x="6236629" y="2096751"/>
            <a:chExt cx="5143650" cy="4038275"/>
          </a:xfrm>
        </p:grpSpPr>
        <p:sp>
          <p:nvSpPr>
            <p:cNvPr id="10" name="圆柱形 9">
              <a:extLst>
                <a:ext uri="{FF2B5EF4-FFF2-40B4-BE49-F238E27FC236}">
                  <a16:creationId xmlns:a16="http://schemas.microsoft.com/office/drawing/2014/main" id="{814AF777-BA7A-4A81-BA30-2CA032B61FC9}"/>
                </a:ext>
              </a:extLst>
            </p:cNvPr>
            <p:cNvSpPr/>
            <p:nvPr/>
          </p:nvSpPr>
          <p:spPr>
            <a:xfrm>
              <a:off x="6236629" y="2096751"/>
              <a:ext cx="5143650" cy="4038275"/>
            </a:xfrm>
            <a:prstGeom prst="can">
              <a:avLst>
                <a:gd name="adj" fmla="val 15867"/>
              </a:avLst>
            </a:prstGeom>
            <a:solidFill>
              <a:srgbClr val="94DA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a:extLst>
                <a:ext uri="{FF2B5EF4-FFF2-40B4-BE49-F238E27FC236}">
                  <a16:creationId xmlns:a16="http://schemas.microsoft.com/office/drawing/2014/main" id="{0139298D-434D-4915-B580-C6506511E2BA}"/>
                </a:ext>
              </a:extLst>
            </p:cNvPr>
            <p:cNvSpPr/>
            <p:nvPr/>
          </p:nvSpPr>
          <p:spPr>
            <a:xfrm>
              <a:off x="6444931" y="5117400"/>
              <a:ext cx="4707607" cy="738536"/>
            </a:xfrm>
            <a:prstGeom prst="rect">
              <a:avLst/>
            </a:prstGeom>
            <a:solidFill>
              <a:srgbClr val="30B5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FFFF00"/>
                  </a:solidFill>
                  <a:latin typeface="Huawei Sans" panose="020C0503030203020204" pitchFamily="34" charset="0"/>
                  <a:ea typeface="方正兰亭黑简体" panose="02000000000000000000" pitchFamily="2" charset="-122"/>
                  <a:sym typeface="Huawei Sans" panose="020C0503030203020204" pitchFamily="34" charset="0"/>
                </a:rPr>
                <a:t>Tablespace2</a:t>
              </a:r>
              <a:endParaRPr lang="zh-CN" altLang="en-US" sz="1400" b="1" dirty="0">
                <a:solidFill>
                  <a:srgbClr val="FFF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a:extLst>
                <a:ext uri="{FF2B5EF4-FFF2-40B4-BE49-F238E27FC236}">
                  <a16:creationId xmlns:a16="http://schemas.microsoft.com/office/drawing/2014/main" id="{1153FC62-C6C4-4E9E-B52E-A37FAB93AC4B}"/>
                </a:ext>
              </a:extLst>
            </p:cNvPr>
            <p:cNvSpPr/>
            <p:nvPr/>
          </p:nvSpPr>
          <p:spPr>
            <a:xfrm>
              <a:off x="6444931" y="3028995"/>
              <a:ext cx="4707607" cy="1965363"/>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FFFF00"/>
                  </a:solidFill>
                  <a:latin typeface="Huawei Sans" panose="020C0503030203020204" pitchFamily="34" charset="0"/>
                  <a:ea typeface="方正兰亭黑简体" panose="02000000000000000000" pitchFamily="2" charset="-122"/>
                  <a:sym typeface="Huawei Sans" panose="020C0503030203020204" pitchFamily="34" charset="0"/>
                </a:rPr>
                <a:t>Tablespace1</a:t>
              </a:r>
              <a:endParaRPr lang="zh-CN" altLang="en-US" sz="1400" b="1" dirty="0">
                <a:solidFill>
                  <a:srgbClr val="FFF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a:extLst>
                <a:ext uri="{FF2B5EF4-FFF2-40B4-BE49-F238E27FC236}">
                  <a16:creationId xmlns:a16="http://schemas.microsoft.com/office/drawing/2014/main" id="{BBEAF4B0-58A0-4724-90A1-50ED1F589008}"/>
                </a:ext>
              </a:extLst>
            </p:cNvPr>
            <p:cNvSpPr/>
            <p:nvPr/>
          </p:nvSpPr>
          <p:spPr>
            <a:xfrm>
              <a:off x="9287534" y="2778182"/>
              <a:ext cx="1770565" cy="2071707"/>
            </a:xfrm>
            <a:prstGeom prst="rect">
              <a:avLst/>
            </a:prstGeom>
            <a:solidFill>
              <a:schemeClr val="bg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400" b="1"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Database2</a:t>
              </a:r>
              <a:endParaRPr lang="zh-CN" altLang="en-US" sz="1400" b="1"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a:extLst>
                <a:ext uri="{FF2B5EF4-FFF2-40B4-BE49-F238E27FC236}">
                  <a16:creationId xmlns:a16="http://schemas.microsoft.com/office/drawing/2014/main" id="{97348AFF-501D-4CEE-A8D7-9693375500AB}"/>
                </a:ext>
              </a:extLst>
            </p:cNvPr>
            <p:cNvSpPr/>
            <p:nvPr/>
          </p:nvSpPr>
          <p:spPr>
            <a:xfrm>
              <a:off x="7525154" y="2778181"/>
              <a:ext cx="1703805" cy="3162446"/>
            </a:xfrm>
            <a:prstGeom prst="rect">
              <a:avLst/>
            </a:prstGeom>
            <a:solidFill>
              <a:schemeClr val="bg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400" b="1"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Database1</a:t>
              </a:r>
              <a:endParaRPr lang="zh-CN" altLang="en-US" sz="1400" b="1"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组合 14">
              <a:extLst>
                <a:ext uri="{FF2B5EF4-FFF2-40B4-BE49-F238E27FC236}">
                  <a16:creationId xmlns:a16="http://schemas.microsoft.com/office/drawing/2014/main" id="{A8DF47EA-92F1-430C-8861-2277E7F3D5D5}"/>
                </a:ext>
              </a:extLst>
            </p:cNvPr>
            <p:cNvGrpSpPr/>
            <p:nvPr/>
          </p:nvGrpSpPr>
          <p:grpSpPr>
            <a:xfrm>
              <a:off x="7644381" y="3068497"/>
              <a:ext cx="1430048" cy="1867124"/>
              <a:chOff x="9198444" y="3331648"/>
              <a:chExt cx="1392965" cy="1877314"/>
            </a:xfrm>
          </p:grpSpPr>
          <p:sp>
            <p:nvSpPr>
              <p:cNvPr id="23" name="矩形 22">
                <a:extLst>
                  <a:ext uri="{FF2B5EF4-FFF2-40B4-BE49-F238E27FC236}">
                    <a16:creationId xmlns:a16="http://schemas.microsoft.com/office/drawing/2014/main" id="{F3DA82D0-1098-49A0-B6E0-AE5EDD17FF4E}"/>
                  </a:ext>
                </a:extLst>
              </p:cNvPr>
              <p:cNvSpPr/>
              <p:nvPr/>
            </p:nvSpPr>
            <p:spPr>
              <a:xfrm>
                <a:off x="9198444" y="3331648"/>
                <a:ext cx="1392965" cy="1877314"/>
              </a:xfrm>
              <a:prstGeom prst="rect">
                <a:avLst/>
              </a:prstGeom>
              <a:solidFill>
                <a:srgbClr val="E8E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2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Table 1</a:t>
                </a:r>
              </a:p>
              <a:p>
                <a:pPr algn="ct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a:extLst>
                  <a:ext uri="{FF2B5EF4-FFF2-40B4-BE49-F238E27FC236}">
                    <a16:creationId xmlns:a16="http://schemas.microsoft.com/office/drawing/2014/main" id="{29781FA1-2D3D-49DA-AE05-536E790ECB44}"/>
                  </a:ext>
                </a:extLst>
              </p:cNvPr>
              <p:cNvSpPr/>
              <p:nvPr/>
            </p:nvSpPr>
            <p:spPr>
              <a:xfrm>
                <a:off x="9270151" y="3597362"/>
                <a:ext cx="1230594" cy="1205632"/>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200" b="1" dirty="0">
                    <a:solidFill>
                      <a:srgbClr val="FFFF00"/>
                    </a:solidFill>
                    <a:latin typeface="Huawei Sans" panose="020C0503030203020204" pitchFamily="34" charset="0"/>
                    <a:ea typeface="方正兰亭黑简体" panose="02000000000000000000" pitchFamily="2" charset="-122"/>
                    <a:sym typeface="Huawei Sans" panose="020C0503030203020204" pitchFamily="34" charset="0"/>
                  </a:rPr>
                  <a:t>Datafile Segment 1</a:t>
                </a:r>
                <a:endParaRPr lang="zh-CN" altLang="en-US" sz="1200" b="1" dirty="0">
                  <a:solidFill>
                    <a:srgbClr val="FFFF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a:extLst>
                  <a:ext uri="{FF2B5EF4-FFF2-40B4-BE49-F238E27FC236}">
                    <a16:creationId xmlns:a16="http://schemas.microsoft.com/office/drawing/2014/main" id="{8AF2B48C-4BF6-40EA-9216-69419AD753A1}"/>
                  </a:ext>
                </a:extLst>
              </p:cNvPr>
              <p:cNvSpPr/>
              <p:nvPr/>
            </p:nvSpPr>
            <p:spPr>
              <a:xfrm>
                <a:off x="9342790" y="3996419"/>
                <a:ext cx="1085316" cy="174837"/>
              </a:xfrm>
              <a:prstGeom prst="rect">
                <a:avLst/>
              </a:prstGeom>
              <a:solidFill>
                <a:srgbClr val="E8E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Block 1</a:t>
                </a:r>
                <a:endPar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a:extLst>
                  <a:ext uri="{FF2B5EF4-FFF2-40B4-BE49-F238E27FC236}">
                    <a16:creationId xmlns:a16="http://schemas.microsoft.com/office/drawing/2014/main" id="{D413D4F1-AA3D-49D9-8A33-CDA2164783DF}"/>
                  </a:ext>
                </a:extLst>
              </p:cNvPr>
              <p:cNvSpPr/>
              <p:nvPr/>
            </p:nvSpPr>
            <p:spPr>
              <a:xfrm>
                <a:off x="9342790" y="4213875"/>
                <a:ext cx="1085316" cy="197709"/>
              </a:xfrm>
              <a:prstGeom prst="rect">
                <a:avLst/>
              </a:prstGeom>
              <a:solidFill>
                <a:srgbClr val="E8E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Block 2</a:t>
                </a:r>
                <a:endPar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id="{AA110EBF-17B5-4835-9C5D-1C23BBF6018E}"/>
                  </a:ext>
                </a:extLst>
              </p:cNvPr>
              <p:cNvSpPr txBox="1"/>
              <p:nvPr/>
            </p:nvSpPr>
            <p:spPr>
              <a:xfrm>
                <a:off x="9775465" y="4411584"/>
                <a:ext cx="390447" cy="218520"/>
              </a:xfrm>
              <a:prstGeom prst="rect">
                <a:avLst/>
              </a:prstGeom>
              <a:noFill/>
              <a:ln>
                <a:noFill/>
              </a:ln>
            </p:spPr>
            <p:txBody>
              <a:bodyPr vert="eaVert" wrap="none" rtlCol="0">
                <a:spAutoFit/>
              </a:bodyPr>
              <a:lstStyle/>
              <a:p>
                <a:r>
                  <a:rPr lang="en-US" altLang="zh-CN"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a:extLst>
                  <a:ext uri="{FF2B5EF4-FFF2-40B4-BE49-F238E27FC236}">
                    <a16:creationId xmlns:a16="http://schemas.microsoft.com/office/drawing/2014/main" id="{9ACA6F12-78A5-4D71-97FC-682BF96FAA39}"/>
                  </a:ext>
                </a:extLst>
              </p:cNvPr>
              <p:cNvSpPr/>
              <p:nvPr/>
            </p:nvSpPr>
            <p:spPr>
              <a:xfrm>
                <a:off x="9270151" y="4840434"/>
                <a:ext cx="1230594" cy="342990"/>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Datafile Segment 2</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a:extLst>
                  <a:ext uri="{FF2B5EF4-FFF2-40B4-BE49-F238E27FC236}">
                    <a16:creationId xmlns:a16="http://schemas.microsoft.com/office/drawing/2014/main" id="{0A406282-CD07-47D1-AB6F-CF7147907D03}"/>
                  </a:ext>
                </a:extLst>
              </p:cNvPr>
              <p:cNvSpPr/>
              <p:nvPr/>
            </p:nvSpPr>
            <p:spPr>
              <a:xfrm>
                <a:off x="9342790" y="4590283"/>
                <a:ext cx="1085316" cy="196560"/>
              </a:xfrm>
              <a:prstGeom prst="rect">
                <a:avLst/>
              </a:prstGeom>
              <a:solidFill>
                <a:srgbClr val="E8E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Block n</a:t>
                </a:r>
                <a:endPar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 name="矩形 15">
              <a:extLst>
                <a:ext uri="{FF2B5EF4-FFF2-40B4-BE49-F238E27FC236}">
                  <a16:creationId xmlns:a16="http://schemas.microsoft.com/office/drawing/2014/main" id="{C53F8A83-AB6A-472B-A80B-924FB6BF0A8F}"/>
                </a:ext>
              </a:extLst>
            </p:cNvPr>
            <p:cNvSpPr/>
            <p:nvPr/>
          </p:nvSpPr>
          <p:spPr>
            <a:xfrm>
              <a:off x="9340628" y="3068497"/>
              <a:ext cx="1636936" cy="360318"/>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Datafile Segment 4</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a:extLst>
                <a:ext uri="{FF2B5EF4-FFF2-40B4-BE49-F238E27FC236}">
                  <a16:creationId xmlns:a16="http://schemas.microsoft.com/office/drawing/2014/main" id="{01C0B27F-6599-4A81-9C5B-85B0B3932282}"/>
                </a:ext>
              </a:extLst>
            </p:cNvPr>
            <p:cNvSpPr/>
            <p:nvPr/>
          </p:nvSpPr>
          <p:spPr>
            <a:xfrm>
              <a:off x="9340629" y="3529734"/>
              <a:ext cx="1636935" cy="373814"/>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Datafile Segment 5</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a:extLst>
                <a:ext uri="{FF2B5EF4-FFF2-40B4-BE49-F238E27FC236}">
                  <a16:creationId xmlns:a16="http://schemas.microsoft.com/office/drawing/2014/main" id="{BFB118A8-ACD7-43CA-A4BA-4A8079DE5621}"/>
                </a:ext>
              </a:extLst>
            </p:cNvPr>
            <p:cNvSpPr/>
            <p:nvPr/>
          </p:nvSpPr>
          <p:spPr>
            <a:xfrm>
              <a:off x="9340629" y="3990971"/>
              <a:ext cx="1636935" cy="347039"/>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Datafile Segment 6</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a:extLst>
                <a:ext uri="{FF2B5EF4-FFF2-40B4-BE49-F238E27FC236}">
                  <a16:creationId xmlns:a16="http://schemas.microsoft.com/office/drawing/2014/main" id="{3252D2C9-4835-4E8F-B48E-BAAF8051A9A1}"/>
                </a:ext>
              </a:extLst>
            </p:cNvPr>
            <p:cNvSpPr/>
            <p:nvPr/>
          </p:nvSpPr>
          <p:spPr>
            <a:xfrm>
              <a:off x="9340629" y="4410546"/>
              <a:ext cx="1636935" cy="373814"/>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Datafile Segment 7</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0" name="组合 19">
              <a:extLst>
                <a:ext uri="{FF2B5EF4-FFF2-40B4-BE49-F238E27FC236}">
                  <a16:creationId xmlns:a16="http://schemas.microsoft.com/office/drawing/2014/main" id="{4938D0CC-2DE9-44B2-805B-BE05F41D6C17}"/>
                </a:ext>
              </a:extLst>
            </p:cNvPr>
            <p:cNvGrpSpPr/>
            <p:nvPr/>
          </p:nvGrpSpPr>
          <p:grpSpPr>
            <a:xfrm>
              <a:off x="7644381" y="5157924"/>
              <a:ext cx="1430048" cy="647328"/>
              <a:chOff x="10138455" y="3714579"/>
              <a:chExt cx="1466734" cy="778606"/>
            </a:xfrm>
          </p:grpSpPr>
          <p:sp>
            <p:nvSpPr>
              <p:cNvPr id="21" name="矩形 20">
                <a:extLst>
                  <a:ext uri="{FF2B5EF4-FFF2-40B4-BE49-F238E27FC236}">
                    <a16:creationId xmlns:a16="http://schemas.microsoft.com/office/drawing/2014/main" id="{FBBD298D-3146-4961-A5FE-4938C8E97B95}"/>
                  </a:ext>
                </a:extLst>
              </p:cNvPr>
              <p:cNvSpPr/>
              <p:nvPr/>
            </p:nvSpPr>
            <p:spPr>
              <a:xfrm>
                <a:off x="10138455" y="3714579"/>
                <a:ext cx="1466734" cy="778606"/>
              </a:xfrm>
              <a:prstGeom prst="rect">
                <a:avLst/>
              </a:prstGeom>
              <a:solidFill>
                <a:srgbClr val="E8E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Table 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a:extLst>
                  <a:ext uri="{FF2B5EF4-FFF2-40B4-BE49-F238E27FC236}">
                    <a16:creationId xmlns:a16="http://schemas.microsoft.com/office/drawing/2014/main" id="{2C9CD614-531D-4FAF-B356-EF8769DDF44F}"/>
                  </a:ext>
                </a:extLst>
              </p:cNvPr>
              <p:cNvSpPr/>
              <p:nvPr/>
            </p:nvSpPr>
            <p:spPr>
              <a:xfrm>
                <a:off x="10242028" y="3965232"/>
                <a:ext cx="1259881" cy="424174"/>
              </a:xfrm>
              <a:prstGeom prst="rect">
                <a:avLst/>
              </a:prstGeom>
              <a:solidFill>
                <a:srgbClr val="30B5C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Datafile Segment 3</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0" name="文本框 29">
            <a:extLst>
              <a:ext uri="{FF2B5EF4-FFF2-40B4-BE49-F238E27FC236}">
                <a16:creationId xmlns:a16="http://schemas.microsoft.com/office/drawing/2014/main" id="{5258897E-875F-4061-8731-B25E202BC9E8}"/>
              </a:ext>
            </a:extLst>
          </p:cNvPr>
          <p:cNvSpPr txBox="1"/>
          <p:nvPr/>
        </p:nvSpPr>
        <p:spPr>
          <a:xfrm>
            <a:off x="6885405" y="1262207"/>
            <a:ext cx="4604229" cy="4746299"/>
          </a:xfrm>
          <a:prstGeom prst="rect">
            <a:avLst/>
          </a:prstGeom>
          <a:noFill/>
        </p:spPr>
        <p:txBody>
          <a:bodyPr wrap="square" rtlCol="0">
            <a:spAutoFit/>
          </a:bodyPr>
          <a:lstStyle/>
          <a:p>
            <a:pPr marL="174625" indent="-174625">
              <a:lnSpc>
                <a:spcPct val="130000"/>
              </a:lnSpc>
              <a:buSzPct val="50000"/>
              <a:buFont typeface="Wingdings" panose="05000000000000000000" pitchFamily="2" charset="2"/>
              <a:buChar char="l"/>
            </a:pPr>
            <a:r>
              <a:rPr lang="en-US" altLang="zh-CN"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Tablespace</a:t>
            </a:r>
            <a:r>
              <a:rPr lang="zh-CN" altLang="en-US"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表空间，是一个目录，可以存在多个，里面存储的是它所包含的数据库的各种物理文件。每个表空间可以对应多个数据库。</a:t>
            </a:r>
            <a:r>
              <a:rPr lang="zh-CN" altLang="en-US" sz="1400"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默认表空间</a:t>
            </a:r>
            <a:endParaRPr lang="en-US" altLang="zh-CN" sz="1400"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endParaRPr lang="zh-CN" altLang="en-US" sz="600"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r>
              <a:rPr lang="en-US" altLang="zh-CN"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Database</a:t>
            </a:r>
            <a:r>
              <a:rPr lang="zh-CN" altLang="en-US"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数据库，用于管理各类数据对象，各数据库间相互隔离。数据库管理的对象可分布在多个表空间上。</a:t>
            </a:r>
            <a:endParaRPr lang="en-US" altLang="zh-CN"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endParaRPr lang="zh-CN" altLang="en-US" sz="6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r>
              <a:rPr lang="en-US" altLang="zh-CN"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Datafile Segment</a:t>
            </a:r>
            <a:r>
              <a:rPr lang="zh-CN" altLang="en-US" sz="1400" b="1"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数据文件，通常每张表只对应一个数据文件。如果某张表的数据大于</a:t>
            </a:r>
            <a:r>
              <a:rPr lang="en-US" altLang="zh-CN"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1GB</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，则会分为多个数据文件存储。</a:t>
            </a:r>
            <a:endParaRPr lang="en-US" altLang="zh-CN"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endParaRPr lang="en-US" altLang="zh-CN" sz="6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r>
              <a:rPr lang="en-US" altLang="zh-CN"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Table</a:t>
            </a:r>
            <a:r>
              <a:rPr lang="zh-CN" altLang="en-US" sz="1400" b="1"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表，每张表只能属于一个数据库，也只能对应到一个表空间。每张表对应的数据文件必须在同一个表空间中。</a:t>
            </a:r>
            <a:endParaRPr lang="en-US" altLang="zh-CN"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endParaRPr lang="zh-CN" altLang="en-US" sz="6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r>
              <a:rPr lang="en-US" altLang="zh-CN"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Block</a:t>
            </a:r>
            <a:r>
              <a:rPr lang="zh-CN" altLang="en-US" sz="1400" b="1"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数据块，是数据库管理的基本单位，默认大小为</a:t>
            </a:r>
            <a:r>
              <a:rPr lang="en-US" altLang="zh-CN"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8KB</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endParaRPr lang="en-US" altLang="zh-CN"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endParaRPr>
          </a:p>
          <a:p>
            <a:pPr marL="174625" indent="-174625">
              <a:lnSpc>
                <a:spcPct val="130000"/>
              </a:lnSpc>
              <a:buSzPct val="50000"/>
              <a:buFont typeface="Wingdings" panose="05000000000000000000" pitchFamily="2" charset="2"/>
              <a:buChar char="l"/>
            </a:pPr>
            <a:r>
              <a:rPr lang="en-US" altLang="zh-CN" sz="1400" b="1" dirty="0">
                <a:solidFill>
                  <a:srgbClr val="FF0000"/>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Segment</a:t>
            </a:r>
            <a:r>
              <a:rPr lang="zh-CN" altLang="en-US" sz="1400" b="1"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a:t>
            </a:r>
            <a:r>
              <a:rPr lang="zh-CN" altLang="en-US" sz="1400" dirty="0">
                <a:solidFill>
                  <a:srgbClr val="0000FF"/>
                </a:solidFill>
                <a:latin typeface="HarmonyOS Sans SC Medium" panose="00000600000000000000" pitchFamily="2" charset="-122"/>
                <a:ea typeface="阿里巴巴普惠体 3.0 55 Regular" panose="00020600040101010101" pitchFamily="18" charset="-122"/>
                <a:sym typeface="Huawei Sans" panose="020C0503030203020204" pitchFamily="34" charset="0"/>
              </a:rPr>
              <a:t>段，连续的数据块</a:t>
            </a:r>
          </a:p>
        </p:txBody>
      </p:sp>
    </p:spTree>
    <p:extLst>
      <p:ext uri="{BB962C8B-B14F-4D97-AF65-F5344CB8AC3E}">
        <p14:creationId xmlns:p14="http://schemas.microsoft.com/office/powerpoint/2010/main" val="2768472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a:t>
            </a:r>
            <a:r>
              <a:rPr lang="zh-CN" altLang="en-US" dirty="0"/>
              <a:t>物理结构</a:t>
            </a:r>
          </a:p>
        </p:txBody>
      </p:sp>
      <p:sp>
        <p:nvSpPr>
          <p:cNvPr id="3" name="内容占位符 2">
            <a:extLst>
              <a:ext uri="{FF2B5EF4-FFF2-40B4-BE49-F238E27FC236}">
                <a16:creationId xmlns:a16="http://schemas.microsoft.com/office/drawing/2014/main" id="{8274BF64-7D11-465B-BFA1-6816BC4E1E6B}"/>
              </a:ext>
            </a:extLst>
          </p:cNvPr>
          <p:cNvSpPr>
            <a:spLocks noGrp="1"/>
          </p:cNvSpPr>
          <p:nvPr>
            <p:ph idx="1"/>
          </p:nvPr>
        </p:nvSpPr>
        <p:spPr/>
        <p:txBody>
          <a:bodyPr/>
          <a:lstStyle/>
          <a:p>
            <a:r>
              <a:rPr lang="zh-CN" altLang="en-US" dirty="0"/>
              <a:t>数据库的文件默认保存在</a:t>
            </a:r>
            <a:r>
              <a:rPr lang="en-US" altLang="zh-CN" dirty="0"/>
              <a:t>initdb</a:t>
            </a:r>
            <a:r>
              <a:rPr lang="zh-CN" altLang="en-US" dirty="0"/>
              <a:t>时创建的数据目录中</a:t>
            </a:r>
            <a:endParaRPr lang="en-US" altLang="zh-CN" dirty="0"/>
          </a:p>
          <a:p>
            <a:endParaRPr lang="en-US" altLang="zh-CN" sz="600" dirty="0"/>
          </a:p>
          <a:p>
            <a:r>
              <a:rPr lang="zh-CN" altLang="en-US" dirty="0"/>
              <a:t>在数据目录中有很多类型、功能不同的目录和文件</a:t>
            </a:r>
            <a:endParaRPr lang="en-US" altLang="zh-CN" dirty="0"/>
          </a:p>
          <a:p>
            <a:pPr lvl="1"/>
            <a:r>
              <a:rPr lang="zh-CN" altLang="en-US" dirty="0"/>
              <a:t>除了</a:t>
            </a:r>
            <a:r>
              <a:rPr lang="zh-CN" altLang="en-US" dirty="0">
                <a:solidFill>
                  <a:srgbClr val="0000CC"/>
                </a:solidFill>
              </a:rPr>
              <a:t>数据文件</a:t>
            </a:r>
            <a:r>
              <a:rPr lang="zh-CN" altLang="en-US" dirty="0"/>
              <a:t>之外，还有</a:t>
            </a:r>
            <a:endParaRPr lang="en-US" altLang="zh-CN" dirty="0"/>
          </a:p>
          <a:p>
            <a:pPr lvl="1"/>
            <a:r>
              <a:rPr lang="zh-CN" altLang="en-US" dirty="0">
                <a:solidFill>
                  <a:srgbClr val="FF0000"/>
                </a:solidFill>
              </a:rPr>
              <a:t>参数文件</a:t>
            </a:r>
            <a:endParaRPr lang="en-US" altLang="zh-CN" dirty="0">
              <a:solidFill>
                <a:srgbClr val="FF0000"/>
              </a:solidFill>
            </a:endParaRPr>
          </a:p>
          <a:p>
            <a:pPr lvl="1"/>
            <a:r>
              <a:rPr lang="zh-CN" altLang="en-US" dirty="0">
                <a:solidFill>
                  <a:srgbClr val="FF0000"/>
                </a:solidFill>
              </a:rPr>
              <a:t>控制文件</a:t>
            </a:r>
            <a:endParaRPr lang="en-US" altLang="zh-CN" dirty="0">
              <a:solidFill>
                <a:srgbClr val="FF0000"/>
              </a:solidFill>
            </a:endParaRPr>
          </a:p>
          <a:p>
            <a:pPr lvl="1"/>
            <a:r>
              <a:rPr lang="zh-CN" altLang="en-US" dirty="0">
                <a:solidFill>
                  <a:srgbClr val="FF0000"/>
                </a:solidFill>
              </a:rPr>
              <a:t>数据库运行日志</a:t>
            </a:r>
            <a:endParaRPr lang="en-US" altLang="zh-CN" dirty="0">
              <a:solidFill>
                <a:srgbClr val="FF0000"/>
              </a:solidFill>
            </a:endParaRPr>
          </a:p>
          <a:p>
            <a:pPr lvl="1"/>
            <a:r>
              <a:rPr lang="zh-CN" altLang="en-US" dirty="0">
                <a:solidFill>
                  <a:srgbClr val="FF0000"/>
                </a:solidFill>
              </a:rPr>
              <a:t>预写日志</a:t>
            </a:r>
            <a:endParaRPr lang="en-US" altLang="zh-CN" dirty="0">
              <a:solidFill>
                <a:srgbClr val="FF0000"/>
              </a:solidFill>
            </a:endParaRPr>
          </a:p>
          <a:p>
            <a:pPr lvl="1"/>
            <a:r>
              <a:rPr lang="en-US" altLang="zh-CN" dirty="0">
                <a:solidFill>
                  <a:srgbClr val="FF0000"/>
                </a:solidFill>
              </a:rPr>
              <a:t>…</a:t>
            </a:r>
            <a:endParaRPr lang="zh-CN" altLang="en-US" dirty="0"/>
          </a:p>
          <a:p>
            <a:endParaRPr lang="zh-CN" altLang="en-US" dirty="0"/>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142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dirty="0"/>
              <a:t>~openGauss</a:t>
            </a:r>
            <a:r>
              <a:rPr lang="zh-CN" altLang="en-US" dirty="0"/>
              <a:t>的响应流程</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8" name="内容占位符 4">
            <a:extLst>
              <a:ext uri="{FF2B5EF4-FFF2-40B4-BE49-F238E27FC236}">
                <a16:creationId xmlns:a16="http://schemas.microsoft.com/office/drawing/2014/main" id="{72CB8EC6-1826-4C46-9AE2-5EDD6F2BF520}"/>
              </a:ext>
            </a:extLst>
          </p:cNvPr>
          <p:cNvPicPr>
            <a:picLocks noGrp="1" noChangeAspect="1"/>
          </p:cNvPicPr>
          <p:nvPr>
            <p:ph idx="1"/>
          </p:nvPr>
        </p:nvPicPr>
        <p:blipFill>
          <a:blip r:embed="rId2"/>
          <a:stretch>
            <a:fillRect/>
          </a:stretch>
        </p:blipFill>
        <p:spPr>
          <a:xfrm>
            <a:off x="1912916" y="915362"/>
            <a:ext cx="7062118" cy="5402713"/>
          </a:xfrm>
          <a:prstGeom prst="rect">
            <a:avLst/>
          </a:prstGeom>
        </p:spPr>
      </p:pic>
    </p:spTree>
    <p:extLst>
      <p:ext uri="{BB962C8B-B14F-4D97-AF65-F5344CB8AC3E}">
        <p14:creationId xmlns:p14="http://schemas.microsoft.com/office/powerpoint/2010/main" val="874042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3.1.4</a:t>
            </a:r>
            <a:r>
              <a:rPr lang="zh-CN" altLang="en-US"/>
              <a:t>数据库系统</a:t>
            </a:r>
            <a:r>
              <a:rPr lang="en-US" altLang="zh-CN"/>
              <a:t>(DBS)</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6F9546A9-3117-4FF5-8F8D-94B100A62F62}"/>
              </a:ext>
            </a:extLst>
          </p:cNvPr>
          <p:cNvSpPr>
            <a:spLocks noGrp="1"/>
          </p:cNvSpPr>
          <p:nvPr>
            <p:ph idx="1"/>
          </p:nvPr>
        </p:nvSpPr>
        <p:spPr/>
        <p:txBody>
          <a:bodyPr/>
          <a:lstStyle/>
          <a:p>
            <a:r>
              <a:rPr lang="en-US" altLang="zh-CN">
                <a:solidFill>
                  <a:srgbClr val="FF0000"/>
                </a:solidFill>
              </a:rPr>
              <a:t>Database System</a:t>
            </a:r>
            <a:r>
              <a:rPr lang="en-US" altLang="zh-CN"/>
              <a:t>(</a:t>
            </a:r>
            <a:r>
              <a:rPr lang="zh-CN" altLang="en-US"/>
              <a:t>简写为</a:t>
            </a:r>
            <a:r>
              <a:rPr lang="en-US" altLang="zh-CN">
                <a:solidFill>
                  <a:srgbClr val="FF0000"/>
                </a:solidFill>
              </a:rPr>
              <a:t>DBS</a:t>
            </a:r>
            <a:r>
              <a:rPr lang="en-US" altLang="zh-CN"/>
              <a:t>)</a:t>
            </a:r>
          </a:p>
          <a:p>
            <a:pPr lvl="1">
              <a:defRPr/>
            </a:pPr>
            <a:r>
              <a:rPr lang="en-US" altLang="zh-CN"/>
              <a:t>DBS</a:t>
            </a:r>
            <a:r>
              <a:rPr lang="zh-CN" altLang="en-US"/>
              <a:t>是指引入数据库后的</a:t>
            </a:r>
            <a:r>
              <a:rPr lang="zh-CN" altLang="en-US">
                <a:solidFill>
                  <a:srgbClr val="FF0000"/>
                </a:solidFill>
              </a:rPr>
              <a:t>计算机系统</a:t>
            </a:r>
            <a:r>
              <a:rPr lang="zh-CN" altLang="en-US"/>
              <a:t>，一般指由</a:t>
            </a:r>
            <a:r>
              <a:rPr lang="zh-CN" altLang="en-US">
                <a:solidFill>
                  <a:srgbClr val="FF0000"/>
                </a:solidFill>
              </a:rPr>
              <a:t>数据库</a:t>
            </a:r>
            <a:r>
              <a:rPr lang="zh-CN" altLang="en-US"/>
              <a:t>、</a:t>
            </a:r>
            <a:r>
              <a:rPr lang="zh-CN" altLang="en-US">
                <a:solidFill>
                  <a:srgbClr val="FF0000"/>
                </a:solidFill>
              </a:rPr>
              <a:t>数据库管理系统</a:t>
            </a:r>
            <a:r>
              <a:rPr lang="en-US" altLang="zh-CN">
                <a:solidFill>
                  <a:srgbClr val="FF0000"/>
                </a:solidFill>
              </a:rPr>
              <a:t>(</a:t>
            </a:r>
            <a:r>
              <a:rPr lang="zh-CN" altLang="en-US">
                <a:solidFill>
                  <a:srgbClr val="FF0000"/>
                </a:solidFill>
              </a:rPr>
              <a:t>及其应用开发工具</a:t>
            </a:r>
            <a:r>
              <a:rPr lang="en-US" altLang="zh-CN">
                <a:solidFill>
                  <a:srgbClr val="FF0000"/>
                </a:solidFill>
              </a:rPr>
              <a:t>)</a:t>
            </a:r>
            <a:r>
              <a:rPr lang="zh-CN" altLang="en-US"/>
              <a:t>、</a:t>
            </a:r>
            <a:r>
              <a:rPr lang="zh-CN" altLang="en-US">
                <a:solidFill>
                  <a:srgbClr val="FF0000"/>
                </a:solidFill>
              </a:rPr>
              <a:t>应用系统</a:t>
            </a:r>
            <a:r>
              <a:rPr lang="zh-CN" altLang="en-US"/>
              <a:t>和</a:t>
            </a:r>
            <a:r>
              <a:rPr lang="zh-CN" altLang="en-US">
                <a:solidFill>
                  <a:srgbClr val="FF0000"/>
                </a:solidFill>
              </a:rPr>
              <a:t>数据库管理员</a:t>
            </a:r>
            <a:r>
              <a:rPr lang="en-US" altLang="zh-CN"/>
              <a:t>(Database administrator, </a:t>
            </a:r>
            <a:r>
              <a:rPr lang="en-US" altLang="zh-CN">
                <a:solidFill>
                  <a:srgbClr val="FF0000"/>
                </a:solidFill>
              </a:rPr>
              <a:t>DBA</a:t>
            </a:r>
            <a:r>
              <a:rPr lang="en-US" altLang="zh-CN"/>
              <a:t>)</a:t>
            </a:r>
            <a:r>
              <a:rPr lang="zh-CN" altLang="en-US"/>
              <a:t>组成的存储、管理、处理和维护数据的系统</a:t>
            </a:r>
          </a:p>
          <a:p>
            <a:endParaRPr lang="zh-CN" altLang="en-US"/>
          </a:p>
          <a:p>
            <a:endParaRPr lang="zh-CN" altLang="en-US"/>
          </a:p>
        </p:txBody>
      </p:sp>
      <p:pic>
        <p:nvPicPr>
          <p:cNvPr id="8" name="图片 7">
            <a:extLst>
              <a:ext uri="{FF2B5EF4-FFF2-40B4-BE49-F238E27FC236}">
                <a16:creationId xmlns:a16="http://schemas.microsoft.com/office/drawing/2014/main" id="{E804C17F-DF61-4EEA-BC9B-E96573DCE0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3008" y="2700724"/>
            <a:ext cx="3760471" cy="3570797"/>
          </a:xfrm>
          <a:prstGeom prst="rect">
            <a:avLst/>
          </a:prstGeom>
          <a:ln>
            <a:solidFill>
              <a:schemeClr val="accent1"/>
            </a:solidFill>
          </a:ln>
        </p:spPr>
      </p:pic>
      <p:pic>
        <p:nvPicPr>
          <p:cNvPr id="9" name="图片 2" descr="1z2">
            <a:extLst>
              <a:ext uri="{FF2B5EF4-FFF2-40B4-BE49-F238E27FC236}">
                <a16:creationId xmlns:a16="http://schemas.microsoft.com/office/drawing/2014/main" id="{6434D07A-050A-4C2B-BB5D-BB38BBEBA18F}"/>
              </a:ext>
            </a:extLst>
          </p:cNvPr>
          <p:cNvPicPr>
            <a:picLocks noChangeAspect="1"/>
          </p:cNvPicPr>
          <p:nvPr/>
        </p:nvPicPr>
        <p:blipFill>
          <a:blip r:embed="rId3"/>
          <a:stretch>
            <a:fillRect/>
          </a:stretch>
        </p:blipFill>
        <p:spPr>
          <a:xfrm>
            <a:off x="6578939" y="2766806"/>
            <a:ext cx="3260801" cy="2938255"/>
          </a:xfrm>
          <a:prstGeom prst="rect">
            <a:avLst/>
          </a:prstGeom>
          <a:noFill/>
          <a:ln w="9525">
            <a:noFill/>
          </a:ln>
        </p:spPr>
      </p:pic>
      <p:sp>
        <p:nvSpPr>
          <p:cNvPr id="10" name="文本框 26">
            <a:extLst>
              <a:ext uri="{FF2B5EF4-FFF2-40B4-BE49-F238E27FC236}">
                <a16:creationId xmlns:a16="http://schemas.microsoft.com/office/drawing/2014/main" id="{C73B5B2B-115A-434A-BCDA-2B9A16BDA281}"/>
              </a:ext>
            </a:extLst>
          </p:cNvPr>
          <p:cNvSpPr txBox="1"/>
          <p:nvPr/>
        </p:nvSpPr>
        <p:spPr>
          <a:xfrm>
            <a:off x="6578939" y="5772804"/>
            <a:ext cx="3447604" cy="338554"/>
          </a:xfrm>
          <a:prstGeom prst="rect">
            <a:avLst/>
          </a:prstGeom>
          <a:noFill/>
          <a:ln w="9525">
            <a:noFill/>
          </a:ln>
        </p:spPr>
        <p:txBody>
          <a:bodyPr wrap="square" anchor="t" anchorCtr="0">
            <a:spAutoFit/>
          </a:bodyPr>
          <a:lstStyle/>
          <a:p>
            <a:pPr eaLnBrk="0" hangingPunct="0">
              <a:buClrTx/>
              <a:buFontTx/>
            </a:pPr>
            <a:r>
              <a:rPr lang="zh-CN" altLang="en-US" sz="1600" b="1" dirty="0">
                <a:solidFill>
                  <a:srgbClr val="FF0000"/>
                </a:solidFill>
                <a:latin typeface="阿里巴巴普惠体 3.0 55 Regular" panose="00020600040101010101" pitchFamily="18" charset="-122"/>
                <a:ea typeface="阿里巴巴普惠体 3.0 55 Regular" panose="00020600040101010101" pitchFamily="18" charset="-122"/>
              </a:rPr>
              <a:t>引入数据库后计算机系统的层次机构</a:t>
            </a:r>
          </a:p>
        </p:txBody>
      </p:sp>
    </p:spTree>
    <p:extLst>
      <p:ext uri="{BB962C8B-B14F-4D97-AF65-F5344CB8AC3E}">
        <p14:creationId xmlns:p14="http://schemas.microsoft.com/office/powerpoint/2010/main" val="1108669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数据库系统概述</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40C584A0-C1A3-48CD-80C9-4A65668D2EEA}"/>
              </a:ext>
            </a:extLst>
          </p:cNvPr>
          <p:cNvSpPr>
            <a:spLocks noGrp="1"/>
          </p:cNvSpPr>
          <p:nvPr>
            <p:ph idx="1"/>
          </p:nvPr>
        </p:nvSpPr>
        <p:spPr/>
        <p:txBody>
          <a:bodyPr/>
          <a:lstStyle/>
          <a:p>
            <a:pPr marL="0" indent="0" defTabSz="514350">
              <a:lnSpc>
                <a:spcPct val="100000"/>
              </a:lnSpc>
              <a:spcBef>
                <a:spcPct val="20000"/>
              </a:spcBef>
              <a:buClr>
                <a:srgbClr val="990033"/>
              </a:buClr>
              <a:buSzPct val="80000"/>
              <a:buNone/>
            </a:pPr>
            <a:r>
              <a:rPr lang="en-US" altLang="zh-CN" b="1">
                <a:solidFill>
                  <a:srgbClr val="EEECE1">
                    <a:lumMod val="90000"/>
                  </a:srgbClr>
                </a:solidFill>
              </a:rPr>
              <a:t>1.</a:t>
            </a:r>
            <a:r>
              <a:rPr lang="zh-CN" altLang="en-US" b="1">
                <a:solidFill>
                  <a:srgbClr val="EEECE1">
                    <a:lumMod val="90000"/>
                  </a:srgbClr>
                </a:solidFill>
              </a:rPr>
              <a:t>四个基本概念</a:t>
            </a: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a:t>
            </a:r>
            <a:r>
              <a:rPr lang="en-US" altLang="zh-CN" b="1">
                <a:solidFill>
                  <a:srgbClr val="EEECE1">
                    <a:lumMod val="90000"/>
                  </a:srgbClr>
                </a:solidFill>
              </a:rPr>
              <a:t>(Data)</a:t>
            </a:r>
            <a:endParaRPr lang="zh-CN" altLang="en-US" b="1">
              <a:solidFill>
                <a:srgbClr val="EEECE1">
                  <a:lumMod val="90000"/>
                </a:srgbClr>
              </a:solidFill>
            </a:endParaRP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数据库</a:t>
            </a:r>
            <a:r>
              <a:rPr lang="en-US" altLang="zh-CN" b="1">
                <a:solidFill>
                  <a:srgbClr val="EEECE1">
                    <a:lumMod val="90000"/>
                  </a:srgbClr>
                </a:solidFill>
              </a:rPr>
              <a:t>(Database)</a:t>
            </a:r>
            <a:endParaRPr lang="zh-CN" altLang="en-US" b="1">
              <a:solidFill>
                <a:srgbClr val="EEECE1">
                  <a:lumMod val="90000"/>
                </a:srgbClr>
              </a:solidFill>
            </a:endParaRP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数据库管理系统</a:t>
            </a:r>
            <a:r>
              <a:rPr lang="en-US" altLang="zh-CN" b="1">
                <a:solidFill>
                  <a:srgbClr val="EEECE1">
                    <a:lumMod val="90000"/>
                  </a:srgbClr>
                </a:solidFill>
              </a:rPr>
              <a:t>(DBMS)</a:t>
            </a:r>
            <a:endParaRPr lang="zh-CN" altLang="en-US" b="1">
              <a:solidFill>
                <a:srgbClr val="EEECE1">
                  <a:lumMod val="90000"/>
                </a:srgbClr>
              </a:solidFill>
            </a:endParaRP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数据库系统</a:t>
            </a:r>
            <a:r>
              <a:rPr lang="en-US" altLang="zh-CN" b="1">
                <a:solidFill>
                  <a:srgbClr val="EEECE1">
                    <a:lumMod val="90000"/>
                  </a:srgbClr>
                </a:solidFill>
              </a:rPr>
              <a:t>(DBS)</a:t>
            </a:r>
            <a:endParaRPr lang="zh-CN" altLang="en-US" b="1">
              <a:solidFill>
                <a:srgbClr val="EEECE1">
                  <a:lumMod val="90000"/>
                </a:srgbClr>
              </a:solidFill>
            </a:endParaRPr>
          </a:p>
          <a:p>
            <a:pPr marL="0" lvl="0" indent="0" defTabSz="514350">
              <a:lnSpc>
                <a:spcPct val="100000"/>
              </a:lnSpc>
              <a:spcBef>
                <a:spcPct val="20000"/>
              </a:spcBef>
              <a:buClr>
                <a:srgbClr val="990033"/>
              </a:buClr>
              <a:buSzPct val="80000"/>
              <a:buNone/>
            </a:pPr>
            <a:r>
              <a:rPr lang="en-US" altLang="zh-CN" b="1">
                <a:solidFill>
                  <a:srgbClr val="FF0000"/>
                </a:solidFill>
              </a:rPr>
              <a:t>2.</a:t>
            </a:r>
            <a:r>
              <a:rPr lang="zh-CN" altLang="en-US" b="1">
                <a:solidFill>
                  <a:srgbClr val="FF0000"/>
                </a:solidFill>
              </a:rPr>
              <a:t>数据管理技术的产生与发展</a:t>
            </a:r>
          </a:p>
          <a:p>
            <a:pPr marL="717550" lvl="1" indent="-269875" defTabSz="514350">
              <a:lnSpc>
                <a:spcPct val="100000"/>
              </a:lnSpc>
              <a:spcBef>
                <a:spcPct val="20000"/>
              </a:spcBef>
              <a:buFont typeface="Arial" panose="020B0604020202020204" pitchFamily="34" charset="0"/>
              <a:buChar char="–"/>
            </a:pPr>
            <a:r>
              <a:rPr lang="zh-CN" altLang="en-US" b="1">
                <a:solidFill>
                  <a:srgbClr val="0000FF"/>
                </a:solidFill>
              </a:rPr>
              <a:t>人工管理阶段、文件系统阶段和数据库阶段</a:t>
            </a:r>
          </a:p>
          <a:p>
            <a:pPr marL="0" lvl="0" indent="0" defTabSz="514350">
              <a:lnSpc>
                <a:spcPct val="100000"/>
              </a:lnSpc>
              <a:spcBef>
                <a:spcPct val="20000"/>
              </a:spcBef>
              <a:buClr>
                <a:srgbClr val="990033"/>
              </a:buClr>
              <a:buSzPct val="80000"/>
              <a:buNone/>
            </a:pPr>
            <a:r>
              <a:rPr lang="en-US" altLang="zh-CN" b="1">
                <a:solidFill>
                  <a:srgbClr val="EEECE1">
                    <a:lumMod val="90000"/>
                  </a:srgbClr>
                </a:solidFill>
              </a:rPr>
              <a:t>3.</a:t>
            </a:r>
            <a:r>
              <a:rPr lang="zh-CN" altLang="en-US" b="1">
                <a:solidFill>
                  <a:srgbClr val="EEECE1">
                    <a:lumMod val="90000"/>
                  </a:srgbClr>
                </a:solidFill>
              </a:rPr>
              <a:t>数据库系统的特点</a:t>
            </a:r>
          </a:p>
          <a:p>
            <a:endParaRPr lang="zh-CN" altLang="en-US"/>
          </a:p>
        </p:txBody>
      </p:sp>
    </p:spTree>
    <p:extLst>
      <p:ext uri="{BB962C8B-B14F-4D97-AF65-F5344CB8AC3E}">
        <p14:creationId xmlns:p14="http://schemas.microsoft.com/office/powerpoint/2010/main" val="1987911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3.2.1</a:t>
            </a:r>
            <a:r>
              <a:rPr lang="zh-CN" altLang="en-US"/>
              <a:t>数据管理技术的产生和发展</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CBE76E19-48EF-4BEC-9BDB-DF5B083D39FF}"/>
              </a:ext>
            </a:extLst>
          </p:cNvPr>
          <p:cNvSpPr>
            <a:spLocks noGrp="1"/>
          </p:cNvSpPr>
          <p:nvPr>
            <p:ph idx="1"/>
          </p:nvPr>
        </p:nvSpPr>
        <p:spPr/>
        <p:txBody>
          <a:bodyPr/>
          <a:lstStyle/>
          <a:p>
            <a:r>
              <a:rPr lang="zh-CN" altLang="en-US" u="sng">
                <a:solidFill>
                  <a:srgbClr val="FF0000"/>
                </a:solidFill>
              </a:rPr>
              <a:t>数据管理</a:t>
            </a:r>
            <a:r>
              <a:rPr lang="zh-CN" altLang="en-US"/>
              <a:t>是指对数据进行</a:t>
            </a:r>
            <a:r>
              <a:rPr lang="zh-CN" altLang="en-US">
                <a:solidFill>
                  <a:srgbClr val="FF0000"/>
                </a:solidFill>
              </a:rPr>
              <a:t>分类</a:t>
            </a:r>
            <a:r>
              <a:rPr lang="zh-CN" altLang="en-US"/>
              <a:t>、</a:t>
            </a:r>
            <a:r>
              <a:rPr lang="zh-CN" altLang="en-US">
                <a:solidFill>
                  <a:srgbClr val="FF0000"/>
                </a:solidFill>
              </a:rPr>
              <a:t>组织</a:t>
            </a:r>
            <a:r>
              <a:rPr lang="zh-CN" altLang="en-US"/>
              <a:t>、</a:t>
            </a:r>
            <a:r>
              <a:rPr lang="zh-CN" altLang="en-US">
                <a:solidFill>
                  <a:srgbClr val="FF0000"/>
                </a:solidFill>
              </a:rPr>
              <a:t>编码</a:t>
            </a:r>
            <a:r>
              <a:rPr lang="zh-CN" altLang="en-US"/>
              <a:t>、</a:t>
            </a:r>
            <a:r>
              <a:rPr lang="zh-CN" altLang="en-US">
                <a:solidFill>
                  <a:srgbClr val="FF0000"/>
                </a:solidFill>
              </a:rPr>
              <a:t>存储</a:t>
            </a:r>
            <a:r>
              <a:rPr lang="zh-CN" altLang="en-US"/>
              <a:t>、</a:t>
            </a:r>
            <a:r>
              <a:rPr lang="zh-CN" altLang="en-US">
                <a:solidFill>
                  <a:srgbClr val="FF0000"/>
                </a:solidFill>
              </a:rPr>
              <a:t>检索</a:t>
            </a:r>
            <a:r>
              <a:rPr lang="zh-CN" altLang="en-US"/>
              <a:t>和</a:t>
            </a:r>
            <a:r>
              <a:rPr lang="zh-CN" altLang="en-US">
                <a:solidFill>
                  <a:srgbClr val="FF0000"/>
                </a:solidFill>
              </a:rPr>
              <a:t>维护</a:t>
            </a:r>
            <a:r>
              <a:rPr lang="zh-CN" altLang="en-US"/>
              <a:t>等操作，是数据处理的中心问题</a:t>
            </a:r>
            <a:endParaRPr lang="en-US" altLang="zh-CN"/>
          </a:p>
          <a:p>
            <a:r>
              <a:rPr lang="zh-CN" altLang="en-US" u="sng">
                <a:solidFill>
                  <a:srgbClr val="FF0000"/>
                </a:solidFill>
              </a:rPr>
              <a:t>数据处理</a:t>
            </a:r>
            <a:r>
              <a:rPr lang="zh-CN" altLang="en-US"/>
              <a:t>是指对各种数据进行</a:t>
            </a:r>
            <a:r>
              <a:rPr lang="zh-CN" altLang="en-US">
                <a:solidFill>
                  <a:srgbClr val="FF0000"/>
                </a:solidFill>
              </a:rPr>
              <a:t>收集</a:t>
            </a:r>
            <a:r>
              <a:rPr lang="zh-CN" altLang="en-US"/>
              <a:t>、</a:t>
            </a:r>
            <a:r>
              <a:rPr lang="zh-CN" altLang="en-US">
                <a:solidFill>
                  <a:srgbClr val="FF0000"/>
                </a:solidFill>
              </a:rPr>
              <a:t>存储</a:t>
            </a:r>
            <a:r>
              <a:rPr lang="zh-CN" altLang="en-US"/>
              <a:t>、</a:t>
            </a:r>
            <a:r>
              <a:rPr lang="zh-CN" altLang="en-US">
                <a:solidFill>
                  <a:srgbClr val="FF0000"/>
                </a:solidFill>
                <a:effectLst>
                  <a:outerShdw blurRad="38100" dist="38100" dir="2700000" algn="tl">
                    <a:srgbClr val="C0C0C0"/>
                  </a:outerShdw>
                </a:effectLst>
              </a:rPr>
              <a:t>加工</a:t>
            </a:r>
            <a:r>
              <a:rPr lang="zh-CN" altLang="en-US"/>
              <a:t>和</a:t>
            </a:r>
            <a:r>
              <a:rPr lang="zh-CN" altLang="en-US">
                <a:solidFill>
                  <a:srgbClr val="FF0000"/>
                </a:solidFill>
              </a:rPr>
              <a:t>传播</a:t>
            </a:r>
            <a:r>
              <a:rPr lang="zh-CN" altLang="en-US"/>
              <a:t>的一系列活动的总和</a:t>
            </a:r>
            <a:endParaRPr lang="en-US" altLang="zh-CN"/>
          </a:p>
          <a:p>
            <a:endParaRPr lang="zh-CN" altLang="en-US"/>
          </a:p>
          <a:p>
            <a:endParaRPr lang="zh-CN" altLang="en-US"/>
          </a:p>
        </p:txBody>
      </p:sp>
      <p:pic>
        <p:nvPicPr>
          <p:cNvPr id="8" name="内容占位符 3">
            <a:extLst>
              <a:ext uri="{FF2B5EF4-FFF2-40B4-BE49-F238E27FC236}">
                <a16:creationId xmlns:a16="http://schemas.microsoft.com/office/drawing/2014/main" id="{72763430-5BAE-408E-9949-4148A76A580E}"/>
              </a:ext>
            </a:extLst>
          </p:cNvPr>
          <p:cNvPicPr>
            <a:picLocks noChangeAspect="1"/>
          </p:cNvPicPr>
          <p:nvPr/>
        </p:nvPicPr>
        <p:blipFill>
          <a:blip r:embed="rId2">
            <a:grayscl/>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943812" y="2585665"/>
            <a:ext cx="10257588" cy="3310500"/>
          </a:xfrm>
          <a:prstGeom prst="rect">
            <a:avLst/>
          </a:prstGeom>
        </p:spPr>
      </p:pic>
      <p:sp>
        <p:nvSpPr>
          <p:cNvPr id="9" name="文本框 8">
            <a:extLst>
              <a:ext uri="{FF2B5EF4-FFF2-40B4-BE49-F238E27FC236}">
                <a16:creationId xmlns:a16="http://schemas.microsoft.com/office/drawing/2014/main" id="{6F1023C5-14A5-427D-A234-C34275A73005}"/>
              </a:ext>
            </a:extLst>
          </p:cNvPr>
          <p:cNvSpPr txBox="1"/>
          <p:nvPr/>
        </p:nvSpPr>
        <p:spPr>
          <a:xfrm>
            <a:off x="4282084" y="5904628"/>
            <a:ext cx="4061816" cy="461665"/>
          </a:xfrm>
          <a:prstGeom prst="rect">
            <a:avLst/>
          </a:prstGeom>
          <a:noFill/>
        </p:spPr>
        <p:txBody>
          <a:bodyPr wrap="square" rtlCol="0">
            <a:spAutoFit/>
          </a:bodyPr>
          <a:lstStyle/>
          <a:p>
            <a:pPr algn="ctr"/>
            <a:r>
              <a:rPr lang="zh-CN" altLang="en-US" sz="2400" b="1" dirty="0">
                <a:solidFill>
                  <a:srgbClr val="FF0000"/>
                </a:solidFill>
                <a:latin typeface="阿里巴巴普惠体 3.0 55 Regular" panose="00020600040101010101" pitchFamily="18" charset="-122"/>
                <a:ea typeface="阿里巴巴普惠体 3.0 55 Regular" panose="00020600040101010101" pitchFamily="18" charset="-122"/>
              </a:rPr>
              <a:t>数据管理技术的三个阶段</a:t>
            </a:r>
          </a:p>
        </p:txBody>
      </p:sp>
    </p:spTree>
    <p:extLst>
      <p:ext uri="{BB962C8B-B14F-4D97-AF65-F5344CB8AC3E}">
        <p14:creationId xmlns:p14="http://schemas.microsoft.com/office/powerpoint/2010/main" val="2939900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3.2.2</a:t>
            </a:r>
            <a:r>
              <a:rPr lang="zh-CN" altLang="en-US"/>
              <a:t>数据库系统发展特点</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74F1D55F-2585-4597-85FA-D639AFC87FD5}"/>
              </a:ext>
            </a:extLst>
          </p:cNvPr>
          <p:cNvSpPr>
            <a:spLocks noGrp="1"/>
          </p:cNvSpPr>
          <p:nvPr>
            <p:ph idx="1"/>
          </p:nvPr>
        </p:nvSpPr>
        <p:spPr/>
        <p:txBody>
          <a:bodyPr/>
          <a:lstStyle/>
          <a:p>
            <a:pPr>
              <a:lnSpc>
                <a:spcPct val="100000"/>
              </a:lnSpc>
            </a:pPr>
            <a:r>
              <a:rPr lang="zh-CN" altLang="en-US" dirty="0"/>
              <a:t>数据库系统已成为计算机信息系统和智能应用系统的核心技术之一和重要基础</a:t>
            </a:r>
          </a:p>
          <a:p>
            <a:pPr>
              <a:lnSpc>
                <a:spcPct val="100000"/>
              </a:lnSpc>
            </a:pPr>
            <a:endParaRPr lang="en-US" altLang="zh-CN" sz="800" dirty="0">
              <a:solidFill>
                <a:srgbClr val="C00000"/>
              </a:solidFill>
            </a:endParaRPr>
          </a:p>
          <a:p>
            <a:pPr>
              <a:lnSpc>
                <a:spcPct val="150000"/>
              </a:lnSpc>
            </a:pPr>
            <a:r>
              <a:rPr lang="zh-CN" altLang="en-US" dirty="0">
                <a:solidFill>
                  <a:srgbClr val="C00000"/>
                </a:solidFill>
              </a:rPr>
              <a:t>数据库系统的发展特点</a:t>
            </a:r>
            <a:endParaRPr lang="en-US" altLang="zh-CN" dirty="0">
              <a:solidFill>
                <a:srgbClr val="C00000"/>
              </a:solidFill>
            </a:endParaRPr>
          </a:p>
          <a:p>
            <a:pPr lvl="1">
              <a:lnSpc>
                <a:spcPct val="150000"/>
              </a:lnSpc>
            </a:pPr>
            <a:r>
              <a:rPr lang="zh-CN" altLang="en-US" dirty="0"/>
              <a:t>数据库的发展集中表现在数据模型的发展上</a:t>
            </a:r>
            <a:endParaRPr lang="en-US" altLang="zh-CN" dirty="0"/>
          </a:p>
          <a:p>
            <a:pPr lvl="1">
              <a:lnSpc>
                <a:spcPct val="150000"/>
              </a:lnSpc>
            </a:pPr>
            <a:r>
              <a:rPr lang="zh-CN" altLang="en-US" dirty="0"/>
              <a:t>与其它计算机技术交叉结合</a:t>
            </a:r>
            <a:endParaRPr lang="en-US" altLang="zh-CN" dirty="0"/>
          </a:p>
          <a:p>
            <a:pPr lvl="1">
              <a:lnSpc>
                <a:spcPct val="150000"/>
              </a:lnSpc>
            </a:pPr>
            <a:r>
              <a:rPr lang="zh-CN" altLang="en-US" dirty="0"/>
              <a:t>面向应用领域发展数据库新技术</a:t>
            </a:r>
          </a:p>
          <a:p>
            <a:endParaRPr lang="zh-CN" altLang="en-US" dirty="0"/>
          </a:p>
        </p:txBody>
      </p:sp>
      <p:grpSp>
        <p:nvGrpSpPr>
          <p:cNvPr id="11" name="组合 10">
            <a:extLst>
              <a:ext uri="{FF2B5EF4-FFF2-40B4-BE49-F238E27FC236}">
                <a16:creationId xmlns:a16="http://schemas.microsoft.com/office/drawing/2014/main" id="{5FF8CA55-1AFA-45B8-A1F6-AF025FE20E49}"/>
              </a:ext>
            </a:extLst>
          </p:cNvPr>
          <p:cNvGrpSpPr/>
          <p:nvPr/>
        </p:nvGrpSpPr>
        <p:grpSpPr>
          <a:xfrm>
            <a:off x="4399618" y="1612773"/>
            <a:ext cx="7185893" cy="4237522"/>
            <a:chOff x="2835563" y="895927"/>
            <a:chExt cx="7379856" cy="4129024"/>
          </a:xfrm>
        </p:grpSpPr>
        <p:cxnSp>
          <p:nvCxnSpPr>
            <p:cNvPr id="12" name="直接箭头连接符 11">
              <a:extLst>
                <a:ext uri="{FF2B5EF4-FFF2-40B4-BE49-F238E27FC236}">
                  <a16:creationId xmlns:a16="http://schemas.microsoft.com/office/drawing/2014/main" id="{4CF4AF53-0EFD-4518-945B-AC97A0DA6A30}"/>
                </a:ext>
              </a:extLst>
            </p:cNvPr>
            <p:cNvCxnSpPr>
              <a:cxnSpLocks/>
            </p:cNvCxnSpPr>
            <p:nvPr/>
          </p:nvCxnSpPr>
          <p:spPr>
            <a:xfrm flipV="1">
              <a:off x="5897880" y="1256145"/>
              <a:ext cx="0" cy="2035696"/>
            </a:xfrm>
            <a:prstGeom prst="straightConnector1">
              <a:avLst/>
            </a:prstGeom>
            <a:ln w="19050" cap="flat" cmpd="sng" algn="ctr">
              <a:solidFill>
                <a:schemeClr val="accent2">
                  <a:lumMod val="50000"/>
                </a:schemeClr>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直接箭头连接符 12">
              <a:extLst>
                <a:ext uri="{FF2B5EF4-FFF2-40B4-BE49-F238E27FC236}">
                  <a16:creationId xmlns:a16="http://schemas.microsoft.com/office/drawing/2014/main" id="{71F24B5E-A136-4858-B5EC-CFCD3168EA88}"/>
                </a:ext>
              </a:extLst>
            </p:cNvPr>
            <p:cNvCxnSpPr>
              <a:cxnSpLocks/>
            </p:cNvCxnSpPr>
            <p:nvPr/>
          </p:nvCxnSpPr>
          <p:spPr>
            <a:xfrm>
              <a:off x="5909310" y="3307080"/>
              <a:ext cx="3539490" cy="0"/>
            </a:xfrm>
            <a:prstGeom prst="straightConnector1">
              <a:avLst/>
            </a:prstGeom>
            <a:ln w="19050" cap="flat" cmpd="sng" algn="ctr">
              <a:solidFill>
                <a:srgbClr val="FF000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接箭头连接符 13">
              <a:extLst>
                <a:ext uri="{FF2B5EF4-FFF2-40B4-BE49-F238E27FC236}">
                  <a16:creationId xmlns:a16="http://schemas.microsoft.com/office/drawing/2014/main" id="{4060038C-245F-445B-B47C-2CA824E8E2F0}"/>
                </a:ext>
              </a:extLst>
            </p:cNvPr>
            <p:cNvCxnSpPr>
              <a:cxnSpLocks/>
            </p:cNvCxnSpPr>
            <p:nvPr/>
          </p:nvCxnSpPr>
          <p:spPr>
            <a:xfrm flipH="1">
              <a:off x="4322618" y="3307080"/>
              <a:ext cx="1579073" cy="1421938"/>
            </a:xfrm>
            <a:prstGeom prst="straightConnector1">
              <a:avLst/>
            </a:prstGeom>
            <a:ln w="19050" cap="flat" cmpd="sng" algn="ctr">
              <a:solidFill>
                <a:srgbClr val="0033CC"/>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接连接符 14">
              <a:extLst>
                <a:ext uri="{FF2B5EF4-FFF2-40B4-BE49-F238E27FC236}">
                  <a16:creationId xmlns:a16="http://schemas.microsoft.com/office/drawing/2014/main" id="{CEDEB888-A048-48A4-80A4-105FDEECB630}"/>
                </a:ext>
              </a:extLst>
            </p:cNvPr>
            <p:cNvCxnSpPr>
              <a:cxnSpLocks/>
            </p:cNvCxnSpPr>
            <p:nvPr/>
          </p:nvCxnSpPr>
          <p:spPr>
            <a:xfrm>
              <a:off x="5486400" y="3519055"/>
              <a:ext cx="341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102E3EC-19C3-4F42-9DA7-C668D6E402D6}"/>
                </a:ext>
              </a:extLst>
            </p:cNvPr>
            <p:cNvCxnSpPr>
              <a:cxnSpLocks/>
            </p:cNvCxnSpPr>
            <p:nvPr/>
          </p:nvCxnSpPr>
          <p:spPr>
            <a:xfrm>
              <a:off x="5269345" y="3726873"/>
              <a:ext cx="341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813E7FF-47CF-4550-9904-F1A3685BB0D6}"/>
                </a:ext>
              </a:extLst>
            </p:cNvPr>
            <p:cNvCxnSpPr>
              <a:cxnSpLocks/>
            </p:cNvCxnSpPr>
            <p:nvPr/>
          </p:nvCxnSpPr>
          <p:spPr>
            <a:xfrm>
              <a:off x="5019962" y="3957782"/>
              <a:ext cx="341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A9C7D12-64FE-4B36-AD5C-E781C1364184}"/>
                </a:ext>
              </a:extLst>
            </p:cNvPr>
            <p:cNvCxnSpPr>
              <a:cxnSpLocks/>
            </p:cNvCxnSpPr>
            <p:nvPr/>
          </p:nvCxnSpPr>
          <p:spPr>
            <a:xfrm>
              <a:off x="4807526" y="4188691"/>
              <a:ext cx="341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0D8A7B7A-3052-430D-A70B-74997A70583D}"/>
                </a:ext>
              </a:extLst>
            </p:cNvPr>
            <p:cNvCxnSpPr>
              <a:cxnSpLocks/>
            </p:cNvCxnSpPr>
            <p:nvPr/>
          </p:nvCxnSpPr>
          <p:spPr>
            <a:xfrm>
              <a:off x="4525817" y="4433456"/>
              <a:ext cx="3417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33E2D89-A573-4CA6-BC76-1D9AB721738D}"/>
                </a:ext>
              </a:extLst>
            </p:cNvPr>
            <p:cNvCxnSpPr>
              <a:cxnSpLocks/>
            </p:cNvCxnSpPr>
            <p:nvPr/>
          </p:nvCxnSpPr>
          <p:spPr>
            <a:xfrm>
              <a:off x="5740400" y="2692399"/>
              <a:ext cx="341745" cy="0"/>
            </a:xfrm>
            <a:prstGeom prst="line">
              <a:avLst/>
            </a:prstGeom>
            <a:ln>
              <a:solidFill>
                <a:srgbClr val="843C0C"/>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F86D13C-1BF3-49CA-BC2F-641904B3538A}"/>
                </a:ext>
              </a:extLst>
            </p:cNvPr>
            <p:cNvSpPr txBox="1"/>
            <p:nvPr/>
          </p:nvSpPr>
          <p:spPr>
            <a:xfrm>
              <a:off x="4285672" y="3288145"/>
              <a:ext cx="1293091" cy="276999"/>
            </a:xfrm>
            <a:prstGeom prst="rect">
              <a:avLst/>
            </a:prstGeom>
            <a:noFill/>
          </p:spPr>
          <p:txBody>
            <a:bodyPr wrap="square" rtlCol="0">
              <a:spAutoFit/>
            </a:bodyPr>
            <a:lstStyle/>
            <a:p>
              <a:r>
                <a:rPr lang="zh-CN" altLang="en-US" sz="1200" b="1">
                  <a:solidFill>
                    <a:srgbClr val="0033CC"/>
                  </a:solidFill>
                  <a:latin typeface="微软雅黑" panose="020B0503020204020204" pitchFamily="34" charset="-122"/>
                  <a:ea typeface="微软雅黑" panose="020B0503020204020204" pitchFamily="34" charset="-122"/>
                </a:rPr>
                <a:t>层次、网状模型</a:t>
              </a:r>
            </a:p>
          </p:txBody>
        </p:sp>
        <p:sp>
          <p:nvSpPr>
            <p:cNvPr id="22" name="文本框 21">
              <a:extLst>
                <a:ext uri="{FF2B5EF4-FFF2-40B4-BE49-F238E27FC236}">
                  <a16:creationId xmlns:a16="http://schemas.microsoft.com/office/drawing/2014/main" id="{FE61A49A-9876-4B7E-973C-6E97C357545A}"/>
                </a:ext>
              </a:extLst>
            </p:cNvPr>
            <p:cNvSpPr txBox="1"/>
            <p:nvPr/>
          </p:nvSpPr>
          <p:spPr>
            <a:xfrm>
              <a:off x="4031671" y="3523673"/>
              <a:ext cx="1293091" cy="276999"/>
            </a:xfrm>
            <a:prstGeom prst="rect">
              <a:avLst/>
            </a:prstGeom>
            <a:noFill/>
          </p:spPr>
          <p:txBody>
            <a:bodyPr wrap="square" rtlCol="0">
              <a:spAutoFit/>
            </a:bodyPr>
            <a:lstStyle/>
            <a:p>
              <a:pPr algn="r"/>
              <a:r>
                <a:rPr lang="zh-CN" altLang="en-US" sz="1200" b="1">
                  <a:solidFill>
                    <a:srgbClr val="0033CC"/>
                  </a:solidFill>
                  <a:latin typeface="微软雅黑" panose="020B0503020204020204" pitchFamily="34" charset="-122"/>
                  <a:ea typeface="微软雅黑" panose="020B0503020204020204" pitchFamily="34" charset="-122"/>
                </a:rPr>
                <a:t>关系模型</a:t>
              </a:r>
            </a:p>
          </p:txBody>
        </p:sp>
        <p:sp>
          <p:nvSpPr>
            <p:cNvPr id="23" name="文本框 22">
              <a:extLst>
                <a:ext uri="{FF2B5EF4-FFF2-40B4-BE49-F238E27FC236}">
                  <a16:creationId xmlns:a16="http://schemas.microsoft.com/office/drawing/2014/main" id="{547777A4-E215-493C-9B50-E543C516DF20}"/>
                </a:ext>
              </a:extLst>
            </p:cNvPr>
            <p:cNvSpPr txBox="1"/>
            <p:nvPr/>
          </p:nvSpPr>
          <p:spPr>
            <a:xfrm>
              <a:off x="3800762" y="3754581"/>
              <a:ext cx="1293091" cy="276999"/>
            </a:xfrm>
            <a:prstGeom prst="rect">
              <a:avLst/>
            </a:prstGeom>
            <a:noFill/>
          </p:spPr>
          <p:txBody>
            <a:bodyPr wrap="square" rtlCol="0">
              <a:spAutoFit/>
            </a:bodyPr>
            <a:lstStyle/>
            <a:p>
              <a:pPr algn="r"/>
              <a:r>
                <a:rPr lang="zh-CN" altLang="en-US" sz="1200" b="1">
                  <a:solidFill>
                    <a:srgbClr val="0033CC"/>
                  </a:solidFill>
                  <a:latin typeface="微软雅黑" panose="020B0503020204020204" pitchFamily="34" charset="-122"/>
                  <a:ea typeface="微软雅黑" panose="020B0503020204020204" pitchFamily="34" charset="-122"/>
                </a:rPr>
                <a:t>面向对象模型</a:t>
              </a:r>
            </a:p>
          </p:txBody>
        </p:sp>
        <p:sp>
          <p:nvSpPr>
            <p:cNvPr id="24" name="文本框 23">
              <a:extLst>
                <a:ext uri="{FF2B5EF4-FFF2-40B4-BE49-F238E27FC236}">
                  <a16:creationId xmlns:a16="http://schemas.microsoft.com/office/drawing/2014/main" id="{6CE5011D-F6A9-474F-90D5-5A03494DB079}"/>
                </a:ext>
              </a:extLst>
            </p:cNvPr>
            <p:cNvSpPr txBox="1"/>
            <p:nvPr/>
          </p:nvSpPr>
          <p:spPr>
            <a:xfrm>
              <a:off x="3588326" y="3985491"/>
              <a:ext cx="1293091" cy="276999"/>
            </a:xfrm>
            <a:prstGeom prst="rect">
              <a:avLst/>
            </a:prstGeom>
            <a:noFill/>
          </p:spPr>
          <p:txBody>
            <a:bodyPr wrap="square" rtlCol="0">
              <a:spAutoFit/>
            </a:bodyPr>
            <a:lstStyle/>
            <a:p>
              <a:pPr algn="r"/>
              <a:r>
                <a:rPr lang="en-US" altLang="zh-CN" sz="1200" b="1">
                  <a:solidFill>
                    <a:srgbClr val="0033CC"/>
                  </a:solidFill>
                  <a:latin typeface="微软雅黑" panose="020B0503020204020204" pitchFamily="34" charset="-122"/>
                  <a:ea typeface="微软雅黑" panose="020B0503020204020204" pitchFamily="34" charset="-122"/>
                </a:rPr>
                <a:t>XML,RDF</a:t>
              </a:r>
              <a:r>
                <a:rPr lang="zh-CN" altLang="en-US" sz="1200" b="1">
                  <a:solidFill>
                    <a:srgbClr val="0033CC"/>
                  </a:solidFill>
                  <a:latin typeface="微软雅黑" panose="020B0503020204020204" pitchFamily="34" charset="-122"/>
                  <a:ea typeface="微软雅黑" panose="020B0503020204020204" pitchFamily="34" charset="-122"/>
                </a:rPr>
                <a:t>模型</a:t>
              </a:r>
            </a:p>
          </p:txBody>
        </p:sp>
        <p:sp>
          <p:nvSpPr>
            <p:cNvPr id="25" name="文本框 24">
              <a:extLst>
                <a:ext uri="{FF2B5EF4-FFF2-40B4-BE49-F238E27FC236}">
                  <a16:creationId xmlns:a16="http://schemas.microsoft.com/office/drawing/2014/main" id="{DDAC8F4B-D5C4-43B0-B3EA-5EDE4F54DD4D}"/>
                </a:ext>
              </a:extLst>
            </p:cNvPr>
            <p:cNvSpPr txBox="1"/>
            <p:nvPr/>
          </p:nvSpPr>
          <p:spPr>
            <a:xfrm>
              <a:off x="2835563" y="4234873"/>
              <a:ext cx="1759527" cy="276999"/>
            </a:xfrm>
            <a:prstGeom prst="rect">
              <a:avLst/>
            </a:prstGeom>
            <a:noFill/>
          </p:spPr>
          <p:txBody>
            <a:bodyPr wrap="square" rtlCol="0">
              <a:spAutoFit/>
            </a:bodyPr>
            <a:lstStyle/>
            <a:p>
              <a:pPr algn="r"/>
              <a:r>
                <a:rPr lang="en-US" altLang="zh-CN" sz="1200" b="1">
                  <a:solidFill>
                    <a:srgbClr val="0033CC"/>
                  </a:solidFill>
                  <a:latin typeface="微软雅黑" panose="020B0503020204020204" pitchFamily="34" charset="-122"/>
                  <a:ea typeface="微软雅黑" panose="020B0503020204020204" pitchFamily="34" charset="-122"/>
                </a:rPr>
                <a:t>NoSQL,NewSQL</a:t>
              </a:r>
              <a:r>
                <a:rPr lang="zh-CN" altLang="en-US" sz="1200" b="1">
                  <a:solidFill>
                    <a:srgbClr val="0033CC"/>
                  </a:solidFill>
                  <a:latin typeface="微软雅黑" panose="020B0503020204020204" pitchFamily="34" charset="-122"/>
                  <a:ea typeface="微软雅黑" panose="020B0503020204020204" pitchFamily="34" charset="-122"/>
                </a:rPr>
                <a:t>模型</a:t>
              </a:r>
            </a:p>
          </p:txBody>
        </p:sp>
        <p:sp>
          <p:nvSpPr>
            <p:cNvPr id="26" name="文本框 25">
              <a:extLst>
                <a:ext uri="{FF2B5EF4-FFF2-40B4-BE49-F238E27FC236}">
                  <a16:creationId xmlns:a16="http://schemas.microsoft.com/office/drawing/2014/main" id="{307FF4FE-2A92-484B-AAC2-CC9A3D17806D}"/>
                </a:ext>
              </a:extLst>
            </p:cNvPr>
            <p:cNvSpPr txBox="1"/>
            <p:nvPr/>
          </p:nvSpPr>
          <p:spPr>
            <a:xfrm>
              <a:off x="3274289" y="4354945"/>
              <a:ext cx="1293091" cy="338554"/>
            </a:xfrm>
            <a:prstGeom prst="rect">
              <a:avLst/>
            </a:prstGeom>
            <a:noFill/>
          </p:spPr>
          <p:txBody>
            <a:bodyPr wrap="square" rtlCol="0">
              <a:spAutoFit/>
            </a:bodyPr>
            <a:lstStyle/>
            <a:p>
              <a:pPr algn="ctr"/>
              <a:r>
                <a:rPr lang="en-US" altLang="zh-CN" sz="1600" b="1">
                  <a:solidFill>
                    <a:srgbClr val="0033CC"/>
                  </a:solidFill>
                  <a:latin typeface="微软雅黑" panose="020B0503020204020204" pitchFamily="34" charset="-122"/>
                  <a:ea typeface="微软雅黑" panose="020B0503020204020204" pitchFamily="34" charset="-122"/>
                </a:rPr>
                <a:t>…</a:t>
              </a:r>
              <a:endParaRPr lang="zh-CN" altLang="en-US" sz="1600" b="1">
                <a:solidFill>
                  <a:srgbClr val="0033CC"/>
                </a:solidFill>
                <a:latin typeface="微软雅黑" panose="020B0503020204020204" pitchFamily="34" charset="-122"/>
                <a:ea typeface="微软雅黑" panose="020B0503020204020204" pitchFamily="34" charset="-122"/>
              </a:endParaRPr>
            </a:p>
          </p:txBody>
        </p:sp>
        <p:cxnSp>
          <p:nvCxnSpPr>
            <p:cNvPr id="27" name="直接连接符 26">
              <a:extLst>
                <a:ext uri="{FF2B5EF4-FFF2-40B4-BE49-F238E27FC236}">
                  <a16:creationId xmlns:a16="http://schemas.microsoft.com/office/drawing/2014/main" id="{C55A8900-B06E-4173-9C3E-5C5F9A233390}"/>
                </a:ext>
              </a:extLst>
            </p:cNvPr>
            <p:cNvCxnSpPr/>
            <p:nvPr/>
          </p:nvCxnSpPr>
          <p:spPr>
            <a:xfrm>
              <a:off x="6410036" y="3149600"/>
              <a:ext cx="0" cy="3417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F34991E-C720-4A91-9BCF-869EF0BCD900}"/>
                </a:ext>
              </a:extLst>
            </p:cNvPr>
            <p:cNvCxnSpPr/>
            <p:nvPr/>
          </p:nvCxnSpPr>
          <p:spPr>
            <a:xfrm>
              <a:off x="6922654" y="3144982"/>
              <a:ext cx="0" cy="3417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9A9AFE05-3201-48FE-939C-9381467727B4}"/>
                </a:ext>
              </a:extLst>
            </p:cNvPr>
            <p:cNvCxnSpPr/>
            <p:nvPr/>
          </p:nvCxnSpPr>
          <p:spPr>
            <a:xfrm>
              <a:off x="7416799" y="3168072"/>
              <a:ext cx="0" cy="3417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E8642EB2-C4D5-40F5-B106-D1CD061CBD36}"/>
                </a:ext>
              </a:extLst>
            </p:cNvPr>
            <p:cNvCxnSpPr/>
            <p:nvPr/>
          </p:nvCxnSpPr>
          <p:spPr>
            <a:xfrm>
              <a:off x="7892473" y="3163454"/>
              <a:ext cx="0" cy="3417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CACDC27-6265-40C4-909A-CF7709402A95}"/>
                </a:ext>
              </a:extLst>
            </p:cNvPr>
            <p:cNvCxnSpPr/>
            <p:nvPr/>
          </p:nvCxnSpPr>
          <p:spPr>
            <a:xfrm>
              <a:off x="8298873" y="3154217"/>
              <a:ext cx="0" cy="3417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0DA3908C-E9B4-4849-81DC-F685D657FED9}"/>
                </a:ext>
              </a:extLst>
            </p:cNvPr>
            <p:cNvCxnSpPr/>
            <p:nvPr/>
          </p:nvCxnSpPr>
          <p:spPr>
            <a:xfrm>
              <a:off x="8783783" y="3140362"/>
              <a:ext cx="0" cy="3417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BB113263-6F70-4E20-8EAA-07B640C2BEDE}"/>
                </a:ext>
              </a:extLst>
            </p:cNvPr>
            <p:cNvSpPr txBox="1"/>
            <p:nvPr/>
          </p:nvSpPr>
          <p:spPr>
            <a:xfrm>
              <a:off x="6160653" y="2687783"/>
              <a:ext cx="517239" cy="461665"/>
            </a:xfrm>
            <a:prstGeom prst="rect">
              <a:avLst/>
            </a:prstGeom>
            <a:noFill/>
          </p:spPr>
          <p:txBody>
            <a:bodyPr wrap="square" rtlCol="0">
              <a:spAutoFit/>
            </a:bodyPr>
            <a:lstStyle/>
            <a:p>
              <a:pPr algn="ctr"/>
              <a:r>
                <a:rPr lang="zh-CN" altLang="en-US" sz="1200" b="1">
                  <a:solidFill>
                    <a:srgbClr val="FF0000"/>
                  </a:solidFill>
                  <a:latin typeface="微软雅黑" panose="020B0503020204020204" pitchFamily="34" charset="-122"/>
                  <a:ea typeface="微软雅黑" panose="020B0503020204020204" pitchFamily="34" charset="-122"/>
                </a:rPr>
                <a:t>分布处理</a:t>
              </a:r>
            </a:p>
          </p:txBody>
        </p:sp>
        <p:sp>
          <p:nvSpPr>
            <p:cNvPr id="34" name="文本框 33">
              <a:extLst>
                <a:ext uri="{FF2B5EF4-FFF2-40B4-BE49-F238E27FC236}">
                  <a16:creationId xmlns:a16="http://schemas.microsoft.com/office/drawing/2014/main" id="{4005A1D7-17E3-41C0-BA3C-169191AF0838}"/>
                </a:ext>
              </a:extLst>
            </p:cNvPr>
            <p:cNvSpPr txBox="1"/>
            <p:nvPr/>
          </p:nvSpPr>
          <p:spPr>
            <a:xfrm>
              <a:off x="6673271" y="2701637"/>
              <a:ext cx="517239" cy="461665"/>
            </a:xfrm>
            <a:prstGeom prst="rect">
              <a:avLst/>
            </a:prstGeom>
            <a:noFill/>
          </p:spPr>
          <p:txBody>
            <a:bodyPr wrap="square" rtlCol="0">
              <a:spAutoFit/>
            </a:bodyPr>
            <a:lstStyle/>
            <a:p>
              <a:pPr algn="ctr"/>
              <a:r>
                <a:rPr lang="zh-CN" altLang="en-US" sz="1200" b="1">
                  <a:solidFill>
                    <a:srgbClr val="FF0000"/>
                  </a:solidFill>
                  <a:latin typeface="微软雅黑" panose="020B0503020204020204" pitchFamily="34" charset="-122"/>
                  <a:ea typeface="微软雅黑" panose="020B0503020204020204" pitchFamily="34" charset="-122"/>
                </a:rPr>
                <a:t>并行处理</a:t>
              </a:r>
            </a:p>
          </p:txBody>
        </p:sp>
        <p:sp>
          <p:nvSpPr>
            <p:cNvPr id="35" name="文本框 34">
              <a:extLst>
                <a:ext uri="{FF2B5EF4-FFF2-40B4-BE49-F238E27FC236}">
                  <a16:creationId xmlns:a16="http://schemas.microsoft.com/office/drawing/2014/main" id="{E0025A66-BF8C-4AE4-B6AD-69436BC8ADC2}"/>
                </a:ext>
              </a:extLst>
            </p:cNvPr>
            <p:cNvSpPr txBox="1"/>
            <p:nvPr/>
          </p:nvSpPr>
          <p:spPr>
            <a:xfrm>
              <a:off x="7153562" y="2701637"/>
              <a:ext cx="517239" cy="461665"/>
            </a:xfrm>
            <a:prstGeom prst="rect">
              <a:avLst/>
            </a:prstGeom>
            <a:noFill/>
          </p:spPr>
          <p:txBody>
            <a:bodyPr wrap="square" rtlCol="0">
              <a:spAutoFit/>
            </a:bodyPr>
            <a:lstStyle/>
            <a:p>
              <a:pPr algn="ctr"/>
              <a:r>
                <a:rPr lang="zh-CN" altLang="en-US" sz="1200" b="1">
                  <a:solidFill>
                    <a:srgbClr val="FF0000"/>
                  </a:solidFill>
                  <a:latin typeface="微软雅黑" panose="020B0503020204020204" pitchFamily="34" charset="-122"/>
                  <a:ea typeface="微软雅黑" panose="020B0503020204020204" pitchFamily="34" charset="-122"/>
                </a:rPr>
                <a:t>人工智能</a:t>
              </a:r>
            </a:p>
          </p:txBody>
        </p:sp>
        <p:sp>
          <p:nvSpPr>
            <p:cNvPr id="36" name="文本框 35">
              <a:extLst>
                <a:ext uri="{FF2B5EF4-FFF2-40B4-BE49-F238E27FC236}">
                  <a16:creationId xmlns:a16="http://schemas.microsoft.com/office/drawing/2014/main" id="{B14E5287-BA3C-400C-A93D-876918678E2D}"/>
                </a:ext>
              </a:extLst>
            </p:cNvPr>
            <p:cNvSpPr txBox="1"/>
            <p:nvPr/>
          </p:nvSpPr>
          <p:spPr>
            <a:xfrm>
              <a:off x="7643089" y="2710874"/>
              <a:ext cx="517239" cy="461665"/>
            </a:xfrm>
            <a:prstGeom prst="rect">
              <a:avLst/>
            </a:prstGeom>
            <a:noFill/>
          </p:spPr>
          <p:txBody>
            <a:bodyPr wrap="square" rtlCol="0">
              <a:spAutoFit/>
            </a:bodyPr>
            <a:lstStyle/>
            <a:p>
              <a:pPr algn="ctr"/>
              <a:r>
                <a:rPr lang="zh-CN" altLang="en-US" sz="1200" b="1">
                  <a:solidFill>
                    <a:srgbClr val="FF0000"/>
                  </a:solidFill>
                  <a:latin typeface="微软雅黑" panose="020B0503020204020204" pitchFamily="34" charset="-122"/>
                  <a:ea typeface="微软雅黑" panose="020B0503020204020204" pitchFamily="34" charset="-122"/>
                </a:rPr>
                <a:t>多媒体</a:t>
              </a:r>
            </a:p>
          </p:txBody>
        </p:sp>
        <p:sp>
          <p:nvSpPr>
            <p:cNvPr id="37" name="文本框 36">
              <a:extLst>
                <a:ext uri="{FF2B5EF4-FFF2-40B4-BE49-F238E27FC236}">
                  <a16:creationId xmlns:a16="http://schemas.microsoft.com/office/drawing/2014/main" id="{D6D2957D-335A-49D7-BFCF-3B8043B98697}"/>
                </a:ext>
              </a:extLst>
            </p:cNvPr>
            <p:cNvSpPr txBox="1"/>
            <p:nvPr/>
          </p:nvSpPr>
          <p:spPr>
            <a:xfrm>
              <a:off x="8086435" y="2692401"/>
              <a:ext cx="517239" cy="461665"/>
            </a:xfrm>
            <a:prstGeom prst="rect">
              <a:avLst/>
            </a:prstGeom>
            <a:noFill/>
          </p:spPr>
          <p:txBody>
            <a:bodyPr wrap="square" rtlCol="0">
              <a:spAutoFit/>
            </a:bodyPr>
            <a:lstStyle/>
            <a:p>
              <a:pPr algn="ctr"/>
              <a:r>
                <a:rPr lang="zh-CN" altLang="en-US" sz="1200" b="1">
                  <a:solidFill>
                    <a:srgbClr val="FF0000"/>
                  </a:solidFill>
                  <a:latin typeface="微软雅黑" panose="020B0503020204020204" pitchFamily="34" charset="-122"/>
                  <a:ea typeface="微软雅黑" panose="020B0503020204020204" pitchFamily="34" charset="-122"/>
                </a:rPr>
                <a:t>移动技术</a:t>
              </a:r>
            </a:p>
          </p:txBody>
        </p:sp>
        <p:sp>
          <p:nvSpPr>
            <p:cNvPr id="38" name="文本框 37">
              <a:extLst>
                <a:ext uri="{FF2B5EF4-FFF2-40B4-BE49-F238E27FC236}">
                  <a16:creationId xmlns:a16="http://schemas.microsoft.com/office/drawing/2014/main" id="{6C6C6D8F-B32B-4B4B-845E-FD54888E7ADD}"/>
                </a:ext>
              </a:extLst>
            </p:cNvPr>
            <p:cNvSpPr txBox="1"/>
            <p:nvPr/>
          </p:nvSpPr>
          <p:spPr>
            <a:xfrm>
              <a:off x="8465126" y="2683163"/>
              <a:ext cx="632693" cy="461665"/>
            </a:xfrm>
            <a:prstGeom prst="rect">
              <a:avLst/>
            </a:prstGeom>
            <a:noFill/>
          </p:spPr>
          <p:txBody>
            <a:bodyPr wrap="square" rtlCol="0">
              <a:spAutoFit/>
            </a:bodyPr>
            <a:lstStyle/>
            <a:p>
              <a:pPr algn="ctr"/>
              <a:r>
                <a:rPr lang="en-US" altLang="zh-CN" sz="1200" b="1">
                  <a:solidFill>
                    <a:srgbClr val="FF0000"/>
                  </a:solidFill>
                  <a:latin typeface="微软雅黑" panose="020B0503020204020204" pitchFamily="34" charset="-122"/>
                  <a:ea typeface="微软雅黑" panose="020B0503020204020204" pitchFamily="34" charset="-122"/>
                </a:rPr>
                <a:t>cloud</a:t>
              </a:r>
              <a:r>
                <a:rPr lang="zh-CN" altLang="en-US" sz="1200" b="1">
                  <a:solidFill>
                    <a:srgbClr val="FF0000"/>
                  </a:solidFill>
                  <a:latin typeface="微软雅黑" panose="020B0503020204020204" pitchFamily="34" charset="-122"/>
                  <a:ea typeface="微软雅黑" panose="020B0503020204020204" pitchFamily="34" charset="-122"/>
                </a:rPr>
                <a:t>技术</a:t>
              </a:r>
            </a:p>
          </p:txBody>
        </p:sp>
        <p:sp>
          <p:nvSpPr>
            <p:cNvPr id="39" name="文本框 38">
              <a:extLst>
                <a:ext uri="{FF2B5EF4-FFF2-40B4-BE49-F238E27FC236}">
                  <a16:creationId xmlns:a16="http://schemas.microsoft.com/office/drawing/2014/main" id="{96414E84-3EA4-4C97-9A07-3F0D423F884B}"/>
                </a:ext>
              </a:extLst>
            </p:cNvPr>
            <p:cNvSpPr txBox="1"/>
            <p:nvPr/>
          </p:nvSpPr>
          <p:spPr>
            <a:xfrm>
              <a:off x="8945417" y="2757055"/>
              <a:ext cx="517239" cy="338554"/>
            </a:xfrm>
            <a:prstGeom prst="rect">
              <a:avLst/>
            </a:prstGeom>
            <a:noFill/>
          </p:spPr>
          <p:txBody>
            <a:bodyPr wrap="square" rtlCol="0">
              <a:spAutoFit/>
            </a:bodyPr>
            <a:lstStyle/>
            <a:p>
              <a:pPr algn="ctr"/>
              <a:r>
                <a:rPr lang="en-US" altLang="zh-CN" sz="1600" b="1">
                  <a:solidFill>
                    <a:srgbClr val="FF0000"/>
                  </a:solidFill>
                  <a:latin typeface="微软雅黑" panose="020B0503020204020204" pitchFamily="34" charset="-122"/>
                  <a:ea typeface="微软雅黑" panose="020B0503020204020204" pitchFamily="34" charset="-122"/>
                </a:rPr>
                <a:t>…</a:t>
              </a:r>
              <a:endParaRPr lang="zh-CN" altLang="en-US" sz="1600" b="1">
                <a:solidFill>
                  <a:srgbClr val="FF0000"/>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D5F389F2-6132-4738-987E-64E56895E14B}"/>
                </a:ext>
              </a:extLst>
            </p:cNvPr>
            <p:cNvSpPr txBox="1"/>
            <p:nvPr/>
          </p:nvSpPr>
          <p:spPr>
            <a:xfrm>
              <a:off x="4516583" y="2544620"/>
              <a:ext cx="1270001" cy="276999"/>
            </a:xfrm>
            <a:prstGeom prst="rect">
              <a:avLst/>
            </a:prstGeom>
            <a:noFill/>
          </p:spPr>
          <p:txBody>
            <a:bodyPr wrap="square" rtlCol="0">
              <a:spAutoFit/>
            </a:bodyPr>
            <a:lstStyle/>
            <a:p>
              <a:pPr algn="r"/>
              <a:r>
                <a:rPr lang="zh-CN" altLang="en-US" sz="1200" b="1" dirty="0">
                  <a:solidFill>
                    <a:srgbClr val="843C0C"/>
                  </a:solidFill>
                  <a:latin typeface="微软雅黑" panose="020B0503020204020204" pitchFamily="34" charset="-122"/>
                  <a:ea typeface="微软雅黑" panose="020B0503020204020204" pitchFamily="34" charset="-122"/>
                </a:rPr>
                <a:t>联机事务处理</a:t>
              </a:r>
            </a:p>
          </p:txBody>
        </p:sp>
        <p:sp>
          <p:nvSpPr>
            <p:cNvPr id="41" name="文本框 40">
              <a:extLst>
                <a:ext uri="{FF2B5EF4-FFF2-40B4-BE49-F238E27FC236}">
                  <a16:creationId xmlns:a16="http://schemas.microsoft.com/office/drawing/2014/main" id="{6C99CBBE-2EE1-4035-A68A-BBF3D5FB4E6E}"/>
                </a:ext>
              </a:extLst>
            </p:cNvPr>
            <p:cNvSpPr txBox="1"/>
            <p:nvPr/>
          </p:nvSpPr>
          <p:spPr>
            <a:xfrm>
              <a:off x="4521202" y="2281383"/>
              <a:ext cx="1270001" cy="276999"/>
            </a:xfrm>
            <a:prstGeom prst="rect">
              <a:avLst/>
            </a:prstGeom>
            <a:noFill/>
          </p:spPr>
          <p:txBody>
            <a:bodyPr wrap="square" rtlCol="0">
              <a:spAutoFit/>
            </a:bodyPr>
            <a:lstStyle/>
            <a:p>
              <a:pPr algn="r"/>
              <a:r>
                <a:rPr lang="zh-CN" altLang="en-US" sz="1200" b="1">
                  <a:solidFill>
                    <a:srgbClr val="843C0C"/>
                  </a:solidFill>
                  <a:latin typeface="微软雅黑" panose="020B0503020204020204" pitchFamily="34" charset="-122"/>
                  <a:ea typeface="微软雅黑" panose="020B0503020204020204" pitchFamily="34" charset="-122"/>
                </a:rPr>
                <a:t>联机分析处理</a:t>
              </a:r>
            </a:p>
          </p:txBody>
        </p:sp>
        <p:cxnSp>
          <p:nvCxnSpPr>
            <p:cNvPr id="42" name="直接连接符 41">
              <a:extLst>
                <a:ext uri="{FF2B5EF4-FFF2-40B4-BE49-F238E27FC236}">
                  <a16:creationId xmlns:a16="http://schemas.microsoft.com/office/drawing/2014/main" id="{4B4A6904-841D-4B95-95E0-04FDE9133CA4}"/>
                </a:ext>
              </a:extLst>
            </p:cNvPr>
            <p:cNvCxnSpPr>
              <a:cxnSpLocks/>
            </p:cNvCxnSpPr>
            <p:nvPr/>
          </p:nvCxnSpPr>
          <p:spPr>
            <a:xfrm>
              <a:off x="5754254" y="2410691"/>
              <a:ext cx="341745" cy="0"/>
            </a:xfrm>
            <a:prstGeom prst="line">
              <a:avLst/>
            </a:prstGeom>
            <a:ln>
              <a:solidFill>
                <a:srgbClr val="843C0C"/>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6760444-F056-445F-912B-A631D7D1702B}"/>
                </a:ext>
              </a:extLst>
            </p:cNvPr>
            <p:cNvCxnSpPr>
              <a:cxnSpLocks/>
            </p:cNvCxnSpPr>
            <p:nvPr/>
          </p:nvCxnSpPr>
          <p:spPr>
            <a:xfrm>
              <a:off x="5749637" y="2212109"/>
              <a:ext cx="341745" cy="0"/>
            </a:xfrm>
            <a:prstGeom prst="line">
              <a:avLst/>
            </a:prstGeom>
            <a:ln>
              <a:solidFill>
                <a:srgbClr val="843C0C"/>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2DDA69DC-091A-4D62-816A-BB11B725612C}"/>
                </a:ext>
              </a:extLst>
            </p:cNvPr>
            <p:cNvCxnSpPr>
              <a:cxnSpLocks/>
            </p:cNvCxnSpPr>
            <p:nvPr/>
          </p:nvCxnSpPr>
          <p:spPr>
            <a:xfrm>
              <a:off x="5745018" y="1948871"/>
              <a:ext cx="341745" cy="0"/>
            </a:xfrm>
            <a:prstGeom prst="line">
              <a:avLst/>
            </a:prstGeom>
            <a:ln>
              <a:solidFill>
                <a:srgbClr val="843C0C"/>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AE3FADB-C7E5-4C1B-A3DF-5B8FD06AF369}"/>
                </a:ext>
              </a:extLst>
            </p:cNvPr>
            <p:cNvCxnSpPr>
              <a:cxnSpLocks/>
            </p:cNvCxnSpPr>
            <p:nvPr/>
          </p:nvCxnSpPr>
          <p:spPr>
            <a:xfrm>
              <a:off x="6322291" y="3311236"/>
              <a:ext cx="341745" cy="0"/>
            </a:xfrm>
            <a:prstGeom prst="line">
              <a:avLst/>
            </a:prstGeom>
            <a:ln>
              <a:solidFill>
                <a:srgbClr val="843C0C"/>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495E41A8-CBB4-432A-BD4A-42788556EEF0}"/>
                </a:ext>
              </a:extLst>
            </p:cNvPr>
            <p:cNvSpPr txBox="1"/>
            <p:nvPr/>
          </p:nvSpPr>
          <p:spPr>
            <a:xfrm>
              <a:off x="4502729" y="2050474"/>
              <a:ext cx="1270001" cy="276999"/>
            </a:xfrm>
            <a:prstGeom prst="rect">
              <a:avLst/>
            </a:prstGeom>
            <a:noFill/>
          </p:spPr>
          <p:txBody>
            <a:bodyPr wrap="square" rtlCol="0">
              <a:spAutoFit/>
            </a:bodyPr>
            <a:lstStyle/>
            <a:p>
              <a:pPr algn="r"/>
              <a:r>
                <a:rPr lang="zh-CN" altLang="en-US" sz="1200" b="1">
                  <a:solidFill>
                    <a:srgbClr val="843C0C"/>
                  </a:solidFill>
                  <a:latin typeface="微软雅黑" panose="020B0503020204020204" pitchFamily="34" charset="-122"/>
                  <a:ea typeface="微软雅黑" panose="020B0503020204020204" pitchFamily="34" charset="-122"/>
                </a:rPr>
                <a:t>实时处理</a:t>
              </a:r>
            </a:p>
          </p:txBody>
        </p:sp>
        <p:sp>
          <p:nvSpPr>
            <p:cNvPr id="47" name="文本框 46">
              <a:extLst>
                <a:ext uri="{FF2B5EF4-FFF2-40B4-BE49-F238E27FC236}">
                  <a16:creationId xmlns:a16="http://schemas.microsoft.com/office/drawing/2014/main" id="{24CD87B5-E45B-4C7B-B3D1-E22C60483FD5}"/>
                </a:ext>
              </a:extLst>
            </p:cNvPr>
            <p:cNvSpPr txBox="1"/>
            <p:nvPr/>
          </p:nvSpPr>
          <p:spPr>
            <a:xfrm>
              <a:off x="4498110" y="1796474"/>
              <a:ext cx="1270001" cy="276999"/>
            </a:xfrm>
            <a:prstGeom prst="rect">
              <a:avLst/>
            </a:prstGeom>
            <a:noFill/>
          </p:spPr>
          <p:txBody>
            <a:bodyPr wrap="square" rtlCol="0">
              <a:spAutoFit/>
            </a:bodyPr>
            <a:lstStyle/>
            <a:p>
              <a:pPr algn="r"/>
              <a:r>
                <a:rPr lang="zh-CN" altLang="en-US" sz="1200" b="1">
                  <a:solidFill>
                    <a:srgbClr val="843C0C"/>
                  </a:solidFill>
                  <a:latin typeface="微软雅黑" panose="020B0503020204020204" pitchFamily="34" charset="-122"/>
                  <a:ea typeface="微软雅黑" panose="020B0503020204020204" pitchFamily="34" charset="-122"/>
                </a:rPr>
                <a:t>数据挖掘</a:t>
              </a:r>
            </a:p>
          </p:txBody>
        </p:sp>
        <p:sp>
          <p:nvSpPr>
            <p:cNvPr id="48" name="文本框 47">
              <a:extLst>
                <a:ext uri="{FF2B5EF4-FFF2-40B4-BE49-F238E27FC236}">
                  <a16:creationId xmlns:a16="http://schemas.microsoft.com/office/drawing/2014/main" id="{181C4F11-E844-4257-A371-03E28517A368}"/>
                </a:ext>
              </a:extLst>
            </p:cNvPr>
            <p:cNvSpPr txBox="1"/>
            <p:nvPr/>
          </p:nvSpPr>
          <p:spPr>
            <a:xfrm>
              <a:off x="4525820" y="1574801"/>
              <a:ext cx="1270001" cy="276999"/>
            </a:xfrm>
            <a:prstGeom prst="rect">
              <a:avLst/>
            </a:prstGeom>
            <a:noFill/>
          </p:spPr>
          <p:txBody>
            <a:bodyPr wrap="square" rtlCol="0">
              <a:spAutoFit/>
            </a:bodyPr>
            <a:lstStyle/>
            <a:p>
              <a:pPr algn="r"/>
              <a:r>
                <a:rPr lang="zh-CN" altLang="en-US" sz="1200" b="1">
                  <a:solidFill>
                    <a:srgbClr val="843C0C"/>
                  </a:solidFill>
                  <a:latin typeface="微软雅黑" panose="020B0503020204020204" pitchFamily="34" charset="-122"/>
                  <a:ea typeface="微软雅黑" panose="020B0503020204020204" pitchFamily="34" charset="-122"/>
                </a:rPr>
                <a:t>地理信息系统</a:t>
              </a:r>
            </a:p>
          </p:txBody>
        </p:sp>
        <p:cxnSp>
          <p:nvCxnSpPr>
            <p:cNvPr id="49" name="直接连接符 48">
              <a:extLst>
                <a:ext uri="{FF2B5EF4-FFF2-40B4-BE49-F238E27FC236}">
                  <a16:creationId xmlns:a16="http://schemas.microsoft.com/office/drawing/2014/main" id="{3A55C2AC-9E10-4972-819C-79155F18BC79}"/>
                </a:ext>
              </a:extLst>
            </p:cNvPr>
            <p:cNvCxnSpPr>
              <a:cxnSpLocks/>
            </p:cNvCxnSpPr>
            <p:nvPr/>
          </p:nvCxnSpPr>
          <p:spPr>
            <a:xfrm>
              <a:off x="5749636" y="1722580"/>
              <a:ext cx="341745" cy="0"/>
            </a:xfrm>
            <a:prstGeom prst="line">
              <a:avLst/>
            </a:prstGeom>
            <a:ln>
              <a:solidFill>
                <a:srgbClr val="843C0C"/>
              </a:solidFill>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CB8F8B2F-A3BE-4C1C-8940-9EF563453C62}"/>
                </a:ext>
              </a:extLst>
            </p:cNvPr>
            <p:cNvSpPr txBox="1"/>
            <p:nvPr/>
          </p:nvSpPr>
          <p:spPr>
            <a:xfrm>
              <a:off x="4719780" y="1246908"/>
              <a:ext cx="1293091" cy="338554"/>
            </a:xfrm>
            <a:prstGeom prst="rect">
              <a:avLst/>
            </a:prstGeom>
            <a:noFill/>
          </p:spPr>
          <p:txBody>
            <a:bodyPr wrap="square" rtlCol="0">
              <a:spAutoFit/>
            </a:bodyPr>
            <a:lstStyle/>
            <a:p>
              <a:pPr algn="ctr"/>
              <a:r>
                <a:rPr lang="en-US" altLang="zh-CN" sz="1600" b="1">
                  <a:solidFill>
                    <a:srgbClr val="843C0C"/>
                  </a:solidFill>
                  <a:latin typeface="微软雅黑" panose="020B0503020204020204" pitchFamily="34" charset="-122"/>
                  <a:ea typeface="微软雅黑" panose="020B0503020204020204" pitchFamily="34" charset="-122"/>
                </a:rPr>
                <a:t>…</a:t>
              </a:r>
              <a:endParaRPr lang="zh-CN" altLang="en-US" sz="1600" b="1">
                <a:solidFill>
                  <a:srgbClr val="843C0C"/>
                </a:solidFill>
                <a:latin typeface="微软雅黑" panose="020B0503020204020204" pitchFamily="34" charset="-122"/>
                <a:ea typeface="微软雅黑" panose="020B0503020204020204" pitchFamily="34" charset="-122"/>
              </a:endParaRPr>
            </a:p>
          </p:txBody>
        </p:sp>
        <p:sp>
          <p:nvSpPr>
            <p:cNvPr id="51" name="文本框 50">
              <a:extLst>
                <a:ext uri="{FF2B5EF4-FFF2-40B4-BE49-F238E27FC236}">
                  <a16:creationId xmlns:a16="http://schemas.microsoft.com/office/drawing/2014/main" id="{AEA4FAB3-2C58-4356-9935-57E797F9DD17}"/>
                </a:ext>
              </a:extLst>
            </p:cNvPr>
            <p:cNvSpPr txBox="1"/>
            <p:nvPr/>
          </p:nvSpPr>
          <p:spPr>
            <a:xfrm>
              <a:off x="5310909" y="895927"/>
              <a:ext cx="1099129" cy="300552"/>
            </a:xfrm>
            <a:prstGeom prst="rect">
              <a:avLst/>
            </a:prstGeom>
            <a:noFill/>
          </p:spPr>
          <p:txBody>
            <a:bodyPr wrap="square" rtlCol="0">
              <a:spAutoFit/>
            </a:bodyPr>
            <a:lstStyle/>
            <a:p>
              <a:pPr algn="ctr"/>
              <a:r>
                <a:rPr lang="zh-CN" altLang="en-US" sz="1400" b="1" dirty="0">
                  <a:solidFill>
                    <a:srgbClr val="C00000"/>
                  </a:solidFill>
                  <a:latin typeface="阿里巴巴普惠体 3.0 55 Regular" panose="00020600040101010101" pitchFamily="18" charset="-122"/>
                  <a:ea typeface="阿里巴巴普惠体 3.0 55 Regular" panose="00020600040101010101" pitchFamily="18" charset="-122"/>
                </a:rPr>
                <a:t>应用领域</a:t>
              </a:r>
            </a:p>
          </p:txBody>
        </p:sp>
        <p:sp>
          <p:nvSpPr>
            <p:cNvPr id="52" name="文本框 51">
              <a:extLst>
                <a:ext uri="{FF2B5EF4-FFF2-40B4-BE49-F238E27FC236}">
                  <a16:creationId xmlns:a16="http://schemas.microsoft.com/office/drawing/2014/main" id="{E8FA2F56-0A99-489A-BFF0-C0F09CC72E93}"/>
                </a:ext>
              </a:extLst>
            </p:cNvPr>
            <p:cNvSpPr txBox="1"/>
            <p:nvPr/>
          </p:nvSpPr>
          <p:spPr>
            <a:xfrm>
              <a:off x="9398001" y="2987963"/>
              <a:ext cx="817418" cy="510937"/>
            </a:xfrm>
            <a:prstGeom prst="rect">
              <a:avLst/>
            </a:prstGeom>
            <a:noFill/>
          </p:spPr>
          <p:txBody>
            <a:bodyPr wrap="square" rtlCol="0">
              <a:spAutoFit/>
            </a:bodyPr>
            <a:lstStyle/>
            <a:p>
              <a:pPr algn="ctr"/>
              <a:r>
                <a:rPr lang="zh-CN" altLang="en-US" sz="1400" b="1" dirty="0">
                  <a:solidFill>
                    <a:srgbClr val="FF0000"/>
                  </a:solidFill>
                  <a:latin typeface="阿里巴巴普惠体 3.0 55 Regular" panose="00020600040101010101" pitchFamily="18" charset="-122"/>
                  <a:ea typeface="阿里巴巴普惠体 3.0 55 Regular" panose="00020600040101010101" pitchFamily="18" charset="-122"/>
                </a:rPr>
                <a:t>计算机技术</a:t>
              </a:r>
            </a:p>
          </p:txBody>
        </p:sp>
        <p:sp>
          <p:nvSpPr>
            <p:cNvPr id="53" name="文本框 52">
              <a:extLst>
                <a:ext uri="{FF2B5EF4-FFF2-40B4-BE49-F238E27FC236}">
                  <a16:creationId xmlns:a16="http://schemas.microsoft.com/office/drawing/2014/main" id="{84E7707C-FBDB-4577-9E37-4931B831502A}"/>
                </a:ext>
              </a:extLst>
            </p:cNvPr>
            <p:cNvSpPr txBox="1"/>
            <p:nvPr/>
          </p:nvSpPr>
          <p:spPr>
            <a:xfrm>
              <a:off x="3569854" y="4724399"/>
              <a:ext cx="1099129" cy="300552"/>
            </a:xfrm>
            <a:prstGeom prst="rect">
              <a:avLst/>
            </a:prstGeom>
            <a:noFill/>
          </p:spPr>
          <p:txBody>
            <a:bodyPr wrap="square" rtlCol="0">
              <a:spAutoFit/>
            </a:bodyPr>
            <a:lstStyle/>
            <a:p>
              <a:pPr algn="ctr"/>
              <a:r>
                <a:rPr lang="zh-CN" altLang="en-US" sz="1400" b="1" dirty="0">
                  <a:solidFill>
                    <a:srgbClr val="0000FF"/>
                  </a:solidFill>
                  <a:latin typeface="阿里巴巴普惠体 3.0 55 Regular" panose="00020600040101010101" pitchFamily="18" charset="-122"/>
                  <a:ea typeface="阿里巴巴普惠体 3.0 55 Regular" panose="00020600040101010101" pitchFamily="18" charset="-122"/>
                </a:rPr>
                <a:t>数据模型</a:t>
              </a:r>
            </a:p>
          </p:txBody>
        </p:sp>
      </p:grpSp>
    </p:spTree>
    <p:extLst>
      <p:ext uri="{BB962C8B-B14F-4D97-AF65-F5344CB8AC3E}">
        <p14:creationId xmlns:p14="http://schemas.microsoft.com/office/powerpoint/2010/main" val="3828174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3.2.3</a:t>
            </a:r>
            <a:r>
              <a:rPr lang="zh-CN" altLang="en-US"/>
              <a:t>数据管理技术三个阶段比较</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54" name="内容占位符 7">
            <a:extLst>
              <a:ext uri="{FF2B5EF4-FFF2-40B4-BE49-F238E27FC236}">
                <a16:creationId xmlns:a16="http://schemas.microsoft.com/office/drawing/2014/main" id="{BF37D739-07E1-4927-979B-044A52B0FD0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6019"/>
          <a:stretch/>
        </p:blipFill>
        <p:spPr>
          <a:xfrm>
            <a:off x="1063966" y="906022"/>
            <a:ext cx="9719989" cy="5391636"/>
          </a:xfrm>
          <a:prstGeom prst="rect">
            <a:avLst/>
          </a:prstGeom>
        </p:spPr>
      </p:pic>
    </p:spTree>
    <p:extLst>
      <p:ext uri="{BB962C8B-B14F-4D97-AF65-F5344CB8AC3E}">
        <p14:creationId xmlns:p14="http://schemas.microsoft.com/office/powerpoint/2010/main" val="136930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数据库系统概述</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40C584A0-C1A3-48CD-80C9-4A65668D2EEA}"/>
              </a:ext>
            </a:extLst>
          </p:cNvPr>
          <p:cNvSpPr>
            <a:spLocks noGrp="1"/>
          </p:cNvSpPr>
          <p:nvPr>
            <p:ph idx="1"/>
          </p:nvPr>
        </p:nvSpPr>
        <p:spPr/>
        <p:txBody>
          <a:bodyPr/>
          <a:lstStyle/>
          <a:p>
            <a:pPr marL="0" indent="0" defTabSz="514350">
              <a:lnSpc>
                <a:spcPct val="100000"/>
              </a:lnSpc>
              <a:spcBef>
                <a:spcPct val="20000"/>
              </a:spcBef>
              <a:buClr>
                <a:srgbClr val="990033"/>
              </a:buClr>
              <a:buSzPct val="80000"/>
              <a:buNone/>
            </a:pPr>
            <a:r>
              <a:rPr lang="en-US" altLang="zh-CN" b="1">
                <a:solidFill>
                  <a:srgbClr val="EEECE1">
                    <a:lumMod val="90000"/>
                  </a:srgbClr>
                </a:solidFill>
              </a:rPr>
              <a:t>1.</a:t>
            </a:r>
            <a:r>
              <a:rPr lang="zh-CN" altLang="en-US" b="1">
                <a:solidFill>
                  <a:srgbClr val="EEECE1">
                    <a:lumMod val="90000"/>
                  </a:srgbClr>
                </a:solidFill>
              </a:rPr>
              <a:t>四个基本概念</a:t>
            </a: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a:t>
            </a:r>
            <a:r>
              <a:rPr lang="en-US" altLang="zh-CN" b="1">
                <a:solidFill>
                  <a:srgbClr val="EEECE1">
                    <a:lumMod val="90000"/>
                  </a:srgbClr>
                </a:solidFill>
              </a:rPr>
              <a:t>(Data)</a:t>
            </a:r>
            <a:endParaRPr lang="zh-CN" altLang="en-US" b="1">
              <a:solidFill>
                <a:srgbClr val="EEECE1">
                  <a:lumMod val="90000"/>
                </a:srgbClr>
              </a:solidFill>
            </a:endParaRP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数据库</a:t>
            </a:r>
            <a:r>
              <a:rPr lang="en-US" altLang="zh-CN" b="1">
                <a:solidFill>
                  <a:srgbClr val="EEECE1">
                    <a:lumMod val="90000"/>
                  </a:srgbClr>
                </a:solidFill>
              </a:rPr>
              <a:t>(Database)</a:t>
            </a:r>
            <a:endParaRPr lang="zh-CN" altLang="en-US" b="1">
              <a:solidFill>
                <a:srgbClr val="EEECE1">
                  <a:lumMod val="90000"/>
                </a:srgbClr>
              </a:solidFill>
            </a:endParaRP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数据库管理系统</a:t>
            </a:r>
            <a:r>
              <a:rPr lang="en-US" altLang="zh-CN" b="1">
                <a:solidFill>
                  <a:srgbClr val="EEECE1">
                    <a:lumMod val="90000"/>
                  </a:srgbClr>
                </a:solidFill>
              </a:rPr>
              <a:t>(DBMS)</a:t>
            </a:r>
            <a:endParaRPr lang="zh-CN" altLang="en-US" b="1">
              <a:solidFill>
                <a:srgbClr val="EEECE1">
                  <a:lumMod val="90000"/>
                </a:srgbClr>
              </a:solidFill>
            </a:endParaRP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数据库系统</a:t>
            </a:r>
            <a:r>
              <a:rPr lang="en-US" altLang="zh-CN" b="1">
                <a:solidFill>
                  <a:srgbClr val="EEECE1">
                    <a:lumMod val="90000"/>
                  </a:srgbClr>
                </a:solidFill>
              </a:rPr>
              <a:t>(DBS)</a:t>
            </a:r>
            <a:endParaRPr lang="zh-CN" altLang="en-US" b="1">
              <a:solidFill>
                <a:srgbClr val="EEECE1">
                  <a:lumMod val="90000"/>
                </a:srgbClr>
              </a:solidFill>
            </a:endParaRPr>
          </a:p>
          <a:p>
            <a:pPr marL="0" indent="0" defTabSz="514350">
              <a:lnSpc>
                <a:spcPct val="100000"/>
              </a:lnSpc>
              <a:spcBef>
                <a:spcPct val="20000"/>
              </a:spcBef>
              <a:buClr>
                <a:srgbClr val="990033"/>
              </a:buClr>
              <a:buSzPct val="80000"/>
              <a:buNone/>
            </a:pPr>
            <a:r>
              <a:rPr lang="en-US" altLang="zh-CN" b="1">
                <a:solidFill>
                  <a:srgbClr val="EEECE1">
                    <a:lumMod val="90000"/>
                  </a:srgbClr>
                </a:solidFill>
              </a:rPr>
              <a:t>2.</a:t>
            </a:r>
            <a:r>
              <a:rPr lang="zh-CN" altLang="en-US" b="1">
                <a:solidFill>
                  <a:srgbClr val="EEECE1">
                    <a:lumMod val="90000"/>
                  </a:srgbClr>
                </a:solidFill>
              </a:rPr>
              <a:t>数据管理技术的产生与发展</a:t>
            </a:r>
          </a:p>
          <a:p>
            <a:pPr marL="717550" lvl="1" indent="-269875" defTabSz="514350">
              <a:lnSpc>
                <a:spcPct val="100000"/>
              </a:lnSpc>
              <a:spcBef>
                <a:spcPct val="20000"/>
              </a:spcBef>
              <a:buFont typeface="Arial" panose="020B0604020202020204" pitchFamily="34" charset="0"/>
              <a:buChar char="–"/>
            </a:pPr>
            <a:r>
              <a:rPr lang="zh-CN" altLang="en-US" b="1">
                <a:solidFill>
                  <a:srgbClr val="EEECE1">
                    <a:lumMod val="90000"/>
                  </a:srgbClr>
                </a:solidFill>
              </a:rPr>
              <a:t>人工管理阶段、文件系统阶段和数据库阶段</a:t>
            </a:r>
          </a:p>
          <a:p>
            <a:pPr marL="0" lvl="0" indent="0" defTabSz="514350">
              <a:lnSpc>
                <a:spcPct val="100000"/>
              </a:lnSpc>
              <a:spcBef>
                <a:spcPct val="20000"/>
              </a:spcBef>
              <a:buClr>
                <a:srgbClr val="990033"/>
              </a:buClr>
              <a:buSzPct val="80000"/>
              <a:buNone/>
            </a:pPr>
            <a:r>
              <a:rPr lang="en-US" altLang="zh-CN" b="1">
                <a:solidFill>
                  <a:srgbClr val="FF0000"/>
                </a:solidFill>
              </a:rPr>
              <a:t>3.</a:t>
            </a:r>
            <a:r>
              <a:rPr lang="zh-CN" altLang="en-US" b="1">
                <a:solidFill>
                  <a:srgbClr val="FF0000"/>
                </a:solidFill>
              </a:rPr>
              <a:t>数据库系统的特点</a:t>
            </a:r>
          </a:p>
          <a:p>
            <a:endParaRPr lang="zh-CN" altLang="en-US"/>
          </a:p>
        </p:txBody>
      </p:sp>
    </p:spTree>
    <p:extLst>
      <p:ext uri="{BB962C8B-B14F-4D97-AF65-F5344CB8AC3E}">
        <p14:creationId xmlns:p14="http://schemas.microsoft.com/office/powerpoint/2010/main" val="1335452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3.3</a:t>
            </a:r>
            <a:r>
              <a:rPr lang="zh-CN" altLang="en-US"/>
              <a:t>数据库系统的特点</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D119B6B8-8BE3-4DF3-9E3B-67323D4D5092}"/>
              </a:ext>
            </a:extLst>
          </p:cNvPr>
          <p:cNvSpPr>
            <a:spLocks noGrp="1"/>
          </p:cNvSpPr>
          <p:nvPr>
            <p:ph idx="1"/>
          </p:nvPr>
        </p:nvSpPr>
        <p:spPr/>
        <p:txBody>
          <a:bodyPr/>
          <a:lstStyle/>
          <a:p>
            <a:pPr marL="357188" indent="-357188">
              <a:lnSpc>
                <a:spcPct val="150000"/>
              </a:lnSpc>
              <a:buClrTx/>
              <a:buFont typeface="+mj-lt"/>
              <a:buAutoNum type="arabicPeriod"/>
            </a:pPr>
            <a:r>
              <a:rPr lang="zh-CN" altLang="en-US" b="1" dirty="0">
                <a:solidFill>
                  <a:srgbClr val="FF0000"/>
                </a:solidFill>
              </a:rPr>
              <a:t>整体数据的结构化</a:t>
            </a:r>
          </a:p>
          <a:p>
            <a:pPr marL="357188" indent="-357188">
              <a:lnSpc>
                <a:spcPct val="150000"/>
              </a:lnSpc>
              <a:buClrTx/>
              <a:buFont typeface="+mj-lt"/>
              <a:buAutoNum type="arabicPeriod"/>
            </a:pPr>
            <a:r>
              <a:rPr lang="zh-CN" altLang="en-US" b="1" dirty="0">
                <a:solidFill>
                  <a:srgbClr val="FF0000"/>
                </a:solidFill>
              </a:rPr>
              <a:t>数据的共享性强，冗余度低且易于扩充</a:t>
            </a:r>
          </a:p>
          <a:p>
            <a:pPr marL="357188" indent="-357188">
              <a:lnSpc>
                <a:spcPct val="150000"/>
              </a:lnSpc>
              <a:buClrTx/>
              <a:buFont typeface="+mj-lt"/>
              <a:buAutoNum type="arabicPeriod"/>
            </a:pPr>
            <a:r>
              <a:rPr lang="zh-CN" altLang="en-US" b="1" dirty="0">
                <a:solidFill>
                  <a:srgbClr val="FF0000"/>
                </a:solidFill>
              </a:rPr>
              <a:t>数据的独立性强</a:t>
            </a:r>
          </a:p>
          <a:p>
            <a:pPr marL="357188" indent="-357188">
              <a:lnSpc>
                <a:spcPct val="150000"/>
              </a:lnSpc>
              <a:buClrTx/>
              <a:buFont typeface="+mj-lt"/>
              <a:buAutoNum type="arabicPeriod"/>
            </a:pPr>
            <a:r>
              <a:rPr lang="zh-CN" altLang="en-US" b="1" dirty="0">
                <a:solidFill>
                  <a:srgbClr val="FF0000"/>
                </a:solidFill>
              </a:rPr>
              <a:t>数据由</a:t>
            </a:r>
            <a:r>
              <a:rPr lang="en-US" altLang="zh-CN" b="1" dirty="0">
                <a:solidFill>
                  <a:srgbClr val="FF0000"/>
                </a:solidFill>
              </a:rPr>
              <a:t>DBMS</a:t>
            </a:r>
            <a:r>
              <a:rPr lang="zh-CN" altLang="en-US" b="1" dirty="0">
                <a:solidFill>
                  <a:srgbClr val="FF0000"/>
                </a:solidFill>
              </a:rPr>
              <a:t>统一管理和控制</a:t>
            </a:r>
          </a:p>
          <a:p>
            <a:pPr marL="457200" indent="-457200">
              <a:lnSpc>
                <a:spcPct val="150000"/>
              </a:lnSpc>
              <a:buClrTx/>
              <a:buFont typeface="+mj-lt"/>
              <a:buAutoNum type="arabicPeriod"/>
            </a:pPr>
            <a:endParaRPr lang="zh-CN" altLang="en-US" b="1" dirty="0"/>
          </a:p>
          <a:p>
            <a:pPr marL="457200" indent="-457200">
              <a:lnSpc>
                <a:spcPct val="150000"/>
              </a:lnSpc>
              <a:buClrTx/>
              <a:buFont typeface="+mj-lt"/>
              <a:buAutoNum type="arabicPeriod"/>
            </a:pPr>
            <a:endParaRPr lang="zh-CN" altLang="en-US" b="1" dirty="0"/>
          </a:p>
        </p:txBody>
      </p:sp>
    </p:spTree>
    <p:extLst>
      <p:ext uri="{BB962C8B-B14F-4D97-AF65-F5344CB8AC3E}">
        <p14:creationId xmlns:p14="http://schemas.microsoft.com/office/powerpoint/2010/main" val="53897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dirty="0"/>
              <a:t>特点</a:t>
            </a:r>
            <a:r>
              <a:rPr lang="en-US" altLang="zh-CN" dirty="0"/>
              <a:t>1</a:t>
            </a:r>
            <a:r>
              <a:rPr lang="zh-CN" altLang="en-US" dirty="0"/>
              <a:t>：整体数据的结构化</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8909E39C-ABE4-47F7-8FA5-D8BD9BA13D2A}"/>
              </a:ext>
            </a:extLst>
          </p:cNvPr>
          <p:cNvSpPr>
            <a:spLocks noGrp="1"/>
          </p:cNvSpPr>
          <p:nvPr>
            <p:ph idx="1"/>
          </p:nvPr>
        </p:nvSpPr>
        <p:spPr/>
        <p:txBody>
          <a:bodyPr/>
          <a:lstStyle/>
          <a:p>
            <a:r>
              <a:rPr lang="zh-CN" altLang="en-US" dirty="0">
                <a:solidFill>
                  <a:srgbClr val="FF0000"/>
                </a:solidFill>
              </a:rPr>
              <a:t>整体数据的结构化</a:t>
            </a:r>
            <a:r>
              <a:rPr lang="zh-CN" altLang="en-US" dirty="0"/>
              <a:t>是数据库的主要特征之一，也是数据库系统阶段与文件系统阶段的本质区别</a:t>
            </a:r>
            <a:endParaRPr lang="en-US" altLang="zh-CN" dirty="0"/>
          </a:p>
          <a:p>
            <a:endParaRPr lang="zh-CN" altLang="en-US" sz="800" dirty="0"/>
          </a:p>
          <a:p>
            <a:r>
              <a:rPr lang="zh-CN" altLang="en-US" dirty="0">
                <a:solidFill>
                  <a:srgbClr val="FF0000"/>
                </a:solidFill>
              </a:rPr>
              <a:t>整体数据的结构化含义</a:t>
            </a:r>
            <a:endParaRPr lang="en-US" altLang="zh-CN" dirty="0">
              <a:solidFill>
                <a:srgbClr val="FF0000"/>
              </a:solidFill>
            </a:endParaRPr>
          </a:p>
          <a:p>
            <a:pPr lvl="1"/>
            <a:r>
              <a:rPr lang="zh-CN" altLang="en-US" dirty="0"/>
              <a:t>指数据库中的数据不再仅仅针对某一个应用，而是</a:t>
            </a:r>
            <a:r>
              <a:rPr lang="zh-CN" altLang="en-US" dirty="0">
                <a:solidFill>
                  <a:srgbClr val="FF0000"/>
                </a:solidFill>
              </a:rPr>
              <a:t>面向整个组织或企业</a:t>
            </a:r>
            <a:r>
              <a:rPr lang="zh-CN" altLang="en-US" dirty="0"/>
              <a:t>的多种应用需求</a:t>
            </a:r>
            <a:endParaRPr lang="en-US" altLang="zh-CN" dirty="0"/>
          </a:p>
          <a:p>
            <a:pPr lvl="1"/>
            <a:r>
              <a:rPr lang="zh-CN" altLang="en-US" dirty="0"/>
              <a:t>不仅</a:t>
            </a:r>
            <a:r>
              <a:rPr lang="zh-CN" altLang="en-US" dirty="0">
                <a:solidFill>
                  <a:srgbClr val="FF0000"/>
                </a:solidFill>
              </a:rPr>
              <a:t>数据本身结构化</a:t>
            </a:r>
            <a:r>
              <a:rPr lang="zh-CN" altLang="en-US" dirty="0"/>
              <a:t>，</a:t>
            </a:r>
            <a:r>
              <a:rPr lang="zh-CN" altLang="en-US" dirty="0">
                <a:solidFill>
                  <a:srgbClr val="FF0000"/>
                </a:solidFill>
              </a:rPr>
              <a:t>整体是结构化</a:t>
            </a:r>
            <a:r>
              <a:rPr lang="zh-CN" altLang="en-US" dirty="0"/>
              <a:t>的，</a:t>
            </a:r>
            <a:r>
              <a:rPr lang="zh-CN" altLang="en-US" dirty="0">
                <a:solidFill>
                  <a:srgbClr val="FF0000"/>
                </a:solidFill>
              </a:rPr>
              <a:t>数据之间具有联系</a:t>
            </a:r>
            <a:endParaRPr lang="en-US" altLang="zh-CN" dirty="0">
              <a:solidFill>
                <a:srgbClr val="FF0000"/>
              </a:solidFill>
            </a:endParaRPr>
          </a:p>
          <a:p>
            <a:pPr lvl="2"/>
            <a:r>
              <a:rPr lang="zh-CN" altLang="en-US" dirty="0"/>
              <a:t>即，不仅要考虑某个应用的数据结构，还要考虑整个组织的数据结构</a:t>
            </a:r>
            <a:endParaRPr lang="en-US" altLang="zh-CN" dirty="0"/>
          </a:p>
          <a:p>
            <a:pPr lvl="1"/>
            <a:r>
              <a:rPr lang="zh-CN" altLang="en-US" dirty="0"/>
              <a:t>数据结构用</a:t>
            </a:r>
            <a:r>
              <a:rPr lang="zh-CN" altLang="en-US" dirty="0">
                <a:solidFill>
                  <a:srgbClr val="FF0000"/>
                </a:solidFill>
              </a:rPr>
              <a:t>数据模型</a:t>
            </a:r>
            <a:r>
              <a:rPr lang="zh-CN" altLang="en-US" dirty="0"/>
              <a:t>描述，</a:t>
            </a:r>
            <a:r>
              <a:rPr lang="zh-CN" altLang="en-US" dirty="0">
                <a:solidFill>
                  <a:srgbClr val="FF0000"/>
                </a:solidFill>
              </a:rPr>
              <a:t>无需程序定义和解释</a:t>
            </a:r>
          </a:p>
          <a:p>
            <a:pPr lvl="1"/>
            <a:r>
              <a:rPr lang="zh-CN" altLang="en-US" dirty="0"/>
              <a:t>数据可以</a:t>
            </a:r>
            <a:r>
              <a:rPr lang="zh-CN" altLang="en-US" dirty="0">
                <a:solidFill>
                  <a:srgbClr val="FF0000"/>
                </a:solidFill>
              </a:rPr>
              <a:t>变长</a:t>
            </a:r>
          </a:p>
          <a:p>
            <a:pPr lvl="1"/>
            <a:r>
              <a:rPr lang="zh-CN" altLang="en-US" dirty="0"/>
              <a:t>数据的最小存取单位是</a:t>
            </a:r>
            <a:r>
              <a:rPr lang="zh-CN" altLang="en-US" dirty="0">
                <a:solidFill>
                  <a:srgbClr val="FF0000"/>
                </a:solidFill>
              </a:rPr>
              <a:t>数据项</a:t>
            </a:r>
            <a:endParaRPr lang="zh-CN" altLang="en-US" dirty="0"/>
          </a:p>
        </p:txBody>
      </p:sp>
    </p:spTree>
    <p:extLst>
      <p:ext uri="{BB962C8B-B14F-4D97-AF65-F5344CB8AC3E}">
        <p14:creationId xmlns:p14="http://schemas.microsoft.com/office/powerpoint/2010/main" val="464380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示例</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259370CB-25FA-4EEB-8EB8-FCB5BAF4B51F}"/>
              </a:ext>
            </a:extLst>
          </p:cNvPr>
          <p:cNvSpPr>
            <a:spLocks noGrp="1"/>
          </p:cNvSpPr>
          <p:nvPr>
            <p:ph idx="1"/>
          </p:nvPr>
        </p:nvSpPr>
        <p:spPr>
          <a:xfrm>
            <a:off x="606489" y="911195"/>
            <a:ext cx="10842171" cy="5321654"/>
          </a:xfrm>
        </p:spPr>
        <p:txBody>
          <a:bodyPr/>
          <a:lstStyle/>
          <a:p>
            <a:r>
              <a:rPr lang="zh-CN" altLang="en-US"/>
              <a:t>场景：高校本科教务管理信息系统涉及的部门及业务</a:t>
            </a:r>
            <a:endParaRPr lang="en-US" altLang="zh-CN"/>
          </a:p>
          <a:p>
            <a:endParaRPr lang="zh-CN" altLang="en-US"/>
          </a:p>
          <a:p>
            <a:endParaRPr lang="zh-CN" altLang="en-US"/>
          </a:p>
        </p:txBody>
      </p:sp>
      <p:graphicFrame>
        <p:nvGraphicFramePr>
          <p:cNvPr id="8" name="表格 7">
            <a:extLst>
              <a:ext uri="{FF2B5EF4-FFF2-40B4-BE49-F238E27FC236}">
                <a16:creationId xmlns:a16="http://schemas.microsoft.com/office/drawing/2014/main" id="{3B527EC4-3875-449B-988A-C2812262BF24}"/>
              </a:ext>
            </a:extLst>
          </p:cNvPr>
          <p:cNvGraphicFramePr>
            <a:graphicFrameLocks noGrp="1"/>
          </p:cNvGraphicFramePr>
          <p:nvPr>
            <p:extLst>
              <p:ext uri="{D42A27DB-BD31-4B8C-83A1-F6EECF244321}">
                <p14:modId xmlns:p14="http://schemas.microsoft.com/office/powerpoint/2010/main" val="1774497404"/>
              </p:ext>
            </p:extLst>
          </p:nvPr>
        </p:nvGraphicFramePr>
        <p:xfrm>
          <a:off x="1898837" y="1573174"/>
          <a:ext cx="5167886" cy="2072640"/>
        </p:xfrm>
        <a:graphic>
          <a:graphicData uri="http://schemas.openxmlformats.org/drawingml/2006/table">
            <a:tbl>
              <a:tblPr firstRow="1" bandRow="1">
                <a:tableStyleId>{B301B821-A1FF-4177-AEE7-76D212191A09}</a:tableStyleId>
              </a:tblPr>
              <a:tblGrid>
                <a:gridCol w="1169070">
                  <a:extLst>
                    <a:ext uri="{9D8B030D-6E8A-4147-A177-3AD203B41FA5}">
                      <a16:colId xmlns:a16="http://schemas.microsoft.com/office/drawing/2014/main" val="3292346344"/>
                    </a:ext>
                  </a:extLst>
                </a:gridCol>
                <a:gridCol w="3998816">
                  <a:extLst>
                    <a:ext uri="{9D8B030D-6E8A-4147-A177-3AD203B41FA5}">
                      <a16:colId xmlns:a16="http://schemas.microsoft.com/office/drawing/2014/main" val="1279908935"/>
                    </a:ext>
                  </a:extLst>
                </a:gridCol>
              </a:tblGrid>
              <a:tr h="304883">
                <a:tc>
                  <a:txBody>
                    <a:bodyPr/>
                    <a:lstStyle/>
                    <a:p>
                      <a:r>
                        <a:rPr lang="zh-CN" altLang="en-US" sz="2000">
                          <a:latin typeface="微软雅黑" panose="020B0503020204020204" pitchFamily="34" charset="-122"/>
                          <a:ea typeface="微软雅黑" panose="020B0503020204020204" pitchFamily="34" charset="-122"/>
                        </a:rPr>
                        <a:t>部门</a:t>
                      </a:r>
                      <a:endParaRPr lang="zh-CN" altLang="en-US" sz="2000" b="1">
                        <a:solidFill>
                          <a:srgbClr val="FF000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a:latin typeface="微软雅黑" panose="020B0503020204020204" pitchFamily="34" charset="-122"/>
                          <a:ea typeface="微软雅黑" panose="020B0503020204020204" pitchFamily="34" charset="-122"/>
                        </a:rPr>
                        <a:t>相关业务</a:t>
                      </a:r>
                      <a:endParaRPr lang="zh-CN" altLang="en-US" sz="2000" b="1">
                        <a:solidFill>
                          <a:srgbClr val="FF000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832760597"/>
                  </a:ext>
                </a:extLst>
              </a:tr>
              <a:tr h="307689">
                <a:tc>
                  <a:txBody>
                    <a:bodyPr/>
                    <a:lstStyle/>
                    <a:p>
                      <a:r>
                        <a:rPr lang="zh-CN" altLang="en-US" sz="1600">
                          <a:solidFill>
                            <a:srgbClr val="0070C0"/>
                          </a:solidFill>
                          <a:latin typeface="微软雅黑" panose="020B0503020204020204" pitchFamily="34" charset="-122"/>
                          <a:ea typeface="微软雅黑" panose="020B0503020204020204" pitchFamily="34" charset="-122"/>
                        </a:rPr>
                        <a:t>教务处</a:t>
                      </a:r>
                      <a:endParaRPr lang="zh-CN" altLang="en-US" sz="1600" b="1">
                        <a:solidFill>
                          <a:srgbClr val="0070C0"/>
                        </a:solidFill>
                        <a:latin typeface="微软雅黑" panose="020B0503020204020204" pitchFamily="34" charset="-122"/>
                        <a:ea typeface="微软雅黑" panose="020B0503020204020204" pitchFamily="34" charset="-122"/>
                      </a:endParaRPr>
                    </a:p>
                  </a:txBody>
                  <a:tcPr/>
                </a:tc>
                <a:tc>
                  <a:txBody>
                    <a:bodyPr/>
                    <a:lstStyle/>
                    <a:p>
                      <a:r>
                        <a:rPr lang="zh-CN" altLang="en-US" sz="1600" b="1">
                          <a:latin typeface="微软雅黑" panose="020B0503020204020204" pitchFamily="34" charset="-122"/>
                          <a:ea typeface="微软雅黑" panose="020B0503020204020204" pitchFamily="34" charset="-122"/>
                        </a:rPr>
                        <a:t>课程管理、学生选课管理、成绩管理</a:t>
                      </a:r>
                    </a:p>
                  </a:txBody>
                  <a:tcPr/>
                </a:tc>
                <a:extLst>
                  <a:ext uri="{0D108BD9-81ED-4DB2-BD59-A6C34878D82A}">
                    <a16:rowId xmlns:a16="http://schemas.microsoft.com/office/drawing/2014/main" val="2951402738"/>
                  </a:ext>
                </a:extLst>
              </a:tr>
              <a:tr h="307689">
                <a:tc>
                  <a:txBody>
                    <a:bodyPr/>
                    <a:lstStyle/>
                    <a:p>
                      <a:r>
                        <a:rPr lang="zh-CN" altLang="en-US" sz="1600">
                          <a:solidFill>
                            <a:srgbClr val="0070C0"/>
                          </a:solidFill>
                          <a:latin typeface="微软雅黑" panose="020B0503020204020204" pitchFamily="34" charset="-122"/>
                          <a:ea typeface="微软雅黑" panose="020B0503020204020204" pitchFamily="34" charset="-122"/>
                        </a:rPr>
                        <a:t>学生处</a:t>
                      </a:r>
                      <a:endParaRPr lang="zh-CN" altLang="en-US" sz="1600" b="1">
                        <a:solidFill>
                          <a:srgbClr val="0070C0"/>
                        </a:solidFill>
                        <a:latin typeface="微软雅黑" panose="020B0503020204020204" pitchFamily="34" charset="-122"/>
                        <a:ea typeface="微软雅黑" panose="020B0503020204020204" pitchFamily="34" charset="-122"/>
                      </a:endParaRPr>
                    </a:p>
                  </a:txBody>
                  <a:tcPr/>
                </a:tc>
                <a:tc>
                  <a:txBody>
                    <a:bodyPr/>
                    <a:lstStyle/>
                    <a:p>
                      <a:r>
                        <a:rPr lang="zh-CN" altLang="en-US" sz="1600" b="1">
                          <a:latin typeface="微软雅黑" panose="020B0503020204020204" pitchFamily="34" charset="-122"/>
                          <a:ea typeface="微软雅黑" panose="020B0503020204020204" pitchFamily="34" charset="-122"/>
                        </a:rPr>
                        <a:t>学生学籍管理</a:t>
                      </a:r>
                    </a:p>
                  </a:txBody>
                  <a:tcPr/>
                </a:tc>
                <a:extLst>
                  <a:ext uri="{0D108BD9-81ED-4DB2-BD59-A6C34878D82A}">
                    <a16:rowId xmlns:a16="http://schemas.microsoft.com/office/drawing/2014/main" val="3750667172"/>
                  </a:ext>
                </a:extLst>
              </a:tr>
              <a:tr h="307689">
                <a:tc>
                  <a:txBody>
                    <a:bodyPr/>
                    <a:lstStyle/>
                    <a:p>
                      <a:r>
                        <a:rPr lang="zh-CN" altLang="en-US" sz="1600">
                          <a:solidFill>
                            <a:srgbClr val="0070C0"/>
                          </a:solidFill>
                          <a:latin typeface="微软雅黑" panose="020B0503020204020204" pitchFamily="34" charset="-122"/>
                          <a:ea typeface="微软雅黑" panose="020B0503020204020204" pitchFamily="34" charset="-122"/>
                        </a:rPr>
                        <a:t>研究生院</a:t>
                      </a:r>
                      <a:endParaRPr lang="zh-CN" altLang="en-US" sz="1600" b="1">
                        <a:solidFill>
                          <a:srgbClr val="0070C0"/>
                        </a:solidFill>
                        <a:latin typeface="微软雅黑" panose="020B0503020204020204" pitchFamily="34" charset="-122"/>
                        <a:ea typeface="微软雅黑" panose="020B0503020204020204" pitchFamily="34" charset="-122"/>
                      </a:endParaRPr>
                    </a:p>
                  </a:txBody>
                  <a:tcPr/>
                </a:tc>
                <a:tc>
                  <a:txBody>
                    <a:bodyPr/>
                    <a:lstStyle/>
                    <a:p>
                      <a:r>
                        <a:rPr lang="zh-CN" altLang="en-US" sz="1600" b="1">
                          <a:latin typeface="微软雅黑" panose="020B0503020204020204" pitchFamily="34" charset="-122"/>
                          <a:ea typeface="微软雅黑" panose="020B0503020204020204" pitchFamily="34" charset="-122"/>
                        </a:rPr>
                        <a:t>研究生管理</a:t>
                      </a:r>
                    </a:p>
                  </a:txBody>
                  <a:tcPr/>
                </a:tc>
                <a:extLst>
                  <a:ext uri="{0D108BD9-81ED-4DB2-BD59-A6C34878D82A}">
                    <a16:rowId xmlns:a16="http://schemas.microsoft.com/office/drawing/2014/main" val="2067899143"/>
                  </a:ext>
                </a:extLst>
              </a:tr>
              <a:tr h="307689">
                <a:tc>
                  <a:txBody>
                    <a:bodyPr/>
                    <a:lstStyle/>
                    <a:p>
                      <a:r>
                        <a:rPr lang="zh-CN" altLang="en-US" sz="1600">
                          <a:solidFill>
                            <a:srgbClr val="0070C0"/>
                          </a:solidFill>
                          <a:latin typeface="微软雅黑" panose="020B0503020204020204" pitchFamily="34" charset="-122"/>
                          <a:ea typeface="微软雅黑" panose="020B0503020204020204" pitchFamily="34" charset="-122"/>
                        </a:rPr>
                        <a:t>人事处</a:t>
                      </a:r>
                      <a:endParaRPr lang="zh-CN" altLang="en-US" sz="1600" b="1">
                        <a:solidFill>
                          <a:srgbClr val="0070C0"/>
                        </a:solidFill>
                        <a:latin typeface="微软雅黑" panose="020B0503020204020204" pitchFamily="34" charset="-122"/>
                        <a:ea typeface="微软雅黑" panose="020B0503020204020204" pitchFamily="34" charset="-122"/>
                      </a:endParaRPr>
                    </a:p>
                  </a:txBody>
                  <a:tcPr/>
                </a:tc>
                <a:tc>
                  <a:txBody>
                    <a:bodyPr/>
                    <a:lstStyle/>
                    <a:p>
                      <a:r>
                        <a:rPr lang="zh-CN" altLang="en-US" sz="1600" b="1">
                          <a:latin typeface="微软雅黑" panose="020B0503020204020204" pitchFamily="34" charset="-122"/>
                          <a:ea typeface="微软雅黑" panose="020B0503020204020204" pitchFamily="34" charset="-122"/>
                        </a:rPr>
                        <a:t>教师人事管理</a:t>
                      </a:r>
                    </a:p>
                  </a:txBody>
                  <a:tcPr/>
                </a:tc>
                <a:extLst>
                  <a:ext uri="{0D108BD9-81ED-4DB2-BD59-A6C34878D82A}">
                    <a16:rowId xmlns:a16="http://schemas.microsoft.com/office/drawing/2014/main" val="3520354092"/>
                  </a:ext>
                </a:extLst>
              </a:tr>
              <a:tr h="307689">
                <a:tc>
                  <a:txBody>
                    <a:bodyPr/>
                    <a:lstStyle/>
                    <a:p>
                      <a:r>
                        <a:rPr lang="zh-CN" altLang="en-US" sz="1600">
                          <a:solidFill>
                            <a:srgbClr val="0070C0"/>
                          </a:solidFill>
                          <a:latin typeface="微软雅黑" panose="020B0503020204020204" pitchFamily="34" charset="-122"/>
                          <a:ea typeface="微软雅黑" panose="020B0503020204020204" pitchFamily="34" charset="-122"/>
                        </a:rPr>
                        <a:t>科研处</a:t>
                      </a:r>
                      <a:endParaRPr lang="zh-CN" altLang="en-US" sz="1600" b="1">
                        <a:solidFill>
                          <a:srgbClr val="0070C0"/>
                        </a:solidFill>
                        <a:latin typeface="微软雅黑" panose="020B0503020204020204" pitchFamily="34" charset="-122"/>
                        <a:ea typeface="微软雅黑" panose="020B0503020204020204" pitchFamily="34" charset="-122"/>
                      </a:endParaRPr>
                    </a:p>
                  </a:txBody>
                  <a:tcPr/>
                </a:tc>
                <a:tc>
                  <a:txBody>
                    <a:bodyPr/>
                    <a:lstStyle/>
                    <a:p>
                      <a:r>
                        <a:rPr lang="zh-CN" altLang="en-US" sz="1600" b="1">
                          <a:latin typeface="微软雅黑" panose="020B0503020204020204" pitchFamily="34" charset="-122"/>
                          <a:ea typeface="微软雅黑" panose="020B0503020204020204" pitchFamily="34" charset="-122"/>
                        </a:rPr>
                        <a:t>科研管理</a:t>
                      </a:r>
                    </a:p>
                  </a:txBody>
                  <a:tcPr/>
                </a:tc>
                <a:extLst>
                  <a:ext uri="{0D108BD9-81ED-4DB2-BD59-A6C34878D82A}">
                    <a16:rowId xmlns:a16="http://schemas.microsoft.com/office/drawing/2014/main" val="619794609"/>
                  </a:ext>
                </a:extLst>
              </a:tr>
            </a:tbl>
          </a:graphicData>
        </a:graphic>
      </p:graphicFrame>
      <p:pic>
        <p:nvPicPr>
          <p:cNvPr id="9" name="图片 25">
            <a:extLst>
              <a:ext uri="{FF2B5EF4-FFF2-40B4-BE49-F238E27FC236}">
                <a16:creationId xmlns:a16="http://schemas.microsoft.com/office/drawing/2014/main" id="{6C548D83-E7FF-4784-BD07-03CEE8FDEB76}"/>
              </a:ext>
            </a:extLst>
          </p:cNvPr>
          <p:cNvPicPr>
            <a:picLocks noChangeAspect="1"/>
          </p:cNvPicPr>
          <p:nvPr/>
        </p:nvPicPr>
        <p:blipFill>
          <a:blip r:embed="rId2"/>
          <a:stretch>
            <a:fillRect/>
          </a:stretch>
        </p:blipFill>
        <p:spPr>
          <a:xfrm>
            <a:off x="1869085" y="3779485"/>
            <a:ext cx="8018413" cy="2412593"/>
          </a:xfrm>
          <a:prstGeom prst="rect">
            <a:avLst/>
          </a:prstGeom>
          <a:noFill/>
          <a:ln w="9525">
            <a:solidFill>
              <a:schemeClr val="accent1"/>
            </a:solidFill>
          </a:ln>
        </p:spPr>
      </p:pic>
      <p:sp>
        <p:nvSpPr>
          <p:cNvPr id="10" name="矩形 9">
            <a:extLst>
              <a:ext uri="{FF2B5EF4-FFF2-40B4-BE49-F238E27FC236}">
                <a16:creationId xmlns:a16="http://schemas.microsoft.com/office/drawing/2014/main" id="{AF4D2955-250E-47BF-B85A-3D3E538D284A}"/>
              </a:ext>
            </a:extLst>
          </p:cNvPr>
          <p:cNvSpPr/>
          <p:nvPr/>
        </p:nvSpPr>
        <p:spPr>
          <a:xfrm>
            <a:off x="6520900" y="5595044"/>
            <a:ext cx="2262158" cy="369332"/>
          </a:xfrm>
          <a:prstGeom prst="rect">
            <a:avLst/>
          </a:prstGeom>
        </p:spPr>
        <p:txBody>
          <a:bodyPr wrap="none">
            <a:spAutoFit/>
          </a:bodyPr>
          <a:lstStyle/>
          <a:p>
            <a:r>
              <a:rPr lang="zh-CN" altLang="zh-CN" b="1">
                <a:solidFill>
                  <a:srgbClr val="FF0000"/>
                </a:solidFill>
                <a:latin typeface="微软雅黑" panose="020B0503020204020204" pitchFamily="34" charset="-122"/>
                <a:ea typeface="微软雅黑" panose="020B0503020204020204" pitchFamily="34" charset="-122"/>
              </a:rPr>
              <a:t>学生</a:t>
            </a:r>
            <a:r>
              <a:rPr lang="zh-CN" altLang="en-US" b="1">
                <a:solidFill>
                  <a:srgbClr val="FF0000"/>
                </a:solidFill>
                <a:latin typeface="微软雅黑" panose="020B0503020204020204" pitchFamily="34" charset="-122"/>
                <a:ea typeface="微软雅黑" panose="020B0503020204020204" pitchFamily="34" charset="-122"/>
              </a:rPr>
              <a:t>相关的</a:t>
            </a:r>
            <a:r>
              <a:rPr lang="zh-CN" altLang="zh-CN" b="1">
                <a:solidFill>
                  <a:srgbClr val="FF0000"/>
                </a:solidFill>
                <a:latin typeface="微软雅黑" panose="020B0503020204020204" pitchFamily="34" charset="-122"/>
                <a:ea typeface="微软雅黑" panose="020B0503020204020204" pitchFamily="34" charset="-122"/>
              </a:rPr>
              <a:t>数据</a:t>
            </a:r>
            <a:r>
              <a:rPr lang="zh-CN" altLang="en-US" b="1">
                <a:solidFill>
                  <a:srgbClr val="FF0000"/>
                </a:solidFill>
                <a:latin typeface="微软雅黑" panose="020B0503020204020204" pitchFamily="34" charset="-122"/>
                <a:ea typeface="微软雅黑" panose="020B0503020204020204" pitchFamily="34" charset="-122"/>
              </a:rPr>
              <a:t>结构</a:t>
            </a:r>
          </a:p>
        </p:txBody>
      </p:sp>
    </p:spTree>
    <p:extLst>
      <p:ext uri="{BB962C8B-B14F-4D97-AF65-F5344CB8AC3E}">
        <p14:creationId xmlns:p14="http://schemas.microsoft.com/office/powerpoint/2010/main" val="179413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dirty="0"/>
              <a:t>特点</a:t>
            </a:r>
            <a:r>
              <a:rPr lang="en-US" altLang="zh-CN" dirty="0"/>
              <a:t>2</a:t>
            </a:r>
            <a:r>
              <a:rPr lang="zh-CN" altLang="en-US" dirty="0"/>
              <a:t>：</a:t>
            </a:r>
            <a:r>
              <a:rPr lang="zh-CN" altLang="en-US" dirty="0">
                <a:latin typeface="Cambria Math" panose="02040503050406030204" pitchFamily="18" charset="0"/>
              </a:rPr>
              <a:t>数据的共享性强，冗余度低且易于扩充</a:t>
            </a:r>
            <a:endParaRPr lang="zh-CN" altLang="en-US" dirty="0"/>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8748AB14-15EB-4971-BC8E-EF8C522ADED0}"/>
              </a:ext>
            </a:extLst>
          </p:cNvPr>
          <p:cNvSpPr>
            <a:spLocks noGrp="1"/>
          </p:cNvSpPr>
          <p:nvPr>
            <p:ph idx="1"/>
          </p:nvPr>
        </p:nvSpPr>
        <p:spPr/>
        <p:txBody>
          <a:bodyPr/>
          <a:lstStyle/>
          <a:p>
            <a:r>
              <a:rPr lang="zh-CN" altLang="en-US" dirty="0"/>
              <a:t>数据面向整个系统，可以被多个用户、多个应用、使用不同的接口、不同的编程语言共享使用</a:t>
            </a:r>
            <a:endParaRPr lang="en-US" altLang="zh-CN" dirty="0"/>
          </a:p>
          <a:p>
            <a:endParaRPr lang="zh-CN" altLang="en-US" sz="800" dirty="0"/>
          </a:p>
          <a:p>
            <a:r>
              <a:rPr lang="zh-CN" altLang="en-US" dirty="0"/>
              <a:t>数据共享的好处</a:t>
            </a:r>
          </a:p>
          <a:p>
            <a:pPr lvl="1"/>
            <a:r>
              <a:rPr lang="zh-CN" altLang="en-US" dirty="0"/>
              <a:t>减少数据冗余，节约存储空间</a:t>
            </a:r>
          </a:p>
          <a:p>
            <a:pPr lvl="1"/>
            <a:r>
              <a:rPr lang="zh-CN" altLang="en-US" dirty="0"/>
              <a:t>避免数据之间的不相容性与</a:t>
            </a:r>
            <a:r>
              <a:rPr lang="zh-CN" altLang="en-US" dirty="0">
                <a:solidFill>
                  <a:srgbClr val="0000CC"/>
                </a:solidFill>
              </a:rPr>
              <a:t>不一致性 </a:t>
            </a:r>
          </a:p>
          <a:p>
            <a:pPr lvl="1"/>
            <a:r>
              <a:rPr lang="zh-CN" altLang="en-US" dirty="0"/>
              <a:t>使系统易于扩充</a:t>
            </a:r>
          </a:p>
          <a:p>
            <a:endParaRPr lang="zh-CN" altLang="en-US" dirty="0"/>
          </a:p>
          <a:p>
            <a:endParaRPr lang="zh-CN" altLang="en-US" dirty="0"/>
          </a:p>
        </p:txBody>
      </p:sp>
      <p:sp>
        <p:nvSpPr>
          <p:cNvPr id="8" name="AutoShape 4">
            <a:extLst>
              <a:ext uri="{FF2B5EF4-FFF2-40B4-BE49-F238E27FC236}">
                <a16:creationId xmlns:a16="http://schemas.microsoft.com/office/drawing/2014/main" id="{29CE6523-A786-49A5-AA4F-79D2A8811816}"/>
              </a:ext>
            </a:extLst>
          </p:cNvPr>
          <p:cNvSpPr>
            <a:spLocks noChangeArrowheads="1"/>
          </p:cNvSpPr>
          <p:nvPr/>
        </p:nvSpPr>
        <p:spPr bwMode="auto">
          <a:xfrm>
            <a:off x="3471391" y="4009721"/>
            <a:ext cx="4394315" cy="536643"/>
          </a:xfrm>
          <a:prstGeom prst="wedgeRectCallout">
            <a:avLst>
              <a:gd name="adj1" fmla="val -21601"/>
              <a:gd name="adj2" fmla="val -128608"/>
            </a:avLst>
          </a:prstGeom>
          <a:noFill/>
          <a:ln w="28575">
            <a:solidFill>
              <a:schemeClr val="tx1"/>
            </a:solidFill>
            <a:miter lim="800000"/>
            <a:headEnd/>
            <a:tailEnd/>
          </a:ln>
          <a:effectLst/>
        </p:spPr>
        <p:txBody>
          <a:bodyPr/>
          <a:lstStyle/>
          <a:p>
            <a:pPr algn="just">
              <a:defRPr/>
            </a:pPr>
            <a:r>
              <a:rPr lang="zh-CN" altLang="en-US" sz="2400" dirty="0">
                <a:solidFill>
                  <a:srgbClr val="FF0000"/>
                </a:solidFill>
                <a:effectLst>
                  <a:outerShdw blurRad="38100" dist="38100" dir="2700000" algn="tl">
                    <a:srgbClr val="C0C0C0"/>
                  </a:outerShdw>
                </a:effectLst>
                <a:latin typeface="阿里巴巴普惠体 3.0 55 Regular" panose="00020600040101010101" pitchFamily="18" charset="-122"/>
                <a:ea typeface="阿里巴巴普惠体 3.0 55 Regular" panose="00020600040101010101" pitchFamily="18" charset="-122"/>
              </a:rPr>
              <a:t>指同一</a:t>
            </a:r>
            <a:r>
              <a:rPr lang="zh-CN" altLang="en-US" sz="2400">
                <a:solidFill>
                  <a:srgbClr val="FF0000"/>
                </a:solidFill>
                <a:effectLst>
                  <a:outerShdw blurRad="38100" dist="38100" dir="2700000" algn="tl">
                    <a:srgbClr val="C0C0C0"/>
                  </a:outerShdw>
                </a:effectLst>
                <a:latin typeface="阿里巴巴普惠体 3.0 55 Regular" panose="00020600040101010101" pitchFamily="18" charset="-122"/>
                <a:ea typeface="阿里巴巴普惠体 3.0 55 Regular" panose="00020600040101010101" pitchFamily="18" charset="-122"/>
              </a:rPr>
              <a:t>数据不同副本的</a:t>
            </a:r>
            <a:r>
              <a:rPr lang="zh-CN" altLang="en-US" sz="2400" dirty="0">
                <a:solidFill>
                  <a:srgbClr val="FF0000"/>
                </a:solidFill>
                <a:effectLst>
                  <a:outerShdw blurRad="38100" dist="38100" dir="2700000" algn="tl">
                    <a:srgbClr val="C0C0C0"/>
                  </a:outerShdw>
                </a:effectLst>
                <a:latin typeface="阿里巴巴普惠体 3.0 55 Regular" panose="00020600040101010101" pitchFamily="18" charset="-122"/>
                <a:ea typeface="阿里巴巴普惠体 3.0 55 Regular" panose="00020600040101010101" pitchFamily="18" charset="-122"/>
              </a:rPr>
              <a:t>值不一样</a:t>
            </a:r>
          </a:p>
        </p:txBody>
      </p:sp>
    </p:spTree>
    <p:extLst>
      <p:ext uri="{BB962C8B-B14F-4D97-AF65-F5344CB8AC3E}">
        <p14:creationId xmlns:p14="http://schemas.microsoft.com/office/powerpoint/2010/main" val="107794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特点</a:t>
            </a:r>
            <a:r>
              <a:rPr lang="en-US" altLang="zh-CN"/>
              <a:t>3</a:t>
            </a:r>
            <a:r>
              <a:rPr lang="zh-CN" altLang="en-US"/>
              <a:t>：</a:t>
            </a:r>
            <a:r>
              <a:rPr lang="zh-CN" altLang="en-US">
                <a:latin typeface="Cambria Math" panose="02040503050406030204" pitchFamily="18" charset="0"/>
              </a:rPr>
              <a:t>数据的独立性强</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69F4D6AE-DC70-4055-BFD2-6C84ECF4317F}"/>
              </a:ext>
            </a:extLst>
          </p:cNvPr>
          <p:cNvSpPr>
            <a:spLocks noGrp="1"/>
          </p:cNvSpPr>
          <p:nvPr>
            <p:ph idx="1"/>
          </p:nvPr>
        </p:nvSpPr>
        <p:spPr/>
        <p:txBody>
          <a:bodyPr/>
          <a:lstStyle/>
          <a:p>
            <a:r>
              <a:rPr lang="zh-CN" altLang="en-US" u="sng" dirty="0">
                <a:solidFill>
                  <a:srgbClr val="FF0000"/>
                </a:solidFill>
              </a:rPr>
              <a:t>数据独立性</a:t>
            </a:r>
            <a:r>
              <a:rPr lang="zh-CN" altLang="en-US" dirty="0"/>
              <a:t>是指数据与应用程序相互独立，即数据结构发生变化后，应用程序不必做相应的修改</a:t>
            </a:r>
            <a:endParaRPr lang="en-US" altLang="zh-CN" dirty="0"/>
          </a:p>
          <a:p>
            <a:pPr lvl="1"/>
            <a:r>
              <a:rPr lang="zh-CN" altLang="en-US" dirty="0"/>
              <a:t>数据独立性包括</a:t>
            </a:r>
            <a:r>
              <a:rPr lang="zh-CN" altLang="en-US" dirty="0">
                <a:solidFill>
                  <a:srgbClr val="FF0000"/>
                </a:solidFill>
              </a:rPr>
              <a:t>数据的物理独立性</a:t>
            </a:r>
            <a:r>
              <a:rPr lang="zh-CN" altLang="en-US" dirty="0"/>
              <a:t>和</a:t>
            </a:r>
            <a:r>
              <a:rPr lang="zh-CN" altLang="en-US" dirty="0">
                <a:solidFill>
                  <a:srgbClr val="FF0000"/>
                </a:solidFill>
              </a:rPr>
              <a:t>数据的逻辑独立性</a:t>
            </a:r>
            <a:endParaRPr lang="en-US" altLang="zh-CN" dirty="0"/>
          </a:p>
          <a:p>
            <a:pPr lvl="2"/>
            <a:r>
              <a:rPr lang="zh-CN" altLang="en-US" dirty="0">
                <a:solidFill>
                  <a:srgbClr val="FF0000"/>
                </a:solidFill>
              </a:rPr>
              <a:t>数据的物理独立性</a:t>
            </a:r>
            <a:endParaRPr lang="en-US" altLang="zh-CN" dirty="0">
              <a:solidFill>
                <a:srgbClr val="FF0000"/>
              </a:solidFill>
            </a:endParaRPr>
          </a:p>
          <a:p>
            <a:pPr lvl="3"/>
            <a:r>
              <a:rPr lang="zh-CN" altLang="en-US" sz="1800" dirty="0"/>
              <a:t>指用户的应用程序与数据库中数据的物理存储是相互独立的</a:t>
            </a:r>
            <a:endParaRPr lang="en-US" altLang="zh-CN" sz="1800" dirty="0"/>
          </a:p>
          <a:p>
            <a:pPr lvl="4"/>
            <a:r>
              <a:rPr lang="zh-CN" altLang="en-US" sz="1600" dirty="0"/>
              <a:t>当数据的物理存储改变了，应用程序不用改变</a:t>
            </a:r>
            <a:endParaRPr lang="en-US" altLang="zh-CN" sz="1600" dirty="0"/>
          </a:p>
          <a:p>
            <a:pPr lvl="2"/>
            <a:r>
              <a:rPr lang="zh-CN" altLang="en-US" dirty="0">
                <a:solidFill>
                  <a:srgbClr val="FF0000"/>
                </a:solidFill>
              </a:rPr>
              <a:t>数据的逻辑独立性</a:t>
            </a:r>
            <a:endParaRPr lang="en-US" altLang="zh-CN" dirty="0">
              <a:solidFill>
                <a:srgbClr val="FF0000"/>
              </a:solidFill>
            </a:endParaRPr>
          </a:p>
          <a:p>
            <a:pPr lvl="3"/>
            <a:r>
              <a:rPr lang="zh-CN" altLang="en-US" sz="1800" dirty="0"/>
              <a:t>指用户的应用程序与数据库的逻辑结构是相互独立的</a:t>
            </a:r>
            <a:endParaRPr lang="en-US" altLang="zh-CN" sz="1800" dirty="0"/>
          </a:p>
          <a:p>
            <a:pPr lvl="4"/>
            <a:r>
              <a:rPr lang="zh-CN" altLang="en-US" sz="1600" dirty="0"/>
              <a:t>数据的逻辑结构改变了，应用程序不用改变</a:t>
            </a:r>
            <a:endParaRPr lang="en-US" altLang="zh-CN" sz="1600" dirty="0"/>
          </a:p>
          <a:p>
            <a:pPr lvl="3"/>
            <a:endParaRPr lang="en-US" altLang="zh-CN" sz="800" dirty="0"/>
          </a:p>
          <a:p>
            <a:r>
              <a:rPr lang="zh-CN" altLang="en-US" dirty="0"/>
              <a:t>数据独立性由数据库管理系统的</a:t>
            </a:r>
            <a:r>
              <a:rPr lang="zh-CN" altLang="en-US" dirty="0">
                <a:solidFill>
                  <a:srgbClr val="FF0000"/>
                </a:solidFill>
              </a:rPr>
              <a:t>两级映像功能</a:t>
            </a:r>
            <a:r>
              <a:rPr lang="zh-CN" altLang="en-US" dirty="0"/>
              <a:t>来保证</a:t>
            </a:r>
          </a:p>
        </p:txBody>
      </p:sp>
    </p:spTree>
    <p:extLst>
      <p:ext uri="{BB962C8B-B14F-4D97-AF65-F5344CB8AC3E}">
        <p14:creationId xmlns:p14="http://schemas.microsoft.com/office/powerpoint/2010/main" val="3453912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~(cont.)</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8" name="Picture 4" descr="database">
            <a:extLst>
              <a:ext uri="{FF2B5EF4-FFF2-40B4-BE49-F238E27FC236}">
                <a16:creationId xmlns:a16="http://schemas.microsoft.com/office/drawing/2014/main" id="{25B55C31-CD13-4A60-996B-DCB3BAFB88C8}"/>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78306" y="1021919"/>
            <a:ext cx="6021629" cy="364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227A006F-7FCC-4A49-8A8A-AF931CE51113}"/>
              </a:ext>
            </a:extLst>
          </p:cNvPr>
          <p:cNvSpPr/>
          <p:nvPr/>
        </p:nvSpPr>
        <p:spPr>
          <a:xfrm>
            <a:off x="892037" y="1696842"/>
            <a:ext cx="5936145" cy="231856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大括号 9">
            <a:extLst>
              <a:ext uri="{FF2B5EF4-FFF2-40B4-BE49-F238E27FC236}">
                <a16:creationId xmlns:a16="http://schemas.microsoft.com/office/drawing/2014/main" id="{2425627A-9DB3-4E2C-AC0F-1EB42FCB70B7}"/>
              </a:ext>
            </a:extLst>
          </p:cNvPr>
          <p:cNvSpPr/>
          <p:nvPr/>
        </p:nvSpPr>
        <p:spPr>
          <a:xfrm>
            <a:off x="6959253" y="1729428"/>
            <a:ext cx="127347" cy="226610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BB40EE8B-723B-45D7-9D86-D06D42F4EDA6}"/>
              </a:ext>
            </a:extLst>
          </p:cNvPr>
          <p:cNvPicPr>
            <a:picLocks noChangeAspect="1"/>
          </p:cNvPicPr>
          <p:nvPr/>
        </p:nvPicPr>
        <p:blipFill>
          <a:blip r:embed="rId3">
            <a:duotone>
              <a:prstClr val="black"/>
              <a:schemeClr val="bg2">
                <a:tint val="45000"/>
                <a:satMod val="400000"/>
              </a:schemeClr>
            </a:duotone>
          </a:blip>
          <a:stretch>
            <a:fillRect/>
          </a:stretch>
        </p:blipFill>
        <p:spPr>
          <a:xfrm>
            <a:off x="7008546" y="4135037"/>
            <a:ext cx="3336601" cy="1957649"/>
          </a:xfrm>
          <a:prstGeom prst="rect">
            <a:avLst/>
          </a:prstGeom>
        </p:spPr>
      </p:pic>
      <p:sp>
        <p:nvSpPr>
          <p:cNvPr id="12" name="TextBox 5">
            <a:extLst>
              <a:ext uri="{FF2B5EF4-FFF2-40B4-BE49-F238E27FC236}">
                <a16:creationId xmlns:a16="http://schemas.microsoft.com/office/drawing/2014/main" id="{FA5F6A11-FA5A-4E2B-96CE-73762F2000FC}"/>
              </a:ext>
            </a:extLst>
          </p:cNvPr>
          <p:cNvSpPr txBox="1"/>
          <p:nvPr/>
        </p:nvSpPr>
        <p:spPr>
          <a:xfrm>
            <a:off x="7378624" y="3145607"/>
            <a:ext cx="2464097" cy="400110"/>
          </a:xfrm>
          <a:prstGeom prst="rect">
            <a:avLst/>
          </a:prstGeom>
          <a:noFill/>
        </p:spPr>
        <p:txBody>
          <a:bodyPr wrap="square" rtlCol="0">
            <a:spAutoFit/>
          </a:bodyPr>
          <a:lstStyle/>
          <a:p>
            <a:pPr algn="ctr"/>
            <a:r>
              <a:rPr lang="zh-CN" altLang="en-US" sz="2000" b="1" dirty="0">
                <a:solidFill>
                  <a:srgbClr val="FF0000"/>
                </a:solidFill>
                <a:latin typeface="阿里巴巴普惠体 3.0 55 Regular" panose="00020600040101010101" pitchFamily="18" charset="-122"/>
                <a:ea typeface="阿里巴巴普惠体 3.0 55 Regular" panose="00020600040101010101" pitchFamily="18" charset="-122"/>
              </a:rPr>
              <a:t>三级模式</a:t>
            </a:r>
            <a:r>
              <a:rPr lang="en-US" altLang="zh-CN" sz="2000" b="1" dirty="0">
                <a:solidFill>
                  <a:srgbClr val="FF0000"/>
                </a:solidFill>
                <a:latin typeface="阿里巴巴普惠体 3.0 55 Regular" panose="00020600040101010101" pitchFamily="18" charset="-122"/>
                <a:ea typeface="阿里巴巴普惠体 3.0 55 Regular" panose="00020600040101010101" pitchFamily="18" charset="-122"/>
              </a:rPr>
              <a:t>+</a:t>
            </a:r>
            <a:r>
              <a:rPr lang="zh-CN" altLang="en-US" sz="2000" b="1" dirty="0">
                <a:solidFill>
                  <a:srgbClr val="FF0000"/>
                </a:solidFill>
                <a:latin typeface="阿里巴巴普惠体 3.0 55 Regular" panose="00020600040101010101" pitchFamily="18" charset="-122"/>
                <a:ea typeface="阿里巴巴普惠体 3.0 55 Regular" panose="00020600040101010101" pitchFamily="18" charset="-122"/>
              </a:rPr>
              <a:t>二级映象</a:t>
            </a:r>
          </a:p>
        </p:txBody>
      </p:sp>
      <p:sp>
        <p:nvSpPr>
          <p:cNvPr id="13" name="TextBox 5">
            <a:extLst>
              <a:ext uri="{FF2B5EF4-FFF2-40B4-BE49-F238E27FC236}">
                <a16:creationId xmlns:a16="http://schemas.microsoft.com/office/drawing/2014/main" id="{E9A48107-47CE-4BD9-AC32-496CBB04E873}"/>
              </a:ext>
            </a:extLst>
          </p:cNvPr>
          <p:cNvSpPr txBox="1"/>
          <p:nvPr/>
        </p:nvSpPr>
        <p:spPr>
          <a:xfrm>
            <a:off x="7269269" y="2601749"/>
            <a:ext cx="2790622" cy="461665"/>
          </a:xfrm>
          <a:prstGeom prst="rect">
            <a:avLst/>
          </a:prstGeom>
          <a:noFill/>
        </p:spPr>
        <p:txBody>
          <a:bodyPr wrap="square" rtlCol="0">
            <a:spAutoFit/>
          </a:bodyPr>
          <a:lstStyle/>
          <a:p>
            <a:r>
              <a:rPr lang="en-US" altLang="zh-CN" sz="2400" b="1" dirty="0">
                <a:solidFill>
                  <a:srgbClr val="0000CC"/>
                </a:solidFill>
                <a:latin typeface="阿里巴巴普惠体 3.0 55 Regular" panose="00020600040101010101" pitchFamily="18" charset="-122"/>
                <a:ea typeface="阿里巴巴普惠体 3.0 55 Regular" panose="00020600040101010101" pitchFamily="18" charset="-122"/>
              </a:rPr>
              <a:t>DBMS</a:t>
            </a:r>
            <a:r>
              <a:rPr lang="zh-CN" altLang="en-US" sz="2400" b="1" dirty="0">
                <a:solidFill>
                  <a:srgbClr val="0000CC"/>
                </a:solidFill>
                <a:latin typeface="阿里巴巴普惠体 3.0 55 Regular" panose="00020600040101010101" pitchFamily="18" charset="-122"/>
                <a:ea typeface="阿里巴巴普惠体 3.0 55 Regular" panose="00020600040101010101" pitchFamily="18" charset="-122"/>
              </a:rPr>
              <a:t>的内部架构</a:t>
            </a:r>
          </a:p>
        </p:txBody>
      </p:sp>
      <p:sp>
        <p:nvSpPr>
          <p:cNvPr id="14" name="椭圆 13">
            <a:extLst>
              <a:ext uri="{FF2B5EF4-FFF2-40B4-BE49-F238E27FC236}">
                <a16:creationId xmlns:a16="http://schemas.microsoft.com/office/drawing/2014/main" id="{9E85F348-AB8B-4D18-B951-0ABC4EBE5A79}"/>
              </a:ext>
            </a:extLst>
          </p:cNvPr>
          <p:cNvSpPr/>
          <p:nvPr/>
        </p:nvSpPr>
        <p:spPr>
          <a:xfrm>
            <a:off x="8161094" y="4479545"/>
            <a:ext cx="906375" cy="901997"/>
          </a:xfrm>
          <a:prstGeom prst="ellipse">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上 14">
            <a:extLst>
              <a:ext uri="{FF2B5EF4-FFF2-40B4-BE49-F238E27FC236}">
                <a16:creationId xmlns:a16="http://schemas.microsoft.com/office/drawing/2014/main" id="{0A374882-325A-4A8C-9CFF-9553FE54113A}"/>
              </a:ext>
            </a:extLst>
          </p:cNvPr>
          <p:cNvSpPr/>
          <p:nvPr/>
        </p:nvSpPr>
        <p:spPr>
          <a:xfrm>
            <a:off x="8364927" y="3543684"/>
            <a:ext cx="491490" cy="729736"/>
          </a:xfrm>
          <a:prstGeom prst="upArrow">
            <a:avLst>
              <a:gd name="adj1" fmla="val 50000"/>
              <a:gd name="adj2" fmla="val 569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6368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特点</a:t>
            </a:r>
            <a:r>
              <a:rPr lang="en-US" altLang="zh-CN"/>
              <a:t>4</a:t>
            </a:r>
            <a:r>
              <a:rPr lang="zh-CN" altLang="en-US"/>
              <a:t>：</a:t>
            </a:r>
            <a:r>
              <a:rPr lang="zh-CN" altLang="en-US">
                <a:latin typeface="Cambria Math" panose="02040503050406030204" pitchFamily="18" charset="0"/>
              </a:rPr>
              <a:t>数据由</a:t>
            </a:r>
            <a:r>
              <a:rPr lang="en-US" altLang="zh-CN"/>
              <a:t>DBMS</a:t>
            </a:r>
            <a:r>
              <a:rPr lang="zh-CN" altLang="en-US">
                <a:latin typeface="Cambria Math" panose="02040503050406030204" pitchFamily="18" charset="0"/>
              </a:rPr>
              <a:t>统一管理和控制</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776FA9BD-9E37-4E49-A61A-8E83A407D437}"/>
              </a:ext>
            </a:extLst>
          </p:cNvPr>
          <p:cNvSpPr>
            <a:spLocks noGrp="1"/>
          </p:cNvSpPr>
          <p:nvPr>
            <p:ph idx="1"/>
          </p:nvPr>
        </p:nvSpPr>
        <p:spPr/>
        <p:txBody>
          <a:bodyPr/>
          <a:lstStyle/>
          <a:p>
            <a:r>
              <a:rPr lang="en-US" altLang="zh-CN"/>
              <a:t>DBMS</a:t>
            </a:r>
            <a:r>
              <a:rPr lang="zh-CN" altLang="en-US"/>
              <a:t>提供的</a:t>
            </a:r>
            <a:r>
              <a:rPr lang="zh-CN" altLang="en-US" u="sng">
                <a:solidFill>
                  <a:srgbClr val="FF0000"/>
                </a:solidFill>
              </a:rPr>
              <a:t>数据控制功能</a:t>
            </a:r>
          </a:p>
          <a:p>
            <a:pPr lvl="1"/>
            <a:r>
              <a:rPr lang="zh-CN" altLang="en-US"/>
              <a:t>数据的</a:t>
            </a:r>
            <a:r>
              <a:rPr lang="zh-CN" altLang="en-US">
                <a:solidFill>
                  <a:srgbClr val="FF0000"/>
                </a:solidFill>
              </a:rPr>
              <a:t>安全性</a:t>
            </a:r>
            <a:r>
              <a:rPr lang="en-US" altLang="zh-CN">
                <a:solidFill>
                  <a:srgbClr val="FF0000"/>
                </a:solidFill>
              </a:rPr>
              <a:t>(Security)</a:t>
            </a:r>
            <a:r>
              <a:rPr lang="zh-CN" altLang="en-US"/>
              <a:t>保护</a:t>
            </a:r>
          </a:p>
          <a:p>
            <a:pPr lvl="2"/>
            <a:r>
              <a:rPr lang="zh-CN" altLang="en-US"/>
              <a:t>保护数据，以防止不合法的使用造成数据的泄密和破坏</a:t>
            </a:r>
            <a:endParaRPr lang="en-US" altLang="zh-CN"/>
          </a:p>
          <a:p>
            <a:pPr lvl="2"/>
            <a:endParaRPr lang="zh-CN" altLang="en-US" sz="800"/>
          </a:p>
          <a:p>
            <a:pPr lvl="1"/>
            <a:r>
              <a:rPr lang="zh-CN" altLang="en-US"/>
              <a:t>数据的</a:t>
            </a:r>
            <a:r>
              <a:rPr lang="zh-CN" altLang="en-US">
                <a:solidFill>
                  <a:srgbClr val="FF0000"/>
                </a:solidFill>
              </a:rPr>
              <a:t>完整性</a:t>
            </a:r>
            <a:r>
              <a:rPr lang="en-US" altLang="zh-CN">
                <a:solidFill>
                  <a:srgbClr val="FF0000"/>
                </a:solidFill>
              </a:rPr>
              <a:t>(Integrity)</a:t>
            </a:r>
            <a:r>
              <a:rPr lang="zh-CN" altLang="en-US"/>
              <a:t>检查</a:t>
            </a:r>
          </a:p>
          <a:p>
            <a:pPr lvl="2"/>
            <a:r>
              <a:rPr lang="zh-CN" altLang="en-US"/>
              <a:t>数据的完整性是指数据的正确性、有效性和相容性</a:t>
            </a:r>
          </a:p>
          <a:p>
            <a:pPr lvl="3"/>
            <a:r>
              <a:rPr lang="zh-CN" altLang="en-US"/>
              <a:t>将数据控制在有效的范围内，并保证数据之间满足一定的关系</a:t>
            </a:r>
            <a:endParaRPr lang="en-US" altLang="zh-CN"/>
          </a:p>
          <a:p>
            <a:pPr lvl="3"/>
            <a:endParaRPr lang="zh-CN" altLang="en-US" sz="800"/>
          </a:p>
          <a:p>
            <a:pPr lvl="1"/>
            <a:r>
              <a:rPr lang="zh-CN" altLang="en-US">
                <a:solidFill>
                  <a:srgbClr val="FF0000"/>
                </a:solidFill>
              </a:rPr>
              <a:t>并发</a:t>
            </a:r>
            <a:r>
              <a:rPr lang="en-US" altLang="zh-CN">
                <a:solidFill>
                  <a:srgbClr val="FF0000"/>
                </a:solidFill>
              </a:rPr>
              <a:t>(Concurrency)</a:t>
            </a:r>
            <a:r>
              <a:rPr lang="zh-CN" altLang="en-US">
                <a:solidFill>
                  <a:srgbClr val="FF0000"/>
                </a:solidFill>
              </a:rPr>
              <a:t>控制</a:t>
            </a:r>
          </a:p>
          <a:p>
            <a:pPr lvl="2"/>
            <a:r>
              <a:rPr lang="zh-CN" altLang="en-US"/>
              <a:t>对多用户的并发操作加以控制和协调，防止相互干扰而得到错误的结果</a:t>
            </a:r>
            <a:endParaRPr lang="en-US" altLang="zh-CN"/>
          </a:p>
          <a:p>
            <a:pPr lvl="2"/>
            <a:endParaRPr lang="zh-CN" altLang="en-US" sz="800"/>
          </a:p>
          <a:p>
            <a:pPr lvl="1"/>
            <a:r>
              <a:rPr lang="zh-CN" altLang="en-US">
                <a:solidFill>
                  <a:srgbClr val="FF0000"/>
                </a:solidFill>
              </a:rPr>
              <a:t>数据库恢复</a:t>
            </a:r>
            <a:r>
              <a:rPr lang="en-US" altLang="zh-CN">
                <a:solidFill>
                  <a:srgbClr val="FF0000"/>
                </a:solidFill>
              </a:rPr>
              <a:t>(Recovery)</a:t>
            </a:r>
          </a:p>
          <a:p>
            <a:pPr lvl="2"/>
            <a:r>
              <a:rPr lang="zh-CN" altLang="en-US"/>
              <a:t>将数据库从错误状态恢复到某一已知的</a:t>
            </a:r>
            <a:r>
              <a:rPr lang="zh-CN" altLang="en-US">
                <a:solidFill>
                  <a:srgbClr val="FF0000"/>
                </a:solidFill>
              </a:rPr>
              <a:t>正确状态</a:t>
            </a:r>
            <a:r>
              <a:rPr lang="en-US" altLang="zh-CN"/>
              <a:t>(</a:t>
            </a:r>
            <a:r>
              <a:rPr lang="zh-CN" altLang="en-US">
                <a:solidFill>
                  <a:srgbClr val="FF0000"/>
                </a:solidFill>
              </a:rPr>
              <a:t>完整状态或一致状态</a:t>
            </a:r>
            <a:r>
              <a:rPr lang="en-US" altLang="zh-CN"/>
              <a:t>)</a:t>
            </a:r>
            <a:endParaRPr lang="zh-CN" altLang="en-US"/>
          </a:p>
        </p:txBody>
      </p:sp>
    </p:spTree>
    <p:extLst>
      <p:ext uri="{BB962C8B-B14F-4D97-AF65-F5344CB8AC3E}">
        <p14:creationId xmlns:p14="http://schemas.microsoft.com/office/powerpoint/2010/main" val="2686811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数据库系统概念小结</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DDE14833-E3CB-4C67-A467-1C4EBF906669}"/>
              </a:ext>
            </a:extLst>
          </p:cNvPr>
          <p:cNvSpPr>
            <a:spLocks noGrp="1"/>
          </p:cNvSpPr>
          <p:nvPr>
            <p:ph idx="1"/>
          </p:nvPr>
        </p:nvSpPr>
        <p:spPr/>
        <p:txBody>
          <a:bodyPr>
            <a:normAutofit/>
          </a:bodyPr>
          <a:lstStyle/>
          <a:p>
            <a:r>
              <a:rPr lang="zh-CN" altLang="en-US" dirty="0"/>
              <a:t>数据库是长期存储在计算机内有组织、大量共享数据的集合。它可以供各种用户共享，具有最小冗余度和较高的数据独立性</a:t>
            </a:r>
          </a:p>
          <a:p>
            <a:endParaRPr lang="zh-CN" altLang="en-US" sz="800" dirty="0"/>
          </a:p>
          <a:p>
            <a:r>
              <a:rPr lang="en-US" altLang="zh-CN" dirty="0"/>
              <a:t>DBMS</a:t>
            </a:r>
            <a:r>
              <a:rPr lang="zh-CN" altLang="en-US" dirty="0"/>
              <a:t>在数据库建立、运用和维护时对数据库进行统一控制，来保证数据的完整性、安全性，并在多用户同时使用数据库时进行并发控制，在发生故障后对数据库进行恢复</a:t>
            </a:r>
          </a:p>
          <a:p>
            <a:endParaRPr lang="zh-CN" altLang="en-US" sz="800" dirty="0"/>
          </a:p>
          <a:p>
            <a:r>
              <a:rPr lang="zh-CN" altLang="en-US" dirty="0"/>
              <a:t>数据库系统的出现使信息系统从以加工数据的程序为中心转向以共享的数据库为中心，即以软件为中心向以数据为中心的计算平台的迁移</a:t>
            </a:r>
            <a:endParaRPr lang="zh-CN" altLang="en-US" sz="800" dirty="0"/>
          </a:p>
          <a:p>
            <a:pPr lvl="1"/>
            <a:r>
              <a:rPr lang="zh-CN" altLang="en-US" dirty="0"/>
              <a:t>既便于数据的集中管理，又简化了应用系统的研制和发展，提高了数据的利用率和决策的可靠性</a:t>
            </a:r>
          </a:p>
        </p:txBody>
      </p:sp>
    </p:spTree>
    <p:extLst>
      <p:ext uri="{BB962C8B-B14F-4D97-AF65-F5344CB8AC3E}">
        <p14:creationId xmlns:p14="http://schemas.microsoft.com/office/powerpoint/2010/main" val="1755536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数据模型</a:t>
            </a:r>
            <a:r>
              <a:rPr lang="en-US" altLang="zh-CN"/>
              <a:t>(Data model)</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04A6CD52-C221-4D42-B310-D4747EB087F4}"/>
              </a:ext>
            </a:extLst>
          </p:cNvPr>
          <p:cNvSpPr>
            <a:spLocks noGrp="1"/>
          </p:cNvSpPr>
          <p:nvPr>
            <p:ph idx="1"/>
          </p:nvPr>
        </p:nvSpPr>
        <p:spPr/>
        <p:txBody>
          <a:bodyPr>
            <a:normAutofit/>
          </a:bodyPr>
          <a:lstStyle/>
          <a:p>
            <a:r>
              <a:rPr lang="zh-CN" altLang="en-US" dirty="0">
                <a:solidFill>
                  <a:srgbClr val="FF0000"/>
                </a:solidFill>
              </a:rPr>
              <a:t>模型</a:t>
            </a:r>
            <a:r>
              <a:rPr lang="zh-CN" altLang="en-US" dirty="0"/>
              <a:t>是对现实世界中某个对象特征的模拟和抽象</a:t>
            </a:r>
            <a:endParaRPr lang="en-US" altLang="zh-CN" dirty="0"/>
          </a:p>
          <a:p>
            <a:pPr lvl="1"/>
            <a:r>
              <a:rPr lang="zh-CN" altLang="en-US" dirty="0"/>
              <a:t>例：航模飞机是对生活中飞机的一种模拟和抽象</a:t>
            </a:r>
            <a:endParaRPr lang="en-US" altLang="zh-CN" dirty="0"/>
          </a:p>
          <a:p>
            <a:pPr lvl="1"/>
            <a:endParaRPr lang="en-US" altLang="zh-CN" sz="800" dirty="0"/>
          </a:p>
          <a:p>
            <a:r>
              <a:rPr lang="zh-CN" altLang="en-US" dirty="0">
                <a:solidFill>
                  <a:srgbClr val="FF0000"/>
                </a:solidFill>
              </a:rPr>
              <a:t>数据模型</a:t>
            </a:r>
            <a:r>
              <a:rPr lang="zh-CN" altLang="en-US" dirty="0"/>
              <a:t>是对现实世界数据特征的抽象，是</a:t>
            </a:r>
            <a:r>
              <a:rPr lang="zh-CN" altLang="en-US" dirty="0">
                <a:solidFill>
                  <a:srgbClr val="FF0000"/>
                </a:solidFill>
              </a:rPr>
              <a:t>现实世界的模拟</a:t>
            </a:r>
            <a:endParaRPr lang="en-US" altLang="zh-CN" dirty="0"/>
          </a:p>
          <a:p>
            <a:pPr lvl="1"/>
            <a:r>
              <a:rPr lang="zh-CN" altLang="en-US" dirty="0"/>
              <a:t>具体表现为数据及数据间联系如何表示、数据如何存储、组织和访问</a:t>
            </a:r>
            <a:endParaRPr lang="en-US" altLang="zh-CN" dirty="0"/>
          </a:p>
          <a:p>
            <a:r>
              <a:rPr lang="zh-CN" altLang="en-US" dirty="0"/>
              <a:t>数据模型应满足三方面的要求：</a:t>
            </a:r>
          </a:p>
          <a:p>
            <a:pPr lvl="1"/>
            <a:r>
              <a:rPr lang="zh-CN" altLang="en-US" dirty="0">
                <a:solidFill>
                  <a:srgbClr val="FF0000"/>
                </a:solidFill>
              </a:rPr>
              <a:t>较真实地模拟</a:t>
            </a:r>
            <a:r>
              <a:rPr lang="zh-CN" altLang="en-US" dirty="0"/>
              <a:t>现实世界</a:t>
            </a:r>
          </a:p>
          <a:p>
            <a:pPr lvl="1"/>
            <a:r>
              <a:rPr lang="zh-CN" altLang="en-US" dirty="0">
                <a:solidFill>
                  <a:srgbClr val="FF0000"/>
                </a:solidFill>
              </a:rPr>
              <a:t>易</a:t>
            </a:r>
            <a:r>
              <a:rPr lang="zh-CN" altLang="en-US" dirty="0"/>
              <a:t>为人</a:t>
            </a:r>
            <a:r>
              <a:rPr lang="zh-CN" altLang="en-US" dirty="0">
                <a:solidFill>
                  <a:srgbClr val="FF0000"/>
                </a:solidFill>
              </a:rPr>
              <a:t>理解</a:t>
            </a:r>
          </a:p>
          <a:p>
            <a:pPr lvl="1"/>
            <a:r>
              <a:rPr lang="zh-CN" altLang="en-US" dirty="0">
                <a:solidFill>
                  <a:srgbClr val="FF0000"/>
                </a:solidFill>
              </a:rPr>
              <a:t>便于</a:t>
            </a:r>
            <a:r>
              <a:rPr lang="zh-CN" altLang="en-US" dirty="0"/>
              <a:t>计算机</a:t>
            </a:r>
            <a:r>
              <a:rPr lang="zh-CN" altLang="en-US" dirty="0">
                <a:solidFill>
                  <a:srgbClr val="FF0000"/>
                </a:solidFill>
              </a:rPr>
              <a:t>实现</a:t>
            </a:r>
            <a:endParaRPr lang="en-US" altLang="zh-CN" dirty="0">
              <a:solidFill>
                <a:srgbClr val="FF0000"/>
              </a:solidFill>
            </a:endParaRPr>
          </a:p>
          <a:p>
            <a:pPr lvl="1"/>
            <a:endParaRPr lang="en-US" altLang="zh-CN" sz="800" dirty="0"/>
          </a:p>
          <a:p>
            <a:r>
              <a:rPr lang="zh-CN" altLang="en-US" dirty="0">
                <a:solidFill>
                  <a:srgbClr val="FF0000"/>
                </a:solidFill>
              </a:rPr>
              <a:t>数据模型</a:t>
            </a:r>
            <a:r>
              <a:rPr lang="zh-CN" altLang="en-US" dirty="0"/>
              <a:t>是数据库系统的</a:t>
            </a:r>
            <a:r>
              <a:rPr lang="zh-CN" altLang="en-US" dirty="0">
                <a:solidFill>
                  <a:srgbClr val="FF0000"/>
                </a:solidFill>
              </a:rPr>
              <a:t>核心和基础</a:t>
            </a:r>
            <a:endParaRPr lang="en-US" altLang="zh-CN" dirty="0">
              <a:solidFill>
                <a:srgbClr val="FF0000"/>
              </a:solidFill>
            </a:endParaRPr>
          </a:p>
          <a:p>
            <a:pPr lvl="1"/>
            <a:r>
              <a:rPr lang="zh-CN" altLang="en-US" dirty="0"/>
              <a:t>现有数据库系统都是基于某种数据模型，如关系、图、向量、文档</a:t>
            </a:r>
            <a:r>
              <a:rPr lang="en-US" altLang="zh-CN" dirty="0"/>
              <a:t>DB…</a:t>
            </a:r>
          </a:p>
        </p:txBody>
      </p:sp>
    </p:spTree>
    <p:extLst>
      <p:ext uri="{BB962C8B-B14F-4D97-AF65-F5344CB8AC3E}">
        <p14:creationId xmlns:p14="http://schemas.microsoft.com/office/powerpoint/2010/main" val="4003557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4.1</a:t>
            </a:r>
            <a:r>
              <a:rPr lang="zh-CN" altLang="en-US"/>
              <a:t>数据建模</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AA3E5D29-52BC-41E8-B087-6F49053E0130}"/>
              </a:ext>
            </a:extLst>
          </p:cNvPr>
          <p:cNvSpPr>
            <a:spLocks noGrp="1"/>
          </p:cNvSpPr>
          <p:nvPr>
            <p:ph idx="1"/>
          </p:nvPr>
        </p:nvSpPr>
        <p:spPr/>
        <p:txBody>
          <a:bodyPr/>
          <a:lstStyle/>
          <a:p>
            <a:r>
              <a:rPr lang="zh-CN" altLang="en-US" dirty="0"/>
              <a:t>把现实世界中的具体事物抽象、组织为某一</a:t>
            </a:r>
            <a:r>
              <a:rPr lang="en-US" altLang="zh-CN" dirty="0"/>
              <a:t>DBMS</a:t>
            </a:r>
            <a:r>
              <a:rPr lang="zh-CN" altLang="en-US" dirty="0"/>
              <a:t>支持的数据模型的过程称为</a:t>
            </a:r>
            <a:r>
              <a:rPr lang="zh-CN" altLang="en-US" dirty="0">
                <a:solidFill>
                  <a:srgbClr val="FF0000"/>
                </a:solidFill>
              </a:rPr>
              <a:t>数据建模</a:t>
            </a:r>
            <a:r>
              <a:rPr lang="en-US" altLang="zh-CN" dirty="0">
                <a:solidFill>
                  <a:srgbClr val="FF0000"/>
                </a:solidFill>
              </a:rPr>
              <a:t>(Data modeling)</a:t>
            </a:r>
            <a:endParaRPr lang="zh-CN" altLang="en-US" dirty="0">
              <a:solidFill>
                <a:srgbClr val="C00000"/>
              </a:solidFill>
            </a:endParaRPr>
          </a:p>
          <a:p>
            <a:endParaRPr lang="zh-CN" altLang="en-US" dirty="0"/>
          </a:p>
          <a:p>
            <a:endParaRPr lang="zh-CN" altLang="en-US" dirty="0"/>
          </a:p>
        </p:txBody>
      </p:sp>
      <p:grpSp>
        <p:nvGrpSpPr>
          <p:cNvPr id="8" name="组合 7">
            <a:extLst>
              <a:ext uri="{FF2B5EF4-FFF2-40B4-BE49-F238E27FC236}">
                <a16:creationId xmlns:a16="http://schemas.microsoft.com/office/drawing/2014/main" id="{7A069EF3-EF87-4FE7-B6C5-1435D55E68CB}"/>
              </a:ext>
            </a:extLst>
          </p:cNvPr>
          <p:cNvGrpSpPr/>
          <p:nvPr/>
        </p:nvGrpSpPr>
        <p:grpSpPr>
          <a:xfrm>
            <a:off x="1632489" y="2076929"/>
            <a:ext cx="9247899" cy="3967023"/>
            <a:chOff x="2318289" y="2324910"/>
            <a:chExt cx="9247899" cy="3967023"/>
          </a:xfrm>
        </p:grpSpPr>
        <p:grpSp>
          <p:nvGrpSpPr>
            <p:cNvPr id="9" name="组合 8">
              <a:extLst>
                <a:ext uri="{FF2B5EF4-FFF2-40B4-BE49-F238E27FC236}">
                  <a16:creationId xmlns:a16="http://schemas.microsoft.com/office/drawing/2014/main" id="{464DE247-2E65-4A3B-BCA5-FB76905AB4EF}"/>
                </a:ext>
              </a:extLst>
            </p:cNvPr>
            <p:cNvGrpSpPr/>
            <p:nvPr/>
          </p:nvGrpSpPr>
          <p:grpSpPr>
            <a:xfrm>
              <a:off x="2318289" y="2324910"/>
              <a:ext cx="6719740" cy="3472773"/>
              <a:chOff x="3192305" y="2368287"/>
              <a:chExt cx="6634322" cy="3702004"/>
            </a:xfrm>
          </p:grpSpPr>
          <p:sp>
            <p:nvSpPr>
              <p:cNvPr id="16" name="Rectangle 4">
                <a:extLst>
                  <a:ext uri="{FF2B5EF4-FFF2-40B4-BE49-F238E27FC236}">
                    <a16:creationId xmlns:a16="http://schemas.microsoft.com/office/drawing/2014/main" id="{1CADF55C-CE2C-4C38-90E8-8624990A0437}"/>
                  </a:ext>
                </a:extLst>
              </p:cNvPr>
              <p:cNvSpPr>
                <a:spLocks noChangeArrowheads="1"/>
              </p:cNvSpPr>
              <p:nvPr/>
            </p:nvSpPr>
            <p:spPr bwMode="auto">
              <a:xfrm>
                <a:off x="4264887" y="5556962"/>
                <a:ext cx="2487438" cy="513329"/>
              </a:xfrm>
              <a:prstGeom prst="rect">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1">
                    <a:solidFill>
                      <a:srgbClr val="FF0000"/>
                    </a:solidFill>
                    <a:latin typeface="HarmonyOS Sans SC Medium" panose="00000600000000000000" pitchFamily="2" charset="-122"/>
                    <a:ea typeface="阿里巴巴普惠体 3.0 55 Regular" panose="00020600040101010101" pitchFamily="18" charset="-122"/>
                  </a:rPr>
                  <a:t>DBMS</a:t>
                </a:r>
                <a:r>
                  <a:rPr lang="zh-CN" altLang="en-US" sz="1800" b="1">
                    <a:solidFill>
                      <a:srgbClr val="FF0000"/>
                    </a:solidFill>
                    <a:latin typeface="HarmonyOS Sans SC Medium" panose="00000600000000000000" pitchFamily="2" charset="-122"/>
                    <a:ea typeface="阿里巴巴普惠体 3.0 55 Regular" panose="00020600040101010101" pitchFamily="18" charset="-122"/>
                  </a:rPr>
                  <a:t>支持的数据模型</a:t>
                </a:r>
              </a:p>
            </p:txBody>
          </p:sp>
          <p:sp>
            <p:nvSpPr>
              <p:cNvPr id="17" name="Rectangle 5">
                <a:extLst>
                  <a:ext uri="{FF2B5EF4-FFF2-40B4-BE49-F238E27FC236}">
                    <a16:creationId xmlns:a16="http://schemas.microsoft.com/office/drawing/2014/main" id="{AB59BAAC-EDEC-469F-85E6-59F6BF7B16EC}"/>
                  </a:ext>
                </a:extLst>
              </p:cNvPr>
              <p:cNvSpPr>
                <a:spLocks noChangeArrowheads="1"/>
              </p:cNvSpPr>
              <p:nvPr/>
            </p:nvSpPr>
            <p:spPr bwMode="auto">
              <a:xfrm>
                <a:off x="4698756" y="4701482"/>
                <a:ext cx="1429308" cy="392570"/>
              </a:xfrm>
              <a:prstGeom prst="rect">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ClrTx/>
                  <a:buSzTx/>
                  <a:buFontTx/>
                  <a:buNone/>
                </a:pPr>
                <a:r>
                  <a:rPr lang="zh-CN" altLang="en-US" sz="1800" b="1" dirty="0">
                    <a:solidFill>
                      <a:srgbClr val="FF0000"/>
                    </a:solidFill>
                    <a:latin typeface="HarmonyOS Sans SC Medium" panose="00000600000000000000" pitchFamily="2" charset="-122"/>
                    <a:ea typeface="阿里巴巴普惠体 3.0 55 Regular" panose="00020600040101010101" pitchFamily="18" charset="-122"/>
                  </a:rPr>
                  <a:t>概念模型</a:t>
                </a:r>
              </a:p>
            </p:txBody>
          </p:sp>
          <p:sp>
            <p:nvSpPr>
              <p:cNvPr id="18" name="AutoShape 6">
                <a:extLst>
                  <a:ext uri="{FF2B5EF4-FFF2-40B4-BE49-F238E27FC236}">
                    <a16:creationId xmlns:a16="http://schemas.microsoft.com/office/drawing/2014/main" id="{DFEDD5E9-5BD2-455C-ADBC-88B74D991BE3}"/>
                  </a:ext>
                </a:extLst>
              </p:cNvPr>
              <p:cNvSpPr>
                <a:spLocks noChangeArrowheads="1"/>
              </p:cNvSpPr>
              <p:nvPr/>
            </p:nvSpPr>
            <p:spPr bwMode="auto">
              <a:xfrm>
                <a:off x="4973638" y="3602288"/>
                <a:ext cx="914400" cy="792493"/>
              </a:xfrm>
              <a:prstGeom prst="smileyFace">
                <a:avLst>
                  <a:gd name="adj" fmla="val 4653"/>
                </a:avLst>
              </a:prstGeom>
              <a:gradFill rotWithShape="0">
                <a:gsLst>
                  <a:gs pos="0">
                    <a:srgbClr val="FFFFFF"/>
                  </a:gs>
                  <a:gs pos="100000">
                    <a:srgbClr val="BBBBBB"/>
                  </a:gs>
                </a:gsLst>
                <a:lin ang="5400000" scaled="1"/>
              </a:gradFill>
              <a:ln w="25400">
                <a:solidFill>
                  <a:schemeClr val="tx1"/>
                </a:solidFill>
                <a:round/>
                <a:headEnd/>
                <a:tailEnd/>
              </a:ln>
            </p:spPr>
            <p:txBody>
              <a:bodyPr wrap="none" anchor="ct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endParaRPr lang="zh-CN" altLang="en-US" sz="1800">
                  <a:latin typeface="HarmonyOS Sans SC Medium" panose="00000600000000000000" pitchFamily="2" charset="-122"/>
                  <a:ea typeface="阿里巴巴普惠体 3.0 55 Regular" panose="00020600040101010101" pitchFamily="18" charset="-122"/>
                </a:endParaRPr>
              </a:p>
            </p:txBody>
          </p:sp>
          <p:sp>
            <p:nvSpPr>
              <p:cNvPr id="19" name="AutoShape 7">
                <a:extLst>
                  <a:ext uri="{FF2B5EF4-FFF2-40B4-BE49-F238E27FC236}">
                    <a16:creationId xmlns:a16="http://schemas.microsoft.com/office/drawing/2014/main" id="{11B14D64-97B3-4DDA-B94D-E9AF464A26AD}"/>
                  </a:ext>
                </a:extLst>
              </p:cNvPr>
              <p:cNvSpPr>
                <a:spLocks noChangeArrowheads="1"/>
              </p:cNvSpPr>
              <p:nvPr/>
            </p:nvSpPr>
            <p:spPr bwMode="auto">
              <a:xfrm flipH="1">
                <a:off x="6455098" y="3332673"/>
                <a:ext cx="931091" cy="929166"/>
              </a:xfrm>
              <a:prstGeom prst="wedgeEllipseCallout">
                <a:avLst>
                  <a:gd name="adj1" fmla="val 117250"/>
                  <a:gd name="adj2" fmla="val 16611"/>
                </a:avLst>
              </a:prstGeom>
              <a:gradFill rotWithShape="0">
                <a:gsLst>
                  <a:gs pos="0">
                    <a:srgbClr val="FFFFFF"/>
                  </a:gs>
                  <a:gs pos="100000">
                    <a:srgbClr val="BBBBBB"/>
                  </a:gs>
                </a:gsLst>
                <a:lin ang="5400000" scaled="1"/>
              </a:gradFill>
              <a:ln w="25400" algn="ctr">
                <a:solidFill>
                  <a:schemeClr val="tx1"/>
                </a:solidFill>
                <a:miter lim="800000"/>
                <a:headEnd/>
                <a:tailEnd/>
              </a:ln>
            </p:spPr>
            <p:txBody>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b="1" dirty="0">
                    <a:latin typeface="HarmonyOS Sans SC Medium" panose="00000600000000000000" pitchFamily="2" charset="-122"/>
                    <a:ea typeface="阿里巴巴普惠体 3.0 55 Regular" panose="00020600040101010101" pitchFamily="18" charset="-122"/>
                  </a:rPr>
                  <a:t>认识</a:t>
                </a:r>
              </a:p>
              <a:p>
                <a:pPr eaLnBrk="1" hangingPunct="1">
                  <a:spcBef>
                    <a:spcPct val="0"/>
                  </a:spcBef>
                  <a:buClrTx/>
                  <a:buSzTx/>
                  <a:buFontTx/>
                  <a:buNone/>
                </a:pPr>
                <a:r>
                  <a:rPr lang="zh-CN" altLang="en-US" sz="1800" b="1" dirty="0">
                    <a:latin typeface="HarmonyOS Sans SC Medium" panose="00000600000000000000" pitchFamily="2" charset="-122"/>
                    <a:ea typeface="阿里巴巴普惠体 3.0 55 Regular" panose="00020600040101010101" pitchFamily="18" charset="-122"/>
                  </a:rPr>
                  <a:t>抽象</a:t>
                </a:r>
              </a:p>
            </p:txBody>
          </p:sp>
          <p:sp>
            <p:nvSpPr>
              <p:cNvPr id="20" name="Text Box 8">
                <a:extLst>
                  <a:ext uri="{FF2B5EF4-FFF2-40B4-BE49-F238E27FC236}">
                    <a16:creationId xmlns:a16="http://schemas.microsoft.com/office/drawing/2014/main" id="{B91B355C-5389-4EDA-8EE9-5AFD59150674}"/>
                  </a:ext>
                </a:extLst>
              </p:cNvPr>
              <p:cNvSpPr txBox="1">
                <a:spLocks noChangeArrowheads="1"/>
              </p:cNvSpPr>
              <p:nvPr/>
            </p:nvSpPr>
            <p:spPr bwMode="auto">
              <a:xfrm>
                <a:off x="3240649" y="4700342"/>
                <a:ext cx="1298575" cy="39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b="1" dirty="0">
                    <a:solidFill>
                      <a:srgbClr val="0000FF"/>
                    </a:solidFill>
                    <a:latin typeface="HarmonyOS Sans SC Medium" panose="00000600000000000000" pitchFamily="2" charset="-122"/>
                    <a:ea typeface="阿里巴巴普惠体 3.0 55 Regular" panose="00020600040101010101" pitchFamily="18" charset="-122"/>
                  </a:rPr>
                  <a:t>信息世界</a:t>
                </a:r>
              </a:p>
            </p:txBody>
          </p:sp>
          <p:sp>
            <p:nvSpPr>
              <p:cNvPr id="21" name="Text Box 9">
                <a:extLst>
                  <a:ext uri="{FF2B5EF4-FFF2-40B4-BE49-F238E27FC236}">
                    <a16:creationId xmlns:a16="http://schemas.microsoft.com/office/drawing/2014/main" id="{0918ACFA-29D5-4AE0-A07D-873D00CEADB0}"/>
                  </a:ext>
                </a:extLst>
              </p:cNvPr>
              <p:cNvSpPr txBox="1">
                <a:spLocks noChangeArrowheads="1"/>
              </p:cNvSpPr>
              <p:nvPr/>
            </p:nvSpPr>
            <p:spPr bwMode="auto">
              <a:xfrm>
                <a:off x="3192305" y="5616771"/>
                <a:ext cx="1175957" cy="39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a:spAutoFit/>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b="1" dirty="0">
                    <a:solidFill>
                      <a:srgbClr val="0000FF"/>
                    </a:solidFill>
                    <a:latin typeface="HarmonyOS Sans SC Medium" panose="00000600000000000000" pitchFamily="2" charset="-122"/>
                    <a:ea typeface="阿里巴巴普惠体 3.0 55 Regular" panose="00020600040101010101" pitchFamily="18" charset="-122"/>
                  </a:rPr>
                  <a:t>机器世界</a:t>
                </a:r>
              </a:p>
            </p:txBody>
          </p:sp>
          <p:sp>
            <p:nvSpPr>
              <p:cNvPr id="22" name="Cloud">
                <a:extLst>
                  <a:ext uri="{FF2B5EF4-FFF2-40B4-BE49-F238E27FC236}">
                    <a16:creationId xmlns:a16="http://schemas.microsoft.com/office/drawing/2014/main" id="{D1A8329A-2B87-4141-8A50-EB6B8DD470D1}"/>
                  </a:ext>
                </a:extLst>
              </p:cNvPr>
              <p:cNvSpPr>
                <a:spLocks noChangeAspect="1" noEditPoints="1" noChangeArrowheads="1"/>
              </p:cNvSpPr>
              <p:nvPr/>
            </p:nvSpPr>
            <p:spPr bwMode="auto">
              <a:xfrm>
                <a:off x="4658652" y="2368287"/>
                <a:ext cx="1669585" cy="927944"/>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ClrTx/>
                  <a:buSzTx/>
                  <a:buFontTx/>
                  <a:buNone/>
                </a:pPr>
                <a:endParaRPr lang="en-US" altLang="zh-CN" sz="800" b="1">
                  <a:solidFill>
                    <a:srgbClr val="0000FF"/>
                  </a:solidFill>
                  <a:latin typeface="HarmonyOS Sans SC Medium" panose="00000600000000000000" pitchFamily="2" charset="-122"/>
                  <a:ea typeface="阿里巴巴普惠体 3.0 55 Regular" panose="00020600040101010101" pitchFamily="18" charset="-122"/>
                </a:endParaRPr>
              </a:p>
              <a:p>
                <a:pPr algn="ctr" eaLnBrk="1" hangingPunct="1">
                  <a:spcBef>
                    <a:spcPct val="0"/>
                  </a:spcBef>
                  <a:buClrTx/>
                  <a:buSzTx/>
                  <a:buFontTx/>
                  <a:buNone/>
                </a:pPr>
                <a:r>
                  <a:rPr lang="zh-CN" altLang="en-US" sz="1800" b="1">
                    <a:solidFill>
                      <a:srgbClr val="0000FF"/>
                    </a:solidFill>
                    <a:latin typeface="HarmonyOS Sans SC Medium" panose="00000600000000000000" pitchFamily="2" charset="-122"/>
                    <a:ea typeface="阿里巴巴普惠体 3.0 55 Regular" panose="00020600040101010101" pitchFamily="18" charset="-122"/>
                  </a:rPr>
                  <a:t>现实世界</a:t>
                </a:r>
              </a:p>
            </p:txBody>
          </p:sp>
          <p:sp>
            <p:nvSpPr>
              <p:cNvPr id="23" name="Line 11">
                <a:extLst>
                  <a:ext uri="{FF2B5EF4-FFF2-40B4-BE49-F238E27FC236}">
                    <a16:creationId xmlns:a16="http://schemas.microsoft.com/office/drawing/2014/main" id="{6929DF06-9CD6-49C8-8ED2-02428835C269}"/>
                  </a:ext>
                </a:extLst>
              </p:cNvPr>
              <p:cNvSpPr>
                <a:spLocks noChangeShapeType="1"/>
              </p:cNvSpPr>
              <p:nvPr/>
            </p:nvSpPr>
            <p:spPr bwMode="auto">
              <a:xfrm>
                <a:off x="5442423" y="3325652"/>
                <a:ext cx="0" cy="28733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HarmonyOS Sans SC Medium" panose="00000600000000000000" pitchFamily="2" charset="-122"/>
                  <a:ea typeface="阿里巴巴普惠体 3.0 55 Regular" panose="00020600040101010101" pitchFamily="18" charset="-122"/>
                </a:endParaRPr>
              </a:p>
            </p:txBody>
          </p:sp>
          <p:sp>
            <p:nvSpPr>
              <p:cNvPr id="24" name="Line 12">
                <a:extLst>
                  <a:ext uri="{FF2B5EF4-FFF2-40B4-BE49-F238E27FC236}">
                    <a16:creationId xmlns:a16="http://schemas.microsoft.com/office/drawing/2014/main" id="{2C4AB9E5-8C54-4A8A-BD35-8A7C6D9A1FC8}"/>
                  </a:ext>
                </a:extLst>
              </p:cNvPr>
              <p:cNvSpPr>
                <a:spLocks noChangeShapeType="1"/>
              </p:cNvSpPr>
              <p:nvPr/>
            </p:nvSpPr>
            <p:spPr bwMode="auto">
              <a:xfrm>
                <a:off x="5432820" y="4425890"/>
                <a:ext cx="0" cy="28733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HarmonyOS Sans SC Medium" panose="00000600000000000000" pitchFamily="2" charset="-122"/>
                  <a:ea typeface="阿里巴巴普惠体 3.0 55 Regular" panose="00020600040101010101" pitchFamily="18" charset="-122"/>
                </a:endParaRPr>
              </a:p>
            </p:txBody>
          </p:sp>
          <p:sp>
            <p:nvSpPr>
              <p:cNvPr id="25" name="Line 13">
                <a:extLst>
                  <a:ext uri="{FF2B5EF4-FFF2-40B4-BE49-F238E27FC236}">
                    <a16:creationId xmlns:a16="http://schemas.microsoft.com/office/drawing/2014/main" id="{86F0B828-ACCD-4152-B771-8E10956E5CF2}"/>
                  </a:ext>
                </a:extLst>
              </p:cNvPr>
              <p:cNvSpPr>
                <a:spLocks noChangeShapeType="1"/>
              </p:cNvSpPr>
              <p:nvPr/>
            </p:nvSpPr>
            <p:spPr bwMode="auto">
              <a:xfrm>
                <a:off x="5456238" y="5125162"/>
                <a:ext cx="0" cy="431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HarmonyOS Sans SC Medium" panose="00000600000000000000" pitchFamily="2" charset="-122"/>
                  <a:ea typeface="阿里巴巴普惠体 3.0 55 Regular" panose="00020600040101010101" pitchFamily="18" charset="-122"/>
                </a:endParaRPr>
              </a:p>
            </p:txBody>
          </p:sp>
          <p:grpSp>
            <p:nvGrpSpPr>
              <p:cNvPr id="26" name="Group 14">
                <a:extLst>
                  <a:ext uri="{FF2B5EF4-FFF2-40B4-BE49-F238E27FC236}">
                    <a16:creationId xmlns:a16="http://schemas.microsoft.com/office/drawing/2014/main" id="{4061714C-1179-467E-B967-09AD89434648}"/>
                  </a:ext>
                </a:extLst>
              </p:cNvPr>
              <p:cNvGrpSpPr>
                <a:grpSpLocks/>
              </p:cNvGrpSpPr>
              <p:nvPr/>
            </p:nvGrpSpPr>
            <p:grpSpPr bwMode="auto">
              <a:xfrm>
                <a:off x="7559214" y="3178892"/>
                <a:ext cx="2217509" cy="885826"/>
                <a:chOff x="3823" y="2114"/>
                <a:chExt cx="1560" cy="558"/>
              </a:xfrm>
            </p:grpSpPr>
            <p:sp>
              <p:nvSpPr>
                <p:cNvPr id="33" name="Text Box 15">
                  <a:extLst>
                    <a:ext uri="{FF2B5EF4-FFF2-40B4-BE49-F238E27FC236}">
                      <a16:creationId xmlns:a16="http://schemas.microsoft.com/office/drawing/2014/main" id="{BA6174DB-6090-45DA-BD89-44D69DC1367D}"/>
                    </a:ext>
                  </a:extLst>
                </p:cNvPr>
                <p:cNvSpPr txBox="1">
                  <a:spLocks noChangeArrowheads="1"/>
                </p:cNvSpPr>
                <p:nvPr/>
              </p:nvSpPr>
              <p:spPr bwMode="auto">
                <a:xfrm>
                  <a:off x="3823" y="2114"/>
                  <a:ext cx="1560" cy="558"/>
                </a:xfrm>
                <a:prstGeom prst="rect">
                  <a:avLst/>
                </a:prstGeom>
                <a:noFill/>
                <a:ln w="254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288000" indent="-288000" eaLnBrk="1" hangingPunct="1">
                    <a:spcBef>
                      <a:spcPct val="0"/>
                    </a:spcBef>
                    <a:buClrTx/>
                    <a:buSzTx/>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现实世界       概念模型</a:t>
                  </a:r>
                </a:p>
                <a:p>
                  <a:pPr marL="288000" indent="-288000" eaLnBrk="1" hangingPunct="1">
                    <a:spcBef>
                      <a:spcPct val="0"/>
                    </a:spcBef>
                    <a:buClrTx/>
                    <a:buSzTx/>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数据库设计人员完成</a:t>
                  </a:r>
                  <a:endParaRPr lang="en-US" altLang="zh-CN" sz="1600" b="1">
                    <a:solidFill>
                      <a:srgbClr val="FF0000"/>
                    </a:solidFill>
                    <a:latin typeface="HarmonyOS Sans SC Medium" panose="00000600000000000000" pitchFamily="2" charset="-122"/>
                    <a:ea typeface="阿里巴巴普惠体 3.0 55 Regular" panose="00020600040101010101" pitchFamily="18" charset="-122"/>
                  </a:endParaRPr>
                </a:p>
                <a:p>
                  <a:pPr marL="288000" indent="-288000" eaLnBrk="1" hangingPunct="1">
                    <a:spcBef>
                      <a:spcPct val="0"/>
                    </a:spcBef>
                    <a:buClrTx/>
                    <a:buSzTx/>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数据库设计工具辅助</a:t>
                  </a:r>
                </a:p>
              </p:txBody>
            </p:sp>
            <p:sp>
              <p:nvSpPr>
                <p:cNvPr id="34" name="AutoShape 16">
                  <a:extLst>
                    <a:ext uri="{FF2B5EF4-FFF2-40B4-BE49-F238E27FC236}">
                      <a16:creationId xmlns:a16="http://schemas.microsoft.com/office/drawing/2014/main" id="{C6FCB83C-FFF4-4164-923A-C2565CF7B150}"/>
                    </a:ext>
                  </a:extLst>
                </p:cNvPr>
                <p:cNvSpPr>
                  <a:spLocks noChangeArrowheads="1"/>
                </p:cNvSpPr>
                <p:nvPr/>
              </p:nvSpPr>
              <p:spPr bwMode="auto">
                <a:xfrm>
                  <a:off x="4488" y="2177"/>
                  <a:ext cx="181" cy="90"/>
                </a:xfrm>
                <a:prstGeom prst="rightArrow">
                  <a:avLst>
                    <a:gd name="adj1" fmla="val 50000"/>
                    <a:gd name="adj2" fmla="val 50278"/>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endParaRPr lang="zh-CN" altLang="en-US" sz="1800">
                    <a:latin typeface="HarmonyOS Sans SC Medium" panose="00000600000000000000" pitchFamily="2" charset="-122"/>
                    <a:ea typeface="阿里巴巴普惠体 3.0 55 Regular" panose="00020600040101010101" pitchFamily="18" charset="-122"/>
                  </a:endParaRPr>
                </a:p>
              </p:txBody>
            </p:sp>
          </p:grpSp>
          <p:grpSp>
            <p:nvGrpSpPr>
              <p:cNvPr id="27" name="Group 17">
                <a:extLst>
                  <a:ext uri="{FF2B5EF4-FFF2-40B4-BE49-F238E27FC236}">
                    <a16:creationId xmlns:a16="http://schemas.microsoft.com/office/drawing/2014/main" id="{E5E21905-C3C9-4F59-B836-94125E0DB88F}"/>
                  </a:ext>
                </a:extLst>
              </p:cNvPr>
              <p:cNvGrpSpPr>
                <a:grpSpLocks/>
              </p:cNvGrpSpPr>
              <p:nvPr/>
            </p:nvGrpSpPr>
            <p:grpSpPr bwMode="auto">
              <a:xfrm>
                <a:off x="7559677" y="5434729"/>
                <a:ext cx="2266950" cy="623888"/>
                <a:chOff x="3870" y="3081"/>
                <a:chExt cx="1428" cy="393"/>
              </a:xfrm>
            </p:grpSpPr>
            <p:sp>
              <p:nvSpPr>
                <p:cNvPr id="31" name="Text Box 18">
                  <a:extLst>
                    <a:ext uri="{FF2B5EF4-FFF2-40B4-BE49-F238E27FC236}">
                      <a16:creationId xmlns:a16="http://schemas.microsoft.com/office/drawing/2014/main" id="{41993C81-471E-49A8-8822-F4CAC6EB7316}"/>
                    </a:ext>
                  </a:extLst>
                </p:cNvPr>
                <p:cNvSpPr txBox="1">
                  <a:spLocks noChangeArrowheads="1"/>
                </p:cNvSpPr>
                <p:nvPr/>
              </p:nvSpPr>
              <p:spPr bwMode="auto">
                <a:xfrm>
                  <a:off x="3870" y="3081"/>
                  <a:ext cx="1428" cy="393"/>
                </a:xfrm>
                <a:prstGeom prst="rect">
                  <a:avLst/>
                </a:prstGeom>
                <a:noFill/>
                <a:ln w="254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lvl="1" eaLnBrk="1" hangingPunct="1">
                    <a:spcBef>
                      <a:spcPct val="0"/>
                    </a:spcBef>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逻辑模型       物理模型</a:t>
                  </a:r>
                </a:p>
                <a:p>
                  <a:pPr marL="0" lvl="1" eaLnBrk="1" hangingPunct="1">
                    <a:spcBef>
                      <a:spcPct val="0"/>
                    </a:spcBef>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由</a:t>
                  </a:r>
                  <a:r>
                    <a:rPr lang="en-US" altLang="zh-CN" sz="1600" b="1">
                      <a:solidFill>
                        <a:srgbClr val="FF0000"/>
                      </a:solidFill>
                      <a:latin typeface="HarmonyOS Sans SC Medium" panose="00000600000000000000" pitchFamily="2" charset="-122"/>
                      <a:ea typeface="阿里巴巴普惠体 3.0 55 Regular" panose="00020600040101010101" pitchFamily="18" charset="-122"/>
                    </a:rPr>
                    <a:t>DBMS</a:t>
                  </a: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完成</a:t>
                  </a:r>
                </a:p>
              </p:txBody>
            </p:sp>
            <p:sp>
              <p:nvSpPr>
                <p:cNvPr id="32" name="AutoShape 19">
                  <a:extLst>
                    <a:ext uri="{FF2B5EF4-FFF2-40B4-BE49-F238E27FC236}">
                      <a16:creationId xmlns:a16="http://schemas.microsoft.com/office/drawing/2014/main" id="{CBC34A8E-0E8D-43D1-A4D6-968479DEB030}"/>
                    </a:ext>
                  </a:extLst>
                </p:cNvPr>
                <p:cNvSpPr>
                  <a:spLocks noChangeArrowheads="1"/>
                </p:cNvSpPr>
                <p:nvPr/>
              </p:nvSpPr>
              <p:spPr bwMode="auto">
                <a:xfrm>
                  <a:off x="4463" y="3154"/>
                  <a:ext cx="181" cy="90"/>
                </a:xfrm>
                <a:prstGeom prst="rightArrow">
                  <a:avLst>
                    <a:gd name="adj1" fmla="val 50000"/>
                    <a:gd name="adj2" fmla="val 50278"/>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endParaRPr lang="zh-CN" altLang="en-US" sz="1800">
                    <a:latin typeface="HarmonyOS Sans SC Medium" panose="00000600000000000000" pitchFamily="2" charset="-122"/>
                    <a:ea typeface="阿里巴巴普惠体 3.0 55 Regular" panose="00020600040101010101" pitchFamily="18" charset="-122"/>
                  </a:endParaRPr>
                </a:p>
              </p:txBody>
            </p:sp>
          </p:grpSp>
          <p:grpSp>
            <p:nvGrpSpPr>
              <p:cNvPr id="28" name="Group 20">
                <a:extLst>
                  <a:ext uri="{FF2B5EF4-FFF2-40B4-BE49-F238E27FC236}">
                    <a16:creationId xmlns:a16="http://schemas.microsoft.com/office/drawing/2014/main" id="{97D09F3A-DA92-46CD-88BE-534132703D10}"/>
                  </a:ext>
                </a:extLst>
              </p:cNvPr>
              <p:cNvGrpSpPr>
                <a:grpSpLocks/>
              </p:cNvGrpSpPr>
              <p:nvPr/>
            </p:nvGrpSpPr>
            <p:grpSpPr bwMode="auto">
              <a:xfrm>
                <a:off x="7577751" y="4315540"/>
                <a:ext cx="2220328" cy="885826"/>
                <a:chOff x="3835" y="2280"/>
                <a:chExt cx="1532" cy="558"/>
              </a:xfrm>
            </p:grpSpPr>
            <p:sp>
              <p:nvSpPr>
                <p:cNvPr id="29" name="Text Box 21">
                  <a:extLst>
                    <a:ext uri="{FF2B5EF4-FFF2-40B4-BE49-F238E27FC236}">
                      <a16:creationId xmlns:a16="http://schemas.microsoft.com/office/drawing/2014/main" id="{3DFEA48B-B8CE-4BE4-A255-3B733C46BC2D}"/>
                    </a:ext>
                  </a:extLst>
                </p:cNvPr>
                <p:cNvSpPr txBox="1">
                  <a:spLocks noChangeArrowheads="1"/>
                </p:cNvSpPr>
                <p:nvPr/>
              </p:nvSpPr>
              <p:spPr bwMode="auto">
                <a:xfrm>
                  <a:off x="3835" y="2280"/>
                  <a:ext cx="1532" cy="558"/>
                </a:xfrm>
                <a:prstGeom prst="rect">
                  <a:avLst/>
                </a:prstGeom>
                <a:noFill/>
                <a:ln w="254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概念模型       逻辑模型</a:t>
                  </a:r>
                </a:p>
                <a:p>
                  <a:pPr eaLnBrk="1" hangingPunct="1">
                    <a:spcBef>
                      <a:spcPct val="0"/>
                    </a:spcBef>
                    <a:buClrTx/>
                    <a:buSzTx/>
                    <a:buFont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数据库设计人员完成</a:t>
                  </a:r>
                  <a:endParaRPr lang="en-US" altLang="zh-CN" sz="1600" b="1">
                    <a:solidFill>
                      <a:srgbClr val="FF0000"/>
                    </a:solidFill>
                    <a:latin typeface="HarmonyOS Sans SC Medium" panose="00000600000000000000" pitchFamily="2" charset="-122"/>
                    <a:ea typeface="阿里巴巴普惠体 3.0 55 Regular" panose="00020600040101010101" pitchFamily="18" charset="-122"/>
                  </a:endParaRPr>
                </a:p>
                <a:p>
                  <a:pPr eaLnBrk="1" hangingPunct="1">
                    <a:spcBef>
                      <a:spcPct val="0"/>
                    </a:spcBef>
                    <a:buClrTx/>
                    <a:buSzTx/>
                    <a:buNone/>
                  </a:pPr>
                  <a:r>
                    <a:rPr lang="zh-CN" altLang="en-US" sz="1600" b="1">
                      <a:solidFill>
                        <a:srgbClr val="FF0000"/>
                      </a:solidFill>
                      <a:latin typeface="HarmonyOS Sans SC Medium" panose="00000600000000000000" pitchFamily="2" charset="-122"/>
                      <a:ea typeface="阿里巴巴普惠体 3.0 55 Regular" panose="00020600040101010101" pitchFamily="18" charset="-122"/>
                    </a:rPr>
                    <a:t>数据库设计工具辅助</a:t>
                  </a:r>
                </a:p>
              </p:txBody>
            </p:sp>
            <p:sp>
              <p:nvSpPr>
                <p:cNvPr id="30" name="AutoShape 22">
                  <a:extLst>
                    <a:ext uri="{FF2B5EF4-FFF2-40B4-BE49-F238E27FC236}">
                      <a16:creationId xmlns:a16="http://schemas.microsoft.com/office/drawing/2014/main" id="{0CCCF359-80FC-4919-AC4D-9C90ABED42E0}"/>
                    </a:ext>
                  </a:extLst>
                </p:cNvPr>
                <p:cNvSpPr>
                  <a:spLocks noChangeArrowheads="1"/>
                </p:cNvSpPr>
                <p:nvPr/>
              </p:nvSpPr>
              <p:spPr bwMode="auto">
                <a:xfrm>
                  <a:off x="4497" y="2330"/>
                  <a:ext cx="181" cy="90"/>
                </a:xfrm>
                <a:prstGeom prst="rightArrow">
                  <a:avLst>
                    <a:gd name="adj1" fmla="val 50000"/>
                    <a:gd name="adj2" fmla="val 50278"/>
                  </a:avLst>
                </a:prstGeom>
                <a:gradFill rotWithShape="0">
                  <a:gsLst>
                    <a:gs pos="0">
                      <a:srgbClr val="FFFFFF"/>
                    </a:gs>
                    <a:gs pos="100000">
                      <a:srgbClr val="BBBBBB"/>
                    </a:gs>
                  </a:gsLst>
                  <a:lin ang="5400000" scaled="1"/>
                </a:gradFill>
                <a:ln w="25400" algn="ctr">
                  <a:solidFill>
                    <a:schemeClr val="tx1"/>
                  </a:solidFill>
                  <a:miter lim="800000"/>
                  <a:headEnd/>
                  <a:tailEnd/>
                </a:ln>
              </p:spPr>
              <p:txBody>
                <a:bodyPr wrap="none" anchor="ctr"/>
                <a:lstStyle>
                  <a:lvl1pPr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ClrTx/>
                    <a:buSzTx/>
                    <a:buFontTx/>
                    <a:buNone/>
                  </a:pPr>
                  <a:endParaRPr lang="zh-CN" altLang="en-US" sz="1800">
                    <a:latin typeface="HarmonyOS Sans SC Medium" panose="00000600000000000000" pitchFamily="2" charset="-122"/>
                    <a:ea typeface="阿里巴巴普惠体 3.0 55 Regular" panose="00020600040101010101" pitchFamily="18" charset="-122"/>
                  </a:endParaRPr>
                </a:p>
              </p:txBody>
            </p:sp>
          </p:grpSp>
        </p:grpSp>
        <p:sp>
          <p:nvSpPr>
            <p:cNvPr id="10" name="Text Box 8">
              <a:extLst>
                <a:ext uri="{FF2B5EF4-FFF2-40B4-BE49-F238E27FC236}">
                  <a16:creationId xmlns:a16="http://schemas.microsoft.com/office/drawing/2014/main" id="{CC3FE158-B0FB-497C-BEC9-44C4A1B8DF9E}"/>
                </a:ext>
              </a:extLst>
            </p:cNvPr>
            <p:cNvSpPr txBox="1">
              <a:spLocks noChangeArrowheads="1"/>
            </p:cNvSpPr>
            <p:nvPr/>
          </p:nvSpPr>
          <p:spPr bwMode="auto">
            <a:xfrm>
              <a:off x="4426084" y="5922601"/>
              <a:ext cx="31614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a:spAutoFit/>
            </a:bodyPr>
            <a:lstStyle>
              <a:lvl1pPr marL="342900" indent="-342900" eaLnBrk="0" hangingPunct="0">
                <a:spcBef>
                  <a:spcPct val="20000"/>
                </a:spcBef>
                <a:buClr>
                  <a:srgbClr val="CC00CC"/>
                </a:buClr>
                <a:buSzPct val="110000"/>
                <a:buChar char="•"/>
                <a:defRPr sz="3200">
                  <a:solidFill>
                    <a:schemeClr val="tx1"/>
                  </a:solidFill>
                  <a:latin typeface="Arial" charset="0"/>
                  <a:ea typeface="宋体" pitchFamily="2" charset="-122"/>
                </a:defRPr>
              </a:lvl1pPr>
              <a:lvl2pPr marL="742950" indent="-285750" eaLnBrk="0" hangingPunct="0">
                <a:spcBef>
                  <a:spcPct val="20000"/>
                </a:spcBef>
                <a:buChar char="–"/>
                <a:defRPr sz="2800">
                  <a:solidFill>
                    <a:schemeClr val="tx1"/>
                  </a:solidFill>
                  <a:latin typeface="Arial" charset="0"/>
                  <a:ea typeface="宋体" pitchFamily="2" charset="-122"/>
                </a:defRPr>
              </a:lvl2pPr>
              <a:lvl3pPr marL="1143000" indent="-228600" eaLnBrk="0" hangingPunct="0">
                <a:spcBef>
                  <a:spcPct val="20000"/>
                </a:spcBef>
                <a:buSzPct val="50000"/>
                <a:buFont typeface="Wingdings" pitchFamily="2" charset="2"/>
                <a:buChar char="n"/>
                <a:defRPr sz="2400">
                  <a:solidFill>
                    <a:schemeClr val="tx1"/>
                  </a:solidFill>
                  <a:latin typeface="Arial" charset="0"/>
                  <a:ea typeface="宋体" pitchFamily="2" charset="-122"/>
                </a:defRPr>
              </a:lvl3pPr>
              <a:lvl4pPr marL="1600200" indent="-228600" eaLnBrk="0" hangingPunct="0">
                <a:spcBef>
                  <a:spcPct val="20000"/>
                </a:spcBef>
                <a:buChar char="–"/>
                <a:defRPr sz="2000">
                  <a:solidFill>
                    <a:schemeClr val="tx1"/>
                  </a:solidFill>
                  <a:latin typeface="Arial" charset="0"/>
                  <a:ea typeface="宋体" pitchFamily="2" charset="-122"/>
                </a:defRPr>
              </a:lvl4pPr>
              <a:lvl5pPr marL="2057400" indent="-228600" eaLnBrk="0" hangingPunct="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spcBef>
                  <a:spcPct val="0"/>
                </a:spcBef>
                <a:buClrTx/>
                <a:buSzTx/>
                <a:buFontTx/>
                <a:buNone/>
              </a:pPr>
              <a:r>
                <a:rPr lang="en-US" altLang="zh-CN" sz="1800" b="1">
                  <a:solidFill>
                    <a:srgbClr val="0000FF"/>
                  </a:solidFill>
                  <a:latin typeface="HarmonyOS Sans SC Medium" panose="00000600000000000000" pitchFamily="2" charset="-122"/>
                  <a:ea typeface="阿里巴巴普惠体 3.0 55 Regular" panose="00020600040101010101" pitchFamily="18" charset="-122"/>
                </a:rPr>
                <a:t>Fig.</a:t>
              </a:r>
              <a:r>
                <a:rPr lang="zh-CN" altLang="en-US" sz="1800" b="1">
                  <a:solidFill>
                    <a:srgbClr val="0000FF"/>
                  </a:solidFill>
                  <a:latin typeface="HarmonyOS Sans SC Medium" panose="00000600000000000000" pitchFamily="2" charset="-122"/>
                  <a:ea typeface="阿里巴巴普惠体 3.0 55 Regular" panose="00020600040101010101" pitchFamily="18" charset="-122"/>
                </a:rPr>
                <a:t>数据建模的两步抽象过程</a:t>
              </a:r>
            </a:p>
          </p:txBody>
        </p:sp>
        <p:sp>
          <p:nvSpPr>
            <p:cNvPr id="11" name="标注: 线形 10">
              <a:extLst>
                <a:ext uri="{FF2B5EF4-FFF2-40B4-BE49-F238E27FC236}">
                  <a16:creationId xmlns:a16="http://schemas.microsoft.com/office/drawing/2014/main" id="{D37B9B7D-B610-4F0E-B2EE-954F33053598}"/>
                </a:ext>
              </a:extLst>
            </p:cNvPr>
            <p:cNvSpPr/>
            <p:nvPr/>
          </p:nvSpPr>
          <p:spPr>
            <a:xfrm>
              <a:off x="9260730" y="3103123"/>
              <a:ext cx="2247090" cy="428017"/>
            </a:xfrm>
            <a:prstGeom prst="borderCallout1">
              <a:avLst>
                <a:gd name="adj1" fmla="val 21023"/>
                <a:gd name="adj2" fmla="val 95"/>
                <a:gd name="adj3" fmla="val 101136"/>
                <a:gd name="adj4" fmla="val -12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a:latin typeface="HarmonyOS Sans SC Medium" panose="00000600000000000000" pitchFamily="2" charset="-122"/>
                  <a:ea typeface="阿里巴巴普惠体 3.0 55 Regular" panose="00020600040101010101" pitchFamily="18" charset="-122"/>
                </a:rPr>
                <a:t>第一步：建立概念模型</a:t>
              </a:r>
            </a:p>
          </p:txBody>
        </p:sp>
        <p:sp>
          <p:nvSpPr>
            <p:cNvPr id="12" name="标注: 线形 11">
              <a:extLst>
                <a:ext uri="{FF2B5EF4-FFF2-40B4-BE49-F238E27FC236}">
                  <a16:creationId xmlns:a16="http://schemas.microsoft.com/office/drawing/2014/main" id="{6A58985B-4F4D-4717-AF56-A78E6A54C1C2}"/>
                </a:ext>
              </a:extLst>
            </p:cNvPr>
            <p:cNvSpPr/>
            <p:nvPr/>
          </p:nvSpPr>
          <p:spPr>
            <a:xfrm>
              <a:off x="9247759" y="4101829"/>
              <a:ext cx="2247090" cy="723090"/>
            </a:xfrm>
            <a:prstGeom prst="borderCallout1">
              <a:avLst>
                <a:gd name="adj1" fmla="val 21023"/>
                <a:gd name="adj2" fmla="val 95"/>
                <a:gd name="adj3" fmla="val 55396"/>
                <a:gd name="adj4" fmla="val -759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a:latin typeface="HarmonyOS Sans SC Medium" panose="00000600000000000000" pitchFamily="2" charset="-122"/>
                  <a:ea typeface="阿里巴巴普惠体 3.0 55 Regular" panose="00020600040101010101" pitchFamily="18" charset="-122"/>
                </a:rPr>
                <a:t>第二步：将概念模型转换为数据模型</a:t>
              </a:r>
            </a:p>
          </p:txBody>
        </p:sp>
        <p:sp>
          <p:nvSpPr>
            <p:cNvPr id="13" name="右大括号 12">
              <a:extLst>
                <a:ext uri="{FF2B5EF4-FFF2-40B4-BE49-F238E27FC236}">
                  <a16:creationId xmlns:a16="http://schemas.microsoft.com/office/drawing/2014/main" id="{3D28479F-5AD8-40DA-A4B8-7B4A926117C2}"/>
                </a:ext>
              </a:extLst>
            </p:cNvPr>
            <p:cNvSpPr/>
            <p:nvPr/>
          </p:nvSpPr>
          <p:spPr>
            <a:xfrm>
              <a:off x="9049642" y="4163439"/>
              <a:ext cx="45719" cy="1634246"/>
            </a:xfrm>
            <a:prstGeom prst="rightBrace">
              <a:avLst/>
            </a:prstGeom>
            <a:ln w="1270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armonyOS Sans SC Medium" panose="00000600000000000000" pitchFamily="2" charset="-122"/>
                <a:ea typeface="阿里巴巴普惠体 3.0 55 Regular" panose="00020600040101010101" pitchFamily="18" charset="-122"/>
              </a:endParaRPr>
            </a:p>
          </p:txBody>
        </p:sp>
        <p:sp>
          <p:nvSpPr>
            <p:cNvPr id="14" name="箭头: 下 13">
              <a:extLst>
                <a:ext uri="{FF2B5EF4-FFF2-40B4-BE49-F238E27FC236}">
                  <a16:creationId xmlns:a16="http://schemas.microsoft.com/office/drawing/2014/main" id="{CC1E9BC9-998B-473A-9649-132754D77237}"/>
                </a:ext>
              </a:extLst>
            </p:cNvPr>
            <p:cNvSpPr/>
            <p:nvPr/>
          </p:nvSpPr>
          <p:spPr>
            <a:xfrm>
              <a:off x="7714034" y="5009745"/>
              <a:ext cx="262647" cy="1848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阿里巴巴普惠体 3.0 55 Regular" panose="00020600040101010101" pitchFamily="18" charset="-122"/>
              </a:endParaRPr>
            </a:p>
          </p:txBody>
        </p:sp>
        <p:sp>
          <p:nvSpPr>
            <p:cNvPr id="15" name="文本框 14">
              <a:extLst>
                <a:ext uri="{FF2B5EF4-FFF2-40B4-BE49-F238E27FC236}">
                  <a16:creationId xmlns:a16="http://schemas.microsoft.com/office/drawing/2014/main" id="{D6C28BDE-5ECF-4E84-8A6E-25E28386521F}"/>
                </a:ext>
              </a:extLst>
            </p:cNvPr>
            <p:cNvSpPr txBox="1"/>
            <p:nvPr/>
          </p:nvSpPr>
          <p:spPr>
            <a:xfrm>
              <a:off x="9124545" y="5048655"/>
              <a:ext cx="2441643" cy="738792"/>
            </a:xfrm>
            <a:prstGeom prst="rect">
              <a:avLst/>
            </a:prstGeom>
            <a:noFill/>
          </p:spPr>
          <p:txBody>
            <a:bodyPr wrap="square" rtlCol="0">
              <a:spAutoFit/>
            </a:bodyPr>
            <a:lstStyle/>
            <a:p>
              <a:pPr marL="174625" indent="-174625">
                <a:lnSpc>
                  <a:spcPct val="120000"/>
                </a:lnSpc>
                <a:buFont typeface="Arial" panose="020B0604020202020204" pitchFamily="34" charset="0"/>
                <a:buChar char="•"/>
              </a:pPr>
              <a:r>
                <a:rPr lang="zh-CN" altLang="en-US">
                  <a:solidFill>
                    <a:srgbClr val="0000FF"/>
                  </a:solidFill>
                  <a:latin typeface="HarmonyOS Sans SC Medium" panose="00000600000000000000" pitchFamily="2" charset="-122"/>
                  <a:ea typeface="阿里巴巴普惠体 3.0 55 Regular" panose="00020600040101010101" pitchFamily="18" charset="-122"/>
                </a:rPr>
                <a:t>数据模型包括逻辑模型和物理模型</a:t>
              </a:r>
            </a:p>
          </p:txBody>
        </p:sp>
      </p:grpSp>
    </p:spTree>
    <p:extLst>
      <p:ext uri="{BB962C8B-B14F-4D97-AF65-F5344CB8AC3E}">
        <p14:creationId xmlns:p14="http://schemas.microsoft.com/office/powerpoint/2010/main" val="3498386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4.2</a:t>
            </a:r>
            <a:r>
              <a:rPr lang="zh-CN" altLang="en-US"/>
              <a:t>概念模型</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0D41A192-014A-4CA4-83C7-32F4553311C7}"/>
              </a:ext>
            </a:extLst>
          </p:cNvPr>
          <p:cNvSpPr>
            <a:spLocks noGrp="1"/>
          </p:cNvSpPr>
          <p:nvPr>
            <p:ph idx="1"/>
          </p:nvPr>
        </p:nvSpPr>
        <p:spPr/>
        <p:txBody>
          <a:bodyPr/>
          <a:lstStyle/>
          <a:p>
            <a:pPr>
              <a:lnSpc>
                <a:spcPct val="100000"/>
              </a:lnSpc>
            </a:pPr>
            <a:r>
              <a:rPr lang="zh-CN" altLang="en-US">
                <a:solidFill>
                  <a:srgbClr val="FF0000"/>
                </a:solidFill>
              </a:rPr>
              <a:t>概念模型</a:t>
            </a:r>
            <a:r>
              <a:rPr lang="zh-CN" altLang="en-US"/>
              <a:t>是</a:t>
            </a:r>
            <a:r>
              <a:rPr lang="zh-CN" altLang="en-US">
                <a:solidFill>
                  <a:srgbClr val="FF0000"/>
                </a:solidFill>
              </a:rPr>
              <a:t>按用户观点</a:t>
            </a:r>
            <a:r>
              <a:rPr lang="zh-CN" altLang="en-US"/>
              <a:t>来对数据建模，主要用于</a:t>
            </a:r>
            <a:r>
              <a:rPr lang="zh-CN" altLang="en-US">
                <a:solidFill>
                  <a:srgbClr val="FF0000"/>
                </a:solidFill>
              </a:rPr>
              <a:t>数据库设计</a:t>
            </a:r>
            <a:endParaRPr lang="en-US" altLang="zh-CN">
              <a:solidFill>
                <a:srgbClr val="FF0000"/>
              </a:solidFill>
            </a:endParaRPr>
          </a:p>
          <a:p>
            <a:pPr>
              <a:lnSpc>
                <a:spcPct val="100000"/>
              </a:lnSpc>
            </a:pPr>
            <a:endParaRPr lang="en-US" altLang="zh-CN" sz="800"/>
          </a:p>
          <a:p>
            <a:pPr>
              <a:lnSpc>
                <a:spcPct val="100000"/>
              </a:lnSpc>
            </a:pPr>
            <a:r>
              <a:rPr lang="zh-CN" altLang="en-US">
                <a:solidFill>
                  <a:srgbClr val="FF0000"/>
                </a:solidFill>
              </a:rPr>
              <a:t>概念模型的用途</a:t>
            </a:r>
            <a:endParaRPr lang="en-US" altLang="zh-CN">
              <a:solidFill>
                <a:srgbClr val="FF0000"/>
              </a:solidFill>
            </a:endParaRPr>
          </a:p>
          <a:p>
            <a:pPr lvl="1"/>
            <a:r>
              <a:rPr lang="zh-CN" altLang="en-US"/>
              <a:t>是现实世界到机器世界的一个中间层次</a:t>
            </a:r>
          </a:p>
          <a:p>
            <a:pPr lvl="1"/>
            <a:r>
              <a:rPr lang="zh-CN" altLang="en-US"/>
              <a:t>用于信息世界的建模</a:t>
            </a:r>
          </a:p>
          <a:p>
            <a:pPr lvl="1"/>
            <a:r>
              <a:rPr lang="zh-CN" altLang="en-US"/>
              <a:t>现实世界到信息世界的第一层抽象</a:t>
            </a:r>
          </a:p>
          <a:p>
            <a:pPr lvl="1"/>
            <a:r>
              <a:rPr lang="zh-CN" altLang="en-US"/>
              <a:t>数据库设计的有力工具</a:t>
            </a:r>
          </a:p>
          <a:p>
            <a:pPr lvl="1">
              <a:lnSpc>
                <a:spcPct val="100000"/>
              </a:lnSpc>
            </a:pPr>
            <a:r>
              <a:rPr lang="zh-CN" altLang="en-US"/>
              <a:t>数据库设计人员和用户之间进行交流的语言</a:t>
            </a:r>
            <a:endParaRPr lang="en-US" altLang="zh-CN"/>
          </a:p>
          <a:p>
            <a:pPr lvl="1">
              <a:lnSpc>
                <a:spcPct val="100000"/>
              </a:lnSpc>
            </a:pPr>
            <a:endParaRPr lang="en-US" altLang="zh-CN" sz="800"/>
          </a:p>
          <a:p>
            <a:pPr>
              <a:lnSpc>
                <a:spcPct val="100000"/>
              </a:lnSpc>
            </a:pPr>
            <a:r>
              <a:rPr lang="zh-CN" altLang="en-US">
                <a:solidFill>
                  <a:srgbClr val="FF0000"/>
                </a:solidFill>
              </a:rPr>
              <a:t>对概念模型的基本要求</a:t>
            </a:r>
          </a:p>
          <a:p>
            <a:pPr lvl="1"/>
            <a:r>
              <a:rPr lang="zh-CN" altLang="en-US"/>
              <a:t> 较强的语义表达能力</a:t>
            </a:r>
          </a:p>
          <a:p>
            <a:pPr lvl="1"/>
            <a:r>
              <a:rPr lang="zh-CN" altLang="en-US"/>
              <a:t> 简单、清晰、易于用户理解</a:t>
            </a:r>
          </a:p>
        </p:txBody>
      </p:sp>
    </p:spTree>
    <p:extLst>
      <p:ext uri="{BB962C8B-B14F-4D97-AF65-F5344CB8AC3E}">
        <p14:creationId xmlns:p14="http://schemas.microsoft.com/office/powerpoint/2010/main" val="3120219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4.2.1</a:t>
            </a:r>
            <a:r>
              <a:rPr lang="zh-CN" altLang="en-US"/>
              <a:t>信息世界的基本概念</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36" name="内容占位符 35">
            <a:extLst>
              <a:ext uri="{FF2B5EF4-FFF2-40B4-BE49-F238E27FC236}">
                <a16:creationId xmlns:a16="http://schemas.microsoft.com/office/drawing/2014/main" id="{6276D65D-5261-4393-A158-03F1848446EB}"/>
              </a:ext>
            </a:extLst>
          </p:cNvPr>
          <p:cNvSpPr>
            <a:spLocks noGrp="1"/>
          </p:cNvSpPr>
          <p:nvPr>
            <p:ph idx="1"/>
          </p:nvPr>
        </p:nvSpPr>
        <p:spPr/>
        <p:txBody>
          <a:bodyPr/>
          <a:lstStyle/>
          <a:p>
            <a:r>
              <a:rPr lang="zh-CN" altLang="en-US" dirty="0">
                <a:solidFill>
                  <a:srgbClr val="FF0000"/>
                </a:solidFill>
              </a:rPr>
              <a:t>实体</a:t>
            </a:r>
            <a:r>
              <a:rPr lang="en-US" altLang="zh-CN" dirty="0">
                <a:solidFill>
                  <a:srgbClr val="FF0000"/>
                </a:solidFill>
              </a:rPr>
              <a:t>(Entity)</a:t>
            </a:r>
          </a:p>
          <a:p>
            <a:pPr lvl="1"/>
            <a:r>
              <a:rPr lang="zh-CN" altLang="en-US" dirty="0"/>
              <a:t>客观存在并可相互区别的</a:t>
            </a:r>
            <a:r>
              <a:rPr lang="zh-CN" altLang="en-US" dirty="0">
                <a:solidFill>
                  <a:srgbClr val="FF0000"/>
                </a:solidFill>
              </a:rPr>
              <a:t>事物</a:t>
            </a:r>
            <a:r>
              <a:rPr lang="zh-CN" altLang="en-US" dirty="0"/>
              <a:t>称为</a:t>
            </a:r>
            <a:r>
              <a:rPr lang="zh-CN" altLang="en-US" dirty="0">
                <a:solidFill>
                  <a:srgbClr val="FF0000"/>
                </a:solidFill>
              </a:rPr>
              <a:t>实体</a:t>
            </a:r>
            <a:r>
              <a:rPr lang="zh-CN" altLang="en-US" dirty="0"/>
              <a:t>，可以是具体的人、事、物、抽象的概念或联系</a:t>
            </a:r>
            <a:endParaRPr lang="en-US" altLang="zh-CN" dirty="0"/>
          </a:p>
          <a:p>
            <a:pPr lvl="1">
              <a:lnSpc>
                <a:spcPct val="100000"/>
              </a:lnSpc>
            </a:pPr>
            <a:r>
              <a:rPr lang="zh-CN" altLang="en-US" dirty="0"/>
              <a:t>例：一个学生，某个订单，论文指导关系</a:t>
            </a:r>
            <a:endParaRPr lang="en-US" altLang="zh-CN" dirty="0"/>
          </a:p>
          <a:p>
            <a:pPr lvl="1">
              <a:lnSpc>
                <a:spcPct val="100000"/>
              </a:lnSpc>
            </a:pPr>
            <a:endParaRPr lang="en-US" altLang="zh-CN" sz="800" dirty="0"/>
          </a:p>
          <a:p>
            <a:pPr>
              <a:lnSpc>
                <a:spcPct val="100000"/>
              </a:lnSpc>
            </a:pPr>
            <a:r>
              <a:rPr lang="zh-CN" altLang="en-US" dirty="0">
                <a:solidFill>
                  <a:srgbClr val="FF0000"/>
                </a:solidFill>
              </a:rPr>
              <a:t>属性</a:t>
            </a:r>
            <a:r>
              <a:rPr lang="en-US" altLang="zh-CN" dirty="0">
                <a:solidFill>
                  <a:srgbClr val="FF0000"/>
                </a:solidFill>
              </a:rPr>
              <a:t>(Attribute)</a:t>
            </a:r>
          </a:p>
          <a:p>
            <a:pPr lvl="1"/>
            <a:r>
              <a:rPr lang="zh-CN" altLang="en-US" dirty="0"/>
              <a:t>实体所具有的某一</a:t>
            </a:r>
            <a:r>
              <a:rPr lang="zh-CN" altLang="en-US" dirty="0">
                <a:solidFill>
                  <a:srgbClr val="FF0000"/>
                </a:solidFill>
              </a:rPr>
              <a:t>特性</a:t>
            </a:r>
            <a:r>
              <a:rPr lang="zh-CN" altLang="en-US" dirty="0"/>
              <a:t>称为</a:t>
            </a:r>
            <a:r>
              <a:rPr lang="zh-CN" altLang="en-US" dirty="0">
                <a:solidFill>
                  <a:srgbClr val="FF0000"/>
                </a:solidFill>
              </a:rPr>
              <a:t>属性</a:t>
            </a:r>
            <a:r>
              <a:rPr lang="zh-CN" altLang="en-US" dirty="0"/>
              <a:t>，一个实体可由若干个属性来刻画</a:t>
            </a:r>
            <a:endParaRPr lang="en-US" altLang="zh-CN" dirty="0"/>
          </a:p>
          <a:p>
            <a:pPr lvl="1">
              <a:lnSpc>
                <a:spcPct val="100000"/>
              </a:lnSpc>
            </a:pPr>
            <a:r>
              <a:rPr lang="zh-CN" altLang="en-US" dirty="0"/>
              <a:t>例：学生实体包括属性：学号，姓名，性别，出生日期，主修专业等</a:t>
            </a:r>
            <a:endParaRPr lang="en-US" altLang="zh-CN" dirty="0"/>
          </a:p>
          <a:p>
            <a:pPr lvl="1">
              <a:lnSpc>
                <a:spcPct val="100000"/>
              </a:lnSpc>
            </a:pPr>
            <a:endParaRPr lang="en-US" altLang="zh-CN" sz="800" dirty="0"/>
          </a:p>
          <a:p>
            <a:pPr>
              <a:lnSpc>
                <a:spcPct val="100000"/>
              </a:lnSpc>
            </a:pPr>
            <a:r>
              <a:rPr lang="zh-CN" altLang="en-US" dirty="0">
                <a:solidFill>
                  <a:srgbClr val="FF0000"/>
                </a:solidFill>
              </a:rPr>
              <a:t>码</a:t>
            </a:r>
            <a:r>
              <a:rPr lang="en-US" altLang="zh-CN" dirty="0">
                <a:solidFill>
                  <a:srgbClr val="FF0000"/>
                </a:solidFill>
              </a:rPr>
              <a:t>/</a:t>
            </a:r>
            <a:r>
              <a:rPr lang="zh-CN" altLang="en-US" dirty="0">
                <a:solidFill>
                  <a:srgbClr val="FF0000"/>
                </a:solidFill>
              </a:rPr>
              <a:t>键</a:t>
            </a:r>
            <a:r>
              <a:rPr lang="en-US" altLang="zh-CN" dirty="0">
                <a:solidFill>
                  <a:srgbClr val="FF0000"/>
                </a:solidFill>
              </a:rPr>
              <a:t>(Key)</a:t>
            </a:r>
          </a:p>
          <a:p>
            <a:pPr lvl="1"/>
            <a:r>
              <a:rPr lang="zh-CN" altLang="en-US" dirty="0">
                <a:solidFill>
                  <a:srgbClr val="FF0000"/>
                </a:solidFill>
              </a:rPr>
              <a:t>唯一标识</a:t>
            </a:r>
            <a:r>
              <a:rPr lang="zh-CN" altLang="en-US" dirty="0"/>
              <a:t>实体的</a:t>
            </a:r>
            <a:r>
              <a:rPr lang="zh-CN" altLang="en-US" dirty="0">
                <a:solidFill>
                  <a:srgbClr val="FF0000"/>
                </a:solidFill>
              </a:rPr>
              <a:t>属性或属性集</a:t>
            </a:r>
            <a:r>
              <a:rPr lang="zh-CN" altLang="en-US" dirty="0"/>
              <a:t>称为</a:t>
            </a:r>
            <a:r>
              <a:rPr lang="zh-CN" altLang="en-US" dirty="0">
                <a:solidFill>
                  <a:srgbClr val="FF0000"/>
                </a:solidFill>
              </a:rPr>
              <a:t>码</a:t>
            </a:r>
            <a:endParaRPr lang="en-US" altLang="zh-CN" dirty="0">
              <a:solidFill>
                <a:srgbClr val="FF0000"/>
              </a:solidFill>
            </a:endParaRPr>
          </a:p>
          <a:p>
            <a:pPr lvl="1"/>
            <a:r>
              <a:rPr lang="zh-CN" altLang="en-US" dirty="0"/>
              <a:t>例：学号是学生实体的码</a:t>
            </a:r>
            <a:endParaRPr lang="en-US" altLang="zh-CN" dirty="0"/>
          </a:p>
        </p:txBody>
      </p:sp>
    </p:spTree>
    <p:extLst>
      <p:ext uri="{BB962C8B-B14F-4D97-AF65-F5344CB8AC3E}">
        <p14:creationId xmlns:p14="http://schemas.microsoft.com/office/powerpoint/2010/main" val="3465262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~(cont.)</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A980CE72-2C15-4269-B76F-F4ED17FB6CC7}"/>
              </a:ext>
            </a:extLst>
          </p:cNvPr>
          <p:cNvSpPr>
            <a:spLocks noGrp="1"/>
          </p:cNvSpPr>
          <p:nvPr>
            <p:ph idx="1"/>
          </p:nvPr>
        </p:nvSpPr>
        <p:spPr/>
        <p:txBody>
          <a:bodyPr>
            <a:normAutofit/>
          </a:bodyPr>
          <a:lstStyle/>
          <a:p>
            <a:r>
              <a:rPr lang="zh-CN" altLang="en-US">
                <a:solidFill>
                  <a:srgbClr val="FF0000"/>
                </a:solidFill>
              </a:rPr>
              <a:t>实体型</a:t>
            </a:r>
            <a:r>
              <a:rPr lang="en-US" altLang="zh-CN">
                <a:solidFill>
                  <a:srgbClr val="FF0000"/>
                </a:solidFill>
              </a:rPr>
              <a:t>(Entity type)</a:t>
            </a:r>
          </a:p>
          <a:p>
            <a:pPr lvl="1">
              <a:lnSpc>
                <a:spcPct val="100000"/>
              </a:lnSpc>
            </a:pPr>
            <a:r>
              <a:rPr lang="zh-CN" altLang="en-US"/>
              <a:t>用</a:t>
            </a:r>
            <a:r>
              <a:rPr lang="zh-CN" altLang="en-US">
                <a:solidFill>
                  <a:srgbClr val="FF0000"/>
                </a:solidFill>
              </a:rPr>
              <a:t>实体名及其属性名集合</a:t>
            </a:r>
            <a:r>
              <a:rPr lang="zh-CN" altLang="en-US"/>
              <a:t>来抽象和刻画同类实体称为实体型</a:t>
            </a:r>
            <a:endParaRPr lang="en-US" altLang="zh-CN"/>
          </a:p>
          <a:p>
            <a:pPr lvl="1">
              <a:lnSpc>
                <a:spcPct val="100000"/>
              </a:lnSpc>
            </a:pPr>
            <a:r>
              <a:rPr lang="zh-CN" altLang="en-US"/>
              <a:t>例：学生</a:t>
            </a:r>
            <a:r>
              <a:rPr lang="en-US" altLang="zh-CN"/>
              <a:t>(</a:t>
            </a:r>
            <a:r>
              <a:rPr lang="zh-CN" altLang="en-US"/>
              <a:t>学号，姓名，性别，出生日期，主修专业</a:t>
            </a:r>
            <a:r>
              <a:rPr lang="en-US" altLang="zh-CN"/>
              <a:t>)</a:t>
            </a:r>
            <a:r>
              <a:rPr lang="zh-CN" altLang="en-US"/>
              <a:t>就是一个实体型</a:t>
            </a:r>
            <a:endParaRPr lang="en-US" altLang="zh-CN"/>
          </a:p>
          <a:p>
            <a:pPr lvl="1">
              <a:lnSpc>
                <a:spcPct val="100000"/>
              </a:lnSpc>
            </a:pPr>
            <a:endParaRPr lang="en-US" altLang="zh-CN" sz="800">
              <a:solidFill>
                <a:srgbClr val="FF0000"/>
              </a:solidFill>
            </a:endParaRPr>
          </a:p>
          <a:p>
            <a:pPr>
              <a:lnSpc>
                <a:spcPct val="100000"/>
              </a:lnSpc>
            </a:pPr>
            <a:r>
              <a:rPr lang="zh-CN" altLang="en-US">
                <a:solidFill>
                  <a:srgbClr val="FF0000"/>
                </a:solidFill>
              </a:rPr>
              <a:t>实体集</a:t>
            </a:r>
            <a:r>
              <a:rPr lang="en-US" altLang="zh-CN">
                <a:solidFill>
                  <a:srgbClr val="FF0000"/>
                </a:solidFill>
              </a:rPr>
              <a:t>(Entity set)</a:t>
            </a:r>
          </a:p>
          <a:p>
            <a:pPr lvl="1">
              <a:lnSpc>
                <a:spcPct val="100000"/>
              </a:lnSpc>
            </a:pPr>
            <a:r>
              <a:rPr lang="zh-CN" altLang="en-US"/>
              <a:t>同一类型实体的集合称为实体集。例：全体学生就是一个实体集</a:t>
            </a:r>
            <a:endParaRPr lang="en-US" altLang="zh-CN"/>
          </a:p>
          <a:p>
            <a:pPr lvl="1">
              <a:lnSpc>
                <a:spcPct val="100000"/>
              </a:lnSpc>
            </a:pPr>
            <a:endParaRPr lang="zh-CN" altLang="en-US" sz="800"/>
          </a:p>
          <a:p>
            <a:pPr>
              <a:lnSpc>
                <a:spcPct val="100000"/>
              </a:lnSpc>
            </a:pPr>
            <a:r>
              <a:rPr lang="zh-CN" altLang="en-US">
                <a:solidFill>
                  <a:srgbClr val="FF0000"/>
                </a:solidFill>
              </a:rPr>
              <a:t>联系</a:t>
            </a:r>
            <a:r>
              <a:rPr lang="en-US" altLang="zh-CN">
                <a:solidFill>
                  <a:srgbClr val="FF0000"/>
                </a:solidFill>
              </a:rPr>
              <a:t>(Relationship)</a:t>
            </a:r>
          </a:p>
          <a:p>
            <a:pPr lvl="1"/>
            <a:r>
              <a:rPr lang="zh-CN" altLang="en-US"/>
              <a:t>现实世界中事物内部以及事物之间的联系在信息世界中反映为实体</a:t>
            </a:r>
            <a:r>
              <a:rPr lang="en-US" altLang="zh-CN">
                <a:solidFill>
                  <a:srgbClr val="FF0000"/>
                </a:solidFill>
              </a:rPr>
              <a:t>(</a:t>
            </a:r>
            <a:r>
              <a:rPr lang="zh-CN" altLang="en-US">
                <a:solidFill>
                  <a:srgbClr val="FF0000"/>
                </a:solidFill>
              </a:rPr>
              <a:t>型</a:t>
            </a:r>
            <a:r>
              <a:rPr lang="en-US" altLang="zh-CN">
                <a:solidFill>
                  <a:srgbClr val="FF0000"/>
                </a:solidFill>
              </a:rPr>
              <a:t>)</a:t>
            </a:r>
            <a:r>
              <a:rPr lang="zh-CN" altLang="en-US"/>
              <a:t>内部的联系和实体</a:t>
            </a:r>
            <a:r>
              <a:rPr lang="en-US" altLang="zh-CN">
                <a:solidFill>
                  <a:srgbClr val="FF0000"/>
                </a:solidFill>
              </a:rPr>
              <a:t>(</a:t>
            </a:r>
            <a:r>
              <a:rPr lang="zh-CN" altLang="en-US">
                <a:solidFill>
                  <a:srgbClr val="FF0000"/>
                </a:solidFill>
              </a:rPr>
              <a:t>型</a:t>
            </a:r>
            <a:r>
              <a:rPr lang="en-US" altLang="zh-CN">
                <a:solidFill>
                  <a:srgbClr val="FF0000"/>
                </a:solidFill>
              </a:rPr>
              <a:t>)</a:t>
            </a:r>
            <a:r>
              <a:rPr lang="zh-CN" altLang="en-US"/>
              <a:t>之间的联系</a:t>
            </a:r>
            <a:endParaRPr lang="en-US" altLang="zh-CN"/>
          </a:p>
          <a:p>
            <a:pPr lvl="1"/>
            <a:r>
              <a:rPr lang="zh-CN" altLang="en-US">
                <a:solidFill>
                  <a:srgbClr val="FF0000"/>
                </a:solidFill>
              </a:rPr>
              <a:t>实体内部的联系</a:t>
            </a:r>
            <a:r>
              <a:rPr lang="zh-CN" altLang="en-US"/>
              <a:t>通常是指组成实体的各属性之间的联系</a:t>
            </a:r>
            <a:endParaRPr lang="en-US" altLang="zh-CN"/>
          </a:p>
          <a:p>
            <a:pPr lvl="1"/>
            <a:r>
              <a:rPr lang="zh-CN" altLang="en-US">
                <a:solidFill>
                  <a:srgbClr val="FF0000"/>
                </a:solidFill>
              </a:rPr>
              <a:t>实体之间的联系</a:t>
            </a:r>
            <a:r>
              <a:rPr lang="zh-CN" altLang="en-US"/>
              <a:t>通常是指不同实体集之间的联系</a:t>
            </a:r>
            <a:endParaRPr lang="en-US" altLang="zh-CN"/>
          </a:p>
          <a:p>
            <a:pPr lvl="1"/>
            <a:r>
              <a:rPr lang="zh-CN" altLang="en-US"/>
              <a:t>实体之间的联系有</a:t>
            </a:r>
            <a:r>
              <a:rPr lang="zh-CN" altLang="en-US">
                <a:solidFill>
                  <a:srgbClr val="FF0000"/>
                </a:solidFill>
              </a:rPr>
              <a:t>一对一</a:t>
            </a:r>
            <a:r>
              <a:rPr lang="zh-CN" altLang="en-US"/>
              <a:t>、</a:t>
            </a:r>
            <a:r>
              <a:rPr lang="zh-CN" altLang="en-US">
                <a:solidFill>
                  <a:srgbClr val="FF0000"/>
                </a:solidFill>
              </a:rPr>
              <a:t>一对多</a:t>
            </a:r>
            <a:r>
              <a:rPr lang="zh-CN" altLang="en-US"/>
              <a:t>和</a:t>
            </a:r>
            <a:r>
              <a:rPr lang="zh-CN" altLang="en-US">
                <a:solidFill>
                  <a:srgbClr val="FF0000"/>
                </a:solidFill>
              </a:rPr>
              <a:t>多对多</a:t>
            </a:r>
            <a:r>
              <a:rPr lang="zh-CN" altLang="en-US"/>
              <a:t>等多种类型</a:t>
            </a:r>
            <a:endParaRPr lang="en-US" altLang="zh-CN"/>
          </a:p>
        </p:txBody>
      </p:sp>
    </p:spTree>
    <p:extLst>
      <p:ext uri="{BB962C8B-B14F-4D97-AF65-F5344CB8AC3E}">
        <p14:creationId xmlns:p14="http://schemas.microsoft.com/office/powerpoint/2010/main" val="3052123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4.2.2</a:t>
            </a:r>
            <a:r>
              <a:rPr lang="zh-CN" altLang="en-US"/>
              <a:t>实体</a:t>
            </a:r>
            <a:r>
              <a:rPr lang="en-US" altLang="zh-CN"/>
              <a:t>-</a:t>
            </a:r>
            <a:r>
              <a:rPr lang="zh-CN" altLang="en-US"/>
              <a:t>联系图</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EF2DB39F-3DFD-4E83-803E-39EC7723BD83}"/>
              </a:ext>
            </a:extLst>
          </p:cNvPr>
          <p:cNvSpPr>
            <a:spLocks noGrp="1"/>
          </p:cNvSpPr>
          <p:nvPr>
            <p:ph idx="1"/>
          </p:nvPr>
        </p:nvSpPr>
        <p:spPr/>
        <p:txBody>
          <a:bodyPr/>
          <a:lstStyle/>
          <a:p>
            <a:r>
              <a:rPr lang="zh-CN" altLang="en-US" dirty="0">
                <a:solidFill>
                  <a:srgbClr val="FF0000"/>
                </a:solidFill>
              </a:rPr>
              <a:t>实体</a:t>
            </a:r>
            <a:r>
              <a:rPr lang="en-US" altLang="zh-CN" dirty="0">
                <a:solidFill>
                  <a:srgbClr val="FF0000"/>
                </a:solidFill>
              </a:rPr>
              <a:t>-</a:t>
            </a:r>
            <a:r>
              <a:rPr lang="zh-CN" altLang="en-US" dirty="0">
                <a:solidFill>
                  <a:srgbClr val="FF0000"/>
                </a:solidFill>
              </a:rPr>
              <a:t>联系图</a:t>
            </a:r>
            <a:r>
              <a:rPr lang="en-US" altLang="zh-CN" dirty="0">
                <a:solidFill>
                  <a:srgbClr val="FF0000"/>
                </a:solidFill>
              </a:rPr>
              <a:t>(Entity-relationship Diagram, ERD)</a:t>
            </a:r>
          </a:p>
          <a:p>
            <a:pPr lvl="1">
              <a:defRPr/>
            </a:pPr>
            <a:r>
              <a:rPr lang="zh-CN" altLang="en-US" dirty="0"/>
              <a:t>概念建模的一种常用表示方法</a:t>
            </a:r>
            <a:r>
              <a:rPr lang="en-US" altLang="zh-CN" dirty="0"/>
              <a:t>/</a:t>
            </a:r>
            <a:r>
              <a:rPr lang="zh-CN" altLang="en-US" dirty="0"/>
              <a:t>工具</a:t>
            </a:r>
            <a:endParaRPr lang="en-US" altLang="zh-CN" dirty="0"/>
          </a:p>
          <a:p>
            <a:pPr lvl="1">
              <a:defRPr/>
            </a:pPr>
            <a:r>
              <a:rPr lang="zh-CN" altLang="en-US" dirty="0"/>
              <a:t>也称为</a:t>
            </a:r>
            <a:r>
              <a:rPr lang="en-US" altLang="zh-CN" dirty="0">
                <a:solidFill>
                  <a:srgbClr val="FF0000"/>
                </a:solidFill>
              </a:rPr>
              <a:t>E-R</a:t>
            </a:r>
            <a:r>
              <a:rPr lang="zh-CN" altLang="en-US" dirty="0">
                <a:solidFill>
                  <a:srgbClr val="FF0000"/>
                </a:solidFill>
              </a:rPr>
              <a:t>方法</a:t>
            </a:r>
            <a:r>
              <a:rPr lang="en-US" altLang="zh-CN" dirty="0">
                <a:solidFill>
                  <a:srgbClr val="FF0000"/>
                </a:solidFill>
              </a:rPr>
              <a:t>(approach)/E-R</a:t>
            </a:r>
            <a:r>
              <a:rPr lang="zh-CN" altLang="en-US" dirty="0">
                <a:solidFill>
                  <a:srgbClr val="FF0000"/>
                </a:solidFill>
              </a:rPr>
              <a:t>图</a:t>
            </a:r>
            <a:r>
              <a:rPr lang="en-US" altLang="zh-CN" dirty="0">
                <a:solidFill>
                  <a:srgbClr val="FF0000"/>
                </a:solidFill>
              </a:rPr>
              <a:t>(diagram)/E-R</a:t>
            </a:r>
            <a:r>
              <a:rPr lang="zh-CN" altLang="en-US" dirty="0">
                <a:solidFill>
                  <a:srgbClr val="FF0000"/>
                </a:solidFill>
              </a:rPr>
              <a:t>模型</a:t>
            </a:r>
            <a:r>
              <a:rPr lang="en-US" altLang="zh-CN" dirty="0">
                <a:solidFill>
                  <a:srgbClr val="FF0000"/>
                </a:solidFill>
              </a:rPr>
              <a:t>(model)</a:t>
            </a:r>
            <a:endParaRPr lang="en-US" altLang="zh-CN" dirty="0"/>
          </a:p>
          <a:p>
            <a:pPr lvl="1">
              <a:defRPr/>
            </a:pPr>
            <a:r>
              <a:rPr lang="zh-CN" altLang="en-US" dirty="0"/>
              <a:t>由</a:t>
            </a:r>
            <a:r>
              <a:rPr lang="en-US" altLang="zh-CN" dirty="0" err="1">
                <a:solidFill>
                  <a:srgbClr val="FF0000"/>
                </a:solidFill>
              </a:rPr>
              <a:t>P.P.S.Chen</a:t>
            </a:r>
            <a:r>
              <a:rPr lang="en-US" altLang="zh-CN" dirty="0">
                <a:solidFill>
                  <a:srgbClr val="FF0000"/>
                </a:solidFill>
              </a:rPr>
              <a:t>(</a:t>
            </a:r>
            <a:r>
              <a:rPr lang="zh-CN" altLang="en-US" dirty="0">
                <a:solidFill>
                  <a:srgbClr val="FF0000"/>
                </a:solidFill>
              </a:rPr>
              <a:t>陈品山</a:t>
            </a:r>
            <a:r>
              <a:rPr lang="en-US" altLang="zh-CN" dirty="0">
                <a:solidFill>
                  <a:srgbClr val="FF0000"/>
                </a:solidFill>
              </a:rPr>
              <a:t>)1976</a:t>
            </a:r>
            <a:r>
              <a:rPr lang="zh-CN" altLang="en-US" dirty="0">
                <a:solidFill>
                  <a:srgbClr val="FF0000"/>
                </a:solidFill>
              </a:rPr>
              <a:t>年</a:t>
            </a:r>
            <a:r>
              <a:rPr lang="zh-CN" altLang="en-US" dirty="0"/>
              <a:t>提出</a:t>
            </a:r>
          </a:p>
          <a:p>
            <a:pPr lvl="2">
              <a:defRPr/>
            </a:pPr>
            <a:r>
              <a:rPr lang="en-US" altLang="zh-CN" dirty="0"/>
              <a:t>Peter Chen. The Entity-Relationship Model--Toward a Unified View of Data. ACM Transactions on Database Systems, Vol. 1(1), p.9-36,1976</a:t>
            </a:r>
          </a:p>
          <a:p>
            <a:pPr lvl="2">
              <a:defRPr/>
            </a:pPr>
            <a:endParaRPr lang="en-US" altLang="zh-CN" sz="1000" dirty="0"/>
          </a:p>
          <a:p>
            <a:pPr lvl="1">
              <a:defRPr/>
            </a:pPr>
            <a:r>
              <a:rPr lang="en-US" altLang="zh-CN" dirty="0">
                <a:solidFill>
                  <a:srgbClr val="FF0000"/>
                </a:solidFill>
              </a:rPr>
              <a:t>ERD</a:t>
            </a:r>
            <a:r>
              <a:rPr lang="zh-CN" altLang="en-US" dirty="0">
                <a:solidFill>
                  <a:srgbClr val="FF0000"/>
                </a:solidFill>
              </a:rPr>
              <a:t>表示要点</a:t>
            </a:r>
            <a:endParaRPr lang="en-US" altLang="zh-CN" dirty="0">
              <a:solidFill>
                <a:srgbClr val="FF0000"/>
              </a:solidFill>
            </a:endParaRPr>
          </a:p>
          <a:p>
            <a:pPr lvl="2">
              <a:defRPr/>
            </a:pPr>
            <a:r>
              <a:rPr lang="zh-CN" altLang="en-US" sz="2000" dirty="0">
                <a:solidFill>
                  <a:srgbClr val="0000FF"/>
                </a:solidFill>
              </a:rPr>
              <a:t>陈氏法</a:t>
            </a:r>
            <a:endParaRPr lang="en-US" altLang="zh-CN" sz="2000" dirty="0">
              <a:solidFill>
                <a:srgbClr val="0000FF"/>
              </a:solidFill>
            </a:endParaRPr>
          </a:p>
          <a:p>
            <a:endParaRPr lang="zh-CN" altLang="en-US" dirty="0"/>
          </a:p>
          <a:p>
            <a:endParaRPr lang="zh-CN" altLang="en-US" dirty="0"/>
          </a:p>
        </p:txBody>
      </p:sp>
      <p:pic>
        <p:nvPicPr>
          <p:cNvPr id="8" name="Picture 8" descr="peterchen">
            <a:extLst>
              <a:ext uri="{FF2B5EF4-FFF2-40B4-BE49-F238E27FC236}">
                <a16:creationId xmlns:a16="http://schemas.microsoft.com/office/drawing/2014/main" id="{8233579E-04E2-4D79-AF86-7E4959D37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217" y="2845607"/>
            <a:ext cx="454218" cy="583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698F9C3E-512B-42AD-81FA-539F05B6C8DF}"/>
              </a:ext>
            </a:extLst>
          </p:cNvPr>
          <p:cNvPicPr>
            <a:picLocks noChangeAspect="1"/>
          </p:cNvPicPr>
          <p:nvPr/>
        </p:nvPicPr>
        <p:blipFill>
          <a:blip r:embed="rId3"/>
          <a:stretch>
            <a:fillRect/>
          </a:stretch>
        </p:blipFill>
        <p:spPr>
          <a:xfrm>
            <a:off x="3011053" y="4183389"/>
            <a:ext cx="6690901" cy="1819845"/>
          </a:xfrm>
          <a:prstGeom prst="rect">
            <a:avLst/>
          </a:prstGeom>
        </p:spPr>
      </p:pic>
      <p:sp>
        <p:nvSpPr>
          <p:cNvPr id="10" name="文本框 9">
            <a:extLst>
              <a:ext uri="{FF2B5EF4-FFF2-40B4-BE49-F238E27FC236}">
                <a16:creationId xmlns:a16="http://schemas.microsoft.com/office/drawing/2014/main" id="{9CFD3014-9C84-4D35-A7FD-626A326794D1}"/>
              </a:ext>
            </a:extLst>
          </p:cNvPr>
          <p:cNvSpPr txBox="1"/>
          <p:nvPr/>
        </p:nvSpPr>
        <p:spPr>
          <a:xfrm>
            <a:off x="5198471" y="3523814"/>
            <a:ext cx="2889115" cy="338554"/>
          </a:xfrm>
          <a:prstGeom prst="rect">
            <a:avLst/>
          </a:prstGeom>
          <a:noFill/>
        </p:spPr>
        <p:txBody>
          <a:bodyPr wrap="square" rtlCol="0">
            <a:spAutoFit/>
          </a:bodyPr>
          <a:lstStyle/>
          <a:p>
            <a:pPr algn="ctr"/>
            <a:r>
              <a:rPr lang="zh-CN" altLang="en-US" sz="1600" b="1">
                <a:solidFill>
                  <a:srgbClr val="FF0000"/>
                </a:solidFill>
                <a:latin typeface="微软雅黑" panose="020B0503020204020204" pitchFamily="34" charset="-122"/>
                <a:ea typeface="微软雅黑" panose="020B0503020204020204" pitchFamily="34" charset="-122"/>
              </a:rPr>
              <a:t>联系基数类型：</a:t>
            </a:r>
            <a:r>
              <a:rPr lang="en-US" altLang="zh-CN" sz="1600" b="1">
                <a:solidFill>
                  <a:srgbClr val="FF0000"/>
                </a:solidFill>
                <a:latin typeface="微软雅黑" panose="020B0503020204020204" pitchFamily="34" charset="-122"/>
                <a:ea typeface="微软雅黑" panose="020B0503020204020204" pitchFamily="34" charset="-122"/>
              </a:rPr>
              <a:t>1:1,1:n,m:n</a:t>
            </a:r>
          </a:p>
        </p:txBody>
      </p:sp>
      <p:cxnSp>
        <p:nvCxnSpPr>
          <p:cNvPr id="12" name="直接箭头连接符 11">
            <a:extLst>
              <a:ext uri="{FF2B5EF4-FFF2-40B4-BE49-F238E27FC236}">
                <a16:creationId xmlns:a16="http://schemas.microsoft.com/office/drawing/2014/main" id="{E089FB62-BE8B-4E98-9E6B-690B488D501B}"/>
              </a:ext>
            </a:extLst>
          </p:cNvPr>
          <p:cNvCxnSpPr>
            <a:cxnSpLocks/>
          </p:cNvCxnSpPr>
          <p:nvPr/>
        </p:nvCxnSpPr>
        <p:spPr>
          <a:xfrm flipH="1">
            <a:off x="6013175" y="3826565"/>
            <a:ext cx="864703" cy="42738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5CB54FA3-B809-43CA-A83D-A1FDF0D7653A}"/>
              </a:ext>
            </a:extLst>
          </p:cNvPr>
          <p:cNvCxnSpPr>
            <a:cxnSpLocks/>
          </p:cNvCxnSpPr>
          <p:nvPr/>
        </p:nvCxnSpPr>
        <p:spPr>
          <a:xfrm>
            <a:off x="7364896" y="3906078"/>
            <a:ext cx="357808" cy="34787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B080568-6578-41E3-9A6A-0306A682A20A}"/>
              </a:ext>
            </a:extLst>
          </p:cNvPr>
          <p:cNvSpPr txBox="1"/>
          <p:nvPr/>
        </p:nvSpPr>
        <p:spPr>
          <a:xfrm>
            <a:off x="0" y="6581001"/>
            <a:ext cx="12192000" cy="276999"/>
          </a:xfrm>
          <a:prstGeom prst="rect">
            <a:avLst/>
          </a:prstGeom>
          <a:solidFill>
            <a:schemeClr val="tx1"/>
          </a:solidFill>
        </p:spPr>
        <p:txBody>
          <a:bodyPr wrap="square" rtlCol="0">
            <a:spAutoFit/>
          </a:bodyPr>
          <a:lstStyle/>
          <a:p>
            <a:pPr algn="ctr"/>
            <a:r>
              <a:rPr lang="en-US" altLang="zh-CN" sz="1200" b="1">
                <a:solidFill>
                  <a:schemeClr val="bg1"/>
                </a:solidFill>
                <a:latin typeface="微软雅黑" panose="020B0503020204020204" pitchFamily="34" charset="-122"/>
                <a:ea typeface="微软雅黑" panose="020B0503020204020204" pitchFamily="34" charset="-122"/>
              </a:rPr>
              <a:t>1.</a:t>
            </a:r>
            <a:r>
              <a:rPr lang="zh-CN" altLang="en-US" sz="1200" b="1">
                <a:solidFill>
                  <a:schemeClr val="bg1"/>
                </a:solidFill>
                <a:latin typeface="微软雅黑" panose="020B0503020204020204" pitchFamily="34" charset="-122"/>
                <a:ea typeface="微软雅黑" panose="020B0503020204020204" pitchFamily="34" charset="-122"/>
              </a:rPr>
              <a:t>本章导图    </a:t>
            </a:r>
            <a:r>
              <a:rPr lang="en-US" altLang="zh-CN" sz="1200" b="1">
                <a:solidFill>
                  <a:schemeClr val="bg1"/>
                </a:solidFill>
                <a:latin typeface="微软雅黑" panose="020B0503020204020204" pitchFamily="34" charset="-122"/>
                <a:ea typeface="微软雅黑" panose="020B0503020204020204" pitchFamily="34" charset="-122"/>
              </a:rPr>
              <a:t>2.</a:t>
            </a:r>
            <a:r>
              <a:rPr lang="zh-CN" altLang="en-US" sz="1200" b="1">
                <a:solidFill>
                  <a:schemeClr val="bg1"/>
                </a:solidFill>
                <a:latin typeface="微软雅黑" panose="020B0503020204020204" pitchFamily="34" charset="-122"/>
                <a:ea typeface="微软雅黑" panose="020B0503020204020204" pitchFamily="34" charset="-122"/>
              </a:rPr>
              <a:t>大纲    </a:t>
            </a:r>
            <a:r>
              <a:rPr lang="en-US" altLang="zh-CN" sz="1200" b="1">
                <a:solidFill>
                  <a:schemeClr val="bg1"/>
                </a:solidFill>
                <a:latin typeface="微软雅黑" panose="020B0503020204020204" pitchFamily="34" charset="-122"/>
                <a:ea typeface="微软雅黑" panose="020B0503020204020204" pitchFamily="34" charset="-122"/>
              </a:rPr>
              <a:t>3.</a:t>
            </a:r>
            <a:r>
              <a:rPr lang="zh-CN" altLang="en-US" sz="1200" b="1">
                <a:solidFill>
                  <a:schemeClr val="bg1"/>
                </a:solidFill>
                <a:latin typeface="微软雅黑" panose="020B0503020204020204" pitchFamily="34" charset="-122"/>
                <a:ea typeface="微软雅黑" panose="020B0503020204020204" pitchFamily="34" charset="-122"/>
              </a:rPr>
              <a:t>数据库系统概述    </a:t>
            </a:r>
            <a:r>
              <a:rPr lang="en-US" altLang="zh-CN" sz="1200" b="1">
                <a:solidFill>
                  <a:srgbClr val="FFFF00"/>
                </a:solidFill>
                <a:latin typeface="微软雅黑" panose="020B0503020204020204" pitchFamily="34" charset="-122"/>
                <a:ea typeface="微软雅黑" panose="020B0503020204020204" pitchFamily="34" charset="-122"/>
              </a:rPr>
              <a:t>4.</a:t>
            </a:r>
            <a:r>
              <a:rPr lang="zh-CN" altLang="en-US" sz="1200" b="1">
                <a:solidFill>
                  <a:srgbClr val="FFFF00"/>
                </a:solidFill>
                <a:latin typeface="微软雅黑" panose="020B0503020204020204" pitchFamily="34" charset="-122"/>
                <a:ea typeface="微软雅黑" panose="020B0503020204020204" pitchFamily="34" charset="-122"/>
              </a:rPr>
              <a:t>数据模型    </a:t>
            </a:r>
            <a:r>
              <a:rPr lang="en-US" altLang="zh-CN" sz="1200" b="1">
                <a:solidFill>
                  <a:schemeClr val="bg1"/>
                </a:solidFill>
                <a:latin typeface="微软雅黑" panose="020B0503020204020204" pitchFamily="34" charset="-122"/>
                <a:ea typeface="微软雅黑" panose="020B0503020204020204" pitchFamily="34" charset="-122"/>
              </a:rPr>
              <a:t>5.</a:t>
            </a:r>
            <a:r>
              <a:rPr lang="zh-CN" altLang="en-US" sz="1200" b="1">
                <a:solidFill>
                  <a:schemeClr val="bg1"/>
                </a:solidFill>
                <a:latin typeface="微软雅黑" panose="020B0503020204020204" pitchFamily="34" charset="-122"/>
                <a:ea typeface="微软雅黑" panose="020B0503020204020204" pitchFamily="34" charset="-122"/>
              </a:rPr>
              <a:t>数据库系统三级模式结构    </a:t>
            </a:r>
            <a:r>
              <a:rPr lang="en-US" altLang="zh-CN" sz="1200" b="1">
                <a:solidFill>
                  <a:schemeClr val="bg1"/>
                </a:solidFill>
                <a:latin typeface="微软雅黑" panose="020B0503020204020204" pitchFamily="34" charset="-122"/>
                <a:ea typeface="微软雅黑" panose="020B0503020204020204" pitchFamily="34" charset="-122"/>
              </a:rPr>
              <a:t>6.</a:t>
            </a:r>
            <a:r>
              <a:rPr lang="zh-CN" altLang="en-US" sz="1200" b="1">
                <a:solidFill>
                  <a:schemeClr val="bg1"/>
                </a:solidFill>
                <a:latin typeface="微软雅黑" panose="020B0503020204020204" pitchFamily="34" charset="-122"/>
                <a:ea typeface="微软雅黑" panose="020B0503020204020204" pitchFamily="34" charset="-122"/>
              </a:rPr>
              <a:t>数据库系统组成    </a:t>
            </a:r>
            <a:r>
              <a:rPr lang="en-US" altLang="zh-CN" sz="1200" b="1">
                <a:solidFill>
                  <a:schemeClr val="bg1"/>
                </a:solidFill>
                <a:latin typeface="微软雅黑" panose="020B0503020204020204" pitchFamily="34" charset="-122"/>
                <a:ea typeface="微软雅黑" panose="020B0503020204020204" pitchFamily="34" charset="-122"/>
              </a:rPr>
              <a:t>7.</a:t>
            </a:r>
            <a:r>
              <a:rPr lang="zh-CN" altLang="en-US" sz="1200" b="1">
                <a:solidFill>
                  <a:schemeClr val="bg1"/>
                </a:solidFill>
                <a:latin typeface="微软雅黑" panose="020B0503020204020204" pitchFamily="34" charset="-122"/>
                <a:ea typeface="微软雅黑" panose="020B0503020204020204" pitchFamily="34" charset="-122"/>
              </a:rPr>
              <a:t>数据库系统体系结构    </a:t>
            </a:r>
            <a:r>
              <a:rPr lang="en-US" altLang="zh-CN" sz="1200" b="1">
                <a:solidFill>
                  <a:schemeClr val="bg1"/>
                </a:solidFill>
                <a:latin typeface="微软雅黑" panose="020B0503020204020204" pitchFamily="34" charset="-122"/>
                <a:ea typeface="微软雅黑" panose="020B0503020204020204" pitchFamily="34" charset="-122"/>
              </a:rPr>
              <a:t>8.</a:t>
            </a:r>
            <a:r>
              <a:rPr lang="zh-CN" altLang="en-US" sz="1200" b="1">
                <a:solidFill>
                  <a:schemeClr val="bg1"/>
                </a:solidFill>
                <a:latin typeface="微软雅黑" panose="020B0503020204020204" pitchFamily="34" charset="-122"/>
                <a:ea typeface="微软雅黑" panose="020B0503020204020204" pitchFamily="34" charset="-122"/>
              </a:rPr>
              <a:t>本章小结</a:t>
            </a:r>
          </a:p>
        </p:txBody>
      </p:sp>
    </p:spTree>
    <p:extLst>
      <p:ext uri="{BB962C8B-B14F-4D97-AF65-F5344CB8AC3E}">
        <p14:creationId xmlns:p14="http://schemas.microsoft.com/office/powerpoint/2010/main" val="1587203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~(cont.)</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15" name="图片 1">
            <a:extLst>
              <a:ext uri="{FF2B5EF4-FFF2-40B4-BE49-F238E27FC236}">
                <a16:creationId xmlns:a16="http://schemas.microsoft.com/office/drawing/2014/main" id="{55E39A35-F2CD-4E18-8D7B-00BB937B496C}"/>
              </a:ext>
            </a:extLst>
          </p:cNvPr>
          <p:cNvPicPr>
            <a:picLocks noGrp="1" noChangeAspect="1"/>
          </p:cNvPicPr>
          <p:nvPr>
            <p:ph idx="1"/>
          </p:nvPr>
        </p:nvPicPr>
        <p:blipFill>
          <a:blip r:embed="rId2"/>
          <a:stretch>
            <a:fillRect/>
          </a:stretch>
        </p:blipFill>
        <p:spPr>
          <a:xfrm>
            <a:off x="938034" y="935179"/>
            <a:ext cx="10058917" cy="3429176"/>
          </a:xfrm>
          <a:prstGeom prst="rect">
            <a:avLst/>
          </a:prstGeom>
          <a:noFill/>
          <a:ln w="9525">
            <a:noFill/>
          </a:ln>
        </p:spPr>
      </p:pic>
      <p:sp>
        <p:nvSpPr>
          <p:cNvPr id="16" name="矩形 15">
            <a:extLst>
              <a:ext uri="{FF2B5EF4-FFF2-40B4-BE49-F238E27FC236}">
                <a16:creationId xmlns:a16="http://schemas.microsoft.com/office/drawing/2014/main" id="{EC9064EA-3050-4C53-8BE7-A6667E7B2F03}"/>
              </a:ext>
            </a:extLst>
          </p:cNvPr>
          <p:cNvSpPr/>
          <p:nvPr/>
        </p:nvSpPr>
        <p:spPr>
          <a:xfrm>
            <a:off x="933668" y="4439820"/>
            <a:ext cx="10078279" cy="1538370"/>
          </a:xfrm>
          <a:prstGeom prst="rect">
            <a:avLst/>
          </a:prstGeom>
          <a:solidFill>
            <a:schemeClr val="bg2">
              <a:lumMod val="90000"/>
            </a:schemeClr>
          </a:solidFill>
        </p:spPr>
        <p:txBody>
          <a:bodyPr wrap="square">
            <a:spAutoFit/>
          </a:bodyPr>
          <a:lstStyle/>
          <a:p>
            <a:pPr marL="174625" indent="-174625">
              <a:lnSpc>
                <a:spcPct val="120000"/>
              </a:lnSpc>
              <a:buSzTx/>
              <a:buFont typeface="Arial" panose="020B0604020202020204" pitchFamily="34" charset="0"/>
              <a:buChar char="•"/>
              <a:defRPr/>
            </a:pPr>
            <a:r>
              <a:rPr lang="zh-CN" altLang="en-US" sz="2000" dirty="0">
                <a:solidFill>
                  <a:srgbClr val="0000FF"/>
                </a:solidFill>
                <a:latin typeface="HarmonyOS Sans SC Medium" panose="00000600000000000000" pitchFamily="2" charset="-122"/>
                <a:ea typeface="阿里巴巴普惠体 3.0 55 Regular" panose="00020600040101010101" pitchFamily="18" charset="-122"/>
              </a:rPr>
              <a:t>抽象了学校中的学生和课程两个客观事物：</a:t>
            </a:r>
            <a:r>
              <a:rPr lang="zh-CN" altLang="en-US" sz="2000" dirty="0">
                <a:solidFill>
                  <a:srgbClr val="FF0000"/>
                </a:solidFill>
                <a:latin typeface="HarmonyOS Sans SC Medium" panose="00000600000000000000" pitchFamily="2" charset="-122"/>
                <a:ea typeface="阿里巴巴普惠体 3.0 55 Regular" panose="00020600040101010101" pitchFamily="18" charset="-122"/>
              </a:rPr>
              <a:t>学生实体</a:t>
            </a:r>
            <a:r>
              <a:rPr lang="zh-CN" altLang="en-US" sz="2000" dirty="0">
                <a:solidFill>
                  <a:srgbClr val="0000FF"/>
                </a:solidFill>
                <a:latin typeface="HarmonyOS Sans SC Medium" panose="00000600000000000000" pitchFamily="2" charset="-122"/>
                <a:ea typeface="阿里巴巴普惠体 3.0 55 Regular" panose="00020600040101010101" pitchFamily="18" charset="-122"/>
              </a:rPr>
              <a:t>和</a:t>
            </a:r>
            <a:r>
              <a:rPr lang="zh-CN" altLang="en-US" sz="2000" dirty="0">
                <a:solidFill>
                  <a:srgbClr val="FF0000"/>
                </a:solidFill>
                <a:latin typeface="HarmonyOS Sans SC Medium" panose="00000600000000000000" pitchFamily="2" charset="-122"/>
                <a:ea typeface="阿里巴巴普惠体 3.0 55 Regular" panose="00020600040101010101" pitchFamily="18" charset="-122"/>
              </a:rPr>
              <a:t>课程实体</a:t>
            </a:r>
            <a:endParaRPr lang="en-US" altLang="zh-CN" sz="200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lnSpc>
                <a:spcPct val="120000"/>
              </a:lnSpc>
              <a:buSzTx/>
              <a:buFont typeface="Arial" panose="020B0604020202020204" pitchFamily="34" charset="0"/>
              <a:buChar char="•"/>
              <a:defRPr/>
            </a:pPr>
            <a:r>
              <a:rPr lang="zh-CN" altLang="en-US" sz="2000" dirty="0">
                <a:solidFill>
                  <a:srgbClr val="0000FF"/>
                </a:solidFill>
                <a:latin typeface="HarmonyOS Sans SC Medium" panose="00000600000000000000" pitchFamily="2" charset="-122"/>
                <a:ea typeface="阿里巴巴普惠体 3.0 55 Regular" panose="00020600040101010101" pitchFamily="18" charset="-122"/>
              </a:rPr>
              <a:t>抽象了现实世界中事物之间的</a:t>
            </a:r>
            <a:r>
              <a:rPr lang="zh-CN" altLang="en-US" sz="2000" dirty="0">
                <a:solidFill>
                  <a:srgbClr val="FF0000"/>
                </a:solidFill>
                <a:latin typeface="HarmonyOS Sans SC Medium" panose="00000600000000000000" pitchFamily="2" charset="-122"/>
                <a:ea typeface="阿里巴巴普惠体 3.0 55 Regular" panose="00020600040101010101" pitchFamily="18" charset="-122"/>
              </a:rPr>
              <a:t>联系</a:t>
            </a:r>
            <a:r>
              <a:rPr lang="zh-CN" altLang="en-US" sz="2000" dirty="0">
                <a:solidFill>
                  <a:srgbClr val="0000FF"/>
                </a:solidFill>
                <a:latin typeface="HarmonyOS Sans SC Medium" panose="00000600000000000000" pitchFamily="2" charset="-122"/>
                <a:ea typeface="阿里巴巴普惠体 3.0 55 Regular" panose="00020600040101010101" pitchFamily="18" charset="-122"/>
              </a:rPr>
              <a:t>：</a:t>
            </a:r>
            <a:endParaRPr lang="en-US" altLang="zh-CN" sz="2000" dirty="0">
              <a:solidFill>
                <a:srgbClr val="0000FF"/>
              </a:solidFill>
              <a:latin typeface="HarmonyOS Sans SC Medium" panose="00000600000000000000" pitchFamily="2" charset="-122"/>
              <a:ea typeface="阿里巴巴普惠体 3.0 55 Regular" panose="00020600040101010101" pitchFamily="18" charset="-122"/>
            </a:endParaRPr>
          </a:p>
          <a:p>
            <a:pPr marL="622300" lvl="1" indent="-165100">
              <a:lnSpc>
                <a:spcPct val="120000"/>
              </a:lnSpc>
              <a:buSzTx/>
              <a:buFont typeface="Times New Roman" panose="02020603050405020304" pitchFamily="18" charset="0"/>
              <a:buChar char="■"/>
              <a:defRPr/>
            </a:pPr>
            <a:r>
              <a:rPr lang="zh-CN" altLang="en-US" sz="2000" dirty="0">
                <a:solidFill>
                  <a:srgbClr val="0000FF"/>
                </a:solidFill>
                <a:latin typeface="HarmonyOS Sans SC Medium" panose="00000600000000000000" pitchFamily="2" charset="-122"/>
                <a:ea typeface="阿里巴巴普惠体 3.0 55 Regular" panose="00020600040101010101" pitchFamily="18" charset="-122"/>
                <a:cs typeface="+mn-ea"/>
              </a:rPr>
              <a:t> </a:t>
            </a:r>
            <a:r>
              <a:rPr lang="zh-CN" altLang="en-US" dirty="0">
                <a:solidFill>
                  <a:srgbClr val="0000FF"/>
                </a:solidFill>
                <a:latin typeface="HarmonyOS Sans SC Medium" panose="00000600000000000000" pitchFamily="2" charset="-122"/>
                <a:ea typeface="阿里巴巴普惠体 3.0 55 Regular" panose="00020600040101010101" pitchFamily="18" charset="-122"/>
                <a:cs typeface="+mn-ea"/>
              </a:rPr>
              <a:t>一门课程可以有多名学生选修，一个学生可以选修多门课程</a:t>
            </a:r>
            <a:endParaRPr lang="en-US" altLang="zh-CN" dirty="0">
              <a:solidFill>
                <a:srgbClr val="0000FF"/>
              </a:solidFill>
              <a:latin typeface="HarmonyOS Sans SC Medium" panose="00000600000000000000" pitchFamily="2" charset="-122"/>
              <a:ea typeface="阿里巴巴普惠体 3.0 55 Regular" panose="00020600040101010101" pitchFamily="18" charset="-122"/>
              <a:cs typeface="+mn-ea"/>
            </a:endParaRPr>
          </a:p>
          <a:p>
            <a:pPr marL="622300" lvl="1" indent="-165100">
              <a:lnSpc>
                <a:spcPct val="120000"/>
              </a:lnSpc>
              <a:buSzTx/>
              <a:buFont typeface="Times New Roman" panose="02020603050405020304" pitchFamily="18" charset="0"/>
              <a:buChar char="■"/>
              <a:defRPr/>
            </a:pPr>
            <a:r>
              <a:rPr lang="zh-CN" altLang="en-US" dirty="0">
                <a:solidFill>
                  <a:srgbClr val="0000FF"/>
                </a:solidFill>
                <a:latin typeface="HarmonyOS Sans SC Medium" panose="00000600000000000000" pitchFamily="2" charset="-122"/>
                <a:ea typeface="阿里巴巴普惠体 3.0 55 Regular" panose="00020600040101010101" pitchFamily="18" charset="-122"/>
                <a:cs typeface="+mn-ea"/>
              </a:rPr>
              <a:t> 用课程实体与学生实体多对多</a:t>
            </a:r>
            <a:r>
              <a:rPr lang="en-US" altLang="zh-CN" dirty="0">
                <a:solidFill>
                  <a:srgbClr val="0000FF"/>
                </a:solidFill>
                <a:latin typeface="HarmonyOS Sans SC Medium" panose="00000600000000000000" pitchFamily="2" charset="-122"/>
                <a:ea typeface="阿里巴巴普惠体 3.0 55 Regular" panose="00020600040101010101" pitchFamily="18" charset="-122"/>
                <a:cs typeface="+mn-ea"/>
              </a:rPr>
              <a:t>(</a:t>
            </a:r>
            <a:r>
              <a:rPr lang="en-US" altLang="zh-CN" dirty="0" err="1">
                <a:solidFill>
                  <a:srgbClr val="0000FF"/>
                </a:solidFill>
                <a:latin typeface="HarmonyOS Sans SC Medium" panose="00000600000000000000" pitchFamily="2" charset="-122"/>
                <a:ea typeface="阿里巴巴普惠体 3.0 55 Regular" panose="00020600040101010101" pitchFamily="18" charset="-122"/>
                <a:cs typeface="+mn-ea"/>
              </a:rPr>
              <a:t>m:n</a:t>
            </a:r>
            <a:r>
              <a:rPr lang="en-US" altLang="zh-CN" dirty="0">
                <a:solidFill>
                  <a:srgbClr val="0000FF"/>
                </a:solidFill>
                <a:latin typeface="HarmonyOS Sans SC Medium" panose="00000600000000000000" pitchFamily="2" charset="-122"/>
                <a:ea typeface="阿里巴巴普惠体 3.0 55 Regular" panose="00020600040101010101" pitchFamily="18" charset="-122"/>
                <a:cs typeface="+mn-ea"/>
              </a:rPr>
              <a:t>)</a:t>
            </a:r>
            <a:r>
              <a:rPr lang="zh-CN" altLang="en-US" dirty="0">
                <a:solidFill>
                  <a:srgbClr val="0000FF"/>
                </a:solidFill>
                <a:latin typeface="HarmonyOS Sans SC Medium" panose="00000600000000000000" pitchFamily="2" charset="-122"/>
                <a:ea typeface="阿里巴巴普惠体 3.0 55 Regular" panose="00020600040101010101" pitchFamily="18" charset="-122"/>
                <a:cs typeface="+mn-ea"/>
              </a:rPr>
              <a:t>联系来描述</a:t>
            </a:r>
          </a:p>
        </p:txBody>
      </p:sp>
    </p:spTree>
    <p:extLst>
      <p:ext uri="{BB962C8B-B14F-4D97-AF65-F5344CB8AC3E}">
        <p14:creationId xmlns:p14="http://schemas.microsoft.com/office/powerpoint/2010/main" val="3223958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4.2.3Crow</a:t>
            </a:r>
            <a:r>
              <a:rPr lang="en-US" altLang="zh-CN">
                <a:latin typeface="Yu Gothic UI Semibold" panose="020B0700000000000000" pitchFamily="34" charset="-128"/>
                <a:ea typeface="Yu Gothic UI Semibold" panose="020B0700000000000000" pitchFamily="34" charset="-128"/>
              </a:rPr>
              <a:t>’s</a:t>
            </a:r>
            <a:r>
              <a:rPr lang="en-US" altLang="zh-CN"/>
              <a:t> Foot(</a:t>
            </a:r>
            <a:r>
              <a:rPr lang="zh-CN" altLang="en-US"/>
              <a:t>鱼尾纹</a:t>
            </a:r>
            <a:r>
              <a:rPr lang="en-US" altLang="zh-CN"/>
              <a:t>)</a:t>
            </a:r>
            <a:r>
              <a:rPr lang="zh-CN" altLang="en-US"/>
              <a:t>表示法</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9" name="Picture 6" descr="See the source image">
            <a:extLst>
              <a:ext uri="{FF2B5EF4-FFF2-40B4-BE49-F238E27FC236}">
                <a16:creationId xmlns:a16="http://schemas.microsoft.com/office/drawing/2014/main" id="{ADE38631-882D-402D-B0A9-CA288F60884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313" t="3608" r="5445" b="5670"/>
          <a:stretch/>
        </p:blipFill>
        <p:spPr bwMode="auto">
          <a:xfrm>
            <a:off x="824948" y="980798"/>
            <a:ext cx="4850296" cy="469667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See the source image">
            <a:extLst>
              <a:ext uri="{FF2B5EF4-FFF2-40B4-BE49-F238E27FC236}">
                <a16:creationId xmlns:a16="http://schemas.microsoft.com/office/drawing/2014/main" id="{BB59B455-A342-4CC2-8897-00190A133D2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5976130" y="984941"/>
            <a:ext cx="4728313" cy="4697808"/>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BFC0BABD-3AB7-4585-A3ED-D732F114FC62}"/>
              </a:ext>
            </a:extLst>
          </p:cNvPr>
          <p:cNvSpPr/>
          <p:nvPr/>
        </p:nvSpPr>
        <p:spPr>
          <a:xfrm>
            <a:off x="2609120" y="5865407"/>
            <a:ext cx="7532383" cy="400110"/>
          </a:xfrm>
          <a:prstGeom prst="rect">
            <a:avLst/>
          </a:prstGeom>
        </p:spPr>
        <p:txBody>
          <a:bodyPr wrap="none">
            <a:spAutoFit/>
          </a:bodyPr>
          <a:lstStyle/>
          <a:p>
            <a:r>
              <a:rPr lang="zh-CN" altLang="en-US" sz="2000" dirty="0">
                <a:solidFill>
                  <a:srgbClr val="0000FF"/>
                </a:solidFill>
                <a:latin typeface="微软雅黑" panose="020B0503020204020204" pitchFamily="34" charset="-122"/>
                <a:ea typeface="微软雅黑" panose="020B0503020204020204" pitchFamily="34" charset="-122"/>
                <a:hlinkClick r:id="rId5">
                  <a:extLst>
                    <a:ext uri="{A12FA001-AC4F-418D-AE19-62706E023703}">
                      <ahyp:hlinkClr xmlns:ahyp="http://schemas.microsoft.com/office/drawing/2018/hyperlinkcolor" val="tx"/>
                    </a:ext>
                  </a:extLst>
                </a:hlinkClick>
              </a:rPr>
              <a:t>https://www.conceptdraw.com/examples/crowfoot</a:t>
            </a:r>
            <a:r>
              <a:rPr lang="zh-CN" altLang="en-US" sz="2000">
                <a:solidFill>
                  <a:srgbClr val="0000FF"/>
                </a:solidFill>
                <a:latin typeface="微软雅黑" panose="020B0503020204020204" pitchFamily="34" charset="-122"/>
                <a:ea typeface="微软雅黑" panose="020B0503020204020204" pitchFamily="34" charset="-122"/>
                <a:hlinkClick r:id="rId5">
                  <a:extLst>
                    <a:ext uri="{A12FA001-AC4F-418D-AE19-62706E023703}">
                      <ahyp:hlinkClr xmlns:ahyp="http://schemas.microsoft.com/office/drawing/2018/hyperlinkcolor" val="tx"/>
                    </a:ext>
                  </a:extLst>
                </a:hlinkClick>
              </a:rPr>
              <a:t>-notation</a:t>
            </a:r>
            <a:endParaRPr lang="zh-CN" altLang="en-US" sz="2000" dirty="0">
              <a:solidFill>
                <a:srgbClr val="0000FF"/>
              </a:solidFill>
              <a:latin typeface="微软雅黑" panose="020B0503020204020204" pitchFamily="34" charset="-122"/>
              <a:ea typeface="微软雅黑" panose="020B0503020204020204" pitchFamily="34" charset="-122"/>
            </a:endParaRPr>
          </a:p>
        </p:txBody>
      </p:sp>
      <p:cxnSp>
        <p:nvCxnSpPr>
          <p:cNvPr id="12" name="直接箭头连接符 11">
            <a:extLst>
              <a:ext uri="{FF2B5EF4-FFF2-40B4-BE49-F238E27FC236}">
                <a16:creationId xmlns:a16="http://schemas.microsoft.com/office/drawing/2014/main" id="{089B8B7C-2E98-4380-93A8-109AE97B65DD}"/>
              </a:ext>
            </a:extLst>
          </p:cNvPr>
          <p:cNvCxnSpPr>
            <a:cxnSpLocks/>
          </p:cNvCxnSpPr>
          <p:nvPr/>
        </p:nvCxnSpPr>
        <p:spPr>
          <a:xfrm flipV="1">
            <a:off x="3399182" y="3066720"/>
            <a:ext cx="0" cy="600819"/>
          </a:xfrm>
          <a:prstGeom prst="straightConnector1">
            <a:avLst/>
          </a:prstGeom>
          <a:ln w="57150">
            <a:solidFill>
              <a:srgbClr val="FF0000"/>
            </a:solidFill>
            <a:prstDash val="sysDot"/>
            <a:tailEnd type="triangle"/>
          </a:ln>
          <a:effectLst/>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6F34D999-F856-499B-91E1-D33F33DDC111}"/>
              </a:ext>
            </a:extLst>
          </p:cNvPr>
          <p:cNvSpPr txBox="1"/>
          <p:nvPr/>
        </p:nvSpPr>
        <p:spPr>
          <a:xfrm>
            <a:off x="2652151" y="3672439"/>
            <a:ext cx="1810517" cy="1015663"/>
          </a:xfrm>
          <a:prstGeom prst="rect">
            <a:avLst/>
          </a:prstGeom>
          <a:noFill/>
        </p:spPr>
        <p:txBody>
          <a:bodyPr wrap="square" rtlCol="0">
            <a:spAutoFit/>
          </a:bodyPr>
          <a:lstStyle/>
          <a:p>
            <a:pPr marL="87313" indent="-87313">
              <a:buFont typeface="Arial" panose="020B0604020202020204" pitchFamily="34" charset="0"/>
              <a:buChar char="•"/>
            </a:pPr>
            <a:r>
              <a:rPr lang="en-US" altLang="zh-CN" sz="1200" dirty="0">
                <a:solidFill>
                  <a:srgbClr val="0000FF"/>
                </a:solidFill>
                <a:latin typeface="微软雅黑" panose="020B0503020204020204" pitchFamily="34" charset="-122"/>
                <a:ea typeface="微软雅黑" panose="020B0503020204020204" pitchFamily="34" charset="-122"/>
              </a:rPr>
              <a:t>Dashed line specifies that each instance of an entity may be related to another instance.</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080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课堂练习</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56092945-EE63-4DD1-A1A2-F8DDBBF6F93F}"/>
              </a:ext>
            </a:extLst>
          </p:cNvPr>
          <p:cNvSpPr>
            <a:spLocks noGrp="1"/>
          </p:cNvSpPr>
          <p:nvPr>
            <p:ph idx="1"/>
          </p:nvPr>
        </p:nvSpPr>
        <p:spPr/>
        <p:txBody>
          <a:bodyPr/>
          <a:lstStyle/>
          <a:p>
            <a:pPr marL="0" indent="0">
              <a:buNone/>
            </a:pPr>
            <a:r>
              <a:rPr lang="zh-CN" altLang="en-US" dirty="0"/>
              <a:t>在教务系统中有</a:t>
            </a:r>
            <a:r>
              <a:rPr lang="zh-CN" altLang="en-US" dirty="0">
                <a:solidFill>
                  <a:srgbClr val="FF0000"/>
                </a:solidFill>
              </a:rPr>
              <a:t>业务规则</a:t>
            </a:r>
            <a:r>
              <a:rPr lang="en-US" altLang="zh-CN" dirty="0">
                <a:solidFill>
                  <a:srgbClr val="FF0000"/>
                </a:solidFill>
              </a:rPr>
              <a:t>(business rule)</a:t>
            </a:r>
            <a:r>
              <a:rPr lang="zh-CN" altLang="en-US" dirty="0"/>
              <a:t>如下：</a:t>
            </a:r>
            <a:endParaRPr lang="en-US" altLang="zh-CN" dirty="0"/>
          </a:p>
          <a:p>
            <a:pPr marL="0" indent="0">
              <a:buNone/>
            </a:pPr>
            <a:endParaRPr lang="zh-CN" altLang="en-US" sz="600" dirty="0"/>
          </a:p>
          <a:p>
            <a:pPr lvl="1"/>
            <a:r>
              <a:rPr lang="zh-CN" altLang="en-US" dirty="0">
                <a:solidFill>
                  <a:srgbClr val="0000FF"/>
                </a:solidFill>
              </a:rPr>
              <a:t>每个学生都有一个座位，每个座位只能允许至多一个学生坐；</a:t>
            </a:r>
          </a:p>
          <a:p>
            <a:pPr lvl="1"/>
            <a:r>
              <a:rPr lang="zh-CN" altLang="en-US" dirty="0">
                <a:solidFill>
                  <a:srgbClr val="0000FF"/>
                </a:solidFill>
              </a:rPr>
              <a:t>每个老师可以教多门课程，也可以不教课，每门课只能由一个老师教；</a:t>
            </a:r>
          </a:p>
          <a:p>
            <a:pPr lvl="1"/>
            <a:r>
              <a:rPr lang="zh-CN" altLang="en-US" dirty="0">
                <a:solidFill>
                  <a:srgbClr val="0000FF"/>
                </a:solidFill>
              </a:rPr>
              <a:t>每个学生可以选修多门课，也可以不选任何课，一门课可以被多个学生选，也可以允许没有学生选。</a:t>
            </a:r>
            <a:endParaRPr lang="en-US" altLang="zh-CN" dirty="0">
              <a:solidFill>
                <a:srgbClr val="0000FF"/>
              </a:solidFill>
            </a:endParaRPr>
          </a:p>
          <a:p>
            <a:pPr lvl="1"/>
            <a:r>
              <a:rPr lang="zh-CN" altLang="en-US" dirty="0">
                <a:solidFill>
                  <a:srgbClr val="0000FF"/>
                </a:solidFill>
              </a:rPr>
              <a:t>学生，座位，教师和课程实体名分别为：</a:t>
            </a:r>
            <a:r>
              <a:rPr lang="en-US" altLang="zh-CN" dirty="0">
                <a:solidFill>
                  <a:srgbClr val="0000FF"/>
                </a:solidFill>
              </a:rPr>
              <a:t>student, seat, lecturer,</a:t>
            </a:r>
            <a:r>
              <a:rPr lang="zh-CN" altLang="en-US" dirty="0">
                <a:solidFill>
                  <a:srgbClr val="0000FF"/>
                </a:solidFill>
              </a:rPr>
              <a:t> </a:t>
            </a:r>
            <a:r>
              <a:rPr lang="en-US" altLang="zh-CN" dirty="0">
                <a:solidFill>
                  <a:srgbClr val="0000FF"/>
                </a:solidFill>
              </a:rPr>
              <a:t>course</a:t>
            </a:r>
          </a:p>
          <a:p>
            <a:pPr lvl="1"/>
            <a:endParaRPr lang="en-US" altLang="zh-CN" sz="800" dirty="0">
              <a:solidFill>
                <a:srgbClr val="0000FF"/>
              </a:solidFill>
            </a:endParaRPr>
          </a:p>
          <a:p>
            <a:pPr marL="0" indent="0">
              <a:buNone/>
            </a:pPr>
            <a:r>
              <a:rPr lang="zh-CN" altLang="en-US" dirty="0"/>
              <a:t>请根据以上语义分别使用陈氏记法和鱼尾纹记法画出该</a:t>
            </a:r>
            <a:r>
              <a:rPr lang="en-US" altLang="zh-CN" dirty="0"/>
              <a:t>E-R</a:t>
            </a:r>
            <a:r>
              <a:rPr lang="zh-CN" altLang="en-US" dirty="0"/>
              <a:t>图</a:t>
            </a:r>
          </a:p>
          <a:p>
            <a:endParaRPr lang="zh-CN" altLang="en-US" dirty="0"/>
          </a:p>
        </p:txBody>
      </p:sp>
    </p:spTree>
    <p:extLst>
      <p:ext uri="{BB962C8B-B14F-4D97-AF65-F5344CB8AC3E}">
        <p14:creationId xmlns:p14="http://schemas.microsoft.com/office/powerpoint/2010/main" val="3899281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参考答案</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8" name="内容占位符 7">
            <a:extLst>
              <a:ext uri="{FF2B5EF4-FFF2-40B4-BE49-F238E27FC236}">
                <a16:creationId xmlns:a16="http://schemas.microsoft.com/office/drawing/2014/main" id="{C07BEA7A-F1DB-4C49-852C-53138118BE15}"/>
              </a:ext>
            </a:extLst>
          </p:cNvPr>
          <p:cNvPicPr>
            <a:picLocks noChangeAspect="1"/>
          </p:cNvPicPr>
          <p:nvPr/>
        </p:nvPicPr>
        <p:blipFill>
          <a:blip r:embed="rId2"/>
          <a:stretch>
            <a:fillRect/>
          </a:stretch>
        </p:blipFill>
        <p:spPr>
          <a:xfrm>
            <a:off x="1513220" y="1525207"/>
            <a:ext cx="8682360" cy="999331"/>
          </a:xfrm>
          <a:prstGeom prst="rect">
            <a:avLst/>
          </a:prstGeom>
        </p:spPr>
      </p:pic>
      <p:sp>
        <p:nvSpPr>
          <p:cNvPr id="9" name="文本框 8">
            <a:extLst>
              <a:ext uri="{FF2B5EF4-FFF2-40B4-BE49-F238E27FC236}">
                <a16:creationId xmlns:a16="http://schemas.microsoft.com/office/drawing/2014/main" id="{A48B405A-117F-4CEA-81A5-DC598345D634}"/>
              </a:ext>
            </a:extLst>
          </p:cNvPr>
          <p:cNvSpPr txBox="1"/>
          <p:nvPr/>
        </p:nvSpPr>
        <p:spPr>
          <a:xfrm>
            <a:off x="3340162" y="2622741"/>
            <a:ext cx="4839063" cy="461665"/>
          </a:xfrm>
          <a:prstGeom prst="rect">
            <a:avLst/>
          </a:prstGeom>
          <a:noFill/>
        </p:spPr>
        <p:txBody>
          <a:bodyPr wrap="square" rtlCol="0">
            <a:spAutoFit/>
          </a:bodyPr>
          <a:lstStyle/>
          <a:p>
            <a:pPr algn="ctr"/>
            <a:r>
              <a:rPr lang="en-US" altLang="zh-CN" sz="2400" b="1" dirty="0">
                <a:solidFill>
                  <a:srgbClr val="FF0000"/>
                </a:solidFill>
                <a:latin typeface="微软雅黑" panose="020B0503020204020204" pitchFamily="34" charset="-122"/>
                <a:ea typeface="微软雅黑" panose="020B0503020204020204" pitchFamily="34" charset="-122"/>
              </a:rPr>
              <a:t>Fig 1</a:t>
            </a:r>
            <a:r>
              <a:rPr lang="en-US" altLang="zh-CN" sz="2400" b="1">
                <a:solidFill>
                  <a:srgbClr val="FF0000"/>
                </a:solidFill>
                <a:latin typeface="微软雅黑" panose="020B0503020204020204" pitchFamily="34" charset="-122"/>
                <a:ea typeface="微软雅黑" panose="020B0503020204020204" pitchFamily="34" charset="-122"/>
              </a:rPr>
              <a:t>. Chen′s  </a:t>
            </a:r>
            <a:r>
              <a:rPr lang="en-US" altLang="zh-CN" sz="2400" b="1" dirty="0">
                <a:solidFill>
                  <a:srgbClr val="FF0000"/>
                </a:solidFill>
                <a:latin typeface="微软雅黑" panose="020B0503020204020204" pitchFamily="34" charset="-122"/>
                <a:ea typeface="微软雅黑" panose="020B0503020204020204" pitchFamily="34" charset="-122"/>
              </a:rPr>
              <a:t>Notation</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98022F99-6CAD-4EF5-AD69-DC53A166C513}"/>
              </a:ext>
            </a:extLst>
          </p:cNvPr>
          <p:cNvSpPr txBox="1"/>
          <p:nvPr/>
        </p:nvSpPr>
        <p:spPr>
          <a:xfrm>
            <a:off x="3266750" y="4765072"/>
            <a:ext cx="5181599" cy="461665"/>
          </a:xfrm>
          <a:prstGeom prst="rect">
            <a:avLst/>
          </a:prstGeom>
          <a:noFill/>
        </p:spPr>
        <p:txBody>
          <a:bodyPr wrap="square" rtlCol="0">
            <a:spAutoFit/>
          </a:bodyPr>
          <a:lstStyle/>
          <a:p>
            <a:pPr algn="ctr"/>
            <a:r>
              <a:rPr lang="en-US" altLang="zh-CN" sz="2400" b="1" dirty="0">
                <a:solidFill>
                  <a:srgbClr val="FF0000"/>
                </a:solidFill>
                <a:latin typeface="微软雅黑" panose="020B0503020204020204" pitchFamily="34" charset="-122"/>
                <a:ea typeface="微软雅黑" panose="020B0503020204020204" pitchFamily="34" charset="-122"/>
              </a:rPr>
              <a:t>Fig 2</a:t>
            </a:r>
            <a:r>
              <a:rPr lang="en-US" altLang="zh-CN" sz="2400" b="1">
                <a:solidFill>
                  <a:srgbClr val="FF0000"/>
                </a:solidFill>
                <a:latin typeface="微软雅黑" panose="020B0503020204020204" pitchFamily="34" charset="-122"/>
                <a:ea typeface="微软雅黑" panose="020B0503020204020204" pitchFamily="34" charset="-122"/>
              </a:rPr>
              <a:t>. Crow′s </a:t>
            </a:r>
            <a:r>
              <a:rPr lang="en-US" altLang="zh-CN" sz="2400" b="1" dirty="0">
                <a:solidFill>
                  <a:srgbClr val="FF0000"/>
                </a:solidFill>
                <a:latin typeface="微软雅黑" panose="020B0503020204020204" pitchFamily="34" charset="-122"/>
                <a:ea typeface="微软雅黑" panose="020B0503020204020204" pitchFamily="34" charset="-122"/>
              </a:rPr>
              <a:t>Foot Notation</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9A288C78-158F-4D1C-B62E-D17238644FE3}"/>
              </a:ext>
            </a:extLst>
          </p:cNvPr>
          <p:cNvPicPr>
            <a:picLocks noChangeAspect="1"/>
          </p:cNvPicPr>
          <p:nvPr/>
        </p:nvPicPr>
        <p:blipFill rotWithShape="1">
          <a:blip r:embed="rId3"/>
          <a:srcRect t="10289" b="5132"/>
          <a:stretch/>
        </p:blipFill>
        <p:spPr>
          <a:xfrm>
            <a:off x="1437623" y="3737631"/>
            <a:ext cx="8845592" cy="956935"/>
          </a:xfrm>
          <a:prstGeom prst="rect">
            <a:avLst/>
          </a:prstGeom>
        </p:spPr>
      </p:pic>
    </p:spTree>
    <p:extLst>
      <p:ext uri="{BB962C8B-B14F-4D97-AF65-F5344CB8AC3E}">
        <p14:creationId xmlns:p14="http://schemas.microsoft.com/office/powerpoint/2010/main" val="2474501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常用</a:t>
            </a:r>
            <a:r>
              <a:rPr lang="en-US" altLang="zh-CN"/>
              <a:t>ERD</a:t>
            </a:r>
            <a:r>
              <a:rPr lang="zh-CN" altLang="en-US"/>
              <a:t>建模工具</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D362F5B5-5CC9-4EBC-B618-AE4EF66C0418}"/>
              </a:ext>
            </a:extLst>
          </p:cNvPr>
          <p:cNvSpPr>
            <a:spLocks noGrp="1"/>
          </p:cNvSpPr>
          <p:nvPr>
            <p:ph idx="1"/>
          </p:nvPr>
        </p:nvSpPr>
        <p:spPr/>
        <p:txBody>
          <a:bodyPr/>
          <a:lstStyle/>
          <a:p>
            <a:r>
              <a:rPr lang="zh-CN" altLang="en-US" dirty="0">
                <a:cs typeface="Times New Roman" pitchFamily="18" charset="0"/>
              </a:rPr>
              <a:t>手工</a:t>
            </a:r>
            <a:endParaRPr lang="en-US" altLang="zh-CN" dirty="0">
              <a:cs typeface="Times New Roman" pitchFamily="18" charset="0"/>
            </a:endParaRPr>
          </a:p>
          <a:p>
            <a:r>
              <a:rPr lang="zh-CN" altLang="en-US" dirty="0">
                <a:cs typeface="Times New Roman" pitchFamily="18" charset="0"/>
              </a:rPr>
              <a:t>数据建模工具</a:t>
            </a:r>
            <a:endParaRPr lang="en-US" altLang="zh-CN" dirty="0">
              <a:cs typeface="Times New Roman" pitchFamily="18" charset="0"/>
            </a:endParaRPr>
          </a:p>
          <a:p>
            <a:pPr lvl="1"/>
            <a:r>
              <a:rPr lang="en-US" altLang="zh-CN" dirty="0">
                <a:cs typeface="Times New Roman" pitchFamily="18" charset="0"/>
              </a:rPr>
              <a:t>SAP Sybase PowerDesigner</a:t>
            </a:r>
          </a:p>
          <a:p>
            <a:pPr lvl="1"/>
            <a:r>
              <a:rPr lang="en-US" altLang="zh-CN" dirty="0">
                <a:cs typeface="Times New Roman" pitchFamily="18" charset="0"/>
              </a:rPr>
              <a:t>Erwin</a:t>
            </a:r>
          </a:p>
          <a:p>
            <a:pPr lvl="1"/>
            <a:r>
              <a:rPr lang="en-US" altLang="zh-CN" dirty="0">
                <a:cs typeface="Times New Roman" pitchFamily="18" charset="0"/>
              </a:rPr>
              <a:t>Oracle SQL Developer Data Modeler</a:t>
            </a:r>
          </a:p>
          <a:p>
            <a:pPr lvl="1"/>
            <a:r>
              <a:rPr lang="en-US" altLang="zh-CN" dirty="0">
                <a:cs typeface="Times New Roman" pitchFamily="18" charset="0"/>
              </a:rPr>
              <a:t>Microsoft Visio</a:t>
            </a:r>
          </a:p>
          <a:p>
            <a:pPr lvl="1"/>
            <a:r>
              <a:rPr lang="zh-CN" altLang="en-US" dirty="0">
                <a:cs typeface="Times New Roman" pitchFamily="18" charset="0"/>
              </a:rPr>
              <a:t>国产开源免费数据建模工具</a:t>
            </a:r>
            <a:r>
              <a:rPr lang="en-US" altLang="zh-CN" dirty="0">
                <a:solidFill>
                  <a:srgbClr val="FF0000"/>
                </a:solidFill>
                <a:cs typeface="Times New Roman" pitchFamily="18" charset="0"/>
              </a:rPr>
              <a:t>PDManer</a:t>
            </a:r>
          </a:p>
          <a:p>
            <a:pPr lvl="2"/>
            <a:r>
              <a:rPr lang="en-US" altLang="zh-CN" dirty="0">
                <a:cs typeface="Times New Roman" pitchFamily="18" charset="0"/>
                <a:hlinkClick r:id="rId2"/>
              </a:rPr>
              <a:t>https://gitee.com/robergroup/pdmaner/releases</a:t>
            </a:r>
            <a:endParaRPr lang="en-US" altLang="zh-CN" dirty="0">
              <a:cs typeface="Times New Roman" pitchFamily="18" charset="0"/>
            </a:endParaRPr>
          </a:p>
          <a:p>
            <a:pPr lvl="1"/>
            <a:r>
              <a:rPr lang="en-US" altLang="zh-CN" dirty="0">
                <a:cs typeface="Times New Roman" pitchFamily="18" charset="0"/>
              </a:rPr>
              <a:t>…</a:t>
            </a:r>
          </a:p>
        </p:txBody>
      </p:sp>
      <p:pic>
        <p:nvPicPr>
          <p:cNvPr id="12" name="Picture 8" descr="https://img-blog.csdnimg.cn/1acc0dceb89c4fc78ef8e39669446672.png">
            <a:extLst>
              <a:ext uri="{FF2B5EF4-FFF2-40B4-BE49-F238E27FC236}">
                <a16:creationId xmlns:a16="http://schemas.microsoft.com/office/drawing/2014/main" id="{59FAB9FB-5243-4596-9230-6A8945FB6F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16" t="18425" r="16582" b="21447"/>
          <a:stretch/>
        </p:blipFill>
        <p:spPr bwMode="auto">
          <a:xfrm>
            <a:off x="4285893" y="1987420"/>
            <a:ext cx="1016968" cy="524292"/>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E7586A92-56DD-4ECA-8296-77D2F650847A}"/>
              </a:ext>
            </a:extLst>
          </p:cNvPr>
          <p:cNvPicPr>
            <a:picLocks noChangeAspect="1"/>
          </p:cNvPicPr>
          <p:nvPr/>
        </p:nvPicPr>
        <p:blipFill rotWithShape="1">
          <a:blip r:embed="rId4"/>
          <a:srcRect b="5614"/>
          <a:stretch/>
        </p:blipFill>
        <p:spPr>
          <a:xfrm>
            <a:off x="1940353" y="2565131"/>
            <a:ext cx="886824" cy="379432"/>
          </a:xfrm>
          <a:prstGeom prst="rect">
            <a:avLst/>
          </a:prstGeom>
        </p:spPr>
      </p:pic>
      <p:pic>
        <p:nvPicPr>
          <p:cNvPr id="14" name="图片 13">
            <a:extLst>
              <a:ext uri="{FF2B5EF4-FFF2-40B4-BE49-F238E27FC236}">
                <a16:creationId xmlns:a16="http://schemas.microsoft.com/office/drawing/2014/main" id="{019DE0DF-F306-4952-9F24-2C705F6A3469}"/>
              </a:ext>
            </a:extLst>
          </p:cNvPr>
          <p:cNvPicPr>
            <a:picLocks noChangeAspect="1"/>
          </p:cNvPicPr>
          <p:nvPr/>
        </p:nvPicPr>
        <p:blipFill>
          <a:blip r:embed="rId5"/>
          <a:stretch>
            <a:fillRect/>
          </a:stretch>
        </p:blipFill>
        <p:spPr>
          <a:xfrm>
            <a:off x="5326468" y="3508310"/>
            <a:ext cx="650382" cy="695909"/>
          </a:xfrm>
          <a:prstGeom prst="rect">
            <a:avLst/>
          </a:prstGeom>
        </p:spPr>
      </p:pic>
    </p:spTree>
    <p:extLst>
      <p:ext uri="{BB962C8B-B14F-4D97-AF65-F5344CB8AC3E}">
        <p14:creationId xmlns:p14="http://schemas.microsoft.com/office/powerpoint/2010/main" val="609319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4.3</a:t>
            </a:r>
            <a:r>
              <a:rPr lang="zh-CN" altLang="en-US"/>
              <a:t>数据模型三要素</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8" name="内容占位符 3">
            <a:extLst>
              <a:ext uri="{FF2B5EF4-FFF2-40B4-BE49-F238E27FC236}">
                <a16:creationId xmlns:a16="http://schemas.microsoft.com/office/drawing/2014/main" id="{3F76B6D3-E9E1-4469-AF79-FC5282EFF556}"/>
              </a:ext>
            </a:extLst>
          </p:cNvPr>
          <p:cNvSpPr>
            <a:spLocks noGrp="1"/>
          </p:cNvSpPr>
          <p:nvPr>
            <p:ph idx="1"/>
          </p:nvPr>
        </p:nvSpPr>
        <p:spPr>
          <a:xfrm>
            <a:off x="606425" y="911225"/>
            <a:ext cx="10842625" cy="5321300"/>
          </a:xfrm>
        </p:spPr>
        <p:txBody>
          <a:bodyPr/>
          <a:lstStyle/>
          <a:p>
            <a:r>
              <a:rPr lang="zh-CN" altLang="en-US" dirty="0">
                <a:solidFill>
                  <a:srgbClr val="FF0000"/>
                </a:solidFill>
              </a:rPr>
              <a:t>数据结构、数据操作、完整性约束</a:t>
            </a:r>
            <a:r>
              <a:rPr lang="zh-CN" altLang="en-US" dirty="0"/>
              <a:t>是数据模型的三要素</a:t>
            </a:r>
          </a:p>
        </p:txBody>
      </p:sp>
      <p:graphicFrame>
        <p:nvGraphicFramePr>
          <p:cNvPr id="10" name="表格 9">
            <a:extLst>
              <a:ext uri="{FF2B5EF4-FFF2-40B4-BE49-F238E27FC236}">
                <a16:creationId xmlns:a16="http://schemas.microsoft.com/office/drawing/2014/main" id="{C5E793F6-C8E4-4D3E-8AE7-BC90E4FE3303}"/>
              </a:ext>
            </a:extLst>
          </p:cNvPr>
          <p:cNvGraphicFramePr>
            <a:graphicFrameLocks noGrp="1"/>
          </p:cNvGraphicFramePr>
          <p:nvPr>
            <p:extLst>
              <p:ext uri="{D42A27DB-BD31-4B8C-83A1-F6EECF244321}">
                <p14:modId xmlns:p14="http://schemas.microsoft.com/office/powerpoint/2010/main" val="1643032518"/>
              </p:ext>
            </p:extLst>
          </p:nvPr>
        </p:nvGraphicFramePr>
        <p:xfrm>
          <a:off x="725556" y="1631465"/>
          <a:ext cx="10277061" cy="4163619"/>
        </p:xfrm>
        <a:graphic>
          <a:graphicData uri="http://schemas.openxmlformats.org/drawingml/2006/table">
            <a:tbl>
              <a:tblPr firstRow="1" bandRow="1">
                <a:tableStyleId>{5C22544A-7EE6-4342-B048-85BDC9FD1C3A}</a:tableStyleId>
              </a:tblPr>
              <a:tblGrid>
                <a:gridCol w="3425687">
                  <a:extLst>
                    <a:ext uri="{9D8B030D-6E8A-4147-A177-3AD203B41FA5}">
                      <a16:colId xmlns:a16="http://schemas.microsoft.com/office/drawing/2014/main" val="284534057"/>
                    </a:ext>
                  </a:extLst>
                </a:gridCol>
                <a:gridCol w="3425687">
                  <a:extLst>
                    <a:ext uri="{9D8B030D-6E8A-4147-A177-3AD203B41FA5}">
                      <a16:colId xmlns:a16="http://schemas.microsoft.com/office/drawing/2014/main" val="3459748344"/>
                    </a:ext>
                  </a:extLst>
                </a:gridCol>
                <a:gridCol w="3425687">
                  <a:extLst>
                    <a:ext uri="{9D8B030D-6E8A-4147-A177-3AD203B41FA5}">
                      <a16:colId xmlns:a16="http://schemas.microsoft.com/office/drawing/2014/main" val="34080823"/>
                    </a:ext>
                  </a:extLst>
                </a:gridCol>
              </a:tblGrid>
              <a:tr h="419156">
                <a:tc>
                  <a:txBody>
                    <a:bodyPr/>
                    <a:lstStyle/>
                    <a:p>
                      <a:pPr algn="ctr"/>
                      <a:r>
                        <a:rPr lang="zh-CN" altLang="en-US" sz="2000" b="0" baseline="0" dirty="0">
                          <a:latin typeface="HarmonyOS Sans SC Medium" panose="00000600000000000000" pitchFamily="2" charset="-122"/>
                          <a:ea typeface="阿里巴巴普惠体 3.0 55 Regular" panose="00020600040101010101" pitchFamily="18" charset="-122"/>
                        </a:rPr>
                        <a:t>数据结构</a:t>
                      </a:r>
                    </a:p>
                  </a:txBody>
                  <a:tcPr/>
                </a:tc>
                <a:tc>
                  <a:txBody>
                    <a:bodyPr/>
                    <a:lstStyle/>
                    <a:p>
                      <a:pPr algn="ctr"/>
                      <a:r>
                        <a:rPr lang="zh-CN" altLang="en-US" sz="2000" b="0" baseline="0">
                          <a:latin typeface="HarmonyOS Sans SC Medium" panose="00000600000000000000" pitchFamily="2" charset="-122"/>
                          <a:ea typeface="阿里巴巴普惠体 3.0 55 Regular" panose="00020600040101010101" pitchFamily="18" charset="-122"/>
                        </a:rPr>
                        <a:t>数据操纵</a:t>
                      </a:r>
                    </a:p>
                  </a:txBody>
                  <a:tcPr/>
                </a:tc>
                <a:tc>
                  <a:txBody>
                    <a:bodyPr/>
                    <a:lstStyle/>
                    <a:p>
                      <a:pPr algn="ctr"/>
                      <a:r>
                        <a:rPr lang="zh-CN" altLang="en-US" sz="2000" b="0" baseline="0">
                          <a:latin typeface="HarmonyOS Sans SC Medium" panose="00000600000000000000" pitchFamily="2" charset="-122"/>
                          <a:ea typeface="阿里巴巴普惠体 3.0 55 Regular" panose="00020600040101010101" pitchFamily="18" charset="-122"/>
                        </a:rPr>
                        <a:t>完整性约束</a:t>
                      </a:r>
                    </a:p>
                  </a:txBody>
                  <a:tcPr/>
                </a:tc>
                <a:extLst>
                  <a:ext uri="{0D108BD9-81ED-4DB2-BD59-A6C34878D82A}">
                    <a16:rowId xmlns:a16="http://schemas.microsoft.com/office/drawing/2014/main" val="64712893"/>
                  </a:ext>
                </a:extLst>
              </a:tr>
              <a:tr h="3744463">
                <a:tc>
                  <a:txBody>
                    <a:bodyPr/>
                    <a:lstStyle/>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描述数据库的组成对象以及对象之间的联系</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描述的内容</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与对象的类型、内容、性质有关</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与数据间联系有关的对象</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endParaRPr lang="en-US" altLang="zh-CN"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是刻画一个数据模型性质的最重要方面</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endParaRPr lang="en-US" altLang="zh-CN"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是对系统静态特性的描述</a:t>
                      </a:r>
                    </a:p>
                    <a:p>
                      <a:pPr marL="174625" indent="-174625">
                        <a:buFont typeface="Arial" panose="020B0604020202020204" pitchFamily="34" charset="0"/>
                        <a:buChar char="•"/>
                      </a:pPr>
                      <a:endParaRPr lang="zh-CN" altLang="en-US" b="0" baseline="0" dirty="0">
                        <a:latin typeface="HarmonyOS Sans SC Medium" panose="00000600000000000000" pitchFamily="2" charset="-122"/>
                        <a:ea typeface="阿里巴巴普惠体 3.0 55 Regular" panose="00020600040101010101" pitchFamily="18" charset="-122"/>
                      </a:endParaRPr>
                    </a:p>
                  </a:txBody>
                  <a:tcPr>
                    <a:solidFill>
                      <a:schemeClr val="bg1">
                        <a:lumMod val="95000"/>
                      </a:schemeClr>
                    </a:solidFill>
                  </a:tcPr>
                </a:tc>
                <a:tc>
                  <a:txBody>
                    <a:bodyPr/>
                    <a:lstStyle/>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是指对数据库中对象</a:t>
                      </a:r>
                      <a:r>
                        <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rPr>
                        <a:t>(</a:t>
                      </a: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型</a:t>
                      </a:r>
                      <a:r>
                        <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rPr>
                        <a:t>)</a:t>
                      </a: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的实例</a:t>
                      </a:r>
                      <a:r>
                        <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rPr>
                        <a:t>(</a:t>
                      </a: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值</a:t>
                      </a:r>
                      <a:r>
                        <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rPr>
                        <a:t>)</a:t>
                      </a: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允许执行的操作集合，包括操作及有关的操作规则。</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数据库主要操作</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查询</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更新</a:t>
                      </a:r>
                      <a:r>
                        <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rPr>
                        <a:t>(</a:t>
                      </a: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插入、删除、修改</a:t>
                      </a:r>
                      <a:r>
                        <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rPr>
                        <a:t>)</a:t>
                      </a:r>
                    </a:p>
                    <a:p>
                      <a:pPr marL="174625" indent="-174625">
                        <a:buFont typeface="Arial" panose="020B0604020202020204" pitchFamily="34" charset="0"/>
                        <a:buChar char="•"/>
                      </a:pPr>
                      <a:endParaRPr lang="en-US" altLang="zh-CN" sz="8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数据模型必须定义</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操作的确切含义</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操作符号</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操作规则</a:t>
                      </a:r>
                      <a:r>
                        <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rPr>
                        <a:t>(</a:t>
                      </a: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如优先级</a:t>
                      </a:r>
                      <a:r>
                        <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rPr>
                        <a:t>)</a:t>
                      </a: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实现操作的语言</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是对系统动态特性的描述</a:t>
                      </a:r>
                    </a:p>
                  </a:txBody>
                  <a:tcPr>
                    <a:solidFill>
                      <a:schemeClr val="bg1">
                        <a:lumMod val="95000"/>
                      </a:schemeClr>
                    </a:solidFill>
                  </a:tcPr>
                </a:tc>
                <a:tc>
                  <a:txBody>
                    <a:bodyPr/>
                    <a:lstStyle/>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是一组完整性规则</a:t>
                      </a:r>
                      <a:endParaRPr lang="en-US" altLang="zh-CN" sz="8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完整性规则</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是给定的数据模型中数据及其联系所具有的制约和依存规则</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用以</a:t>
                      </a:r>
                      <a:r>
                        <a:rPr lang="zh-CN" altLang="en-US" sz="1400" b="0" baseline="0" dirty="0">
                          <a:latin typeface="HarmonyOS Sans SC Medium" panose="00000600000000000000" pitchFamily="2" charset="-122"/>
                          <a:ea typeface="阿里巴巴普惠体 3.0 55 Regular" panose="00020600040101010101" pitchFamily="18" charset="-122"/>
                        </a:rPr>
                        <a:t>限定符合数据模型的数据库状态以及状态的变化，以保证数据的正确、有效和相容</a:t>
                      </a:r>
                      <a:endParaRPr lang="en-US" altLang="zh-CN" sz="8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数据模型应该反映和规定其必须遵守的基本和通用的完整性约束。</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数据模型都是逻辑上的</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物理模型</a:t>
                      </a:r>
                      <a:endParaRPr lang="en-US" altLang="zh-CN" sz="1600" b="0" baseline="0" dirty="0">
                        <a:solidFill>
                          <a:srgbClr val="FF0000"/>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数据模型以一定的组织方式存储在</a:t>
                      </a:r>
                      <a:r>
                        <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rPr>
                        <a:t>DBMS</a:t>
                      </a: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中，是数据模型在</a:t>
                      </a:r>
                      <a:r>
                        <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rPr>
                        <a:t>DBMS</a:t>
                      </a:r>
                      <a:r>
                        <a:rPr lang="zh-CN" altLang="en-US" sz="1400" b="0" baseline="0" dirty="0">
                          <a:solidFill>
                            <a:schemeClr val="tx1"/>
                          </a:solidFill>
                          <a:latin typeface="HarmonyOS Sans SC Medium" panose="00000600000000000000" pitchFamily="2" charset="-122"/>
                          <a:ea typeface="阿里巴巴普惠体 3.0 55 Regular" panose="00020600040101010101" pitchFamily="18" charset="-122"/>
                        </a:rPr>
                        <a:t>内部的物理存储结构</a:t>
                      </a:r>
                      <a:endParaRPr lang="en-US" altLang="zh-CN" sz="1400" b="0" baseline="0" dirty="0">
                        <a:solidFill>
                          <a:schemeClr val="tx1"/>
                        </a:solidFill>
                        <a:latin typeface="HarmonyOS Sans SC Medium" panose="00000600000000000000" pitchFamily="2" charset="-122"/>
                        <a:ea typeface="阿里巴巴普惠体 3.0 55 Regular" panose="00020600040101010101" pitchFamily="18" charset="-122"/>
                      </a:endParaRPr>
                    </a:p>
                    <a:p>
                      <a:pPr marL="360363" indent="-185738">
                        <a:buFont typeface="微软雅黑" panose="020B0503020204020204" pitchFamily="34" charset="-122"/>
                        <a:buChar char="−"/>
                      </a:pPr>
                      <a:r>
                        <a:rPr lang="zh-CN" altLang="en-US" sz="1600" b="0" baseline="0" dirty="0">
                          <a:solidFill>
                            <a:srgbClr val="FF0000"/>
                          </a:solidFill>
                          <a:latin typeface="HarmonyOS Sans SC Medium" panose="00000600000000000000" pitchFamily="2" charset="-122"/>
                          <a:ea typeface="阿里巴巴普惠体 3.0 55 Regular" panose="00020600040101010101" pitchFamily="18" charset="-122"/>
                        </a:rPr>
                        <a:t>即，存储和存取</a:t>
                      </a:r>
                    </a:p>
                  </a:txBody>
                  <a:tcPr>
                    <a:solidFill>
                      <a:schemeClr val="bg1">
                        <a:lumMod val="95000"/>
                      </a:schemeClr>
                    </a:solidFill>
                  </a:tcPr>
                </a:tc>
                <a:extLst>
                  <a:ext uri="{0D108BD9-81ED-4DB2-BD59-A6C34878D82A}">
                    <a16:rowId xmlns:a16="http://schemas.microsoft.com/office/drawing/2014/main" val="1559821843"/>
                  </a:ext>
                </a:extLst>
              </a:tr>
            </a:tbl>
          </a:graphicData>
        </a:graphic>
      </p:graphicFrame>
    </p:spTree>
    <p:extLst>
      <p:ext uri="{BB962C8B-B14F-4D97-AF65-F5344CB8AC3E}">
        <p14:creationId xmlns:p14="http://schemas.microsoft.com/office/powerpoint/2010/main" val="39482295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~(cont.)</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ECE93B7E-39DB-4745-8087-352512132852}"/>
              </a:ext>
            </a:extLst>
          </p:cNvPr>
          <p:cNvSpPr>
            <a:spLocks noGrp="1"/>
          </p:cNvSpPr>
          <p:nvPr>
            <p:ph idx="1"/>
          </p:nvPr>
        </p:nvSpPr>
        <p:spPr/>
        <p:txBody>
          <a:bodyPr/>
          <a:lstStyle/>
          <a:p>
            <a:r>
              <a:rPr lang="zh-CN" altLang="en-US" dirty="0">
                <a:solidFill>
                  <a:srgbClr val="C00000"/>
                </a:solidFill>
              </a:rPr>
              <a:t>四种数据模型的比较</a:t>
            </a:r>
          </a:p>
        </p:txBody>
      </p:sp>
      <p:sp>
        <p:nvSpPr>
          <p:cNvPr id="11" name="矩形 10">
            <a:extLst>
              <a:ext uri="{FF2B5EF4-FFF2-40B4-BE49-F238E27FC236}">
                <a16:creationId xmlns:a16="http://schemas.microsoft.com/office/drawing/2014/main" id="{C491901C-943C-49B3-9273-BC61FA6208C5}"/>
              </a:ext>
            </a:extLst>
          </p:cNvPr>
          <p:cNvSpPr/>
          <p:nvPr/>
        </p:nvSpPr>
        <p:spPr>
          <a:xfrm>
            <a:off x="924977" y="5147750"/>
            <a:ext cx="4833374" cy="400110"/>
          </a:xfrm>
          <a:prstGeom prst="rect">
            <a:avLst/>
          </a:prstGeom>
        </p:spPr>
        <p:txBody>
          <a:bodyPr wrap="none">
            <a:spAutoFit/>
          </a:bodyPr>
          <a:lstStyle/>
          <a:p>
            <a:pPr marL="179388" indent="-179388">
              <a:buFont typeface="Arial" panose="020B0604020202020204" pitchFamily="34" charset="0"/>
              <a:buChar char="•"/>
            </a:pPr>
            <a:r>
              <a:rPr lang="zh-CN" altLang="en-US" sz="2000" dirty="0">
                <a:solidFill>
                  <a:srgbClr val="FF0000"/>
                </a:solidFill>
                <a:latin typeface="微软雅黑" panose="020B0503020204020204" pitchFamily="34" charset="-122"/>
                <a:ea typeface="微软雅黑" panose="020B0503020204020204" pitchFamily="34" charset="-122"/>
              </a:rPr>
              <a:t>非关系数据模型请自行看书，课堂不讲</a:t>
            </a:r>
          </a:p>
        </p:txBody>
      </p:sp>
      <p:graphicFrame>
        <p:nvGraphicFramePr>
          <p:cNvPr id="3" name="表格 2">
            <a:extLst>
              <a:ext uri="{FF2B5EF4-FFF2-40B4-BE49-F238E27FC236}">
                <a16:creationId xmlns:a16="http://schemas.microsoft.com/office/drawing/2014/main" id="{8B91A75D-0C11-462E-B0E4-30F78894CE6E}"/>
              </a:ext>
            </a:extLst>
          </p:cNvPr>
          <p:cNvGraphicFramePr>
            <a:graphicFrameLocks noGrp="1"/>
          </p:cNvGraphicFramePr>
          <p:nvPr>
            <p:extLst>
              <p:ext uri="{D42A27DB-BD31-4B8C-83A1-F6EECF244321}">
                <p14:modId xmlns:p14="http://schemas.microsoft.com/office/powerpoint/2010/main" val="2345704352"/>
              </p:ext>
            </p:extLst>
          </p:nvPr>
        </p:nvGraphicFramePr>
        <p:xfrm>
          <a:off x="1033670" y="1733458"/>
          <a:ext cx="9789840" cy="3232852"/>
        </p:xfrm>
        <a:graphic>
          <a:graphicData uri="http://schemas.openxmlformats.org/drawingml/2006/table">
            <a:tbl>
              <a:tblPr firstRow="1" bandRow="1">
                <a:tableStyleId>{5940675A-B579-460E-94D1-54222C63F5DA}</a:tableStyleId>
              </a:tblPr>
              <a:tblGrid>
                <a:gridCol w="1088840">
                  <a:extLst>
                    <a:ext uri="{9D8B030D-6E8A-4147-A177-3AD203B41FA5}">
                      <a16:colId xmlns:a16="http://schemas.microsoft.com/office/drawing/2014/main" val="2042023695"/>
                    </a:ext>
                  </a:extLst>
                </a:gridCol>
                <a:gridCol w="1815396">
                  <a:extLst>
                    <a:ext uri="{9D8B030D-6E8A-4147-A177-3AD203B41FA5}">
                      <a16:colId xmlns:a16="http://schemas.microsoft.com/office/drawing/2014/main" val="636777219"/>
                    </a:ext>
                  </a:extLst>
                </a:gridCol>
                <a:gridCol w="2674086">
                  <a:extLst>
                    <a:ext uri="{9D8B030D-6E8A-4147-A177-3AD203B41FA5}">
                      <a16:colId xmlns:a16="http://schemas.microsoft.com/office/drawing/2014/main" val="13035214"/>
                    </a:ext>
                  </a:extLst>
                </a:gridCol>
                <a:gridCol w="2044353">
                  <a:extLst>
                    <a:ext uri="{9D8B030D-6E8A-4147-A177-3AD203B41FA5}">
                      <a16:colId xmlns:a16="http://schemas.microsoft.com/office/drawing/2014/main" val="2921822269"/>
                    </a:ext>
                  </a:extLst>
                </a:gridCol>
                <a:gridCol w="2167165">
                  <a:extLst>
                    <a:ext uri="{9D8B030D-6E8A-4147-A177-3AD203B41FA5}">
                      <a16:colId xmlns:a16="http://schemas.microsoft.com/office/drawing/2014/main" val="3567766474"/>
                    </a:ext>
                  </a:extLst>
                </a:gridCol>
              </a:tblGrid>
              <a:tr h="370840">
                <a:tc>
                  <a:txBody>
                    <a:bodyPr/>
                    <a:lstStyle/>
                    <a:p>
                      <a:pPr>
                        <a:lnSpc>
                          <a:spcPct val="150000"/>
                        </a:lnSpc>
                      </a:pPr>
                      <a:endParaRPr lang="zh-CN" altLang="en-US" b="0" baseline="0">
                        <a:latin typeface="HP Simplified Hans" panose="020B0500000000000000" pitchFamily="34" charset="-122"/>
                        <a:ea typeface="阿里巴巴普惠体 3.0 55 Regular" panose="00020600040101010101" pitchFamily="18" charset="-122"/>
                      </a:endParaRPr>
                    </a:p>
                  </a:txBody>
                  <a:tcPr>
                    <a:solidFill>
                      <a:schemeClr val="accent2">
                        <a:lumMod val="20000"/>
                        <a:lumOff val="80000"/>
                      </a:schemeClr>
                    </a:solidFill>
                  </a:tcPr>
                </a:tc>
                <a:tc>
                  <a:txBody>
                    <a:bodyPr/>
                    <a:lstStyle/>
                    <a:p>
                      <a:pPr>
                        <a:lnSpc>
                          <a:spcPct val="150000"/>
                        </a:lnSpc>
                      </a:pPr>
                      <a:r>
                        <a:rPr lang="zh-CN" altLang="en-US" b="0" baseline="0" dirty="0">
                          <a:solidFill>
                            <a:srgbClr val="FF0000"/>
                          </a:solidFill>
                          <a:latin typeface="HP Simplified Hans" panose="020B0500000000000000" pitchFamily="34" charset="-122"/>
                          <a:ea typeface="阿里巴巴普惠体 3.0 55 Regular" panose="00020600040101010101" pitchFamily="18" charset="-122"/>
                        </a:rPr>
                        <a:t>层次模型</a:t>
                      </a:r>
                    </a:p>
                  </a:txBody>
                  <a:tcPr>
                    <a:solidFill>
                      <a:schemeClr val="accent5">
                        <a:lumMod val="20000"/>
                        <a:lumOff val="80000"/>
                      </a:schemeClr>
                    </a:solidFill>
                  </a:tcPr>
                </a:tc>
                <a:tc>
                  <a:txBody>
                    <a:bodyPr/>
                    <a:lstStyle/>
                    <a:p>
                      <a:pPr>
                        <a:lnSpc>
                          <a:spcPct val="150000"/>
                        </a:lnSpc>
                      </a:pPr>
                      <a:r>
                        <a:rPr lang="zh-CN" altLang="en-US" b="0" baseline="0">
                          <a:solidFill>
                            <a:srgbClr val="FF0000"/>
                          </a:solidFill>
                          <a:latin typeface="HP Simplified Hans" panose="020B0500000000000000" pitchFamily="34" charset="-122"/>
                          <a:ea typeface="阿里巴巴普惠体 3.0 55 Regular" panose="00020600040101010101" pitchFamily="18" charset="-122"/>
                        </a:rPr>
                        <a:t>网状模型</a:t>
                      </a:r>
                    </a:p>
                  </a:txBody>
                  <a:tcPr>
                    <a:solidFill>
                      <a:schemeClr val="accent5">
                        <a:lumMod val="20000"/>
                        <a:lumOff val="80000"/>
                      </a:schemeClr>
                    </a:solidFill>
                  </a:tcPr>
                </a:tc>
                <a:tc>
                  <a:txBody>
                    <a:bodyPr/>
                    <a:lstStyle/>
                    <a:p>
                      <a:pPr>
                        <a:lnSpc>
                          <a:spcPct val="150000"/>
                        </a:lnSpc>
                      </a:pPr>
                      <a:r>
                        <a:rPr lang="zh-CN" altLang="en-US" b="0" baseline="0">
                          <a:solidFill>
                            <a:srgbClr val="FF0000"/>
                          </a:solidFill>
                          <a:latin typeface="HP Simplified Hans" panose="020B0500000000000000" pitchFamily="34" charset="-122"/>
                          <a:ea typeface="阿里巴巴普惠体 3.0 55 Regular" panose="00020600040101010101" pitchFamily="18" charset="-122"/>
                        </a:rPr>
                        <a:t>关系模型</a:t>
                      </a:r>
                    </a:p>
                  </a:txBody>
                  <a:tcPr>
                    <a:solidFill>
                      <a:schemeClr val="accent5">
                        <a:lumMod val="20000"/>
                        <a:lumOff val="80000"/>
                      </a:schemeClr>
                    </a:solidFill>
                  </a:tcPr>
                </a:tc>
                <a:tc>
                  <a:txBody>
                    <a:bodyPr/>
                    <a:lstStyle/>
                    <a:p>
                      <a:pPr>
                        <a:lnSpc>
                          <a:spcPct val="150000"/>
                        </a:lnSpc>
                      </a:pPr>
                      <a:r>
                        <a:rPr lang="zh-CN" altLang="en-US" b="0" baseline="0">
                          <a:solidFill>
                            <a:srgbClr val="FF0000"/>
                          </a:solidFill>
                          <a:latin typeface="HP Simplified Hans" panose="020B0500000000000000" pitchFamily="34" charset="-122"/>
                          <a:ea typeface="阿里巴巴普惠体 3.0 55 Regular" panose="00020600040101010101" pitchFamily="18" charset="-122"/>
                        </a:rPr>
                        <a:t>面向对象模型</a:t>
                      </a:r>
                    </a:p>
                  </a:txBody>
                  <a:tcPr>
                    <a:solidFill>
                      <a:schemeClr val="accent5">
                        <a:lumMod val="20000"/>
                        <a:lumOff val="80000"/>
                      </a:schemeClr>
                    </a:solidFill>
                  </a:tcPr>
                </a:tc>
                <a:extLst>
                  <a:ext uri="{0D108BD9-81ED-4DB2-BD59-A6C34878D82A}">
                    <a16:rowId xmlns:a16="http://schemas.microsoft.com/office/drawing/2014/main" val="205134123"/>
                  </a:ext>
                </a:extLst>
              </a:tr>
              <a:tr h="370840">
                <a:tc>
                  <a:txBody>
                    <a:bodyPr/>
                    <a:lstStyle/>
                    <a:p>
                      <a:pPr>
                        <a:lnSpc>
                          <a:spcPct val="150000"/>
                        </a:lnSpc>
                      </a:pPr>
                      <a:r>
                        <a:rPr lang="zh-CN" altLang="en-US" b="0" baseline="0">
                          <a:solidFill>
                            <a:srgbClr val="0000FF"/>
                          </a:solidFill>
                          <a:latin typeface="HP Simplified Hans" panose="020B0500000000000000" pitchFamily="34" charset="-122"/>
                          <a:ea typeface="阿里巴巴普惠体 3.0 55 Regular" panose="00020600040101010101" pitchFamily="18" charset="-122"/>
                        </a:rPr>
                        <a:t>创始</a:t>
                      </a:r>
                    </a:p>
                  </a:txBody>
                  <a:tcPr>
                    <a:solidFill>
                      <a:schemeClr val="accent2">
                        <a:lumMod val="20000"/>
                        <a:lumOff val="80000"/>
                      </a:schemeClr>
                    </a:solidFill>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1968 IBM  IMS</a:t>
                      </a:r>
                      <a:r>
                        <a:rPr lang="zh-CN" altLang="en-US" sz="1600" b="0" baseline="0">
                          <a:latin typeface="HP Simplified Hans" panose="020B0500000000000000" pitchFamily="34" charset="-122"/>
                          <a:ea typeface="阿里巴巴普惠体 3.0 55 Regular" panose="00020600040101010101" pitchFamily="18" charset="-122"/>
                        </a:rPr>
                        <a:t>系统</a:t>
                      </a:r>
                    </a:p>
                  </a:txBody>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1969 CODASYL DBTG</a:t>
                      </a:r>
                      <a:r>
                        <a:rPr lang="zh-CN" altLang="en-US" sz="1600" b="0" baseline="0">
                          <a:latin typeface="HP Simplified Hans" panose="020B0500000000000000" pitchFamily="34" charset="-122"/>
                          <a:ea typeface="阿里巴巴普惠体 3.0 55 Regular" panose="00020600040101010101" pitchFamily="18" charset="-122"/>
                        </a:rPr>
                        <a:t>报告</a:t>
                      </a:r>
                      <a:endParaRPr lang="en-US" altLang="zh-CN" sz="1600" b="0" baseline="0">
                        <a:latin typeface="HP Simplified Hans" panose="020B0500000000000000" pitchFamily="34" charset="-122"/>
                        <a:ea typeface="阿里巴巴普惠体 3.0 55 Regular" panose="00020600040101010101" pitchFamily="18" charset="-122"/>
                      </a:endParaRPr>
                    </a:p>
                  </a:txBody>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1970 E.F.Codd</a:t>
                      </a:r>
                      <a:r>
                        <a:rPr lang="zh-CN" altLang="en-US" sz="1600" b="0" baseline="0">
                          <a:latin typeface="HP Simplified Hans" panose="020B0500000000000000" pitchFamily="34" charset="-122"/>
                          <a:ea typeface="阿里巴巴普惠体 3.0 55 Regular" panose="00020600040101010101" pitchFamily="18" charset="-122"/>
                        </a:rPr>
                        <a:t>提出</a:t>
                      </a:r>
                    </a:p>
                  </a:txBody>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20</a:t>
                      </a:r>
                      <a:r>
                        <a:rPr lang="zh-CN" altLang="en-US" sz="1600" b="0" baseline="0">
                          <a:latin typeface="HP Simplified Hans" panose="020B0500000000000000" pitchFamily="34" charset="-122"/>
                          <a:ea typeface="阿里巴巴普惠体 3.0 55 Regular" panose="00020600040101010101" pitchFamily="18" charset="-122"/>
                        </a:rPr>
                        <a:t>世纪</a:t>
                      </a:r>
                      <a:r>
                        <a:rPr lang="en-US" altLang="zh-CN" sz="1600" b="0" baseline="0">
                          <a:latin typeface="HP Simplified Hans" panose="020B0500000000000000" pitchFamily="34" charset="-122"/>
                          <a:ea typeface="阿里巴巴普惠体 3.0 55 Regular" panose="00020600040101010101" pitchFamily="18" charset="-122"/>
                        </a:rPr>
                        <a:t>80</a:t>
                      </a:r>
                      <a:r>
                        <a:rPr lang="zh-CN" altLang="en-US" sz="1600" b="0" baseline="0">
                          <a:latin typeface="HP Simplified Hans" panose="020B0500000000000000" pitchFamily="34" charset="-122"/>
                          <a:ea typeface="阿里巴巴普惠体 3.0 55 Regular" panose="00020600040101010101" pitchFamily="18" charset="-122"/>
                        </a:rPr>
                        <a:t>年代</a:t>
                      </a:r>
                    </a:p>
                  </a:txBody>
                  <a:tcPr/>
                </a:tc>
                <a:extLst>
                  <a:ext uri="{0D108BD9-81ED-4DB2-BD59-A6C34878D82A}">
                    <a16:rowId xmlns:a16="http://schemas.microsoft.com/office/drawing/2014/main" val="4286859238"/>
                  </a:ext>
                </a:extLst>
              </a:tr>
              <a:tr h="370840">
                <a:tc>
                  <a:txBody>
                    <a:bodyPr/>
                    <a:lstStyle/>
                    <a:p>
                      <a:pPr>
                        <a:lnSpc>
                          <a:spcPct val="150000"/>
                        </a:lnSpc>
                      </a:pPr>
                      <a:r>
                        <a:rPr lang="zh-CN" altLang="en-US" b="0" baseline="0">
                          <a:solidFill>
                            <a:srgbClr val="0000FF"/>
                          </a:solidFill>
                          <a:latin typeface="HP Simplified Hans" panose="020B0500000000000000" pitchFamily="34" charset="-122"/>
                          <a:ea typeface="阿里巴巴普惠体 3.0 55 Regular" panose="00020600040101010101" pitchFamily="18" charset="-122"/>
                        </a:rPr>
                        <a:t>数据结构</a:t>
                      </a:r>
                    </a:p>
                  </a:txBody>
                  <a:tcPr>
                    <a:solidFill>
                      <a:schemeClr val="accent2">
                        <a:lumMod val="20000"/>
                        <a:lumOff val="80000"/>
                      </a:schemeClr>
                    </a:solidFill>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复杂（树结构）</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复杂（有向图结构）</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简单（二维表）</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复杂（嵌套，递归）</a:t>
                      </a:r>
                    </a:p>
                  </a:txBody>
                  <a:tcPr/>
                </a:tc>
                <a:extLst>
                  <a:ext uri="{0D108BD9-81ED-4DB2-BD59-A6C34878D82A}">
                    <a16:rowId xmlns:a16="http://schemas.microsoft.com/office/drawing/2014/main" val="1961889337"/>
                  </a:ext>
                </a:extLst>
              </a:tr>
              <a:tr h="370840">
                <a:tc>
                  <a:txBody>
                    <a:bodyPr/>
                    <a:lstStyle/>
                    <a:p>
                      <a:pPr>
                        <a:lnSpc>
                          <a:spcPct val="150000"/>
                        </a:lnSpc>
                      </a:pPr>
                      <a:r>
                        <a:rPr lang="zh-CN" altLang="en-US" b="0" baseline="0">
                          <a:solidFill>
                            <a:srgbClr val="0000FF"/>
                          </a:solidFill>
                          <a:latin typeface="HP Simplified Hans" panose="020B0500000000000000" pitchFamily="34" charset="-122"/>
                          <a:ea typeface="阿里巴巴普惠体 3.0 55 Regular" panose="00020600040101010101" pitchFamily="18" charset="-122"/>
                        </a:rPr>
                        <a:t>数据联系</a:t>
                      </a:r>
                    </a:p>
                  </a:txBody>
                  <a:tcPr>
                    <a:solidFill>
                      <a:schemeClr val="accent2">
                        <a:lumMod val="20000"/>
                        <a:lumOff val="80000"/>
                      </a:schemeClr>
                    </a:solidFill>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通过指针</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通过指针</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通过表间公共属性</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面向对象标识</a:t>
                      </a:r>
                    </a:p>
                  </a:txBody>
                  <a:tcPr/>
                </a:tc>
                <a:extLst>
                  <a:ext uri="{0D108BD9-81ED-4DB2-BD59-A6C34878D82A}">
                    <a16:rowId xmlns:a16="http://schemas.microsoft.com/office/drawing/2014/main" val="1160204589"/>
                  </a:ext>
                </a:extLst>
              </a:tr>
              <a:tr h="370840">
                <a:tc>
                  <a:txBody>
                    <a:bodyPr/>
                    <a:lstStyle/>
                    <a:p>
                      <a:pPr>
                        <a:lnSpc>
                          <a:spcPct val="150000"/>
                        </a:lnSpc>
                      </a:pPr>
                      <a:r>
                        <a:rPr lang="zh-CN" altLang="en-US" b="0" baseline="0">
                          <a:solidFill>
                            <a:srgbClr val="0000FF"/>
                          </a:solidFill>
                          <a:latin typeface="HP Simplified Hans" panose="020B0500000000000000" pitchFamily="34" charset="-122"/>
                          <a:ea typeface="阿里巴巴普惠体 3.0 55 Regular" panose="00020600040101010101" pitchFamily="18" charset="-122"/>
                        </a:rPr>
                        <a:t>查询语言</a:t>
                      </a:r>
                    </a:p>
                  </a:txBody>
                  <a:tcPr>
                    <a:solidFill>
                      <a:schemeClr val="accent2">
                        <a:lumMod val="20000"/>
                        <a:lumOff val="80000"/>
                      </a:schemeClr>
                    </a:solidFill>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过程性语言</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过程性语言</a:t>
                      </a:r>
                    </a:p>
                  </a:txBody>
                  <a:tcPr/>
                </a:tc>
                <a:tc>
                  <a:txBody>
                    <a:bodyPr/>
                    <a:lstStyle/>
                    <a:p>
                      <a:pPr>
                        <a:lnSpc>
                          <a:spcPct val="150000"/>
                        </a:lnSpc>
                      </a:pPr>
                      <a:r>
                        <a:rPr lang="zh-CN" altLang="en-US" sz="1600" b="0" baseline="0" dirty="0">
                          <a:solidFill>
                            <a:srgbClr val="FF0000"/>
                          </a:solidFill>
                          <a:latin typeface="HP Simplified Hans" panose="020B0500000000000000" pitchFamily="34" charset="-122"/>
                          <a:ea typeface="阿里巴巴普惠体 3.0 55 Regular" panose="00020600040101010101" pitchFamily="18" charset="-122"/>
                        </a:rPr>
                        <a:t>非过程性语言</a:t>
                      </a:r>
                    </a:p>
                  </a:txBody>
                  <a:tcPr/>
                </a:tc>
                <a:tc>
                  <a:txBody>
                    <a:bodyPr/>
                    <a:lstStyle/>
                    <a:p>
                      <a:pPr>
                        <a:lnSpc>
                          <a:spcPct val="150000"/>
                        </a:lnSpc>
                      </a:pPr>
                      <a:r>
                        <a:rPr lang="zh-CN" altLang="en-US" sz="1600" b="0" baseline="0">
                          <a:latin typeface="HP Simplified Hans" panose="020B0500000000000000" pitchFamily="34" charset="-122"/>
                          <a:ea typeface="阿里巴巴普惠体 3.0 55 Regular" panose="00020600040101010101" pitchFamily="18" charset="-122"/>
                        </a:rPr>
                        <a:t>面向对象语言</a:t>
                      </a:r>
                    </a:p>
                  </a:txBody>
                  <a:tcPr/>
                </a:tc>
                <a:extLst>
                  <a:ext uri="{0D108BD9-81ED-4DB2-BD59-A6C34878D82A}">
                    <a16:rowId xmlns:a16="http://schemas.microsoft.com/office/drawing/2014/main" val="1845536377"/>
                  </a:ext>
                </a:extLst>
              </a:tr>
              <a:tr h="370840">
                <a:tc>
                  <a:txBody>
                    <a:bodyPr/>
                    <a:lstStyle/>
                    <a:p>
                      <a:pPr>
                        <a:lnSpc>
                          <a:spcPct val="150000"/>
                        </a:lnSpc>
                      </a:pPr>
                      <a:r>
                        <a:rPr lang="zh-CN" altLang="en-US" b="0" baseline="0">
                          <a:solidFill>
                            <a:srgbClr val="0000FF"/>
                          </a:solidFill>
                          <a:latin typeface="HP Simplified Hans" panose="020B0500000000000000" pitchFamily="34" charset="-122"/>
                          <a:ea typeface="阿里巴巴普惠体 3.0 55 Regular" panose="00020600040101010101" pitchFamily="18" charset="-122"/>
                        </a:rPr>
                        <a:t>典型产品</a:t>
                      </a:r>
                    </a:p>
                  </a:txBody>
                  <a:tcPr>
                    <a:solidFill>
                      <a:schemeClr val="accent2">
                        <a:lumMod val="20000"/>
                        <a:lumOff val="80000"/>
                      </a:schemeClr>
                    </a:solidFill>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IMS</a:t>
                      </a:r>
                      <a:endParaRPr lang="zh-CN" altLang="en-US" sz="1600" b="0" baseline="0">
                        <a:latin typeface="HP Simplified Hans" panose="020B0500000000000000" pitchFamily="34" charset="-122"/>
                        <a:ea typeface="阿里巴巴普惠体 3.0 55 Regular" panose="00020600040101010101" pitchFamily="18" charset="-122"/>
                      </a:endParaRPr>
                    </a:p>
                  </a:txBody>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IDS/II, IMAGE/3000, IDMS</a:t>
                      </a:r>
                      <a:endParaRPr lang="zh-CN" altLang="en-US" sz="1600" b="0" baseline="0">
                        <a:latin typeface="HP Simplified Hans" panose="020B0500000000000000" pitchFamily="34" charset="-122"/>
                        <a:ea typeface="阿里巴巴普惠体 3.0 55 Regular" panose="00020600040101010101" pitchFamily="18" charset="-122"/>
                      </a:endParaRPr>
                    </a:p>
                  </a:txBody>
                  <a:tcPr/>
                </a:tc>
                <a:tc>
                  <a:txBody>
                    <a:bodyPr/>
                    <a:lstStyle/>
                    <a:p>
                      <a:pPr>
                        <a:lnSpc>
                          <a:spcPct val="150000"/>
                        </a:lnSpc>
                      </a:pPr>
                      <a:r>
                        <a:rPr lang="en-US" altLang="zh-CN" sz="1600" b="0" baseline="0" dirty="0">
                          <a:latin typeface="HP Simplified Hans" panose="020B0500000000000000" pitchFamily="34" charset="-122"/>
                          <a:ea typeface="阿里巴巴普惠体 3.0 55 Regular" panose="00020600040101010101" pitchFamily="18" charset="-122"/>
                        </a:rPr>
                        <a:t>Oracle, openGauss</a:t>
                      </a:r>
                      <a:endParaRPr lang="zh-CN" altLang="en-US" sz="1600" b="0" baseline="0" dirty="0">
                        <a:latin typeface="HP Simplified Hans" panose="020B0500000000000000" pitchFamily="34" charset="-122"/>
                        <a:ea typeface="阿里巴巴普惠体 3.0 55 Regular" panose="00020600040101010101" pitchFamily="18" charset="-122"/>
                      </a:endParaRPr>
                    </a:p>
                  </a:txBody>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ONTOS DB</a:t>
                      </a:r>
                      <a:endParaRPr lang="zh-CN" altLang="en-US" sz="1600" b="0" baseline="0">
                        <a:latin typeface="HP Simplified Hans" panose="020B0500000000000000" pitchFamily="34" charset="-122"/>
                        <a:ea typeface="阿里巴巴普惠体 3.0 55 Regular" panose="00020600040101010101" pitchFamily="18" charset="-122"/>
                      </a:endParaRPr>
                    </a:p>
                  </a:txBody>
                  <a:tcPr/>
                </a:tc>
                <a:extLst>
                  <a:ext uri="{0D108BD9-81ED-4DB2-BD59-A6C34878D82A}">
                    <a16:rowId xmlns:a16="http://schemas.microsoft.com/office/drawing/2014/main" val="843203907"/>
                  </a:ext>
                </a:extLst>
              </a:tr>
              <a:tr h="370840">
                <a:tc>
                  <a:txBody>
                    <a:bodyPr/>
                    <a:lstStyle/>
                    <a:p>
                      <a:pPr>
                        <a:lnSpc>
                          <a:spcPct val="150000"/>
                        </a:lnSpc>
                      </a:pPr>
                      <a:r>
                        <a:rPr lang="zh-CN" altLang="en-US" b="0" baseline="0">
                          <a:solidFill>
                            <a:srgbClr val="0000FF"/>
                          </a:solidFill>
                          <a:latin typeface="HP Simplified Hans" panose="020B0500000000000000" pitchFamily="34" charset="-122"/>
                          <a:ea typeface="阿里巴巴普惠体 3.0 55 Regular" panose="00020600040101010101" pitchFamily="18" charset="-122"/>
                        </a:rPr>
                        <a:t>盛行期</a:t>
                      </a:r>
                    </a:p>
                  </a:txBody>
                  <a:tcPr>
                    <a:solidFill>
                      <a:schemeClr val="accent2">
                        <a:lumMod val="20000"/>
                        <a:lumOff val="80000"/>
                      </a:schemeClr>
                    </a:solidFill>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20</a:t>
                      </a:r>
                      <a:r>
                        <a:rPr lang="zh-CN" altLang="en-US" sz="1600" b="0" baseline="0">
                          <a:latin typeface="HP Simplified Hans" panose="020B0500000000000000" pitchFamily="34" charset="-122"/>
                          <a:ea typeface="阿里巴巴普惠体 3.0 55 Regular" panose="00020600040101010101" pitchFamily="18" charset="-122"/>
                        </a:rPr>
                        <a:t>世纪</a:t>
                      </a:r>
                      <a:r>
                        <a:rPr lang="en-US" altLang="zh-CN" sz="1600" b="0" baseline="0">
                          <a:latin typeface="HP Simplified Hans" panose="020B0500000000000000" pitchFamily="34" charset="-122"/>
                          <a:ea typeface="阿里巴巴普惠体 3.0 55 Regular" panose="00020600040101010101" pitchFamily="18" charset="-122"/>
                        </a:rPr>
                        <a:t>70</a:t>
                      </a:r>
                      <a:r>
                        <a:rPr lang="zh-CN" altLang="en-US" sz="1600" b="0" baseline="0">
                          <a:latin typeface="HP Simplified Hans" panose="020B0500000000000000" pitchFamily="34" charset="-122"/>
                          <a:ea typeface="阿里巴巴普惠体 3.0 55 Regular" panose="00020600040101010101" pitchFamily="18" charset="-122"/>
                        </a:rPr>
                        <a:t>年代</a:t>
                      </a:r>
                      <a:endParaRPr lang="en-US" altLang="zh-CN" sz="1600" b="0" baseline="0">
                        <a:latin typeface="HP Simplified Hans" panose="020B0500000000000000" pitchFamily="34" charset="-122"/>
                        <a:ea typeface="阿里巴巴普惠体 3.0 55 Regular" panose="00020600040101010101" pitchFamily="18" charset="-122"/>
                      </a:endParaRPr>
                    </a:p>
                  </a:txBody>
                  <a:tcPr/>
                </a:tc>
                <a:tc>
                  <a:txBody>
                    <a:bodyPr/>
                    <a:lstStyle/>
                    <a:p>
                      <a:pPr>
                        <a:lnSpc>
                          <a:spcPct val="150000"/>
                        </a:lnSpc>
                      </a:pPr>
                      <a:r>
                        <a:rPr lang="en-US" altLang="zh-CN" sz="1600" b="0" baseline="0">
                          <a:latin typeface="HP Simplified Hans" panose="020B0500000000000000" pitchFamily="34" charset="-122"/>
                          <a:ea typeface="阿里巴巴普惠体 3.0 55 Regular" panose="00020600040101010101" pitchFamily="18" charset="-122"/>
                        </a:rPr>
                        <a:t>20</a:t>
                      </a:r>
                      <a:r>
                        <a:rPr lang="zh-CN" altLang="en-US" sz="1600" b="0" baseline="0">
                          <a:latin typeface="HP Simplified Hans" panose="020B0500000000000000" pitchFamily="34" charset="-122"/>
                          <a:ea typeface="阿里巴巴普惠体 3.0 55 Regular" panose="00020600040101010101" pitchFamily="18" charset="-122"/>
                        </a:rPr>
                        <a:t>世纪</a:t>
                      </a:r>
                      <a:r>
                        <a:rPr lang="en-US" altLang="zh-CN" sz="1600" b="0" baseline="0">
                          <a:latin typeface="HP Simplified Hans" panose="020B0500000000000000" pitchFamily="34" charset="-122"/>
                          <a:ea typeface="阿里巴巴普惠体 3.0 55 Regular" panose="00020600040101010101" pitchFamily="18" charset="-122"/>
                        </a:rPr>
                        <a:t>70</a:t>
                      </a:r>
                      <a:r>
                        <a:rPr lang="zh-CN" altLang="en-US" sz="1600" b="0" baseline="0">
                          <a:latin typeface="HP Simplified Hans" panose="020B0500000000000000" pitchFamily="34" charset="-122"/>
                          <a:ea typeface="阿里巴巴普惠体 3.0 55 Regular" panose="00020600040101010101" pitchFamily="18" charset="-122"/>
                        </a:rPr>
                        <a:t>年代到</a:t>
                      </a:r>
                      <a:r>
                        <a:rPr lang="en-US" altLang="zh-CN" sz="1600" b="0" baseline="0">
                          <a:latin typeface="HP Simplified Hans" panose="020B0500000000000000" pitchFamily="34" charset="-122"/>
                          <a:ea typeface="阿里巴巴普惠体 3.0 55 Regular" panose="00020600040101010101" pitchFamily="18" charset="-122"/>
                        </a:rPr>
                        <a:t>80</a:t>
                      </a:r>
                      <a:r>
                        <a:rPr lang="zh-CN" altLang="en-US" sz="1600" b="0" baseline="0">
                          <a:latin typeface="HP Simplified Hans" panose="020B0500000000000000" pitchFamily="34" charset="-122"/>
                          <a:ea typeface="阿里巴巴普惠体 3.0 55 Regular" panose="00020600040101010101" pitchFamily="18" charset="-122"/>
                        </a:rPr>
                        <a:t>年代中期</a:t>
                      </a: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600" b="0" baseline="0">
                          <a:latin typeface="HP Simplified Hans" panose="020B0500000000000000" pitchFamily="34" charset="-122"/>
                          <a:ea typeface="阿里巴巴普惠体 3.0 55 Regular" panose="00020600040101010101" pitchFamily="18" charset="-122"/>
                        </a:rPr>
                        <a:t>20</a:t>
                      </a:r>
                      <a:r>
                        <a:rPr lang="zh-CN" altLang="en-US" sz="1600" b="0" baseline="0">
                          <a:latin typeface="HP Simplified Hans" panose="020B0500000000000000" pitchFamily="34" charset="-122"/>
                          <a:ea typeface="阿里巴巴普惠体 3.0 55 Regular" panose="00020600040101010101" pitchFamily="18" charset="-122"/>
                        </a:rPr>
                        <a:t>世纪</a:t>
                      </a:r>
                      <a:r>
                        <a:rPr lang="en-US" altLang="zh-CN" sz="1600" b="0" baseline="0">
                          <a:latin typeface="HP Simplified Hans" panose="020B0500000000000000" pitchFamily="34" charset="-122"/>
                          <a:ea typeface="阿里巴巴普惠体 3.0 55 Regular" panose="00020600040101010101" pitchFamily="18" charset="-122"/>
                        </a:rPr>
                        <a:t>80</a:t>
                      </a:r>
                      <a:r>
                        <a:rPr lang="zh-CN" altLang="en-US" sz="1600" b="0" baseline="0">
                          <a:latin typeface="HP Simplified Hans" panose="020B0500000000000000" pitchFamily="34" charset="-122"/>
                          <a:ea typeface="阿里巴巴普惠体 3.0 55 Regular" panose="00020600040101010101" pitchFamily="18" charset="-122"/>
                        </a:rPr>
                        <a:t>年代到现在</a:t>
                      </a:r>
                      <a:endParaRPr lang="en-US" altLang="zh-CN" sz="1600" b="0" baseline="0">
                        <a:latin typeface="HP Simplified Hans" panose="020B0500000000000000" pitchFamily="34" charset="-122"/>
                        <a:ea typeface="阿里巴巴普惠体 3.0 55 Regular" panose="00020600040101010101" pitchFamily="18" charset="-122"/>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600" b="0" baseline="0" dirty="0">
                          <a:latin typeface="HP Simplified Hans" panose="020B0500000000000000" pitchFamily="34" charset="-122"/>
                          <a:ea typeface="阿里巴巴普惠体 3.0 55 Regular" panose="00020600040101010101" pitchFamily="18" charset="-122"/>
                        </a:rPr>
                        <a:t>20</a:t>
                      </a:r>
                      <a:r>
                        <a:rPr lang="zh-CN" altLang="en-US" sz="1600" b="0" baseline="0" dirty="0">
                          <a:latin typeface="HP Simplified Hans" panose="020B0500000000000000" pitchFamily="34" charset="-122"/>
                          <a:ea typeface="阿里巴巴普惠体 3.0 55 Regular" panose="00020600040101010101" pitchFamily="18" charset="-122"/>
                        </a:rPr>
                        <a:t>世纪</a:t>
                      </a:r>
                      <a:r>
                        <a:rPr lang="en-US" altLang="zh-CN" sz="1600" b="0" baseline="0" dirty="0">
                          <a:latin typeface="HP Simplified Hans" panose="020B0500000000000000" pitchFamily="34" charset="-122"/>
                          <a:ea typeface="阿里巴巴普惠体 3.0 55 Regular" panose="00020600040101010101" pitchFamily="18" charset="-122"/>
                        </a:rPr>
                        <a:t>90</a:t>
                      </a:r>
                      <a:r>
                        <a:rPr lang="zh-CN" altLang="en-US" sz="1600" b="0" baseline="0" dirty="0">
                          <a:latin typeface="HP Simplified Hans" panose="020B0500000000000000" pitchFamily="34" charset="-122"/>
                          <a:ea typeface="阿里巴巴普惠体 3.0 55 Regular" panose="00020600040101010101" pitchFamily="18" charset="-122"/>
                        </a:rPr>
                        <a:t>年代初</a:t>
                      </a:r>
                      <a:endParaRPr lang="en-US" altLang="zh-CN" sz="1600" b="0" baseline="0" dirty="0">
                        <a:latin typeface="HP Simplified Hans" panose="020B0500000000000000" pitchFamily="34" charset="-122"/>
                        <a:ea typeface="阿里巴巴普惠体 3.0 55 Regular" panose="00020600040101010101" pitchFamily="18" charset="-122"/>
                      </a:endParaRPr>
                    </a:p>
                  </a:txBody>
                  <a:tcPr/>
                </a:tc>
                <a:extLst>
                  <a:ext uri="{0D108BD9-81ED-4DB2-BD59-A6C34878D82A}">
                    <a16:rowId xmlns:a16="http://schemas.microsoft.com/office/drawing/2014/main" val="463041210"/>
                  </a:ext>
                </a:extLst>
              </a:tr>
            </a:tbl>
          </a:graphicData>
        </a:graphic>
      </p:graphicFrame>
    </p:spTree>
    <p:extLst>
      <p:ext uri="{BB962C8B-B14F-4D97-AF65-F5344CB8AC3E}">
        <p14:creationId xmlns:p14="http://schemas.microsoft.com/office/powerpoint/2010/main" val="1984389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4.3.1</a:t>
            </a:r>
            <a:r>
              <a:rPr lang="zh-CN" altLang="en-US"/>
              <a:t>关系模型</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6B525C94-1DA3-45A3-9CC9-2298A1686A18}"/>
              </a:ext>
            </a:extLst>
          </p:cNvPr>
          <p:cNvSpPr>
            <a:spLocks noGrp="1"/>
          </p:cNvSpPr>
          <p:nvPr>
            <p:ph idx="1"/>
          </p:nvPr>
        </p:nvSpPr>
        <p:spPr/>
        <p:txBody>
          <a:bodyPr/>
          <a:lstStyle/>
          <a:p>
            <a:pPr>
              <a:lnSpc>
                <a:spcPct val="150000"/>
              </a:lnSpc>
            </a:pPr>
            <a:r>
              <a:rPr lang="zh-CN" altLang="en-US" dirty="0"/>
              <a:t>关系模型是关系数据模型的简称</a:t>
            </a:r>
            <a:endParaRPr lang="en-US" altLang="zh-CN" dirty="0"/>
          </a:p>
          <a:p>
            <a:pPr>
              <a:lnSpc>
                <a:spcPct val="150000"/>
              </a:lnSpc>
            </a:pPr>
            <a:r>
              <a:rPr lang="zh-CN" altLang="en-US" dirty="0"/>
              <a:t>关系模型是最重要的一种数据模型</a:t>
            </a:r>
            <a:endParaRPr lang="en-US" altLang="zh-CN" dirty="0"/>
          </a:p>
          <a:p>
            <a:pPr>
              <a:lnSpc>
                <a:spcPct val="150000"/>
              </a:lnSpc>
            </a:pPr>
            <a:r>
              <a:rPr lang="zh-CN" altLang="en-US" dirty="0"/>
              <a:t>关系数据库系统采用关系模型作为数据的组织方式 </a:t>
            </a:r>
          </a:p>
          <a:p>
            <a:pPr>
              <a:lnSpc>
                <a:spcPct val="150000"/>
              </a:lnSpc>
            </a:pPr>
            <a:r>
              <a:rPr lang="zh-CN" altLang="en-US" dirty="0"/>
              <a:t>由</a:t>
            </a:r>
            <a:r>
              <a:rPr lang="en-US" altLang="zh-CN" dirty="0"/>
              <a:t>IBM San Jose</a:t>
            </a:r>
            <a:r>
              <a:rPr lang="zh-CN" altLang="en-US" dirty="0"/>
              <a:t>的</a:t>
            </a:r>
            <a:r>
              <a:rPr lang="en-US" altLang="zh-CN" dirty="0">
                <a:solidFill>
                  <a:srgbClr val="FF0000"/>
                </a:solidFill>
              </a:rPr>
              <a:t>Edgar.F.Codd</a:t>
            </a:r>
            <a:r>
              <a:rPr lang="zh-CN" altLang="en-US" dirty="0"/>
              <a:t>于</a:t>
            </a:r>
            <a:r>
              <a:rPr lang="en-US" altLang="zh-CN" dirty="0">
                <a:solidFill>
                  <a:srgbClr val="FF0000"/>
                </a:solidFill>
              </a:rPr>
              <a:t>1970</a:t>
            </a:r>
            <a:r>
              <a:rPr lang="zh-CN" altLang="en-US" dirty="0">
                <a:solidFill>
                  <a:srgbClr val="FF0000"/>
                </a:solidFill>
              </a:rPr>
              <a:t>年</a:t>
            </a:r>
            <a:r>
              <a:rPr lang="zh-CN" altLang="en-US" dirty="0"/>
              <a:t>首次提出</a:t>
            </a:r>
            <a:endParaRPr lang="en-US" altLang="zh-CN" dirty="0"/>
          </a:p>
          <a:p>
            <a:pPr lvl="1">
              <a:lnSpc>
                <a:spcPct val="150000"/>
              </a:lnSpc>
            </a:pPr>
            <a:r>
              <a:rPr lang="en-US" altLang="zh-CN" dirty="0"/>
              <a:t>Codd</a:t>
            </a:r>
            <a:r>
              <a:rPr lang="zh-CN" altLang="en-US" dirty="0"/>
              <a:t>也因此项杰出工作获得</a:t>
            </a:r>
            <a:r>
              <a:rPr lang="en-US" altLang="zh-CN" dirty="0"/>
              <a:t>1981</a:t>
            </a:r>
            <a:r>
              <a:rPr lang="zh-CN" altLang="en-US" dirty="0"/>
              <a:t>年的图灵奖</a:t>
            </a:r>
            <a:endParaRPr lang="en-US" altLang="zh-CN" dirty="0"/>
          </a:p>
          <a:p>
            <a:pPr>
              <a:lnSpc>
                <a:spcPct val="150000"/>
              </a:lnSpc>
            </a:pPr>
            <a:r>
              <a:rPr lang="en-US" altLang="zh-CN" dirty="0"/>
              <a:t>1980</a:t>
            </a:r>
            <a:r>
              <a:rPr lang="zh-CN" altLang="en-US" dirty="0"/>
              <a:t>年代以来，计算机厂商新推出的数据库管理系统几乎都支持关系模型</a:t>
            </a:r>
          </a:p>
        </p:txBody>
      </p:sp>
    </p:spTree>
    <p:extLst>
      <p:ext uri="{BB962C8B-B14F-4D97-AF65-F5344CB8AC3E}">
        <p14:creationId xmlns:p14="http://schemas.microsoft.com/office/powerpoint/2010/main" val="384488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关系模型之数据结构</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pic>
        <p:nvPicPr>
          <p:cNvPr id="8" name="内容占位符 7">
            <a:extLst>
              <a:ext uri="{FF2B5EF4-FFF2-40B4-BE49-F238E27FC236}">
                <a16:creationId xmlns:a16="http://schemas.microsoft.com/office/drawing/2014/main" id="{66118963-EE6D-4D78-A48A-4AC99E2F09CF}"/>
              </a:ext>
            </a:extLst>
          </p:cNvPr>
          <p:cNvPicPr>
            <a:picLocks noGrp="1" noChangeAspect="1"/>
          </p:cNvPicPr>
          <p:nvPr>
            <p:ph idx="1"/>
          </p:nvPr>
        </p:nvPicPr>
        <p:blipFill rotWithShape="1">
          <a:blip r:embed="rId2"/>
          <a:srcRect t="1723"/>
          <a:stretch/>
        </p:blipFill>
        <p:spPr>
          <a:xfrm>
            <a:off x="477354" y="1486001"/>
            <a:ext cx="5833627" cy="3011557"/>
          </a:xfrm>
          <a:prstGeom prst="rect">
            <a:avLst/>
          </a:prstGeom>
        </p:spPr>
      </p:pic>
      <p:sp>
        <p:nvSpPr>
          <p:cNvPr id="9" name="Text Box 1224">
            <a:extLst>
              <a:ext uri="{FF2B5EF4-FFF2-40B4-BE49-F238E27FC236}">
                <a16:creationId xmlns:a16="http://schemas.microsoft.com/office/drawing/2014/main" id="{E36F26A9-F683-4A80-9A77-8FF7E3C8BE8C}"/>
              </a:ext>
            </a:extLst>
          </p:cNvPr>
          <p:cNvSpPr txBox="1"/>
          <p:nvPr/>
        </p:nvSpPr>
        <p:spPr>
          <a:xfrm>
            <a:off x="1649494" y="944619"/>
            <a:ext cx="2935931" cy="461665"/>
          </a:xfrm>
          <a:prstGeom prst="rect">
            <a:avLst/>
          </a:prstGeom>
          <a:noFill/>
          <a:ln w="25400">
            <a:noFill/>
          </a:ln>
        </p:spPr>
        <p:txBody>
          <a:bodyPr wrap="square" anchor="t" anchorCtr="0">
            <a:spAutoFit/>
          </a:bodyPr>
          <a:lstStyle/>
          <a:p>
            <a:pPr marL="342900" indent="-342900">
              <a:buFont typeface="Arial" panose="020B0604020202020204" pitchFamily="34" charset="0"/>
            </a:pPr>
            <a:r>
              <a:rPr lang="zh-CN" altLang="en-US" sz="2400" b="1">
                <a:solidFill>
                  <a:srgbClr val="0000CC"/>
                </a:solidFill>
                <a:highlight>
                  <a:srgbClr val="FFFF00"/>
                </a:highlight>
                <a:latin typeface="微软雅黑" panose="020B0503020204020204" pitchFamily="34" charset="-122"/>
                <a:ea typeface="微软雅黑" panose="020B0503020204020204" pitchFamily="34" charset="-122"/>
              </a:rPr>
              <a:t>学生登记表数据结构</a:t>
            </a:r>
            <a:endParaRPr lang="zh-CN" altLang="en-US" sz="2400" b="1" dirty="0">
              <a:solidFill>
                <a:srgbClr val="0000CC"/>
              </a:solidFill>
              <a:highlight>
                <a:srgbClr val="FFFF00"/>
              </a:highlight>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F76F2A17-43F2-4002-B8EB-8687D4D3DE7E}"/>
              </a:ext>
            </a:extLst>
          </p:cNvPr>
          <p:cNvSpPr txBox="1"/>
          <p:nvPr/>
        </p:nvSpPr>
        <p:spPr>
          <a:xfrm>
            <a:off x="6484786" y="944619"/>
            <a:ext cx="4975032" cy="4760919"/>
          </a:xfrm>
          <a:prstGeom prst="rect">
            <a:avLst/>
          </a:prstGeom>
          <a:solidFill>
            <a:schemeClr val="accent3">
              <a:lumMod val="20000"/>
              <a:lumOff val="80000"/>
            </a:schemeClr>
          </a:solidFill>
          <a:ln>
            <a:solidFill>
              <a:schemeClr val="accent1"/>
            </a:solidFill>
          </a:ln>
        </p:spPr>
        <p:txBody>
          <a:bodyPr wrap="square" rtlCol="0">
            <a:spAutoFit/>
          </a:bodyPr>
          <a:lstStyle/>
          <a:p>
            <a:pPr marL="174625"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关系</a:t>
            </a:r>
            <a:r>
              <a:rPr lang="en-US" altLang="zh-CN" sz="1600" dirty="0">
                <a:solidFill>
                  <a:srgbClr val="FF0000"/>
                </a:solidFill>
                <a:latin typeface="HP Simplified Hans" panose="020B0500000000000000" pitchFamily="34" charset="-122"/>
                <a:ea typeface="阿里巴巴普惠体 3.0 55 Regular" panose="00020600040101010101" pitchFamily="18" charset="-122"/>
              </a:rPr>
              <a:t>(relation)</a:t>
            </a:r>
          </a:p>
          <a:p>
            <a:pPr marL="360363"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一个关系对应一张二维表</a:t>
            </a:r>
            <a:endParaRPr lang="en-US" altLang="zh-CN" sz="14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元组</a:t>
            </a:r>
            <a:r>
              <a:rPr lang="en-US" altLang="zh-CN" sz="1600" dirty="0">
                <a:solidFill>
                  <a:srgbClr val="FF0000"/>
                </a:solidFill>
                <a:latin typeface="HP Simplified Hans" panose="020B0500000000000000" pitchFamily="34" charset="-122"/>
                <a:ea typeface="阿里巴巴普惠体 3.0 55 Regular" panose="00020600040101010101" pitchFamily="18" charset="-122"/>
              </a:rPr>
              <a:t>(tuple)</a:t>
            </a:r>
          </a:p>
          <a:p>
            <a:pPr marL="360363"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表中的一行即为一个元组</a:t>
            </a:r>
            <a:endParaRPr lang="en-US" altLang="zh-CN" sz="14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属性</a:t>
            </a:r>
            <a:r>
              <a:rPr lang="en-US" altLang="zh-CN" sz="1600" dirty="0">
                <a:solidFill>
                  <a:srgbClr val="FF0000"/>
                </a:solidFill>
                <a:latin typeface="HP Simplified Hans" panose="020B0500000000000000" pitchFamily="34" charset="-122"/>
                <a:ea typeface="阿里巴巴普惠体 3.0 55 Regular" panose="00020600040101010101" pitchFamily="18" charset="-122"/>
              </a:rPr>
              <a:t>(attribute)</a:t>
            </a:r>
          </a:p>
          <a:p>
            <a:pPr marL="360363"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表中的一列即为一个属性，每列的名称即为属性名</a:t>
            </a:r>
            <a:endParaRPr lang="en-US" altLang="zh-CN" dirty="0">
              <a:solidFill>
                <a:srgbClr val="0000FF"/>
              </a:solidFill>
              <a:latin typeface="HP Simplified Hans" panose="020B0500000000000000" pitchFamily="34" charset="-122"/>
              <a:ea typeface="阿里巴巴普惠体 3.0 55 Regular" panose="00020600040101010101" pitchFamily="18" charset="-122"/>
            </a:endParaRPr>
          </a:p>
          <a:p>
            <a:pPr marL="174625" lvl="0"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码</a:t>
            </a:r>
            <a:r>
              <a:rPr lang="en-US" altLang="zh-CN" sz="1600" dirty="0">
                <a:solidFill>
                  <a:srgbClr val="FF0000"/>
                </a:solidFill>
                <a:latin typeface="HP Simplified Hans" panose="020B0500000000000000" pitchFamily="34" charset="-122"/>
                <a:ea typeface="阿里巴巴普惠体 3.0 55 Regular" panose="00020600040101010101" pitchFamily="18" charset="-122"/>
              </a:rPr>
              <a:t>(key)</a:t>
            </a:r>
          </a:p>
          <a:p>
            <a:pPr marL="360363" lvl="0"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又称码或键。表中的某一个属性或一组属性，它的值可以唯一确定一个元组</a:t>
            </a:r>
            <a:endParaRPr lang="en-US" altLang="zh-CN" dirty="0">
              <a:solidFill>
                <a:srgbClr val="0000FF"/>
              </a:solidFill>
              <a:latin typeface="HP Simplified Hans" panose="020B0500000000000000" pitchFamily="34" charset="-122"/>
              <a:ea typeface="阿里巴巴普惠体 3.0 55 Regular" panose="00020600040101010101" pitchFamily="18" charset="-122"/>
            </a:endParaRPr>
          </a:p>
          <a:p>
            <a:pPr marL="174625" lvl="0"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域</a:t>
            </a:r>
            <a:r>
              <a:rPr lang="en-US" altLang="zh-CN" sz="1600" dirty="0">
                <a:solidFill>
                  <a:srgbClr val="FF0000"/>
                </a:solidFill>
                <a:latin typeface="HP Simplified Hans" panose="020B0500000000000000" pitchFamily="34" charset="-122"/>
                <a:ea typeface="阿里巴巴普惠体 3.0 55 Regular" panose="00020600040101010101" pitchFamily="18" charset="-122"/>
              </a:rPr>
              <a:t>(domain)</a:t>
            </a:r>
          </a:p>
          <a:p>
            <a:pPr marL="360363" lvl="0"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是一组具有相同数据类型的值的集合。属性的取值范围来自某个域</a:t>
            </a:r>
            <a:endParaRPr lang="en-US" altLang="zh-CN" dirty="0">
              <a:solidFill>
                <a:srgbClr val="0000FF"/>
              </a:solidFill>
              <a:latin typeface="HP Simplified Hans" panose="020B0500000000000000" pitchFamily="34" charset="-122"/>
              <a:ea typeface="阿里巴巴普惠体 3.0 55 Regular" panose="00020600040101010101" pitchFamily="18" charset="-122"/>
            </a:endParaRPr>
          </a:p>
          <a:p>
            <a:pPr marL="174625" lvl="0"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分量</a:t>
            </a:r>
            <a:r>
              <a:rPr lang="en-US" altLang="zh-CN" sz="1600" dirty="0">
                <a:solidFill>
                  <a:srgbClr val="FF0000"/>
                </a:solidFill>
                <a:latin typeface="HP Simplified Hans" panose="020B0500000000000000" pitchFamily="34" charset="-122"/>
                <a:ea typeface="阿里巴巴普惠体 3.0 55 Regular" panose="00020600040101010101" pitchFamily="18" charset="-122"/>
              </a:rPr>
              <a:t>(component)</a:t>
            </a:r>
          </a:p>
          <a:p>
            <a:pPr marL="360363" lvl="0"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元组中的一个属性值</a:t>
            </a:r>
            <a:endParaRPr lang="en-US" altLang="zh-CN" dirty="0">
              <a:solidFill>
                <a:srgbClr val="0000FF"/>
              </a:solidFill>
              <a:latin typeface="HP Simplified Hans" panose="020B0500000000000000" pitchFamily="34" charset="-122"/>
              <a:ea typeface="阿里巴巴普惠体 3.0 55 Regular" panose="00020600040101010101" pitchFamily="18" charset="-122"/>
            </a:endParaRPr>
          </a:p>
          <a:p>
            <a:pPr marL="174625" lvl="0" indent="-174625">
              <a:lnSpc>
                <a:spcPct val="120000"/>
              </a:lnSpc>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关系模式</a:t>
            </a:r>
            <a:endParaRPr lang="en-US" altLang="zh-CN" sz="1600" dirty="0">
              <a:solidFill>
                <a:srgbClr val="FF0000"/>
              </a:solidFill>
              <a:latin typeface="HP Simplified Hans" panose="020B0500000000000000" pitchFamily="34" charset="-122"/>
              <a:ea typeface="阿里巴巴普惠体 3.0 55 Regular" panose="00020600040101010101" pitchFamily="18" charset="-122"/>
            </a:endParaRPr>
          </a:p>
          <a:p>
            <a:pPr marL="360363" lvl="0"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对关系的描述</a:t>
            </a:r>
            <a:endParaRPr lang="en-US" altLang="zh-CN" sz="1400" dirty="0">
              <a:solidFill>
                <a:srgbClr val="0000FF"/>
              </a:solidFill>
              <a:latin typeface="HP Simplified Hans" panose="020B0500000000000000" pitchFamily="34" charset="-122"/>
              <a:ea typeface="阿里巴巴普惠体 3.0 55 Regular" panose="00020600040101010101" pitchFamily="18" charset="-122"/>
            </a:endParaRPr>
          </a:p>
          <a:p>
            <a:pPr marL="360363" lvl="0" indent="-185738">
              <a:lnSpc>
                <a:spcPct val="120000"/>
              </a:lnSpc>
              <a:buFont typeface="微软雅黑" panose="020B0503020204020204" pitchFamily="34" charset="-122"/>
              <a:buChar char="−"/>
            </a:pPr>
            <a:r>
              <a:rPr lang="zh-CN" altLang="en-US" sz="1400" dirty="0">
                <a:solidFill>
                  <a:srgbClr val="0000FF"/>
                </a:solidFill>
                <a:latin typeface="HP Simplified Hans" panose="020B0500000000000000" pitchFamily="34" charset="-122"/>
                <a:ea typeface="阿里巴巴普惠体 3.0 55 Regular" panose="00020600040101010101" pitchFamily="18" charset="-122"/>
              </a:rPr>
              <a:t>表示格式：</a:t>
            </a:r>
            <a:r>
              <a:rPr lang="zh-CN" altLang="en-US" sz="1400" dirty="0">
                <a:solidFill>
                  <a:srgbClr val="FF0000"/>
                </a:solidFill>
                <a:latin typeface="HP Simplified Hans" panose="020B0500000000000000" pitchFamily="34" charset="-122"/>
                <a:ea typeface="阿里巴巴普惠体 3.0 55 Regular" panose="00020600040101010101" pitchFamily="18" charset="-122"/>
              </a:rPr>
              <a:t>关系名</a:t>
            </a:r>
            <a:r>
              <a:rPr lang="en-US" altLang="zh-CN" sz="1400" dirty="0">
                <a:solidFill>
                  <a:srgbClr val="FF0000"/>
                </a:solidFill>
                <a:latin typeface="HP Simplified Hans" panose="020B0500000000000000" pitchFamily="34" charset="-122"/>
                <a:ea typeface="阿里巴巴普惠体 3.0 55 Regular" panose="00020600040101010101" pitchFamily="18" charset="-122"/>
              </a:rPr>
              <a:t>(</a:t>
            </a:r>
            <a:r>
              <a:rPr lang="zh-CN" altLang="en-US" sz="1400" dirty="0">
                <a:solidFill>
                  <a:srgbClr val="FF0000"/>
                </a:solidFill>
                <a:latin typeface="HP Simplified Hans" panose="020B0500000000000000" pitchFamily="34" charset="-122"/>
                <a:ea typeface="阿里巴巴普惠体 3.0 55 Regular" panose="00020600040101010101" pitchFamily="18" charset="-122"/>
              </a:rPr>
              <a:t>属性</a:t>
            </a:r>
            <a:r>
              <a:rPr lang="en-US" altLang="zh-CN" sz="1400" dirty="0">
                <a:solidFill>
                  <a:srgbClr val="FF0000"/>
                </a:solidFill>
                <a:latin typeface="HP Simplified Hans" panose="020B0500000000000000" pitchFamily="34" charset="-122"/>
                <a:ea typeface="阿里巴巴普惠体 3.0 55 Regular" panose="00020600040101010101" pitchFamily="18" charset="-122"/>
              </a:rPr>
              <a:t>1,</a:t>
            </a:r>
            <a:r>
              <a:rPr lang="zh-CN" altLang="en-US" sz="1400" dirty="0">
                <a:solidFill>
                  <a:srgbClr val="FF0000"/>
                </a:solidFill>
                <a:latin typeface="HP Simplified Hans" panose="020B0500000000000000" pitchFamily="34" charset="-122"/>
                <a:ea typeface="阿里巴巴普惠体 3.0 55 Regular" panose="00020600040101010101" pitchFamily="18" charset="-122"/>
              </a:rPr>
              <a:t>属性</a:t>
            </a:r>
            <a:r>
              <a:rPr lang="en-US" altLang="zh-CN" sz="1400" dirty="0">
                <a:solidFill>
                  <a:srgbClr val="FF0000"/>
                </a:solidFill>
                <a:latin typeface="HP Simplified Hans" panose="020B0500000000000000" pitchFamily="34" charset="-122"/>
                <a:ea typeface="阿里巴巴普惠体 3.0 55 Regular" panose="00020600040101010101" pitchFamily="18" charset="-122"/>
              </a:rPr>
              <a:t>2,…,</a:t>
            </a:r>
            <a:r>
              <a:rPr lang="zh-CN" altLang="en-US" sz="1400" dirty="0">
                <a:solidFill>
                  <a:srgbClr val="FF0000"/>
                </a:solidFill>
                <a:latin typeface="HP Simplified Hans" panose="020B0500000000000000" pitchFamily="34" charset="-122"/>
                <a:ea typeface="阿里巴巴普惠体 3.0 55 Regular" panose="00020600040101010101" pitchFamily="18" charset="-122"/>
              </a:rPr>
              <a:t>属性</a:t>
            </a:r>
            <a:r>
              <a:rPr lang="en-US" altLang="zh-CN" sz="1400" dirty="0">
                <a:solidFill>
                  <a:srgbClr val="FF0000"/>
                </a:solidFill>
                <a:latin typeface="HP Simplified Hans" panose="020B0500000000000000" pitchFamily="34" charset="-122"/>
                <a:ea typeface="阿里巴巴普惠体 3.0 55 Regular" panose="00020600040101010101" pitchFamily="18" charset="-122"/>
              </a:rPr>
              <a:t>n)</a:t>
            </a:r>
            <a:endParaRPr lang="zh-CN" altLang="en-US" dirty="0">
              <a:solidFill>
                <a:srgbClr val="FF0000"/>
              </a:solidFill>
              <a:latin typeface="HP Simplified Hans" panose="020B0500000000000000" pitchFamily="34" charset="-122"/>
              <a:ea typeface="阿里巴巴普惠体 3.0 55 Regular" panose="00020600040101010101" pitchFamily="18" charset="-122"/>
            </a:endParaRPr>
          </a:p>
        </p:txBody>
      </p:sp>
      <p:sp>
        <p:nvSpPr>
          <p:cNvPr id="11" name="矩形 10">
            <a:extLst>
              <a:ext uri="{FF2B5EF4-FFF2-40B4-BE49-F238E27FC236}">
                <a16:creationId xmlns:a16="http://schemas.microsoft.com/office/drawing/2014/main" id="{75B62CB7-71B1-41DB-8EA3-A167C2E555F8}"/>
              </a:ext>
            </a:extLst>
          </p:cNvPr>
          <p:cNvSpPr/>
          <p:nvPr/>
        </p:nvSpPr>
        <p:spPr>
          <a:xfrm>
            <a:off x="533655" y="4688993"/>
            <a:ext cx="5833626" cy="787523"/>
          </a:xfrm>
          <a:prstGeom prst="rect">
            <a:avLst/>
          </a:prstGeom>
        </p:spPr>
        <p:txBody>
          <a:bodyPr wrap="square">
            <a:spAutoFit/>
          </a:bodyPr>
          <a:lstStyle/>
          <a:p>
            <a:pPr marL="174625" indent="-174625">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从</a:t>
            </a:r>
            <a:r>
              <a:rPr lang="zh-CN" altLang="en-US" sz="1600" dirty="0">
                <a:solidFill>
                  <a:srgbClr val="FF0000"/>
                </a:solidFill>
                <a:latin typeface="微软雅黑" panose="020B0503020204020204" pitchFamily="34" charset="-122"/>
                <a:ea typeface="微软雅黑" panose="020B0503020204020204" pitchFamily="34" charset="-122"/>
              </a:rPr>
              <a:t>用户观点</a:t>
            </a:r>
            <a:r>
              <a:rPr lang="zh-CN" altLang="en-US" sz="1600" dirty="0">
                <a:latin typeface="微软雅黑" panose="020B0503020204020204" pitchFamily="34" charset="-122"/>
                <a:ea typeface="微软雅黑" panose="020B0503020204020204" pitchFamily="34" charset="-122"/>
              </a:rPr>
              <a:t>下，关系模型是由一组关系组成</a:t>
            </a:r>
            <a:endParaRPr lang="en-US" altLang="zh-CN" sz="1600" dirty="0">
              <a:latin typeface="微软雅黑" panose="020B0503020204020204" pitchFamily="34" charset="-122"/>
              <a:ea typeface="微软雅黑" panose="020B0503020204020204" pitchFamily="34" charset="-122"/>
            </a:endParaRPr>
          </a:p>
          <a:p>
            <a:pPr marL="174625" indent="-174625">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每个关系的数据结构是一张规范的</a:t>
            </a:r>
            <a:r>
              <a:rPr lang="zh-CN" altLang="en-US" sz="1600" dirty="0">
                <a:solidFill>
                  <a:srgbClr val="FF0000"/>
                </a:solidFill>
                <a:latin typeface="微软雅黑" panose="020B0503020204020204" pitchFamily="34" charset="-122"/>
                <a:ea typeface="微软雅黑" panose="020B0503020204020204" pitchFamily="34" charset="-122"/>
              </a:rPr>
              <a:t>二维表</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746279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~(cont.)</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6DA3E31C-E2F1-4E33-81B7-C198B6399656}"/>
              </a:ext>
            </a:extLst>
          </p:cNvPr>
          <p:cNvSpPr>
            <a:spLocks noGrp="1"/>
          </p:cNvSpPr>
          <p:nvPr>
            <p:ph idx="1"/>
          </p:nvPr>
        </p:nvSpPr>
        <p:spPr>
          <a:xfrm>
            <a:off x="606489" y="911195"/>
            <a:ext cx="10842171" cy="5321654"/>
          </a:xfrm>
        </p:spPr>
        <p:txBody>
          <a:bodyPr/>
          <a:lstStyle/>
          <a:p>
            <a:pPr>
              <a:lnSpc>
                <a:spcPct val="150000"/>
              </a:lnSpc>
            </a:pPr>
            <a:r>
              <a:rPr lang="zh-CN" altLang="en-US" dirty="0"/>
              <a:t>关系模型要求关系必须是</a:t>
            </a:r>
            <a:r>
              <a:rPr lang="zh-CN" altLang="en-US" dirty="0">
                <a:solidFill>
                  <a:srgbClr val="FF0000"/>
                </a:solidFill>
              </a:rPr>
              <a:t>规范化 </a:t>
            </a:r>
            <a:r>
              <a:rPr lang="en-US" altLang="zh-CN" dirty="0">
                <a:solidFill>
                  <a:srgbClr val="FF0000"/>
                </a:solidFill>
              </a:rPr>
              <a:t>(normalization)</a:t>
            </a:r>
            <a:r>
              <a:rPr lang="zh-CN" altLang="en-US" dirty="0"/>
              <a:t>的</a:t>
            </a:r>
            <a:endParaRPr lang="en-US" altLang="zh-CN" dirty="0"/>
          </a:p>
          <a:p>
            <a:pPr lvl="1">
              <a:lnSpc>
                <a:spcPct val="150000"/>
              </a:lnSpc>
            </a:pPr>
            <a:r>
              <a:rPr lang="zh-CN" altLang="en-US" dirty="0"/>
              <a:t>关系必须满足一定的规范条件</a:t>
            </a:r>
            <a:endParaRPr lang="en-US" altLang="zh-CN" dirty="0"/>
          </a:p>
          <a:p>
            <a:pPr lvl="2">
              <a:lnSpc>
                <a:spcPct val="150000"/>
              </a:lnSpc>
            </a:pPr>
            <a:r>
              <a:rPr lang="zh-CN" altLang="en-US" sz="2000" dirty="0">
                <a:solidFill>
                  <a:srgbClr val="0000FF"/>
                </a:solidFill>
              </a:rPr>
              <a:t>最基本的规范条件</a:t>
            </a:r>
            <a:r>
              <a:rPr lang="zh-CN" altLang="en-US" sz="2000" dirty="0"/>
              <a:t>：</a:t>
            </a:r>
            <a:r>
              <a:rPr lang="zh-CN" altLang="en-US" sz="2000" dirty="0">
                <a:solidFill>
                  <a:srgbClr val="FF0000"/>
                </a:solidFill>
              </a:rPr>
              <a:t>关系的每一个分量必须是一个不可分的数据项</a:t>
            </a:r>
            <a:endParaRPr lang="en-US" altLang="zh-CN" sz="2000" dirty="0">
              <a:solidFill>
                <a:srgbClr val="FF0000"/>
              </a:solidFill>
            </a:endParaRPr>
          </a:p>
          <a:p>
            <a:pPr lvl="3">
              <a:lnSpc>
                <a:spcPct val="150000"/>
              </a:lnSpc>
            </a:pPr>
            <a:r>
              <a:rPr lang="zh-CN" altLang="en-US" sz="1800" dirty="0">
                <a:solidFill>
                  <a:srgbClr val="FF0000"/>
                </a:solidFill>
              </a:rPr>
              <a:t>即，不允许表中套表</a:t>
            </a:r>
            <a:endParaRPr lang="en-US" altLang="zh-CN" sz="1800" dirty="0">
              <a:solidFill>
                <a:srgbClr val="FF0000"/>
              </a:solidFill>
            </a:endParaRPr>
          </a:p>
          <a:p>
            <a:pPr>
              <a:lnSpc>
                <a:spcPct val="150000"/>
              </a:lnSpc>
            </a:pPr>
            <a:endParaRPr lang="zh-CN" altLang="en-US" dirty="0"/>
          </a:p>
        </p:txBody>
      </p:sp>
      <p:pic>
        <p:nvPicPr>
          <p:cNvPr id="12" name="图片 11">
            <a:extLst>
              <a:ext uri="{FF2B5EF4-FFF2-40B4-BE49-F238E27FC236}">
                <a16:creationId xmlns:a16="http://schemas.microsoft.com/office/drawing/2014/main" id="{8332C2F9-38D4-48D0-8C08-F7C62A2D750C}"/>
              </a:ext>
            </a:extLst>
          </p:cNvPr>
          <p:cNvPicPr>
            <a:picLocks noChangeAspect="1"/>
          </p:cNvPicPr>
          <p:nvPr/>
        </p:nvPicPr>
        <p:blipFill rotWithShape="1">
          <a:blip r:embed="rId2"/>
          <a:srcRect t="19248"/>
          <a:stretch/>
        </p:blipFill>
        <p:spPr>
          <a:xfrm>
            <a:off x="1258382" y="3180978"/>
            <a:ext cx="9006888" cy="1560952"/>
          </a:xfrm>
          <a:prstGeom prst="rect">
            <a:avLst/>
          </a:prstGeom>
        </p:spPr>
      </p:pic>
      <p:sp>
        <p:nvSpPr>
          <p:cNvPr id="13" name="Text Box 289">
            <a:extLst>
              <a:ext uri="{FF2B5EF4-FFF2-40B4-BE49-F238E27FC236}">
                <a16:creationId xmlns:a16="http://schemas.microsoft.com/office/drawing/2014/main" id="{14435CDD-F79A-4650-A547-BC4ED0686BB9}"/>
              </a:ext>
            </a:extLst>
          </p:cNvPr>
          <p:cNvSpPr txBox="1">
            <a:spLocks noChangeArrowheads="1"/>
          </p:cNvSpPr>
          <p:nvPr/>
        </p:nvSpPr>
        <p:spPr bwMode="auto">
          <a:xfrm>
            <a:off x="1258382" y="5045292"/>
            <a:ext cx="8968902" cy="400110"/>
          </a:xfrm>
          <a:prstGeom prst="rect">
            <a:avLst/>
          </a:prstGeom>
          <a:solidFill>
            <a:srgbClr val="BBE0E3"/>
          </a:solidFill>
          <a:ln w="25400">
            <a:solidFill>
              <a:srgbClr val="000000"/>
            </a:solidFill>
            <a:miter lim="800000"/>
            <a:headEnd/>
            <a:tailEnd/>
          </a:ln>
          <a:effectLst>
            <a:outerShdw dist="107763" dir="2700000" algn="ctr" rotWithShape="0">
              <a:srgbClr val="808080">
                <a:alpha val="50000"/>
              </a:srgbClr>
            </a:outerShdw>
          </a:effec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lang="zh-CN" altLang="en-US" sz="2000" b="1" kern="0" dirty="0">
                <a:solidFill>
                  <a:srgbClr val="FF0000"/>
                </a:solidFill>
                <a:latin typeface="阿里巴巴普惠体 3.0 55 Regular" panose="00020600040101010101" pitchFamily="18" charset="-122"/>
                <a:ea typeface="阿里巴巴普惠体 3.0 55 Regular" panose="00020600040101010101" pitchFamily="18" charset="-122"/>
              </a:rPr>
              <a:t>联系方式属性</a:t>
            </a:r>
            <a:r>
              <a:rPr kumimoji="0" lang="zh-CN" altLang="en-US" sz="2000" b="1" i="0" u="none" strike="noStrike" kern="0" cap="none" spc="0" normalizeH="0" baseline="0" noProof="0" dirty="0">
                <a:ln>
                  <a:noFill/>
                </a:ln>
                <a:solidFill>
                  <a:srgbClr val="FF0000"/>
                </a:solidFill>
                <a:uLnTx/>
                <a:uFillTx/>
                <a:latin typeface="阿里巴巴普惠体 3.0 55 Regular" panose="00020600040101010101" pitchFamily="18" charset="-122"/>
                <a:ea typeface="阿里巴巴普惠体 3.0 55 Regular" panose="00020600040101010101" pitchFamily="18" charset="-122"/>
              </a:rPr>
              <a:t>是可分的数据项 </a:t>
            </a:r>
            <a:r>
              <a:rPr kumimoji="0" lang="en-US" altLang="zh-CN" sz="2000" b="1" i="0" u="none" strike="noStrike" kern="0" cap="none" spc="0" normalizeH="0" baseline="0" noProof="0" dirty="0">
                <a:ln>
                  <a:noFill/>
                </a:ln>
                <a:solidFill>
                  <a:srgbClr val="FF0000"/>
                </a:solidFill>
                <a:uLnTx/>
                <a:uFillTx/>
                <a:latin typeface="阿里巴巴普惠体 3.0 55 Regular" panose="00020600040101010101" pitchFamily="18" charset="-122"/>
                <a:ea typeface="阿里巴巴普惠体 3.0 55 Regular" panose="00020600040101010101" pitchFamily="18" charset="-122"/>
              </a:rPr>
              <a:t>,</a:t>
            </a:r>
            <a:r>
              <a:rPr kumimoji="0" lang="zh-CN" altLang="en-US" sz="2000" b="1" i="0" u="none" strike="noStrike" kern="0" cap="none" spc="0" normalizeH="0" baseline="0" noProof="0" dirty="0">
                <a:ln>
                  <a:noFill/>
                </a:ln>
                <a:solidFill>
                  <a:srgbClr val="FF0000"/>
                </a:solidFill>
                <a:uLnTx/>
                <a:uFillTx/>
                <a:latin typeface="阿里巴巴普惠体 3.0 55 Regular" panose="00020600040101010101" pitchFamily="18" charset="-122"/>
                <a:ea typeface="阿里巴巴普惠体 3.0 55 Regular" panose="00020600040101010101" pitchFamily="18" charset="-122"/>
              </a:rPr>
              <a:t>不符合关系模型要求，故上表不是一个关系模型</a:t>
            </a:r>
          </a:p>
        </p:txBody>
      </p:sp>
    </p:spTree>
    <p:extLst>
      <p:ext uri="{BB962C8B-B14F-4D97-AF65-F5344CB8AC3E}">
        <p14:creationId xmlns:p14="http://schemas.microsoft.com/office/powerpoint/2010/main" val="33926469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~(cont.)</a:t>
            </a:r>
            <a:endParaRPr lang="zh-CN" altLang="en-US"/>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graphicFrame>
        <p:nvGraphicFramePr>
          <p:cNvPr id="10" name="Group 166">
            <a:extLst>
              <a:ext uri="{FF2B5EF4-FFF2-40B4-BE49-F238E27FC236}">
                <a16:creationId xmlns:a16="http://schemas.microsoft.com/office/drawing/2014/main" id="{5AEB75A0-0B92-4F29-B8EF-0BF57B564944}"/>
              </a:ext>
            </a:extLst>
          </p:cNvPr>
          <p:cNvGraphicFramePr>
            <a:graphicFrameLocks noGrp="1"/>
          </p:cNvGraphicFramePr>
          <p:nvPr>
            <p:ph idx="1"/>
            <p:extLst>
              <p:ext uri="{D42A27DB-BD31-4B8C-83A1-F6EECF244321}">
                <p14:modId xmlns:p14="http://schemas.microsoft.com/office/powerpoint/2010/main" val="203659342"/>
              </p:ext>
            </p:extLst>
          </p:nvPr>
        </p:nvGraphicFramePr>
        <p:xfrm>
          <a:off x="2939143" y="2027856"/>
          <a:ext cx="5840964" cy="3352800"/>
        </p:xfrm>
        <a:graphic>
          <a:graphicData uri="http://schemas.openxmlformats.org/drawingml/2006/table">
            <a:tbl>
              <a:tblPr>
                <a:tableStyleId>{5940675A-B579-460E-94D1-54222C63F5DA}</a:tableStyleId>
              </a:tblPr>
              <a:tblGrid>
                <a:gridCol w="2262486">
                  <a:extLst>
                    <a:ext uri="{9D8B030D-6E8A-4147-A177-3AD203B41FA5}">
                      <a16:colId xmlns:a16="http://schemas.microsoft.com/office/drawing/2014/main" val="20000"/>
                    </a:ext>
                  </a:extLst>
                </a:gridCol>
                <a:gridCol w="3578478">
                  <a:extLst>
                    <a:ext uri="{9D8B030D-6E8A-4147-A177-3AD203B41FA5}">
                      <a16:colId xmlns:a16="http://schemas.microsoft.com/office/drawing/2014/main" val="20001"/>
                    </a:ext>
                  </a:extLst>
                </a:gridCol>
              </a:tblGrid>
              <a:tr h="26425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dirty="0">
                          <a:ln>
                            <a:noFill/>
                          </a:ln>
                          <a:solidFill>
                            <a:schemeClr val="bg1"/>
                          </a:solidFill>
                          <a:effectLst/>
                          <a:latin typeface="阿里巴巴普惠体 3.0 55 Regular" panose="00020600040101010101" pitchFamily="18" charset="-122"/>
                          <a:ea typeface="阿里巴巴普惠体 3.0 55 Regular" panose="00020600040101010101" pitchFamily="18" charset="-122"/>
                        </a:rPr>
                        <a:t>关系术语</a:t>
                      </a:r>
                      <a:endParaRPr kumimoji="1" lang="zh-CN" altLang="en-US" sz="1600" b="1" i="0" u="none" strike="noStrike" cap="none" normalizeH="0" baseline="0" dirty="0">
                        <a:ln>
                          <a:noFill/>
                        </a:ln>
                        <a:solidFill>
                          <a:schemeClr val="bg1"/>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rgbClr val="336699"/>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chemeClr val="bg1"/>
                          </a:solidFill>
                          <a:effectLst/>
                          <a:latin typeface="阿里巴巴普惠体 3.0 55 Regular" panose="00020600040101010101" pitchFamily="18" charset="-122"/>
                          <a:ea typeface="阿里巴巴普惠体 3.0 55 Regular" panose="00020600040101010101" pitchFamily="18" charset="-122"/>
                        </a:rPr>
                        <a:t>一般表格的术语</a:t>
                      </a:r>
                      <a:endParaRPr kumimoji="1" lang="zh-CN" altLang="en-US" sz="1600" b="1" i="0" u="none" strike="noStrike" cap="none" normalizeH="0" baseline="0">
                        <a:ln>
                          <a:noFill/>
                        </a:ln>
                        <a:solidFill>
                          <a:schemeClr val="bg1"/>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rgbClr val="336699"/>
                    </a:solidFill>
                  </a:tcPr>
                </a:tc>
                <a:extLst>
                  <a:ext uri="{0D108BD9-81ED-4DB2-BD59-A6C34878D82A}">
                    <a16:rowId xmlns:a16="http://schemas.microsoft.com/office/drawing/2014/main" val="10000"/>
                  </a:ext>
                </a:extLst>
              </a:tr>
              <a:tr h="2653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关系名</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表名</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1"/>
                  </a:ext>
                </a:extLst>
              </a:tr>
              <a:tr h="26425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关系模式</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表头（表格的描述）</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2"/>
                  </a:ext>
                </a:extLst>
              </a:tr>
              <a:tr h="2653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关系</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a:t>
                      </a: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一张</a:t>
                      </a:r>
                      <a:r>
                        <a:rPr kumimoji="1" lang="en-US" altLang="zh-CN"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a:t>
                      </a: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二</a:t>
                      </a: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维表</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3"/>
                  </a:ext>
                </a:extLst>
              </a:tr>
              <a:tr h="26425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元组</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记录或行</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4"/>
                  </a:ext>
                </a:extLst>
              </a:tr>
              <a:tr h="26425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属性</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列</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5"/>
                  </a:ext>
                </a:extLst>
              </a:tr>
              <a:tr h="2653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属性名</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列名</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6"/>
                  </a:ext>
                </a:extLst>
              </a:tr>
              <a:tr h="26425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属性值</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列值</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7"/>
                  </a:ext>
                </a:extLst>
              </a:tr>
              <a:tr h="2653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分量</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一条记录中的一个列值</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8"/>
                  </a:ext>
                </a:extLst>
              </a:tr>
              <a:tr h="26425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a:ln>
                            <a:noFill/>
                          </a:ln>
                          <a:effectLst/>
                          <a:latin typeface="阿里巴巴普惠体 3.0 55 Regular" panose="00020600040101010101" pitchFamily="18" charset="-122"/>
                          <a:ea typeface="阿里巴巴普惠体 3.0 55 Regular" panose="00020600040101010101" pitchFamily="18" charset="-122"/>
                        </a:rPr>
                        <a:t>非规范关系</a:t>
                      </a:r>
                      <a:endParaRPr kumimoji="1" lang="zh-CN" altLang="en-US" sz="1600" b="0" i="0" u="none" strike="noStrike" cap="none" normalizeH="0" baseline="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表中有表</a:t>
                      </a:r>
                      <a:r>
                        <a:rPr kumimoji="1" lang="en-US" altLang="zh-CN"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a:t>
                      </a:r>
                      <a:r>
                        <a:rPr kumimoji="1" lang="zh-CN" altLang="en-US"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大表中嵌有小表</a:t>
                      </a:r>
                      <a:r>
                        <a:rPr kumimoji="1" lang="en-US" altLang="zh-CN" sz="1600" b="0" u="none" strike="noStrike" cap="none" normalizeH="0" baseline="0" dirty="0">
                          <a:ln>
                            <a:noFill/>
                          </a:ln>
                          <a:effectLst/>
                          <a:latin typeface="阿里巴巴普惠体 3.0 55 Regular" panose="00020600040101010101" pitchFamily="18" charset="-122"/>
                          <a:ea typeface="阿里巴巴普惠体 3.0 55 Regular" panose="00020600040101010101" pitchFamily="18" charset="-122"/>
                        </a:rPr>
                        <a:t>)</a:t>
                      </a:r>
                      <a:endParaRPr kumimoji="1" lang="zh-CN" altLang="en-US" sz="1600" b="0" i="0" u="none" strike="noStrike" cap="none" normalizeH="0" baseline="0" dirty="0">
                        <a:ln>
                          <a:noFill/>
                        </a:ln>
                        <a:solidFill>
                          <a:schemeClr val="accent2">
                            <a:lumMod val="75000"/>
                          </a:schemeClr>
                        </a:solidFill>
                        <a:effectLst/>
                        <a:latin typeface="阿里巴巴普惠体 3.0 55 Regular" panose="00020600040101010101" pitchFamily="18" charset="-122"/>
                        <a:ea typeface="阿里巴巴普惠体 3.0 55 Regular" panose="00020600040101010101" pitchFamily="18" charset="-122"/>
                      </a:endParaRPr>
                    </a:p>
                  </a:txBody>
                  <a:tcPr marL="91443" marR="91443" horzOverflow="overflow">
                    <a:solidFill>
                      <a:schemeClr val="bg1"/>
                    </a:solidFill>
                  </a:tcPr>
                </a:tc>
                <a:extLst>
                  <a:ext uri="{0D108BD9-81ED-4DB2-BD59-A6C34878D82A}">
                    <a16:rowId xmlns:a16="http://schemas.microsoft.com/office/drawing/2014/main" val="10009"/>
                  </a:ext>
                </a:extLst>
              </a:tr>
            </a:tbl>
          </a:graphicData>
        </a:graphic>
      </p:graphicFrame>
      <p:sp>
        <p:nvSpPr>
          <p:cNvPr id="11" name="Text Box 167">
            <a:extLst>
              <a:ext uri="{FF2B5EF4-FFF2-40B4-BE49-F238E27FC236}">
                <a16:creationId xmlns:a16="http://schemas.microsoft.com/office/drawing/2014/main" id="{1FB18D31-BAC5-4A00-AF43-4CAE6C6F6F1C}"/>
              </a:ext>
            </a:extLst>
          </p:cNvPr>
          <p:cNvSpPr txBox="1"/>
          <p:nvPr/>
        </p:nvSpPr>
        <p:spPr>
          <a:xfrm>
            <a:off x="2313992" y="1402699"/>
            <a:ext cx="6811346" cy="461665"/>
          </a:xfrm>
          <a:prstGeom prst="rect">
            <a:avLst/>
          </a:prstGeom>
          <a:noFill/>
          <a:ln w="25400">
            <a:noFill/>
          </a:ln>
        </p:spPr>
        <p:txBody>
          <a:bodyPr wrap="square" anchor="t" anchorCtr="0">
            <a:spAutoFit/>
          </a:bodyPr>
          <a:lstStyle/>
          <a:p>
            <a:pPr marL="342900" indent="-342900" algn="ctr">
              <a:buFont typeface="Arial" panose="020B0604020202020204" pitchFamily="34" charset="0"/>
            </a:pPr>
            <a:r>
              <a:rPr lang="zh-CN" altLang="en-US" sz="2400" dirty="0">
                <a:solidFill>
                  <a:srgbClr val="CC00FF"/>
                </a:solidFill>
                <a:latin typeface="阿里巴巴普惠体 3.0 55 Regular" panose="00020600040101010101" pitchFamily="18" charset="-122"/>
                <a:ea typeface="阿里巴巴普惠体 3.0 55 Regular" panose="00020600040101010101" pitchFamily="18" charset="-122"/>
              </a:rPr>
              <a:t>表</a:t>
            </a:r>
            <a:r>
              <a:rPr lang="en-US" altLang="zh-CN" sz="2400" dirty="0">
                <a:solidFill>
                  <a:srgbClr val="CC00FF"/>
                </a:solidFill>
                <a:latin typeface="阿里巴巴普惠体 3.0 55 Regular" panose="00020600040101010101" pitchFamily="18" charset="-122"/>
                <a:ea typeface="阿里巴巴普惠体 3.0 55 Regular" panose="00020600040101010101" pitchFamily="18" charset="-122"/>
              </a:rPr>
              <a:t>1.4  </a:t>
            </a:r>
            <a:r>
              <a:rPr lang="zh-CN" altLang="en-US" sz="2400" dirty="0">
                <a:solidFill>
                  <a:srgbClr val="CC00FF"/>
                </a:solidFill>
                <a:latin typeface="阿里巴巴普惠体 3.0 55 Regular" panose="00020600040101010101" pitchFamily="18" charset="-122"/>
                <a:ea typeface="阿里巴巴普惠体 3.0 55 Regular" panose="00020600040101010101" pitchFamily="18" charset="-122"/>
              </a:rPr>
              <a:t>关系术语与现实生活中表格使用的术语对比 </a:t>
            </a:r>
          </a:p>
        </p:txBody>
      </p:sp>
    </p:spTree>
    <p:extLst>
      <p:ext uri="{BB962C8B-B14F-4D97-AF65-F5344CB8AC3E}">
        <p14:creationId xmlns:p14="http://schemas.microsoft.com/office/powerpoint/2010/main" val="8307192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关系模型之数据操纵与完整性约束</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DDC190DA-1A85-45BC-A092-30B3D0099214}"/>
              </a:ext>
            </a:extLst>
          </p:cNvPr>
          <p:cNvSpPr>
            <a:spLocks noGrp="1"/>
          </p:cNvSpPr>
          <p:nvPr>
            <p:ph idx="1"/>
          </p:nvPr>
        </p:nvSpPr>
        <p:spPr/>
        <p:txBody>
          <a:bodyPr>
            <a:normAutofit/>
          </a:bodyPr>
          <a:lstStyle/>
          <a:p>
            <a:r>
              <a:rPr lang="zh-CN" altLang="en-US"/>
              <a:t>关系模型中的数据操纵是</a:t>
            </a:r>
            <a:r>
              <a:rPr lang="zh-CN" altLang="en-US">
                <a:solidFill>
                  <a:srgbClr val="FF3300"/>
                </a:solidFill>
              </a:rPr>
              <a:t>集合操</a:t>
            </a:r>
            <a:r>
              <a:rPr lang="zh-CN" altLang="en-US"/>
              <a:t>作，操作</a:t>
            </a:r>
            <a:r>
              <a:rPr lang="zh-CN" altLang="en-US">
                <a:solidFill>
                  <a:srgbClr val="FF3300"/>
                </a:solidFill>
              </a:rPr>
              <a:t>对象</a:t>
            </a:r>
            <a:r>
              <a:rPr lang="zh-CN" altLang="en-US"/>
              <a:t>和操作</a:t>
            </a:r>
            <a:r>
              <a:rPr lang="zh-CN" altLang="en-US">
                <a:solidFill>
                  <a:srgbClr val="FF3300"/>
                </a:solidFill>
              </a:rPr>
              <a:t>结果</a:t>
            </a:r>
            <a:r>
              <a:rPr lang="zh-CN" altLang="en-US"/>
              <a:t>都是</a:t>
            </a:r>
            <a:r>
              <a:rPr lang="zh-CN" altLang="en-US">
                <a:solidFill>
                  <a:srgbClr val="FF3300"/>
                </a:solidFill>
              </a:rPr>
              <a:t>关系</a:t>
            </a:r>
            <a:endParaRPr lang="en-US" altLang="zh-CN">
              <a:solidFill>
                <a:srgbClr val="FF3300"/>
              </a:solidFill>
            </a:endParaRPr>
          </a:p>
          <a:p>
            <a:pPr lvl="1" algn="just">
              <a:lnSpc>
                <a:spcPct val="150000"/>
              </a:lnSpc>
              <a:spcBef>
                <a:spcPct val="0"/>
              </a:spcBef>
            </a:pPr>
            <a:r>
              <a:rPr lang="zh-CN" altLang="en-US">
                <a:solidFill>
                  <a:srgbClr val="0000FF"/>
                </a:solidFill>
              </a:rPr>
              <a:t>查询</a:t>
            </a:r>
          </a:p>
          <a:p>
            <a:pPr lvl="1" algn="just">
              <a:lnSpc>
                <a:spcPct val="150000"/>
              </a:lnSpc>
              <a:spcBef>
                <a:spcPct val="0"/>
              </a:spcBef>
            </a:pPr>
            <a:r>
              <a:rPr lang="zh-CN" altLang="en-US">
                <a:solidFill>
                  <a:srgbClr val="0000FF"/>
                </a:solidFill>
              </a:rPr>
              <a:t>插入</a:t>
            </a:r>
          </a:p>
          <a:p>
            <a:pPr lvl="1" algn="just">
              <a:lnSpc>
                <a:spcPct val="150000"/>
              </a:lnSpc>
              <a:spcBef>
                <a:spcPct val="0"/>
              </a:spcBef>
            </a:pPr>
            <a:r>
              <a:rPr lang="zh-CN" altLang="en-US">
                <a:solidFill>
                  <a:srgbClr val="0000FF"/>
                </a:solidFill>
              </a:rPr>
              <a:t>删除</a:t>
            </a:r>
            <a:endParaRPr lang="en-US" altLang="zh-CN">
              <a:solidFill>
                <a:srgbClr val="0000FF"/>
              </a:solidFill>
            </a:endParaRPr>
          </a:p>
          <a:p>
            <a:pPr lvl="1" algn="just">
              <a:lnSpc>
                <a:spcPct val="150000"/>
              </a:lnSpc>
              <a:spcBef>
                <a:spcPct val="0"/>
              </a:spcBef>
            </a:pPr>
            <a:r>
              <a:rPr lang="zh-CN" altLang="en-US">
                <a:solidFill>
                  <a:srgbClr val="0000FF"/>
                </a:solidFill>
              </a:rPr>
              <a:t>更新</a:t>
            </a:r>
            <a:endParaRPr lang="en-US" altLang="zh-CN">
              <a:solidFill>
                <a:srgbClr val="0000FF"/>
              </a:solidFill>
            </a:endParaRPr>
          </a:p>
          <a:p>
            <a:pPr lvl="1" algn="just">
              <a:lnSpc>
                <a:spcPct val="100000"/>
              </a:lnSpc>
              <a:spcBef>
                <a:spcPct val="0"/>
              </a:spcBef>
            </a:pPr>
            <a:endParaRPr lang="en-US" altLang="zh-CN" sz="800">
              <a:solidFill>
                <a:srgbClr val="0000FF"/>
              </a:solidFill>
            </a:endParaRPr>
          </a:p>
          <a:p>
            <a:pPr>
              <a:lnSpc>
                <a:spcPct val="100000"/>
              </a:lnSpc>
            </a:pPr>
            <a:r>
              <a:rPr lang="zh-CN" altLang="en-US">
                <a:solidFill>
                  <a:srgbClr val="FF3300"/>
                </a:solidFill>
              </a:rPr>
              <a:t>存取路径对用户隐蔽</a:t>
            </a:r>
            <a:r>
              <a:rPr lang="zh-CN" altLang="en-US"/>
              <a:t>，用户只要指出“干什么”，不必详细说明</a:t>
            </a:r>
            <a:r>
              <a:rPr lang="zh-CN" altLang="en-US">
                <a:latin typeface="Tahoma" panose="020B0604030504040204" pitchFamily="34" charset="0"/>
              </a:rPr>
              <a:t>“</a:t>
            </a:r>
            <a:r>
              <a:rPr lang="zh-CN" altLang="en-US"/>
              <a:t>怎么干</a:t>
            </a:r>
            <a:r>
              <a:rPr lang="zh-CN" altLang="en-US">
                <a:latin typeface="Tahoma" panose="020B0604030504040204" pitchFamily="34" charset="0"/>
              </a:rPr>
              <a:t>”</a:t>
            </a:r>
            <a:endParaRPr lang="en-US" altLang="zh-CN">
              <a:latin typeface="Tahoma" panose="020B0604030504040204" pitchFamily="34" charset="0"/>
            </a:endParaRPr>
          </a:p>
          <a:p>
            <a:endParaRPr lang="en-US" altLang="zh-CN" sz="200"/>
          </a:p>
          <a:p>
            <a:r>
              <a:rPr lang="zh-CN" altLang="en-US"/>
              <a:t>关系的完整性约束包括如下三大类：</a:t>
            </a:r>
            <a:endParaRPr lang="en-US" altLang="zh-CN"/>
          </a:p>
          <a:p>
            <a:pPr lvl="1"/>
            <a:r>
              <a:rPr lang="zh-CN" altLang="en-US">
                <a:solidFill>
                  <a:srgbClr val="0000FF"/>
                </a:solidFill>
              </a:rPr>
              <a:t>实体完整性</a:t>
            </a:r>
            <a:endParaRPr lang="en-US" altLang="zh-CN">
              <a:solidFill>
                <a:srgbClr val="0000FF"/>
              </a:solidFill>
            </a:endParaRPr>
          </a:p>
          <a:p>
            <a:pPr lvl="1"/>
            <a:r>
              <a:rPr lang="zh-CN" altLang="en-US">
                <a:solidFill>
                  <a:srgbClr val="0000FF"/>
                </a:solidFill>
              </a:rPr>
              <a:t>参照完整性</a:t>
            </a:r>
            <a:endParaRPr lang="en-US" altLang="zh-CN">
              <a:solidFill>
                <a:srgbClr val="0000FF"/>
              </a:solidFill>
            </a:endParaRPr>
          </a:p>
          <a:p>
            <a:pPr lvl="1"/>
            <a:r>
              <a:rPr lang="zh-CN" altLang="en-US">
                <a:solidFill>
                  <a:srgbClr val="0000FF"/>
                </a:solidFill>
              </a:rPr>
              <a:t>用户定义的完整性</a:t>
            </a:r>
          </a:p>
        </p:txBody>
      </p:sp>
    </p:spTree>
    <p:extLst>
      <p:ext uri="{BB962C8B-B14F-4D97-AF65-F5344CB8AC3E}">
        <p14:creationId xmlns:p14="http://schemas.microsoft.com/office/powerpoint/2010/main" val="17586558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zh-CN" altLang="en-US"/>
              <a:t>关系模型的优缺点</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7" name="内容占位符 6">
            <a:extLst>
              <a:ext uri="{FF2B5EF4-FFF2-40B4-BE49-F238E27FC236}">
                <a16:creationId xmlns:a16="http://schemas.microsoft.com/office/drawing/2014/main" id="{FFFA3FB1-612A-47BB-B0B8-D810B5074DDB}"/>
              </a:ext>
            </a:extLst>
          </p:cNvPr>
          <p:cNvSpPr>
            <a:spLocks noGrp="1"/>
          </p:cNvSpPr>
          <p:nvPr>
            <p:ph idx="1"/>
          </p:nvPr>
        </p:nvSpPr>
        <p:spPr/>
        <p:txBody>
          <a:bodyPr/>
          <a:lstStyle/>
          <a:p>
            <a:r>
              <a:rPr lang="zh-CN" altLang="en-US" dirty="0">
                <a:solidFill>
                  <a:srgbClr val="0000FF"/>
                </a:solidFill>
              </a:rPr>
              <a:t>优点</a:t>
            </a:r>
            <a:endParaRPr lang="en-US" altLang="zh-CN" dirty="0">
              <a:solidFill>
                <a:srgbClr val="0000FF"/>
              </a:solidFill>
            </a:endParaRPr>
          </a:p>
          <a:p>
            <a:pPr lvl="1"/>
            <a:r>
              <a:rPr lang="zh-CN" altLang="en-US" dirty="0"/>
              <a:t>建立在</a:t>
            </a:r>
            <a:r>
              <a:rPr lang="zh-CN" altLang="en-US" dirty="0">
                <a:solidFill>
                  <a:srgbClr val="FF3300"/>
                </a:solidFill>
              </a:rPr>
              <a:t>严格的数学概念</a:t>
            </a:r>
            <a:r>
              <a:rPr lang="zh-CN" altLang="en-US" dirty="0"/>
              <a:t>的基础上</a:t>
            </a:r>
          </a:p>
          <a:p>
            <a:pPr lvl="1"/>
            <a:r>
              <a:rPr lang="zh-CN" altLang="en-US" dirty="0">
                <a:solidFill>
                  <a:srgbClr val="FF3300"/>
                </a:solidFill>
              </a:rPr>
              <a:t>概念单一</a:t>
            </a:r>
            <a:endParaRPr lang="en-US" altLang="zh-CN" dirty="0">
              <a:solidFill>
                <a:srgbClr val="FF3300"/>
              </a:solidFill>
            </a:endParaRPr>
          </a:p>
          <a:p>
            <a:pPr lvl="2"/>
            <a:r>
              <a:rPr lang="zh-CN" altLang="en-US" dirty="0"/>
              <a:t>实体和实体之间联系都用关系来表示</a:t>
            </a:r>
          </a:p>
          <a:p>
            <a:pPr lvl="2"/>
            <a:r>
              <a:rPr lang="zh-CN" altLang="en-US" dirty="0"/>
              <a:t>对数据的检索和更新结果也是关系</a:t>
            </a:r>
            <a:endParaRPr lang="en-US" altLang="zh-CN" dirty="0"/>
          </a:p>
          <a:p>
            <a:pPr lvl="1"/>
            <a:r>
              <a:rPr lang="zh-CN" altLang="en-US" dirty="0">
                <a:solidFill>
                  <a:srgbClr val="FF3300"/>
                </a:solidFill>
              </a:rPr>
              <a:t>存取路径对用户隐蔽</a:t>
            </a:r>
            <a:endParaRPr lang="en-US" altLang="zh-CN" dirty="0">
              <a:solidFill>
                <a:srgbClr val="FF3300"/>
              </a:solidFill>
            </a:endParaRPr>
          </a:p>
          <a:p>
            <a:pPr lvl="2"/>
            <a:r>
              <a:rPr lang="zh-CN" altLang="en-US" dirty="0"/>
              <a:t>具有更高的数据独立性，更好的安全保密性</a:t>
            </a:r>
          </a:p>
          <a:p>
            <a:pPr lvl="2"/>
            <a:r>
              <a:rPr lang="zh-CN" altLang="en-US" dirty="0"/>
              <a:t>简化了程序员的工作和数据库开发建立的工作</a:t>
            </a:r>
            <a:endParaRPr lang="en-US" altLang="zh-CN" dirty="0"/>
          </a:p>
          <a:p>
            <a:r>
              <a:rPr lang="zh-CN" altLang="en-US" dirty="0">
                <a:solidFill>
                  <a:srgbClr val="0000FF"/>
                </a:solidFill>
              </a:rPr>
              <a:t>缺点</a:t>
            </a:r>
            <a:endParaRPr lang="en-US" altLang="zh-CN" dirty="0">
              <a:solidFill>
                <a:srgbClr val="0000FF"/>
              </a:solidFill>
            </a:endParaRPr>
          </a:p>
          <a:p>
            <a:pPr lvl="1"/>
            <a:r>
              <a:rPr lang="zh-CN" altLang="en-US" dirty="0"/>
              <a:t>存取路径对用户隐蔽，</a:t>
            </a:r>
            <a:r>
              <a:rPr lang="zh-CN" altLang="en-US" dirty="0">
                <a:solidFill>
                  <a:srgbClr val="FF0000"/>
                </a:solidFill>
              </a:rPr>
              <a:t>查询效率</a:t>
            </a:r>
            <a:r>
              <a:rPr lang="zh-CN" altLang="en-US" dirty="0"/>
              <a:t>往往不如层次模型和网状模型</a:t>
            </a:r>
          </a:p>
          <a:p>
            <a:pPr lvl="1"/>
            <a:r>
              <a:rPr lang="zh-CN" altLang="en-US" dirty="0"/>
              <a:t> 为提高性能，必须对用户的查询请求进行优化，增加了开发</a:t>
            </a:r>
            <a:r>
              <a:rPr lang="en-US" altLang="zh-CN" dirty="0"/>
              <a:t>DBMS</a:t>
            </a:r>
            <a:r>
              <a:rPr lang="zh-CN" altLang="en-US" dirty="0"/>
              <a:t>的难度</a:t>
            </a:r>
          </a:p>
        </p:txBody>
      </p:sp>
    </p:spTree>
    <p:extLst>
      <p:ext uri="{BB962C8B-B14F-4D97-AF65-F5344CB8AC3E}">
        <p14:creationId xmlns:p14="http://schemas.microsoft.com/office/powerpoint/2010/main" val="17590021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BAB11-7C92-4B6B-A687-2998D36DE7F3}"/>
              </a:ext>
            </a:extLst>
          </p:cNvPr>
          <p:cNvSpPr>
            <a:spLocks noGrp="1"/>
          </p:cNvSpPr>
          <p:nvPr>
            <p:ph type="title"/>
          </p:nvPr>
        </p:nvSpPr>
        <p:spPr/>
        <p:txBody>
          <a:bodyPr/>
          <a:lstStyle/>
          <a:p>
            <a:r>
              <a:rPr lang="en-US" altLang="zh-CN"/>
              <a:t>4.3.2</a:t>
            </a:r>
            <a:r>
              <a:rPr lang="zh-CN" altLang="en-US"/>
              <a:t>数据库领域中不断涌现的数据模型</a:t>
            </a:r>
          </a:p>
        </p:txBody>
      </p:sp>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E1F5648D-F46A-4FA4-ACE4-430A96CFE1BE}"/>
              </a:ext>
            </a:extLst>
          </p:cNvPr>
          <p:cNvGrpSpPr/>
          <p:nvPr/>
        </p:nvGrpSpPr>
        <p:grpSpPr>
          <a:xfrm>
            <a:off x="1138317" y="1546513"/>
            <a:ext cx="8985112" cy="1431211"/>
            <a:chOff x="2354095" y="2362178"/>
            <a:chExt cx="8985112" cy="1431211"/>
          </a:xfrm>
        </p:grpSpPr>
        <p:sp>
          <p:nvSpPr>
            <p:cNvPr id="9" name="Rounded Rectangle 7">
              <a:extLst>
                <a:ext uri="{FF2B5EF4-FFF2-40B4-BE49-F238E27FC236}">
                  <a16:creationId xmlns:a16="http://schemas.microsoft.com/office/drawing/2014/main" id="{BA334078-5D8C-410D-968A-3019F88679D0}"/>
                </a:ext>
              </a:extLst>
            </p:cNvPr>
            <p:cNvSpPr/>
            <p:nvPr/>
          </p:nvSpPr>
          <p:spPr bwMode="auto">
            <a:xfrm>
              <a:off x="2486805" y="2362178"/>
              <a:ext cx="1180523" cy="348597"/>
            </a:xfrm>
            <a:prstGeom prst="roundRect">
              <a:avLst/>
            </a:prstGeom>
            <a:no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zh-CN" altLang="en-US" kern="0" dirty="0">
                  <a:solidFill>
                    <a:srgbClr val="FF0000"/>
                  </a:solidFill>
                  <a:latin typeface="阿里巴巴普惠体 3.0 55 Regular" panose="00020600040101010101" pitchFamily="18" charset="-122"/>
                  <a:ea typeface="阿里巴巴普惠体 3.0 55 Regular" panose="00020600040101010101" pitchFamily="18" charset="-122"/>
                </a:rPr>
                <a:t>层次模型</a:t>
              </a:r>
              <a:endParaRPr lang="en-US" kern="0" dirty="0">
                <a:solidFill>
                  <a:srgbClr val="FF0000"/>
                </a:solidFill>
                <a:latin typeface="阿里巴巴普惠体 3.0 55 Regular" panose="00020600040101010101" pitchFamily="18" charset="-122"/>
                <a:ea typeface="阿里巴巴普惠体 3.0 55 Regular" panose="00020600040101010101" pitchFamily="18" charset="-122"/>
              </a:endParaRPr>
            </a:p>
          </p:txBody>
        </p:sp>
        <p:sp>
          <p:nvSpPr>
            <p:cNvPr id="10" name="Rounded Rectangle 7">
              <a:extLst>
                <a:ext uri="{FF2B5EF4-FFF2-40B4-BE49-F238E27FC236}">
                  <a16:creationId xmlns:a16="http://schemas.microsoft.com/office/drawing/2014/main" id="{4446AAD8-574F-4003-A888-E58449DFCAC4}"/>
                </a:ext>
              </a:extLst>
            </p:cNvPr>
            <p:cNvSpPr/>
            <p:nvPr/>
          </p:nvSpPr>
          <p:spPr bwMode="auto">
            <a:xfrm>
              <a:off x="3378505" y="3156603"/>
              <a:ext cx="1180523" cy="348597"/>
            </a:xfrm>
            <a:prstGeom prst="roundRect">
              <a:avLst>
                <a:gd name="adj" fmla="val 16667"/>
              </a:avLst>
            </a:prstGeom>
            <a:no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zh-CN" altLang="en-US" kern="0">
                  <a:solidFill>
                    <a:srgbClr val="FF0000"/>
                  </a:solidFill>
                  <a:latin typeface="阿里巴巴普惠体 3.0 55 Regular" panose="00020600040101010101" pitchFamily="18" charset="-122"/>
                  <a:ea typeface="阿里巴巴普惠体 3.0 55 Regular" panose="00020600040101010101" pitchFamily="18" charset="-122"/>
                </a:rPr>
                <a:t>网状模型</a:t>
              </a:r>
              <a:endParaRPr lang="en-US" kern="0" dirty="0">
                <a:solidFill>
                  <a:srgbClr val="FF0000"/>
                </a:solidFill>
                <a:latin typeface="阿里巴巴普惠体 3.0 55 Regular" panose="00020600040101010101" pitchFamily="18" charset="-122"/>
                <a:ea typeface="阿里巴巴普惠体 3.0 55 Regular" panose="00020600040101010101" pitchFamily="18" charset="-122"/>
              </a:endParaRPr>
            </a:p>
          </p:txBody>
        </p:sp>
        <p:sp>
          <p:nvSpPr>
            <p:cNvPr id="11" name="箭头: 右 10">
              <a:extLst>
                <a:ext uri="{FF2B5EF4-FFF2-40B4-BE49-F238E27FC236}">
                  <a16:creationId xmlns:a16="http://schemas.microsoft.com/office/drawing/2014/main" id="{86DC4738-6E88-46EA-A73F-531BA889533B}"/>
                </a:ext>
              </a:extLst>
            </p:cNvPr>
            <p:cNvSpPr/>
            <p:nvPr/>
          </p:nvSpPr>
          <p:spPr>
            <a:xfrm>
              <a:off x="2354095" y="2752928"/>
              <a:ext cx="8985112" cy="4474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12" name="椭圆 11">
              <a:extLst>
                <a:ext uri="{FF2B5EF4-FFF2-40B4-BE49-F238E27FC236}">
                  <a16:creationId xmlns:a16="http://schemas.microsoft.com/office/drawing/2014/main" id="{8802C922-FEEB-4B43-939B-CFFEAFEC03C3}"/>
                </a:ext>
              </a:extLst>
            </p:cNvPr>
            <p:cNvSpPr/>
            <p:nvPr/>
          </p:nvSpPr>
          <p:spPr>
            <a:xfrm>
              <a:off x="2830750" y="2752927"/>
              <a:ext cx="418289" cy="39883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13" name="椭圆 12">
              <a:extLst>
                <a:ext uri="{FF2B5EF4-FFF2-40B4-BE49-F238E27FC236}">
                  <a16:creationId xmlns:a16="http://schemas.microsoft.com/office/drawing/2014/main" id="{A592587E-CD55-4CA7-A20B-ED029F29DF1F}"/>
                </a:ext>
              </a:extLst>
            </p:cNvPr>
            <p:cNvSpPr/>
            <p:nvPr/>
          </p:nvSpPr>
          <p:spPr>
            <a:xfrm>
              <a:off x="3761360" y="2749683"/>
              <a:ext cx="418289" cy="39883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14" name="矩形 13">
              <a:extLst>
                <a:ext uri="{FF2B5EF4-FFF2-40B4-BE49-F238E27FC236}">
                  <a16:creationId xmlns:a16="http://schemas.microsoft.com/office/drawing/2014/main" id="{1124EF24-324A-4395-ABE4-0991B62A14AC}"/>
                </a:ext>
              </a:extLst>
            </p:cNvPr>
            <p:cNvSpPr/>
            <p:nvPr/>
          </p:nvSpPr>
          <p:spPr>
            <a:xfrm>
              <a:off x="5374280" y="3147058"/>
              <a:ext cx="2125745" cy="646331"/>
            </a:xfrm>
            <a:prstGeom prst="rect">
              <a:avLst/>
            </a:prstGeom>
          </p:spPr>
          <p:txBody>
            <a:bodyPr wrap="square">
              <a:spAutoFit/>
            </a:bodyPr>
            <a:lstStyle/>
            <a:p>
              <a:r>
                <a:rPr lang="zh-CN" altLang="en-US">
                  <a:solidFill>
                    <a:srgbClr val="FF0000"/>
                  </a:solidFill>
                  <a:latin typeface="阿里巴巴普惠体 3.0 55 Regular" panose="00020600040101010101" pitchFamily="18" charset="-122"/>
                  <a:ea typeface="阿里巴巴普惠体 3.0 55 Regular" panose="00020600040101010101" pitchFamily="18" charset="-122"/>
                </a:rPr>
                <a:t>面向对象数据模型、对象关系数据模型</a:t>
              </a:r>
            </a:p>
          </p:txBody>
        </p:sp>
        <p:sp>
          <p:nvSpPr>
            <p:cNvPr id="15" name="矩形 14">
              <a:extLst>
                <a:ext uri="{FF2B5EF4-FFF2-40B4-BE49-F238E27FC236}">
                  <a16:creationId xmlns:a16="http://schemas.microsoft.com/office/drawing/2014/main" id="{4C55CEDB-2A69-4CDF-905A-88021C70EC38}"/>
                </a:ext>
              </a:extLst>
            </p:cNvPr>
            <p:cNvSpPr/>
            <p:nvPr/>
          </p:nvSpPr>
          <p:spPr>
            <a:xfrm>
              <a:off x="6524670" y="2398029"/>
              <a:ext cx="2736061" cy="369332"/>
            </a:xfrm>
            <a:prstGeom prst="rect">
              <a:avLst/>
            </a:prstGeom>
          </p:spPr>
          <p:txBody>
            <a:bodyPr wrap="square">
              <a:spAutoFit/>
            </a:bodyPr>
            <a:lstStyle/>
            <a:p>
              <a:r>
                <a:rPr lang="zh-CN" altLang="en-US">
                  <a:solidFill>
                    <a:srgbClr val="FF0000"/>
                  </a:solidFill>
                  <a:latin typeface="阿里巴巴普惠体 3.0 55 Regular" panose="00020600040101010101" pitchFamily="18" charset="-122"/>
                  <a:ea typeface="阿里巴巴普惠体 3.0 55 Regular" panose="00020600040101010101" pitchFamily="18" charset="-122"/>
                </a:rPr>
                <a:t>半结构化的</a:t>
              </a:r>
              <a:r>
                <a:rPr lang="en-US" altLang="zh-CN">
                  <a:solidFill>
                    <a:srgbClr val="FF0000"/>
                  </a:solidFill>
                  <a:latin typeface="阿里巴巴普惠体 3.0 55 Regular" panose="00020600040101010101" pitchFamily="18" charset="-122"/>
                  <a:ea typeface="阿里巴巴普惠体 3.0 55 Regular" panose="00020600040101010101" pitchFamily="18" charset="-122"/>
                </a:rPr>
                <a:t>XML</a:t>
              </a:r>
              <a:r>
                <a:rPr lang="zh-CN" altLang="en-US">
                  <a:solidFill>
                    <a:srgbClr val="FF0000"/>
                  </a:solidFill>
                  <a:latin typeface="阿里巴巴普惠体 3.0 55 Regular" panose="00020600040101010101" pitchFamily="18" charset="-122"/>
                  <a:ea typeface="阿里巴巴普惠体 3.0 55 Regular" panose="00020600040101010101" pitchFamily="18" charset="-122"/>
                </a:rPr>
                <a:t>数据模型</a:t>
              </a:r>
            </a:p>
          </p:txBody>
        </p:sp>
        <p:sp>
          <p:nvSpPr>
            <p:cNvPr id="16" name="椭圆 15">
              <a:extLst>
                <a:ext uri="{FF2B5EF4-FFF2-40B4-BE49-F238E27FC236}">
                  <a16:creationId xmlns:a16="http://schemas.microsoft.com/office/drawing/2014/main" id="{DC6E0513-B1D5-4830-AE86-8354B92FF95A}"/>
                </a:ext>
              </a:extLst>
            </p:cNvPr>
            <p:cNvSpPr/>
            <p:nvPr/>
          </p:nvSpPr>
          <p:spPr>
            <a:xfrm>
              <a:off x="4740613" y="2746442"/>
              <a:ext cx="418289" cy="3988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17" name="Rounded Rectangle 7">
              <a:extLst>
                <a:ext uri="{FF2B5EF4-FFF2-40B4-BE49-F238E27FC236}">
                  <a16:creationId xmlns:a16="http://schemas.microsoft.com/office/drawing/2014/main" id="{D4740CB3-7A15-4733-A55D-6EDBE6DD62A5}"/>
                </a:ext>
              </a:extLst>
            </p:cNvPr>
            <p:cNvSpPr/>
            <p:nvPr/>
          </p:nvSpPr>
          <p:spPr bwMode="auto">
            <a:xfrm>
              <a:off x="4386941" y="2375147"/>
              <a:ext cx="1180523" cy="348597"/>
            </a:xfrm>
            <a:prstGeom prst="roundRect">
              <a:avLst>
                <a:gd name="adj" fmla="val 16667"/>
              </a:avLst>
            </a:prstGeom>
            <a:no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zh-CN" altLang="en-US" kern="0">
                  <a:solidFill>
                    <a:srgbClr val="0000FF"/>
                  </a:solidFill>
                  <a:latin typeface="阿里巴巴普惠体 3.0 55 Regular" panose="00020600040101010101" pitchFamily="18" charset="-122"/>
                  <a:ea typeface="阿里巴巴普惠体 3.0 55 Regular" panose="00020600040101010101" pitchFamily="18" charset="-122"/>
                </a:rPr>
                <a:t>关系模型</a:t>
              </a:r>
              <a:endParaRPr lang="en-US" kern="0" dirty="0">
                <a:solidFill>
                  <a:srgbClr val="0000FF"/>
                </a:solidFill>
                <a:latin typeface="阿里巴巴普惠体 3.0 55 Regular" panose="00020600040101010101" pitchFamily="18" charset="-122"/>
                <a:ea typeface="阿里巴巴普惠体 3.0 55 Regular" panose="00020600040101010101" pitchFamily="18" charset="-122"/>
              </a:endParaRPr>
            </a:p>
          </p:txBody>
        </p:sp>
        <p:sp>
          <p:nvSpPr>
            <p:cNvPr id="18" name="椭圆 17">
              <a:extLst>
                <a:ext uri="{FF2B5EF4-FFF2-40B4-BE49-F238E27FC236}">
                  <a16:creationId xmlns:a16="http://schemas.microsoft.com/office/drawing/2014/main" id="{58BC7A98-5415-4051-9FB2-5FCB987C94BE}"/>
                </a:ext>
              </a:extLst>
            </p:cNvPr>
            <p:cNvSpPr/>
            <p:nvPr/>
          </p:nvSpPr>
          <p:spPr>
            <a:xfrm>
              <a:off x="6089514" y="2752927"/>
              <a:ext cx="418289" cy="39883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19" name="椭圆 18">
              <a:extLst>
                <a:ext uri="{FF2B5EF4-FFF2-40B4-BE49-F238E27FC236}">
                  <a16:creationId xmlns:a16="http://schemas.microsoft.com/office/drawing/2014/main" id="{2F81DE2B-7D24-4CF8-B7EF-9BB398A0CA9B}"/>
                </a:ext>
              </a:extLst>
            </p:cNvPr>
            <p:cNvSpPr/>
            <p:nvPr/>
          </p:nvSpPr>
          <p:spPr>
            <a:xfrm>
              <a:off x="7691335" y="2759412"/>
              <a:ext cx="418289" cy="39883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20" name="椭圆 19">
              <a:extLst>
                <a:ext uri="{FF2B5EF4-FFF2-40B4-BE49-F238E27FC236}">
                  <a16:creationId xmlns:a16="http://schemas.microsoft.com/office/drawing/2014/main" id="{79DC0FD0-3EC4-4736-9954-6352A52D4CBC}"/>
                </a:ext>
              </a:extLst>
            </p:cNvPr>
            <p:cNvSpPr/>
            <p:nvPr/>
          </p:nvSpPr>
          <p:spPr>
            <a:xfrm>
              <a:off x="9798995" y="2756170"/>
              <a:ext cx="418289" cy="39883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阿里巴巴普惠体 3.0 55 Regular" panose="00020600040101010101" pitchFamily="18" charset="-122"/>
              </a:endParaRPr>
            </a:p>
          </p:txBody>
        </p:sp>
        <p:sp>
          <p:nvSpPr>
            <p:cNvPr id="21" name="矩形 20">
              <a:extLst>
                <a:ext uri="{FF2B5EF4-FFF2-40B4-BE49-F238E27FC236}">
                  <a16:creationId xmlns:a16="http://schemas.microsoft.com/office/drawing/2014/main" id="{E8E0361D-7A37-4C89-9E6C-5582178E1E9E}"/>
                </a:ext>
              </a:extLst>
            </p:cNvPr>
            <p:cNvSpPr/>
            <p:nvPr/>
          </p:nvSpPr>
          <p:spPr>
            <a:xfrm>
              <a:off x="9270327" y="3147059"/>
              <a:ext cx="1569660" cy="369332"/>
            </a:xfrm>
            <a:prstGeom prst="rect">
              <a:avLst/>
            </a:prstGeom>
          </p:spPr>
          <p:txBody>
            <a:bodyPr wrap="none">
              <a:spAutoFit/>
            </a:bodyPr>
            <a:lstStyle/>
            <a:p>
              <a:r>
                <a:rPr lang="zh-CN" altLang="en-US">
                  <a:solidFill>
                    <a:srgbClr val="FF0000"/>
                  </a:solidFill>
                  <a:latin typeface="阿里巴巴普惠体 3.0 55 Regular" panose="00020600040101010101" pitchFamily="18" charset="-122"/>
                  <a:ea typeface="阿里巴巴普惠体 3.0 55 Regular" panose="00020600040101010101" pitchFamily="18" charset="-122"/>
                </a:rPr>
                <a:t>新型数据模型</a:t>
              </a:r>
            </a:p>
          </p:txBody>
        </p:sp>
      </p:grpSp>
      <p:sp>
        <p:nvSpPr>
          <p:cNvPr id="22" name="矩形 21">
            <a:extLst>
              <a:ext uri="{FF2B5EF4-FFF2-40B4-BE49-F238E27FC236}">
                <a16:creationId xmlns:a16="http://schemas.microsoft.com/office/drawing/2014/main" id="{DE4AA296-0620-42AE-B6A4-9FA8F5161CF2}"/>
              </a:ext>
            </a:extLst>
          </p:cNvPr>
          <p:cNvSpPr/>
          <p:nvPr/>
        </p:nvSpPr>
        <p:spPr>
          <a:xfrm>
            <a:off x="1271027" y="3276796"/>
            <a:ext cx="6718058" cy="1422954"/>
          </a:xfrm>
          <a:prstGeom prst="rect">
            <a:avLst/>
          </a:prstGeom>
          <a:ln>
            <a:solidFill>
              <a:schemeClr val="accent1"/>
            </a:solidFill>
          </a:ln>
        </p:spPr>
        <p:txBody>
          <a:bodyPr wrap="square">
            <a:spAutoFit/>
          </a:bodyPr>
          <a:lstStyle/>
          <a:p>
            <a:pPr marL="174625" indent="-174625" algn="just">
              <a:lnSpc>
                <a:spcPct val="150000"/>
              </a:lnSpc>
              <a:buFont typeface="Arial" panose="020B0604020202020204" pitchFamily="34" charset="0"/>
              <a:buChar char="•"/>
            </a:pPr>
            <a:r>
              <a:rPr lang="zh-CN" altLang="zh-CN" sz="2000" dirty="0">
                <a:latin typeface="阿里巴巴普惠体 3.0 55 Regular" panose="00020600040101010101" pitchFamily="18" charset="-122"/>
                <a:ea typeface="阿里巴巴普惠体 3.0 55 Regular" panose="00020600040101010101" pitchFamily="18" charset="-122"/>
              </a:rPr>
              <a:t>相比于关系模型</a:t>
            </a:r>
            <a:r>
              <a:rPr lang="zh-CN" altLang="en-US" sz="2000" dirty="0">
                <a:latin typeface="阿里巴巴普惠体 3.0 55 Regular" panose="00020600040101010101" pitchFamily="18" charset="-122"/>
                <a:ea typeface="阿里巴巴普惠体 3.0 55 Regular" panose="00020600040101010101" pitchFamily="18" charset="-122"/>
              </a:rPr>
              <a:t>，</a:t>
            </a:r>
            <a:r>
              <a:rPr lang="zh-CN" altLang="zh-CN" sz="2000" dirty="0">
                <a:latin typeface="阿里巴巴普惠体 3.0 55 Regular" panose="00020600040101010101" pitchFamily="18" charset="-122"/>
                <a:ea typeface="阿里巴巴普惠体 3.0 55 Regular" panose="00020600040101010101" pitchFamily="18" charset="-122"/>
              </a:rPr>
              <a:t>这些模型按照数据模型应该具备的三个基本要素来衡量</a:t>
            </a:r>
            <a:r>
              <a:rPr lang="zh-CN" altLang="zh-CN" sz="2000" dirty="0">
                <a:solidFill>
                  <a:srgbClr val="FF0000"/>
                </a:solidFill>
                <a:latin typeface="阿里巴巴普惠体 3.0 55 Regular" panose="00020600040101010101" pitchFamily="18" charset="-122"/>
                <a:ea typeface="阿里巴巴普惠体 3.0 55 Regular" panose="00020600040101010101" pitchFamily="18" charset="-122"/>
              </a:rPr>
              <a:t>不严格</a:t>
            </a:r>
            <a:r>
              <a:rPr lang="zh-CN" altLang="en-US" sz="2000" dirty="0">
                <a:solidFill>
                  <a:srgbClr val="FF0000"/>
                </a:solidFill>
                <a:latin typeface="阿里巴巴普惠体 3.0 55 Regular" panose="00020600040101010101" pitchFamily="18" charset="-122"/>
                <a:ea typeface="阿里巴巴普惠体 3.0 55 Regular" panose="00020600040101010101" pitchFamily="18" charset="-122"/>
              </a:rPr>
              <a:t>，</a:t>
            </a:r>
            <a:r>
              <a:rPr lang="en-US" altLang="zh-CN" sz="2000" dirty="0">
                <a:latin typeface="阿里巴巴普惠体 3.0 55 Regular" panose="00020600040101010101" pitchFamily="18" charset="-122"/>
                <a:ea typeface="阿里巴巴普惠体 3.0 55 Regular" panose="00020600040101010101" pitchFamily="18" charset="-122"/>
              </a:rPr>
              <a:t> </a:t>
            </a:r>
            <a:r>
              <a:rPr lang="zh-CN" altLang="zh-CN" sz="2000" dirty="0">
                <a:latin typeface="阿里巴巴普惠体 3.0 55 Regular" panose="00020600040101010101" pitchFamily="18" charset="-122"/>
                <a:ea typeface="阿里巴巴普惠体 3.0 55 Regular" panose="00020600040101010101" pitchFamily="18" charset="-122"/>
              </a:rPr>
              <a:t>例如对这些数据的完整性约束就需要研究和发展</a:t>
            </a:r>
            <a:endParaRPr lang="zh-CN" altLang="en-US" sz="2000" dirty="0">
              <a:latin typeface="阿里巴巴普惠体 3.0 55 Regular" panose="00020600040101010101" pitchFamily="18" charset="-122"/>
              <a:ea typeface="阿里巴巴普惠体 3.0 55 Regular" panose="00020600040101010101" pitchFamily="18" charset="-122"/>
            </a:endParaRPr>
          </a:p>
        </p:txBody>
      </p:sp>
      <p:sp>
        <p:nvSpPr>
          <p:cNvPr id="23" name="文本框 22">
            <a:extLst>
              <a:ext uri="{FF2B5EF4-FFF2-40B4-BE49-F238E27FC236}">
                <a16:creationId xmlns:a16="http://schemas.microsoft.com/office/drawing/2014/main" id="{5CB7D1B5-D123-4C5D-A1E9-E7920D79EADC}"/>
              </a:ext>
            </a:extLst>
          </p:cNvPr>
          <p:cNvSpPr txBox="1"/>
          <p:nvPr/>
        </p:nvSpPr>
        <p:spPr>
          <a:xfrm>
            <a:off x="8060148" y="2834111"/>
            <a:ext cx="1926077" cy="2308324"/>
          </a:xfrm>
          <a:prstGeom prst="rect">
            <a:avLst/>
          </a:prstGeom>
          <a:noFill/>
        </p:spPr>
        <p:txBody>
          <a:bodyPr wrap="square" rtlCol="0">
            <a:spAutoFit/>
          </a:bodyPr>
          <a:lstStyle/>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键值对数据模型</a:t>
            </a:r>
            <a:r>
              <a:rPr lang="en-US" altLang="zh-CN" sz="1600" dirty="0">
                <a:solidFill>
                  <a:srgbClr val="0000FF"/>
                </a:solidFill>
                <a:latin typeface="HP Simplified Hans" panose="020B0500000000000000" pitchFamily="34" charset="-122"/>
                <a:ea typeface="阿里巴巴普惠体 3.0 55 Regular" panose="00020600040101010101" pitchFamily="18" charset="-122"/>
              </a:rPr>
              <a:t>(Key-Value)</a:t>
            </a:r>
          </a:p>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文档数据模型</a:t>
            </a:r>
            <a:endParaRPr lang="en-US" altLang="zh-CN" sz="16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图数据模型</a:t>
            </a:r>
            <a:endParaRPr lang="en-US" altLang="zh-CN" sz="16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时序数据模型</a:t>
            </a:r>
            <a:endParaRPr lang="en-US" altLang="zh-CN" sz="16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时空数据模型</a:t>
            </a:r>
            <a:endParaRPr lang="en-US" altLang="zh-CN" sz="16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流数据模型</a:t>
            </a:r>
            <a:endParaRPr lang="en-US" altLang="zh-CN" sz="16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dirty="0">
                <a:solidFill>
                  <a:srgbClr val="0000FF"/>
                </a:solidFill>
                <a:latin typeface="HP Simplified Hans" panose="020B0500000000000000" pitchFamily="34" charset="-122"/>
                <a:ea typeface="阿里巴巴普惠体 3.0 55 Regular" panose="00020600040101010101" pitchFamily="18" charset="-122"/>
              </a:rPr>
              <a:t>多媒体数据模型</a:t>
            </a:r>
            <a:endParaRPr lang="en-US" altLang="zh-CN" sz="1600" dirty="0">
              <a:solidFill>
                <a:srgbClr val="0000FF"/>
              </a:solidFill>
              <a:latin typeface="HP Simplified Hans" panose="020B0500000000000000" pitchFamily="34" charset="-122"/>
              <a:ea typeface="阿里巴巴普惠体 3.0 55 Regular" panose="00020600040101010101" pitchFamily="18" charset="-122"/>
            </a:endParaRPr>
          </a:p>
          <a:p>
            <a:pPr marL="174625" indent="-174625">
              <a:buFont typeface="Arial" panose="020B0604020202020204" pitchFamily="34" charset="0"/>
              <a:buChar char="•"/>
            </a:pPr>
            <a:r>
              <a:rPr lang="zh-CN" altLang="en-US" sz="1600" dirty="0">
                <a:solidFill>
                  <a:srgbClr val="FF0000"/>
                </a:solidFill>
                <a:latin typeface="HP Simplified Hans" panose="020B0500000000000000" pitchFamily="34" charset="-122"/>
                <a:ea typeface="阿里巴巴普惠体 3.0 55 Regular" panose="00020600040101010101" pitchFamily="18" charset="-122"/>
              </a:rPr>
              <a:t>向量数据模型</a:t>
            </a:r>
          </a:p>
        </p:txBody>
      </p:sp>
    </p:spTree>
    <p:extLst>
      <p:ext uri="{BB962C8B-B14F-4D97-AF65-F5344CB8AC3E}">
        <p14:creationId xmlns:p14="http://schemas.microsoft.com/office/powerpoint/2010/main" val="39451604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数据模型小结</a:t>
            </a:r>
          </a:p>
        </p:txBody>
      </p:sp>
      <p:sp>
        <p:nvSpPr>
          <p:cNvPr id="9" name="内容占位符 8">
            <a:extLst>
              <a:ext uri="{FF2B5EF4-FFF2-40B4-BE49-F238E27FC236}">
                <a16:creationId xmlns:a16="http://schemas.microsoft.com/office/drawing/2014/main" id="{8EC430D3-9738-4DF1-A725-212CF7DC43D4}"/>
              </a:ext>
            </a:extLst>
          </p:cNvPr>
          <p:cNvSpPr>
            <a:spLocks noGrp="1"/>
          </p:cNvSpPr>
          <p:nvPr>
            <p:ph idx="1"/>
          </p:nvPr>
        </p:nvSpPr>
        <p:spPr/>
        <p:txBody>
          <a:bodyPr/>
          <a:lstStyle/>
          <a:p>
            <a:r>
              <a:rPr lang="zh-CN" altLang="en-US" dirty="0"/>
              <a:t>数据模型是对现实世界客观对象的</a:t>
            </a:r>
            <a:r>
              <a:rPr lang="zh-CN" altLang="en-US" dirty="0">
                <a:solidFill>
                  <a:srgbClr val="FF0000"/>
                </a:solidFill>
              </a:rPr>
              <a:t>抽象</a:t>
            </a:r>
            <a:endParaRPr lang="en-US" altLang="zh-CN" dirty="0">
              <a:solidFill>
                <a:srgbClr val="FF0000"/>
              </a:solidFill>
            </a:endParaRPr>
          </a:p>
          <a:p>
            <a:endParaRPr lang="zh-CN" altLang="en-US" sz="600" dirty="0"/>
          </a:p>
          <a:p>
            <a:r>
              <a:rPr lang="zh-CN" altLang="en-US" dirty="0"/>
              <a:t>数据模型应该满足三方面要求：</a:t>
            </a:r>
          </a:p>
          <a:p>
            <a:pPr lvl="1"/>
            <a:r>
              <a:rPr lang="zh-CN" altLang="en-US" dirty="0"/>
              <a:t>比较真实地模拟世界</a:t>
            </a:r>
            <a:endParaRPr lang="en-US" altLang="zh-CN" dirty="0"/>
          </a:p>
          <a:p>
            <a:pPr lvl="1"/>
            <a:r>
              <a:rPr lang="zh-CN" altLang="en-US" dirty="0"/>
              <a:t>容易为人所理解</a:t>
            </a:r>
            <a:endParaRPr lang="en-US" altLang="zh-CN" dirty="0"/>
          </a:p>
          <a:p>
            <a:pPr lvl="1"/>
            <a:r>
              <a:rPr lang="zh-CN" altLang="en-US" dirty="0"/>
              <a:t>便于在计算机上实现</a:t>
            </a:r>
          </a:p>
          <a:p>
            <a:endParaRPr lang="en-US" altLang="zh-CN" sz="800" dirty="0"/>
          </a:p>
          <a:p>
            <a:r>
              <a:rPr lang="zh-CN" altLang="en-US" dirty="0"/>
              <a:t>数据建模的过程划分为两个层次</a:t>
            </a:r>
          </a:p>
          <a:p>
            <a:pPr lvl="1"/>
            <a:r>
              <a:rPr lang="zh-CN" altLang="en-US" dirty="0">
                <a:solidFill>
                  <a:srgbClr val="FF0000"/>
                </a:solidFill>
              </a:rPr>
              <a:t>概念模型</a:t>
            </a:r>
            <a:r>
              <a:rPr lang="zh-CN" altLang="en-US" dirty="0"/>
              <a:t>：按照用户的观点对数据和信息建模</a:t>
            </a:r>
          </a:p>
          <a:p>
            <a:pPr lvl="1"/>
            <a:r>
              <a:rPr lang="zh-CN" altLang="en-US" dirty="0">
                <a:solidFill>
                  <a:srgbClr val="FF0000"/>
                </a:solidFill>
              </a:rPr>
              <a:t>数据模型</a:t>
            </a:r>
            <a:r>
              <a:rPr lang="zh-CN" altLang="en-US" dirty="0"/>
              <a:t>：按计算机系统的观点对数据建模</a:t>
            </a:r>
            <a:endParaRPr lang="en-US" altLang="zh-CN" dirty="0"/>
          </a:p>
          <a:p>
            <a:pPr lvl="2"/>
            <a:r>
              <a:rPr lang="zh-CN" altLang="en-US" dirty="0"/>
              <a:t>包括</a:t>
            </a:r>
            <a:r>
              <a:rPr lang="zh-CN" altLang="en-US" dirty="0">
                <a:solidFill>
                  <a:srgbClr val="FF3300"/>
                </a:solidFill>
              </a:rPr>
              <a:t>逻辑模型</a:t>
            </a:r>
            <a:r>
              <a:rPr lang="zh-CN" altLang="en-US" dirty="0"/>
              <a:t>和</a:t>
            </a:r>
            <a:r>
              <a:rPr lang="zh-CN" altLang="en-US" dirty="0">
                <a:solidFill>
                  <a:srgbClr val="FF3300"/>
                </a:solidFill>
              </a:rPr>
              <a:t>物理模型</a:t>
            </a:r>
            <a:endParaRPr lang="en-US" altLang="zh-CN" dirty="0">
              <a:solidFill>
                <a:srgbClr val="FF3300"/>
              </a:solidFill>
            </a:endParaRPr>
          </a:p>
        </p:txBody>
      </p:sp>
    </p:spTree>
    <p:extLst>
      <p:ext uri="{BB962C8B-B14F-4D97-AF65-F5344CB8AC3E}">
        <p14:creationId xmlns:p14="http://schemas.microsoft.com/office/powerpoint/2010/main" val="21226671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dirty="0"/>
              <a:t>数据库系统的三级模式结构</a:t>
            </a:r>
          </a:p>
        </p:txBody>
      </p:sp>
      <p:sp>
        <p:nvSpPr>
          <p:cNvPr id="3" name="内容占位符 2">
            <a:extLst>
              <a:ext uri="{FF2B5EF4-FFF2-40B4-BE49-F238E27FC236}">
                <a16:creationId xmlns:a16="http://schemas.microsoft.com/office/drawing/2014/main" id="{7B2BC3DD-58C9-47FE-BD11-AEFE80EF3A6C}"/>
              </a:ext>
            </a:extLst>
          </p:cNvPr>
          <p:cNvSpPr>
            <a:spLocks noGrp="1"/>
          </p:cNvSpPr>
          <p:nvPr>
            <p:ph idx="1"/>
          </p:nvPr>
        </p:nvSpPr>
        <p:spPr/>
        <p:txBody>
          <a:bodyPr>
            <a:normAutofit/>
          </a:bodyPr>
          <a:lstStyle/>
          <a:p>
            <a:r>
              <a:rPr lang="zh-CN" altLang="en-US" dirty="0"/>
              <a:t>从</a:t>
            </a:r>
            <a:r>
              <a:rPr lang="zh-CN" altLang="en-US" dirty="0">
                <a:solidFill>
                  <a:srgbClr val="FF0000"/>
                </a:solidFill>
              </a:rPr>
              <a:t>数据库管理系统角度</a:t>
            </a:r>
            <a:r>
              <a:rPr lang="zh-CN" altLang="en-US" dirty="0"/>
              <a:t>来看，数据库系统的</a:t>
            </a:r>
            <a:r>
              <a:rPr lang="zh-CN" altLang="en-US" dirty="0">
                <a:solidFill>
                  <a:srgbClr val="FF0000"/>
                </a:solidFill>
              </a:rPr>
              <a:t>三级模式结构</a:t>
            </a:r>
            <a:r>
              <a:rPr lang="zh-CN" altLang="en-US" dirty="0"/>
              <a:t>指数据库系统是由</a:t>
            </a:r>
            <a:r>
              <a:rPr lang="zh-CN" altLang="en-US" dirty="0">
                <a:solidFill>
                  <a:srgbClr val="0000FF"/>
                </a:solidFill>
              </a:rPr>
              <a:t>模式</a:t>
            </a:r>
            <a:r>
              <a:rPr lang="zh-CN" altLang="en-US" dirty="0"/>
              <a:t>、</a:t>
            </a:r>
            <a:r>
              <a:rPr lang="zh-CN" altLang="en-US" dirty="0">
                <a:solidFill>
                  <a:srgbClr val="0000FF"/>
                </a:solidFill>
              </a:rPr>
              <a:t>外模式</a:t>
            </a:r>
            <a:r>
              <a:rPr lang="zh-CN" altLang="en-US" dirty="0"/>
              <a:t>和</a:t>
            </a:r>
            <a:r>
              <a:rPr lang="zh-CN" altLang="en-US" dirty="0">
                <a:solidFill>
                  <a:srgbClr val="0000FF"/>
                </a:solidFill>
              </a:rPr>
              <a:t>内模式</a:t>
            </a:r>
            <a:r>
              <a:rPr lang="zh-CN" altLang="en-US" dirty="0"/>
              <a:t>三级构成，是数据库系统</a:t>
            </a:r>
            <a:r>
              <a:rPr lang="zh-CN" altLang="en-US" dirty="0">
                <a:solidFill>
                  <a:srgbClr val="FF0000"/>
                </a:solidFill>
              </a:rPr>
              <a:t>内部的体系结构</a:t>
            </a:r>
            <a:endParaRPr lang="en-US" altLang="zh-CN" dirty="0">
              <a:solidFill>
                <a:srgbClr val="FF0000"/>
              </a:solidFill>
            </a:endParaRPr>
          </a:p>
          <a:p>
            <a:endParaRPr lang="zh-CN" altLang="en-US" sz="600" dirty="0"/>
          </a:p>
          <a:p>
            <a:r>
              <a:rPr lang="zh-CN" altLang="en-US" dirty="0"/>
              <a:t>根据</a:t>
            </a:r>
            <a:r>
              <a:rPr lang="zh-CN" altLang="en-US" dirty="0">
                <a:solidFill>
                  <a:srgbClr val="FF0000"/>
                </a:solidFill>
              </a:rPr>
              <a:t>计算机的系统结构</a:t>
            </a:r>
            <a:r>
              <a:rPr lang="zh-CN" altLang="en-US" dirty="0"/>
              <a:t>，从</a:t>
            </a:r>
            <a:r>
              <a:rPr lang="zh-CN" altLang="en-US" dirty="0">
                <a:solidFill>
                  <a:srgbClr val="FF0000"/>
                </a:solidFill>
              </a:rPr>
              <a:t>数据库最终用户角度</a:t>
            </a:r>
            <a:r>
              <a:rPr lang="zh-CN" altLang="en-US" dirty="0"/>
              <a:t>看，</a:t>
            </a:r>
            <a:r>
              <a:rPr lang="zh-CN" altLang="en-US" dirty="0">
                <a:solidFill>
                  <a:srgbClr val="FF0000"/>
                </a:solidFill>
              </a:rPr>
              <a:t>数据库系统的外部体系结构（</a:t>
            </a:r>
            <a:r>
              <a:rPr lang="zh-CN" altLang="en-US" dirty="0">
                <a:solidFill>
                  <a:srgbClr val="0000FF"/>
                </a:solidFill>
              </a:rPr>
              <a:t>系统部署后的拓扑结构</a:t>
            </a:r>
            <a:r>
              <a:rPr lang="zh-CN" altLang="en-US" dirty="0">
                <a:solidFill>
                  <a:srgbClr val="FF0000"/>
                </a:solidFill>
              </a:rPr>
              <a:t>）</a:t>
            </a:r>
            <a:r>
              <a:rPr lang="zh-CN" altLang="en-US" dirty="0"/>
              <a:t>分为</a:t>
            </a:r>
            <a:r>
              <a:rPr lang="en-US" altLang="zh-CN" dirty="0"/>
              <a:t>:</a:t>
            </a:r>
          </a:p>
          <a:p>
            <a:pPr lvl="1"/>
            <a:r>
              <a:rPr lang="zh-CN" altLang="en-US" dirty="0"/>
              <a:t>集中式结构</a:t>
            </a:r>
            <a:endParaRPr lang="en-US" altLang="zh-CN" dirty="0"/>
          </a:p>
          <a:p>
            <a:pPr lvl="1"/>
            <a:r>
              <a:rPr lang="zh-CN" altLang="en-US" dirty="0"/>
              <a:t>客户机</a:t>
            </a:r>
            <a:r>
              <a:rPr lang="en-US" altLang="zh-CN" dirty="0"/>
              <a:t>/</a:t>
            </a:r>
            <a:r>
              <a:rPr lang="zh-CN" altLang="en-US" dirty="0"/>
              <a:t>服务器（浏览器</a:t>
            </a:r>
            <a:r>
              <a:rPr lang="en-US" altLang="zh-CN" dirty="0"/>
              <a:t>/</a:t>
            </a:r>
            <a:r>
              <a:rPr lang="zh-CN" altLang="en-US" dirty="0"/>
              <a:t>应用服务器</a:t>
            </a:r>
            <a:r>
              <a:rPr lang="en-US" altLang="zh-CN" dirty="0"/>
              <a:t>/</a:t>
            </a:r>
            <a:r>
              <a:rPr lang="zh-CN" altLang="en-US" dirty="0"/>
              <a:t>数据库服务器）</a:t>
            </a:r>
            <a:endParaRPr lang="en-US" altLang="zh-CN" dirty="0"/>
          </a:p>
          <a:p>
            <a:pPr lvl="1"/>
            <a:r>
              <a:rPr lang="zh-CN" altLang="en-US" dirty="0"/>
              <a:t>并行结构</a:t>
            </a:r>
          </a:p>
          <a:p>
            <a:pPr lvl="1"/>
            <a:r>
              <a:rPr lang="zh-CN" altLang="en-US" dirty="0"/>
              <a:t>分布式结构</a:t>
            </a:r>
          </a:p>
          <a:p>
            <a:pPr lvl="1"/>
            <a:r>
              <a:rPr lang="zh-CN" altLang="en-US" dirty="0"/>
              <a:t>云结构</a:t>
            </a:r>
            <a:endParaRPr lang="en-US" altLang="zh-CN" sz="500" dirty="0"/>
          </a:p>
          <a:p>
            <a:pPr lvl="1"/>
            <a:r>
              <a:rPr lang="en-US" altLang="zh-CN" dirty="0"/>
              <a:t>…</a:t>
            </a:r>
          </a:p>
        </p:txBody>
      </p:sp>
    </p:spTree>
    <p:extLst>
      <p:ext uri="{BB962C8B-B14F-4D97-AF65-F5344CB8AC3E}">
        <p14:creationId xmlns:p14="http://schemas.microsoft.com/office/powerpoint/2010/main" val="22332950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5.1</a:t>
            </a:r>
            <a:r>
              <a:rPr lang="zh-CN" altLang="en-US"/>
              <a:t>数据库系统中的模式概念</a:t>
            </a:r>
          </a:p>
        </p:txBody>
      </p:sp>
      <p:sp>
        <p:nvSpPr>
          <p:cNvPr id="7" name="内容占位符 6">
            <a:extLst>
              <a:ext uri="{FF2B5EF4-FFF2-40B4-BE49-F238E27FC236}">
                <a16:creationId xmlns:a16="http://schemas.microsoft.com/office/drawing/2014/main" id="{EA595AF7-9F23-4C7D-B392-89ED525CB04B}"/>
              </a:ext>
            </a:extLst>
          </p:cNvPr>
          <p:cNvSpPr>
            <a:spLocks noGrp="1"/>
          </p:cNvSpPr>
          <p:nvPr>
            <p:ph idx="1"/>
          </p:nvPr>
        </p:nvSpPr>
        <p:spPr/>
        <p:txBody>
          <a:bodyPr/>
          <a:lstStyle/>
          <a:p>
            <a:r>
              <a:rPr lang="zh-CN" altLang="en-US" dirty="0"/>
              <a:t>“型”和“值”的概念</a:t>
            </a:r>
          </a:p>
          <a:p>
            <a:pPr lvl="1"/>
            <a:r>
              <a:rPr lang="zh-CN" altLang="en-US" dirty="0">
                <a:solidFill>
                  <a:srgbClr val="FF0000"/>
                </a:solidFill>
              </a:rPr>
              <a:t>型</a:t>
            </a:r>
            <a:r>
              <a:rPr lang="en-US" altLang="zh-CN" dirty="0">
                <a:solidFill>
                  <a:srgbClr val="FF0000"/>
                </a:solidFill>
              </a:rPr>
              <a:t>(type)</a:t>
            </a:r>
          </a:p>
          <a:p>
            <a:pPr lvl="2"/>
            <a:r>
              <a:rPr lang="zh-CN" altLang="en-US" dirty="0"/>
              <a:t>类型的简称</a:t>
            </a:r>
            <a:endParaRPr lang="en-US" altLang="zh-CN" dirty="0"/>
          </a:p>
          <a:p>
            <a:pPr lvl="2"/>
            <a:r>
              <a:rPr lang="zh-CN" altLang="en-US" dirty="0"/>
              <a:t>是对一类数据的结构和属性的说明</a:t>
            </a:r>
            <a:endParaRPr lang="en-US" altLang="zh-CN" dirty="0"/>
          </a:p>
          <a:p>
            <a:pPr lvl="2"/>
            <a:r>
              <a:rPr lang="zh-CN" altLang="en-US" dirty="0"/>
              <a:t>例子：</a:t>
            </a:r>
            <a:r>
              <a:rPr lang="zh-CN" altLang="en-US" dirty="0">
                <a:solidFill>
                  <a:srgbClr val="0000FF"/>
                </a:solidFill>
              </a:rPr>
              <a:t>学生记录：</a:t>
            </a:r>
            <a:r>
              <a:rPr lang="en-US" altLang="zh-CN" dirty="0">
                <a:solidFill>
                  <a:srgbClr val="0000FF"/>
                </a:solidFill>
              </a:rPr>
              <a:t>(</a:t>
            </a:r>
            <a:r>
              <a:rPr lang="zh-CN" altLang="en-US" dirty="0">
                <a:solidFill>
                  <a:srgbClr val="0000FF"/>
                </a:solidFill>
              </a:rPr>
              <a:t>学号，姓名，性别，出生日期，主修专业</a:t>
            </a:r>
            <a:r>
              <a:rPr lang="en-US" altLang="zh-CN" dirty="0">
                <a:solidFill>
                  <a:srgbClr val="0000FF"/>
                </a:solidFill>
              </a:rPr>
              <a:t>)</a:t>
            </a:r>
          </a:p>
          <a:p>
            <a:pPr lvl="2"/>
            <a:endParaRPr lang="en-US" altLang="zh-CN" sz="1200" dirty="0"/>
          </a:p>
          <a:p>
            <a:pPr lvl="1"/>
            <a:r>
              <a:rPr lang="zh-CN" altLang="en-US" dirty="0">
                <a:solidFill>
                  <a:srgbClr val="FF0000"/>
                </a:solidFill>
              </a:rPr>
              <a:t>值</a:t>
            </a:r>
            <a:r>
              <a:rPr lang="en-US" altLang="zh-CN" dirty="0">
                <a:solidFill>
                  <a:srgbClr val="FF0000"/>
                </a:solidFill>
              </a:rPr>
              <a:t>(value)</a:t>
            </a:r>
          </a:p>
          <a:p>
            <a:pPr lvl="2"/>
            <a:r>
              <a:rPr lang="zh-CN" altLang="en-US" dirty="0"/>
              <a:t>是型的一个具体赋值</a:t>
            </a:r>
            <a:endParaRPr lang="en-US" altLang="zh-CN" dirty="0"/>
          </a:p>
          <a:p>
            <a:pPr lvl="2"/>
            <a:r>
              <a:rPr lang="zh-CN" altLang="en-US" dirty="0"/>
              <a:t>例子：上面型的一个实例：</a:t>
            </a:r>
            <a:r>
              <a:rPr lang="en-US" altLang="zh-CN" dirty="0">
                <a:solidFill>
                  <a:srgbClr val="FF3300"/>
                </a:solidFill>
              </a:rPr>
              <a:t>(‘20180003’, ‘</a:t>
            </a:r>
            <a:r>
              <a:rPr lang="zh-CN" altLang="en-US" dirty="0">
                <a:solidFill>
                  <a:srgbClr val="FF3300"/>
                </a:solidFill>
              </a:rPr>
              <a:t>王敏</a:t>
            </a:r>
            <a:r>
              <a:rPr lang="en-US" altLang="zh-CN" dirty="0">
                <a:solidFill>
                  <a:srgbClr val="FF3300"/>
                </a:solidFill>
              </a:rPr>
              <a:t>’, ‘</a:t>
            </a:r>
            <a:r>
              <a:rPr lang="zh-CN" altLang="en-US" dirty="0">
                <a:solidFill>
                  <a:srgbClr val="FF3300"/>
                </a:solidFill>
              </a:rPr>
              <a:t>女</a:t>
            </a:r>
            <a:r>
              <a:rPr lang="en-US" altLang="zh-CN" dirty="0">
                <a:solidFill>
                  <a:srgbClr val="FF3300"/>
                </a:solidFill>
              </a:rPr>
              <a:t>’, 2001-8-1, ‘</a:t>
            </a:r>
            <a:r>
              <a:rPr lang="zh-CN" altLang="en-US" dirty="0">
                <a:solidFill>
                  <a:srgbClr val="FF3300"/>
                </a:solidFill>
              </a:rPr>
              <a:t>计算机科学与技术</a:t>
            </a:r>
            <a:r>
              <a:rPr lang="en-US" altLang="zh-CN" dirty="0">
                <a:solidFill>
                  <a:srgbClr val="FF3300"/>
                </a:solidFill>
              </a:rPr>
              <a:t>’)</a:t>
            </a:r>
            <a:endParaRPr lang="en-US" altLang="zh-CN" dirty="0"/>
          </a:p>
        </p:txBody>
      </p:sp>
    </p:spTree>
    <p:extLst>
      <p:ext uri="{BB962C8B-B14F-4D97-AF65-F5344CB8AC3E}">
        <p14:creationId xmlns:p14="http://schemas.microsoft.com/office/powerpoint/2010/main" val="8892890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sp>
        <p:nvSpPr>
          <p:cNvPr id="3" name="内容占位符 2">
            <a:extLst>
              <a:ext uri="{FF2B5EF4-FFF2-40B4-BE49-F238E27FC236}">
                <a16:creationId xmlns:a16="http://schemas.microsoft.com/office/drawing/2014/main" id="{5F7434BA-7D5C-4270-8783-0A442D9BF788}"/>
              </a:ext>
            </a:extLst>
          </p:cNvPr>
          <p:cNvSpPr>
            <a:spLocks noGrp="1"/>
          </p:cNvSpPr>
          <p:nvPr>
            <p:ph idx="1"/>
          </p:nvPr>
        </p:nvSpPr>
        <p:spPr/>
        <p:txBody>
          <a:bodyPr/>
          <a:lstStyle/>
          <a:p>
            <a:r>
              <a:rPr lang="zh-CN" altLang="en-US">
                <a:solidFill>
                  <a:srgbClr val="FF0000"/>
                </a:solidFill>
              </a:rPr>
              <a:t>模式</a:t>
            </a:r>
            <a:r>
              <a:rPr lang="en-US" altLang="zh-CN">
                <a:solidFill>
                  <a:srgbClr val="FF0000"/>
                </a:solidFill>
              </a:rPr>
              <a:t>(Schema)</a:t>
            </a:r>
            <a:endParaRPr lang="zh-CN" altLang="en-US">
              <a:solidFill>
                <a:srgbClr val="FF0000"/>
              </a:solidFill>
            </a:endParaRPr>
          </a:p>
          <a:p>
            <a:pPr lvl="1"/>
            <a:r>
              <a:rPr lang="zh-CN" altLang="en-US"/>
              <a:t>数据库中</a:t>
            </a:r>
            <a:r>
              <a:rPr lang="zh-CN" altLang="en-US">
                <a:solidFill>
                  <a:srgbClr val="FF3300"/>
                </a:solidFill>
              </a:rPr>
              <a:t>全体数据的逻辑结构和特征</a:t>
            </a:r>
            <a:r>
              <a:rPr lang="zh-CN" altLang="en-US"/>
              <a:t>的描述</a:t>
            </a:r>
          </a:p>
          <a:p>
            <a:pPr lvl="1"/>
            <a:r>
              <a:rPr lang="zh-CN" altLang="en-US"/>
              <a:t>是型的描述，不涉及具体值</a:t>
            </a:r>
          </a:p>
          <a:p>
            <a:pPr lvl="1"/>
            <a:r>
              <a:rPr lang="zh-CN" altLang="en-US"/>
              <a:t>反映的是数据的结构及其联系</a:t>
            </a:r>
          </a:p>
          <a:p>
            <a:pPr lvl="1"/>
            <a:r>
              <a:rPr lang="zh-CN" altLang="en-US"/>
              <a:t>模式是</a:t>
            </a:r>
            <a:r>
              <a:rPr lang="zh-CN" altLang="en-US">
                <a:solidFill>
                  <a:srgbClr val="FF3300"/>
                </a:solidFill>
              </a:rPr>
              <a:t>相对稳定</a:t>
            </a:r>
            <a:r>
              <a:rPr lang="zh-CN" altLang="en-US"/>
              <a:t>的</a:t>
            </a:r>
            <a:endParaRPr lang="en-US" altLang="zh-CN"/>
          </a:p>
          <a:p>
            <a:pPr lvl="2"/>
            <a:r>
              <a:rPr lang="zh-CN" altLang="en-US">
                <a:solidFill>
                  <a:srgbClr val="FF0000"/>
                </a:solidFill>
              </a:rPr>
              <a:t>模式依赖于系统的业务逻辑</a:t>
            </a:r>
            <a:endParaRPr lang="zh-CN" altLang="en-US">
              <a:solidFill>
                <a:srgbClr val="0000FF"/>
              </a:solidFill>
            </a:endParaRPr>
          </a:p>
          <a:p>
            <a:r>
              <a:rPr lang="zh-CN" altLang="en-US">
                <a:solidFill>
                  <a:srgbClr val="FF0000"/>
                </a:solidFill>
              </a:rPr>
              <a:t>实例</a:t>
            </a:r>
            <a:r>
              <a:rPr lang="en-US" altLang="zh-CN">
                <a:solidFill>
                  <a:srgbClr val="FF0000"/>
                </a:solidFill>
              </a:rPr>
              <a:t>(Instance)</a:t>
            </a:r>
            <a:endParaRPr lang="zh-CN" altLang="en-US">
              <a:solidFill>
                <a:srgbClr val="FF0000"/>
              </a:solidFill>
            </a:endParaRPr>
          </a:p>
          <a:p>
            <a:pPr lvl="1"/>
            <a:r>
              <a:rPr lang="zh-CN" altLang="en-US"/>
              <a:t>模式的一个具体值</a:t>
            </a:r>
          </a:p>
          <a:p>
            <a:pPr lvl="1"/>
            <a:r>
              <a:rPr lang="zh-CN" altLang="en-US"/>
              <a:t>反映数据库某一时刻的状态</a:t>
            </a:r>
          </a:p>
          <a:p>
            <a:pPr lvl="1"/>
            <a:r>
              <a:rPr lang="zh-CN" altLang="en-US"/>
              <a:t>同一个模式可以有很多实例</a:t>
            </a:r>
          </a:p>
          <a:p>
            <a:pPr lvl="1"/>
            <a:r>
              <a:rPr lang="zh-CN" altLang="en-US"/>
              <a:t>实例随数据库中数据的更新而变动</a:t>
            </a:r>
          </a:p>
        </p:txBody>
      </p:sp>
      <p:sp>
        <p:nvSpPr>
          <p:cNvPr id="8" name="文本框 7">
            <a:extLst>
              <a:ext uri="{FF2B5EF4-FFF2-40B4-BE49-F238E27FC236}">
                <a16:creationId xmlns:a16="http://schemas.microsoft.com/office/drawing/2014/main" id="{01701EC2-D8EC-4534-BC0D-6B09CE389318}"/>
              </a:ext>
            </a:extLst>
          </p:cNvPr>
          <p:cNvSpPr txBox="1"/>
          <p:nvPr/>
        </p:nvSpPr>
        <p:spPr>
          <a:xfrm>
            <a:off x="7167744" y="1759438"/>
            <a:ext cx="2723744" cy="728982"/>
          </a:xfrm>
          <a:prstGeom prst="rect">
            <a:avLst/>
          </a:prstGeom>
          <a:noFill/>
        </p:spPr>
        <p:txBody>
          <a:bodyPr wrap="square" rtlCol="0">
            <a:spAutoFit/>
          </a:bodyPr>
          <a:lstStyle/>
          <a:p>
            <a:pPr algn="ctr">
              <a:lnSpc>
                <a:spcPct val="120000"/>
              </a:lnSpc>
            </a:pPr>
            <a:r>
              <a:rPr lang="zh-CN" altLang="en-US" b="1">
                <a:solidFill>
                  <a:srgbClr val="0000FF"/>
                </a:solidFill>
                <a:latin typeface="微软雅黑" panose="020B0503020204020204" pitchFamily="34" charset="-122"/>
                <a:ea typeface="微软雅黑" panose="020B0503020204020204" pitchFamily="34" charset="-122"/>
              </a:rPr>
              <a:t>选课模式：</a:t>
            </a:r>
            <a:endParaRPr lang="en-US" altLang="zh-CN" b="1">
              <a:solidFill>
                <a:srgbClr val="0000FF"/>
              </a:solidFill>
              <a:latin typeface="微软雅黑" panose="020B0503020204020204" pitchFamily="34" charset="-122"/>
              <a:ea typeface="微软雅黑" panose="020B0503020204020204" pitchFamily="34" charset="-122"/>
            </a:endParaRPr>
          </a:p>
          <a:p>
            <a:pPr>
              <a:lnSpc>
                <a:spcPct val="120000"/>
              </a:lnSpc>
            </a:pPr>
            <a:r>
              <a:rPr lang="zh-CN" altLang="en-US" b="1">
                <a:solidFill>
                  <a:srgbClr val="FF3300"/>
                </a:solidFill>
                <a:latin typeface="微软雅黑" panose="020B0503020204020204" pitchFamily="34" charset="-122"/>
                <a:ea typeface="微软雅黑" panose="020B0503020204020204" pitchFamily="34" charset="-122"/>
              </a:rPr>
              <a:t>选课</a:t>
            </a:r>
            <a:r>
              <a:rPr lang="en-US" altLang="zh-CN" b="1">
                <a:solidFill>
                  <a:srgbClr val="0000FF"/>
                </a:solidFill>
                <a:latin typeface="微软雅黑" panose="020B0503020204020204" pitchFamily="34" charset="-122"/>
                <a:ea typeface="微软雅黑" panose="020B0503020204020204" pitchFamily="34" charset="-122"/>
              </a:rPr>
              <a:t>(</a:t>
            </a:r>
            <a:r>
              <a:rPr lang="zh-CN" altLang="en-US" b="1">
                <a:solidFill>
                  <a:srgbClr val="0000FF"/>
                </a:solidFill>
                <a:latin typeface="微软雅黑" panose="020B0503020204020204" pitchFamily="34" charset="-122"/>
                <a:ea typeface="微软雅黑" panose="020B0503020204020204" pitchFamily="34" charset="-122"/>
              </a:rPr>
              <a:t>学号</a:t>
            </a:r>
            <a:r>
              <a:rPr lang="en-US" altLang="zh-CN" b="1">
                <a:solidFill>
                  <a:srgbClr val="0000FF"/>
                </a:solidFill>
                <a:latin typeface="微软雅黑" panose="020B0503020204020204" pitchFamily="34" charset="-122"/>
                <a:ea typeface="微软雅黑" panose="020B0503020204020204" pitchFamily="34" charset="-122"/>
              </a:rPr>
              <a:t>, </a:t>
            </a:r>
            <a:r>
              <a:rPr lang="zh-CN" altLang="en-US" b="1">
                <a:solidFill>
                  <a:srgbClr val="0000FF"/>
                </a:solidFill>
                <a:latin typeface="微软雅黑" panose="020B0503020204020204" pitchFamily="34" charset="-122"/>
                <a:ea typeface="微软雅黑" panose="020B0503020204020204" pitchFamily="34" charset="-122"/>
              </a:rPr>
              <a:t>课程号</a:t>
            </a:r>
            <a:r>
              <a:rPr lang="en-US" altLang="zh-CN" b="1">
                <a:solidFill>
                  <a:srgbClr val="0000FF"/>
                </a:solidFill>
                <a:latin typeface="微软雅黑" panose="020B0503020204020204" pitchFamily="34" charset="-122"/>
                <a:ea typeface="微软雅黑" panose="020B0503020204020204" pitchFamily="34" charset="-122"/>
              </a:rPr>
              <a:t>, </a:t>
            </a:r>
            <a:r>
              <a:rPr lang="zh-CN" altLang="en-US" b="1">
                <a:solidFill>
                  <a:srgbClr val="0000FF"/>
                </a:solidFill>
                <a:latin typeface="微软雅黑" panose="020B0503020204020204" pitchFamily="34" charset="-122"/>
                <a:ea typeface="微软雅黑" panose="020B0503020204020204" pitchFamily="34" charset="-122"/>
              </a:rPr>
              <a:t>成绩</a:t>
            </a:r>
            <a:r>
              <a:rPr lang="en-US" altLang="zh-CN" b="1">
                <a:solidFill>
                  <a:srgbClr val="0000FF"/>
                </a:solidFill>
                <a:latin typeface="微软雅黑" panose="020B0503020204020204" pitchFamily="34" charset="-122"/>
                <a:ea typeface="微软雅黑" panose="020B0503020204020204" pitchFamily="34" charset="-122"/>
              </a:rPr>
              <a:t>)</a:t>
            </a:r>
            <a:endParaRPr lang="zh-CN" altLang="en-US" b="1">
              <a:solidFill>
                <a:srgbClr val="0000FF"/>
              </a:solidFill>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810F0387-7E2E-493E-84D0-E870994D5C22}"/>
              </a:ext>
            </a:extLst>
          </p:cNvPr>
          <p:cNvGraphicFramePr>
            <a:graphicFrameLocks noGrp="1"/>
          </p:cNvGraphicFramePr>
          <p:nvPr>
            <p:extLst>
              <p:ext uri="{D42A27DB-BD31-4B8C-83A1-F6EECF244321}">
                <p14:modId xmlns:p14="http://schemas.microsoft.com/office/powerpoint/2010/main" val="1472908330"/>
              </p:ext>
            </p:extLst>
          </p:nvPr>
        </p:nvGraphicFramePr>
        <p:xfrm>
          <a:off x="5961512" y="3043309"/>
          <a:ext cx="2354093" cy="1249680"/>
        </p:xfrm>
        <a:graphic>
          <a:graphicData uri="http://schemas.openxmlformats.org/drawingml/2006/table">
            <a:tbl>
              <a:tblPr firstRow="1" bandRow="1">
                <a:tableStyleId>{5940675A-B579-460E-94D1-54222C63F5DA}</a:tableStyleId>
              </a:tblPr>
              <a:tblGrid>
                <a:gridCol w="839285">
                  <a:extLst>
                    <a:ext uri="{9D8B030D-6E8A-4147-A177-3AD203B41FA5}">
                      <a16:colId xmlns:a16="http://schemas.microsoft.com/office/drawing/2014/main" val="2424215874"/>
                    </a:ext>
                  </a:extLst>
                </a:gridCol>
                <a:gridCol w="869991">
                  <a:extLst>
                    <a:ext uri="{9D8B030D-6E8A-4147-A177-3AD203B41FA5}">
                      <a16:colId xmlns:a16="http://schemas.microsoft.com/office/drawing/2014/main" val="2677372233"/>
                    </a:ext>
                  </a:extLst>
                </a:gridCol>
                <a:gridCol w="644817">
                  <a:extLst>
                    <a:ext uri="{9D8B030D-6E8A-4147-A177-3AD203B41FA5}">
                      <a16:colId xmlns:a16="http://schemas.microsoft.com/office/drawing/2014/main" val="3301128048"/>
                    </a:ext>
                  </a:extLst>
                </a:gridCol>
              </a:tblGrid>
              <a:tr h="256299">
                <a:tc>
                  <a:txBody>
                    <a:bodyPr/>
                    <a:lstStyle/>
                    <a:p>
                      <a:r>
                        <a:rPr lang="zh-CN" altLang="en-US" sz="1600" b="1">
                          <a:solidFill>
                            <a:srgbClr val="0000FF"/>
                          </a:solidFill>
                          <a:latin typeface="微软雅黑" panose="020B0503020204020204" pitchFamily="34" charset="-122"/>
                          <a:ea typeface="微软雅黑" panose="020B0503020204020204" pitchFamily="34" charset="-122"/>
                        </a:rPr>
                        <a:t>学号</a:t>
                      </a:r>
                    </a:p>
                  </a:txBody>
                  <a:tcPr>
                    <a:solidFill>
                      <a:schemeClr val="bg1">
                        <a:lumMod val="95000"/>
                      </a:schemeClr>
                    </a:solidFill>
                  </a:tcPr>
                </a:tc>
                <a:tc>
                  <a:txBody>
                    <a:bodyPr/>
                    <a:lstStyle/>
                    <a:p>
                      <a:r>
                        <a:rPr lang="zh-CN" altLang="en-US" sz="1600" b="1">
                          <a:solidFill>
                            <a:srgbClr val="0000FF"/>
                          </a:solidFill>
                          <a:latin typeface="微软雅黑" panose="020B0503020204020204" pitchFamily="34" charset="-122"/>
                          <a:ea typeface="微软雅黑" panose="020B0503020204020204" pitchFamily="34" charset="-122"/>
                        </a:rPr>
                        <a:t>课程号</a:t>
                      </a:r>
                    </a:p>
                  </a:txBody>
                  <a:tcPr>
                    <a:solidFill>
                      <a:schemeClr val="bg1">
                        <a:lumMod val="95000"/>
                      </a:schemeClr>
                    </a:solidFill>
                  </a:tcPr>
                </a:tc>
                <a:tc>
                  <a:txBody>
                    <a:bodyPr/>
                    <a:lstStyle/>
                    <a:p>
                      <a:r>
                        <a:rPr lang="zh-CN" altLang="en-US" sz="1600" b="1">
                          <a:solidFill>
                            <a:srgbClr val="0000FF"/>
                          </a:solidFill>
                          <a:latin typeface="微软雅黑" panose="020B0503020204020204" pitchFamily="34" charset="-122"/>
                          <a:ea typeface="微软雅黑" panose="020B0503020204020204" pitchFamily="34" charset="-122"/>
                        </a:rPr>
                        <a:t>成绩</a:t>
                      </a:r>
                    </a:p>
                  </a:txBody>
                  <a:tcPr>
                    <a:solidFill>
                      <a:schemeClr val="bg1">
                        <a:lumMod val="95000"/>
                      </a:schemeClr>
                    </a:solidFill>
                  </a:tcPr>
                </a:tc>
                <a:extLst>
                  <a:ext uri="{0D108BD9-81ED-4DB2-BD59-A6C34878D82A}">
                    <a16:rowId xmlns:a16="http://schemas.microsoft.com/office/drawing/2014/main" val="2074970145"/>
                  </a:ext>
                </a:extLst>
              </a:tr>
              <a:tr h="0">
                <a:tc>
                  <a:txBody>
                    <a:bodyPr/>
                    <a:lstStyle/>
                    <a:p>
                      <a:r>
                        <a:rPr lang="en-US" altLang="zh-CN" sz="1200">
                          <a:latin typeface="微软雅黑" panose="020B0503020204020204" pitchFamily="34" charset="-122"/>
                          <a:ea typeface="微软雅黑" panose="020B0503020204020204" pitchFamily="34" charset="-122"/>
                        </a:rPr>
                        <a:t>2019001</a:t>
                      </a:r>
                      <a:endParaRPr lang="zh-CN" altLang="en-US" sz="1200">
                        <a:latin typeface="微软雅黑" panose="020B0503020204020204" pitchFamily="34" charset="-122"/>
                        <a:ea typeface="微软雅黑" panose="020B0503020204020204" pitchFamily="34" charset="-122"/>
                      </a:endParaRPr>
                    </a:p>
                  </a:txBody>
                  <a:tcPr/>
                </a:tc>
                <a:tc>
                  <a:txBody>
                    <a:bodyPr/>
                    <a:lstStyle/>
                    <a:p>
                      <a:r>
                        <a:rPr lang="en-US" altLang="zh-CN" sz="1200">
                          <a:solidFill>
                            <a:srgbClr val="FF0000"/>
                          </a:solidFill>
                          <a:latin typeface="微软雅黑" panose="020B0503020204020204" pitchFamily="34" charset="-122"/>
                          <a:ea typeface="微软雅黑" panose="020B0503020204020204" pitchFamily="34" charset="-122"/>
                        </a:rPr>
                        <a:t>DB001</a:t>
                      </a:r>
                      <a:endParaRPr lang="zh-CN" altLang="en-US" sz="12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200">
                          <a:latin typeface="微软雅黑" panose="020B0503020204020204" pitchFamily="34" charset="-122"/>
                          <a:ea typeface="微软雅黑" panose="020B0503020204020204" pitchFamily="34" charset="-122"/>
                        </a:rPr>
                        <a:t>87</a:t>
                      </a:r>
                      <a:endParaRPr lang="zh-CN" altLang="en-US" sz="12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854332431"/>
                  </a:ext>
                </a:extLst>
              </a:tr>
              <a:tr h="0">
                <a:tc>
                  <a:txBody>
                    <a:bodyPr/>
                    <a:lstStyle/>
                    <a:p>
                      <a:r>
                        <a:rPr lang="en-US" altLang="zh-CN" sz="1200">
                          <a:latin typeface="微软雅黑" panose="020B0503020204020204" pitchFamily="34" charset="-122"/>
                          <a:ea typeface="微软雅黑" panose="020B0503020204020204" pitchFamily="34" charset="-122"/>
                        </a:rPr>
                        <a:t>2019007</a:t>
                      </a:r>
                      <a:endParaRPr lang="zh-CN" altLang="en-US" sz="1200">
                        <a:latin typeface="微软雅黑" panose="020B0503020204020204" pitchFamily="34" charset="-122"/>
                        <a:ea typeface="微软雅黑" panose="020B0503020204020204" pitchFamily="34" charset="-122"/>
                      </a:endParaRPr>
                    </a:p>
                  </a:txBody>
                  <a:tcPr/>
                </a:tc>
                <a:tc>
                  <a:txBody>
                    <a:bodyPr/>
                    <a:lstStyle/>
                    <a:p>
                      <a:r>
                        <a:rPr lang="en-US" altLang="zh-CN" sz="1200">
                          <a:solidFill>
                            <a:srgbClr val="FF0000"/>
                          </a:solidFill>
                          <a:latin typeface="微软雅黑" panose="020B0503020204020204" pitchFamily="34" charset="-122"/>
                          <a:ea typeface="微软雅黑" panose="020B0503020204020204" pitchFamily="34" charset="-122"/>
                        </a:rPr>
                        <a:t>OS239</a:t>
                      </a:r>
                      <a:endParaRPr lang="zh-CN" altLang="en-US" sz="12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200">
                          <a:latin typeface="微软雅黑" panose="020B0503020204020204" pitchFamily="34" charset="-122"/>
                          <a:ea typeface="微软雅黑" panose="020B0503020204020204" pitchFamily="34" charset="-122"/>
                        </a:rPr>
                        <a:t>73</a:t>
                      </a:r>
                      <a:endParaRPr lang="zh-CN" altLang="en-US" sz="12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50366873"/>
                  </a:ext>
                </a:extLst>
              </a:tr>
              <a:tr h="209700">
                <a:tc>
                  <a:txBody>
                    <a:bodyPr/>
                    <a:lstStyle/>
                    <a:p>
                      <a:r>
                        <a:rPr lang="en-US" altLang="zh-CN" sz="1800">
                          <a:solidFill>
                            <a:srgbClr val="FF0000"/>
                          </a:solidFill>
                          <a:latin typeface="微软雅黑" panose="020B0503020204020204" pitchFamily="34" charset="-122"/>
                          <a:ea typeface="微软雅黑" panose="020B0503020204020204" pitchFamily="34" charset="-122"/>
                        </a:rPr>
                        <a:t>…</a:t>
                      </a:r>
                      <a:endParaRPr lang="zh-CN" altLang="en-US" sz="18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800">
                          <a:solidFill>
                            <a:srgbClr val="FF0000"/>
                          </a:solidFill>
                          <a:latin typeface="微软雅黑" panose="020B0503020204020204" pitchFamily="34" charset="-122"/>
                          <a:ea typeface="微软雅黑" panose="020B0503020204020204" pitchFamily="34" charset="-122"/>
                        </a:rPr>
                        <a:t>…</a:t>
                      </a:r>
                      <a:endParaRPr lang="zh-CN" altLang="en-US" sz="18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800">
                          <a:solidFill>
                            <a:srgbClr val="FF0000"/>
                          </a:solidFill>
                          <a:latin typeface="微软雅黑" panose="020B0503020204020204" pitchFamily="34" charset="-122"/>
                          <a:ea typeface="微软雅黑" panose="020B0503020204020204" pitchFamily="34" charset="-122"/>
                        </a:rPr>
                        <a:t>…</a:t>
                      </a:r>
                      <a:endParaRPr lang="zh-CN" altLang="en-US" sz="1800">
                        <a:solidFill>
                          <a:srgbClr val="FF000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42941781"/>
                  </a:ext>
                </a:extLst>
              </a:tr>
            </a:tbl>
          </a:graphicData>
        </a:graphic>
      </p:graphicFrame>
      <p:graphicFrame>
        <p:nvGraphicFramePr>
          <p:cNvPr id="10" name="表格 9">
            <a:extLst>
              <a:ext uri="{FF2B5EF4-FFF2-40B4-BE49-F238E27FC236}">
                <a16:creationId xmlns:a16="http://schemas.microsoft.com/office/drawing/2014/main" id="{2C1BC0BB-FC24-4C5A-8C4C-E502EE31BE08}"/>
              </a:ext>
            </a:extLst>
          </p:cNvPr>
          <p:cNvGraphicFramePr>
            <a:graphicFrameLocks noGrp="1"/>
          </p:cNvGraphicFramePr>
          <p:nvPr>
            <p:extLst>
              <p:ext uri="{D42A27DB-BD31-4B8C-83A1-F6EECF244321}">
                <p14:modId xmlns:p14="http://schemas.microsoft.com/office/powerpoint/2010/main" val="3369004099"/>
              </p:ext>
            </p:extLst>
          </p:nvPr>
        </p:nvGraphicFramePr>
        <p:xfrm>
          <a:off x="8516643" y="3040067"/>
          <a:ext cx="2298972" cy="1249680"/>
        </p:xfrm>
        <a:graphic>
          <a:graphicData uri="http://schemas.openxmlformats.org/drawingml/2006/table">
            <a:tbl>
              <a:tblPr firstRow="1" bandRow="1">
                <a:tableStyleId>{5940675A-B579-460E-94D1-54222C63F5DA}</a:tableStyleId>
              </a:tblPr>
              <a:tblGrid>
                <a:gridCol w="819633">
                  <a:extLst>
                    <a:ext uri="{9D8B030D-6E8A-4147-A177-3AD203B41FA5}">
                      <a16:colId xmlns:a16="http://schemas.microsoft.com/office/drawing/2014/main" val="2424215874"/>
                    </a:ext>
                  </a:extLst>
                </a:gridCol>
                <a:gridCol w="849620">
                  <a:extLst>
                    <a:ext uri="{9D8B030D-6E8A-4147-A177-3AD203B41FA5}">
                      <a16:colId xmlns:a16="http://schemas.microsoft.com/office/drawing/2014/main" val="2677372233"/>
                    </a:ext>
                  </a:extLst>
                </a:gridCol>
                <a:gridCol w="629719">
                  <a:extLst>
                    <a:ext uri="{9D8B030D-6E8A-4147-A177-3AD203B41FA5}">
                      <a16:colId xmlns:a16="http://schemas.microsoft.com/office/drawing/2014/main" val="3301128048"/>
                    </a:ext>
                  </a:extLst>
                </a:gridCol>
              </a:tblGrid>
              <a:tr h="256299">
                <a:tc>
                  <a:txBody>
                    <a:bodyPr/>
                    <a:lstStyle/>
                    <a:p>
                      <a:r>
                        <a:rPr lang="zh-CN" altLang="en-US" sz="1600" b="1">
                          <a:solidFill>
                            <a:srgbClr val="0000FF"/>
                          </a:solidFill>
                          <a:latin typeface="微软雅黑" panose="020B0503020204020204" pitchFamily="34" charset="-122"/>
                          <a:ea typeface="微软雅黑" panose="020B0503020204020204" pitchFamily="34" charset="-122"/>
                        </a:rPr>
                        <a:t>学号</a:t>
                      </a:r>
                    </a:p>
                  </a:txBody>
                  <a:tcPr>
                    <a:solidFill>
                      <a:schemeClr val="bg1">
                        <a:lumMod val="95000"/>
                      </a:schemeClr>
                    </a:solidFill>
                  </a:tcPr>
                </a:tc>
                <a:tc>
                  <a:txBody>
                    <a:bodyPr/>
                    <a:lstStyle/>
                    <a:p>
                      <a:r>
                        <a:rPr lang="zh-CN" altLang="en-US" sz="1600" b="1">
                          <a:solidFill>
                            <a:srgbClr val="0000FF"/>
                          </a:solidFill>
                          <a:latin typeface="微软雅黑" panose="020B0503020204020204" pitchFamily="34" charset="-122"/>
                          <a:ea typeface="微软雅黑" panose="020B0503020204020204" pitchFamily="34" charset="-122"/>
                        </a:rPr>
                        <a:t>课程号</a:t>
                      </a:r>
                    </a:p>
                  </a:txBody>
                  <a:tcPr>
                    <a:solidFill>
                      <a:schemeClr val="bg1">
                        <a:lumMod val="95000"/>
                      </a:schemeClr>
                    </a:solidFill>
                  </a:tcPr>
                </a:tc>
                <a:tc>
                  <a:txBody>
                    <a:bodyPr/>
                    <a:lstStyle/>
                    <a:p>
                      <a:r>
                        <a:rPr lang="zh-CN" altLang="en-US" sz="1600" b="1">
                          <a:solidFill>
                            <a:srgbClr val="0000FF"/>
                          </a:solidFill>
                          <a:latin typeface="微软雅黑" panose="020B0503020204020204" pitchFamily="34" charset="-122"/>
                          <a:ea typeface="微软雅黑" panose="020B0503020204020204" pitchFamily="34" charset="-122"/>
                        </a:rPr>
                        <a:t>成绩</a:t>
                      </a:r>
                    </a:p>
                  </a:txBody>
                  <a:tcPr>
                    <a:solidFill>
                      <a:schemeClr val="bg1">
                        <a:lumMod val="95000"/>
                      </a:schemeClr>
                    </a:solidFill>
                  </a:tcPr>
                </a:tc>
                <a:extLst>
                  <a:ext uri="{0D108BD9-81ED-4DB2-BD59-A6C34878D82A}">
                    <a16:rowId xmlns:a16="http://schemas.microsoft.com/office/drawing/2014/main" val="2074970145"/>
                  </a:ext>
                </a:extLst>
              </a:tr>
              <a:tr h="0">
                <a:tc>
                  <a:txBody>
                    <a:bodyPr/>
                    <a:lstStyle/>
                    <a:p>
                      <a:r>
                        <a:rPr lang="en-US" altLang="zh-CN" sz="1200">
                          <a:latin typeface="微软雅黑" panose="020B0503020204020204" pitchFamily="34" charset="-122"/>
                          <a:ea typeface="微软雅黑" panose="020B0503020204020204" pitchFamily="34" charset="-122"/>
                        </a:rPr>
                        <a:t>2020001</a:t>
                      </a:r>
                      <a:endParaRPr lang="zh-CN" altLang="en-US" sz="1200">
                        <a:latin typeface="微软雅黑" panose="020B0503020204020204" pitchFamily="34" charset="-122"/>
                        <a:ea typeface="微软雅黑" panose="020B0503020204020204" pitchFamily="34" charset="-122"/>
                      </a:endParaRPr>
                    </a:p>
                  </a:txBody>
                  <a:tcPr/>
                </a:tc>
                <a:tc>
                  <a:txBody>
                    <a:bodyPr/>
                    <a:lstStyle/>
                    <a:p>
                      <a:r>
                        <a:rPr lang="en-US" altLang="zh-CN" sz="1200">
                          <a:solidFill>
                            <a:srgbClr val="FF0000"/>
                          </a:solidFill>
                          <a:latin typeface="微软雅黑" panose="020B0503020204020204" pitchFamily="34" charset="-122"/>
                          <a:ea typeface="微软雅黑" panose="020B0503020204020204" pitchFamily="34" charset="-122"/>
                        </a:rPr>
                        <a:t>DB001</a:t>
                      </a:r>
                      <a:endParaRPr lang="zh-CN" altLang="en-US" sz="12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200">
                          <a:latin typeface="微软雅黑" panose="020B0503020204020204" pitchFamily="34" charset="-122"/>
                          <a:ea typeface="微软雅黑" panose="020B0503020204020204" pitchFamily="34" charset="-122"/>
                        </a:rPr>
                        <a:t>62</a:t>
                      </a:r>
                      <a:endParaRPr lang="zh-CN" altLang="en-US" sz="12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854332431"/>
                  </a:ext>
                </a:extLst>
              </a:tr>
              <a:tr h="0">
                <a:tc>
                  <a:txBody>
                    <a:bodyPr/>
                    <a:lstStyle/>
                    <a:p>
                      <a:r>
                        <a:rPr lang="en-US" altLang="zh-CN" sz="1200">
                          <a:latin typeface="微软雅黑" panose="020B0503020204020204" pitchFamily="34" charset="-122"/>
                          <a:ea typeface="微软雅黑" panose="020B0503020204020204" pitchFamily="34" charset="-122"/>
                        </a:rPr>
                        <a:t>2020007</a:t>
                      </a:r>
                      <a:endParaRPr lang="zh-CN" altLang="en-US" sz="1200">
                        <a:latin typeface="微软雅黑" panose="020B0503020204020204" pitchFamily="34" charset="-122"/>
                        <a:ea typeface="微软雅黑" panose="020B0503020204020204" pitchFamily="34" charset="-122"/>
                      </a:endParaRPr>
                    </a:p>
                  </a:txBody>
                  <a:tcPr/>
                </a:tc>
                <a:tc>
                  <a:txBody>
                    <a:bodyPr/>
                    <a:lstStyle/>
                    <a:p>
                      <a:r>
                        <a:rPr lang="en-US" altLang="zh-CN" sz="1200">
                          <a:solidFill>
                            <a:srgbClr val="FF0000"/>
                          </a:solidFill>
                          <a:latin typeface="微软雅黑" panose="020B0503020204020204" pitchFamily="34" charset="-122"/>
                          <a:ea typeface="微软雅黑" panose="020B0503020204020204" pitchFamily="34" charset="-122"/>
                        </a:rPr>
                        <a:t>OS239</a:t>
                      </a:r>
                      <a:endParaRPr lang="zh-CN" altLang="en-US" sz="12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200">
                          <a:latin typeface="微软雅黑" panose="020B0503020204020204" pitchFamily="34" charset="-122"/>
                          <a:ea typeface="微软雅黑" panose="020B0503020204020204" pitchFamily="34" charset="-122"/>
                        </a:rPr>
                        <a:t>90</a:t>
                      </a:r>
                      <a:endParaRPr lang="zh-CN" altLang="en-US" sz="120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50366873"/>
                  </a:ext>
                </a:extLst>
              </a:tr>
              <a:tr h="209700">
                <a:tc>
                  <a:txBody>
                    <a:bodyPr/>
                    <a:lstStyle/>
                    <a:p>
                      <a:r>
                        <a:rPr lang="en-US" altLang="zh-CN" sz="1800">
                          <a:solidFill>
                            <a:srgbClr val="FF0000"/>
                          </a:solidFill>
                          <a:latin typeface="微软雅黑" panose="020B0503020204020204" pitchFamily="34" charset="-122"/>
                          <a:ea typeface="微软雅黑" panose="020B0503020204020204" pitchFamily="34" charset="-122"/>
                        </a:rPr>
                        <a:t>…</a:t>
                      </a:r>
                      <a:endParaRPr lang="zh-CN" altLang="en-US" sz="18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800">
                          <a:solidFill>
                            <a:srgbClr val="FF0000"/>
                          </a:solidFill>
                          <a:latin typeface="微软雅黑" panose="020B0503020204020204" pitchFamily="34" charset="-122"/>
                          <a:ea typeface="微软雅黑" panose="020B0503020204020204" pitchFamily="34" charset="-122"/>
                        </a:rPr>
                        <a:t>…</a:t>
                      </a:r>
                      <a:endParaRPr lang="zh-CN" altLang="en-US" sz="1800">
                        <a:solidFill>
                          <a:srgbClr val="FF0000"/>
                        </a:solidFill>
                        <a:latin typeface="微软雅黑" panose="020B0503020204020204" pitchFamily="34" charset="-122"/>
                        <a:ea typeface="微软雅黑" panose="020B0503020204020204" pitchFamily="34" charset="-122"/>
                      </a:endParaRPr>
                    </a:p>
                  </a:txBody>
                  <a:tcPr/>
                </a:tc>
                <a:tc>
                  <a:txBody>
                    <a:bodyPr/>
                    <a:lstStyle/>
                    <a:p>
                      <a:r>
                        <a:rPr lang="en-US" altLang="zh-CN" sz="1800">
                          <a:solidFill>
                            <a:srgbClr val="FF0000"/>
                          </a:solidFill>
                          <a:latin typeface="微软雅黑" panose="020B0503020204020204" pitchFamily="34" charset="-122"/>
                          <a:ea typeface="微软雅黑" panose="020B0503020204020204" pitchFamily="34" charset="-122"/>
                        </a:rPr>
                        <a:t>…</a:t>
                      </a:r>
                      <a:endParaRPr lang="zh-CN" altLang="en-US" sz="1800">
                        <a:solidFill>
                          <a:srgbClr val="FF000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42941781"/>
                  </a:ext>
                </a:extLst>
              </a:tr>
            </a:tbl>
          </a:graphicData>
        </a:graphic>
      </p:graphicFrame>
      <p:sp>
        <p:nvSpPr>
          <p:cNvPr id="11" name="箭头: 左 10">
            <a:extLst>
              <a:ext uri="{FF2B5EF4-FFF2-40B4-BE49-F238E27FC236}">
                <a16:creationId xmlns:a16="http://schemas.microsoft.com/office/drawing/2014/main" id="{364C3252-C415-41CD-873D-86F1C7428CEA}"/>
              </a:ext>
            </a:extLst>
          </p:cNvPr>
          <p:cNvSpPr/>
          <p:nvPr/>
        </p:nvSpPr>
        <p:spPr>
          <a:xfrm rot="18465241">
            <a:off x="7615216" y="2634927"/>
            <a:ext cx="535021" cy="31128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左 11">
            <a:extLst>
              <a:ext uri="{FF2B5EF4-FFF2-40B4-BE49-F238E27FC236}">
                <a16:creationId xmlns:a16="http://schemas.microsoft.com/office/drawing/2014/main" id="{4D86D0A0-D90E-4918-920E-54D9710419A3}"/>
              </a:ext>
            </a:extLst>
          </p:cNvPr>
          <p:cNvSpPr/>
          <p:nvPr/>
        </p:nvSpPr>
        <p:spPr>
          <a:xfrm rot="13700657">
            <a:off x="8623649" y="2602502"/>
            <a:ext cx="535021" cy="31128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007AADE-78F7-49FD-ACD3-82B7B10633BF}"/>
              </a:ext>
            </a:extLst>
          </p:cNvPr>
          <p:cNvSpPr txBox="1"/>
          <p:nvPr/>
        </p:nvSpPr>
        <p:spPr>
          <a:xfrm>
            <a:off x="5951786" y="4405361"/>
            <a:ext cx="2422186" cy="307777"/>
          </a:xfrm>
          <a:prstGeom prst="rect">
            <a:avLst/>
          </a:prstGeom>
          <a:noFill/>
        </p:spPr>
        <p:txBody>
          <a:bodyPr wrap="square" rtlCol="0">
            <a:spAutoFit/>
          </a:bodyPr>
          <a:lstStyle/>
          <a:p>
            <a:r>
              <a:rPr lang="en-US" altLang="zh-CN" sz="1400" b="1">
                <a:solidFill>
                  <a:srgbClr val="0000FF"/>
                </a:solidFill>
                <a:latin typeface="微软雅黑" panose="020B0503020204020204" pitchFamily="34" charset="-122"/>
                <a:ea typeface="微软雅黑" panose="020B0503020204020204" pitchFamily="34" charset="-122"/>
              </a:rPr>
              <a:t>2022</a:t>
            </a:r>
            <a:r>
              <a:rPr lang="zh-CN" altLang="en-US" sz="1400" b="1">
                <a:solidFill>
                  <a:srgbClr val="0000FF"/>
                </a:solidFill>
                <a:latin typeface="微软雅黑" panose="020B0503020204020204" pitchFamily="34" charset="-122"/>
                <a:ea typeface="微软雅黑" panose="020B0503020204020204" pitchFamily="34" charset="-122"/>
              </a:rPr>
              <a:t>学年第一学期选课信息</a:t>
            </a:r>
          </a:p>
        </p:txBody>
      </p:sp>
      <p:sp>
        <p:nvSpPr>
          <p:cNvPr id="14" name="文本框 13">
            <a:extLst>
              <a:ext uri="{FF2B5EF4-FFF2-40B4-BE49-F238E27FC236}">
                <a16:creationId xmlns:a16="http://schemas.microsoft.com/office/drawing/2014/main" id="{DF02482D-DA46-47BE-991D-FC88BF6CE343}"/>
              </a:ext>
            </a:extLst>
          </p:cNvPr>
          <p:cNvSpPr txBox="1"/>
          <p:nvPr/>
        </p:nvSpPr>
        <p:spPr>
          <a:xfrm>
            <a:off x="8471250" y="4411846"/>
            <a:ext cx="2399488" cy="307777"/>
          </a:xfrm>
          <a:prstGeom prst="rect">
            <a:avLst/>
          </a:prstGeom>
          <a:noFill/>
        </p:spPr>
        <p:txBody>
          <a:bodyPr wrap="square" rtlCol="0">
            <a:spAutoFit/>
          </a:bodyPr>
          <a:lstStyle/>
          <a:p>
            <a:r>
              <a:rPr lang="en-US" altLang="zh-CN" sz="1400" b="1">
                <a:solidFill>
                  <a:srgbClr val="0000FF"/>
                </a:solidFill>
                <a:latin typeface="微软雅黑" panose="020B0503020204020204" pitchFamily="34" charset="-122"/>
                <a:ea typeface="微软雅黑" panose="020B0503020204020204" pitchFamily="34" charset="-122"/>
              </a:rPr>
              <a:t>2023</a:t>
            </a:r>
            <a:r>
              <a:rPr lang="zh-CN" altLang="en-US" sz="1400" b="1">
                <a:solidFill>
                  <a:srgbClr val="0000FF"/>
                </a:solidFill>
                <a:latin typeface="微软雅黑" panose="020B0503020204020204" pitchFamily="34" charset="-122"/>
                <a:ea typeface="微软雅黑" panose="020B0503020204020204" pitchFamily="34" charset="-122"/>
              </a:rPr>
              <a:t>学年第一学期选课信息</a:t>
            </a:r>
          </a:p>
        </p:txBody>
      </p:sp>
      <p:sp>
        <p:nvSpPr>
          <p:cNvPr id="15" name="右大括号 14">
            <a:extLst>
              <a:ext uri="{FF2B5EF4-FFF2-40B4-BE49-F238E27FC236}">
                <a16:creationId xmlns:a16="http://schemas.microsoft.com/office/drawing/2014/main" id="{BD10D591-E489-4415-83B7-6E57A992143D}"/>
              </a:ext>
            </a:extLst>
          </p:cNvPr>
          <p:cNvSpPr/>
          <p:nvPr/>
        </p:nvSpPr>
        <p:spPr>
          <a:xfrm rot="5400000">
            <a:off x="8111325" y="4318055"/>
            <a:ext cx="331470" cy="1211580"/>
          </a:xfrm>
          <a:prstGeom prst="rightBrace">
            <a:avLst>
              <a:gd name="adj1" fmla="val 8333"/>
              <a:gd name="adj2" fmla="val 462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DBF9B73E-5A2B-46A2-9428-96A01B5404E6}"/>
              </a:ext>
            </a:extLst>
          </p:cNvPr>
          <p:cNvSpPr txBox="1"/>
          <p:nvPr/>
        </p:nvSpPr>
        <p:spPr>
          <a:xfrm>
            <a:off x="7768425" y="5129585"/>
            <a:ext cx="1211580" cy="369332"/>
          </a:xfrm>
          <a:prstGeom prst="rect">
            <a:avLst/>
          </a:prstGeom>
          <a:noFill/>
        </p:spPr>
        <p:txBody>
          <a:bodyPr wrap="square" rtlCol="0">
            <a:spAutoFit/>
          </a:bodyPr>
          <a:lstStyle/>
          <a:p>
            <a:pPr algn="ctr"/>
            <a:r>
              <a:rPr lang="zh-CN" altLang="en-US" b="1">
                <a:solidFill>
                  <a:srgbClr val="FF0000"/>
                </a:solidFill>
                <a:latin typeface="微软雅黑" panose="020B0503020204020204" pitchFamily="34" charset="-122"/>
                <a:ea typeface="微软雅黑" panose="020B0503020204020204" pitchFamily="34" charset="-122"/>
              </a:rPr>
              <a:t>两个实例</a:t>
            </a:r>
          </a:p>
        </p:txBody>
      </p:sp>
    </p:spTree>
    <p:extLst>
      <p:ext uri="{BB962C8B-B14F-4D97-AF65-F5344CB8AC3E}">
        <p14:creationId xmlns:p14="http://schemas.microsoft.com/office/powerpoint/2010/main" val="2003280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5.2</a:t>
            </a:r>
            <a:r>
              <a:rPr lang="zh-CN" altLang="en-US"/>
              <a:t>数据库系统的三级模式结构</a:t>
            </a:r>
          </a:p>
        </p:txBody>
      </p:sp>
      <p:pic>
        <p:nvPicPr>
          <p:cNvPr id="8" name="Picture 4" descr="database">
            <a:extLst>
              <a:ext uri="{FF2B5EF4-FFF2-40B4-BE49-F238E27FC236}">
                <a16:creationId xmlns:a16="http://schemas.microsoft.com/office/drawing/2014/main" id="{AEB16C4B-2428-4A95-8378-F81080A31EA6}"/>
              </a:ext>
            </a:extLst>
          </p:cNvPr>
          <p:cNvPicPr>
            <a:picLocks noGrp="1" noChangeAspect="1" noChangeArrowheads="1"/>
          </p:cNvPicPr>
          <p:nvPr>
            <p:ph idx="1"/>
          </p:nvPr>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176143" y="1044608"/>
            <a:ext cx="7544164" cy="4418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5">
            <a:extLst>
              <a:ext uri="{FF2B5EF4-FFF2-40B4-BE49-F238E27FC236}">
                <a16:creationId xmlns:a16="http://schemas.microsoft.com/office/drawing/2014/main" id="{CA248C23-1EBC-4FDC-B506-E716A9F82392}"/>
              </a:ext>
            </a:extLst>
          </p:cNvPr>
          <p:cNvSpPr txBox="1"/>
          <p:nvPr/>
        </p:nvSpPr>
        <p:spPr>
          <a:xfrm>
            <a:off x="1577030" y="5521004"/>
            <a:ext cx="9268839" cy="584775"/>
          </a:xfrm>
          <a:prstGeom prst="rect">
            <a:avLst/>
          </a:prstGeom>
          <a:noFill/>
        </p:spPr>
        <p:txBody>
          <a:bodyPr wrap="square" rtlCol="0">
            <a:spAutoFit/>
          </a:bodyPr>
          <a:lstStyle/>
          <a:p>
            <a:pPr algn="ctr"/>
            <a:r>
              <a:rPr lang="en-US" altLang="zh-CN" sz="1600" b="1" dirty="0">
                <a:solidFill>
                  <a:srgbClr val="C00000"/>
                </a:solidFill>
                <a:latin typeface="微软雅黑" panose="020B0503020204020204" pitchFamily="34" charset="-122"/>
                <a:ea typeface="微软雅黑" panose="020B0503020204020204" pitchFamily="34" charset="-122"/>
              </a:rPr>
              <a:t>Fig. ANSI-SPARC Architecture</a:t>
            </a:r>
          </a:p>
          <a:p>
            <a:pPr algn="ctr"/>
            <a:r>
              <a:rPr lang="en-US" altLang="zh-CN" sz="1600" dirty="0">
                <a:solidFill>
                  <a:srgbClr val="C00000"/>
                </a:solidFill>
                <a:latin typeface="微软雅黑" panose="020B0503020204020204" pitchFamily="34" charset="-122"/>
                <a:ea typeface="微软雅黑" panose="020B0503020204020204" pitchFamily="34" charset="-122"/>
              </a:rPr>
              <a:t>(American National Standards Institute, Standards Planning and Requirements Committee)</a:t>
            </a:r>
            <a:endParaRPr lang="zh-CN" altLang="en-US" sz="16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484836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pic>
        <p:nvPicPr>
          <p:cNvPr id="10" name="Picture 6">
            <a:extLst>
              <a:ext uri="{FF2B5EF4-FFF2-40B4-BE49-F238E27FC236}">
                <a16:creationId xmlns:a16="http://schemas.microsoft.com/office/drawing/2014/main" id="{FC3D0D3B-CDA3-4901-8343-AAAB85C416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4241" y="952727"/>
            <a:ext cx="7327567" cy="5307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15168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5.3</a:t>
            </a:r>
            <a:r>
              <a:rPr lang="zh-CN" altLang="en-US"/>
              <a:t>数据库的两级映像与数据独立性</a:t>
            </a:r>
          </a:p>
        </p:txBody>
      </p:sp>
      <p:sp>
        <p:nvSpPr>
          <p:cNvPr id="3" name="内容占位符 2">
            <a:extLst>
              <a:ext uri="{FF2B5EF4-FFF2-40B4-BE49-F238E27FC236}">
                <a16:creationId xmlns:a16="http://schemas.microsoft.com/office/drawing/2014/main" id="{7C907EC2-D778-461E-9AE6-0695B597F50A}"/>
              </a:ext>
            </a:extLst>
          </p:cNvPr>
          <p:cNvSpPr>
            <a:spLocks noGrp="1"/>
          </p:cNvSpPr>
          <p:nvPr>
            <p:ph idx="1"/>
          </p:nvPr>
        </p:nvSpPr>
        <p:spPr/>
        <p:txBody>
          <a:bodyPr>
            <a:normAutofit lnSpcReduction="10000"/>
          </a:bodyPr>
          <a:lstStyle/>
          <a:p>
            <a:r>
              <a:rPr lang="zh-CN" altLang="en-US">
                <a:solidFill>
                  <a:srgbClr val="FF0000"/>
                </a:solidFill>
              </a:rPr>
              <a:t>三级模式</a:t>
            </a:r>
            <a:r>
              <a:rPr lang="zh-CN" altLang="en-US"/>
              <a:t>是对数据的三个抽象级别</a:t>
            </a:r>
          </a:p>
          <a:p>
            <a:r>
              <a:rPr lang="zh-CN" altLang="en-US">
                <a:solidFill>
                  <a:srgbClr val="FF0000"/>
                </a:solidFill>
              </a:rPr>
              <a:t>两级映象</a:t>
            </a:r>
            <a:r>
              <a:rPr lang="zh-CN" altLang="en-US"/>
              <a:t>在</a:t>
            </a:r>
            <a:r>
              <a:rPr lang="en-US" altLang="zh-CN"/>
              <a:t>DBMS</a:t>
            </a:r>
            <a:r>
              <a:rPr lang="zh-CN" altLang="en-US"/>
              <a:t>内部实现三个抽象层次的</a:t>
            </a:r>
            <a:r>
              <a:rPr lang="zh-CN" altLang="en-US">
                <a:solidFill>
                  <a:srgbClr val="FF0000"/>
                </a:solidFill>
              </a:rPr>
              <a:t>联系和转换</a:t>
            </a:r>
          </a:p>
          <a:p>
            <a:pPr lvl="1"/>
            <a:r>
              <a:rPr lang="zh-CN" altLang="en-US">
                <a:solidFill>
                  <a:srgbClr val="0000FF"/>
                </a:solidFill>
              </a:rPr>
              <a:t>外模式</a:t>
            </a:r>
            <a:r>
              <a:rPr lang="en-US" altLang="zh-CN">
                <a:solidFill>
                  <a:srgbClr val="0000FF"/>
                </a:solidFill>
              </a:rPr>
              <a:t>/</a:t>
            </a:r>
            <a:r>
              <a:rPr lang="zh-CN" altLang="en-US">
                <a:solidFill>
                  <a:srgbClr val="0000FF"/>
                </a:solidFill>
              </a:rPr>
              <a:t>模式映象</a:t>
            </a:r>
          </a:p>
          <a:p>
            <a:pPr lvl="1"/>
            <a:r>
              <a:rPr lang="zh-CN" altLang="en-US">
                <a:solidFill>
                  <a:srgbClr val="0000FF"/>
                </a:solidFill>
              </a:rPr>
              <a:t>模式</a:t>
            </a:r>
            <a:r>
              <a:rPr lang="en-US" altLang="zh-CN">
                <a:solidFill>
                  <a:srgbClr val="0000FF"/>
                </a:solidFill>
              </a:rPr>
              <a:t>/</a:t>
            </a:r>
            <a:r>
              <a:rPr lang="zh-CN" altLang="en-US">
                <a:solidFill>
                  <a:srgbClr val="0000FF"/>
                </a:solidFill>
              </a:rPr>
              <a:t>内模式映像</a:t>
            </a:r>
            <a:endParaRPr lang="en-US" altLang="zh-CN">
              <a:solidFill>
                <a:srgbClr val="0000FF"/>
              </a:solidFill>
            </a:endParaRPr>
          </a:p>
          <a:p>
            <a:pPr>
              <a:defRPr/>
            </a:pPr>
            <a:r>
              <a:rPr lang="zh-CN" altLang="en-US">
                <a:solidFill>
                  <a:srgbClr val="FF0000"/>
                </a:solidFill>
              </a:rPr>
              <a:t>外模式</a:t>
            </a:r>
            <a:r>
              <a:rPr lang="en-US" altLang="zh-CN">
                <a:solidFill>
                  <a:srgbClr val="FF0000"/>
                </a:solidFill>
              </a:rPr>
              <a:t>/</a:t>
            </a:r>
            <a:r>
              <a:rPr lang="zh-CN" altLang="en-US">
                <a:solidFill>
                  <a:srgbClr val="FF0000"/>
                </a:solidFill>
              </a:rPr>
              <a:t>模式映象</a:t>
            </a:r>
          </a:p>
          <a:p>
            <a:pPr lvl="1">
              <a:defRPr/>
            </a:pPr>
            <a:r>
              <a:rPr lang="zh-CN" altLang="en-US"/>
              <a:t>当模式改变时，数据库管理员修改有关的外模式</a:t>
            </a:r>
            <a:r>
              <a:rPr lang="en-US" altLang="zh-CN"/>
              <a:t>/</a:t>
            </a:r>
            <a:r>
              <a:rPr lang="zh-CN" altLang="en-US"/>
              <a:t>模式映象，使外模式保持不变。应用程序是依据数据的外模式编写的，外模式不变，应用程序就没必要修改。所以外模式</a:t>
            </a:r>
            <a:r>
              <a:rPr lang="en-US" altLang="zh-CN"/>
              <a:t>/</a:t>
            </a:r>
            <a:r>
              <a:rPr lang="zh-CN" altLang="en-US"/>
              <a:t>模式映像功能保证了数据与程序的逻辑独立性，简称</a:t>
            </a:r>
            <a:r>
              <a:rPr lang="zh-CN" altLang="en-US">
                <a:solidFill>
                  <a:srgbClr val="FF0000"/>
                </a:solidFill>
              </a:rPr>
              <a:t>数据的逻辑独立性</a:t>
            </a:r>
            <a:endParaRPr lang="en-US" altLang="zh-CN"/>
          </a:p>
          <a:p>
            <a:pPr>
              <a:defRPr/>
            </a:pPr>
            <a:r>
              <a:rPr lang="zh-CN" altLang="en-US">
                <a:solidFill>
                  <a:srgbClr val="FF0000"/>
                </a:solidFill>
              </a:rPr>
              <a:t>模式</a:t>
            </a:r>
            <a:r>
              <a:rPr lang="en-US" altLang="zh-CN">
                <a:solidFill>
                  <a:srgbClr val="FF0000"/>
                </a:solidFill>
              </a:rPr>
              <a:t>/</a:t>
            </a:r>
            <a:r>
              <a:rPr lang="zh-CN" altLang="en-US">
                <a:solidFill>
                  <a:srgbClr val="FF0000"/>
                </a:solidFill>
              </a:rPr>
              <a:t>内模式映象</a:t>
            </a:r>
          </a:p>
          <a:p>
            <a:pPr lvl="1">
              <a:defRPr/>
            </a:pPr>
            <a:r>
              <a:rPr lang="zh-CN" altLang="en-US"/>
              <a:t>当数据库的存储结构改变了，模式</a:t>
            </a:r>
            <a:r>
              <a:rPr lang="en-US" altLang="zh-CN"/>
              <a:t>/</a:t>
            </a:r>
            <a:r>
              <a:rPr lang="zh-CN" altLang="en-US"/>
              <a:t>内模式映像作相应的改变，以使模式保持不变。模式不变，与模式没有直接联系的应用程序也不会改变，所以模式</a:t>
            </a:r>
            <a:r>
              <a:rPr lang="en-US" altLang="zh-CN"/>
              <a:t>/</a:t>
            </a:r>
            <a:r>
              <a:rPr lang="zh-CN" altLang="en-US"/>
              <a:t>内模式映像功能保证了数据与程序的物理独立性，</a:t>
            </a:r>
            <a:r>
              <a:rPr lang="zh-CN" altLang="en-US">
                <a:solidFill>
                  <a:srgbClr val="FF0000"/>
                </a:solidFill>
              </a:rPr>
              <a:t>简称数据的物理独立性</a:t>
            </a:r>
            <a:endParaRPr lang="zh-CN" altLang="en-US"/>
          </a:p>
        </p:txBody>
      </p:sp>
    </p:spTree>
    <p:extLst>
      <p:ext uri="{BB962C8B-B14F-4D97-AF65-F5344CB8AC3E}">
        <p14:creationId xmlns:p14="http://schemas.microsoft.com/office/powerpoint/2010/main" val="691114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pic>
        <p:nvPicPr>
          <p:cNvPr id="8" name="Picture 2">
            <a:extLst>
              <a:ext uri="{FF2B5EF4-FFF2-40B4-BE49-F238E27FC236}">
                <a16:creationId xmlns:a16="http://schemas.microsoft.com/office/drawing/2014/main" id="{0A2B158C-42D6-403A-ADE1-9F3DE883BC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9888" y="898663"/>
            <a:ext cx="5467350"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5" descr="image002">
            <a:extLst>
              <a:ext uri="{FF2B5EF4-FFF2-40B4-BE49-F238E27FC236}">
                <a16:creationId xmlns:a16="http://schemas.microsoft.com/office/drawing/2014/main" id="{EC8A61EC-B587-4F76-8B74-7B52C364A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4507" y="931610"/>
            <a:ext cx="5112212" cy="316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EDF0CF58-908E-4867-8D34-919CA87D5680}"/>
              </a:ext>
            </a:extLst>
          </p:cNvPr>
          <p:cNvSpPr/>
          <p:nvPr/>
        </p:nvSpPr>
        <p:spPr>
          <a:xfrm>
            <a:off x="785484" y="4183188"/>
            <a:ext cx="5396655" cy="1754326"/>
          </a:xfrm>
          <a:prstGeom prst="rect">
            <a:avLst/>
          </a:prstGeom>
        </p:spPr>
        <p:txBody>
          <a:bodyPr wrap="square">
            <a:spAutoFit/>
          </a:bodyPr>
          <a:lstStyle/>
          <a:p>
            <a:pPr marL="174625" indent="-174625" algn="just">
              <a:buFont typeface="Arial" panose="020B0604020202020204" pitchFamily="34" charset="0"/>
              <a:buChar char="•"/>
            </a:pP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模式</a:t>
            </a:r>
            <a:r>
              <a:rPr lang="en-US" altLang="zh-CN" sz="1600" dirty="0">
                <a:solidFill>
                  <a:srgbClr val="C00000"/>
                </a:solidFill>
                <a:ea typeface="阿里巴巴普惠体 3.0 55 Regular" panose="00020600040101010101" pitchFamily="18" charset="-122"/>
              </a:rPr>
              <a:t>/</a:t>
            </a: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内模式映象定义了数据全局逻辑结构与存储结构之间的对应关系</a:t>
            </a:r>
            <a:endParaRPr lang="en-US" altLang="zh-CN" sz="16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447675" indent="-179388" algn="just">
              <a:buFont typeface="微软雅黑" panose="020B0503020204020204" pitchFamily="34" charset="-122"/>
              <a:buChar char="−"/>
            </a:pPr>
            <a:r>
              <a:rPr lang="zh-CN" altLang="en-US" sz="1400" dirty="0">
                <a:solidFill>
                  <a:srgbClr val="C00000"/>
                </a:solidFill>
                <a:latin typeface="阿里巴巴普惠体 3.0 55 Regular" panose="00020600040101010101" pitchFamily="18" charset="-122"/>
                <a:ea typeface="阿里巴巴普惠体 3.0 55 Regular" panose="00020600040101010101" pitchFamily="18" charset="-122"/>
              </a:rPr>
              <a:t> 如说明逻辑记录和字段在内部是如何表示的</a:t>
            </a:r>
            <a:endParaRPr lang="en-US" altLang="zh-CN" sz="14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447675" indent="-179388" algn="just">
              <a:buFont typeface="微软雅黑" panose="020B0503020204020204" pitchFamily="34" charset="-122"/>
              <a:buChar char="−"/>
            </a:pPr>
            <a:endParaRPr lang="zh-CN" altLang="en-US" sz="14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174625" indent="-174625" algn="just">
              <a:buFont typeface="Arial" panose="020B0604020202020204" pitchFamily="34" charset="0"/>
              <a:buChar char="•"/>
            </a:pP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数据库中模式</a:t>
            </a:r>
            <a:r>
              <a:rPr lang="en-US" altLang="zh-CN" sz="1600" dirty="0">
                <a:solidFill>
                  <a:srgbClr val="C00000"/>
                </a:solidFill>
                <a:ea typeface="阿里巴巴普惠体 3.0 55 Regular" panose="00020600040101010101" pitchFamily="18" charset="-122"/>
              </a:rPr>
              <a:t>/</a:t>
            </a: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内模式映象是唯一的</a:t>
            </a:r>
            <a:endParaRPr lang="en-US" altLang="zh-CN" sz="16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174625" indent="-174625" algn="just">
              <a:buFont typeface="Arial" panose="020B0604020202020204" pitchFamily="34" charset="0"/>
              <a:buChar char="•"/>
            </a:pPr>
            <a:endPar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174625" indent="-174625" algn="just">
              <a:buFont typeface="Arial" panose="020B0604020202020204" pitchFamily="34" charset="0"/>
              <a:buChar char="•"/>
            </a:pP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该映象定义通常包含在模式描述中</a:t>
            </a:r>
          </a:p>
        </p:txBody>
      </p:sp>
      <p:sp>
        <p:nvSpPr>
          <p:cNvPr id="11" name="矩形 10">
            <a:extLst>
              <a:ext uri="{FF2B5EF4-FFF2-40B4-BE49-F238E27FC236}">
                <a16:creationId xmlns:a16="http://schemas.microsoft.com/office/drawing/2014/main" id="{935D3A51-FC7D-416A-BB2B-95AA0F5F544B}"/>
              </a:ext>
            </a:extLst>
          </p:cNvPr>
          <p:cNvSpPr/>
          <p:nvPr/>
        </p:nvSpPr>
        <p:spPr>
          <a:xfrm>
            <a:off x="6325386" y="4273632"/>
            <a:ext cx="4587779" cy="954107"/>
          </a:xfrm>
          <a:prstGeom prst="rect">
            <a:avLst/>
          </a:prstGeom>
        </p:spPr>
        <p:txBody>
          <a:bodyPr wrap="square">
            <a:spAutoFit/>
          </a:bodyPr>
          <a:lstStyle/>
          <a:p>
            <a:pPr marL="174625" indent="-174625" algn="just">
              <a:buFont typeface="Arial" panose="020B0604020202020204" pitchFamily="34" charset="0"/>
              <a:buChar char="•"/>
            </a:pP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每一个外模式，数据库系统都有一个外模式</a:t>
            </a:r>
            <a:r>
              <a:rPr lang="en-US" altLang="zh-CN" sz="1600" dirty="0">
                <a:solidFill>
                  <a:srgbClr val="C00000"/>
                </a:solidFill>
                <a:ea typeface="阿里巴巴普惠体 3.0 55 Regular" panose="00020600040101010101" pitchFamily="18" charset="-122"/>
              </a:rPr>
              <a:t>/</a:t>
            </a: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模式映象定义外模式与模式之间的对应关系</a:t>
            </a:r>
            <a:endParaRPr lang="en-US" altLang="zh-CN" sz="16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174625" indent="-174625" algn="just">
              <a:buFont typeface="Arial" panose="020B0604020202020204" pitchFamily="34" charset="0"/>
              <a:buChar char="•"/>
            </a:pPr>
            <a:endParaRPr lang="zh-CN" altLang="en-US" sz="800" dirty="0">
              <a:solidFill>
                <a:srgbClr val="C00000"/>
              </a:solidFill>
              <a:latin typeface="阿里巴巴普惠体 3.0 55 Regular" panose="00020600040101010101" pitchFamily="18" charset="-122"/>
              <a:ea typeface="阿里巴巴普惠体 3.0 55 Regular" panose="00020600040101010101" pitchFamily="18" charset="-122"/>
            </a:endParaRPr>
          </a:p>
          <a:p>
            <a:pPr marL="174625" indent="-174625" algn="just">
              <a:buFont typeface="Arial" panose="020B0604020202020204" pitchFamily="34" charset="0"/>
              <a:buChar char="•"/>
            </a:pPr>
            <a:r>
              <a:rPr lang="zh-CN" altLang="en-US" sz="1600" dirty="0">
                <a:solidFill>
                  <a:srgbClr val="C00000"/>
                </a:solidFill>
                <a:latin typeface="阿里巴巴普惠体 3.0 55 Regular" panose="00020600040101010101" pitchFamily="18" charset="-122"/>
                <a:ea typeface="阿里巴巴普惠体 3.0 55 Regular" panose="00020600040101010101" pitchFamily="18" charset="-122"/>
              </a:rPr>
              <a:t>映象定义通常包含在各自外模式的描述中</a:t>
            </a:r>
          </a:p>
        </p:txBody>
      </p:sp>
    </p:spTree>
    <p:extLst>
      <p:ext uri="{BB962C8B-B14F-4D97-AF65-F5344CB8AC3E}">
        <p14:creationId xmlns:p14="http://schemas.microsoft.com/office/powerpoint/2010/main" val="26603242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5</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5.4</a:t>
            </a:r>
            <a:r>
              <a:rPr lang="zh-CN" altLang="en-US"/>
              <a:t>数据库三级模式结构小结</a:t>
            </a:r>
          </a:p>
        </p:txBody>
      </p:sp>
      <p:graphicFrame>
        <p:nvGraphicFramePr>
          <p:cNvPr id="8" name="内容占位符 5">
            <a:extLst>
              <a:ext uri="{FF2B5EF4-FFF2-40B4-BE49-F238E27FC236}">
                <a16:creationId xmlns:a16="http://schemas.microsoft.com/office/drawing/2014/main" id="{F48ED227-ED8B-4087-92B0-2BB34D53BE42}"/>
              </a:ext>
            </a:extLst>
          </p:cNvPr>
          <p:cNvGraphicFramePr>
            <a:graphicFrameLocks noGrp="1"/>
          </p:cNvGraphicFramePr>
          <p:nvPr>
            <p:ph idx="1"/>
            <p:extLst>
              <p:ext uri="{D42A27DB-BD31-4B8C-83A1-F6EECF244321}">
                <p14:modId xmlns:p14="http://schemas.microsoft.com/office/powerpoint/2010/main" val="3547719830"/>
              </p:ext>
            </p:extLst>
          </p:nvPr>
        </p:nvGraphicFramePr>
        <p:xfrm>
          <a:off x="408858" y="1508760"/>
          <a:ext cx="10918506" cy="3840480"/>
        </p:xfrm>
        <a:graphic>
          <a:graphicData uri="http://schemas.openxmlformats.org/drawingml/2006/table">
            <a:tbl>
              <a:tblPr firstRow="1" bandRow="1">
                <a:tableStyleId>{5C22544A-7EE6-4342-B048-85BDC9FD1C3A}</a:tableStyleId>
              </a:tblPr>
              <a:tblGrid>
                <a:gridCol w="1981707">
                  <a:extLst>
                    <a:ext uri="{9D8B030D-6E8A-4147-A177-3AD203B41FA5}">
                      <a16:colId xmlns:a16="http://schemas.microsoft.com/office/drawing/2014/main" val="430879696"/>
                    </a:ext>
                  </a:extLst>
                </a:gridCol>
                <a:gridCol w="2169462">
                  <a:extLst>
                    <a:ext uri="{9D8B030D-6E8A-4147-A177-3AD203B41FA5}">
                      <a16:colId xmlns:a16="http://schemas.microsoft.com/office/drawing/2014/main" val="63996087"/>
                    </a:ext>
                  </a:extLst>
                </a:gridCol>
                <a:gridCol w="2158014">
                  <a:extLst>
                    <a:ext uri="{9D8B030D-6E8A-4147-A177-3AD203B41FA5}">
                      <a16:colId xmlns:a16="http://schemas.microsoft.com/office/drawing/2014/main" val="1405317000"/>
                    </a:ext>
                  </a:extLst>
                </a:gridCol>
                <a:gridCol w="2377026">
                  <a:extLst>
                    <a:ext uri="{9D8B030D-6E8A-4147-A177-3AD203B41FA5}">
                      <a16:colId xmlns:a16="http://schemas.microsoft.com/office/drawing/2014/main" val="3711880389"/>
                    </a:ext>
                  </a:extLst>
                </a:gridCol>
                <a:gridCol w="2232297">
                  <a:extLst>
                    <a:ext uri="{9D8B030D-6E8A-4147-A177-3AD203B41FA5}">
                      <a16:colId xmlns:a16="http://schemas.microsoft.com/office/drawing/2014/main" val="2819736823"/>
                    </a:ext>
                  </a:extLst>
                </a:gridCol>
              </a:tblGrid>
              <a:tr h="370840">
                <a:tc>
                  <a:txBody>
                    <a:bodyPr/>
                    <a:lstStyle/>
                    <a:p>
                      <a:pPr algn="ctr"/>
                      <a:r>
                        <a:rPr lang="zh-CN" altLang="en-US" sz="2000" baseline="0" dirty="0">
                          <a:solidFill>
                            <a:srgbClr val="FFFF00"/>
                          </a:solidFill>
                          <a:latin typeface="HP Simplified" panose="020B0604020204020204" pitchFamily="34" charset="0"/>
                          <a:ea typeface="阿里巴巴普惠体 3.0 55 Regular" panose="00020600040101010101" pitchFamily="18" charset="-122"/>
                        </a:rPr>
                        <a:t>模式</a:t>
                      </a:r>
                    </a:p>
                  </a:txBody>
                  <a:tcPr/>
                </a:tc>
                <a:tc>
                  <a:txBody>
                    <a:bodyPr/>
                    <a:lstStyle/>
                    <a:p>
                      <a:pPr algn="ctr"/>
                      <a:r>
                        <a:rPr lang="zh-CN" altLang="en-US" sz="2000" baseline="0" dirty="0">
                          <a:solidFill>
                            <a:srgbClr val="FFFF00"/>
                          </a:solidFill>
                          <a:latin typeface="HP Simplified" panose="020B0604020204020204" pitchFamily="34" charset="0"/>
                          <a:ea typeface="阿里巴巴普惠体 3.0 55 Regular" panose="00020600040101010101" pitchFamily="18" charset="-122"/>
                        </a:rPr>
                        <a:t>内模式</a:t>
                      </a:r>
                    </a:p>
                  </a:txBody>
                  <a:tcPr/>
                </a:tc>
                <a:tc>
                  <a:txBody>
                    <a:bodyPr/>
                    <a:lstStyle/>
                    <a:p>
                      <a:pPr algn="ctr"/>
                      <a:r>
                        <a:rPr lang="zh-CN" altLang="en-US" sz="2000" baseline="0" dirty="0">
                          <a:solidFill>
                            <a:srgbClr val="FFFF00"/>
                          </a:solidFill>
                          <a:latin typeface="HP Simplified" panose="020B0604020204020204" pitchFamily="34" charset="0"/>
                          <a:ea typeface="阿里巴巴普惠体 3.0 55 Regular" panose="00020600040101010101" pitchFamily="18" charset="-122"/>
                        </a:rPr>
                        <a:t>外模式</a:t>
                      </a:r>
                    </a:p>
                  </a:txBody>
                  <a:tcPr/>
                </a:tc>
                <a:tc>
                  <a:txBody>
                    <a:bodyPr/>
                    <a:lstStyle/>
                    <a:p>
                      <a:pPr algn="ctr"/>
                      <a:r>
                        <a:rPr lang="zh-CN" altLang="en-US" sz="2000" baseline="0" dirty="0">
                          <a:solidFill>
                            <a:srgbClr val="FFFF00"/>
                          </a:solidFill>
                          <a:latin typeface="HP Simplified" panose="020B0604020204020204" pitchFamily="34" charset="0"/>
                          <a:ea typeface="阿里巴巴普惠体 3.0 55 Regular" panose="00020600040101010101" pitchFamily="18" charset="-122"/>
                        </a:rPr>
                        <a:t>特定应用程序</a:t>
                      </a:r>
                    </a:p>
                  </a:txBody>
                  <a:tcPr/>
                </a:tc>
                <a:tc>
                  <a:txBody>
                    <a:bodyPr/>
                    <a:lstStyle/>
                    <a:p>
                      <a:pPr algn="ctr"/>
                      <a:r>
                        <a:rPr lang="zh-CN" altLang="en-US" sz="2000" baseline="0" dirty="0">
                          <a:solidFill>
                            <a:srgbClr val="FFFF00"/>
                          </a:solidFill>
                          <a:latin typeface="HP Simplified" panose="020B0604020204020204" pitchFamily="34" charset="0"/>
                          <a:ea typeface="阿里巴巴普惠体 3.0 55 Regular" panose="00020600040101010101" pitchFamily="18" charset="-122"/>
                        </a:rPr>
                        <a:t>二级映像</a:t>
                      </a:r>
                    </a:p>
                  </a:txBody>
                  <a:tcPr/>
                </a:tc>
                <a:extLst>
                  <a:ext uri="{0D108BD9-81ED-4DB2-BD59-A6C34878D82A}">
                    <a16:rowId xmlns:a16="http://schemas.microsoft.com/office/drawing/2014/main" val="489790113"/>
                  </a:ext>
                </a:extLst>
              </a:tr>
              <a:tr h="370840">
                <a:tc>
                  <a:txBody>
                    <a:bodyPr/>
                    <a:lstStyle/>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即全局逻辑结构</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是</a:t>
                      </a:r>
                      <a:r>
                        <a:rPr lang="zh-CN" altLang="en-US" sz="1400" b="1" baseline="0" dirty="0">
                          <a:solidFill>
                            <a:srgbClr val="FF0000"/>
                          </a:solidFill>
                          <a:latin typeface="HP Simplified" panose="020B0604020204020204" pitchFamily="34" charset="0"/>
                          <a:ea typeface="阿里巴巴普惠体 3.0 55 Regular" panose="00020600040101010101" pitchFamily="18" charset="-122"/>
                        </a:rPr>
                        <a:t>数据库的核心与关键</a:t>
                      </a:r>
                      <a:endParaRPr lang="en-US" altLang="zh-CN" sz="1400" b="1" baseline="0" dirty="0">
                        <a:solidFill>
                          <a:srgbClr val="FF0000"/>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accent2">
                            <a:lumMod val="75000"/>
                          </a:schemeClr>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独立于数据库的其他层次</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设计数据库模式结构时应首先确定数据库的逻辑模式</a:t>
                      </a:r>
                    </a:p>
                  </a:txBody>
                  <a:tcPr>
                    <a:solidFill>
                      <a:schemeClr val="bg1">
                        <a:lumMod val="95000"/>
                      </a:schemeClr>
                    </a:solidFill>
                  </a:tcPr>
                </a:tc>
                <a:tc>
                  <a:txBody>
                    <a:bodyPr/>
                    <a:lstStyle/>
                    <a:p>
                      <a:pPr marL="174625" marR="0" lvl="0" indent="-174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依赖于它的全局逻辑结构</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独立于数据库的用户视图，即外模式</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独立于具体的存储设备 </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将全局逻辑结构中所定义的数据结构及其联系按照一定的物理存储策略进行组织，以达到较好的时空效率 </a:t>
                      </a:r>
                    </a:p>
                  </a:txBody>
                  <a:tcPr>
                    <a:solidFill>
                      <a:schemeClr val="bg1">
                        <a:lumMod val="95000"/>
                      </a:schemeClr>
                    </a:solidFill>
                  </a:tcPr>
                </a:tc>
                <a:tc>
                  <a:txBody>
                    <a:bodyPr/>
                    <a:lstStyle/>
                    <a:p>
                      <a:pPr marL="174625" indent="-174625">
                        <a:buFont typeface="Arial" panose="020B0604020202020204" pitchFamily="34" charset="0"/>
                        <a:buChar char="•"/>
                      </a:pPr>
                      <a:r>
                        <a:rPr lang="zh-CN" altLang="en-US" sz="1400" b="1" baseline="0" dirty="0">
                          <a:solidFill>
                            <a:srgbClr val="FF0000"/>
                          </a:solidFill>
                          <a:latin typeface="HP Simplified" panose="020B0604020204020204" pitchFamily="34" charset="0"/>
                          <a:ea typeface="阿里巴巴普惠体 3.0 55 Regular" panose="00020600040101010101" pitchFamily="18" charset="-122"/>
                        </a:rPr>
                        <a:t>面向具体的应用程序</a:t>
                      </a:r>
                    </a:p>
                    <a:p>
                      <a:pPr marL="174625" indent="-174625">
                        <a:buFont typeface="Arial" panose="020B0604020202020204" pitchFamily="34" charset="0"/>
                        <a:buChar char="•"/>
                      </a:pPr>
                      <a:endParaRPr lang="en-US" altLang="zh-CN" sz="800" b="0" baseline="0" dirty="0">
                        <a:solidFill>
                          <a:schemeClr val="accent2">
                            <a:lumMod val="75000"/>
                          </a:schemeClr>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定义在逻辑模式之上</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独立于存储模式和存储设备</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当应用需求发生较大变化，相应外模式不能满足其视图要求时，该外模式就得做相应改动</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设计外模式时应充分考虑到应用的扩充性</a:t>
                      </a:r>
                    </a:p>
                  </a:txBody>
                  <a:tcPr>
                    <a:solidFill>
                      <a:schemeClr val="bg1">
                        <a:lumMod val="95000"/>
                      </a:schemeClr>
                    </a:solidFill>
                  </a:tcPr>
                </a:tc>
                <a:tc>
                  <a:txBody>
                    <a:bodyPr/>
                    <a:lstStyle/>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在外模式描述的数据结构上编制的</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accent2">
                            <a:lumMod val="75000"/>
                          </a:schemeClr>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1" baseline="0" dirty="0">
                          <a:solidFill>
                            <a:srgbClr val="FF0000"/>
                          </a:solidFill>
                          <a:latin typeface="HP Simplified" panose="020B0604020204020204" pitchFamily="34" charset="0"/>
                          <a:ea typeface="阿里巴巴普惠体 3.0 55 Regular" panose="00020600040101010101" pitchFamily="18" charset="-122"/>
                        </a:rPr>
                        <a:t>依赖于特定的外模式</a:t>
                      </a:r>
                      <a:endParaRPr lang="en-US" altLang="zh-CN" sz="1400" b="1" baseline="0" dirty="0">
                        <a:solidFill>
                          <a:srgbClr val="FF0000"/>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accent2">
                            <a:lumMod val="75000"/>
                          </a:schemeClr>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与数据库的模式和存储结构独立</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accent2">
                            <a:lumMod val="75000"/>
                          </a:schemeClr>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不同的应用程序有时可以</a:t>
                      </a:r>
                      <a:r>
                        <a:rPr lang="zh-CN" altLang="en-US" sz="1400" b="1" baseline="0" dirty="0">
                          <a:solidFill>
                            <a:srgbClr val="FF0000"/>
                          </a:solidFill>
                          <a:latin typeface="HP Simplified" panose="020B0604020204020204" pitchFamily="34" charset="0"/>
                          <a:ea typeface="阿里巴巴普惠体 3.0 55 Regular" panose="00020600040101010101" pitchFamily="18" charset="-122"/>
                        </a:rPr>
                        <a:t>共用同一个外模式</a:t>
                      </a:r>
                    </a:p>
                    <a:p>
                      <a:endParaRPr lang="zh-CN" altLang="en-US" sz="1600" b="0" baseline="0" dirty="0">
                        <a:solidFill>
                          <a:schemeClr val="accent2">
                            <a:lumMod val="75000"/>
                          </a:schemeClr>
                        </a:solidFill>
                        <a:latin typeface="HP Simplified" panose="020B0604020204020204" pitchFamily="34" charset="0"/>
                        <a:ea typeface="阿里巴巴普惠体 3.0 55 Regular" panose="00020600040101010101" pitchFamily="18" charset="-122"/>
                      </a:endParaRPr>
                    </a:p>
                  </a:txBody>
                  <a:tcPr>
                    <a:solidFill>
                      <a:schemeClr val="bg1">
                        <a:lumMod val="95000"/>
                      </a:schemeClr>
                    </a:solidFill>
                  </a:tcPr>
                </a:tc>
                <a:tc>
                  <a:txBody>
                    <a:bodyPr/>
                    <a:lstStyle/>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保证了数据库外模式的稳定性</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从底层保证了应用程序的稳定性，除非应用需求本身发生变化，否则应用程序一般不需要修改 </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数据与程序之间的独立性使得数据的定义和描述可以从应用程序中分离出去</a:t>
                      </a:r>
                      <a:endParaRPr lang="en-US" altLang="zh-CN" sz="14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endParaRPr lang="en-US" altLang="zh-CN" sz="800" b="0" baseline="0" dirty="0">
                        <a:solidFill>
                          <a:schemeClr val="tx1"/>
                        </a:solidFill>
                        <a:latin typeface="HP Simplified" panose="020B0604020204020204" pitchFamily="34" charset="0"/>
                        <a:ea typeface="阿里巴巴普惠体 3.0 55 Regular" panose="00020600040101010101" pitchFamily="18" charset="-122"/>
                      </a:endParaRPr>
                    </a:p>
                    <a:p>
                      <a:pPr marL="174625" indent="-174625">
                        <a:buFont typeface="Arial" panose="020B0604020202020204" pitchFamily="34" charset="0"/>
                        <a:buChar char="•"/>
                      </a:pP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数据的存取由</a:t>
                      </a:r>
                      <a:r>
                        <a:rPr lang="en-US" altLang="zh-CN" sz="1400" b="0" baseline="0" dirty="0">
                          <a:solidFill>
                            <a:schemeClr val="tx1"/>
                          </a:solidFill>
                          <a:latin typeface="HP Simplified" panose="020B0604020204020204" pitchFamily="34" charset="0"/>
                          <a:ea typeface="阿里巴巴普惠体 3.0 55 Regular" panose="00020600040101010101" pitchFamily="18" charset="-122"/>
                        </a:rPr>
                        <a:t>DBMS</a:t>
                      </a: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管理，简化了</a:t>
                      </a:r>
                      <a:r>
                        <a:rPr lang="en-US" altLang="zh-CN" sz="1400" b="0" baseline="0" dirty="0">
                          <a:solidFill>
                            <a:schemeClr val="tx1"/>
                          </a:solidFill>
                          <a:latin typeface="HP Simplified" panose="020B0604020204020204" pitchFamily="34" charset="0"/>
                          <a:ea typeface="阿里巴巴普惠体 3.0 55 Regular" panose="00020600040101010101" pitchFamily="18" charset="-122"/>
                        </a:rPr>
                        <a:t>APPs</a:t>
                      </a:r>
                      <a:r>
                        <a:rPr lang="zh-CN" altLang="en-US" sz="1400" b="0" baseline="0" dirty="0">
                          <a:solidFill>
                            <a:schemeClr val="tx1"/>
                          </a:solidFill>
                          <a:latin typeface="HP Simplified" panose="020B0604020204020204" pitchFamily="34" charset="0"/>
                          <a:ea typeface="阿里巴巴普惠体 3.0 55 Regular" panose="00020600040101010101" pitchFamily="18" charset="-122"/>
                        </a:rPr>
                        <a:t>的编制和开发与维护成本</a:t>
                      </a:r>
                    </a:p>
                  </a:txBody>
                  <a:tcPr>
                    <a:solidFill>
                      <a:schemeClr val="bg1">
                        <a:lumMod val="95000"/>
                      </a:schemeClr>
                    </a:solidFill>
                  </a:tcPr>
                </a:tc>
                <a:extLst>
                  <a:ext uri="{0D108BD9-81ED-4DB2-BD59-A6C34878D82A}">
                    <a16:rowId xmlns:a16="http://schemas.microsoft.com/office/drawing/2014/main" val="323548463"/>
                  </a:ext>
                </a:extLst>
              </a:tr>
            </a:tbl>
          </a:graphicData>
        </a:graphic>
      </p:graphicFrame>
    </p:spTree>
    <p:extLst>
      <p:ext uri="{BB962C8B-B14F-4D97-AF65-F5344CB8AC3E}">
        <p14:creationId xmlns:p14="http://schemas.microsoft.com/office/powerpoint/2010/main" val="1881080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6</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数据库系统组成</a:t>
            </a:r>
          </a:p>
        </p:txBody>
      </p:sp>
      <p:pic>
        <p:nvPicPr>
          <p:cNvPr id="9" name="Picture 8" descr="20071224163006">
            <a:extLst>
              <a:ext uri="{FF2B5EF4-FFF2-40B4-BE49-F238E27FC236}">
                <a16:creationId xmlns:a16="http://schemas.microsoft.com/office/drawing/2014/main" id="{B6029479-2708-400D-A2D2-A5AF199D5F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35087" y="1070677"/>
            <a:ext cx="6649278" cy="3696999"/>
          </a:xfrm>
          <a:prstGeom prst="rect">
            <a:avLst/>
          </a:prstGeom>
          <a:noFill/>
        </p:spPr>
      </p:pic>
      <p:grpSp>
        <p:nvGrpSpPr>
          <p:cNvPr id="10" name="组合 9">
            <a:extLst>
              <a:ext uri="{FF2B5EF4-FFF2-40B4-BE49-F238E27FC236}">
                <a16:creationId xmlns:a16="http://schemas.microsoft.com/office/drawing/2014/main" id="{7150E079-0C21-40A1-8B86-F45355AB86AC}"/>
              </a:ext>
            </a:extLst>
          </p:cNvPr>
          <p:cNvGrpSpPr/>
          <p:nvPr/>
        </p:nvGrpSpPr>
        <p:grpSpPr>
          <a:xfrm>
            <a:off x="1033749" y="5081640"/>
            <a:ext cx="9126166" cy="997462"/>
            <a:chOff x="2274651" y="5312227"/>
            <a:chExt cx="9126166" cy="997462"/>
          </a:xfrm>
        </p:grpSpPr>
        <p:sp>
          <p:nvSpPr>
            <p:cNvPr id="11" name="矩形 10">
              <a:extLst>
                <a:ext uri="{FF2B5EF4-FFF2-40B4-BE49-F238E27FC236}">
                  <a16:creationId xmlns:a16="http://schemas.microsoft.com/office/drawing/2014/main" id="{A6D94C3A-4FC1-4774-B093-8D538534141F}"/>
                </a:ext>
              </a:extLst>
            </p:cNvPr>
            <p:cNvSpPr/>
            <p:nvPr/>
          </p:nvSpPr>
          <p:spPr>
            <a:xfrm>
              <a:off x="2274651" y="5312227"/>
              <a:ext cx="9126166" cy="400110"/>
            </a:xfrm>
            <a:prstGeom prst="rect">
              <a:avLst/>
            </a:prstGeom>
          </p:spPr>
          <p:txBody>
            <a:bodyPr wrap="square">
              <a:spAutoFit/>
            </a:bodyPr>
            <a:lstStyle/>
            <a:p>
              <a:pPr>
                <a:defRPr/>
              </a:pPr>
              <a:r>
                <a:rPr lang="zh-CN" altLang="en-US" sz="2000" b="1" dirty="0">
                  <a:solidFill>
                    <a:srgbClr val="FF0000"/>
                  </a:solidFill>
                  <a:latin typeface="微软雅黑" panose="020B0503020204020204" pitchFamily="34" charset="-122"/>
                  <a:ea typeface="微软雅黑" panose="020B0503020204020204" pitchFamily="34" charset="-122"/>
                </a:rPr>
                <a:t>数据库系统</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硬件</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a:solidFill>
                    <a:srgbClr val="0000FF"/>
                  </a:solidFill>
                  <a:latin typeface="微软雅黑" panose="020B0503020204020204" pitchFamily="34" charset="-122"/>
                  <a:ea typeface="微软雅黑" panose="020B0503020204020204" pitchFamily="34" charset="-122"/>
                </a:rPr>
                <a:t>数据库</a:t>
              </a:r>
              <a:r>
                <a:rPr lang="en-US" altLang="zh-CN" sz="2000" b="1">
                  <a:solidFill>
                    <a:srgbClr val="0000FF"/>
                  </a:solidFill>
                  <a:latin typeface="微软雅黑" panose="020B0503020204020204" pitchFamily="34" charset="-122"/>
                  <a:ea typeface="微软雅黑" panose="020B0503020204020204" pitchFamily="34" charset="-122"/>
                </a:rPr>
                <a:t>+OS+DBMS</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应用系统</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应用开发工具</a:t>
              </a:r>
              <a:r>
                <a:rPr lang="en-US" altLang="zh-CN" sz="2000" b="1" dirty="0">
                  <a:solidFill>
                    <a:srgbClr val="0000FF"/>
                  </a:solidFill>
                  <a:latin typeface="微软雅黑" panose="020B0503020204020204" pitchFamily="34" charset="-122"/>
                  <a:ea typeface="微软雅黑" panose="020B0503020204020204" pitchFamily="34" charset="-122"/>
                </a:rPr>
                <a:t>+DBA+</a:t>
              </a:r>
              <a:r>
                <a:rPr lang="zh-CN" altLang="en-US" sz="2000" b="1" dirty="0">
                  <a:solidFill>
                    <a:srgbClr val="0000FF"/>
                  </a:solidFill>
                  <a:latin typeface="微软雅黑" panose="020B0503020204020204" pitchFamily="34" charset="-122"/>
                  <a:ea typeface="微软雅黑" panose="020B0503020204020204" pitchFamily="34" charset="-122"/>
                </a:rPr>
                <a:t>用户</a:t>
              </a:r>
            </a:p>
          </p:txBody>
        </p:sp>
        <p:sp>
          <p:nvSpPr>
            <p:cNvPr id="12" name="右大括号 11">
              <a:extLst>
                <a:ext uri="{FF2B5EF4-FFF2-40B4-BE49-F238E27FC236}">
                  <a16:creationId xmlns:a16="http://schemas.microsoft.com/office/drawing/2014/main" id="{884C90B7-FF1F-4ACF-A584-31BE8321D545}"/>
                </a:ext>
              </a:extLst>
            </p:cNvPr>
            <p:cNvSpPr/>
            <p:nvPr/>
          </p:nvSpPr>
          <p:spPr>
            <a:xfrm rot="5400000">
              <a:off x="7115782" y="3224721"/>
              <a:ext cx="150780" cy="5131341"/>
            </a:xfrm>
            <a:prstGeom prst="rightBrac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20BF6C48-0BB1-48B0-95E1-39AEEEE7D570}"/>
                </a:ext>
              </a:extLst>
            </p:cNvPr>
            <p:cNvSpPr txBox="1"/>
            <p:nvPr/>
          </p:nvSpPr>
          <p:spPr>
            <a:xfrm>
              <a:off x="6624536" y="5914416"/>
              <a:ext cx="1177047" cy="369332"/>
            </a:xfrm>
            <a:prstGeom prst="rect">
              <a:avLst/>
            </a:prstGeom>
            <a:noFill/>
          </p:spPr>
          <p:txBody>
            <a:bodyPr wrap="square" rtlCol="0">
              <a:spAutoFit/>
            </a:bodyPr>
            <a:lstStyle/>
            <a:p>
              <a:pPr algn="ctr"/>
              <a:r>
                <a:rPr lang="zh-CN" altLang="en-US" b="1">
                  <a:solidFill>
                    <a:srgbClr val="FF0000"/>
                  </a:solidFill>
                  <a:latin typeface="微软雅黑" panose="020B0503020204020204" pitchFamily="34" charset="-122"/>
                  <a:ea typeface="微软雅黑" panose="020B0503020204020204" pitchFamily="34" charset="-122"/>
                </a:rPr>
                <a:t>软件平台</a:t>
              </a:r>
            </a:p>
          </p:txBody>
        </p:sp>
        <p:sp>
          <p:nvSpPr>
            <p:cNvPr id="14" name="右大括号 13">
              <a:extLst>
                <a:ext uri="{FF2B5EF4-FFF2-40B4-BE49-F238E27FC236}">
                  <a16:creationId xmlns:a16="http://schemas.microsoft.com/office/drawing/2014/main" id="{2BAFC6CF-8ABC-4785-965B-02FF10A5033B}"/>
                </a:ext>
              </a:extLst>
            </p:cNvPr>
            <p:cNvSpPr/>
            <p:nvPr/>
          </p:nvSpPr>
          <p:spPr>
            <a:xfrm rot="5400000">
              <a:off x="10530192" y="5257800"/>
              <a:ext cx="111868" cy="1026268"/>
            </a:xfrm>
            <a:prstGeom prst="rightBrac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CF1ABE15-BF01-491D-ABE4-2BF6FB9FD512}"/>
                </a:ext>
              </a:extLst>
            </p:cNvPr>
            <p:cNvSpPr txBox="1"/>
            <p:nvPr/>
          </p:nvSpPr>
          <p:spPr>
            <a:xfrm>
              <a:off x="10077855" y="5940357"/>
              <a:ext cx="1147864" cy="369332"/>
            </a:xfrm>
            <a:prstGeom prst="rect">
              <a:avLst/>
            </a:prstGeom>
            <a:noFill/>
          </p:spPr>
          <p:txBody>
            <a:bodyPr wrap="square" rtlCol="0">
              <a:spAutoFit/>
            </a:bodyPr>
            <a:lstStyle/>
            <a:p>
              <a:pPr algn="ctr"/>
              <a:r>
                <a:rPr lang="zh-CN" altLang="en-US" b="1">
                  <a:solidFill>
                    <a:srgbClr val="FF0000"/>
                  </a:solidFill>
                  <a:latin typeface="微软雅黑" panose="020B0503020204020204" pitchFamily="34" charset="-122"/>
                  <a:ea typeface="微软雅黑" panose="020B0503020204020204" pitchFamily="34" charset="-122"/>
                </a:rPr>
                <a:t>人员</a:t>
              </a:r>
            </a:p>
          </p:txBody>
        </p:sp>
      </p:grpSp>
    </p:spTree>
    <p:extLst>
      <p:ext uri="{BB962C8B-B14F-4D97-AF65-F5344CB8AC3E}">
        <p14:creationId xmlns:p14="http://schemas.microsoft.com/office/powerpoint/2010/main" val="35466506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6</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sp>
        <p:nvSpPr>
          <p:cNvPr id="3" name="内容占位符 2">
            <a:extLst>
              <a:ext uri="{FF2B5EF4-FFF2-40B4-BE49-F238E27FC236}">
                <a16:creationId xmlns:a16="http://schemas.microsoft.com/office/drawing/2014/main" id="{FE5DBC3F-C0CF-453C-BA2E-D4C6B319EB51}"/>
              </a:ext>
            </a:extLst>
          </p:cNvPr>
          <p:cNvSpPr>
            <a:spLocks noGrp="1"/>
          </p:cNvSpPr>
          <p:nvPr>
            <p:ph idx="1"/>
          </p:nvPr>
        </p:nvSpPr>
        <p:spPr/>
        <p:txBody>
          <a:bodyPr>
            <a:normAutofit fontScale="92500" lnSpcReduction="10000"/>
          </a:bodyPr>
          <a:lstStyle/>
          <a:p>
            <a:r>
              <a:rPr lang="zh-CN" altLang="en-US">
                <a:solidFill>
                  <a:srgbClr val="FF0000"/>
                </a:solidFill>
              </a:rPr>
              <a:t>数据库管理员</a:t>
            </a:r>
            <a:r>
              <a:rPr lang="en-US" altLang="zh-CN">
                <a:solidFill>
                  <a:srgbClr val="FF0000"/>
                </a:solidFill>
              </a:rPr>
              <a:t>(DBA)</a:t>
            </a:r>
          </a:p>
          <a:p>
            <a:pPr lvl="1"/>
            <a:r>
              <a:rPr lang="zh-CN" altLang="en-US"/>
              <a:t>决定数据库中的信息内容和结构、存储结构和存取策略；定义数据的安全性要求和完整性约束条件；监控数据库的使用和运行；数据库的改进和重组重构</a:t>
            </a:r>
          </a:p>
          <a:p>
            <a:r>
              <a:rPr lang="zh-CN" altLang="en-US">
                <a:solidFill>
                  <a:srgbClr val="FF0000"/>
                </a:solidFill>
              </a:rPr>
              <a:t>系统分析员</a:t>
            </a:r>
          </a:p>
          <a:p>
            <a:pPr lvl="1"/>
            <a:r>
              <a:rPr lang="zh-CN" altLang="en-US"/>
              <a:t>负责应用系统的需求分析和规范说明，与用户和</a:t>
            </a:r>
            <a:r>
              <a:rPr lang="en-US" altLang="zh-CN"/>
              <a:t>DBA</a:t>
            </a:r>
            <a:r>
              <a:rPr lang="zh-CN" altLang="en-US"/>
              <a:t>一起确定系统的软硬件配置，并参与系统的总体设计</a:t>
            </a:r>
          </a:p>
          <a:p>
            <a:r>
              <a:rPr lang="zh-CN" altLang="en-US">
                <a:solidFill>
                  <a:srgbClr val="FF0000"/>
                </a:solidFill>
              </a:rPr>
              <a:t>数据库设计人员</a:t>
            </a:r>
          </a:p>
          <a:p>
            <a:pPr lvl="1"/>
            <a:r>
              <a:rPr lang="zh-CN" altLang="en-US"/>
              <a:t>负责数据库中数据的确定和数据库各级模式的设计，常由</a:t>
            </a:r>
            <a:r>
              <a:rPr lang="en-US" altLang="zh-CN"/>
              <a:t>DBA</a:t>
            </a:r>
            <a:r>
              <a:rPr lang="zh-CN" altLang="en-US"/>
              <a:t>担任</a:t>
            </a:r>
          </a:p>
          <a:p>
            <a:r>
              <a:rPr lang="zh-CN" altLang="en-US">
                <a:solidFill>
                  <a:srgbClr val="FF0000"/>
                </a:solidFill>
              </a:rPr>
              <a:t>应用程序员</a:t>
            </a:r>
          </a:p>
          <a:p>
            <a:pPr lvl="1"/>
            <a:r>
              <a:rPr lang="zh-CN" altLang="en-US"/>
              <a:t>以外模式为基础进行应用系统的设计、编码、测试和安装</a:t>
            </a:r>
          </a:p>
          <a:p>
            <a:r>
              <a:rPr lang="zh-CN" altLang="en-US">
                <a:solidFill>
                  <a:srgbClr val="FF0000"/>
                </a:solidFill>
              </a:rPr>
              <a:t>最终用户</a:t>
            </a:r>
            <a:endParaRPr lang="en-US" altLang="zh-CN">
              <a:solidFill>
                <a:srgbClr val="FF0000"/>
              </a:solidFill>
            </a:endParaRPr>
          </a:p>
          <a:p>
            <a:pPr lvl="1"/>
            <a:r>
              <a:rPr lang="zh-CN" altLang="en-US"/>
              <a:t>具体操作应用系统，通过应用系统客户端的用户界面使用数据库以完成业务活动</a:t>
            </a:r>
            <a:endParaRPr lang="en-US" altLang="zh-CN"/>
          </a:p>
        </p:txBody>
      </p:sp>
    </p:spTree>
    <p:extLst>
      <p:ext uri="{BB962C8B-B14F-4D97-AF65-F5344CB8AC3E}">
        <p14:creationId xmlns:p14="http://schemas.microsoft.com/office/powerpoint/2010/main" val="27054563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6</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pic>
        <p:nvPicPr>
          <p:cNvPr id="8" name="内容占位符 9">
            <a:extLst>
              <a:ext uri="{FF2B5EF4-FFF2-40B4-BE49-F238E27FC236}">
                <a16:creationId xmlns:a16="http://schemas.microsoft.com/office/drawing/2014/main" id="{E0F63C76-1E11-499B-965E-F4962C2A1BDF}"/>
              </a:ext>
            </a:extLst>
          </p:cNvPr>
          <p:cNvPicPr>
            <a:picLocks noGrp="1" noChangeAspect="1"/>
          </p:cNvPicPr>
          <p:nvPr>
            <p:ph idx="1"/>
          </p:nvPr>
        </p:nvPicPr>
        <p:blipFill rotWithShape="1">
          <a:blip r:embed="rId2"/>
          <a:srcRect l="3681" t="426" r="3994" b="10092"/>
          <a:stretch/>
        </p:blipFill>
        <p:spPr>
          <a:xfrm>
            <a:off x="868305" y="1113161"/>
            <a:ext cx="4963955" cy="4104882"/>
          </a:xfrm>
          <a:prstGeom prst="rect">
            <a:avLst/>
          </a:prstGeom>
        </p:spPr>
      </p:pic>
      <p:sp>
        <p:nvSpPr>
          <p:cNvPr id="9" name="Rectangle 1027">
            <a:extLst>
              <a:ext uri="{FF2B5EF4-FFF2-40B4-BE49-F238E27FC236}">
                <a16:creationId xmlns:a16="http://schemas.microsoft.com/office/drawing/2014/main" id="{FCEAF48B-5C46-4B94-87D4-444528FDA745}"/>
              </a:ext>
            </a:extLst>
          </p:cNvPr>
          <p:cNvSpPr txBox="1">
            <a:spLocks/>
          </p:cNvSpPr>
          <p:nvPr/>
        </p:nvSpPr>
        <p:spPr>
          <a:xfrm>
            <a:off x="1232730" y="5404984"/>
            <a:ext cx="4250712" cy="301558"/>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120000"/>
              </a:lnSpc>
              <a:spcBef>
                <a:spcPts val="1000"/>
              </a:spcBef>
              <a:buClr>
                <a:srgbClr val="C00000"/>
              </a:buClr>
              <a:buFont typeface="Wingdings" panose="05000000000000000000" pitchFamily="2" charset="2"/>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720725" indent="-263525" algn="l" defTabSz="914400" rtl="0" eaLnBrk="1" latinLnBrk="0" hangingPunct="1">
              <a:lnSpc>
                <a:spcPct val="120000"/>
              </a:lnSpc>
              <a:spcBef>
                <a:spcPts val="500"/>
              </a:spcBef>
              <a:buFont typeface="微软雅黑" panose="020B0503020204020204" pitchFamily="34" charset="-122"/>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微软雅黑" panose="020B0503020204020204" pitchFamily="34" charset="-122"/>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zh-CN" altLang="en-US" sz="1800" b="1">
                <a:solidFill>
                  <a:srgbClr val="FF3300"/>
                </a:solidFill>
              </a:rPr>
              <a:t>图</a:t>
            </a:r>
            <a:r>
              <a:rPr lang="en-US" altLang="zh-CN" sz="1800" b="1">
                <a:solidFill>
                  <a:srgbClr val="FF3300"/>
                </a:solidFill>
              </a:rPr>
              <a:t>1.16  </a:t>
            </a:r>
            <a:r>
              <a:rPr lang="zh-CN" altLang="en-US" sz="1800" b="1">
                <a:solidFill>
                  <a:srgbClr val="FF3300"/>
                </a:solidFill>
              </a:rPr>
              <a:t>数据库系统各种人员的数据视图 </a:t>
            </a:r>
            <a:endParaRPr lang="zh-CN" altLang="en-US" sz="1800" b="1" dirty="0">
              <a:solidFill>
                <a:srgbClr val="FF3300"/>
              </a:solidFill>
            </a:endParaRPr>
          </a:p>
        </p:txBody>
      </p:sp>
      <p:pic>
        <p:nvPicPr>
          <p:cNvPr id="10" name="Picture 2">
            <a:extLst>
              <a:ext uri="{FF2B5EF4-FFF2-40B4-BE49-F238E27FC236}">
                <a16:creationId xmlns:a16="http://schemas.microsoft.com/office/drawing/2014/main" id="{F72A5A66-813D-4105-91FF-07650471EF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23"/>
          <a:stretch/>
        </p:blipFill>
        <p:spPr bwMode="auto">
          <a:xfrm>
            <a:off x="6142381" y="1451114"/>
            <a:ext cx="5373577" cy="3478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27">
            <a:extLst>
              <a:ext uri="{FF2B5EF4-FFF2-40B4-BE49-F238E27FC236}">
                <a16:creationId xmlns:a16="http://schemas.microsoft.com/office/drawing/2014/main" id="{0C2D4F3D-092B-4EBA-9C6B-D713E08872A0}"/>
              </a:ext>
            </a:extLst>
          </p:cNvPr>
          <p:cNvSpPr txBox="1">
            <a:spLocks/>
          </p:cNvSpPr>
          <p:nvPr/>
        </p:nvSpPr>
        <p:spPr>
          <a:xfrm>
            <a:off x="6926248" y="5131471"/>
            <a:ext cx="3203366" cy="324255"/>
          </a:xfrm>
          <a:prstGeom prst="rect">
            <a:avLst/>
          </a:prstGeom>
        </p:spPr>
        <p:txBody>
          <a:bodyPr vert="horz" wrap="square" lIns="91440" tIns="45720" rIns="91440" bIns="45720" rtlCol="0" anchor="t" anchorCtr="0">
            <a:noAutofit/>
          </a:bodyPr>
          <a:lstStyle>
            <a:lvl1pPr marL="228600" indent="-228600" algn="l" defTabSz="914400" rtl="0" eaLnBrk="1" latinLnBrk="0" hangingPunct="1">
              <a:lnSpc>
                <a:spcPct val="120000"/>
              </a:lnSpc>
              <a:spcBef>
                <a:spcPts val="1000"/>
              </a:spcBef>
              <a:buClr>
                <a:srgbClr val="C00000"/>
              </a:buClr>
              <a:buFont typeface="Wingdings" panose="05000000000000000000" pitchFamily="2" charset="2"/>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720725" indent="-263525" algn="l" defTabSz="914400" rtl="0" eaLnBrk="1" latinLnBrk="0" hangingPunct="1">
              <a:lnSpc>
                <a:spcPct val="120000"/>
              </a:lnSpc>
              <a:spcBef>
                <a:spcPts val="500"/>
              </a:spcBef>
              <a:buFont typeface="微软雅黑" panose="020B0503020204020204" pitchFamily="34" charset="-122"/>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微软雅黑" panose="020B0503020204020204" pitchFamily="34" charset="-122"/>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None/>
            </a:pPr>
            <a:r>
              <a:rPr lang="zh-CN" altLang="en-US" sz="1800" b="1">
                <a:solidFill>
                  <a:srgbClr val="FF3300"/>
                </a:solidFill>
              </a:rPr>
              <a:t>用户访问数据库的过程示意图</a:t>
            </a:r>
            <a:r>
              <a:rPr lang="en-US" altLang="zh-CN" sz="1800" b="1">
                <a:solidFill>
                  <a:srgbClr val="FF3300"/>
                </a:solidFill>
              </a:rPr>
              <a:t> </a:t>
            </a:r>
            <a:endParaRPr lang="zh-CN" altLang="en-US" sz="1800" b="1" dirty="0">
              <a:solidFill>
                <a:srgbClr val="FF3300"/>
              </a:solidFill>
            </a:endParaRPr>
          </a:p>
        </p:txBody>
      </p:sp>
      <p:sp>
        <p:nvSpPr>
          <p:cNvPr id="12" name="右大括号 11">
            <a:extLst>
              <a:ext uri="{FF2B5EF4-FFF2-40B4-BE49-F238E27FC236}">
                <a16:creationId xmlns:a16="http://schemas.microsoft.com/office/drawing/2014/main" id="{3D81707D-E997-4117-AC2F-3C51365CC7EC}"/>
              </a:ext>
            </a:extLst>
          </p:cNvPr>
          <p:cNvSpPr/>
          <p:nvPr/>
        </p:nvSpPr>
        <p:spPr>
          <a:xfrm>
            <a:off x="10515600" y="1898374"/>
            <a:ext cx="308113" cy="1719469"/>
          </a:xfrm>
          <a:prstGeom prst="rightBrace">
            <a:avLst>
              <a:gd name="adj1" fmla="val 8333"/>
              <a:gd name="adj2" fmla="val 5867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39923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7</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数据库系统体系结构</a:t>
            </a:r>
          </a:p>
        </p:txBody>
      </p:sp>
      <p:graphicFrame>
        <p:nvGraphicFramePr>
          <p:cNvPr id="8" name="内容占位符 5">
            <a:extLst>
              <a:ext uri="{FF2B5EF4-FFF2-40B4-BE49-F238E27FC236}">
                <a16:creationId xmlns:a16="http://schemas.microsoft.com/office/drawing/2014/main" id="{19455F1B-C51F-44DA-8B9C-5B439351792E}"/>
              </a:ext>
            </a:extLst>
          </p:cNvPr>
          <p:cNvGraphicFramePr>
            <a:graphicFrameLocks noGrp="1"/>
          </p:cNvGraphicFramePr>
          <p:nvPr>
            <p:ph idx="1"/>
            <p:extLst>
              <p:ext uri="{D42A27DB-BD31-4B8C-83A1-F6EECF244321}">
                <p14:modId xmlns:p14="http://schemas.microsoft.com/office/powerpoint/2010/main" val="2262473637"/>
              </p:ext>
            </p:extLst>
          </p:nvPr>
        </p:nvGraphicFramePr>
        <p:xfrm>
          <a:off x="496958" y="911225"/>
          <a:ext cx="11052311" cy="5237798"/>
        </p:xfrm>
        <a:graphic>
          <a:graphicData uri="http://schemas.openxmlformats.org/drawingml/2006/table">
            <a:tbl>
              <a:tblPr firstRow="1" bandRow="1">
                <a:tableStyleId>{5C22544A-7EE6-4342-B048-85BDC9FD1C3A}</a:tableStyleId>
              </a:tblPr>
              <a:tblGrid>
                <a:gridCol w="2078291">
                  <a:extLst>
                    <a:ext uri="{9D8B030D-6E8A-4147-A177-3AD203B41FA5}">
                      <a16:colId xmlns:a16="http://schemas.microsoft.com/office/drawing/2014/main" val="430879696"/>
                    </a:ext>
                  </a:extLst>
                </a:gridCol>
                <a:gridCol w="2496756">
                  <a:extLst>
                    <a:ext uri="{9D8B030D-6E8A-4147-A177-3AD203B41FA5}">
                      <a16:colId xmlns:a16="http://schemas.microsoft.com/office/drawing/2014/main" val="63996087"/>
                    </a:ext>
                  </a:extLst>
                </a:gridCol>
                <a:gridCol w="1805873">
                  <a:extLst>
                    <a:ext uri="{9D8B030D-6E8A-4147-A177-3AD203B41FA5}">
                      <a16:colId xmlns:a16="http://schemas.microsoft.com/office/drawing/2014/main" val="1405317000"/>
                    </a:ext>
                  </a:extLst>
                </a:gridCol>
                <a:gridCol w="2315818">
                  <a:extLst>
                    <a:ext uri="{9D8B030D-6E8A-4147-A177-3AD203B41FA5}">
                      <a16:colId xmlns:a16="http://schemas.microsoft.com/office/drawing/2014/main" val="3711880389"/>
                    </a:ext>
                  </a:extLst>
                </a:gridCol>
                <a:gridCol w="2355573">
                  <a:extLst>
                    <a:ext uri="{9D8B030D-6E8A-4147-A177-3AD203B41FA5}">
                      <a16:colId xmlns:a16="http://schemas.microsoft.com/office/drawing/2014/main" val="2819736823"/>
                    </a:ext>
                  </a:extLst>
                </a:gridCol>
              </a:tblGrid>
              <a:tr h="370840">
                <a:tc>
                  <a:txBody>
                    <a:bodyPr/>
                    <a:lstStyle/>
                    <a:p>
                      <a:pPr algn="ctr"/>
                      <a:r>
                        <a:rPr lang="zh-CN" altLang="en-US" sz="1600">
                          <a:latin typeface="HP Simplified Hans" panose="020B0500000000000000" pitchFamily="34" charset="-122"/>
                          <a:ea typeface="阿里巴巴普惠体 3.0 55 Regular" panose="00020600040101010101" pitchFamily="18" charset="-122"/>
                        </a:rPr>
                        <a:t>集中式</a:t>
                      </a:r>
                      <a:r>
                        <a:rPr lang="en-US" altLang="zh-CN" sz="1600">
                          <a:latin typeface="HP Simplified Hans" panose="020B0500000000000000" pitchFamily="34" charset="-122"/>
                          <a:ea typeface="阿里巴巴普惠体 3.0 55 Regular" panose="00020600040101010101" pitchFamily="18" charset="-122"/>
                        </a:rPr>
                        <a:t>DBS</a:t>
                      </a:r>
                      <a:endParaRPr lang="zh-CN" altLang="en-US" sz="1600">
                        <a:latin typeface="HP Simplified Hans" panose="020B0500000000000000" pitchFamily="34" charset="-122"/>
                        <a:ea typeface="阿里巴巴普惠体 3.0 55 Regular" panose="00020600040101010101" pitchFamily="18" charset="-122"/>
                      </a:endParaRPr>
                    </a:p>
                  </a:txBody>
                  <a:tcPr/>
                </a:tc>
                <a:tc>
                  <a:txBody>
                    <a:bodyPr/>
                    <a:lstStyle/>
                    <a:p>
                      <a:pPr algn="ctr"/>
                      <a:r>
                        <a:rPr lang="zh-CN" altLang="en-US" sz="1600">
                          <a:latin typeface="HP Simplified Hans" panose="020B0500000000000000" pitchFamily="34" charset="-122"/>
                          <a:ea typeface="阿里巴巴普惠体 3.0 55 Regular" panose="00020600040101010101" pitchFamily="18" charset="-122"/>
                        </a:rPr>
                        <a:t>客户机</a:t>
                      </a:r>
                      <a:r>
                        <a:rPr lang="en-US" altLang="zh-CN" sz="1600">
                          <a:latin typeface="HP Simplified Hans" panose="020B0500000000000000" pitchFamily="34" charset="-122"/>
                          <a:ea typeface="阿里巴巴普惠体 3.0 55 Regular" panose="00020600040101010101" pitchFamily="18" charset="-122"/>
                        </a:rPr>
                        <a:t>-</a:t>
                      </a:r>
                      <a:r>
                        <a:rPr lang="zh-CN" altLang="en-US" sz="1600">
                          <a:latin typeface="HP Simplified Hans" panose="020B0500000000000000" pitchFamily="34" charset="-122"/>
                          <a:ea typeface="阿里巴巴普惠体 3.0 55 Regular" panose="00020600040101010101" pitchFamily="18" charset="-122"/>
                        </a:rPr>
                        <a:t>服务器</a:t>
                      </a:r>
                      <a:r>
                        <a:rPr lang="en-US" altLang="zh-CN" sz="1600">
                          <a:latin typeface="HP Simplified Hans" panose="020B0500000000000000" pitchFamily="34" charset="-122"/>
                          <a:ea typeface="阿里巴巴普惠体 3.0 55 Regular" panose="00020600040101010101" pitchFamily="18" charset="-122"/>
                        </a:rPr>
                        <a:t>DBS</a:t>
                      </a:r>
                      <a:endParaRPr lang="zh-CN" altLang="en-US" sz="1600">
                        <a:latin typeface="HP Simplified Hans" panose="020B0500000000000000" pitchFamily="34" charset="-122"/>
                        <a:ea typeface="阿里巴巴普惠体 3.0 55 Regular" panose="00020600040101010101" pitchFamily="18" charset="-122"/>
                      </a:endParaRPr>
                    </a:p>
                  </a:txBody>
                  <a:tcPr/>
                </a:tc>
                <a:tc>
                  <a:txBody>
                    <a:bodyPr/>
                    <a:lstStyle/>
                    <a:p>
                      <a:pPr algn="ctr"/>
                      <a:r>
                        <a:rPr lang="zh-CN" altLang="en-US" sz="1600">
                          <a:latin typeface="HP Simplified Hans" panose="020B0500000000000000" pitchFamily="34" charset="-122"/>
                          <a:ea typeface="阿里巴巴普惠体 3.0 55 Regular" panose="00020600040101010101" pitchFamily="18" charset="-122"/>
                        </a:rPr>
                        <a:t>并行</a:t>
                      </a:r>
                      <a:r>
                        <a:rPr lang="en-US" altLang="zh-CN" sz="1600">
                          <a:latin typeface="HP Simplified Hans" panose="020B0500000000000000" pitchFamily="34" charset="-122"/>
                          <a:ea typeface="阿里巴巴普惠体 3.0 55 Regular" panose="00020600040101010101" pitchFamily="18" charset="-122"/>
                        </a:rPr>
                        <a:t>DBS</a:t>
                      </a:r>
                      <a:endParaRPr lang="zh-CN" altLang="en-US" sz="1600">
                        <a:latin typeface="HP Simplified Hans" panose="020B0500000000000000" pitchFamily="34" charset="-122"/>
                        <a:ea typeface="阿里巴巴普惠体 3.0 55 Regular" panose="00020600040101010101" pitchFamily="18" charset="-122"/>
                      </a:endParaRPr>
                    </a:p>
                  </a:txBody>
                  <a:tcPr/>
                </a:tc>
                <a:tc>
                  <a:txBody>
                    <a:bodyPr/>
                    <a:lstStyle/>
                    <a:p>
                      <a:pPr algn="ctr"/>
                      <a:r>
                        <a:rPr lang="zh-CN" altLang="en-US" sz="1600">
                          <a:latin typeface="HP Simplified Hans" panose="020B0500000000000000" pitchFamily="34" charset="-122"/>
                          <a:ea typeface="阿里巴巴普惠体 3.0 55 Regular" panose="00020600040101010101" pitchFamily="18" charset="-122"/>
                        </a:rPr>
                        <a:t>分布式</a:t>
                      </a:r>
                      <a:r>
                        <a:rPr lang="en-US" altLang="zh-CN" sz="1600">
                          <a:latin typeface="HP Simplified Hans" panose="020B0500000000000000" pitchFamily="34" charset="-122"/>
                          <a:ea typeface="阿里巴巴普惠体 3.0 55 Regular" panose="00020600040101010101" pitchFamily="18" charset="-122"/>
                        </a:rPr>
                        <a:t>DBS</a:t>
                      </a:r>
                      <a:endParaRPr lang="zh-CN" altLang="en-US" sz="1600">
                        <a:latin typeface="HP Simplified Hans" panose="020B0500000000000000" pitchFamily="34" charset="-122"/>
                        <a:ea typeface="阿里巴巴普惠体 3.0 55 Regular" panose="00020600040101010101" pitchFamily="18" charset="-122"/>
                      </a:endParaRPr>
                    </a:p>
                  </a:txBody>
                  <a:tcPr/>
                </a:tc>
                <a:tc>
                  <a:txBody>
                    <a:bodyPr/>
                    <a:lstStyle/>
                    <a:p>
                      <a:pPr algn="ctr"/>
                      <a:r>
                        <a:rPr lang="zh-CN" altLang="en-US" sz="1600">
                          <a:latin typeface="HP Simplified Hans" panose="020B0500000000000000" pitchFamily="34" charset="-122"/>
                          <a:ea typeface="阿里巴巴普惠体 3.0 55 Regular" panose="00020600040101010101" pitchFamily="18" charset="-122"/>
                        </a:rPr>
                        <a:t>云</a:t>
                      </a:r>
                      <a:r>
                        <a:rPr lang="en-US" altLang="zh-CN" sz="1600">
                          <a:latin typeface="HP Simplified Hans" panose="020B0500000000000000" pitchFamily="34" charset="-122"/>
                          <a:ea typeface="阿里巴巴普惠体 3.0 55 Regular" panose="00020600040101010101" pitchFamily="18" charset="-122"/>
                        </a:rPr>
                        <a:t>DBS</a:t>
                      </a:r>
                      <a:endParaRPr lang="zh-CN" altLang="en-US" sz="1600">
                        <a:latin typeface="HP Simplified Hans" panose="020B0500000000000000" pitchFamily="34" charset="-122"/>
                        <a:ea typeface="阿里巴巴普惠体 3.0 55 Regular" panose="00020600040101010101" pitchFamily="18" charset="-122"/>
                      </a:endParaRPr>
                    </a:p>
                  </a:txBody>
                  <a:tcPr/>
                </a:tc>
                <a:extLst>
                  <a:ext uri="{0D108BD9-81ED-4DB2-BD59-A6C34878D82A}">
                    <a16:rowId xmlns:a16="http://schemas.microsoft.com/office/drawing/2014/main" val="489790113"/>
                  </a:ext>
                </a:extLst>
              </a:tr>
              <a:tr h="370840">
                <a:tc>
                  <a:txBody>
                    <a:bodyPr/>
                    <a:lstStyle/>
                    <a:p>
                      <a:pPr marL="174625" indent="-174625">
                        <a:lnSpc>
                          <a:spcPct val="120000"/>
                        </a:lnSpc>
                        <a:buFont typeface="Arial" panose="020B0604020202020204" pitchFamily="34" charset="0"/>
                        <a:buChar char="•"/>
                      </a:pPr>
                      <a:r>
                        <a:rPr lang="zh-CN" altLang="en-US" sz="1400" b="0" dirty="0">
                          <a:solidFill>
                            <a:schemeClr val="tx1"/>
                          </a:solidFill>
                          <a:latin typeface="HP Simplified Hans" panose="020B0500000000000000" pitchFamily="34" charset="-122"/>
                          <a:ea typeface="阿里巴巴普惠体 3.0 55 Regular" panose="00020600040101010101" pitchFamily="18" charset="-122"/>
                        </a:rPr>
                        <a:t>数据库和应用程序都在同一台计算机上</a:t>
                      </a:r>
                      <a:endParaRPr lang="en-US" altLang="zh-CN" sz="1400" b="0" dirty="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endParaRPr lang="en-US" altLang="zh-CN" sz="800" b="0" dirty="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0" dirty="0">
                          <a:solidFill>
                            <a:schemeClr val="tx1"/>
                          </a:solidFill>
                          <a:latin typeface="HP Simplified Hans" panose="020B0500000000000000" pitchFamily="34" charset="-122"/>
                          <a:ea typeface="阿里巴巴普惠体 3.0 55 Regular" panose="00020600040101010101" pitchFamily="18" charset="-122"/>
                        </a:rPr>
                        <a:t>小型机和大型机上的集中式</a:t>
                      </a:r>
                      <a:r>
                        <a:rPr lang="en-US" altLang="zh-CN" sz="1400" b="0" dirty="0">
                          <a:solidFill>
                            <a:schemeClr val="tx1"/>
                          </a:solidFill>
                          <a:latin typeface="HP Simplified Hans" panose="020B0500000000000000" pitchFamily="34" charset="-122"/>
                          <a:ea typeface="阿里巴巴普惠体 3.0 55 Regular" panose="00020600040101010101" pitchFamily="18" charset="-122"/>
                        </a:rPr>
                        <a:t>DBS</a:t>
                      </a:r>
                      <a:r>
                        <a:rPr lang="zh-CN" altLang="en-US" sz="1400" b="0" dirty="0">
                          <a:solidFill>
                            <a:schemeClr val="tx1"/>
                          </a:solidFill>
                          <a:latin typeface="HP Simplified Hans" panose="020B0500000000000000" pitchFamily="34" charset="-122"/>
                          <a:ea typeface="阿里巴巴普惠体 3.0 55 Regular" panose="00020600040101010101" pitchFamily="18" charset="-122"/>
                        </a:rPr>
                        <a:t>一般是</a:t>
                      </a:r>
                      <a:r>
                        <a:rPr lang="zh-CN" altLang="en-US" sz="1400" b="1" dirty="0">
                          <a:solidFill>
                            <a:srgbClr val="FF0000"/>
                          </a:solidFill>
                          <a:latin typeface="HP Simplified Hans" panose="020B0500000000000000" pitchFamily="34" charset="-122"/>
                          <a:ea typeface="阿里巴巴普惠体 3.0 55 Regular" panose="00020600040101010101" pitchFamily="18" charset="-122"/>
                        </a:rPr>
                        <a:t>多用户系统</a:t>
                      </a:r>
                      <a:r>
                        <a:rPr lang="zh-CN" altLang="en-US" sz="1400" b="0" dirty="0">
                          <a:solidFill>
                            <a:srgbClr val="0066FF"/>
                          </a:solidFill>
                          <a:latin typeface="HP Simplified Hans" panose="020B0500000000000000" pitchFamily="34" charset="-122"/>
                          <a:ea typeface="阿里巴巴普惠体 3.0 55 Regular" panose="00020600040101010101" pitchFamily="18" charset="-122"/>
                        </a:rPr>
                        <a:t>，</a:t>
                      </a:r>
                      <a:r>
                        <a:rPr lang="zh-CN" altLang="en-US" sz="1400" b="0" dirty="0">
                          <a:solidFill>
                            <a:schemeClr val="tx1"/>
                          </a:solidFill>
                          <a:latin typeface="HP Simplified Hans" panose="020B0500000000000000" pitchFamily="34" charset="-122"/>
                          <a:ea typeface="阿里巴巴普惠体 3.0 55 Regular" panose="00020600040101010101" pitchFamily="18" charset="-122"/>
                        </a:rPr>
                        <a:t>多个用户通过各自的终端运行不同的应用系统，共享</a:t>
                      </a:r>
                      <a:r>
                        <a:rPr lang="en-US" altLang="zh-CN" sz="1400" b="0" dirty="0">
                          <a:solidFill>
                            <a:schemeClr val="tx1"/>
                          </a:solidFill>
                          <a:latin typeface="HP Simplified Hans" panose="020B0500000000000000" pitchFamily="34" charset="-122"/>
                          <a:ea typeface="阿里巴巴普惠体 3.0 55 Regular" panose="00020600040101010101" pitchFamily="18" charset="-122"/>
                        </a:rPr>
                        <a:t>DB</a:t>
                      </a:r>
                    </a:p>
                    <a:p>
                      <a:pPr marL="174625" indent="-174625">
                        <a:lnSpc>
                          <a:spcPct val="120000"/>
                        </a:lnSpc>
                        <a:buFont typeface="Arial" panose="020B0604020202020204" pitchFamily="34" charset="0"/>
                        <a:buChar char="•"/>
                      </a:pPr>
                      <a:endParaRPr lang="en-US" altLang="zh-CN" sz="800" b="0" dirty="0">
                        <a:solidFill>
                          <a:srgbClr val="FF0000"/>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1" dirty="0">
                          <a:solidFill>
                            <a:srgbClr val="FF0000"/>
                          </a:solidFill>
                          <a:latin typeface="HP Simplified Hans" panose="020B0500000000000000" pitchFamily="34" charset="-122"/>
                          <a:ea typeface="阿里巴巴普惠体 3.0 55 Regular" panose="00020600040101010101" pitchFamily="18" charset="-122"/>
                        </a:rPr>
                        <a:t>微型计算机上的集中式</a:t>
                      </a:r>
                      <a:r>
                        <a:rPr lang="en-US" altLang="zh-CN" sz="1400" b="1" dirty="0">
                          <a:solidFill>
                            <a:srgbClr val="FF0000"/>
                          </a:solidFill>
                          <a:latin typeface="HP Simplified Hans" panose="020B0500000000000000" pitchFamily="34" charset="-122"/>
                          <a:ea typeface="阿里巴巴普惠体 3.0 55 Regular" panose="00020600040101010101" pitchFamily="18" charset="-122"/>
                        </a:rPr>
                        <a:t>DBS</a:t>
                      </a:r>
                      <a:r>
                        <a:rPr lang="zh-CN" altLang="en-US" sz="1400" b="0" dirty="0">
                          <a:solidFill>
                            <a:schemeClr val="tx1"/>
                          </a:solidFill>
                          <a:latin typeface="HP Simplified Hans" panose="020B0500000000000000" pitchFamily="34" charset="-122"/>
                          <a:ea typeface="阿里巴巴普惠体 3.0 55 Regular" panose="00020600040101010101" pitchFamily="18" charset="-122"/>
                        </a:rPr>
                        <a:t>一般是单用户的</a:t>
                      </a:r>
                    </a:p>
                  </a:txBody>
                  <a:tcPr>
                    <a:solidFill>
                      <a:schemeClr val="bg1">
                        <a:lumMod val="95000"/>
                      </a:schemeClr>
                    </a:solidFill>
                  </a:tcPr>
                </a:tc>
                <a:tc>
                  <a:txBody>
                    <a:bodyPr/>
                    <a:lstStyle/>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altLang="zh-CN" sz="1400" b="0">
                          <a:solidFill>
                            <a:schemeClr val="tx1"/>
                          </a:solidFill>
                          <a:latin typeface="HP Simplified Hans" panose="020B0500000000000000" pitchFamily="34" charset="-122"/>
                          <a:ea typeface="阿里巴巴普惠体 3.0 55 Regular" panose="00020600040101010101" pitchFamily="18" charset="-122"/>
                        </a:rPr>
                        <a:t>DBMS</a:t>
                      </a:r>
                      <a:r>
                        <a:rPr lang="zh-CN" altLang="en-US" sz="1400" b="0">
                          <a:solidFill>
                            <a:schemeClr val="tx1"/>
                          </a:solidFill>
                          <a:latin typeface="HP Simplified Hans" panose="020B0500000000000000" pitchFamily="34" charset="-122"/>
                          <a:ea typeface="阿里巴巴普惠体 3.0 55 Regular" panose="00020600040101010101" pitchFamily="18" charset="-122"/>
                        </a:rPr>
                        <a:t>、</a:t>
                      </a:r>
                      <a:r>
                        <a:rPr lang="en-US" altLang="zh-CN" sz="1400" b="0">
                          <a:solidFill>
                            <a:schemeClr val="tx1"/>
                          </a:solidFill>
                          <a:latin typeface="HP Simplified Hans" panose="020B0500000000000000" pitchFamily="34" charset="-122"/>
                          <a:ea typeface="阿里巴巴普惠体 3.0 55 Regular" panose="00020600040101010101" pitchFamily="18" charset="-122"/>
                        </a:rPr>
                        <a:t>DB</a:t>
                      </a:r>
                      <a:r>
                        <a:rPr lang="zh-CN" altLang="en-US" sz="1400" b="0">
                          <a:solidFill>
                            <a:schemeClr val="tx1"/>
                          </a:solidFill>
                          <a:latin typeface="HP Simplified Hans" panose="020B0500000000000000" pitchFamily="34" charset="-122"/>
                          <a:ea typeface="阿里巴巴普惠体 3.0 55 Regular" panose="00020600040101010101" pitchFamily="18" charset="-122"/>
                        </a:rPr>
                        <a:t>驻留在服务器上</a:t>
                      </a:r>
                      <a:endParaRPr lang="en-US" altLang="zh-CN" sz="14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endParaRPr lang="en-US" altLang="zh-CN" sz="8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0">
                          <a:solidFill>
                            <a:schemeClr val="tx1"/>
                          </a:solidFill>
                          <a:latin typeface="HP Simplified Hans" panose="020B0500000000000000" pitchFamily="34" charset="-122"/>
                          <a:ea typeface="阿里巴巴普惠体 3.0 55 Regular" panose="00020600040101010101" pitchFamily="18" charset="-122"/>
                        </a:rPr>
                        <a:t>应用程序放置在客户机上</a:t>
                      </a:r>
                      <a:r>
                        <a:rPr lang="en-US" altLang="zh-CN" sz="1400" b="0">
                          <a:solidFill>
                            <a:schemeClr val="tx1"/>
                          </a:solidFill>
                          <a:latin typeface="HP Simplified Hans" panose="020B0500000000000000" pitchFamily="34" charset="-122"/>
                          <a:ea typeface="阿里巴巴普惠体 3.0 55 Regular" panose="00020600040101010101" pitchFamily="18" charset="-122"/>
                        </a:rPr>
                        <a:t>(</a:t>
                      </a:r>
                      <a:r>
                        <a:rPr lang="zh-CN" altLang="en-US" sz="1400" b="0">
                          <a:solidFill>
                            <a:schemeClr val="tx1"/>
                          </a:solidFill>
                          <a:latin typeface="HP Simplified Hans" panose="020B0500000000000000" pitchFamily="34" charset="-122"/>
                          <a:ea typeface="阿里巴巴普惠体 3.0 55 Regular" panose="00020600040101010101" pitchFamily="18" charset="-122"/>
                        </a:rPr>
                        <a:t>微型计算机或工作站</a:t>
                      </a:r>
                      <a:r>
                        <a:rPr lang="en-US" altLang="zh-CN" sz="1400" b="0">
                          <a:solidFill>
                            <a:schemeClr val="tx1"/>
                          </a:solidFill>
                          <a:latin typeface="HP Simplified Hans" panose="020B0500000000000000" pitchFamily="34" charset="-122"/>
                          <a:ea typeface="阿里巴巴普惠体 3.0 55 Regular" panose="00020600040101010101" pitchFamily="18" charset="-122"/>
                        </a:rPr>
                        <a:t>)</a:t>
                      </a:r>
                    </a:p>
                    <a:p>
                      <a:pPr marL="174625" indent="-174625">
                        <a:lnSpc>
                          <a:spcPct val="120000"/>
                        </a:lnSpc>
                        <a:buFont typeface="Arial" panose="020B0604020202020204" pitchFamily="34" charset="0"/>
                        <a:buChar char="•"/>
                      </a:pPr>
                      <a:endParaRPr lang="en-US" altLang="zh-CN" sz="8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0">
                          <a:solidFill>
                            <a:schemeClr val="tx1"/>
                          </a:solidFill>
                          <a:latin typeface="HP Simplified Hans" panose="020B0500000000000000" pitchFamily="34" charset="-122"/>
                          <a:ea typeface="阿里巴巴普惠体 3.0 55 Regular" panose="00020600040101010101" pitchFamily="18" charset="-122"/>
                        </a:rPr>
                        <a:t>客户机和服务器通过网络进行通信</a:t>
                      </a:r>
                      <a:endParaRPr lang="en-US" altLang="zh-CN" sz="14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endParaRPr lang="en-US" altLang="zh-CN" sz="8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0">
                          <a:solidFill>
                            <a:schemeClr val="tx1"/>
                          </a:solidFill>
                          <a:latin typeface="HP Simplified Hans" panose="020B0500000000000000" pitchFamily="34" charset="-122"/>
                          <a:ea typeface="阿里巴巴普惠体 3.0 55 Regular" panose="00020600040101010101" pitchFamily="18" charset="-122"/>
                        </a:rPr>
                        <a:t>客户机负责业务数据处理流程和应用程序的界面，当要存取数据库中的数据时就向服务器发出请求，服务器接收客户机请求后处理并将结果返回给客户机</a:t>
                      </a:r>
                      <a:endParaRPr lang="en-US" altLang="zh-CN" sz="14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endParaRPr lang="en-US" altLang="zh-CN" sz="800" b="0">
                        <a:solidFill>
                          <a:srgbClr val="FF0000"/>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1">
                          <a:solidFill>
                            <a:srgbClr val="FF0000"/>
                          </a:solidFill>
                          <a:latin typeface="HP Simplified Hans" panose="020B0500000000000000" pitchFamily="34" charset="-122"/>
                          <a:ea typeface="阿里巴巴普惠体 3.0 55 Regular" panose="00020600040101010101" pitchFamily="18" charset="-122"/>
                        </a:rPr>
                        <a:t>三层结构：</a:t>
                      </a:r>
                      <a:r>
                        <a:rPr lang="zh-CN" altLang="en-US" sz="1400" b="0">
                          <a:solidFill>
                            <a:schemeClr val="tx1"/>
                          </a:solidFill>
                          <a:latin typeface="HP Simplified Hans" panose="020B0500000000000000" pitchFamily="34" charset="-122"/>
                          <a:ea typeface="阿里巴巴普惠体 3.0 55 Regular" panose="00020600040101010101" pitchFamily="18" charset="-122"/>
                        </a:rPr>
                        <a:t>浏览器</a:t>
                      </a:r>
                      <a:r>
                        <a:rPr lang="en-US" altLang="zh-CN" sz="1400" b="0">
                          <a:solidFill>
                            <a:schemeClr val="tx1"/>
                          </a:solidFill>
                          <a:latin typeface="HP Simplified Hans" panose="020B0500000000000000" pitchFamily="34" charset="-122"/>
                          <a:ea typeface="阿里巴巴普惠体 3.0 55 Regular" panose="00020600040101010101" pitchFamily="18" charset="-122"/>
                        </a:rPr>
                        <a:t>/</a:t>
                      </a:r>
                      <a:r>
                        <a:rPr lang="zh-CN" altLang="en-US" sz="1400" b="0">
                          <a:solidFill>
                            <a:schemeClr val="tx1"/>
                          </a:solidFill>
                          <a:latin typeface="HP Simplified Hans" panose="020B0500000000000000" pitchFamily="34" charset="-122"/>
                          <a:ea typeface="阿里巴巴普惠体 3.0 55 Regular" panose="00020600040101010101" pitchFamily="18" charset="-122"/>
                        </a:rPr>
                        <a:t>应用服务器</a:t>
                      </a:r>
                      <a:r>
                        <a:rPr lang="en-US" altLang="zh-CN" sz="1400" b="0">
                          <a:solidFill>
                            <a:schemeClr val="tx1"/>
                          </a:solidFill>
                          <a:latin typeface="HP Simplified Hans" panose="020B0500000000000000" pitchFamily="34" charset="-122"/>
                          <a:ea typeface="阿里巴巴普惠体 3.0 55 Regular" panose="00020600040101010101" pitchFamily="18" charset="-122"/>
                        </a:rPr>
                        <a:t>/</a:t>
                      </a:r>
                      <a:r>
                        <a:rPr lang="zh-CN" altLang="en-US" sz="1400" b="0">
                          <a:solidFill>
                            <a:schemeClr val="tx1"/>
                          </a:solidFill>
                          <a:latin typeface="HP Simplified Hans" panose="020B0500000000000000" pitchFamily="34" charset="-122"/>
                          <a:ea typeface="阿里巴巴普惠体 3.0 55 Regular" panose="00020600040101010101" pitchFamily="18" charset="-122"/>
                        </a:rPr>
                        <a:t>数据库服务器</a:t>
                      </a:r>
                    </a:p>
                  </a:txBody>
                  <a:tcPr>
                    <a:solidFill>
                      <a:schemeClr val="bg1">
                        <a:lumMod val="95000"/>
                      </a:schemeClr>
                    </a:solidFill>
                  </a:tcPr>
                </a:tc>
                <a:tc>
                  <a:txBody>
                    <a:bodyPr/>
                    <a:lstStyle/>
                    <a:p>
                      <a:pPr marL="174625" indent="-174625">
                        <a:lnSpc>
                          <a:spcPct val="120000"/>
                        </a:lnSpc>
                        <a:buFont typeface="Arial" panose="020B0604020202020204" pitchFamily="34" charset="0"/>
                        <a:buChar char="•"/>
                      </a:pPr>
                      <a:r>
                        <a:rPr lang="zh-CN" altLang="en-US" sz="1400" b="0">
                          <a:solidFill>
                            <a:schemeClr val="tx1"/>
                          </a:solidFill>
                          <a:latin typeface="HP Simplified Hans" panose="020B0500000000000000" pitchFamily="34" charset="-122"/>
                          <a:ea typeface="阿里巴巴普惠体 3.0 55 Regular" panose="00020600040101010101" pitchFamily="18" charset="-122"/>
                        </a:rPr>
                        <a:t>在并行计算机上运行的具有并行处理能力的</a:t>
                      </a:r>
                      <a:r>
                        <a:rPr lang="en-US" altLang="zh-CN" sz="1400" b="0">
                          <a:solidFill>
                            <a:schemeClr val="tx1"/>
                          </a:solidFill>
                          <a:latin typeface="HP Simplified Hans" panose="020B0500000000000000" pitchFamily="34" charset="-122"/>
                          <a:ea typeface="阿里巴巴普惠体 3.0 55 Regular" panose="00020600040101010101" pitchFamily="18" charset="-122"/>
                        </a:rPr>
                        <a:t>DBS</a:t>
                      </a:r>
                    </a:p>
                    <a:p>
                      <a:pPr marL="174625" indent="-174625">
                        <a:lnSpc>
                          <a:spcPct val="120000"/>
                        </a:lnSpc>
                        <a:buFont typeface="Arial" panose="020B0604020202020204" pitchFamily="34" charset="0"/>
                        <a:buChar char="•"/>
                      </a:pPr>
                      <a:endParaRPr lang="en-US" altLang="zh-CN" sz="800" b="1">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r>
                        <a:rPr lang="zh-CN" altLang="en-US" sz="1400" b="0">
                          <a:solidFill>
                            <a:schemeClr val="tx1"/>
                          </a:solidFill>
                          <a:latin typeface="HP Simplified Hans" panose="020B0500000000000000" pitchFamily="34" charset="-122"/>
                          <a:ea typeface="阿里巴巴普惠体 3.0 55 Regular" panose="00020600040101010101" pitchFamily="18" charset="-122"/>
                        </a:rPr>
                        <a:t>是数据库技术与并行计算技术相结合的产物</a:t>
                      </a:r>
                      <a:endParaRPr lang="en-US" altLang="zh-CN" sz="1400" b="0">
                        <a:solidFill>
                          <a:schemeClr val="tx1"/>
                        </a:solidFill>
                        <a:latin typeface="HP Simplified Hans" panose="020B0500000000000000" pitchFamily="34" charset="-122"/>
                        <a:ea typeface="阿里巴巴普惠体 3.0 55 Regular" panose="00020600040101010101" pitchFamily="18" charset="-122"/>
                      </a:endParaRPr>
                    </a:p>
                    <a:p>
                      <a:pPr marL="174625" indent="-174625">
                        <a:lnSpc>
                          <a:spcPct val="120000"/>
                        </a:lnSpc>
                        <a:buFont typeface="Arial" panose="020B0604020202020204" pitchFamily="34" charset="0"/>
                        <a:buChar char="•"/>
                      </a:pPr>
                      <a:endParaRPr lang="en-US" altLang="zh-CN" sz="800" b="1">
                        <a:solidFill>
                          <a:schemeClr val="tx1"/>
                        </a:solidFill>
                        <a:latin typeface="HP Simplified Hans" panose="020B0500000000000000" pitchFamily="34" charset="-122"/>
                        <a:ea typeface="阿里巴巴普惠体 3.0 55 Regular" panose="00020600040101010101" pitchFamily="18" charset="-122"/>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b="0">
                          <a:solidFill>
                            <a:schemeClr val="tx1"/>
                          </a:solidFill>
                          <a:latin typeface="HP Simplified Hans" panose="020B0500000000000000" pitchFamily="34" charset="-122"/>
                          <a:ea typeface="阿里巴巴普惠体 3.0 55 Regular" panose="00020600040101010101" pitchFamily="18" charset="-122"/>
                        </a:rPr>
                        <a:t>并行计算机系统有共享内存型、共享磁盘型、非共享型及混合型</a:t>
                      </a:r>
                      <a:endParaRPr lang="en-US" altLang="zh-CN" sz="1400" b="0">
                        <a:solidFill>
                          <a:schemeClr val="tx1"/>
                        </a:solidFill>
                        <a:latin typeface="HP Simplified Hans" panose="020B0500000000000000" pitchFamily="34" charset="-122"/>
                        <a:ea typeface="阿里巴巴普惠体 3.0 55 Regular" panose="00020600040101010101" pitchFamily="18" charset="-122"/>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sz="800" b="0">
                        <a:solidFill>
                          <a:schemeClr val="tx1"/>
                        </a:solidFill>
                        <a:latin typeface="HP Simplified Hans" panose="020B0500000000000000" pitchFamily="34" charset="-122"/>
                        <a:ea typeface="阿里巴巴普惠体 3.0 55 Regular" panose="00020600040101010101" pitchFamily="18" charset="-122"/>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b="0">
                          <a:solidFill>
                            <a:schemeClr val="tx1"/>
                          </a:solidFill>
                          <a:latin typeface="HP Simplified Hans" panose="020B0500000000000000" pitchFamily="34" charset="-122"/>
                          <a:ea typeface="阿里巴巴普惠体 3.0 55 Regular" panose="00020600040101010101" pitchFamily="18" charset="-122"/>
                        </a:rPr>
                        <a:t>并行</a:t>
                      </a:r>
                      <a:r>
                        <a:rPr lang="en-US" altLang="zh-CN" sz="1400" b="0">
                          <a:solidFill>
                            <a:schemeClr val="tx1"/>
                          </a:solidFill>
                          <a:latin typeface="HP Simplified Hans" panose="020B0500000000000000" pitchFamily="34" charset="-122"/>
                          <a:ea typeface="阿里巴巴普惠体 3.0 55 Regular" panose="00020600040101010101" pitchFamily="18" charset="-122"/>
                        </a:rPr>
                        <a:t>DBS</a:t>
                      </a:r>
                      <a:r>
                        <a:rPr lang="zh-CN" altLang="en-US" sz="1400" b="0">
                          <a:solidFill>
                            <a:schemeClr val="tx1"/>
                          </a:solidFill>
                          <a:latin typeface="HP Simplified Hans" panose="020B0500000000000000" pitchFamily="34" charset="-122"/>
                          <a:ea typeface="阿里巴巴普惠体 3.0 55 Regular" panose="00020600040101010101" pitchFamily="18" charset="-122"/>
                        </a:rPr>
                        <a:t>发挥了多处理机的优势，采用并行查询处理技术和并行数据分布与管理技术，具</a:t>
                      </a:r>
                      <a:r>
                        <a:rPr lang="zh-CN" altLang="en-US" sz="1400" b="0">
                          <a:solidFill>
                            <a:srgbClr val="0066FF"/>
                          </a:solidFill>
                          <a:latin typeface="HP Simplified Hans" panose="020B0500000000000000" pitchFamily="34" charset="-122"/>
                          <a:ea typeface="阿里巴巴普惠体 3.0 55 Regular" panose="00020600040101010101" pitchFamily="18" charset="-122"/>
                        </a:rPr>
                        <a:t>有</a:t>
                      </a:r>
                      <a:r>
                        <a:rPr lang="zh-CN" altLang="en-US" sz="1400" b="1">
                          <a:solidFill>
                            <a:srgbClr val="FF0000"/>
                          </a:solidFill>
                          <a:latin typeface="HP Simplified Hans" panose="020B0500000000000000" pitchFamily="34" charset="-122"/>
                          <a:ea typeface="阿里巴巴普惠体 3.0 55 Regular" panose="00020600040101010101" pitchFamily="18" charset="-122"/>
                        </a:rPr>
                        <a:t>高性能、高可用性、高扩展性</a:t>
                      </a:r>
                      <a:r>
                        <a:rPr lang="zh-CN" altLang="en-US" sz="1400" b="0">
                          <a:solidFill>
                            <a:srgbClr val="FF0000"/>
                          </a:solidFill>
                          <a:latin typeface="HP Simplified Hans" panose="020B0500000000000000" pitchFamily="34" charset="-122"/>
                          <a:ea typeface="阿里巴巴普惠体 3.0 55 Regular" panose="00020600040101010101" pitchFamily="18" charset="-122"/>
                        </a:rPr>
                        <a:t>等</a:t>
                      </a:r>
                      <a:r>
                        <a:rPr lang="zh-CN" altLang="en-US" sz="1400" b="0">
                          <a:solidFill>
                            <a:srgbClr val="0066FF"/>
                          </a:solidFill>
                          <a:latin typeface="HP Simplified Hans" panose="020B0500000000000000" pitchFamily="34" charset="-122"/>
                          <a:ea typeface="阿里巴巴普惠体 3.0 55 Regular" panose="00020600040101010101" pitchFamily="18" charset="-122"/>
                        </a:rPr>
                        <a:t>优点</a:t>
                      </a:r>
                      <a:endParaRPr lang="en-US" altLang="zh-CN" sz="1400" b="0">
                        <a:solidFill>
                          <a:srgbClr val="0066FF"/>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tc>
                  <a:txBody>
                    <a:bodyPr/>
                    <a:lstStyle/>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分布式</a:t>
                      </a:r>
                      <a:r>
                        <a:rPr kumimoji="0" lang="en-US" altLang="zh-CN"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DBS</a:t>
                      </a: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是指数据库中的数据在</a:t>
                      </a:r>
                      <a:r>
                        <a:rPr kumimoji="0" lang="zh-CN" altLang="en-US" sz="1400" b="1" i="0" u="none" strike="noStrike" kern="1200" cap="none" spc="0" normalizeH="0" baseline="0" noProof="0">
                          <a:ln>
                            <a:noFill/>
                          </a:ln>
                          <a:solidFill>
                            <a:srgbClr val="FF0000"/>
                          </a:solidFill>
                          <a:effectLst/>
                          <a:uLnTx/>
                          <a:uFillTx/>
                          <a:latin typeface="HP Simplified Hans" panose="020B0500000000000000" pitchFamily="34" charset="-122"/>
                          <a:ea typeface="阿里巴巴普惠体 3.0 55 Regular" panose="00020600040101010101" pitchFamily="18" charset="-122"/>
                          <a:cs typeface="+mn-cs"/>
                        </a:rPr>
                        <a:t>逻辑</a:t>
                      </a: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上是一个</a:t>
                      </a:r>
                      <a:r>
                        <a:rPr kumimoji="0" lang="zh-CN" altLang="en-US" sz="1400" b="1" i="0" u="none" strike="noStrike" kern="1200" cap="none" spc="0" normalizeH="0" baseline="0" noProof="0">
                          <a:ln>
                            <a:noFill/>
                          </a:ln>
                          <a:solidFill>
                            <a:srgbClr val="FF0000"/>
                          </a:solidFill>
                          <a:effectLst/>
                          <a:uLnTx/>
                          <a:uFillTx/>
                          <a:latin typeface="HP Simplified Hans" panose="020B0500000000000000" pitchFamily="34" charset="-122"/>
                          <a:ea typeface="阿里巴巴普惠体 3.0 55 Regular" panose="00020600040101010101" pitchFamily="18" charset="-122"/>
                          <a:cs typeface="+mn-cs"/>
                        </a:rPr>
                        <a:t>整体</a:t>
                      </a:r>
                      <a:r>
                        <a:rPr kumimoji="0" lang="zh-CN" altLang="en-US" sz="1400" b="0" i="0" u="none" strike="noStrike" kern="1200" cap="none" spc="0" normalizeH="0" baseline="0" noProof="0">
                          <a:ln>
                            <a:noFill/>
                          </a:ln>
                          <a:solidFill>
                            <a:srgbClr val="0066FF"/>
                          </a:solidFill>
                          <a:effectLst/>
                          <a:uLnTx/>
                          <a:uFillTx/>
                          <a:latin typeface="HP Simplified Hans" panose="020B0500000000000000" pitchFamily="34" charset="-122"/>
                          <a:ea typeface="阿里巴巴普惠体 3.0 55 Regular" panose="00020600040101010101" pitchFamily="18" charset="-122"/>
                          <a:cs typeface="+mn-cs"/>
                        </a:rPr>
                        <a:t>，但</a:t>
                      </a:r>
                      <a:r>
                        <a:rPr kumimoji="0" lang="zh-CN" altLang="en-US" sz="1400" b="1" i="0" u="none" strike="noStrike" kern="1200" cap="none" spc="0" normalizeH="0" baseline="0" noProof="0">
                          <a:ln>
                            <a:noFill/>
                          </a:ln>
                          <a:solidFill>
                            <a:srgbClr val="FF0000"/>
                          </a:solidFill>
                          <a:effectLst/>
                          <a:uLnTx/>
                          <a:uFillTx/>
                          <a:latin typeface="HP Simplified Hans" panose="020B0500000000000000" pitchFamily="34" charset="-122"/>
                          <a:ea typeface="阿里巴巴普惠体 3.0 55 Regular" panose="00020600040101010101" pitchFamily="18" charset="-122"/>
                          <a:cs typeface="+mn-cs"/>
                        </a:rPr>
                        <a:t>物理</a:t>
                      </a:r>
                      <a:r>
                        <a:rPr kumimoji="0" lang="zh-CN" altLang="en-US" sz="1400" b="0" i="0" u="none" strike="noStrike" kern="1200" cap="none" spc="0" normalizeH="0" baseline="0" noProof="0">
                          <a:ln>
                            <a:noFill/>
                          </a:ln>
                          <a:solidFill>
                            <a:srgbClr val="0066FF"/>
                          </a:solidFill>
                          <a:effectLst/>
                          <a:uLnTx/>
                          <a:uFillTx/>
                          <a:latin typeface="HP Simplified Hans" panose="020B0500000000000000" pitchFamily="34" charset="-122"/>
                          <a:ea typeface="阿里巴巴普惠体 3.0 55 Regular" panose="00020600040101010101" pitchFamily="18" charset="-122"/>
                          <a:cs typeface="+mn-cs"/>
                        </a:rPr>
                        <a:t>地</a:t>
                      </a:r>
                      <a:r>
                        <a:rPr kumimoji="0" lang="zh-CN" altLang="en-US" sz="1400" b="1" i="0" u="none" strike="noStrike" kern="1200" cap="none" spc="0" normalizeH="0" baseline="0" noProof="0">
                          <a:ln>
                            <a:noFill/>
                          </a:ln>
                          <a:solidFill>
                            <a:srgbClr val="FF0000"/>
                          </a:solidFill>
                          <a:effectLst/>
                          <a:uLnTx/>
                          <a:uFillTx/>
                          <a:latin typeface="HP Simplified Hans" panose="020B0500000000000000" pitchFamily="34" charset="-122"/>
                          <a:ea typeface="阿里巴巴普惠体 3.0 55 Regular" panose="00020600040101010101" pitchFamily="18" charset="-122"/>
                          <a:cs typeface="+mn-cs"/>
                        </a:rPr>
                        <a:t>分布</a:t>
                      </a: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着计算机网络上的不同节点上</a:t>
                      </a:r>
                      <a:endParaRPr kumimoji="0" lang="en-US" altLang="zh-CN"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altLang="zh-CN" sz="8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网络中的每个节点独立处理本地数据库中的数据</a:t>
                      </a:r>
                      <a:r>
                        <a:rPr kumimoji="0" lang="en-US" altLang="zh-CN"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a:t>
                      </a: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称为场地自治</a:t>
                      </a:r>
                      <a:r>
                        <a:rPr kumimoji="0" lang="en-US" altLang="zh-CN"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a:t>
                      </a: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，执行局部应用</a:t>
                      </a:r>
                      <a:endParaRPr kumimoji="0" lang="en-US" altLang="zh-CN"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altLang="zh-CN" sz="8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也可以执行全局应用，即通过网络通信系统同时存取和处理多个节点上数据库的数据</a:t>
                      </a:r>
                      <a:endParaRPr kumimoji="0" lang="en-US" altLang="zh-CN"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altLang="zh-CN" sz="8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适用于企业部门分布的组织结构，降低费用，提高系统的可靠性和可用性，具有良好的可扩展性</a:t>
                      </a:r>
                      <a:endParaRPr lang="zh-CN" altLang="en-US" sz="1400">
                        <a:solidFill>
                          <a:schemeClr val="tx1"/>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tc>
                  <a:txBody>
                    <a:bodyPr/>
                    <a:lstStyle/>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dirty="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云</a:t>
                      </a:r>
                      <a:r>
                        <a:rPr kumimoji="0" lang="en-US" altLang="zh-CN" sz="1400" b="0" i="0" u="none" strike="noStrike" kern="1200" cap="none" spc="0" normalizeH="0" baseline="0" noProof="0" dirty="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DBS</a:t>
                      </a:r>
                      <a:r>
                        <a:rPr kumimoji="0" lang="zh-CN" altLang="en-US" sz="1400" b="0" i="0" u="none" strike="noStrike" kern="1200" cap="none" spc="0" normalizeH="0" baseline="0" noProof="0" dirty="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把数据库部署或</a:t>
                      </a:r>
                      <a:r>
                        <a:rPr kumimoji="0" lang="zh-CN" altLang="en-US" sz="1400" b="1" i="0" u="none" strike="noStrike" kern="1200" cap="none" spc="0" normalizeH="0" baseline="0" noProof="0" dirty="0">
                          <a:ln>
                            <a:noFill/>
                          </a:ln>
                          <a:solidFill>
                            <a:srgbClr val="FF0000"/>
                          </a:solidFill>
                          <a:effectLst/>
                          <a:uLnTx/>
                          <a:uFillTx/>
                          <a:latin typeface="HP Simplified Hans" panose="020B0500000000000000" pitchFamily="34" charset="-122"/>
                          <a:ea typeface="阿里巴巴普惠体 3.0 55 Regular" panose="00020600040101010101" pitchFamily="18" charset="-122"/>
                          <a:cs typeface="+mn-cs"/>
                        </a:rPr>
                        <a:t>虚拟化</a:t>
                      </a:r>
                      <a:r>
                        <a:rPr kumimoji="0" lang="zh-CN" altLang="en-US" sz="1400" b="0" i="0" u="none" strike="noStrike" kern="1200" cap="none" spc="0" normalizeH="0" baseline="0" noProof="0" dirty="0">
                          <a:ln>
                            <a:noFill/>
                          </a:ln>
                          <a:solidFill>
                            <a:srgbClr val="0066FF"/>
                          </a:solidFill>
                          <a:effectLst/>
                          <a:uLnTx/>
                          <a:uFillTx/>
                          <a:latin typeface="HP Simplified Hans" panose="020B0500000000000000" pitchFamily="34" charset="-122"/>
                          <a:ea typeface="阿里巴巴普惠体 3.0 55 Regular" panose="00020600040101010101" pitchFamily="18" charset="-122"/>
                          <a:cs typeface="+mn-cs"/>
                        </a:rPr>
                        <a:t>在</a:t>
                      </a:r>
                      <a:r>
                        <a:rPr kumimoji="0" lang="zh-CN" altLang="en-US" sz="1400" b="1" i="0" u="none" strike="noStrike" kern="1200" cap="none" spc="0" normalizeH="0" baseline="0" noProof="0" dirty="0">
                          <a:ln>
                            <a:noFill/>
                          </a:ln>
                          <a:solidFill>
                            <a:srgbClr val="FF0000"/>
                          </a:solidFill>
                          <a:effectLst/>
                          <a:uLnTx/>
                          <a:uFillTx/>
                          <a:latin typeface="HP Simplified Hans" panose="020B0500000000000000" pitchFamily="34" charset="-122"/>
                          <a:ea typeface="阿里巴巴普惠体 3.0 55 Regular" panose="00020600040101010101" pitchFamily="18" charset="-122"/>
                          <a:cs typeface="+mn-cs"/>
                        </a:rPr>
                        <a:t>云计算环境下</a:t>
                      </a:r>
                      <a:r>
                        <a:rPr kumimoji="0" lang="zh-CN" altLang="en-US" sz="1400" b="0" i="0" u="none" strike="noStrike" kern="1200" cap="none" spc="0" normalizeH="0" baseline="0" noProof="0" dirty="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rPr>
                        <a:t>，通过计算机网络以服务的形式提供数据库功能，包括数据存储、数据更新、查询处理、事务管理</a:t>
                      </a:r>
                      <a:endParaRPr kumimoji="0" lang="en-US" altLang="zh-CN" sz="1400" b="0" i="0" u="none" strike="noStrike" kern="1200" cap="none" spc="0" normalizeH="0" baseline="0" noProof="0" dirty="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altLang="zh-CN" sz="800" b="0" i="0" u="none" strike="noStrike" kern="1200" cap="none" spc="0" normalizeH="0" baseline="0" noProof="0" dirty="0">
                        <a:ln>
                          <a:noFill/>
                        </a:ln>
                        <a:solidFill>
                          <a:schemeClr val="tx1"/>
                        </a:solidFill>
                        <a:effectLst/>
                        <a:uLnTx/>
                        <a:uFillTx/>
                        <a:latin typeface="HP Simplified Hans" panose="020B0500000000000000" pitchFamily="34" charset="-122"/>
                        <a:ea typeface="阿里巴巴普惠体 3.0 55 Regular" panose="00020600040101010101" pitchFamily="18" charset="-122"/>
                        <a:cs typeface="+mn-cs"/>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dirty="0">
                          <a:solidFill>
                            <a:schemeClr val="tx1"/>
                          </a:solidFill>
                          <a:latin typeface="HP Simplified Hans" panose="020B0500000000000000" pitchFamily="34" charset="-122"/>
                          <a:ea typeface="阿里巴巴普惠体 3.0 55 Regular" panose="00020600040101010101" pitchFamily="18" charset="-122"/>
                        </a:rPr>
                        <a:t>现在的云</a:t>
                      </a:r>
                      <a:r>
                        <a:rPr lang="en-US" altLang="zh-CN" sz="1400" dirty="0">
                          <a:solidFill>
                            <a:schemeClr val="tx1"/>
                          </a:solidFill>
                          <a:latin typeface="HP Simplified Hans" panose="020B0500000000000000" pitchFamily="34" charset="-122"/>
                          <a:ea typeface="阿里巴巴普惠体 3.0 55 Regular" panose="00020600040101010101" pitchFamily="18" charset="-122"/>
                        </a:rPr>
                        <a:t>DBS</a:t>
                      </a:r>
                      <a:r>
                        <a:rPr lang="zh-CN" altLang="en-US" sz="1400" dirty="0">
                          <a:solidFill>
                            <a:schemeClr val="tx1"/>
                          </a:solidFill>
                          <a:latin typeface="HP Simplified Hans" panose="020B0500000000000000" pitchFamily="34" charset="-122"/>
                          <a:ea typeface="阿里巴巴普惠体 3.0 55 Regular" panose="00020600040101010101" pitchFamily="18" charset="-122"/>
                        </a:rPr>
                        <a:t>是运行中集群上的并行</a:t>
                      </a:r>
                      <a:r>
                        <a:rPr lang="en-US" altLang="zh-CN" sz="1400" dirty="0">
                          <a:solidFill>
                            <a:schemeClr val="tx1"/>
                          </a:solidFill>
                          <a:latin typeface="HP Simplified Hans" panose="020B0500000000000000" pitchFamily="34" charset="-122"/>
                          <a:ea typeface="阿里巴巴普惠体 3.0 55 Regular" panose="00020600040101010101" pitchFamily="18" charset="-122"/>
                        </a:rPr>
                        <a:t>DBS</a:t>
                      </a:r>
                      <a:r>
                        <a:rPr lang="zh-CN" altLang="en-US" sz="1400" dirty="0">
                          <a:solidFill>
                            <a:schemeClr val="tx1"/>
                          </a:solidFill>
                          <a:latin typeface="HP Simplified Hans" panose="020B0500000000000000" pitchFamily="34" charset="-122"/>
                          <a:ea typeface="阿里巴巴普惠体 3.0 55 Regular" panose="00020600040101010101" pitchFamily="18" charset="-122"/>
                        </a:rPr>
                        <a:t>，能够较好地进行动态伸缩、按需分配计算资源和存储资源</a:t>
                      </a:r>
                      <a:endParaRPr lang="en-US" altLang="zh-CN" sz="1400" dirty="0">
                        <a:solidFill>
                          <a:schemeClr val="tx1"/>
                        </a:solidFill>
                        <a:latin typeface="HP Simplified Hans" panose="020B0500000000000000" pitchFamily="34" charset="-122"/>
                        <a:ea typeface="阿里巴巴普惠体 3.0 55 Regular" panose="00020600040101010101" pitchFamily="18" charset="-122"/>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sz="800" dirty="0">
                        <a:solidFill>
                          <a:schemeClr val="tx1"/>
                        </a:solidFill>
                        <a:latin typeface="HP Simplified Hans" panose="020B0500000000000000" pitchFamily="34" charset="-122"/>
                        <a:ea typeface="阿里巴巴普惠体 3.0 55 Regular" panose="00020600040101010101" pitchFamily="18" charset="-122"/>
                      </a:endParaRPr>
                    </a:p>
                    <a:p>
                      <a:pPr marL="174625" marR="0" lvl="0" indent="-174625"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400" dirty="0">
                          <a:solidFill>
                            <a:schemeClr val="tx1"/>
                          </a:solidFill>
                          <a:latin typeface="HP Simplified Hans" panose="020B0500000000000000" pitchFamily="34" charset="-122"/>
                          <a:ea typeface="阿里巴巴普惠体 3.0 55 Regular" panose="00020600040101010101" pitchFamily="18" charset="-122"/>
                        </a:rPr>
                        <a:t>缺点：云</a:t>
                      </a:r>
                      <a:r>
                        <a:rPr lang="en-US" altLang="zh-CN" sz="1400" dirty="0">
                          <a:solidFill>
                            <a:schemeClr val="tx1"/>
                          </a:solidFill>
                          <a:latin typeface="HP Simplified Hans" panose="020B0500000000000000" pitchFamily="34" charset="-122"/>
                          <a:ea typeface="阿里巴巴普惠体 3.0 55 Regular" panose="00020600040101010101" pitchFamily="18" charset="-122"/>
                        </a:rPr>
                        <a:t>DBS</a:t>
                      </a:r>
                      <a:r>
                        <a:rPr lang="zh-CN" altLang="en-US" sz="1400" dirty="0">
                          <a:solidFill>
                            <a:schemeClr val="tx1"/>
                          </a:solidFill>
                          <a:latin typeface="HP Simplified Hans" panose="020B0500000000000000" pitchFamily="34" charset="-122"/>
                          <a:ea typeface="阿里巴巴普惠体 3.0 55 Regular" panose="00020600040101010101" pitchFamily="18" charset="-122"/>
                        </a:rPr>
                        <a:t>存储的</a:t>
                      </a:r>
                      <a:r>
                        <a:rPr lang="zh-CN" altLang="en-US" sz="1400" b="1" dirty="0">
                          <a:solidFill>
                            <a:srgbClr val="FF0000"/>
                          </a:solidFill>
                          <a:latin typeface="HP Simplified Hans" panose="020B0500000000000000" pitchFamily="34" charset="-122"/>
                          <a:ea typeface="阿里巴巴普惠体 3.0 55 Regular" panose="00020600040101010101" pitchFamily="18" charset="-122"/>
                        </a:rPr>
                        <a:t>安全可信</a:t>
                      </a:r>
                      <a:r>
                        <a:rPr lang="zh-CN" altLang="en-US" sz="1400" dirty="0">
                          <a:solidFill>
                            <a:srgbClr val="FF0000"/>
                          </a:solidFill>
                          <a:latin typeface="HP Simplified Hans" panose="020B0500000000000000" pitchFamily="34" charset="-122"/>
                          <a:ea typeface="阿里巴巴普惠体 3.0 55 Regular" panose="00020600040101010101" pitchFamily="18" charset="-122"/>
                        </a:rPr>
                        <a:t>、</a:t>
                      </a:r>
                      <a:r>
                        <a:rPr lang="zh-CN" altLang="en-US" sz="1400" b="1" dirty="0">
                          <a:solidFill>
                            <a:srgbClr val="FF0000"/>
                          </a:solidFill>
                          <a:latin typeface="HP Simplified Hans" panose="020B0500000000000000" pitchFamily="34" charset="-122"/>
                          <a:ea typeface="阿里巴巴普惠体 3.0 55 Regular" panose="00020600040101010101" pitchFamily="18" charset="-122"/>
                        </a:rPr>
                        <a:t>隐私保护</a:t>
                      </a:r>
                      <a:r>
                        <a:rPr lang="zh-CN" altLang="en-US" sz="1400" dirty="0">
                          <a:solidFill>
                            <a:schemeClr val="tx1"/>
                          </a:solidFill>
                          <a:latin typeface="HP Simplified Hans" panose="020B0500000000000000" pitchFamily="34" charset="-122"/>
                          <a:ea typeface="阿里巴巴普惠体 3.0 55 Regular" panose="00020600040101010101" pitchFamily="18" charset="-122"/>
                        </a:rPr>
                        <a:t>等问题亟待研究解决</a:t>
                      </a:r>
                      <a:endParaRPr lang="en-US" altLang="zh-CN" sz="1400" dirty="0">
                        <a:solidFill>
                          <a:schemeClr val="tx1"/>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extLst>
                  <a:ext uri="{0D108BD9-81ED-4DB2-BD59-A6C34878D82A}">
                    <a16:rowId xmlns:a16="http://schemas.microsoft.com/office/drawing/2014/main" val="323548463"/>
                  </a:ext>
                </a:extLst>
              </a:tr>
            </a:tbl>
          </a:graphicData>
        </a:graphic>
      </p:graphicFrame>
    </p:spTree>
    <p:extLst>
      <p:ext uri="{BB962C8B-B14F-4D97-AF65-F5344CB8AC3E}">
        <p14:creationId xmlns:p14="http://schemas.microsoft.com/office/powerpoint/2010/main" val="3295095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7</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pic>
        <p:nvPicPr>
          <p:cNvPr id="77" name="内容占位符 76">
            <a:extLst>
              <a:ext uri="{FF2B5EF4-FFF2-40B4-BE49-F238E27FC236}">
                <a16:creationId xmlns:a16="http://schemas.microsoft.com/office/drawing/2014/main" id="{DE395E00-8C26-4EAE-B850-9E334A8B300F}"/>
              </a:ext>
            </a:extLst>
          </p:cNvPr>
          <p:cNvPicPr>
            <a:picLocks noGrp="1" noChangeAspect="1"/>
          </p:cNvPicPr>
          <p:nvPr>
            <p:ph idx="1"/>
          </p:nvPr>
        </p:nvPicPr>
        <p:blipFill>
          <a:blip r:embed="rId2"/>
          <a:stretch>
            <a:fillRect/>
          </a:stretch>
        </p:blipFill>
        <p:spPr>
          <a:xfrm>
            <a:off x="702540" y="1131317"/>
            <a:ext cx="10277580" cy="4365427"/>
          </a:xfrm>
          <a:prstGeom prst="rect">
            <a:avLst/>
          </a:prstGeom>
        </p:spPr>
      </p:pic>
    </p:spTree>
    <p:extLst>
      <p:ext uri="{BB962C8B-B14F-4D97-AF65-F5344CB8AC3E}">
        <p14:creationId xmlns:p14="http://schemas.microsoft.com/office/powerpoint/2010/main" val="2477165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8</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本章小结</a:t>
            </a:r>
          </a:p>
        </p:txBody>
      </p:sp>
      <p:graphicFrame>
        <p:nvGraphicFramePr>
          <p:cNvPr id="8" name="内容占位符 2">
            <a:extLst>
              <a:ext uri="{FF2B5EF4-FFF2-40B4-BE49-F238E27FC236}">
                <a16:creationId xmlns:a16="http://schemas.microsoft.com/office/drawing/2014/main" id="{A708649B-D2BE-4A08-B43A-24D55856A720}"/>
              </a:ext>
            </a:extLst>
          </p:cNvPr>
          <p:cNvGraphicFramePr>
            <a:graphicFrameLocks noGrp="1"/>
          </p:cNvGraphicFramePr>
          <p:nvPr>
            <p:ph idx="1"/>
            <p:extLst>
              <p:ext uri="{D42A27DB-BD31-4B8C-83A1-F6EECF244321}">
                <p14:modId xmlns:p14="http://schemas.microsoft.com/office/powerpoint/2010/main" val="994920729"/>
              </p:ext>
            </p:extLst>
          </p:nvPr>
        </p:nvGraphicFramePr>
        <p:xfrm>
          <a:off x="832594" y="1460515"/>
          <a:ext cx="10084221" cy="3077084"/>
        </p:xfrm>
        <a:graphic>
          <a:graphicData uri="http://schemas.openxmlformats.org/drawingml/2006/table">
            <a:tbl>
              <a:tblPr firstRow="1" bandRow="1">
                <a:tableStyleId>{5C22544A-7EE6-4342-B048-85BDC9FD1C3A}</a:tableStyleId>
              </a:tblPr>
              <a:tblGrid>
                <a:gridCol w="2115098">
                  <a:extLst>
                    <a:ext uri="{9D8B030D-6E8A-4147-A177-3AD203B41FA5}">
                      <a16:colId xmlns:a16="http://schemas.microsoft.com/office/drawing/2014/main" val="3312997725"/>
                    </a:ext>
                  </a:extLst>
                </a:gridCol>
                <a:gridCol w="2303271">
                  <a:extLst>
                    <a:ext uri="{9D8B030D-6E8A-4147-A177-3AD203B41FA5}">
                      <a16:colId xmlns:a16="http://schemas.microsoft.com/office/drawing/2014/main" val="4257038826"/>
                    </a:ext>
                  </a:extLst>
                </a:gridCol>
                <a:gridCol w="1998923">
                  <a:extLst>
                    <a:ext uri="{9D8B030D-6E8A-4147-A177-3AD203B41FA5}">
                      <a16:colId xmlns:a16="http://schemas.microsoft.com/office/drawing/2014/main" val="932096983"/>
                    </a:ext>
                  </a:extLst>
                </a:gridCol>
                <a:gridCol w="1595330">
                  <a:extLst>
                    <a:ext uri="{9D8B030D-6E8A-4147-A177-3AD203B41FA5}">
                      <a16:colId xmlns:a16="http://schemas.microsoft.com/office/drawing/2014/main" val="3386987645"/>
                    </a:ext>
                  </a:extLst>
                </a:gridCol>
                <a:gridCol w="2071599">
                  <a:extLst>
                    <a:ext uri="{9D8B030D-6E8A-4147-A177-3AD203B41FA5}">
                      <a16:colId xmlns:a16="http://schemas.microsoft.com/office/drawing/2014/main" val="391918870"/>
                    </a:ext>
                  </a:extLst>
                </a:gridCol>
              </a:tblGrid>
              <a:tr h="340336">
                <a:tc>
                  <a:txBody>
                    <a:bodyPr/>
                    <a:lstStyle/>
                    <a:p>
                      <a:pPr>
                        <a:lnSpc>
                          <a:spcPct val="150000"/>
                        </a:lnSpc>
                      </a:pPr>
                      <a:r>
                        <a:rPr lang="zh-CN" altLang="en-US" sz="1800" baseline="0" dirty="0">
                          <a:latin typeface="HP Simplified Hans" panose="020B0500000000000000" pitchFamily="34" charset="-122"/>
                          <a:ea typeface="阿里巴巴普惠体 3.0 55 Regular" panose="00020600040101010101" pitchFamily="18" charset="-122"/>
                        </a:rPr>
                        <a:t>数据库系统概述</a:t>
                      </a:r>
                    </a:p>
                  </a:txBody>
                  <a:tcPr/>
                </a:tc>
                <a:tc>
                  <a:txBody>
                    <a:bodyPr/>
                    <a:lstStyle/>
                    <a:p>
                      <a:pPr>
                        <a:lnSpc>
                          <a:spcPct val="150000"/>
                        </a:lnSpc>
                      </a:pPr>
                      <a:r>
                        <a:rPr lang="zh-CN" altLang="en-US" sz="1800" baseline="0" dirty="0">
                          <a:latin typeface="HP Simplified Hans" panose="020B0500000000000000" pitchFamily="34" charset="-122"/>
                          <a:ea typeface="阿里巴巴普惠体 3.0 55 Regular" panose="00020600040101010101" pitchFamily="18" charset="-122"/>
                        </a:rPr>
                        <a:t>数据模型</a:t>
                      </a:r>
                    </a:p>
                  </a:txBody>
                  <a:tcPr/>
                </a:tc>
                <a:tc>
                  <a:txBody>
                    <a:bodyPr/>
                    <a:lstStyle/>
                    <a:p>
                      <a:pPr>
                        <a:lnSpc>
                          <a:spcPct val="150000"/>
                        </a:lnSpc>
                      </a:pPr>
                      <a:r>
                        <a:rPr lang="en-US" altLang="zh-CN" sz="1800" baseline="0" dirty="0">
                          <a:latin typeface="HP Simplified Hans" panose="020B0500000000000000" pitchFamily="34" charset="-122"/>
                          <a:ea typeface="阿里巴巴普惠体 3.0 55 Regular" panose="00020600040101010101" pitchFamily="18" charset="-122"/>
                        </a:rPr>
                        <a:t>DBS</a:t>
                      </a:r>
                      <a:r>
                        <a:rPr lang="zh-CN" altLang="en-US" sz="1800" baseline="0" dirty="0">
                          <a:latin typeface="HP Simplified Hans" panose="020B0500000000000000" pitchFamily="34" charset="-122"/>
                          <a:ea typeface="阿里巴巴普惠体 3.0 55 Regular" panose="00020600040101010101" pitchFamily="18" charset="-122"/>
                        </a:rPr>
                        <a:t>内部体系结构</a:t>
                      </a:r>
                    </a:p>
                  </a:txBody>
                  <a:tcPr/>
                </a:tc>
                <a:tc>
                  <a:txBody>
                    <a:bodyPr/>
                    <a:lstStyle/>
                    <a:p>
                      <a:pPr>
                        <a:lnSpc>
                          <a:spcPct val="150000"/>
                        </a:lnSpc>
                      </a:pPr>
                      <a:r>
                        <a:rPr lang="en-US" altLang="zh-CN" sz="1800" baseline="0" dirty="0">
                          <a:latin typeface="HP Simplified Hans" panose="020B0500000000000000" pitchFamily="34" charset="-122"/>
                          <a:ea typeface="阿里巴巴普惠体 3.0 55 Regular" panose="00020600040101010101" pitchFamily="18" charset="-122"/>
                        </a:rPr>
                        <a:t>DBS</a:t>
                      </a:r>
                      <a:r>
                        <a:rPr lang="zh-CN" altLang="en-US" sz="1800" baseline="0" dirty="0">
                          <a:latin typeface="HP Simplified Hans" panose="020B0500000000000000" pitchFamily="34" charset="-122"/>
                          <a:ea typeface="阿里巴巴普惠体 3.0 55 Regular" panose="00020600040101010101" pitchFamily="18" charset="-122"/>
                        </a:rPr>
                        <a:t>组成</a:t>
                      </a:r>
                    </a:p>
                  </a:txBody>
                  <a:tcPr/>
                </a:tc>
                <a:tc>
                  <a:txBody>
                    <a:bodyPr/>
                    <a:lstStyle/>
                    <a:p>
                      <a:pPr>
                        <a:lnSpc>
                          <a:spcPct val="150000"/>
                        </a:lnSpc>
                      </a:pPr>
                      <a:r>
                        <a:rPr lang="en-US" altLang="zh-CN" sz="1800" baseline="0" dirty="0">
                          <a:latin typeface="HP Simplified Hans" panose="020B0500000000000000" pitchFamily="34" charset="-122"/>
                          <a:ea typeface="阿里巴巴普惠体 3.0 55 Regular" panose="00020600040101010101" pitchFamily="18" charset="-122"/>
                        </a:rPr>
                        <a:t>DBS</a:t>
                      </a:r>
                      <a:r>
                        <a:rPr lang="zh-CN" altLang="en-US" sz="1800" baseline="0" dirty="0">
                          <a:latin typeface="HP Simplified Hans" panose="020B0500000000000000" pitchFamily="34" charset="-122"/>
                          <a:ea typeface="阿里巴巴普惠体 3.0 55 Regular" panose="00020600040101010101" pitchFamily="18" charset="-122"/>
                        </a:rPr>
                        <a:t>体系结构</a:t>
                      </a:r>
                    </a:p>
                  </a:txBody>
                  <a:tcPr/>
                </a:tc>
                <a:extLst>
                  <a:ext uri="{0D108BD9-81ED-4DB2-BD59-A6C34878D82A}">
                    <a16:rowId xmlns:a16="http://schemas.microsoft.com/office/drawing/2014/main" val="3343177221"/>
                  </a:ext>
                </a:extLst>
              </a:tr>
              <a:tr h="1740117">
                <a:tc>
                  <a:txBody>
                    <a:bodyPr/>
                    <a:lstStyle/>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数据库的基本概念</a:t>
                      </a: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数据库技术产生和发展背景</a:t>
                      </a: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数据库系统的优点</a:t>
                      </a:r>
                    </a:p>
                  </a:txBody>
                  <a:tcPr>
                    <a:solidFill>
                      <a:schemeClr val="bg1">
                        <a:lumMod val="95000"/>
                      </a:schemeClr>
                    </a:solidFill>
                  </a:tcPr>
                </a:tc>
                <a:tc>
                  <a:txBody>
                    <a:bodyPr/>
                    <a:lstStyle/>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数据模型的三个要素</a:t>
                      </a: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概念建模：</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E-R</a:t>
                      </a: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模型</a:t>
                      </a: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三种数据模型</a:t>
                      </a:r>
                    </a:p>
                    <a:p>
                      <a:pPr marL="182563" indent="-182563">
                        <a:lnSpc>
                          <a:spcPct val="150000"/>
                        </a:lnSpc>
                        <a:buFont typeface="Arial" panose="020B0604020202020204" pitchFamily="34" charset="0"/>
                        <a:buChar char="•"/>
                      </a:pP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a:lnSpc>
                          <a:spcPct val="150000"/>
                        </a:lnSpc>
                      </a:pP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tc>
                  <a:txBody>
                    <a:bodyPr/>
                    <a:lstStyle/>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三级模式</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两级映像</a:t>
                      </a:r>
                    </a:p>
                    <a:p>
                      <a:pPr>
                        <a:lnSpc>
                          <a:spcPct val="150000"/>
                        </a:lnSpc>
                      </a:pP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tc>
                  <a:txBody>
                    <a:bodyPr/>
                    <a:lstStyle/>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硬件</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软件</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数据库</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应用程序</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开发工具</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DBA</a:t>
                      </a: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人员</a:t>
                      </a:r>
                      <a:endPar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tc>
                  <a:txBody>
                    <a:bodyPr/>
                    <a:lstStyle/>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集中式</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DBS</a:t>
                      </a: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客户</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a:t>
                      </a: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服务器</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DBS</a:t>
                      </a: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并行</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DBS</a:t>
                      </a: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分布式</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DBS</a:t>
                      </a: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p>
                      <a:pPr marL="182563" indent="-182563">
                        <a:lnSpc>
                          <a:spcPct val="150000"/>
                        </a:lnSpc>
                        <a:buFont typeface="Arial" panose="020B0604020202020204" pitchFamily="34" charset="0"/>
                        <a:buChar char="•"/>
                      </a:pPr>
                      <a:r>
                        <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云</a:t>
                      </a:r>
                      <a:r>
                        <a:rPr lang="en-US" altLang="zh-CN"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rPr>
                        <a:t>DBS</a:t>
                      </a:r>
                      <a:endParaRPr lang="zh-CN" altLang="en-US" sz="1600" baseline="0" dirty="0">
                        <a:solidFill>
                          <a:schemeClr val="accent2">
                            <a:lumMod val="75000"/>
                          </a:schemeClr>
                        </a:solidFill>
                        <a:latin typeface="HP Simplified Hans" panose="020B0500000000000000" pitchFamily="34" charset="-122"/>
                        <a:ea typeface="阿里巴巴普惠体 3.0 55 Regular" panose="00020600040101010101" pitchFamily="18" charset="-122"/>
                      </a:endParaRPr>
                    </a:p>
                  </a:txBody>
                  <a:tcPr>
                    <a:solidFill>
                      <a:schemeClr val="bg1">
                        <a:lumMod val="95000"/>
                      </a:schemeClr>
                    </a:solidFill>
                  </a:tcPr>
                </a:tc>
                <a:extLst>
                  <a:ext uri="{0D108BD9-81ED-4DB2-BD59-A6C34878D82A}">
                    <a16:rowId xmlns:a16="http://schemas.microsoft.com/office/drawing/2014/main" val="744989855"/>
                  </a:ext>
                </a:extLst>
              </a:tr>
            </a:tbl>
          </a:graphicData>
        </a:graphic>
      </p:graphicFrame>
    </p:spTree>
    <p:extLst>
      <p:ext uri="{BB962C8B-B14F-4D97-AF65-F5344CB8AC3E}">
        <p14:creationId xmlns:p14="http://schemas.microsoft.com/office/powerpoint/2010/main" val="5385844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9</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课堂练习</a:t>
            </a:r>
          </a:p>
        </p:txBody>
      </p:sp>
      <p:sp>
        <p:nvSpPr>
          <p:cNvPr id="3" name="内容占位符 2">
            <a:extLst>
              <a:ext uri="{FF2B5EF4-FFF2-40B4-BE49-F238E27FC236}">
                <a16:creationId xmlns:a16="http://schemas.microsoft.com/office/drawing/2014/main" id="{021C7C7A-CD8E-4AC8-B3D2-0755F94F20C9}"/>
              </a:ext>
            </a:extLst>
          </p:cNvPr>
          <p:cNvSpPr>
            <a:spLocks noGrp="1"/>
          </p:cNvSpPr>
          <p:nvPr>
            <p:ph idx="1"/>
          </p:nvPr>
        </p:nvSpPr>
        <p:spPr/>
        <p:txBody>
          <a:bodyPr>
            <a:noAutofit/>
          </a:bodyPr>
          <a:lstStyle/>
          <a:p>
            <a:pPr>
              <a:lnSpc>
                <a:spcPct val="100000"/>
              </a:lnSpc>
            </a:pPr>
            <a:r>
              <a:rPr lang="zh-CN" altLang="en-US" sz="1800" dirty="0"/>
              <a:t>数据库系统的核心和基础是（ ）</a:t>
            </a:r>
            <a:endParaRPr lang="en-US" altLang="zh-CN" sz="1800" dirty="0"/>
          </a:p>
          <a:p>
            <a:pPr marL="0" indent="0">
              <a:lnSpc>
                <a:spcPct val="100000"/>
              </a:lnSpc>
              <a:buNone/>
            </a:pPr>
            <a:r>
              <a:rPr lang="en-US" altLang="zh-CN" sz="1800" dirty="0"/>
              <a:t>     A.</a:t>
            </a:r>
            <a:r>
              <a:rPr lang="zh-CN" altLang="en-US" sz="1800" dirty="0"/>
              <a:t>物理模型       </a:t>
            </a:r>
            <a:r>
              <a:rPr lang="en-US" altLang="zh-CN" sz="1800" dirty="0"/>
              <a:t>B.</a:t>
            </a:r>
            <a:r>
              <a:rPr lang="zh-CN" altLang="en-US" sz="1800" dirty="0"/>
              <a:t>概念模型      </a:t>
            </a:r>
            <a:r>
              <a:rPr lang="en-US" altLang="zh-CN" sz="1800" dirty="0"/>
              <a:t>C.</a:t>
            </a:r>
            <a:r>
              <a:rPr lang="zh-CN" altLang="en-US" sz="1800" dirty="0"/>
              <a:t>数据模型      </a:t>
            </a:r>
            <a:r>
              <a:rPr lang="en-US" altLang="zh-CN" sz="1800" dirty="0"/>
              <a:t>D.</a:t>
            </a:r>
            <a:r>
              <a:rPr lang="zh-CN" altLang="en-US" sz="1800" dirty="0"/>
              <a:t>逻辑模型</a:t>
            </a:r>
            <a:endParaRPr lang="en-US" altLang="zh-CN" sz="1800" dirty="0"/>
          </a:p>
          <a:p>
            <a:pPr>
              <a:lnSpc>
                <a:spcPct val="100000"/>
              </a:lnSpc>
            </a:pPr>
            <a:r>
              <a:rPr lang="zh-CN" altLang="en-US" sz="1800" dirty="0"/>
              <a:t>将现实世界抽象为信息世界的模型是（ ）</a:t>
            </a:r>
            <a:endParaRPr lang="en-US" altLang="zh-CN" sz="1800" dirty="0"/>
          </a:p>
          <a:p>
            <a:pPr marL="0" indent="0">
              <a:lnSpc>
                <a:spcPct val="100000"/>
              </a:lnSpc>
              <a:buNone/>
            </a:pPr>
            <a:r>
              <a:rPr lang="en-US" altLang="zh-CN" sz="1800" dirty="0"/>
              <a:t>     A.</a:t>
            </a:r>
            <a:r>
              <a:rPr lang="zh-CN" altLang="en-US" sz="1800" dirty="0"/>
              <a:t>物理模型       </a:t>
            </a:r>
            <a:r>
              <a:rPr lang="en-US" altLang="zh-CN" sz="1800" dirty="0"/>
              <a:t>B.</a:t>
            </a:r>
            <a:r>
              <a:rPr lang="zh-CN" altLang="en-US" sz="1800" dirty="0"/>
              <a:t>概念模型      </a:t>
            </a:r>
            <a:r>
              <a:rPr lang="en-US" altLang="zh-CN" sz="1800" dirty="0"/>
              <a:t>C.</a:t>
            </a:r>
            <a:r>
              <a:rPr lang="zh-CN" altLang="en-US" sz="1800" dirty="0"/>
              <a:t>关系模型      </a:t>
            </a:r>
            <a:r>
              <a:rPr lang="en-US" altLang="zh-CN" sz="1800" dirty="0"/>
              <a:t>D.</a:t>
            </a:r>
            <a:r>
              <a:rPr lang="zh-CN" altLang="en-US" sz="1800" dirty="0"/>
              <a:t>逻辑模型</a:t>
            </a:r>
            <a:endParaRPr lang="en-US" altLang="zh-CN" sz="1800" dirty="0"/>
          </a:p>
          <a:p>
            <a:pPr>
              <a:lnSpc>
                <a:spcPct val="100000"/>
              </a:lnSpc>
            </a:pPr>
            <a:r>
              <a:rPr lang="zh-CN" altLang="en-US" sz="1800" dirty="0"/>
              <a:t>能够保证数据库系统中的数据具有较高的逻辑独立性是（ ）</a:t>
            </a:r>
            <a:endParaRPr lang="en-US" altLang="zh-CN" sz="1800" dirty="0"/>
          </a:p>
          <a:p>
            <a:pPr marL="0" indent="0">
              <a:lnSpc>
                <a:spcPct val="100000"/>
              </a:lnSpc>
              <a:buNone/>
            </a:pPr>
            <a:r>
              <a:rPr lang="en-US" altLang="zh-CN" sz="1800" dirty="0"/>
              <a:t>     A.</a:t>
            </a:r>
            <a:r>
              <a:rPr lang="zh-CN" altLang="en-US" sz="1800" dirty="0"/>
              <a:t>外模式</a:t>
            </a:r>
            <a:r>
              <a:rPr lang="en-US" altLang="zh-CN" sz="1800" dirty="0"/>
              <a:t>/</a:t>
            </a:r>
            <a:r>
              <a:rPr lang="zh-CN" altLang="en-US" sz="1800" dirty="0"/>
              <a:t>模式映像     </a:t>
            </a:r>
            <a:r>
              <a:rPr lang="en-US" altLang="zh-CN" sz="1800" dirty="0"/>
              <a:t>B.</a:t>
            </a:r>
            <a:r>
              <a:rPr lang="zh-CN" altLang="en-US" sz="1800" dirty="0"/>
              <a:t>模式      </a:t>
            </a:r>
            <a:r>
              <a:rPr lang="en-US" altLang="zh-CN" sz="1800" dirty="0"/>
              <a:t>C.</a:t>
            </a:r>
            <a:r>
              <a:rPr lang="zh-CN" altLang="en-US" sz="1800" dirty="0"/>
              <a:t>模式</a:t>
            </a:r>
            <a:r>
              <a:rPr lang="en-US" altLang="zh-CN" sz="1800" dirty="0"/>
              <a:t>/</a:t>
            </a:r>
            <a:r>
              <a:rPr lang="zh-CN" altLang="en-US" sz="1800" dirty="0"/>
              <a:t>内模式映像    </a:t>
            </a:r>
            <a:r>
              <a:rPr lang="en-US" altLang="zh-CN" sz="1800" dirty="0"/>
              <a:t>D.</a:t>
            </a:r>
            <a:r>
              <a:rPr lang="zh-CN" altLang="en-US" sz="1800" dirty="0"/>
              <a:t>外模式</a:t>
            </a:r>
            <a:endParaRPr lang="en-US" altLang="zh-CN" sz="1800" dirty="0"/>
          </a:p>
          <a:p>
            <a:pPr>
              <a:lnSpc>
                <a:spcPct val="100000"/>
              </a:lnSpc>
            </a:pPr>
            <a:r>
              <a:rPr lang="en-US" altLang="zh-CN" sz="1800" dirty="0"/>
              <a:t>DBMS</a:t>
            </a:r>
            <a:r>
              <a:rPr lang="zh-CN" altLang="en-US" sz="1800" dirty="0"/>
              <a:t>是一类系统软件，它是建立在以下哪个系统之上的？（ ）</a:t>
            </a:r>
            <a:r>
              <a:rPr lang="en-US" altLang="zh-CN" sz="1800" dirty="0"/>
              <a:t> </a:t>
            </a:r>
          </a:p>
          <a:p>
            <a:pPr marL="0" indent="0">
              <a:lnSpc>
                <a:spcPct val="100000"/>
              </a:lnSpc>
              <a:buNone/>
            </a:pPr>
            <a:r>
              <a:rPr lang="en-US" altLang="zh-CN" sz="1800" dirty="0"/>
              <a:t>     A.</a:t>
            </a:r>
            <a:r>
              <a:rPr lang="zh-CN" altLang="en-US" sz="1800" dirty="0"/>
              <a:t>应用系统       </a:t>
            </a:r>
            <a:r>
              <a:rPr lang="en-US" altLang="zh-CN" sz="1800" dirty="0"/>
              <a:t>B.</a:t>
            </a:r>
            <a:r>
              <a:rPr lang="zh-CN" altLang="en-US" sz="1800" dirty="0"/>
              <a:t>编译系统     </a:t>
            </a:r>
            <a:r>
              <a:rPr lang="en-US" altLang="zh-CN" sz="1800" dirty="0"/>
              <a:t>C.</a:t>
            </a:r>
            <a:r>
              <a:rPr lang="zh-CN" altLang="en-US" sz="1800" dirty="0"/>
              <a:t>操作系统      </a:t>
            </a:r>
            <a:r>
              <a:rPr lang="en-US" altLang="zh-CN" sz="1800" dirty="0"/>
              <a:t>D.</a:t>
            </a:r>
            <a:r>
              <a:rPr lang="zh-CN" altLang="en-US" sz="1800" dirty="0"/>
              <a:t>硬件系统</a:t>
            </a:r>
            <a:endParaRPr lang="en-US" altLang="zh-CN" sz="1800" dirty="0"/>
          </a:p>
          <a:p>
            <a:pPr>
              <a:lnSpc>
                <a:spcPct val="100000"/>
              </a:lnSpc>
            </a:pPr>
            <a:r>
              <a:rPr lang="zh-CN" altLang="en-US" sz="1800" dirty="0"/>
              <a:t>下列说法正确的是（ ）</a:t>
            </a:r>
            <a:endParaRPr lang="en-US" altLang="zh-CN" sz="1800" dirty="0"/>
          </a:p>
          <a:p>
            <a:pPr marL="0" indent="268288">
              <a:lnSpc>
                <a:spcPct val="100000"/>
              </a:lnSpc>
              <a:buNone/>
            </a:pPr>
            <a:r>
              <a:rPr lang="en-US" altLang="zh-CN" sz="1800" dirty="0"/>
              <a:t> A.</a:t>
            </a:r>
            <a:r>
              <a:rPr lang="zh-CN" altLang="en-US" sz="1800" dirty="0"/>
              <a:t>数据库的概念模型与具体的</a:t>
            </a:r>
            <a:r>
              <a:rPr lang="en-US" altLang="zh-CN" sz="1800" dirty="0"/>
              <a:t>DBMS</a:t>
            </a:r>
            <a:r>
              <a:rPr lang="zh-CN" altLang="en-US" sz="1800" dirty="0"/>
              <a:t>有关</a:t>
            </a:r>
            <a:endParaRPr lang="en-US" altLang="zh-CN" sz="1800" dirty="0"/>
          </a:p>
          <a:p>
            <a:pPr marL="0" indent="268288">
              <a:lnSpc>
                <a:spcPct val="100000"/>
              </a:lnSpc>
              <a:buNone/>
            </a:pPr>
            <a:r>
              <a:rPr lang="en-US" altLang="zh-CN" sz="1800" dirty="0"/>
              <a:t> B.</a:t>
            </a:r>
            <a:r>
              <a:rPr lang="zh-CN" altLang="en-US" sz="1800" dirty="0"/>
              <a:t>三级模式中描述全体数据的逻辑结构和特征的是外模式</a:t>
            </a:r>
            <a:endParaRPr lang="en-US" altLang="zh-CN" sz="1800" dirty="0"/>
          </a:p>
          <a:p>
            <a:pPr marL="0" indent="268288">
              <a:lnSpc>
                <a:spcPct val="100000"/>
              </a:lnSpc>
              <a:buNone/>
            </a:pPr>
            <a:r>
              <a:rPr lang="en-US" altLang="zh-CN" sz="1800" dirty="0"/>
              <a:t> C.</a:t>
            </a:r>
            <a:r>
              <a:rPr lang="zh-CN" altLang="en-US" sz="1800" dirty="0"/>
              <a:t>数据库管理员负责设计和编写应用系统的程序模块</a:t>
            </a:r>
            <a:endParaRPr lang="en-US" altLang="zh-CN" sz="1800" dirty="0"/>
          </a:p>
          <a:p>
            <a:pPr marL="0" indent="268288">
              <a:lnSpc>
                <a:spcPct val="100000"/>
              </a:lnSpc>
              <a:buNone/>
            </a:pPr>
            <a:r>
              <a:rPr lang="en-US" altLang="zh-CN" sz="1800" dirty="0"/>
              <a:t> D.</a:t>
            </a:r>
            <a:r>
              <a:rPr lang="zh-CN" altLang="en-US" sz="1800" dirty="0"/>
              <a:t>从逻辑模型到物理模型的转换一般是由</a:t>
            </a:r>
            <a:r>
              <a:rPr lang="en-US" altLang="zh-CN" sz="1800" dirty="0"/>
              <a:t>DBMS</a:t>
            </a:r>
            <a:r>
              <a:rPr lang="zh-CN" altLang="en-US" sz="1800" dirty="0"/>
              <a:t>完成的</a:t>
            </a:r>
            <a:endParaRPr lang="en-US" altLang="zh-CN" sz="1800" dirty="0"/>
          </a:p>
        </p:txBody>
      </p:sp>
    </p:spTree>
    <p:extLst>
      <p:ext uri="{BB962C8B-B14F-4D97-AF65-F5344CB8AC3E}">
        <p14:creationId xmlns:p14="http://schemas.microsoft.com/office/powerpoint/2010/main" val="1474624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9</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en-US" altLang="zh-CN"/>
              <a:t>~(cont.)</a:t>
            </a:r>
            <a:endParaRPr lang="zh-CN" altLang="en-US"/>
          </a:p>
        </p:txBody>
      </p:sp>
      <p:sp>
        <p:nvSpPr>
          <p:cNvPr id="3" name="内容占位符 2">
            <a:extLst>
              <a:ext uri="{FF2B5EF4-FFF2-40B4-BE49-F238E27FC236}">
                <a16:creationId xmlns:a16="http://schemas.microsoft.com/office/drawing/2014/main" id="{021C7C7A-CD8E-4AC8-B3D2-0755F94F20C9}"/>
              </a:ext>
            </a:extLst>
          </p:cNvPr>
          <p:cNvSpPr>
            <a:spLocks noGrp="1"/>
          </p:cNvSpPr>
          <p:nvPr>
            <p:ph idx="1"/>
          </p:nvPr>
        </p:nvSpPr>
        <p:spPr/>
        <p:txBody>
          <a:bodyPr>
            <a:noAutofit/>
          </a:bodyPr>
          <a:lstStyle/>
          <a:p>
            <a:r>
              <a:rPr lang="zh-CN" altLang="en-US" sz="1800" dirty="0"/>
              <a:t>长期存储在计算机内，有组织的、可共享大量数据的集合是（ ）</a:t>
            </a:r>
            <a:endParaRPr lang="en-US" altLang="zh-CN" sz="1800" dirty="0"/>
          </a:p>
          <a:p>
            <a:pPr marL="0" indent="0">
              <a:buNone/>
            </a:pPr>
            <a:r>
              <a:rPr lang="en-US" altLang="zh-CN" sz="1800" dirty="0"/>
              <a:t>      A.</a:t>
            </a:r>
            <a:r>
              <a:rPr lang="zh-CN" altLang="en-US" sz="1800" dirty="0"/>
              <a:t>数据</a:t>
            </a:r>
            <a:r>
              <a:rPr lang="en-US" altLang="zh-CN" sz="1800" dirty="0"/>
              <a:t>      B.</a:t>
            </a:r>
            <a:r>
              <a:rPr lang="zh-CN" altLang="en-US" sz="1800" dirty="0"/>
              <a:t>数据库</a:t>
            </a:r>
            <a:r>
              <a:rPr lang="en-US" altLang="zh-CN" sz="1800" dirty="0"/>
              <a:t>      C.</a:t>
            </a:r>
            <a:r>
              <a:rPr lang="zh-CN" altLang="en-US" sz="1800" dirty="0"/>
              <a:t>数据库管理系统       </a:t>
            </a:r>
            <a:r>
              <a:rPr lang="en-US" altLang="zh-CN" sz="1800" dirty="0"/>
              <a:t>D.</a:t>
            </a:r>
            <a:r>
              <a:rPr lang="zh-CN" altLang="en-US" sz="1800" dirty="0"/>
              <a:t>数据库系统</a:t>
            </a:r>
            <a:endParaRPr lang="en-US" altLang="zh-CN" sz="1800" dirty="0"/>
          </a:p>
          <a:p>
            <a:r>
              <a:rPr lang="zh-CN" altLang="en-US" sz="1800" dirty="0"/>
              <a:t>在数据库管理技术发展过程中，需要应用程序管理数据的是（ ）</a:t>
            </a:r>
            <a:r>
              <a:rPr lang="en-US" altLang="zh-CN" sz="1800" dirty="0"/>
              <a:t> </a:t>
            </a:r>
          </a:p>
          <a:p>
            <a:pPr marL="0" indent="0">
              <a:buNone/>
            </a:pPr>
            <a:r>
              <a:rPr lang="en-US" altLang="zh-CN" sz="1800" dirty="0"/>
              <a:t>      A.</a:t>
            </a:r>
            <a:r>
              <a:rPr lang="zh-CN" altLang="en-US" sz="1800" dirty="0"/>
              <a:t>人工管理阶段           </a:t>
            </a:r>
            <a:r>
              <a:rPr lang="en-US" altLang="zh-CN" sz="1800" dirty="0"/>
              <a:t>B.</a:t>
            </a:r>
            <a:r>
              <a:rPr lang="zh-CN" altLang="en-US" sz="1800" dirty="0"/>
              <a:t>人工管理阶段和文件系统阶段</a:t>
            </a:r>
            <a:endParaRPr lang="en-US" altLang="zh-CN" sz="1800" dirty="0"/>
          </a:p>
          <a:p>
            <a:pPr marL="0" indent="0">
              <a:buNone/>
            </a:pPr>
            <a:r>
              <a:rPr lang="en-US" altLang="zh-CN" sz="1800" dirty="0"/>
              <a:t>      C.</a:t>
            </a:r>
            <a:r>
              <a:rPr lang="zh-CN" altLang="en-US" sz="1800" dirty="0"/>
              <a:t>文件系统阶段和数据库系统阶段</a:t>
            </a:r>
            <a:r>
              <a:rPr lang="en-US" altLang="zh-CN" sz="1800" dirty="0"/>
              <a:t>     D.</a:t>
            </a:r>
            <a:r>
              <a:rPr lang="zh-CN" altLang="en-US" sz="1800" dirty="0"/>
              <a:t>数据库系统阶段</a:t>
            </a:r>
          </a:p>
          <a:p>
            <a:r>
              <a:rPr lang="zh-CN" altLang="en-US" sz="1800" dirty="0"/>
              <a:t>在文件系统管理阶段，由文件系统提供数据存取方法，所以数据已经达到很强的独立性（对</a:t>
            </a:r>
            <a:r>
              <a:rPr lang="en-US" altLang="zh-CN" sz="1800" dirty="0"/>
              <a:t>or</a:t>
            </a:r>
            <a:r>
              <a:rPr lang="zh-CN" altLang="en-US" sz="1800" dirty="0"/>
              <a:t>错）</a:t>
            </a:r>
            <a:endParaRPr lang="en-US" altLang="zh-CN" sz="1800" dirty="0"/>
          </a:p>
          <a:p>
            <a:r>
              <a:rPr lang="zh-CN" altLang="en-US" sz="1800" dirty="0"/>
              <a:t>数据库管理系统是指在计算机系统中引入数据库后的系统，一般由</a:t>
            </a:r>
            <a:r>
              <a:rPr lang="en-US" altLang="zh-CN" sz="1800" dirty="0"/>
              <a:t>DB, DBS, </a:t>
            </a:r>
            <a:r>
              <a:rPr lang="zh-CN" altLang="en-US" sz="1800" dirty="0"/>
              <a:t>应用系统和</a:t>
            </a:r>
            <a:r>
              <a:rPr lang="en-US" altLang="zh-CN" sz="1800" dirty="0"/>
              <a:t>DBA</a:t>
            </a:r>
            <a:r>
              <a:rPr lang="zh-CN" altLang="en-US" sz="1800" dirty="0"/>
              <a:t>组成</a:t>
            </a:r>
            <a:r>
              <a:rPr lang="en-US" altLang="zh-CN" sz="1800" dirty="0"/>
              <a:t>(</a:t>
            </a:r>
            <a:r>
              <a:rPr lang="zh-CN" altLang="en-US" sz="1800" dirty="0"/>
              <a:t>对</a:t>
            </a:r>
            <a:r>
              <a:rPr lang="en-US" altLang="zh-CN" sz="1800" dirty="0"/>
              <a:t>or</a:t>
            </a:r>
            <a:r>
              <a:rPr lang="zh-CN" altLang="en-US" sz="1800" dirty="0"/>
              <a:t>错</a:t>
            </a:r>
            <a:r>
              <a:rPr lang="en-US" altLang="zh-CN" sz="1800" dirty="0"/>
              <a:t>)</a:t>
            </a:r>
          </a:p>
          <a:p>
            <a:r>
              <a:rPr lang="zh-CN" altLang="en-US" sz="1800" dirty="0"/>
              <a:t>在数据模型的组成要素中，数据结构是刻画一个数据模型性质最重要的方面，人们通常按照数据结构的类型来命名数据模型（对</a:t>
            </a:r>
            <a:r>
              <a:rPr lang="en-US" altLang="zh-CN" sz="1800" dirty="0"/>
              <a:t>or</a:t>
            </a:r>
            <a:r>
              <a:rPr lang="zh-CN" altLang="en-US" sz="1800" dirty="0"/>
              <a:t>错）</a:t>
            </a:r>
            <a:endParaRPr lang="en-US" altLang="zh-CN" sz="1800" dirty="0"/>
          </a:p>
          <a:p>
            <a:r>
              <a:rPr lang="zh-CN" altLang="en-US" sz="1800" dirty="0"/>
              <a:t>数据库系统的三级模式是对数据进行抽象的三个级别，把数据的具体组织留给</a:t>
            </a:r>
            <a:r>
              <a:rPr lang="en-US" altLang="zh-CN" sz="1800" dirty="0"/>
              <a:t>DBMS</a:t>
            </a:r>
            <a:r>
              <a:rPr lang="zh-CN" altLang="en-US" sz="1800" dirty="0"/>
              <a:t>管理（对</a:t>
            </a:r>
            <a:r>
              <a:rPr lang="en-US" altLang="zh-CN" sz="1800" dirty="0"/>
              <a:t>or</a:t>
            </a:r>
            <a:r>
              <a:rPr lang="zh-CN" altLang="en-US" sz="1800" dirty="0"/>
              <a:t>错）</a:t>
            </a:r>
            <a:endParaRPr lang="en-US" altLang="zh-CN" sz="1800" dirty="0"/>
          </a:p>
          <a:p>
            <a:r>
              <a:rPr lang="zh-CN" altLang="en-US" sz="1800" dirty="0"/>
              <a:t>层次模型是比网状模型更具普遍性的结构，网状模型是层次模型的一个特例（对</a:t>
            </a:r>
            <a:r>
              <a:rPr lang="en-US" altLang="zh-CN" sz="1800" dirty="0"/>
              <a:t>or</a:t>
            </a:r>
            <a:r>
              <a:rPr lang="zh-CN" altLang="en-US" sz="1800" dirty="0"/>
              <a:t>错）</a:t>
            </a:r>
            <a:endParaRPr lang="en-US" altLang="zh-CN" sz="1800" dirty="0"/>
          </a:p>
        </p:txBody>
      </p:sp>
    </p:spTree>
    <p:extLst>
      <p:ext uri="{BB962C8B-B14F-4D97-AF65-F5344CB8AC3E}">
        <p14:creationId xmlns:p14="http://schemas.microsoft.com/office/powerpoint/2010/main" val="19973587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234717" y="83846"/>
            <a:ext cx="59787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9</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课堂练习</a:t>
            </a:r>
            <a:r>
              <a:rPr lang="en-US" altLang="zh-CN"/>
              <a:t>(cont.)</a:t>
            </a:r>
            <a:endParaRPr lang="zh-CN" altLang="en-US"/>
          </a:p>
        </p:txBody>
      </p:sp>
      <p:sp>
        <p:nvSpPr>
          <p:cNvPr id="3" name="内容占位符 2">
            <a:extLst>
              <a:ext uri="{FF2B5EF4-FFF2-40B4-BE49-F238E27FC236}">
                <a16:creationId xmlns:a16="http://schemas.microsoft.com/office/drawing/2014/main" id="{021C7C7A-CD8E-4AC8-B3D2-0755F94F20C9}"/>
              </a:ext>
            </a:extLst>
          </p:cNvPr>
          <p:cNvSpPr>
            <a:spLocks noGrp="1"/>
          </p:cNvSpPr>
          <p:nvPr>
            <p:ph idx="1"/>
          </p:nvPr>
        </p:nvSpPr>
        <p:spPr/>
        <p:txBody>
          <a:bodyPr>
            <a:noAutofit/>
          </a:bodyPr>
          <a:lstStyle/>
          <a:p>
            <a:pPr>
              <a:lnSpc>
                <a:spcPct val="150000"/>
              </a:lnSpc>
            </a:pPr>
            <a:r>
              <a:rPr lang="zh-CN" altLang="en-US" sz="1800"/>
              <a:t>数据库系统的逻辑模型按照计算机的观点对数据建模，主要包括</a:t>
            </a:r>
            <a:r>
              <a:rPr lang="zh-CN" altLang="en-US" sz="1800" u="sng"/>
              <a:t>         </a:t>
            </a:r>
            <a:r>
              <a:rPr lang="zh-CN" altLang="en-US" sz="1800"/>
              <a:t>、</a:t>
            </a:r>
            <a:r>
              <a:rPr lang="zh-CN" altLang="en-US" sz="1800" u="sng"/>
              <a:t>        </a:t>
            </a:r>
            <a:r>
              <a:rPr lang="zh-CN" altLang="en-US" sz="1800"/>
              <a:t>、</a:t>
            </a:r>
            <a:r>
              <a:rPr lang="zh-CN" altLang="en-US" sz="1800" u="sng"/>
              <a:t>        </a:t>
            </a:r>
            <a:r>
              <a:rPr lang="zh-CN" altLang="en-US" sz="1800"/>
              <a:t>、面向对象模型、对象关系模式和半结构化数据模型等。</a:t>
            </a:r>
            <a:endParaRPr lang="en-US" altLang="zh-CN" sz="1800"/>
          </a:p>
          <a:p>
            <a:pPr>
              <a:lnSpc>
                <a:spcPct val="150000"/>
              </a:lnSpc>
            </a:pPr>
            <a:r>
              <a:rPr lang="zh-CN" altLang="en-US" sz="1800"/>
              <a:t>最常使用的概念模型是</a:t>
            </a:r>
            <a:r>
              <a:rPr lang="zh-CN" altLang="en-US" sz="1800" u="sng"/>
              <a:t>           </a:t>
            </a:r>
            <a:r>
              <a:rPr lang="zh-CN" altLang="en-US" sz="1800"/>
              <a:t>。</a:t>
            </a:r>
            <a:endParaRPr lang="en-US" altLang="zh-CN" sz="1800"/>
          </a:p>
          <a:p>
            <a:pPr>
              <a:lnSpc>
                <a:spcPct val="150000"/>
              </a:lnSpc>
            </a:pPr>
            <a:r>
              <a:rPr lang="zh-CN" altLang="en-US" sz="1800"/>
              <a:t>数据独立性是数据库领域的重要概念，包括数据的</a:t>
            </a:r>
            <a:r>
              <a:rPr lang="zh-CN" altLang="en-US" sz="1800" u="sng"/>
              <a:t>             </a:t>
            </a:r>
            <a:r>
              <a:rPr lang="zh-CN" altLang="en-US" sz="1800"/>
              <a:t>独立性和数据的</a:t>
            </a:r>
            <a:r>
              <a:rPr lang="zh-CN" altLang="en-US" sz="1800" u="sng"/>
              <a:t>           </a:t>
            </a:r>
            <a:r>
              <a:rPr lang="zh-CN" altLang="en-US" sz="1800"/>
              <a:t>独立性。</a:t>
            </a:r>
            <a:endParaRPr lang="en-US" altLang="zh-CN" sz="1800"/>
          </a:p>
          <a:p>
            <a:pPr>
              <a:lnSpc>
                <a:spcPct val="150000"/>
              </a:lnSpc>
            </a:pPr>
            <a:r>
              <a:rPr lang="zh-CN" altLang="en-US" sz="1800"/>
              <a:t>数据库的三级模式结构中，描述局部数据的逻辑结构和特征的是</a:t>
            </a:r>
            <a:r>
              <a:rPr lang="zh-CN" altLang="en-US" sz="1800" u="sng"/>
              <a:t>              </a:t>
            </a:r>
            <a:r>
              <a:rPr lang="zh-CN" altLang="en-US" sz="1800"/>
              <a:t>。</a:t>
            </a:r>
            <a:endParaRPr lang="en-US" altLang="zh-CN" sz="1800"/>
          </a:p>
          <a:p>
            <a:pPr>
              <a:lnSpc>
                <a:spcPct val="150000"/>
              </a:lnSpc>
            </a:pPr>
            <a:r>
              <a:rPr lang="zh-CN" altLang="en-US" sz="1800"/>
              <a:t>数据模型的组成要素中描述系统的静态特性和动态特性的分别是</a:t>
            </a:r>
            <a:r>
              <a:rPr lang="zh-CN" altLang="en-US" sz="1800" u="sng"/>
              <a:t>              </a:t>
            </a:r>
            <a:r>
              <a:rPr lang="zh-CN" altLang="en-US" sz="1800"/>
              <a:t>和 </a:t>
            </a:r>
            <a:r>
              <a:rPr lang="zh-CN" altLang="en-US" sz="1800" u="sng"/>
              <a:t>            </a:t>
            </a:r>
            <a:r>
              <a:rPr lang="zh-CN" altLang="en-US" sz="1800"/>
              <a:t>。</a:t>
            </a:r>
          </a:p>
        </p:txBody>
      </p:sp>
    </p:spTree>
    <p:extLst>
      <p:ext uri="{BB962C8B-B14F-4D97-AF65-F5344CB8AC3E}">
        <p14:creationId xmlns:p14="http://schemas.microsoft.com/office/powerpoint/2010/main" val="32132191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341273A-D54F-499F-AFFE-5D1010D9C33F}"/>
              </a:ext>
            </a:extLst>
          </p:cNvPr>
          <p:cNvSpPr txBox="1"/>
          <p:nvPr/>
        </p:nvSpPr>
        <p:spPr>
          <a:xfrm>
            <a:off x="139148" y="83846"/>
            <a:ext cx="834887" cy="646331"/>
          </a:xfrm>
          <a:prstGeom prst="rect">
            <a:avLst/>
          </a:prstGeom>
          <a:noFill/>
        </p:spPr>
        <p:txBody>
          <a:bodyPr wrap="square" rtlCol="0">
            <a:spAutoFit/>
          </a:bodyPr>
          <a:lstStyle/>
          <a:p>
            <a:pPr algn="ctr"/>
            <a:r>
              <a:rPr lang="en-US" altLang="zh-CN" sz="3600" b="1">
                <a:solidFill>
                  <a:schemeClr val="bg1"/>
                </a:solidFill>
                <a:latin typeface="微软雅黑" panose="020B0503020204020204" pitchFamily="34" charset="-122"/>
                <a:ea typeface="微软雅黑" panose="020B0503020204020204" pitchFamily="34" charset="-122"/>
              </a:rPr>
              <a:t>10</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6" name="标题 5">
            <a:extLst>
              <a:ext uri="{FF2B5EF4-FFF2-40B4-BE49-F238E27FC236}">
                <a16:creationId xmlns:a16="http://schemas.microsoft.com/office/drawing/2014/main" id="{38126F2E-8D7B-43B8-B33A-A44CC13A6AB6}"/>
              </a:ext>
            </a:extLst>
          </p:cNvPr>
          <p:cNvSpPr>
            <a:spLocks noGrp="1"/>
          </p:cNvSpPr>
          <p:nvPr>
            <p:ph type="title"/>
          </p:nvPr>
        </p:nvSpPr>
        <p:spPr/>
        <p:txBody>
          <a:bodyPr/>
          <a:lstStyle/>
          <a:p>
            <a:r>
              <a:rPr lang="zh-CN" altLang="en-US"/>
              <a:t>本章作业</a:t>
            </a:r>
          </a:p>
        </p:txBody>
      </p:sp>
      <p:sp>
        <p:nvSpPr>
          <p:cNvPr id="7" name="内容占位符 6">
            <a:extLst>
              <a:ext uri="{FF2B5EF4-FFF2-40B4-BE49-F238E27FC236}">
                <a16:creationId xmlns:a16="http://schemas.microsoft.com/office/drawing/2014/main" id="{635B3FA7-A61A-44CA-B73A-5412CE868DC6}"/>
              </a:ext>
            </a:extLst>
          </p:cNvPr>
          <p:cNvSpPr>
            <a:spLocks noGrp="1"/>
          </p:cNvSpPr>
          <p:nvPr>
            <p:ph idx="1"/>
          </p:nvPr>
        </p:nvSpPr>
        <p:spPr/>
        <p:txBody>
          <a:bodyPr/>
          <a:lstStyle/>
          <a:p>
            <a:pPr>
              <a:lnSpc>
                <a:spcPct val="150000"/>
              </a:lnSpc>
            </a:pPr>
            <a:r>
              <a:rPr lang="zh-CN" altLang="en-US"/>
              <a:t>教材第一章全部习题</a:t>
            </a:r>
            <a:r>
              <a:rPr lang="en-US" altLang="zh-CN"/>
              <a:t>.</a:t>
            </a:r>
          </a:p>
          <a:p>
            <a:pPr>
              <a:lnSpc>
                <a:spcPct val="150000"/>
              </a:lnSpc>
            </a:pPr>
            <a:r>
              <a:rPr lang="zh-CN" altLang="en-US">
                <a:solidFill>
                  <a:srgbClr val="FF0000"/>
                </a:solidFill>
              </a:rPr>
              <a:t>要求：作业在布置后一周内完成并提交到课程网站</a:t>
            </a:r>
            <a:endParaRPr lang="en-US" altLang="zh-CN">
              <a:solidFill>
                <a:srgbClr val="FF0000"/>
              </a:solidFill>
            </a:endParaRPr>
          </a:p>
        </p:txBody>
      </p:sp>
    </p:spTree>
    <p:extLst>
      <p:ext uri="{BB962C8B-B14F-4D97-AF65-F5344CB8AC3E}">
        <p14:creationId xmlns:p14="http://schemas.microsoft.com/office/powerpoint/2010/main" val="36564358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1135</TotalTime>
  <Words>6483</Words>
  <Application>Microsoft Office PowerPoint</Application>
  <PresentationFormat>宽屏</PresentationFormat>
  <Paragraphs>935</Paragraphs>
  <Slides>72</Slides>
  <Notes>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72</vt:i4>
      </vt:variant>
    </vt:vector>
  </HeadingPairs>
  <TitlesOfParts>
    <vt:vector size="91" baseType="lpstr">
      <vt:lpstr>HarmonyOS Sans SC Medium</vt:lpstr>
      <vt:lpstr>HP Simplified Hans</vt:lpstr>
      <vt:lpstr>Yu Gothic UI Semibold</vt:lpstr>
      <vt:lpstr>阿里巴巴普惠体 3.0 55 Regular</vt:lpstr>
      <vt:lpstr>等线</vt:lpstr>
      <vt:lpstr>等线 Light</vt:lpstr>
      <vt:lpstr>宋体</vt:lpstr>
      <vt:lpstr>微软雅黑</vt:lpstr>
      <vt:lpstr>Arial</vt:lpstr>
      <vt:lpstr>Calibri</vt:lpstr>
      <vt:lpstr>Cambria Math</vt:lpstr>
      <vt:lpstr>HP Simplified</vt:lpstr>
      <vt:lpstr>Huawei Sans</vt:lpstr>
      <vt:lpstr>Roboto</vt:lpstr>
      <vt:lpstr>Tahoma</vt:lpstr>
      <vt:lpstr>Times New Roman</vt:lpstr>
      <vt:lpstr>Wingdings</vt:lpstr>
      <vt:lpstr>Office 主题​​</vt:lpstr>
      <vt:lpstr>1_Office 主题​​</vt:lpstr>
      <vt:lpstr>PowerPoint 演示文稿</vt:lpstr>
      <vt:lpstr>本章导图</vt:lpstr>
      <vt:lpstr>大纲</vt:lpstr>
      <vt:lpstr>数据库系统概述</vt:lpstr>
      <vt:lpstr>3.1.1数据(Data)</vt:lpstr>
      <vt:lpstr>3.1.2数据库(Database,DB)</vt:lpstr>
      <vt:lpstr>3.1.3数据库管理系统(DBMS)</vt:lpstr>
      <vt:lpstr>~DBMS的协同工作机制</vt:lpstr>
      <vt:lpstr>~DBMS的6个主要功能</vt:lpstr>
      <vt:lpstr>~国际工业界常见的DBMS产品排行榜</vt:lpstr>
      <vt:lpstr>~中国工业界常见的DBMS产品排行榜(墨天轮)</vt:lpstr>
      <vt:lpstr>~华为openGauss简介</vt:lpstr>
      <vt:lpstr>~openGauss 5.0.0运行环境</vt:lpstr>
      <vt:lpstr>~openGauss 5.0.0技术指标</vt:lpstr>
      <vt:lpstr>~openGauss基本功能</vt:lpstr>
      <vt:lpstr>~openGauss体系结构</vt:lpstr>
      <vt:lpstr>~openGauss逻辑结构</vt:lpstr>
      <vt:lpstr>~openGauss物理结构</vt:lpstr>
      <vt:lpstr>~openGauss的响应流程</vt:lpstr>
      <vt:lpstr>3.1.4数据库系统(DBS)</vt:lpstr>
      <vt:lpstr>数据库系统概述</vt:lpstr>
      <vt:lpstr>3.2.1数据管理技术的产生和发展</vt:lpstr>
      <vt:lpstr>3.2.2数据库系统发展特点</vt:lpstr>
      <vt:lpstr>3.2.3数据管理技术三个阶段比较</vt:lpstr>
      <vt:lpstr>数据库系统概述</vt:lpstr>
      <vt:lpstr>3.3数据库系统的特点</vt:lpstr>
      <vt:lpstr>特点1：整体数据的结构化</vt:lpstr>
      <vt:lpstr>示例</vt:lpstr>
      <vt:lpstr>特点2：数据的共享性强，冗余度低且易于扩充</vt:lpstr>
      <vt:lpstr>特点3：数据的独立性强</vt:lpstr>
      <vt:lpstr>~(cont.)</vt:lpstr>
      <vt:lpstr>特点4：数据由DBMS统一管理和控制</vt:lpstr>
      <vt:lpstr>数据库系统概念小结</vt:lpstr>
      <vt:lpstr>数据模型(Data model)</vt:lpstr>
      <vt:lpstr>4.1数据建模</vt:lpstr>
      <vt:lpstr>4.2概念模型</vt:lpstr>
      <vt:lpstr>4.2.1信息世界的基本概念</vt:lpstr>
      <vt:lpstr>~(cont.)</vt:lpstr>
      <vt:lpstr>4.2.2实体-联系图</vt:lpstr>
      <vt:lpstr>~(cont.)</vt:lpstr>
      <vt:lpstr>4.2.3Crow’s Foot(鱼尾纹)表示法</vt:lpstr>
      <vt:lpstr>课堂练习</vt:lpstr>
      <vt:lpstr>参考答案</vt:lpstr>
      <vt:lpstr>常用ERD建模工具</vt:lpstr>
      <vt:lpstr>4.3数据模型三要素</vt:lpstr>
      <vt:lpstr>~(cont.)</vt:lpstr>
      <vt:lpstr>4.3.1关系模型</vt:lpstr>
      <vt:lpstr>关系模型之数据结构</vt:lpstr>
      <vt:lpstr>~(cont.)</vt:lpstr>
      <vt:lpstr>~(cont.)</vt:lpstr>
      <vt:lpstr>关系模型之数据操纵与完整性约束</vt:lpstr>
      <vt:lpstr>关系模型的优缺点</vt:lpstr>
      <vt:lpstr>4.3.2数据库领域中不断涌现的数据模型</vt:lpstr>
      <vt:lpstr>数据模型小结</vt:lpstr>
      <vt:lpstr>数据库系统的三级模式结构</vt:lpstr>
      <vt:lpstr>5.1数据库系统中的模式概念</vt:lpstr>
      <vt:lpstr>~(cont.)</vt:lpstr>
      <vt:lpstr>5.2数据库系统的三级模式结构</vt:lpstr>
      <vt:lpstr>~(cont.)</vt:lpstr>
      <vt:lpstr>5.3数据库的两级映像与数据独立性</vt:lpstr>
      <vt:lpstr>~(cont.)</vt:lpstr>
      <vt:lpstr>5.4数据库三级模式结构小结</vt:lpstr>
      <vt:lpstr>数据库系统组成</vt:lpstr>
      <vt:lpstr>~(cont.)</vt:lpstr>
      <vt:lpstr>~(cont.)</vt:lpstr>
      <vt:lpstr>数据库系统体系结构</vt:lpstr>
      <vt:lpstr>~(cont.)</vt:lpstr>
      <vt:lpstr>本章小结</vt:lpstr>
      <vt:lpstr>课堂练习</vt:lpstr>
      <vt:lpstr>~(cont.)</vt:lpstr>
      <vt:lpstr>课堂练习(cont.)</vt:lpstr>
      <vt:lpstr>本章作业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michaelwin</dc:creator>
  <cp:lastModifiedBy>Michael Win</cp:lastModifiedBy>
  <cp:revision>439</cp:revision>
  <dcterms:created xsi:type="dcterms:W3CDTF">2025-02-03T09:55:08Z</dcterms:created>
  <dcterms:modified xsi:type="dcterms:W3CDTF">2026-02-28T08:32:30Z</dcterms:modified>
</cp:coreProperties>
</file>