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98"/>
  </p:notesMasterIdLst>
  <p:sldIdLst>
    <p:sldId id="256" r:id="rId2"/>
    <p:sldId id="620" r:id="rId3"/>
    <p:sldId id="509" r:id="rId4"/>
    <p:sldId id="1126" r:id="rId5"/>
    <p:sldId id="1130" r:id="rId6"/>
    <p:sldId id="1127" r:id="rId7"/>
    <p:sldId id="1128" r:id="rId8"/>
    <p:sldId id="1133" r:id="rId9"/>
    <p:sldId id="1226" r:id="rId10"/>
    <p:sldId id="1129" r:id="rId11"/>
    <p:sldId id="1134" r:id="rId12"/>
    <p:sldId id="1135" r:id="rId13"/>
    <p:sldId id="1136" r:id="rId14"/>
    <p:sldId id="1139" r:id="rId15"/>
    <p:sldId id="1140" r:id="rId16"/>
    <p:sldId id="1141" r:id="rId17"/>
    <p:sldId id="1142" r:id="rId18"/>
    <p:sldId id="1143" r:id="rId19"/>
    <p:sldId id="1144" r:id="rId20"/>
    <p:sldId id="1145" r:id="rId21"/>
    <p:sldId id="1146" r:id="rId22"/>
    <p:sldId id="1147" r:id="rId23"/>
    <p:sldId id="1148" r:id="rId24"/>
    <p:sldId id="1223" r:id="rId25"/>
    <p:sldId id="1224" r:id="rId26"/>
    <p:sldId id="1239" r:id="rId27"/>
    <p:sldId id="1149" r:id="rId28"/>
    <p:sldId id="1150" r:id="rId29"/>
    <p:sldId id="1225" r:id="rId30"/>
    <p:sldId id="1151" r:id="rId31"/>
    <p:sldId id="1152" r:id="rId32"/>
    <p:sldId id="1228" r:id="rId33"/>
    <p:sldId id="1153" r:id="rId34"/>
    <p:sldId id="1155" r:id="rId35"/>
    <p:sldId id="1154" r:id="rId36"/>
    <p:sldId id="1158" r:id="rId37"/>
    <p:sldId id="1160" r:id="rId38"/>
    <p:sldId id="1156" r:id="rId39"/>
    <p:sldId id="1227" r:id="rId40"/>
    <p:sldId id="1230" r:id="rId41"/>
    <p:sldId id="1157" r:id="rId42"/>
    <p:sldId id="1231" r:id="rId43"/>
    <p:sldId id="1159" r:id="rId44"/>
    <p:sldId id="1234" r:id="rId45"/>
    <p:sldId id="1163" r:id="rId46"/>
    <p:sldId id="1165" r:id="rId47"/>
    <p:sldId id="1166" r:id="rId48"/>
    <p:sldId id="1164" r:id="rId49"/>
    <p:sldId id="1236" r:id="rId50"/>
    <p:sldId id="1168" r:id="rId51"/>
    <p:sldId id="1169" r:id="rId52"/>
    <p:sldId id="1170" r:id="rId53"/>
    <p:sldId id="1171" r:id="rId54"/>
    <p:sldId id="1172" r:id="rId55"/>
    <p:sldId id="1238" r:id="rId56"/>
    <p:sldId id="1173" r:id="rId57"/>
    <p:sldId id="1174" r:id="rId58"/>
    <p:sldId id="1175" r:id="rId59"/>
    <p:sldId id="1232" r:id="rId60"/>
    <p:sldId id="1176" r:id="rId61"/>
    <p:sldId id="1233" r:id="rId62"/>
    <p:sldId id="1237" r:id="rId63"/>
    <p:sldId id="1177" r:id="rId64"/>
    <p:sldId id="1178" r:id="rId65"/>
    <p:sldId id="1179" r:id="rId66"/>
    <p:sldId id="1184" r:id="rId67"/>
    <p:sldId id="1185" r:id="rId68"/>
    <p:sldId id="1192" r:id="rId69"/>
    <p:sldId id="1194" r:id="rId70"/>
    <p:sldId id="1195" r:id="rId71"/>
    <p:sldId id="1196" r:id="rId72"/>
    <p:sldId id="1199" r:id="rId73"/>
    <p:sldId id="1198" r:id="rId74"/>
    <p:sldId id="1187" r:id="rId75"/>
    <p:sldId id="1240" r:id="rId76"/>
    <p:sldId id="1201" r:id="rId77"/>
    <p:sldId id="1186" r:id="rId78"/>
    <p:sldId id="1202" r:id="rId79"/>
    <p:sldId id="1212" r:id="rId80"/>
    <p:sldId id="1204" r:id="rId81"/>
    <p:sldId id="1205" r:id="rId82"/>
    <p:sldId id="1188" r:id="rId83"/>
    <p:sldId id="1189" r:id="rId84"/>
    <p:sldId id="1190" r:id="rId85"/>
    <p:sldId id="1206" r:id="rId86"/>
    <p:sldId id="1207" r:id="rId87"/>
    <p:sldId id="1208" r:id="rId88"/>
    <p:sldId id="1209" r:id="rId89"/>
    <p:sldId id="1210" r:id="rId90"/>
    <p:sldId id="1211" r:id="rId91"/>
    <p:sldId id="1191" r:id="rId92"/>
    <p:sldId id="606" r:id="rId93"/>
    <p:sldId id="1220" r:id="rId94"/>
    <p:sldId id="1221" r:id="rId95"/>
    <p:sldId id="1222" r:id="rId96"/>
    <p:sldId id="1106" r:id="rId9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海英" initials="a" lastIdx="1" clrIdx="0">
    <p:extLst>
      <p:ext uri="{19B8F6BF-5375-455C-9EA6-DF929625EA0E}">
        <p15:presenceInfo xmlns:p15="http://schemas.microsoft.com/office/powerpoint/2012/main" userId="张海英" providerId="None"/>
      </p:ext>
    </p:extLst>
  </p:cmAuthor>
  <p:cmAuthor id="2" name="haiying2019" initials="h" lastIdx="1" clrIdx="1">
    <p:extLst>
      <p:ext uri="{19B8F6BF-5375-455C-9EA6-DF929625EA0E}">
        <p15:presenceInfo xmlns:p15="http://schemas.microsoft.com/office/powerpoint/2012/main" userId="3a4da61f4497bc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0" autoAdjust="0"/>
  </p:normalViewPr>
  <p:slideViewPr>
    <p:cSldViewPr>
      <p:cViewPr>
        <p:scale>
          <a:sx n="100" d="100"/>
          <a:sy n="100" d="100"/>
        </p:scale>
        <p:origin x="874" y="-18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2026/3/30</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23351349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182589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2026/3/30</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2026/3/30</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2026/3/30</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2026/3/30</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2026/3/30</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2026/3/30</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2026/3/30</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zhuanlan.zhihu.com/p/527208939"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0.png"/></Relationships>
</file>

<file path=ppt/slides/_rels/slide6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7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8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2060"/>
                </a:solidFill>
              </a:rPr>
              <a:t>《</a:t>
            </a:r>
            <a:r>
              <a:rPr lang="zh-CN" altLang="en-US" sz="7200" b="1" dirty="0">
                <a:solidFill>
                  <a:srgbClr val="002060"/>
                </a:solidFill>
              </a:rPr>
              <a:t>计算机组成原理</a:t>
            </a:r>
            <a:r>
              <a:rPr lang="en-US" altLang="zh-CN" sz="7200" b="1" dirty="0">
                <a:solidFill>
                  <a:srgbClr val="002060"/>
                </a:solidFill>
              </a:rPr>
              <a:t>》</a:t>
            </a:r>
            <a:br>
              <a:rPr lang="en-US" altLang="zh-CN" sz="6000" b="1" dirty="0">
                <a:solidFill>
                  <a:srgbClr val="002060"/>
                </a:solidFill>
              </a:rPr>
            </a:br>
            <a:r>
              <a:rPr lang="zh-CN" altLang="en-US" sz="4000" b="1" dirty="0">
                <a:solidFill>
                  <a:srgbClr val="002060"/>
                </a:solidFill>
              </a:rPr>
              <a:t>（第三讲）</a:t>
            </a:r>
            <a:endParaRPr lang="zh-CN" altLang="en-US" sz="6000" b="1" dirty="0">
              <a:solidFill>
                <a:srgbClr val="00206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3</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3</a:t>
            </a:r>
            <a:r>
              <a:rPr lang="zh-CN" altLang="en-US" b="1" dirty="0">
                <a:solidFill>
                  <a:srgbClr val="C00000"/>
                </a:solidFill>
              </a:rPr>
              <a:t>章　运算方法与运算器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3</a:t>
            </a:r>
            <a:r>
              <a:rPr lang="zh-CN" altLang="en-US" b="1" dirty="0">
                <a:solidFill>
                  <a:schemeClr val="tx2"/>
                </a:solidFill>
                <a:latin typeface="+mn-lt"/>
                <a:ea typeface="黑体" pitchFamily="49" charset="-122"/>
              </a:rPr>
              <a:t>章    运算方法与运算器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3.1</a:t>
            </a:r>
            <a:r>
              <a:rPr lang="zh-CN" altLang="en-US" sz="2400" b="1" dirty="0">
                <a:solidFill>
                  <a:srgbClr val="002060"/>
                </a:solidFill>
                <a:ea typeface="黑体" panose="02010609060101010101" pitchFamily="49" charset="-122"/>
              </a:rPr>
              <a:t>　计算机中的运算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3.2</a:t>
            </a:r>
            <a:r>
              <a:rPr lang="zh-CN" altLang="en-US" sz="2400" b="1" dirty="0">
                <a:solidFill>
                  <a:srgbClr val="002060"/>
                </a:solidFill>
                <a:ea typeface="黑体" panose="02010609060101010101" pitchFamily="49" charset="-122"/>
              </a:rPr>
              <a:t>　定点加减法运算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3.3</a:t>
            </a:r>
            <a:r>
              <a:rPr lang="zh-CN" altLang="en-US" sz="2400" b="1" dirty="0">
                <a:solidFill>
                  <a:srgbClr val="002060"/>
                </a:solidFill>
                <a:ea typeface="黑体" panose="02010609060101010101" pitchFamily="49" charset="-122"/>
              </a:rPr>
              <a:t>　定点乘法运算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3.4</a:t>
            </a:r>
            <a:r>
              <a:rPr lang="zh-CN" altLang="en-US" sz="2400" b="1" dirty="0">
                <a:solidFill>
                  <a:srgbClr val="002060"/>
                </a:solidFill>
                <a:ea typeface="黑体" panose="02010609060101010101" pitchFamily="49" charset="-122"/>
              </a:rPr>
              <a:t>　定点除法运算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3.5</a:t>
            </a:r>
            <a:r>
              <a:rPr lang="zh-CN" altLang="en-US" sz="2400" b="1" dirty="0">
                <a:solidFill>
                  <a:srgbClr val="002060"/>
                </a:solidFill>
                <a:ea typeface="黑体" panose="02010609060101010101" pitchFamily="49" charset="-122"/>
              </a:rPr>
              <a:t>　浮点运算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3.6</a:t>
            </a:r>
            <a:r>
              <a:rPr lang="zh-CN" altLang="en-US" sz="2400" b="1" dirty="0">
                <a:solidFill>
                  <a:srgbClr val="002060"/>
                </a:solidFill>
                <a:ea typeface="黑体" panose="02010609060101010101" pitchFamily="49" charset="-122"/>
              </a:rPr>
              <a:t>　运算器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3.1  </a:t>
            </a:r>
            <a:r>
              <a:rPr lang="zh-CN" altLang="en-US" b="1" dirty="0">
                <a:solidFill>
                  <a:srgbClr val="002060"/>
                </a:solidFill>
                <a:latin typeface="+mn-lt"/>
                <a:ea typeface="黑体" pitchFamily="49" charset="-122"/>
              </a:rPr>
              <a:t>计算机中的运算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eaLnBrk="1" hangingPunct="1"/>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endParaRPr lang="en-US" altLang="zh-CN" b="1" dirty="0"/>
          </a:p>
          <a:p>
            <a:pPr lvl="1" eaLnBrk="1" hangingPunct="1"/>
            <a:endParaRPr lang="en-US" altLang="zh-CN" sz="2000" b="1" dirty="0"/>
          </a:p>
          <a:p>
            <a:pPr lvl="1" eaLnBrk="1" hangingPunct="1"/>
            <a:r>
              <a:rPr lang="zh-CN" altLang="en-US" sz="2000" b="1" dirty="0"/>
              <a:t>位运算属于数值运算。</a:t>
            </a:r>
            <a:endParaRPr lang="en-US" altLang="zh-CN" sz="2000" b="1" dirty="0"/>
          </a:p>
          <a:p>
            <a:pPr lvl="1" eaLnBrk="1" hangingPunct="1"/>
            <a:endParaRPr lang="en-US" altLang="zh-CN" sz="2000" b="1" dirty="0"/>
          </a:p>
          <a:p>
            <a:pPr marL="914400" lvl="1" indent="-457200" eaLnBrk="1" hangingPunct="1">
              <a:buFont typeface="+mj-ea"/>
              <a:buAutoNum type="circleNumDbPlain"/>
            </a:pPr>
            <a:r>
              <a:rPr lang="en-US" altLang="zh-CN" sz="2000" b="1" dirty="0"/>
              <a:t>&amp;</a:t>
            </a:r>
            <a:r>
              <a:rPr lang="zh-CN" altLang="en-US" sz="2000" b="1" dirty="0"/>
              <a:t>   与</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或</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非（取反）</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异或</a:t>
            </a:r>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DB5503AA-B9C4-4C85-900E-2EBA65C4A94E}"/>
              </a:ext>
            </a:extLst>
          </p:cNvPr>
          <p:cNvPicPr>
            <a:picLocks noChangeAspect="1"/>
          </p:cNvPicPr>
          <p:nvPr/>
        </p:nvPicPr>
        <p:blipFill>
          <a:blip r:embed="rId2"/>
          <a:stretch>
            <a:fillRect/>
          </a:stretch>
        </p:blipFill>
        <p:spPr>
          <a:xfrm>
            <a:off x="611560" y="2859284"/>
            <a:ext cx="2905341" cy="3724078"/>
          </a:xfrm>
          <a:prstGeom prst="rect">
            <a:avLst/>
          </a:prstGeom>
        </p:spPr>
      </p:pic>
      <p:sp>
        <p:nvSpPr>
          <p:cNvPr id="11" name="标题 10">
            <a:extLst>
              <a:ext uri="{FF2B5EF4-FFF2-40B4-BE49-F238E27FC236}">
                <a16:creationId xmlns:a16="http://schemas.microsoft.com/office/drawing/2014/main" id="{C1E82F95-A38D-493C-BA04-A7242C0FCECF}"/>
              </a:ext>
            </a:extLst>
          </p:cNvPr>
          <p:cNvSpPr>
            <a:spLocks noGrp="1"/>
          </p:cNvSpPr>
          <p:nvPr>
            <p:ph type="title"/>
          </p:nvPr>
        </p:nvSpPr>
        <p:spPr/>
        <p:txBody>
          <a:bodyPr/>
          <a:lstStyle/>
          <a:p>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br>
              <a:rPr lang="en-US" altLang="zh-CN" b="1" dirty="0"/>
            </a:b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48953" y="1104148"/>
            <a:ext cx="8229600" cy="725793"/>
          </a:xfrm>
        </p:spPr>
        <p:txBody>
          <a:bodyPr/>
          <a:lstStyle/>
          <a:p>
            <a:pPr lvl="1"/>
            <a:r>
              <a:rPr lang="en-US" altLang="zh-CN" sz="2000" b="1" dirty="0"/>
              <a:t>C</a:t>
            </a:r>
            <a:r>
              <a:rPr lang="zh-CN" altLang="en-US" sz="2000" b="1" dirty="0"/>
              <a:t>语言中位运算和汇编代码的对应关系：</a:t>
            </a:r>
            <a:endParaRPr lang="en-US" altLang="zh-CN" sz="2000" b="1" dirty="0"/>
          </a:p>
          <a:p>
            <a:pPr lvl="1"/>
            <a:r>
              <a:rPr lang="en-US" altLang="zh-CN" sz="1600" b="1" dirty="0">
                <a:solidFill>
                  <a:srgbClr val="C00000"/>
                </a:solidFill>
                <a:hlinkClick r:id="rId3"/>
              </a:rPr>
              <a:t>AT&amp;T</a:t>
            </a:r>
            <a:r>
              <a:rPr lang="zh-CN" altLang="en-US" sz="1600" b="1" dirty="0">
                <a:solidFill>
                  <a:srgbClr val="C00000"/>
                </a:solidFill>
                <a:hlinkClick r:id="rId3"/>
              </a:rPr>
              <a:t>汇编语言 </a:t>
            </a:r>
            <a:endParaRPr lang="zh-CN" altLang="en-US" sz="1600" b="1" dirty="0"/>
          </a:p>
        </p:txBody>
      </p:sp>
      <p:grpSp>
        <p:nvGrpSpPr>
          <p:cNvPr id="2" name="组合 1">
            <a:extLst>
              <a:ext uri="{FF2B5EF4-FFF2-40B4-BE49-F238E27FC236}">
                <a16:creationId xmlns:a16="http://schemas.microsoft.com/office/drawing/2014/main" id="{B398AF04-3E2F-48C7-BAFD-298DCD2C134B}"/>
              </a:ext>
            </a:extLst>
          </p:cNvPr>
          <p:cNvGrpSpPr/>
          <p:nvPr/>
        </p:nvGrpSpPr>
        <p:grpSpPr>
          <a:xfrm>
            <a:off x="3507114" y="3132370"/>
            <a:ext cx="5264326" cy="1590691"/>
            <a:chOff x="4177099" y="2107998"/>
            <a:chExt cx="5264326" cy="1590691"/>
          </a:xfrm>
        </p:grpSpPr>
        <p:sp>
          <p:nvSpPr>
            <p:cNvPr id="5" name="文本框 4">
              <a:extLst>
                <a:ext uri="{FF2B5EF4-FFF2-40B4-BE49-F238E27FC236}">
                  <a16:creationId xmlns:a16="http://schemas.microsoft.com/office/drawing/2014/main" id="{5D56B98A-FCFF-4273-BE46-70E430CCAF2F}"/>
                </a:ext>
              </a:extLst>
            </p:cNvPr>
            <p:cNvSpPr txBox="1"/>
            <p:nvPr/>
          </p:nvSpPr>
          <p:spPr>
            <a:xfrm>
              <a:off x="4186886" y="2107998"/>
              <a:ext cx="350839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0xc+</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err="1">
                  <a:latin typeface="+mj-lt"/>
                  <a:ea typeface="微软雅黑" panose="020B0503020204020204" pitchFamily="34" charset="-122"/>
                </a:rPr>
                <a:t>i</a:t>
              </a:r>
              <a:r>
                <a:rPr lang="en-US" altLang="zh-CN" sz="1400" b="1" dirty="0">
                  <a:latin typeface="+mj-lt"/>
                  <a:ea typeface="微软雅黑" panose="020B0503020204020204" pitchFamily="34" charset="-122"/>
                </a:rPr>
                <a:t>=1</a:t>
              </a:r>
              <a:r>
                <a:rPr lang="zh-CN" altLang="en-US" sz="1400" b="1" dirty="0">
                  <a:latin typeface="+mj-lt"/>
                  <a:ea typeface="微软雅黑" panose="020B0503020204020204" pitchFamily="34" charset="-122"/>
                </a:rPr>
                <a:t>）</a:t>
              </a:r>
            </a:p>
          </p:txBody>
        </p:sp>
        <p:sp>
          <p:nvSpPr>
            <p:cNvPr id="6" name="文本框 5">
              <a:extLst>
                <a:ext uri="{FF2B5EF4-FFF2-40B4-BE49-F238E27FC236}">
                  <a16:creationId xmlns:a16="http://schemas.microsoft.com/office/drawing/2014/main" id="{668DA350-41C5-49BD-BC58-958E869F7F19}"/>
                </a:ext>
              </a:extLst>
            </p:cNvPr>
            <p:cNvSpPr txBox="1"/>
            <p:nvPr/>
          </p:nvSpPr>
          <p:spPr>
            <a:xfrm>
              <a:off x="4186886" y="2500935"/>
              <a:ext cx="363913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0x8+</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a:latin typeface="+mj-lt"/>
                  <a:ea typeface="微软雅黑" panose="020B0503020204020204" pitchFamily="34" charset="-122"/>
                </a:rPr>
                <a:t>j=-1</a:t>
              </a:r>
              <a:r>
                <a:rPr lang="zh-CN" altLang="en-US" sz="1400" b="1" dirty="0">
                  <a:latin typeface="+mj-lt"/>
                  <a:ea typeface="微软雅黑" panose="020B0503020204020204" pitchFamily="34" charset="-122"/>
                </a:rPr>
                <a:t>）</a:t>
              </a:r>
            </a:p>
          </p:txBody>
        </p:sp>
        <p:sp>
          <p:nvSpPr>
            <p:cNvPr id="7" name="文本框 6">
              <a:extLst>
                <a:ext uri="{FF2B5EF4-FFF2-40B4-BE49-F238E27FC236}">
                  <a16:creationId xmlns:a16="http://schemas.microsoft.com/office/drawing/2014/main" id="{5E1B5B2F-962E-4D62-8E45-40FAEDE5EE2C}"/>
                </a:ext>
              </a:extLst>
            </p:cNvPr>
            <p:cNvSpPr txBox="1"/>
            <p:nvPr/>
          </p:nvSpPr>
          <p:spPr>
            <a:xfrm>
              <a:off x="4177099" y="2997975"/>
              <a:ext cx="365991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0x8+esp</a:t>
              </a:r>
              <a:r>
                <a:rPr lang="zh-CN" altLang="en-US" sz="1400" b="1" dirty="0">
                  <a:latin typeface="+mj-lt"/>
                  <a:ea typeface="微软雅黑" panose="020B0503020204020204" pitchFamily="34" charset="-122"/>
                </a:rPr>
                <a:t>地址单元内数据（</a:t>
              </a:r>
              <a:r>
                <a:rPr lang="en-US" altLang="zh-CN" sz="1400" b="1" dirty="0">
                  <a:latin typeface="+mj-lt"/>
                  <a:ea typeface="微软雅黑" panose="020B0503020204020204" pitchFamily="34" charset="-122"/>
                </a:rPr>
                <a:t>j</a:t>
              </a:r>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 -&gt; </a:t>
              </a:r>
              <a:r>
                <a:rPr lang="en-US" altLang="zh-CN" sz="1400" b="1" dirty="0" err="1">
                  <a:latin typeface="+mj-lt"/>
                  <a:ea typeface="微软雅黑" panose="020B0503020204020204" pitchFamily="34" charset="-122"/>
                </a:rPr>
                <a:t>eax</a:t>
              </a:r>
              <a:r>
                <a:rPr lang="zh-CN" altLang="en-US" sz="1400" b="1" dirty="0">
                  <a:latin typeface="+mj-lt"/>
                  <a:ea typeface="微软雅黑" panose="020B0503020204020204" pitchFamily="34" charset="-122"/>
                </a:rPr>
                <a:t>寄存器</a:t>
              </a:r>
            </a:p>
          </p:txBody>
        </p:sp>
        <p:sp>
          <p:nvSpPr>
            <p:cNvPr id="8" name="文本框 7">
              <a:extLst>
                <a:ext uri="{FF2B5EF4-FFF2-40B4-BE49-F238E27FC236}">
                  <a16:creationId xmlns:a16="http://schemas.microsoft.com/office/drawing/2014/main" id="{9E08EAE6-5DEE-4998-B036-068BFF452BBD}"/>
                </a:ext>
              </a:extLst>
            </p:cNvPr>
            <p:cNvSpPr txBox="1"/>
            <p:nvPr/>
          </p:nvSpPr>
          <p:spPr>
            <a:xfrm>
              <a:off x="4177099" y="3390912"/>
              <a:ext cx="526432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err="1">
                  <a:latin typeface="+mj-lt"/>
                  <a:ea typeface="微软雅黑" panose="020B0503020204020204" pitchFamily="34" charset="-122"/>
                </a:rPr>
                <a:t>eax</a:t>
              </a:r>
              <a:r>
                <a:rPr lang="en-US" altLang="zh-CN" sz="1400" b="1" dirty="0">
                  <a:latin typeface="+mj-lt"/>
                  <a:ea typeface="微软雅黑" panose="020B0503020204020204" pitchFamily="34" charset="-122"/>
                </a:rPr>
                <a:t> </a:t>
              </a:r>
              <a:r>
                <a:rPr lang="zh-CN" altLang="en-US" sz="1400" b="1" dirty="0">
                  <a:solidFill>
                    <a:srgbClr val="C00000"/>
                  </a:solidFill>
                  <a:latin typeface="+mj-lt"/>
                  <a:ea typeface="微软雅黑" panose="020B0503020204020204" pitchFamily="34" charset="-122"/>
                </a:rPr>
                <a:t>与 </a:t>
              </a:r>
              <a:r>
                <a:rPr lang="en-US" altLang="zh-CN" sz="1400" b="1" dirty="0">
                  <a:latin typeface="+mj-lt"/>
                  <a:ea typeface="微软雅黑" panose="020B0503020204020204" pitchFamily="34" charset="-122"/>
                </a:rPr>
                <a:t>0xc+esp</a:t>
              </a:r>
              <a:r>
                <a:rPr lang="zh-CN" altLang="en-US" sz="1400" b="1" dirty="0">
                  <a:latin typeface="+mj-lt"/>
                  <a:ea typeface="微软雅黑" panose="020B0503020204020204" pitchFamily="34" charset="-122"/>
                </a:rPr>
                <a:t>存储单元数据（</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）操作后</a:t>
              </a:r>
              <a:r>
                <a:rPr lang="en-US" altLang="zh-CN" sz="1400" b="1" dirty="0">
                  <a:latin typeface="+mj-lt"/>
                  <a:ea typeface="微软雅黑" panose="020B0503020204020204" pitchFamily="34" charset="-122"/>
                </a:rPr>
                <a:t> -&gt; 0xc</a:t>
              </a:r>
              <a:r>
                <a:rPr lang="zh-CN" altLang="en-US" sz="1400" b="1" dirty="0">
                  <a:latin typeface="+mj-lt"/>
                  <a:ea typeface="微软雅黑" panose="020B0503020204020204" pitchFamily="34" charset="-122"/>
                </a:rPr>
                <a:t>存储单元（</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a:t>
              </a:r>
            </a:p>
          </p:txBody>
        </p:sp>
      </p:grpSp>
      <p:sp>
        <p:nvSpPr>
          <p:cNvPr id="25" name="对话气泡: 圆角矩形 24">
            <a:extLst>
              <a:ext uri="{FF2B5EF4-FFF2-40B4-BE49-F238E27FC236}">
                <a16:creationId xmlns:a16="http://schemas.microsoft.com/office/drawing/2014/main" id="{65026C9A-8A91-4734-85FE-F209FF11732B}"/>
              </a:ext>
            </a:extLst>
          </p:cNvPr>
          <p:cNvSpPr/>
          <p:nvPr/>
        </p:nvSpPr>
        <p:spPr>
          <a:xfrm>
            <a:off x="2800490" y="1740533"/>
            <a:ext cx="3434546" cy="938170"/>
          </a:xfrm>
          <a:prstGeom prst="wedgeRoundRectCallout">
            <a:avLst>
              <a:gd name="adj1" fmla="val -40547"/>
              <a:gd name="adj2" fmla="val 8024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dirty="0"/>
              <a:t>第一操作数为源</a:t>
            </a:r>
            <a:endParaRPr lang="en-US" altLang="zh-CN" sz="1600" dirty="0"/>
          </a:p>
          <a:p>
            <a:r>
              <a:rPr lang="zh-CN" altLang="en-US" sz="1600" dirty="0"/>
              <a:t>第二为目的</a:t>
            </a:r>
            <a:endParaRPr lang="en-US" altLang="zh-CN" sz="1600" dirty="0"/>
          </a:p>
          <a:p>
            <a:r>
              <a:rPr lang="zh-CN" altLang="en-US" sz="1600" dirty="0"/>
              <a:t>立即数加</a:t>
            </a:r>
            <a:r>
              <a:rPr lang="en-US" altLang="zh-CN" sz="1600" dirty="0"/>
              <a:t>$,</a:t>
            </a:r>
            <a:r>
              <a:rPr lang="zh-CN" altLang="en-US" sz="1600" dirty="0"/>
              <a:t>寄存器加</a:t>
            </a:r>
            <a:r>
              <a:rPr lang="en-US" altLang="zh-CN" sz="1600" dirty="0"/>
              <a:t>%</a:t>
            </a:r>
            <a:endParaRPr lang="zh-CN" altLang="en-US" sz="1600" dirty="0"/>
          </a:p>
        </p:txBody>
      </p:sp>
      <p:sp>
        <p:nvSpPr>
          <p:cNvPr id="26" name="对话气泡: 圆角矩形 25">
            <a:extLst>
              <a:ext uri="{FF2B5EF4-FFF2-40B4-BE49-F238E27FC236}">
                <a16:creationId xmlns:a16="http://schemas.microsoft.com/office/drawing/2014/main" id="{AA21B4A7-79CA-4023-AEE6-18D06C6EEA55}"/>
              </a:ext>
            </a:extLst>
          </p:cNvPr>
          <p:cNvSpPr/>
          <p:nvPr/>
        </p:nvSpPr>
        <p:spPr>
          <a:xfrm>
            <a:off x="273506" y="1805273"/>
            <a:ext cx="1725178" cy="828912"/>
          </a:xfrm>
          <a:prstGeom prst="wedgeRoundRectCallout">
            <a:avLst>
              <a:gd name="adj1" fmla="val 62186"/>
              <a:gd name="adj2" fmla="val 8860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t>l</a:t>
            </a:r>
            <a:r>
              <a:rPr lang="zh-CN" altLang="en-US" sz="1600" dirty="0"/>
              <a:t>表示</a:t>
            </a:r>
            <a:r>
              <a:rPr lang="en-US" altLang="zh-CN" sz="1600" dirty="0"/>
              <a:t>long 32bit</a:t>
            </a:r>
          </a:p>
          <a:p>
            <a:pPr algn="ctr"/>
            <a:r>
              <a:rPr lang="en-US" altLang="zh-CN" sz="1600" dirty="0"/>
              <a:t>w</a:t>
            </a:r>
            <a:r>
              <a:rPr lang="zh-CN" altLang="en-US" sz="1600" dirty="0"/>
              <a:t>表示字</a:t>
            </a:r>
            <a:r>
              <a:rPr lang="en-US" altLang="zh-CN" sz="1600" dirty="0"/>
              <a:t>16bit</a:t>
            </a:r>
          </a:p>
          <a:p>
            <a:pPr algn="ctr"/>
            <a:r>
              <a:rPr lang="en-US" altLang="zh-CN" sz="1600" dirty="0"/>
              <a:t>b</a:t>
            </a:r>
            <a:r>
              <a:rPr lang="zh-CN" altLang="en-US" sz="1600" dirty="0"/>
              <a:t>表示字节</a:t>
            </a:r>
            <a:r>
              <a:rPr lang="en-US" altLang="zh-CN" sz="1600" dirty="0"/>
              <a:t>8bit</a:t>
            </a:r>
          </a:p>
        </p:txBody>
      </p:sp>
      <p:sp>
        <p:nvSpPr>
          <p:cNvPr id="4" name="文本框 3">
            <a:extLst>
              <a:ext uri="{FF2B5EF4-FFF2-40B4-BE49-F238E27FC236}">
                <a16:creationId xmlns:a16="http://schemas.microsoft.com/office/drawing/2014/main" id="{27D11CE2-6858-4CA3-A00C-2B33DC4CA05D}"/>
              </a:ext>
            </a:extLst>
          </p:cNvPr>
          <p:cNvSpPr txBox="1"/>
          <p:nvPr/>
        </p:nvSpPr>
        <p:spPr>
          <a:xfrm>
            <a:off x="2445475" y="3440147"/>
            <a:ext cx="355015" cy="369332"/>
          </a:xfrm>
          <a:prstGeom prst="rect">
            <a:avLst/>
          </a:prstGeom>
          <a:noFill/>
        </p:spPr>
        <p:txBody>
          <a:bodyPr wrap="square" rtlCol="0">
            <a:spAutoFit/>
          </a:bodyPr>
          <a:lstStyle/>
          <a:p>
            <a:r>
              <a:rPr lang="en-US" altLang="zh-CN" dirty="0"/>
              <a:t>f</a:t>
            </a:r>
            <a:endParaRPr lang="zh-CN" altLang="en-US" dirty="0"/>
          </a:p>
        </p:txBody>
      </p:sp>
    </p:spTree>
    <p:extLst>
      <p:ext uri="{BB962C8B-B14F-4D97-AF65-F5344CB8AC3E}">
        <p14:creationId xmlns:p14="http://schemas.microsoft.com/office/powerpoint/2010/main" val="575411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6684F-3D18-447C-8B1F-BFAFD974F72D}"/>
              </a:ext>
            </a:extLst>
          </p:cNvPr>
          <p:cNvSpPr>
            <a:spLocks noGrp="1"/>
          </p:cNvSpPr>
          <p:nvPr>
            <p:ph type="title"/>
          </p:nvPr>
        </p:nvSpPr>
        <p:spPr/>
        <p:txBody>
          <a:bodyPr/>
          <a:lstStyle/>
          <a:p>
            <a:r>
              <a:rPr lang="en-US" altLang="zh-CN" b="1" dirty="0">
                <a:ea typeface="黑体" pitchFamily="49" charset="-122"/>
              </a:rPr>
              <a:t>3.1.2  C</a:t>
            </a:r>
            <a:r>
              <a:rPr lang="zh-CN" altLang="en-US" b="1" dirty="0">
                <a:ea typeface="黑体" pitchFamily="49" charset="-122"/>
              </a:rPr>
              <a:t>语言中的逻辑运算</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863714"/>
            <a:ext cx="8229600" cy="2215531"/>
          </a:xfrm>
        </p:spPr>
        <p:txBody>
          <a:bodyPr rtlCol="0">
            <a:normAutofit/>
          </a:bodyPr>
          <a:lstStyle/>
          <a:p>
            <a:pPr lvl="1" eaLnBrk="1" hangingPunct="1"/>
            <a:r>
              <a:rPr lang="zh-CN" altLang="en-US" sz="2000" b="1" dirty="0"/>
              <a:t>逻辑运算属于非数值运算，所有参与运算的数以及</a:t>
            </a:r>
            <a:r>
              <a:rPr lang="zh-CN" altLang="en-US" sz="2000" b="1" dirty="0">
                <a:solidFill>
                  <a:srgbClr val="C00000"/>
                </a:solidFill>
              </a:rPr>
              <a:t>运算结果只有</a:t>
            </a:r>
            <a:r>
              <a:rPr lang="en-US" altLang="zh-CN" sz="2000" b="1" dirty="0">
                <a:solidFill>
                  <a:srgbClr val="C00000"/>
                </a:solidFill>
              </a:rPr>
              <a:t>0</a:t>
            </a:r>
            <a:r>
              <a:rPr lang="zh-CN" altLang="en-US" sz="2000" b="1" dirty="0">
                <a:solidFill>
                  <a:srgbClr val="C00000"/>
                </a:solidFill>
              </a:rPr>
              <a:t>、</a:t>
            </a:r>
            <a:r>
              <a:rPr lang="en-US" altLang="zh-CN" sz="2000" b="1" dirty="0">
                <a:solidFill>
                  <a:srgbClr val="C00000"/>
                </a:solidFill>
              </a:rPr>
              <a:t>1</a:t>
            </a:r>
            <a:r>
              <a:rPr lang="zh-CN" altLang="en-US" sz="2000" b="1" dirty="0">
                <a:solidFill>
                  <a:srgbClr val="C00000"/>
                </a:solidFill>
              </a:rPr>
              <a:t>两个值</a:t>
            </a:r>
            <a:r>
              <a:rPr lang="zh-CN" altLang="en-US" sz="2000" b="1" dirty="0"/>
              <a:t>。所有</a:t>
            </a:r>
            <a:r>
              <a:rPr lang="zh-CN" altLang="en-US" sz="2000" b="1" dirty="0">
                <a:highlight>
                  <a:srgbClr val="FFFF00"/>
                </a:highlight>
              </a:rPr>
              <a:t>非</a:t>
            </a:r>
            <a:r>
              <a:rPr lang="en-US" altLang="zh-CN" sz="2000" b="1" dirty="0">
                <a:highlight>
                  <a:srgbClr val="FFFF00"/>
                </a:highlight>
              </a:rPr>
              <a:t>0</a:t>
            </a:r>
            <a:r>
              <a:rPr lang="zh-CN" altLang="en-US" sz="2000" b="1" dirty="0">
                <a:highlight>
                  <a:srgbClr val="FFFF00"/>
                </a:highlight>
              </a:rPr>
              <a:t>值都当做</a:t>
            </a:r>
            <a:r>
              <a:rPr lang="en-US" altLang="zh-CN" sz="2000" b="1" dirty="0">
                <a:highlight>
                  <a:srgbClr val="FFFF00"/>
                </a:highlight>
              </a:rPr>
              <a:t>1</a:t>
            </a:r>
            <a:r>
              <a:rPr lang="zh-CN" altLang="en-US" sz="2000" b="1" dirty="0">
                <a:highlight>
                  <a:srgbClr val="FFFF00"/>
                </a:highlight>
              </a:rPr>
              <a:t>处理</a:t>
            </a:r>
            <a:r>
              <a:rPr lang="zh-CN" altLang="en-US" sz="2000" b="1" dirty="0"/>
              <a:t>。</a:t>
            </a:r>
            <a:endParaRPr lang="en-US" altLang="zh-CN" sz="2000" b="1" dirty="0"/>
          </a:p>
          <a:p>
            <a:pPr marL="1314450" lvl="2" indent="-457200" eaLnBrk="1" hangingPunct="1">
              <a:buFont typeface="+mj-ea"/>
              <a:buAutoNum type="circleNumDbPlain"/>
            </a:pPr>
            <a:r>
              <a:rPr lang="en-US" altLang="zh-CN" sz="1600" b="1" dirty="0"/>
              <a:t>&amp;&amp;</a:t>
            </a:r>
            <a:r>
              <a:rPr lang="zh-CN" altLang="en-US" sz="1600" b="1" dirty="0"/>
              <a:t>   与</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或</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非</a:t>
            </a:r>
            <a:endParaRPr lang="en-US" altLang="zh-CN" sz="1600" b="1" dirty="0"/>
          </a:p>
          <a:p>
            <a:pPr marL="1314450" lvl="2" indent="-457200" eaLnBrk="1" hangingPunct="1">
              <a:buFont typeface="+mj-ea"/>
              <a:buAutoNum type="circleNumDbPlain"/>
            </a:pPr>
            <a:endParaRPr lang="en-US" altLang="zh-CN" sz="1600" b="1" dirty="0"/>
          </a:p>
          <a:p>
            <a:pPr lvl="1" eaLnBrk="1" hangingPunct="1"/>
            <a:endParaRPr lang="en-US" altLang="zh-CN" sz="2000" b="1" dirty="0"/>
          </a:p>
          <a:p>
            <a:pPr lvl="2" eaLnBrk="1" fontAlgn="auto" hangingPunct="1">
              <a:spcAft>
                <a:spcPts val="0"/>
              </a:spcAft>
              <a:defRPr/>
            </a:pPr>
            <a:endParaRPr lang="en-US" altLang="zh-CN" sz="2000" b="1" dirty="0"/>
          </a:p>
          <a:p>
            <a:pPr lvl="2" eaLnBrk="1" fontAlgn="auto" hangingPunct="1">
              <a:spcAft>
                <a:spcPts val="0"/>
              </a:spcAft>
              <a:defRPr/>
            </a:pPr>
            <a:endParaRPr lang="en-US" altLang="zh-CN" sz="1400" b="1" dirty="0"/>
          </a:p>
        </p:txBody>
      </p:sp>
      <p:sp>
        <p:nvSpPr>
          <p:cNvPr id="5" name="文本框 4">
            <a:extLst>
              <a:ext uri="{FF2B5EF4-FFF2-40B4-BE49-F238E27FC236}">
                <a16:creationId xmlns:a16="http://schemas.microsoft.com/office/drawing/2014/main" id="{81342F8B-8B18-4D71-94E7-C415A0D15E24}"/>
              </a:ext>
            </a:extLst>
          </p:cNvPr>
          <p:cNvSpPr txBox="1"/>
          <p:nvPr/>
        </p:nvSpPr>
        <p:spPr>
          <a:xfrm>
            <a:off x="827584" y="2636912"/>
            <a:ext cx="6674229"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t>C</a:t>
            </a:r>
            <a:r>
              <a:rPr lang="zh-CN" altLang="en-US" b="1" dirty="0"/>
              <a:t>语言中逻辑运算和汇编代码的对应关系：</a:t>
            </a:r>
            <a:endParaRPr lang="zh-CN" altLang="en-US" sz="1400" b="1" dirty="0"/>
          </a:p>
        </p:txBody>
      </p:sp>
      <p:pic>
        <p:nvPicPr>
          <p:cNvPr id="8" name="图片 7">
            <a:extLst>
              <a:ext uri="{FF2B5EF4-FFF2-40B4-BE49-F238E27FC236}">
                <a16:creationId xmlns:a16="http://schemas.microsoft.com/office/drawing/2014/main" id="{784DCE8C-5DF8-42F7-9B9E-B21F0017ADDA}"/>
              </a:ext>
            </a:extLst>
          </p:cNvPr>
          <p:cNvPicPr>
            <a:picLocks noChangeAspect="1"/>
          </p:cNvPicPr>
          <p:nvPr/>
        </p:nvPicPr>
        <p:blipFill>
          <a:blip r:embed="rId2"/>
          <a:stretch>
            <a:fillRect/>
          </a:stretch>
        </p:blipFill>
        <p:spPr>
          <a:xfrm>
            <a:off x="1187624" y="3079245"/>
            <a:ext cx="3124456" cy="3047625"/>
          </a:xfrm>
          <a:prstGeom prst="rect">
            <a:avLst/>
          </a:prstGeom>
        </p:spPr>
      </p:pic>
      <p:sp>
        <p:nvSpPr>
          <p:cNvPr id="11" name="文本框 10">
            <a:extLst>
              <a:ext uri="{FF2B5EF4-FFF2-40B4-BE49-F238E27FC236}">
                <a16:creationId xmlns:a16="http://schemas.microsoft.com/office/drawing/2014/main" id="{12AEC438-CFE7-487C-9EEF-ECFE4CE8C2FC}"/>
              </a:ext>
            </a:extLst>
          </p:cNvPr>
          <p:cNvSpPr txBox="1"/>
          <p:nvPr/>
        </p:nvSpPr>
        <p:spPr>
          <a:xfrm>
            <a:off x="4067944" y="4223611"/>
            <a:ext cx="313970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0xcz+esp</a:t>
            </a:r>
            <a:r>
              <a:rPr lang="zh-CN" altLang="en-US" sz="1400" b="1" dirty="0"/>
              <a:t>存储单元（</a:t>
            </a:r>
            <a:r>
              <a:rPr lang="en-US" altLang="zh-CN" sz="1400" b="1" dirty="0"/>
              <a:t>i</a:t>
            </a:r>
            <a:r>
              <a:rPr lang="zh-CN" altLang="en-US" sz="1400" b="1" dirty="0"/>
              <a:t>）与</a:t>
            </a:r>
            <a:r>
              <a:rPr lang="en-US" altLang="zh-CN" sz="1400" b="1" dirty="0"/>
              <a:t>0</a:t>
            </a:r>
            <a:r>
              <a:rPr lang="zh-CN" altLang="en-US" sz="1400" b="1" dirty="0"/>
              <a:t>进行比较</a:t>
            </a:r>
          </a:p>
        </p:txBody>
      </p:sp>
      <p:sp>
        <p:nvSpPr>
          <p:cNvPr id="12" name="文本框 11">
            <a:extLst>
              <a:ext uri="{FF2B5EF4-FFF2-40B4-BE49-F238E27FC236}">
                <a16:creationId xmlns:a16="http://schemas.microsoft.com/office/drawing/2014/main" id="{02ED1429-1431-4C6F-896E-8BCD655C8522}"/>
              </a:ext>
            </a:extLst>
          </p:cNvPr>
          <p:cNvSpPr txBox="1"/>
          <p:nvPr/>
        </p:nvSpPr>
        <p:spPr>
          <a:xfrm>
            <a:off x="4067944" y="4531388"/>
            <a:ext cx="351891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err="1"/>
              <a:t>i</a:t>
            </a:r>
            <a:r>
              <a:rPr lang="en-US" altLang="zh-CN" sz="1400" b="1" dirty="0"/>
              <a:t>=0</a:t>
            </a:r>
            <a:r>
              <a:rPr lang="zh-CN" altLang="en-US" sz="1400" b="1" dirty="0"/>
              <a:t>）则转</a:t>
            </a:r>
            <a:r>
              <a:rPr lang="en-US" altLang="zh-CN" sz="1400" b="1" dirty="0"/>
              <a:t>0x401373 </a:t>
            </a:r>
            <a:r>
              <a:rPr lang="zh-CN" altLang="en-US" sz="1400" b="1" dirty="0"/>
              <a:t>；</a:t>
            </a:r>
            <a:r>
              <a:rPr lang="en-US" altLang="zh-CN" sz="1400" b="1" dirty="0">
                <a:highlight>
                  <a:srgbClr val="FFFF00"/>
                </a:highlight>
              </a:rPr>
              <a:t>51=33H</a:t>
            </a:r>
            <a:endParaRPr lang="zh-CN" altLang="en-US" sz="1400" b="1" dirty="0">
              <a:highlight>
                <a:srgbClr val="FFFF00"/>
              </a:highlight>
            </a:endParaRPr>
          </a:p>
        </p:txBody>
      </p:sp>
      <p:sp>
        <p:nvSpPr>
          <p:cNvPr id="13" name="文本框 12">
            <a:extLst>
              <a:ext uri="{FF2B5EF4-FFF2-40B4-BE49-F238E27FC236}">
                <a16:creationId xmlns:a16="http://schemas.microsoft.com/office/drawing/2014/main" id="{E59119FB-233E-4F47-85AF-B1F62853D104}"/>
              </a:ext>
            </a:extLst>
          </p:cNvPr>
          <p:cNvSpPr txBox="1"/>
          <p:nvPr/>
        </p:nvSpPr>
        <p:spPr>
          <a:xfrm>
            <a:off x="4067944" y="4823182"/>
            <a:ext cx="308930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）与</a:t>
            </a:r>
            <a:r>
              <a:rPr lang="en-US" altLang="zh-CN" sz="1400" b="1" dirty="0"/>
              <a:t>0</a:t>
            </a:r>
            <a:r>
              <a:rPr lang="zh-CN" altLang="en-US" sz="1400" b="1" dirty="0"/>
              <a:t>进行比较</a:t>
            </a:r>
          </a:p>
        </p:txBody>
      </p:sp>
      <p:sp>
        <p:nvSpPr>
          <p:cNvPr id="14" name="文本框 13">
            <a:extLst>
              <a:ext uri="{FF2B5EF4-FFF2-40B4-BE49-F238E27FC236}">
                <a16:creationId xmlns:a16="http://schemas.microsoft.com/office/drawing/2014/main" id="{4E17DAFF-DADC-4406-864A-4CBE0835F220}"/>
              </a:ext>
            </a:extLst>
          </p:cNvPr>
          <p:cNvSpPr txBox="1"/>
          <p:nvPr/>
        </p:nvSpPr>
        <p:spPr>
          <a:xfrm>
            <a:off x="4061417" y="5106288"/>
            <a:ext cx="274786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a:t>j=0</a:t>
            </a:r>
            <a:r>
              <a:rPr lang="zh-CN" altLang="en-US" sz="1400" b="1" dirty="0"/>
              <a:t>）则转</a:t>
            </a:r>
            <a:r>
              <a:rPr lang="en-US" altLang="zh-CN" sz="1400" b="1" dirty="0"/>
              <a:t>0x401373</a:t>
            </a:r>
            <a:endParaRPr lang="zh-CN" altLang="en-US" sz="1400" b="1" dirty="0"/>
          </a:p>
        </p:txBody>
      </p:sp>
      <p:sp>
        <p:nvSpPr>
          <p:cNvPr id="15" name="文本框 14">
            <a:extLst>
              <a:ext uri="{FF2B5EF4-FFF2-40B4-BE49-F238E27FC236}">
                <a16:creationId xmlns:a16="http://schemas.microsoft.com/office/drawing/2014/main" id="{303814FB-5745-4259-B067-152864404176}"/>
              </a:ext>
            </a:extLst>
          </p:cNvPr>
          <p:cNvSpPr txBox="1"/>
          <p:nvPr/>
        </p:nvSpPr>
        <p:spPr>
          <a:xfrm>
            <a:off x="4061417" y="5383545"/>
            <a:ext cx="327519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1</a:t>
            </a:r>
            <a:r>
              <a:rPr lang="en-US" altLang="zh-CN" sz="1400" b="1" dirty="0"/>
              <a:t> -&gt; </a:t>
            </a:r>
            <a:r>
              <a:rPr lang="en-US" altLang="zh-CN" sz="1400" b="1" dirty="0" err="1"/>
              <a:t>eax</a:t>
            </a:r>
            <a:r>
              <a:rPr lang="zh-CN" altLang="en-US" sz="1400" b="1" dirty="0"/>
              <a:t>寄存器；</a:t>
            </a:r>
            <a:r>
              <a:rPr lang="zh-CN" altLang="en-US" sz="1400" b="1" dirty="0">
                <a:solidFill>
                  <a:srgbClr val="C00000"/>
                </a:solidFill>
              </a:rPr>
              <a:t>确认非</a:t>
            </a:r>
            <a:r>
              <a:rPr lang="en-US" altLang="zh-CN" sz="1400" b="1" dirty="0">
                <a:solidFill>
                  <a:srgbClr val="C00000"/>
                </a:solidFill>
              </a:rPr>
              <a:t>0</a:t>
            </a:r>
            <a:r>
              <a:rPr lang="zh-CN" altLang="en-US" sz="1400" b="1" dirty="0">
                <a:solidFill>
                  <a:srgbClr val="C00000"/>
                </a:solidFill>
              </a:rPr>
              <a:t>后，结果置</a:t>
            </a:r>
            <a:r>
              <a:rPr lang="en-US" altLang="zh-CN" sz="1400" b="1" dirty="0">
                <a:solidFill>
                  <a:srgbClr val="C00000"/>
                </a:solidFill>
              </a:rPr>
              <a:t>1</a:t>
            </a:r>
            <a:endParaRPr lang="zh-CN" altLang="en-US" sz="1400" b="1" dirty="0">
              <a:solidFill>
                <a:srgbClr val="C00000"/>
              </a:solidFill>
            </a:endParaRPr>
          </a:p>
        </p:txBody>
      </p:sp>
      <p:sp>
        <p:nvSpPr>
          <p:cNvPr id="16" name="文本框 15">
            <a:extLst>
              <a:ext uri="{FF2B5EF4-FFF2-40B4-BE49-F238E27FC236}">
                <a16:creationId xmlns:a16="http://schemas.microsoft.com/office/drawing/2014/main" id="{43009B49-9F8F-42F8-86F5-F275CF1E123D}"/>
              </a:ext>
            </a:extLst>
          </p:cNvPr>
          <p:cNvSpPr txBox="1"/>
          <p:nvPr/>
        </p:nvSpPr>
        <p:spPr>
          <a:xfrm>
            <a:off x="4061417" y="5666651"/>
            <a:ext cx="1265090"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；转</a:t>
            </a:r>
            <a:r>
              <a:rPr lang="en-US" altLang="zh-CN" sz="1400" b="1" dirty="0"/>
              <a:t>0x401378</a:t>
            </a:r>
            <a:endParaRPr lang="zh-CN" altLang="en-US" sz="1400" b="1" dirty="0"/>
          </a:p>
        </p:txBody>
      </p:sp>
      <p:sp>
        <p:nvSpPr>
          <p:cNvPr id="17" name="文本框 16">
            <a:extLst>
              <a:ext uri="{FF2B5EF4-FFF2-40B4-BE49-F238E27FC236}">
                <a16:creationId xmlns:a16="http://schemas.microsoft.com/office/drawing/2014/main" id="{2D42D255-D920-4FE2-9CA8-7A31B31D186F}"/>
              </a:ext>
            </a:extLst>
          </p:cNvPr>
          <p:cNvSpPr txBox="1"/>
          <p:nvPr/>
        </p:nvSpPr>
        <p:spPr>
          <a:xfrm>
            <a:off x="5393048" y="5686509"/>
            <a:ext cx="147662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0</a:t>
            </a:r>
            <a:r>
              <a:rPr lang="en-US" altLang="zh-CN" sz="1400" b="1" dirty="0"/>
              <a:t> -&gt; </a:t>
            </a:r>
            <a:r>
              <a:rPr lang="en-US" altLang="zh-CN" sz="1400" b="1" dirty="0" err="1"/>
              <a:t>eax</a:t>
            </a:r>
            <a:r>
              <a:rPr lang="zh-CN" altLang="en-US" sz="1400" b="1" dirty="0"/>
              <a:t>寄存器</a:t>
            </a:r>
          </a:p>
        </p:txBody>
      </p:sp>
      <p:sp>
        <p:nvSpPr>
          <p:cNvPr id="18" name="文本框 17">
            <a:extLst>
              <a:ext uri="{FF2B5EF4-FFF2-40B4-BE49-F238E27FC236}">
                <a16:creationId xmlns:a16="http://schemas.microsoft.com/office/drawing/2014/main" id="{5F66EE00-D281-41FB-AD3C-0836BDEB2BA9}"/>
              </a:ext>
            </a:extLst>
          </p:cNvPr>
          <p:cNvSpPr txBox="1"/>
          <p:nvPr/>
        </p:nvSpPr>
        <p:spPr>
          <a:xfrm>
            <a:off x="4061417" y="5978669"/>
            <a:ext cx="256095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eax -&gt; 0xc+esp</a:t>
            </a:r>
            <a:r>
              <a:rPr lang="zh-CN" altLang="en-US" sz="1400" b="1" dirty="0"/>
              <a:t>存储单元（</a:t>
            </a:r>
            <a:r>
              <a:rPr lang="en-US" altLang="zh-CN" sz="1400" b="1" dirty="0" err="1"/>
              <a:t>i</a:t>
            </a:r>
            <a:r>
              <a:rPr lang="zh-CN" altLang="en-US" sz="1400" b="1" dirty="0"/>
              <a:t>）</a:t>
            </a:r>
          </a:p>
        </p:txBody>
      </p:sp>
    </p:spTree>
    <p:extLst>
      <p:ext uri="{BB962C8B-B14F-4D97-AF65-F5344CB8AC3E}">
        <p14:creationId xmlns:p14="http://schemas.microsoft.com/office/powerpoint/2010/main" val="141354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3E2F2D-94A9-4E3B-A879-D3B94A2387A3}"/>
              </a:ext>
            </a:extLst>
          </p:cNvPr>
          <p:cNvSpPr>
            <a:spLocks noGrp="1"/>
          </p:cNvSpPr>
          <p:nvPr>
            <p:ph type="title"/>
          </p:nvPr>
        </p:nvSpPr>
        <p:spPr>
          <a:xfrm>
            <a:off x="457200" y="274638"/>
            <a:ext cx="8229600" cy="814468"/>
          </a:xfrm>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28585" y="1092652"/>
            <a:ext cx="8229600" cy="1074593"/>
          </a:xfrm>
        </p:spPr>
        <p:txBody>
          <a:bodyPr rtlCol="0">
            <a:normAutofit/>
          </a:bodyPr>
          <a:lstStyle/>
          <a:p>
            <a:pPr marL="914400" lvl="1" indent="-457200" eaLnBrk="1" hangingPunct="1">
              <a:buFont typeface="+mj-ea"/>
              <a:buAutoNum type="circleNumDbPlain"/>
            </a:pPr>
            <a:r>
              <a:rPr lang="en-US" altLang="zh-CN" sz="1800" b="1" dirty="0"/>
              <a:t>&lt;&lt;</a:t>
            </a:r>
            <a:r>
              <a:rPr lang="zh-CN" altLang="en-US" sz="1800" b="1" dirty="0"/>
              <a:t>    左移，对应逻辑左移</a:t>
            </a:r>
            <a:endParaRPr lang="en-US" altLang="zh-CN" sz="1800" b="1" dirty="0"/>
          </a:p>
          <a:p>
            <a:pPr marL="914400" lvl="1" indent="-457200" eaLnBrk="1" hangingPunct="1">
              <a:buFont typeface="+mj-ea"/>
              <a:buAutoNum type="circleNumDbPlain"/>
            </a:pPr>
            <a:r>
              <a:rPr lang="en-US" altLang="zh-CN" sz="1800" b="1" dirty="0"/>
              <a:t>&gt;&gt;</a:t>
            </a:r>
            <a:r>
              <a:rPr lang="zh-CN" altLang="en-US" sz="1800" b="1" dirty="0"/>
              <a:t>    右移，如果是无符号数则是逻辑右移，如果是有符号数则是算术右移</a:t>
            </a:r>
            <a:endParaRPr lang="en-US" altLang="zh-CN" sz="1800" b="1" dirty="0"/>
          </a:p>
          <a:p>
            <a:pPr lvl="2" eaLnBrk="1" fontAlgn="auto" hangingPunct="1">
              <a:spcAft>
                <a:spcPts val="0"/>
              </a:spcAft>
              <a:defRPr/>
            </a:pPr>
            <a:endParaRPr lang="en-US" altLang="zh-CN" sz="1200" b="1" dirty="0"/>
          </a:p>
        </p:txBody>
      </p:sp>
      <p:grpSp>
        <p:nvGrpSpPr>
          <p:cNvPr id="22" name="组合 21">
            <a:extLst>
              <a:ext uri="{FF2B5EF4-FFF2-40B4-BE49-F238E27FC236}">
                <a16:creationId xmlns:a16="http://schemas.microsoft.com/office/drawing/2014/main" id="{3110A260-62BF-4332-BF74-A091C014B0E8}"/>
              </a:ext>
            </a:extLst>
          </p:cNvPr>
          <p:cNvGrpSpPr/>
          <p:nvPr/>
        </p:nvGrpSpPr>
        <p:grpSpPr>
          <a:xfrm>
            <a:off x="683568" y="2146443"/>
            <a:ext cx="8252136" cy="947920"/>
            <a:chOff x="196783" y="4594781"/>
            <a:chExt cx="8252136" cy="947920"/>
          </a:xfrm>
        </p:grpSpPr>
        <p:pic>
          <p:nvPicPr>
            <p:cNvPr id="4" name="图片 3">
              <a:extLst>
                <a:ext uri="{FF2B5EF4-FFF2-40B4-BE49-F238E27FC236}">
                  <a16:creationId xmlns:a16="http://schemas.microsoft.com/office/drawing/2014/main" id="{88920149-E963-4FE7-9EAC-0E6D440A3A55}"/>
                </a:ext>
              </a:extLst>
            </p:cNvPr>
            <p:cNvPicPr>
              <a:picLocks noChangeAspect="1"/>
            </p:cNvPicPr>
            <p:nvPr/>
          </p:nvPicPr>
          <p:blipFill>
            <a:blip r:embed="rId2"/>
            <a:stretch>
              <a:fillRect/>
            </a:stretch>
          </p:blipFill>
          <p:spPr>
            <a:xfrm>
              <a:off x="196783" y="5035795"/>
              <a:ext cx="2376264" cy="380027"/>
            </a:xfrm>
            <a:prstGeom prst="rect">
              <a:avLst/>
            </a:prstGeom>
          </p:spPr>
        </p:pic>
        <p:pic>
          <p:nvPicPr>
            <p:cNvPr id="6" name="图片 5">
              <a:extLst>
                <a:ext uri="{FF2B5EF4-FFF2-40B4-BE49-F238E27FC236}">
                  <a16:creationId xmlns:a16="http://schemas.microsoft.com/office/drawing/2014/main" id="{8B4A8136-D82D-43A9-8AF4-FE2EC167A8F7}"/>
                </a:ext>
              </a:extLst>
            </p:cNvPr>
            <p:cNvPicPr>
              <a:picLocks noChangeAspect="1"/>
            </p:cNvPicPr>
            <p:nvPr/>
          </p:nvPicPr>
          <p:blipFill>
            <a:blip r:embed="rId3"/>
            <a:stretch>
              <a:fillRect/>
            </a:stretch>
          </p:blipFill>
          <p:spPr>
            <a:xfrm>
              <a:off x="2915816" y="5039093"/>
              <a:ext cx="2647517" cy="402776"/>
            </a:xfrm>
            <a:prstGeom prst="rect">
              <a:avLst/>
            </a:prstGeom>
          </p:spPr>
        </p:pic>
        <p:pic>
          <p:nvPicPr>
            <p:cNvPr id="8" name="图片 7">
              <a:extLst>
                <a:ext uri="{FF2B5EF4-FFF2-40B4-BE49-F238E27FC236}">
                  <a16:creationId xmlns:a16="http://schemas.microsoft.com/office/drawing/2014/main" id="{1E460AB9-C456-4139-91E6-53B69A687279}"/>
                </a:ext>
              </a:extLst>
            </p:cNvPr>
            <p:cNvPicPr>
              <a:picLocks noChangeAspect="1"/>
            </p:cNvPicPr>
            <p:nvPr/>
          </p:nvPicPr>
          <p:blipFill>
            <a:blip r:embed="rId4"/>
            <a:stretch>
              <a:fillRect/>
            </a:stretch>
          </p:blipFill>
          <p:spPr>
            <a:xfrm>
              <a:off x="5873902" y="4938260"/>
              <a:ext cx="2575017" cy="604441"/>
            </a:xfrm>
            <a:prstGeom prst="rect">
              <a:avLst/>
            </a:prstGeom>
          </p:spPr>
        </p:pic>
        <p:sp>
          <p:nvSpPr>
            <p:cNvPr id="9" name="文本框 8">
              <a:extLst>
                <a:ext uri="{FF2B5EF4-FFF2-40B4-BE49-F238E27FC236}">
                  <a16:creationId xmlns:a16="http://schemas.microsoft.com/office/drawing/2014/main" id="{1D6B0416-459F-443F-8905-AC07EB0D5899}"/>
                </a:ext>
              </a:extLst>
            </p:cNvPr>
            <p:cNvSpPr txBox="1"/>
            <p:nvPr/>
          </p:nvSpPr>
          <p:spPr>
            <a:xfrm>
              <a:off x="772355" y="4594783"/>
              <a:ext cx="919326" cy="307777"/>
            </a:xfrm>
            <a:prstGeom prst="rect">
              <a:avLst/>
            </a:prstGeom>
            <a:noFill/>
          </p:spPr>
          <p:txBody>
            <a:bodyPr wrap="square" rtlCol="0">
              <a:spAutoFit/>
            </a:bodyPr>
            <a:lstStyle/>
            <a:p>
              <a:pPr algn="ctr"/>
              <a:r>
                <a:rPr lang="zh-CN" altLang="en-US" sz="1400" b="1" dirty="0"/>
                <a:t>逻辑左移</a:t>
              </a:r>
            </a:p>
          </p:txBody>
        </p:sp>
        <p:sp>
          <p:nvSpPr>
            <p:cNvPr id="10" name="文本框 9">
              <a:extLst>
                <a:ext uri="{FF2B5EF4-FFF2-40B4-BE49-F238E27FC236}">
                  <a16:creationId xmlns:a16="http://schemas.microsoft.com/office/drawing/2014/main" id="{436AF483-30A2-4F67-902B-55BCBDD202B0}"/>
                </a:ext>
              </a:extLst>
            </p:cNvPr>
            <p:cNvSpPr txBox="1"/>
            <p:nvPr/>
          </p:nvSpPr>
          <p:spPr>
            <a:xfrm>
              <a:off x="3853819" y="4594781"/>
              <a:ext cx="991333" cy="307777"/>
            </a:xfrm>
            <a:prstGeom prst="rect">
              <a:avLst/>
            </a:prstGeom>
            <a:noFill/>
          </p:spPr>
          <p:txBody>
            <a:bodyPr wrap="square" rtlCol="0">
              <a:spAutoFit/>
            </a:bodyPr>
            <a:lstStyle/>
            <a:p>
              <a:pPr algn="ctr"/>
              <a:r>
                <a:rPr lang="zh-CN" altLang="en-US" sz="1400" b="1" dirty="0"/>
                <a:t>逻辑右移</a:t>
              </a:r>
            </a:p>
          </p:txBody>
        </p:sp>
        <p:sp>
          <p:nvSpPr>
            <p:cNvPr id="11" name="文本框 10">
              <a:extLst>
                <a:ext uri="{FF2B5EF4-FFF2-40B4-BE49-F238E27FC236}">
                  <a16:creationId xmlns:a16="http://schemas.microsoft.com/office/drawing/2014/main" id="{7C7F52E0-9851-449A-B7AB-BC6E2CE870D4}"/>
                </a:ext>
              </a:extLst>
            </p:cNvPr>
            <p:cNvSpPr txBox="1"/>
            <p:nvPr/>
          </p:nvSpPr>
          <p:spPr>
            <a:xfrm>
              <a:off x="6839842" y="4594782"/>
              <a:ext cx="991333" cy="307777"/>
            </a:xfrm>
            <a:prstGeom prst="rect">
              <a:avLst/>
            </a:prstGeom>
            <a:noFill/>
          </p:spPr>
          <p:txBody>
            <a:bodyPr wrap="square" rtlCol="0">
              <a:spAutoFit/>
            </a:bodyPr>
            <a:lstStyle/>
            <a:p>
              <a:pPr algn="ctr"/>
              <a:r>
                <a:rPr lang="zh-CN" altLang="en-US" sz="1400" b="1" dirty="0"/>
                <a:t>算术右移</a:t>
              </a:r>
            </a:p>
          </p:txBody>
        </p:sp>
      </p:grpSp>
      <p:sp>
        <p:nvSpPr>
          <p:cNvPr id="12" name="文本框 11">
            <a:extLst>
              <a:ext uri="{FF2B5EF4-FFF2-40B4-BE49-F238E27FC236}">
                <a16:creationId xmlns:a16="http://schemas.microsoft.com/office/drawing/2014/main" id="{7BFC58C9-3097-4AAC-B9E1-FB6DC56BADBE}"/>
              </a:ext>
            </a:extLst>
          </p:cNvPr>
          <p:cNvSpPr txBox="1"/>
          <p:nvPr/>
        </p:nvSpPr>
        <p:spPr>
          <a:xfrm>
            <a:off x="457200" y="3047709"/>
            <a:ext cx="5675887" cy="369332"/>
          </a:xfrm>
          <a:prstGeom prst="rect">
            <a:avLst/>
          </a:prstGeom>
          <a:noFill/>
        </p:spPr>
        <p:txBody>
          <a:bodyPr wrap="square">
            <a:spAutoFit/>
          </a:bodyPr>
          <a:lstStyle/>
          <a:p>
            <a:pPr marL="742950" lvl="1" indent="-285750">
              <a:buFont typeface="Arial" panose="020B0604020202020204" pitchFamily="34" charset="0"/>
              <a:buChar char="•"/>
            </a:pPr>
            <a:r>
              <a:rPr lang="en-US" altLang="zh-CN" sz="1800" b="1" dirty="0"/>
              <a:t>C</a:t>
            </a:r>
            <a:r>
              <a:rPr lang="zh-CN" altLang="en-US" sz="1800" b="1" dirty="0"/>
              <a:t>语言中移位运算和汇编代码的对应关系：</a:t>
            </a:r>
            <a:endParaRPr lang="zh-CN" altLang="en-US" sz="1400" b="1" dirty="0"/>
          </a:p>
        </p:txBody>
      </p:sp>
      <p:pic>
        <p:nvPicPr>
          <p:cNvPr id="14" name="图片 13">
            <a:extLst>
              <a:ext uri="{FF2B5EF4-FFF2-40B4-BE49-F238E27FC236}">
                <a16:creationId xmlns:a16="http://schemas.microsoft.com/office/drawing/2014/main" id="{2D8FD2CB-AA00-4B7F-A8EF-85917A45876A}"/>
              </a:ext>
            </a:extLst>
          </p:cNvPr>
          <p:cNvPicPr>
            <a:picLocks noChangeAspect="1"/>
          </p:cNvPicPr>
          <p:nvPr/>
        </p:nvPicPr>
        <p:blipFill>
          <a:blip r:embed="rId5"/>
          <a:stretch>
            <a:fillRect/>
          </a:stretch>
        </p:blipFill>
        <p:spPr>
          <a:xfrm>
            <a:off x="845174" y="3616661"/>
            <a:ext cx="2773452" cy="3052699"/>
          </a:xfrm>
          <a:prstGeom prst="rect">
            <a:avLst/>
          </a:prstGeom>
        </p:spPr>
      </p:pic>
      <p:sp>
        <p:nvSpPr>
          <p:cNvPr id="16" name="文本框 15">
            <a:extLst>
              <a:ext uri="{FF2B5EF4-FFF2-40B4-BE49-F238E27FC236}">
                <a16:creationId xmlns:a16="http://schemas.microsoft.com/office/drawing/2014/main" id="{9AD01059-78A8-40AE-9D6C-B3E30B19F57C}"/>
              </a:ext>
            </a:extLst>
          </p:cNvPr>
          <p:cNvSpPr txBox="1"/>
          <p:nvPr/>
        </p:nvSpPr>
        <p:spPr>
          <a:xfrm>
            <a:off x="3711170" y="3562245"/>
            <a:ext cx="3223062"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-1 -&gt; 0xc+esp</a:t>
            </a:r>
            <a:r>
              <a:rPr lang="zh-CN" altLang="en-US" sz="1400" b="1" dirty="0"/>
              <a:t>对应的存储单元（</a:t>
            </a:r>
            <a:r>
              <a:rPr lang="en-US" altLang="zh-CN" sz="1400" b="1" dirty="0" err="1"/>
              <a:t>i</a:t>
            </a:r>
            <a:r>
              <a:rPr lang="en-US" altLang="zh-CN" sz="1400" b="1" dirty="0"/>
              <a:t>=-1</a:t>
            </a:r>
            <a:r>
              <a:rPr lang="zh-CN" altLang="en-US" sz="1400" b="1" dirty="0"/>
              <a:t>）</a:t>
            </a:r>
          </a:p>
        </p:txBody>
      </p:sp>
      <p:sp>
        <p:nvSpPr>
          <p:cNvPr id="17" name="文本框 16">
            <a:extLst>
              <a:ext uri="{FF2B5EF4-FFF2-40B4-BE49-F238E27FC236}">
                <a16:creationId xmlns:a16="http://schemas.microsoft.com/office/drawing/2014/main" id="{B85AD122-29D1-442D-B61B-31236EA5724E}"/>
              </a:ext>
            </a:extLst>
          </p:cNvPr>
          <p:cNvSpPr txBox="1"/>
          <p:nvPr/>
        </p:nvSpPr>
        <p:spPr>
          <a:xfrm>
            <a:off x="3660153" y="443080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逻辑左移</a:t>
            </a:r>
            <a:r>
              <a:rPr lang="en-US" altLang="zh-CN" sz="1400" b="1" dirty="0"/>
              <a:t>7</a:t>
            </a:r>
            <a:r>
              <a:rPr lang="zh-CN" altLang="en-US" sz="1400" b="1" dirty="0"/>
              <a:t>位</a:t>
            </a:r>
          </a:p>
        </p:txBody>
      </p:sp>
      <p:sp>
        <p:nvSpPr>
          <p:cNvPr id="18" name="文本框 17">
            <a:extLst>
              <a:ext uri="{FF2B5EF4-FFF2-40B4-BE49-F238E27FC236}">
                <a16:creationId xmlns:a16="http://schemas.microsoft.com/office/drawing/2014/main" id="{CC4F5FCC-41BC-4263-BB48-99645CBBFA23}"/>
              </a:ext>
            </a:extLst>
          </p:cNvPr>
          <p:cNvSpPr txBox="1"/>
          <p:nvPr/>
        </p:nvSpPr>
        <p:spPr>
          <a:xfrm>
            <a:off x="3710174" y="3932528"/>
            <a:ext cx="313579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2 -&gt; 0x8+esp</a:t>
            </a:r>
            <a:r>
              <a:rPr lang="zh-CN" altLang="en-US" sz="1400" b="1" dirty="0"/>
              <a:t>对应的存储单元（</a:t>
            </a:r>
            <a:r>
              <a:rPr lang="en-US" altLang="zh-CN" sz="1400" b="1" dirty="0"/>
              <a:t>j=2</a:t>
            </a:r>
            <a:r>
              <a:rPr lang="zh-CN" altLang="en-US" sz="1400" b="1" dirty="0"/>
              <a:t>）</a:t>
            </a:r>
          </a:p>
        </p:txBody>
      </p:sp>
      <p:sp>
        <p:nvSpPr>
          <p:cNvPr id="19" name="文本框 18">
            <a:extLst>
              <a:ext uri="{FF2B5EF4-FFF2-40B4-BE49-F238E27FC236}">
                <a16:creationId xmlns:a16="http://schemas.microsoft.com/office/drawing/2014/main" id="{273C26C7-EC32-4ECC-94DD-7847918ADBC3}"/>
              </a:ext>
            </a:extLst>
          </p:cNvPr>
          <p:cNvSpPr txBox="1"/>
          <p:nvPr/>
        </p:nvSpPr>
        <p:spPr>
          <a:xfrm>
            <a:off x="3678618" y="481565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算术右移</a:t>
            </a:r>
            <a:r>
              <a:rPr lang="en-US" altLang="zh-CN" sz="1400" b="1" dirty="0"/>
              <a:t>8</a:t>
            </a:r>
            <a:r>
              <a:rPr lang="zh-CN" altLang="en-US" sz="1400" b="1" dirty="0"/>
              <a:t>位</a:t>
            </a:r>
          </a:p>
        </p:txBody>
      </p:sp>
      <p:sp>
        <p:nvSpPr>
          <p:cNvPr id="20" name="文本框 19">
            <a:extLst>
              <a:ext uri="{FF2B5EF4-FFF2-40B4-BE49-F238E27FC236}">
                <a16:creationId xmlns:a16="http://schemas.microsoft.com/office/drawing/2014/main" id="{FE8441AC-24E8-46CF-A559-033D037CE75C}"/>
              </a:ext>
            </a:extLst>
          </p:cNvPr>
          <p:cNvSpPr txBox="1"/>
          <p:nvPr/>
        </p:nvSpPr>
        <p:spPr>
          <a:xfrm>
            <a:off x="3659646" y="5373487"/>
            <a:ext cx="3719288"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）的内容逻辑右移</a:t>
            </a:r>
            <a:r>
              <a:rPr lang="en-US" altLang="zh-CN" sz="1400" b="1" dirty="0"/>
              <a:t>15</a:t>
            </a:r>
            <a:r>
              <a:rPr lang="zh-CN" altLang="en-US" sz="1400" b="1" dirty="0"/>
              <a:t>位</a:t>
            </a:r>
          </a:p>
        </p:txBody>
      </p:sp>
      <p:sp>
        <p:nvSpPr>
          <p:cNvPr id="21" name="文本框 20">
            <a:extLst>
              <a:ext uri="{FF2B5EF4-FFF2-40B4-BE49-F238E27FC236}">
                <a16:creationId xmlns:a16="http://schemas.microsoft.com/office/drawing/2014/main" id="{D4901FA3-8B0C-471C-B2DA-AC8726AC9EC4}"/>
              </a:ext>
            </a:extLst>
          </p:cNvPr>
          <p:cNvSpPr txBox="1"/>
          <p:nvPr/>
        </p:nvSpPr>
        <p:spPr>
          <a:xfrm>
            <a:off x="3659646" y="5841369"/>
            <a:ext cx="3121304"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3" name="文本框 22">
            <a:extLst>
              <a:ext uri="{FF2B5EF4-FFF2-40B4-BE49-F238E27FC236}">
                <a16:creationId xmlns:a16="http://schemas.microsoft.com/office/drawing/2014/main" id="{715AC585-17A6-4862-B183-1330BDA7D97E}"/>
              </a:ext>
            </a:extLst>
          </p:cNvPr>
          <p:cNvSpPr txBox="1"/>
          <p:nvPr/>
        </p:nvSpPr>
        <p:spPr>
          <a:xfrm>
            <a:off x="3659646" y="6131309"/>
            <a:ext cx="191911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cl</a:t>
            </a:r>
            <a:r>
              <a:rPr lang="zh-CN" altLang="en-US" sz="1400" b="1" dirty="0"/>
              <a:t>寄存器</a:t>
            </a:r>
          </a:p>
        </p:txBody>
      </p:sp>
      <p:sp>
        <p:nvSpPr>
          <p:cNvPr id="24" name="文本框 23">
            <a:extLst>
              <a:ext uri="{FF2B5EF4-FFF2-40B4-BE49-F238E27FC236}">
                <a16:creationId xmlns:a16="http://schemas.microsoft.com/office/drawing/2014/main" id="{A993FE21-F691-4181-A8BD-DA00BDF0B5C6}"/>
              </a:ext>
            </a:extLst>
          </p:cNvPr>
          <p:cNvSpPr txBox="1"/>
          <p:nvPr/>
        </p:nvSpPr>
        <p:spPr>
          <a:xfrm>
            <a:off x="3661478" y="6432361"/>
            <a:ext cx="422013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a:t>i</a:t>
            </a:r>
            <a:r>
              <a:rPr lang="zh-CN" altLang="en-US" sz="1400" b="1" dirty="0"/>
              <a:t>）的内容</a:t>
            </a:r>
            <a:r>
              <a:rPr lang="zh-CN" altLang="en-US" sz="1400" b="1" dirty="0">
                <a:solidFill>
                  <a:srgbClr val="C00000"/>
                </a:solidFill>
              </a:rPr>
              <a:t>算术右移</a:t>
            </a:r>
            <a:r>
              <a:rPr lang="en-US" altLang="zh-CN" sz="1400" b="1" dirty="0"/>
              <a:t>cl</a:t>
            </a:r>
            <a:r>
              <a:rPr lang="zh-CN" altLang="en-US" sz="1400" b="1" dirty="0"/>
              <a:t>位（</a:t>
            </a:r>
            <a:r>
              <a:rPr lang="en-US" altLang="zh-CN" sz="1400" b="1" dirty="0"/>
              <a:t>j</a:t>
            </a:r>
            <a:r>
              <a:rPr lang="zh-CN" altLang="en-US" sz="1400" b="1" dirty="0"/>
              <a:t>位）</a:t>
            </a:r>
          </a:p>
        </p:txBody>
      </p:sp>
    </p:spTree>
    <p:extLst>
      <p:ext uri="{BB962C8B-B14F-4D97-AF65-F5344CB8AC3E}">
        <p14:creationId xmlns:p14="http://schemas.microsoft.com/office/powerpoint/2010/main" val="43785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25ACF-CAE7-414C-B6ED-A9C85F56465E}"/>
              </a:ext>
            </a:extLst>
          </p:cNvPr>
          <p:cNvSpPr>
            <a:spLocks noGrp="1"/>
          </p:cNvSpPr>
          <p:nvPr>
            <p:ph type="title"/>
          </p:nvPr>
        </p:nvSpPr>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EA0FD805-48A4-46CA-A0AB-EF3F4613523B}"/>
              </a:ext>
            </a:extLst>
          </p:cNvPr>
          <p:cNvSpPr>
            <a:spLocks noGrp="1"/>
          </p:cNvSpPr>
          <p:nvPr>
            <p:ph idx="1"/>
          </p:nvPr>
        </p:nvSpPr>
        <p:spPr>
          <a:xfrm>
            <a:off x="457200" y="1166018"/>
            <a:ext cx="8229600" cy="5287318"/>
          </a:xfrm>
        </p:spPr>
        <p:txBody>
          <a:bodyPr/>
          <a:lstStyle/>
          <a:p>
            <a:r>
              <a:rPr lang="zh-CN" altLang="en-US" sz="2000" b="1" dirty="0"/>
              <a:t>左移：可能会产生</a:t>
            </a:r>
            <a:r>
              <a:rPr lang="zh-CN" altLang="en-US" sz="2000" b="1" dirty="0">
                <a:solidFill>
                  <a:srgbClr val="C00000"/>
                </a:solidFill>
              </a:rPr>
              <a:t>溢出</a:t>
            </a:r>
            <a:endParaRPr lang="en-US" altLang="zh-CN" sz="2000" b="1" dirty="0">
              <a:solidFill>
                <a:srgbClr val="C00000"/>
              </a:solidFill>
            </a:endParaRPr>
          </a:p>
          <a:p>
            <a:pPr lvl="1"/>
            <a:r>
              <a:rPr lang="en-US" altLang="zh-CN" sz="1600" b="1" dirty="0"/>
              <a:t>char x = 1111 1101 = -3   </a:t>
            </a:r>
            <a:r>
              <a:rPr lang="zh-CN" altLang="en-US" sz="1600" b="1" dirty="0"/>
              <a:t>逻辑左移   </a:t>
            </a:r>
            <a:r>
              <a:rPr lang="en-US" altLang="zh-CN" sz="1600" b="1" dirty="0"/>
              <a:t>x = 1111 1010 = -6       </a:t>
            </a:r>
            <a:r>
              <a:rPr lang="zh-CN" altLang="en-US" sz="1600" b="1" dirty="0"/>
              <a:t>不溢出</a:t>
            </a:r>
            <a:endParaRPr lang="en-US" altLang="zh-CN" sz="1600" b="1" dirty="0"/>
          </a:p>
          <a:p>
            <a:pPr lvl="1"/>
            <a:endParaRPr lang="en-US" altLang="zh-CN" sz="1600" b="1" dirty="0"/>
          </a:p>
          <a:p>
            <a:pPr lvl="1"/>
            <a:r>
              <a:rPr lang="en-US" altLang="zh-CN" sz="1600" b="1" dirty="0"/>
              <a:t>unsigned char x = 1111 1101 = 253    </a:t>
            </a:r>
            <a:r>
              <a:rPr lang="zh-CN" altLang="en-US" sz="1600" b="1" dirty="0"/>
              <a:t>逻辑左移   </a:t>
            </a:r>
            <a:r>
              <a:rPr lang="en-US" altLang="zh-CN" sz="1600" b="1" dirty="0"/>
              <a:t>x = 11111010 = 250    </a:t>
            </a:r>
            <a:r>
              <a:rPr lang="zh-CN" altLang="en-US" sz="1600" b="1" dirty="0"/>
              <a:t>（正确结果应该是</a:t>
            </a:r>
            <a:r>
              <a:rPr lang="en-US" altLang="zh-CN" sz="1600" b="1" dirty="0"/>
              <a:t>253x2=506 </a:t>
            </a:r>
            <a:r>
              <a:rPr lang="zh-CN" altLang="en-US" sz="1600" b="1" dirty="0"/>
              <a:t>故</a:t>
            </a:r>
            <a:r>
              <a:rPr lang="zh-CN" altLang="en-US" sz="1600" b="1" dirty="0">
                <a:solidFill>
                  <a:srgbClr val="C00000"/>
                </a:solidFill>
              </a:rPr>
              <a:t>产生溢出</a:t>
            </a:r>
            <a:endParaRPr lang="en-US" altLang="zh-CN" sz="1600" b="1" dirty="0">
              <a:solidFill>
                <a:srgbClr val="C00000"/>
              </a:solidFill>
            </a:endParaRPr>
          </a:p>
          <a:p>
            <a:endParaRPr lang="en-US" altLang="zh-CN" sz="2000" b="1" dirty="0"/>
          </a:p>
          <a:p>
            <a:r>
              <a:rPr lang="zh-CN" altLang="en-US" sz="2000" b="1" dirty="0"/>
              <a:t>右移：可能会产生</a:t>
            </a:r>
            <a:r>
              <a:rPr lang="zh-CN" altLang="en-US" sz="2000" b="1" dirty="0">
                <a:solidFill>
                  <a:srgbClr val="C00000"/>
                </a:solidFill>
              </a:rPr>
              <a:t>误差</a:t>
            </a:r>
            <a:endParaRPr lang="en-US" altLang="zh-CN" sz="2000" b="1" dirty="0">
              <a:solidFill>
                <a:srgbClr val="C00000"/>
              </a:solidFill>
            </a:endParaRPr>
          </a:p>
          <a:p>
            <a:pPr lvl="1"/>
            <a:r>
              <a:rPr lang="en-US" altLang="zh-CN" sz="1600" b="1" dirty="0"/>
              <a:t>char x = 1111 1101 = -3       </a:t>
            </a:r>
            <a:r>
              <a:rPr lang="zh-CN" altLang="en-US" sz="1600" b="1" dirty="0"/>
              <a:t>算术右移   </a:t>
            </a:r>
            <a:r>
              <a:rPr lang="en-US" altLang="zh-CN" sz="1600" b="1" dirty="0"/>
              <a:t>x = 1111 1110 </a:t>
            </a:r>
            <a:r>
              <a:rPr lang="en-US" altLang="zh-CN" sz="1600" b="1" dirty="0">
                <a:solidFill>
                  <a:srgbClr val="C00000"/>
                </a:solidFill>
              </a:rPr>
              <a:t>= -2           </a:t>
            </a:r>
            <a:r>
              <a:rPr lang="zh-CN" altLang="en-US" sz="1600" b="1" dirty="0"/>
              <a:t>有误差（正确结果应该是</a:t>
            </a:r>
            <a:r>
              <a:rPr lang="en-US" altLang="zh-CN" sz="1600" b="1" dirty="0"/>
              <a:t>-1.5</a:t>
            </a:r>
            <a:r>
              <a:rPr lang="zh-CN" altLang="en-US" sz="1600" b="1" dirty="0"/>
              <a:t>）</a:t>
            </a:r>
            <a:endParaRPr lang="en-US" altLang="zh-CN" sz="1600" b="1" dirty="0"/>
          </a:p>
          <a:p>
            <a:pPr lvl="1"/>
            <a:endParaRPr lang="en-US" altLang="zh-CN" sz="1600" b="1" dirty="0"/>
          </a:p>
          <a:p>
            <a:pPr lvl="1"/>
            <a:r>
              <a:rPr lang="en-US" altLang="zh-CN" sz="1600" b="1" dirty="0"/>
              <a:t>unsigned char x = 1111 1101 = 253   </a:t>
            </a:r>
            <a:r>
              <a:rPr lang="zh-CN" altLang="en-US" sz="1600" b="1" dirty="0"/>
              <a:t>逻辑右移   </a:t>
            </a:r>
            <a:r>
              <a:rPr lang="en-US" altLang="zh-CN" sz="1600" b="1" dirty="0"/>
              <a:t>x = 0111 1110 = 126  </a:t>
            </a:r>
            <a:r>
              <a:rPr lang="zh-CN" altLang="en-US" sz="1600" b="1" dirty="0"/>
              <a:t>有误差（正确结果应该是</a:t>
            </a:r>
            <a:r>
              <a:rPr lang="en-US" altLang="zh-CN" sz="1600" b="1" dirty="0"/>
              <a:t>126.5</a:t>
            </a:r>
            <a:r>
              <a:rPr lang="zh-CN" altLang="en-US" sz="1600" b="1" dirty="0"/>
              <a:t>）</a:t>
            </a:r>
            <a:endParaRPr lang="en-US" altLang="zh-CN" sz="1600" b="1" dirty="0"/>
          </a:p>
          <a:p>
            <a:pPr lvl="1"/>
            <a:endParaRPr lang="en-US" altLang="zh-CN" sz="1600" b="1" dirty="0"/>
          </a:p>
          <a:p>
            <a:r>
              <a:rPr lang="zh-CN" altLang="en-US" sz="2000" b="1" dirty="0"/>
              <a:t>图</a:t>
            </a:r>
            <a:r>
              <a:rPr lang="en-US" altLang="zh-CN" sz="2000" b="1" dirty="0"/>
              <a:t>3.1</a:t>
            </a:r>
            <a:r>
              <a:rPr lang="zh-CN" altLang="en-US" sz="2000" b="1" dirty="0"/>
              <a:t>（见教材）：</a:t>
            </a:r>
            <a:r>
              <a:rPr lang="zh-CN" altLang="en-US" sz="2000" b="1" dirty="0">
                <a:solidFill>
                  <a:srgbClr val="C00000"/>
                </a:solidFill>
              </a:rPr>
              <a:t>桶型移位器</a:t>
            </a:r>
            <a:r>
              <a:rPr lang="en-US" altLang="zh-CN" sz="2000" b="1" dirty="0">
                <a:solidFill>
                  <a:srgbClr val="C00000"/>
                </a:solidFill>
              </a:rPr>
              <a:t>(</a:t>
            </a:r>
            <a:r>
              <a:rPr lang="zh-CN" altLang="en-US" sz="2000" b="1" dirty="0">
                <a:solidFill>
                  <a:srgbClr val="C00000"/>
                </a:solidFill>
              </a:rPr>
              <a:t>可变移位运算</a:t>
            </a:r>
            <a:r>
              <a:rPr lang="en-US" altLang="zh-CN" sz="2000" b="1" dirty="0">
                <a:solidFill>
                  <a:srgbClr val="C00000"/>
                </a:solidFill>
              </a:rPr>
              <a:t>)</a:t>
            </a:r>
            <a:r>
              <a:rPr lang="zh-CN" altLang="en-US" sz="2000" b="1" dirty="0"/>
              <a:t>，实现</a:t>
            </a:r>
            <a:r>
              <a:rPr lang="en-US" altLang="zh-CN" sz="2000" b="1" dirty="0"/>
              <a:t>x&lt;&lt;y</a:t>
            </a:r>
            <a:r>
              <a:rPr lang="zh-CN" altLang="en-US" sz="2000" b="1" dirty="0"/>
              <a:t>（左移），</a:t>
            </a:r>
            <a:r>
              <a:rPr lang="en-US" altLang="zh-CN" sz="2000" b="1" dirty="0"/>
              <a:t>x</a:t>
            </a:r>
            <a:r>
              <a:rPr lang="zh-CN" altLang="en-US" sz="2000" b="1" dirty="0"/>
              <a:t>为</a:t>
            </a:r>
            <a:r>
              <a:rPr lang="en-US" altLang="zh-CN" sz="2000" b="1" dirty="0"/>
              <a:t>32</a:t>
            </a:r>
            <a:r>
              <a:rPr lang="zh-CN" altLang="en-US" sz="2000" b="1" dirty="0"/>
              <a:t>位变量，</a:t>
            </a:r>
            <a:r>
              <a:rPr lang="en-US" altLang="zh-CN" sz="2000" b="1" dirty="0"/>
              <a:t>y</a:t>
            </a:r>
            <a:r>
              <a:rPr lang="zh-CN" altLang="en-US" sz="2000" b="1" dirty="0"/>
              <a:t>为</a:t>
            </a:r>
            <a:r>
              <a:rPr lang="en-US" altLang="zh-CN" sz="2000" b="1" dirty="0"/>
              <a:t>5</a:t>
            </a:r>
            <a:r>
              <a:rPr lang="zh-CN" altLang="en-US" sz="2000" b="1" dirty="0"/>
              <a:t>位变量（</a:t>
            </a:r>
            <a:r>
              <a:rPr lang="en-US" altLang="zh-CN" sz="2000" b="1" dirty="0"/>
              <a:t>y=0</a:t>
            </a:r>
            <a:r>
              <a:rPr lang="zh-CN" altLang="en-US" sz="2000" b="1" dirty="0">
                <a:latin typeface="等线" panose="02010600030101010101" pitchFamily="2" charset="-122"/>
                <a:ea typeface="等线" panose="02010600030101010101" pitchFamily="2" charset="-122"/>
              </a:rPr>
              <a:t>～</a:t>
            </a:r>
            <a:r>
              <a:rPr lang="en-US" altLang="zh-CN" sz="2000" b="1" dirty="0">
                <a:latin typeface="等线" panose="02010600030101010101" pitchFamily="2" charset="-122"/>
                <a:ea typeface="等线" panose="02010600030101010101" pitchFamily="2" charset="-122"/>
              </a:rPr>
              <a:t>31</a:t>
            </a:r>
            <a:r>
              <a:rPr lang="zh-CN" altLang="en-US" sz="2000" b="1" dirty="0"/>
              <a:t>）</a:t>
            </a:r>
            <a:r>
              <a:rPr lang="en-US" altLang="zh-CN" sz="2000" b="1" dirty="0"/>
              <a:t>     </a:t>
            </a:r>
          </a:p>
          <a:p>
            <a:pPr lvl="1"/>
            <a:endParaRPr lang="en-US" altLang="zh-CN" sz="1600" b="1" dirty="0"/>
          </a:p>
          <a:p>
            <a:pPr lvl="1"/>
            <a:endParaRPr lang="zh-CN" altLang="en-US" sz="1600" b="1" dirty="0"/>
          </a:p>
        </p:txBody>
      </p:sp>
    </p:spTree>
    <p:extLst>
      <p:ext uri="{BB962C8B-B14F-4D97-AF65-F5344CB8AC3E}">
        <p14:creationId xmlns:p14="http://schemas.microsoft.com/office/powerpoint/2010/main" val="3656573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D1FCA6D5-AEF1-4D13-9BE9-93F619F4CAFF}"/>
              </a:ext>
            </a:extLst>
          </p:cNvPr>
          <p:cNvSpPr txBox="1"/>
          <p:nvPr/>
        </p:nvSpPr>
        <p:spPr>
          <a:xfrm>
            <a:off x="2009428" y="580619"/>
            <a:ext cx="4828728" cy="369332"/>
          </a:xfrm>
          <a:prstGeom prst="rect">
            <a:avLst/>
          </a:prstGeom>
          <a:solidFill>
            <a:srgbClr val="FFFF00"/>
          </a:solidFill>
        </p:spPr>
        <p:txBody>
          <a:bodyPr wrap="square" rtlCol="0">
            <a:spAutoFit/>
          </a:bodyPr>
          <a:lstStyle/>
          <a:p>
            <a:pPr algn="ctr"/>
            <a:r>
              <a:rPr lang="en-US" altLang="zh-CN" b="1" dirty="0"/>
              <a:t>Logisim</a:t>
            </a:r>
            <a:r>
              <a:rPr lang="zh-CN" altLang="en-US" b="1" dirty="0"/>
              <a:t>实现的桶型移位器（左移</a:t>
            </a:r>
            <a:r>
              <a:rPr lang="en-US" altLang="zh-CN" b="1" dirty="0"/>
              <a:t>0</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31</a:t>
            </a:r>
            <a:r>
              <a:rPr lang="zh-CN" altLang="en-US" b="1" dirty="0"/>
              <a:t>位）</a:t>
            </a:r>
            <a:endParaRPr lang="zh-CN" altLang="en-US" sz="1400" b="1" dirty="0"/>
          </a:p>
        </p:txBody>
      </p:sp>
      <p:pic>
        <p:nvPicPr>
          <p:cNvPr id="3" name="图片 2">
            <a:extLst>
              <a:ext uri="{FF2B5EF4-FFF2-40B4-BE49-F238E27FC236}">
                <a16:creationId xmlns:a16="http://schemas.microsoft.com/office/drawing/2014/main" id="{385EDDB8-B818-7481-C47F-0742FD601E26}"/>
              </a:ext>
            </a:extLst>
          </p:cNvPr>
          <p:cNvPicPr>
            <a:picLocks noChangeAspect="1"/>
          </p:cNvPicPr>
          <p:nvPr/>
        </p:nvPicPr>
        <p:blipFill>
          <a:blip r:embed="rId2"/>
          <a:stretch>
            <a:fillRect/>
          </a:stretch>
        </p:blipFill>
        <p:spPr>
          <a:xfrm>
            <a:off x="0" y="1628800"/>
            <a:ext cx="9144000" cy="4100196"/>
          </a:xfrm>
          <a:prstGeom prst="rect">
            <a:avLst/>
          </a:prstGeom>
        </p:spPr>
      </p:pic>
      <p:sp>
        <p:nvSpPr>
          <p:cNvPr id="4" name="文本框 3">
            <a:extLst>
              <a:ext uri="{FF2B5EF4-FFF2-40B4-BE49-F238E27FC236}">
                <a16:creationId xmlns:a16="http://schemas.microsoft.com/office/drawing/2014/main" id="{8FB29D86-128A-4D37-6FE9-7527D60E6177}"/>
              </a:ext>
            </a:extLst>
          </p:cNvPr>
          <p:cNvSpPr txBox="1"/>
          <p:nvPr/>
        </p:nvSpPr>
        <p:spPr>
          <a:xfrm>
            <a:off x="2699792" y="1196752"/>
            <a:ext cx="3448000" cy="307777"/>
          </a:xfrm>
          <a:prstGeom prst="rect">
            <a:avLst/>
          </a:prstGeom>
          <a:solidFill>
            <a:srgbClr val="92D050"/>
          </a:solidFill>
        </p:spPr>
        <p:txBody>
          <a:bodyPr wrap="square" rtlCol="0">
            <a:spAutoFit/>
          </a:bodyPr>
          <a:lstStyle/>
          <a:p>
            <a:pPr algn="ctr"/>
            <a:r>
              <a:rPr lang="zh-CN" altLang="en-US" sz="1400" b="1" dirty="0"/>
              <a:t>设计文件“桶型移位器</a:t>
            </a:r>
            <a:r>
              <a:rPr lang="en-US" altLang="zh-CN" sz="1400" b="1" dirty="0"/>
              <a:t>.circ</a:t>
            </a:r>
            <a:r>
              <a:rPr lang="zh-CN" altLang="en-US" sz="1400" b="1" dirty="0"/>
              <a:t>”</a:t>
            </a:r>
          </a:p>
        </p:txBody>
      </p:sp>
      <p:sp>
        <p:nvSpPr>
          <p:cNvPr id="5" name="文本框 4">
            <a:extLst>
              <a:ext uri="{FF2B5EF4-FFF2-40B4-BE49-F238E27FC236}">
                <a16:creationId xmlns:a16="http://schemas.microsoft.com/office/drawing/2014/main" id="{F065C509-DFC1-4A6C-835F-A46A0C3C94CF}"/>
              </a:ext>
            </a:extLst>
          </p:cNvPr>
          <p:cNvSpPr txBox="1"/>
          <p:nvPr/>
        </p:nvSpPr>
        <p:spPr>
          <a:xfrm>
            <a:off x="611560" y="3789040"/>
            <a:ext cx="3960440" cy="861774"/>
          </a:xfrm>
          <a:prstGeom prst="rect">
            <a:avLst/>
          </a:prstGeom>
          <a:noFill/>
        </p:spPr>
        <p:txBody>
          <a:bodyPr wrap="square" rtlCol="0">
            <a:spAutoFit/>
          </a:bodyPr>
          <a:lstStyle/>
          <a:p>
            <a:r>
              <a:rPr lang="en-US" altLang="zh-CN" sz="1400" dirty="0"/>
              <a:t>Splitter </a:t>
            </a:r>
            <a:r>
              <a:rPr lang="zh-CN" altLang="en-US" sz="1400" dirty="0"/>
              <a:t>分线器</a:t>
            </a:r>
            <a:endParaRPr lang="en-US" altLang="zh-CN" sz="1400" dirty="0"/>
          </a:p>
          <a:p>
            <a:r>
              <a:rPr lang="en-US" altLang="zh-CN" sz="1200" dirty="0"/>
              <a:t>00000</a:t>
            </a:r>
            <a:r>
              <a:rPr lang="zh-CN" altLang="en-US" sz="1200" dirty="0"/>
              <a:t>可有</a:t>
            </a:r>
            <a:r>
              <a:rPr lang="en-US" altLang="zh-CN" sz="1200" dirty="0"/>
              <a:t>32</a:t>
            </a:r>
            <a:r>
              <a:rPr lang="zh-CN" altLang="en-US" sz="1200" dirty="0"/>
              <a:t>种编码，对应</a:t>
            </a:r>
            <a:r>
              <a:rPr lang="en-US" altLang="zh-CN" sz="1200" dirty="0"/>
              <a:t>0-31</a:t>
            </a:r>
            <a:r>
              <a:rPr lang="zh-CN" altLang="en-US" sz="1200" dirty="0"/>
              <a:t>位的左移</a:t>
            </a:r>
            <a:endParaRPr lang="en-US" altLang="zh-CN" sz="1200" dirty="0"/>
          </a:p>
          <a:p>
            <a:r>
              <a:rPr lang="zh-CN" altLang="en-US" sz="1200" dirty="0"/>
              <a:t>对应位为</a:t>
            </a:r>
            <a:r>
              <a:rPr lang="en-US" altLang="zh-CN" sz="1200" dirty="0"/>
              <a:t>1</a:t>
            </a:r>
            <a:r>
              <a:rPr lang="zh-CN" altLang="en-US" sz="1200" dirty="0"/>
              <a:t>，使得</a:t>
            </a:r>
            <a:r>
              <a:rPr lang="en-US" altLang="zh-CN" sz="1200" dirty="0"/>
              <a:t>MUX</a:t>
            </a:r>
            <a:r>
              <a:rPr lang="zh-CN" altLang="en-US" sz="1200" dirty="0"/>
              <a:t>二择一选择器进行移位；</a:t>
            </a:r>
            <a:endParaRPr lang="en-US" altLang="zh-CN" sz="1200" dirty="0"/>
          </a:p>
          <a:p>
            <a:r>
              <a:rPr lang="zh-CN" altLang="en-US" sz="1200" dirty="0"/>
              <a:t>对应位为</a:t>
            </a:r>
            <a:r>
              <a:rPr lang="en-US" altLang="zh-CN" sz="1200" dirty="0"/>
              <a:t>0</a:t>
            </a:r>
            <a:r>
              <a:rPr lang="zh-CN" altLang="en-US" sz="1200" dirty="0"/>
              <a:t>，</a:t>
            </a:r>
            <a:r>
              <a:rPr lang="en-US" altLang="zh-CN" sz="1200" dirty="0"/>
              <a:t>MUX</a:t>
            </a:r>
            <a:r>
              <a:rPr lang="zh-CN" altLang="en-US" sz="1200" dirty="0"/>
              <a:t>直通，不进行移位；</a:t>
            </a:r>
          </a:p>
        </p:txBody>
      </p:sp>
      <p:cxnSp>
        <p:nvCxnSpPr>
          <p:cNvPr id="7" name="直接箭头连接符 6">
            <a:extLst>
              <a:ext uri="{FF2B5EF4-FFF2-40B4-BE49-F238E27FC236}">
                <a16:creationId xmlns:a16="http://schemas.microsoft.com/office/drawing/2014/main" id="{B937B579-2C66-4ED9-B5E9-0F0328C2226F}"/>
              </a:ext>
            </a:extLst>
          </p:cNvPr>
          <p:cNvCxnSpPr/>
          <p:nvPr/>
        </p:nvCxnSpPr>
        <p:spPr>
          <a:xfrm flipH="1">
            <a:off x="3563888" y="3933056"/>
            <a:ext cx="859904"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18719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15287-C527-44FA-A586-865EE20644F4}"/>
              </a:ext>
            </a:extLst>
          </p:cNvPr>
          <p:cNvSpPr>
            <a:spLocks noGrp="1"/>
          </p:cNvSpPr>
          <p:nvPr>
            <p:ph type="title"/>
          </p:nvPr>
        </p:nvSpPr>
        <p:spPr>
          <a:xfrm>
            <a:off x="457200" y="274638"/>
            <a:ext cx="8229600" cy="994122"/>
          </a:xfrm>
        </p:spPr>
        <p:txBody>
          <a:bodyPr/>
          <a:lstStyle/>
          <a:p>
            <a:pPr eaLnBrk="1" fontAlgn="auto" hangingPunct="1">
              <a:spcAft>
                <a:spcPts val="0"/>
              </a:spcAft>
              <a:defRPr/>
            </a:pPr>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78954" y="1289196"/>
            <a:ext cx="8229600" cy="4525963"/>
          </a:xfrm>
        </p:spPr>
        <p:txBody>
          <a:bodyPr rtlCol="0">
            <a:normAutofit/>
          </a:bodyPr>
          <a:lstStyle/>
          <a:p>
            <a:pPr marL="914400" lvl="1" indent="-457200" eaLnBrk="1" hangingPunct="1">
              <a:buFont typeface="+mj-ea"/>
              <a:buAutoNum type="circleNumDbPlain"/>
            </a:pPr>
            <a:r>
              <a:rPr lang="en-US" altLang="zh-CN" sz="2000" b="1" dirty="0"/>
              <a:t>+</a:t>
            </a:r>
            <a:r>
              <a:rPr lang="zh-CN" altLang="en-US" sz="2000" b="1" dirty="0"/>
              <a:t>    加</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减</a:t>
            </a:r>
            <a:endParaRPr lang="en-US" altLang="zh-CN" sz="2000" b="1" dirty="0"/>
          </a:p>
          <a:p>
            <a:pPr marL="914400" lvl="1" indent="-457200" eaLnBrk="1" hangingPunct="1">
              <a:buFont typeface="+mj-ea"/>
              <a:buAutoNum type="circleNumDbPlain"/>
            </a:pPr>
            <a:r>
              <a:rPr lang="zh-CN" altLang="en-US" sz="2000" b="1" dirty="0"/>
              <a:t>*    乘</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除</a:t>
            </a:r>
            <a:endParaRPr lang="en-US" altLang="zh-CN" sz="2000" b="1" dirty="0"/>
          </a:p>
          <a:p>
            <a:pPr lvl="1" eaLnBrk="1" hangingPunct="1"/>
            <a:endParaRPr lang="en-US" altLang="zh-CN" sz="2000" b="1" dirty="0"/>
          </a:p>
          <a:p>
            <a:pPr lvl="1" eaLnBrk="1" hangingPunct="1"/>
            <a:r>
              <a:rPr lang="zh-CN" altLang="en-US" sz="2000" b="1" dirty="0"/>
              <a:t>汇编指令中有符号数和无符号数的加减运算是一样的：</a:t>
            </a:r>
            <a:endParaRPr lang="en-US" altLang="zh-CN" sz="2000" b="1" dirty="0"/>
          </a:p>
          <a:p>
            <a:pPr lvl="2" eaLnBrk="1" hangingPunct="1"/>
            <a:r>
              <a:rPr lang="en-US" altLang="zh-CN" sz="1600" b="1" dirty="0"/>
              <a:t>add</a:t>
            </a:r>
            <a:r>
              <a:rPr lang="zh-CN" altLang="en-US" sz="1600" b="1" dirty="0"/>
              <a:t>（加）、</a:t>
            </a:r>
            <a:r>
              <a:rPr lang="en-US" altLang="zh-CN" sz="1600" b="1" dirty="0"/>
              <a:t>sub</a:t>
            </a:r>
            <a:r>
              <a:rPr lang="zh-CN" altLang="en-US" sz="1600" b="1" dirty="0"/>
              <a:t>（减）</a:t>
            </a:r>
            <a:endParaRPr lang="en-US" altLang="zh-CN" sz="1600" b="1" dirty="0"/>
          </a:p>
          <a:p>
            <a:pPr lvl="1" eaLnBrk="1" hangingPunct="1"/>
            <a:endParaRPr lang="en-US" altLang="zh-CN" sz="2000" b="1" dirty="0"/>
          </a:p>
          <a:p>
            <a:pPr lvl="1" eaLnBrk="1" hangingPunct="1"/>
            <a:r>
              <a:rPr lang="zh-CN" altLang="en-US" sz="2000" b="1" dirty="0"/>
              <a:t>汇编指令中有符号数和无符号数的乘除运算是不一样的：</a:t>
            </a:r>
            <a:endParaRPr lang="en-US" altLang="zh-CN" sz="2000" b="1" dirty="0"/>
          </a:p>
          <a:p>
            <a:pPr lvl="2" eaLnBrk="1" hangingPunct="1"/>
            <a:r>
              <a:rPr lang="zh-CN" altLang="en-US" sz="1600" b="1" dirty="0"/>
              <a:t>有符号数：</a:t>
            </a:r>
            <a:r>
              <a:rPr lang="en-US" altLang="zh-CN" sz="1600" b="1" dirty="0" err="1"/>
              <a:t>mul</a:t>
            </a:r>
            <a:r>
              <a:rPr lang="zh-CN" altLang="en-US" sz="1600" b="1" dirty="0"/>
              <a:t>（乘）、</a:t>
            </a:r>
            <a:r>
              <a:rPr lang="en-US" altLang="zh-CN" sz="1600" b="1" dirty="0"/>
              <a:t>div</a:t>
            </a:r>
            <a:r>
              <a:rPr lang="zh-CN" altLang="en-US" sz="1600" b="1" dirty="0"/>
              <a:t>（除）</a:t>
            </a:r>
            <a:endParaRPr lang="en-US" altLang="zh-CN" sz="1600" b="1" dirty="0"/>
          </a:p>
          <a:p>
            <a:pPr lvl="2" eaLnBrk="1" hangingPunct="1"/>
            <a:r>
              <a:rPr lang="zh-CN" altLang="en-US" sz="1600" b="1" dirty="0"/>
              <a:t>无符号数：</a:t>
            </a:r>
            <a:r>
              <a:rPr lang="en-US" altLang="zh-CN" sz="1600" b="1" dirty="0" err="1"/>
              <a:t>imul</a:t>
            </a:r>
            <a:r>
              <a:rPr lang="zh-CN" altLang="en-US" sz="1600" b="1" dirty="0"/>
              <a:t>（乘）、</a:t>
            </a:r>
            <a:r>
              <a:rPr lang="en-US" altLang="zh-CN" sz="1600" b="1" dirty="0" err="1"/>
              <a:t>idiv</a:t>
            </a:r>
            <a:r>
              <a:rPr lang="zh-CN" altLang="en-US" sz="1600" b="1" dirty="0"/>
              <a:t>（除）</a:t>
            </a:r>
            <a:endParaRPr lang="en-US" altLang="zh-CN" sz="16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315121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DA110BB8-A084-43B4-A393-7BDE3675C5E8}"/>
              </a:ext>
            </a:extLst>
          </p:cNvPr>
          <p:cNvPicPr>
            <a:picLocks noChangeAspect="1"/>
          </p:cNvPicPr>
          <p:nvPr/>
        </p:nvPicPr>
        <p:blipFill>
          <a:blip r:embed="rId2"/>
          <a:stretch>
            <a:fillRect/>
          </a:stretch>
        </p:blipFill>
        <p:spPr>
          <a:xfrm>
            <a:off x="1087320" y="2130366"/>
            <a:ext cx="3348112" cy="4476585"/>
          </a:xfrm>
          <a:prstGeom prst="rect">
            <a:avLst/>
          </a:prstGeom>
        </p:spPr>
      </p:pic>
      <p:sp>
        <p:nvSpPr>
          <p:cNvPr id="15" name="标题 14">
            <a:extLst>
              <a:ext uri="{FF2B5EF4-FFF2-40B4-BE49-F238E27FC236}">
                <a16:creationId xmlns:a16="http://schemas.microsoft.com/office/drawing/2014/main" id="{493AB70A-AF3C-4116-829C-AE00231124F7}"/>
              </a:ext>
            </a:extLst>
          </p:cNvPr>
          <p:cNvSpPr>
            <a:spLocks noGrp="1"/>
          </p:cNvSpPr>
          <p:nvPr>
            <p:ph type="title"/>
          </p:nvPr>
        </p:nvSpPr>
        <p:spPr>
          <a:xfrm>
            <a:off x="536135" y="76140"/>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320632" y="1348886"/>
            <a:ext cx="8229600" cy="519739"/>
          </a:xfrm>
        </p:spPr>
        <p:txBody>
          <a:bodyPr/>
          <a:lstStyle/>
          <a:p>
            <a:pPr lvl="1"/>
            <a:r>
              <a:rPr lang="en-US" altLang="zh-CN" sz="2000" b="1" dirty="0"/>
              <a:t>C</a:t>
            </a:r>
            <a:r>
              <a:rPr lang="zh-CN" altLang="en-US" sz="2000" b="1" dirty="0"/>
              <a:t>语言中算术运算和汇编代码的对应关系：</a:t>
            </a:r>
            <a:endParaRPr lang="zh-CN" altLang="en-US" sz="1600" b="1" dirty="0"/>
          </a:p>
        </p:txBody>
      </p:sp>
      <p:grpSp>
        <p:nvGrpSpPr>
          <p:cNvPr id="6" name="组合 5">
            <a:extLst>
              <a:ext uri="{FF2B5EF4-FFF2-40B4-BE49-F238E27FC236}">
                <a16:creationId xmlns:a16="http://schemas.microsoft.com/office/drawing/2014/main" id="{B2C9E1FA-052C-469A-A68D-EF6C45CDCDF6}"/>
              </a:ext>
            </a:extLst>
          </p:cNvPr>
          <p:cNvGrpSpPr/>
          <p:nvPr/>
        </p:nvGrpSpPr>
        <p:grpSpPr>
          <a:xfrm>
            <a:off x="4053325" y="2712493"/>
            <a:ext cx="5090675" cy="3894771"/>
            <a:chOff x="3972506" y="2483790"/>
            <a:chExt cx="5090675" cy="3894771"/>
          </a:xfrm>
        </p:grpSpPr>
        <p:grpSp>
          <p:nvGrpSpPr>
            <p:cNvPr id="2" name="组合 1">
              <a:extLst>
                <a:ext uri="{FF2B5EF4-FFF2-40B4-BE49-F238E27FC236}">
                  <a16:creationId xmlns:a16="http://schemas.microsoft.com/office/drawing/2014/main" id="{A1862C86-FA20-4312-9DE7-CF484E3DD9BB}"/>
                </a:ext>
              </a:extLst>
            </p:cNvPr>
            <p:cNvGrpSpPr/>
            <p:nvPr/>
          </p:nvGrpSpPr>
          <p:grpSpPr>
            <a:xfrm>
              <a:off x="3972506" y="2483790"/>
              <a:ext cx="5090675" cy="2321436"/>
              <a:chOff x="3972506" y="2483790"/>
              <a:chExt cx="5090675" cy="2321436"/>
            </a:xfrm>
          </p:grpSpPr>
          <p:sp>
            <p:nvSpPr>
              <p:cNvPr id="32" name="文本框 31">
                <a:extLst>
                  <a:ext uri="{FF2B5EF4-FFF2-40B4-BE49-F238E27FC236}">
                    <a16:creationId xmlns:a16="http://schemas.microsoft.com/office/drawing/2014/main" id="{F587C426-56B8-4E42-AF38-626CCBEC177E}"/>
                  </a:ext>
                </a:extLst>
              </p:cNvPr>
              <p:cNvSpPr txBox="1"/>
              <p:nvPr/>
            </p:nvSpPr>
            <p:spPr>
              <a:xfrm>
                <a:off x="3972506" y="2483790"/>
                <a:ext cx="383310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255 -&gt; 0x1f+esp</a:t>
                </a:r>
                <a:r>
                  <a:rPr lang="zh-CN" altLang="en-US" sz="1400" b="1" dirty="0"/>
                  <a:t>为地址的存储单元（</a:t>
                </a:r>
                <a:r>
                  <a:rPr lang="en-US" altLang="zh-CN" sz="1400" b="1" dirty="0" err="1"/>
                  <a:t>uj</a:t>
                </a:r>
                <a:r>
                  <a:rPr lang="en-US" altLang="zh-CN" sz="1400" b="1" dirty="0"/>
                  <a:t>=255</a:t>
                </a:r>
                <a:r>
                  <a:rPr lang="zh-CN" altLang="en-US" sz="1400" b="1" dirty="0"/>
                  <a:t>）</a:t>
                </a:r>
              </a:p>
            </p:txBody>
          </p:sp>
          <p:sp>
            <p:nvSpPr>
              <p:cNvPr id="33" name="文本框 32">
                <a:extLst>
                  <a:ext uri="{FF2B5EF4-FFF2-40B4-BE49-F238E27FC236}">
                    <a16:creationId xmlns:a16="http://schemas.microsoft.com/office/drawing/2014/main" id="{228881D7-1DDB-466E-9EC7-2926D0486419}"/>
                  </a:ext>
                </a:extLst>
              </p:cNvPr>
              <p:cNvSpPr txBox="1"/>
              <p:nvPr/>
            </p:nvSpPr>
            <p:spPr>
              <a:xfrm>
                <a:off x="3983380" y="3038029"/>
                <a:ext cx="478688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0x404140</a:t>
                </a:r>
                <a:r>
                  <a:rPr lang="zh-CN" altLang="en-US" sz="1400" b="1" dirty="0"/>
                  <a:t>存储单元存放</a:t>
                </a:r>
                <a:r>
                  <a:rPr lang="en-US" altLang="zh-CN" sz="1400" b="1" dirty="0">
                    <a:solidFill>
                      <a:srgbClr val="C00000"/>
                    </a:solidFill>
                  </a:rPr>
                  <a:t>1</a:t>
                </a:r>
                <a:r>
                  <a:rPr lang="zh-CN" altLang="en-US" sz="1400" b="1" dirty="0"/>
                  <a:t>的机器码</a:t>
                </a:r>
                <a:r>
                  <a:rPr lang="en-US" altLang="zh-CN" sz="1400" b="1" dirty="0">
                    <a:highlight>
                      <a:srgbClr val="FFFF00"/>
                    </a:highlight>
                  </a:rPr>
                  <a:t>0x3f800000</a:t>
                </a:r>
                <a:r>
                  <a:rPr lang="zh-CN" altLang="en-US" sz="1400" b="1" dirty="0">
                    <a:highlight>
                      <a:srgbClr val="FFFF00"/>
                    </a:highlight>
                  </a:rPr>
                  <a:t>（</a:t>
                </a:r>
                <a:r>
                  <a:rPr lang="en-US" altLang="zh-CN" sz="1400" b="1" dirty="0">
                    <a:highlight>
                      <a:srgbClr val="FFFF00"/>
                    </a:highlight>
                  </a:rPr>
                  <a:t>IEEE754</a:t>
                </a:r>
                <a:r>
                  <a:rPr lang="zh-CN" altLang="en-US" sz="1400" b="1" dirty="0">
                    <a:highlight>
                      <a:srgbClr val="FFFF00"/>
                    </a:highlight>
                  </a:rPr>
                  <a:t>）</a:t>
                </a:r>
              </a:p>
            </p:txBody>
          </p:sp>
          <p:sp>
            <p:nvSpPr>
              <p:cNvPr id="34" name="文本框 33">
                <a:extLst>
                  <a:ext uri="{FF2B5EF4-FFF2-40B4-BE49-F238E27FC236}">
                    <a16:creationId xmlns:a16="http://schemas.microsoft.com/office/drawing/2014/main" id="{A89D0440-589D-427B-B841-D8AE2C3DE45A}"/>
                  </a:ext>
                </a:extLst>
              </p:cNvPr>
              <p:cNvSpPr txBox="1"/>
              <p:nvPr/>
            </p:nvSpPr>
            <p:spPr>
              <a:xfrm>
                <a:off x="3975892" y="3354369"/>
                <a:ext cx="361663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en-US" altLang="zh-CN" sz="1400" b="1" dirty="0"/>
                  <a:t> -&gt; 0x18+esp</a:t>
                </a:r>
                <a:r>
                  <a:rPr lang="zh-CN" altLang="en-US" sz="1400" b="1" dirty="0"/>
                  <a:t>为地址的存储单元（</a:t>
                </a:r>
                <a:r>
                  <a:rPr lang="en-US" altLang="zh-CN" sz="1400" b="1" dirty="0"/>
                  <a:t>e=1</a:t>
                </a:r>
                <a:r>
                  <a:rPr lang="zh-CN" altLang="en-US" sz="1400" b="1" dirty="0"/>
                  <a:t>）</a:t>
                </a:r>
              </a:p>
            </p:txBody>
          </p:sp>
          <p:sp>
            <p:nvSpPr>
              <p:cNvPr id="35" name="文本框 34">
                <a:extLst>
                  <a:ext uri="{FF2B5EF4-FFF2-40B4-BE49-F238E27FC236}">
                    <a16:creationId xmlns:a16="http://schemas.microsoft.com/office/drawing/2014/main" id="{BA18E961-B605-4DDC-A1AB-3B15FCD3D1AA}"/>
                  </a:ext>
                </a:extLst>
              </p:cNvPr>
              <p:cNvSpPr txBox="1"/>
              <p:nvPr/>
            </p:nvSpPr>
            <p:spPr>
              <a:xfrm>
                <a:off x="4002731" y="3927263"/>
                <a:ext cx="4929936"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solidFill>
                      <a:srgbClr val="C00000"/>
                    </a:solidFill>
                  </a:rPr>
                  <a:t>+ </a:t>
                </a:r>
                <a:r>
                  <a:rPr lang="en-US" altLang="zh-CN" sz="1400" b="1" dirty="0"/>
                  <a:t>3 -&gt; 0x14+esp</a:t>
                </a:r>
                <a:r>
                  <a:rPr lang="zh-CN" altLang="en-US" sz="1400" b="1" dirty="0"/>
                  <a:t>存储单元</a:t>
                </a:r>
                <a:r>
                  <a:rPr lang="en-US" altLang="zh-CN" sz="1400" b="1" dirty="0"/>
                  <a:t>(</a:t>
                </a:r>
                <a:r>
                  <a:rPr lang="en-US" altLang="zh-CN" sz="1400" b="1" dirty="0" err="1"/>
                  <a:t>i</a:t>
                </a:r>
                <a:r>
                  <a:rPr lang="en-US" altLang="zh-CN" sz="1400" b="1" dirty="0"/>
                  <a:t>)</a:t>
                </a:r>
                <a:endParaRPr lang="zh-CN" altLang="en-US" sz="1400" b="1" dirty="0"/>
              </a:p>
            </p:txBody>
          </p:sp>
          <p:sp>
            <p:nvSpPr>
              <p:cNvPr id="36" name="文本框 35">
                <a:extLst>
                  <a:ext uri="{FF2B5EF4-FFF2-40B4-BE49-F238E27FC236}">
                    <a16:creationId xmlns:a16="http://schemas.microsoft.com/office/drawing/2014/main" id="{3A2E7F35-63E0-476C-832E-7A538B427996}"/>
                  </a:ext>
                </a:extLst>
              </p:cNvPr>
              <p:cNvSpPr txBox="1"/>
              <p:nvPr/>
            </p:nvSpPr>
            <p:spPr>
              <a:xfrm>
                <a:off x="4002730" y="4497449"/>
                <a:ext cx="5060451"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solidFill>
                      <a:srgbClr val="C00000"/>
                    </a:solidFill>
                  </a:rPr>
                  <a:t>- </a:t>
                </a:r>
                <a:r>
                  <a:rPr lang="en-US" altLang="zh-CN" sz="1400" b="1" dirty="0"/>
                  <a:t>3 -&gt; 0x13+esp</a:t>
                </a:r>
                <a:r>
                  <a:rPr lang="zh-CN" altLang="en-US" sz="1400" b="1" dirty="0"/>
                  <a:t>存储单元</a:t>
                </a:r>
                <a:r>
                  <a:rPr lang="en-US" altLang="zh-CN" sz="1400" b="1" dirty="0"/>
                  <a:t>(</a:t>
                </a:r>
                <a:r>
                  <a:rPr lang="en-US" altLang="zh-CN" sz="1400" b="1" dirty="0" err="1"/>
                  <a:t>ui</a:t>
                </a:r>
                <a:r>
                  <a:rPr lang="en-US" altLang="zh-CN" sz="1400" b="1" dirty="0"/>
                  <a:t>)</a:t>
                </a:r>
                <a:endParaRPr lang="zh-CN" altLang="en-US" sz="1400" b="1" dirty="0"/>
              </a:p>
            </p:txBody>
          </p:sp>
        </p:grpSp>
        <p:grpSp>
          <p:nvGrpSpPr>
            <p:cNvPr id="4" name="组合 3">
              <a:extLst>
                <a:ext uri="{FF2B5EF4-FFF2-40B4-BE49-F238E27FC236}">
                  <a16:creationId xmlns:a16="http://schemas.microsoft.com/office/drawing/2014/main" id="{1DD1458C-DCA5-4073-AA04-AAD22454CD4A}"/>
                </a:ext>
              </a:extLst>
            </p:cNvPr>
            <p:cNvGrpSpPr/>
            <p:nvPr/>
          </p:nvGrpSpPr>
          <p:grpSpPr>
            <a:xfrm>
              <a:off x="4002730" y="5438103"/>
              <a:ext cx="4037612" cy="940458"/>
              <a:chOff x="4002730" y="5438103"/>
              <a:chExt cx="4037612" cy="940458"/>
            </a:xfrm>
          </p:grpSpPr>
          <p:sp>
            <p:nvSpPr>
              <p:cNvPr id="37" name="文本框 36">
                <a:extLst>
                  <a:ext uri="{FF2B5EF4-FFF2-40B4-BE49-F238E27FC236}">
                    <a16:creationId xmlns:a16="http://schemas.microsoft.com/office/drawing/2014/main" id="{F3420420-7730-4AC3-B052-5F9ED61EAEA7}"/>
                  </a:ext>
                </a:extLst>
              </p:cNvPr>
              <p:cNvSpPr txBox="1"/>
              <p:nvPr/>
            </p:nvSpPr>
            <p:spPr>
              <a:xfrm>
                <a:off x="4002730" y="5438103"/>
                <a:ext cx="374968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8" name="文本框 37">
                <a:extLst>
                  <a:ext uri="{FF2B5EF4-FFF2-40B4-BE49-F238E27FC236}">
                    <a16:creationId xmlns:a16="http://schemas.microsoft.com/office/drawing/2014/main" id="{7D4B365E-FB71-4D1C-97AE-D4C68D780722}"/>
                  </a:ext>
                </a:extLst>
              </p:cNvPr>
              <p:cNvSpPr txBox="1"/>
              <p:nvPr/>
            </p:nvSpPr>
            <p:spPr>
              <a:xfrm>
                <a:off x="4012701" y="5746193"/>
                <a:ext cx="402764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0xc+esp</a:t>
                </a:r>
                <a:r>
                  <a:rPr lang="zh-CN" altLang="en-US" sz="1400" b="1" dirty="0"/>
                  <a:t>存储单元的内容（</a:t>
                </a:r>
                <a:r>
                  <a:rPr lang="en-US" altLang="zh-CN" sz="1400" b="1" dirty="0"/>
                  <a:t>j</a:t>
                </a:r>
                <a:r>
                  <a:rPr lang="zh-CN" altLang="en-US" sz="1400" b="1" dirty="0"/>
                  <a:t>）</a:t>
                </a:r>
                <a:r>
                  <a:rPr lang="zh-CN" altLang="en-US" sz="1400" b="1" dirty="0">
                    <a:solidFill>
                      <a:srgbClr val="C00000"/>
                    </a:solidFill>
                  </a:rPr>
                  <a:t>*</a:t>
                </a:r>
                <a:r>
                  <a:rPr lang="zh-CN" altLang="en-US" sz="1400" b="1" dirty="0">
                    <a:solidFill>
                      <a:srgbClr val="FF0000"/>
                    </a:solidFill>
                  </a:rPr>
                  <a:t> </a:t>
                </a:r>
                <a:r>
                  <a:rPr lang="en-US" altLang="zh-CN" sz="1400" b="1" dirty="0" err="1"/>
                  <a:t>eax</a:t>
                </a:r>
                <a:r>
                  <a:rPr lang="en-US" altLang="zh-CN" sz="1400" b="1" dirty="0"/>
                  <a:t> -&gt; </a:t>
                </a:r>
                <a:r>
                  <a:rPr lang="en-US" altLang="zh-CN" sz="1400" b="1" dirty="0" err="1"/>
                  <a:t>eax</a:t>
                </a:r>
                <a:r>
                  <a:rPr lang="zh-CN" altLang="en-US" sz="1400" b="1" dirty="0"/>
                  <a:t>寄存器</a:t>
                </a:r>
              </a:p>
            </p:txBody>
          </p:sp>
          <p:sp>
            <p:nvSpPr>
              <p:cNvPr id="39" name="文本框 38">
                <a:extLst>
                  <a:ext uri="{FF2B5EF4-FFF2-40B4-BE49-F238E27FC236}">
                    <a16:creationId xmlns:a16="http://schemas.microsoft.com/office/drawing/2014/main" id="{92FA9109-3068-442F-9436-08100D4F7D67}"/>
                  </a:ext>
                </a:extLst>
              </p:cNvPr>
              <p:cNvSpPr txBox="1"/>
              <p:nvPr/>
            </p:nvSpPr>
            <p:spPr>
              <a:xfrm>
                <a:off x="4002730" y="6070784"/>
                <a:ext cx="321107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grpSp>
      </p:grpSp>
      <p:sp>
        <p:nvSpPr>
          <p:cNvPr id="11" name="对话气泡: 圆角矩形 10">
            <a:extLst>
              <a:ext uri="{FF2B5EF4-FFF2-40B4-BE49-F238E27FC236}">
                <a16:creationId xmlns:a16="http://schemas.microsoft.com/office/drawing/2014/main" id="{A59A37FB-802F-4F0D-A1C8-66426E04D000}"/>
              </a:ext>
            </a:extLst>
          </p:cNvPr>
          <p:cNvSpPr/>
          <p:nvPr/>
        </p:nvSpPr>
        <p:spPr>
          <a:xfrm>
            <a:off x="4554129" y="1765186"/>
            <a:ext cx="1890079" cy="519739"/>
          </a:xfrm>
          <a:prstGeom prst="wedgeRoundRectCallout">
            <a:avLst>
              <a:gd name="adj1" fmla="val -78665"/>
              <a:gd name="adj2" fmla="val 60114"/>
              <a:gd name="adj3" fmla="val 16667"/>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单字节无符号整数</a:t>
            </a:r>
          </a:p>
        </p:txBody>
      </p:sp>
      <p:sp>
        <p:nvSpPr>
          <p:cNvPr id="5" name="矩形 4">
            <a:extLst>
              <a:ext uri="{FF2B5EF4-FFF2-40B4-BE49-F238E27FC236}">
                <a16:creationId xmlns:a16="http://schemas.microsoft.com/office/drawing/2014/main" id="{C47DFB09-1700-42A0-BB8F-64E97ECD9060}"/>
              </a:ext>
            </a:extLst>
          </p:cNvPr>
          <p:cNvSpPr/>
          <p:nvPr/>
        </p:nvSpPr>
        <p:spPr>
          <a:xfrm>
            <a:off x="1115616" y="4726152"/>
            <a:ext cx="144016" cy="2632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459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78BBE563-E7BA-4FB2-9516-04B5719B025E}"/>
              </a:ext>
            </a:extLst>
          </p:cNvPr>
          <p:cNvPicPr>
            <a:picLocks noChangeAspect="1"/>
          </p:cNvPicPr>
          <p:nvPr/>
        </p:nvPicPr>
        <p:blipFill>
          <a:blip r:embed="rId2"/>
          <a:stretch>
            <a:fillRect/>
          </a:stretch>
        </p:blipFill>
        <p:spPr>
          <a:xfrm>
            <a:off x="350430" y="1284835"/>
            <a:ext cx="2714579" cy="5193799"/>
          </a:xfrm>
          <a:prstGeom prst="rect">
            <a:avLst/>
          </a:prstGeom>
        </p:spPr>
      </p:pic>
      <p:grpSp>
        <p:nvGrpSpPr>
          <p:cNvPr id="4" name="组合 3">
            <a:extLst>
              <a:ext uri="{FF2B5EF4-FFF2-40B4-BE49-F238E27FC236}">
                <a16:creationId xmlns:a16="http://schemas.microsoft.com/office/drawing/2014/main" id="{C0C442DA-5231-4F0A-9073-D8C3B344EBEB}"/>
              </a:ext>
            </a:extLst>
          </p:cNvPr>
          <p:cNvGrpSpPr/>
          <p:nvPr/>
        </p:nvGrpSpPr>
        <p:grpSpPr>
          <a:xfrm>
            <a:off x="2843808" y="1326897"/>
            <a:ext cx="6183624" cy="4534473"/>
            <a:chOff x="3165457" y="169923"/>
            <a:chExt cx="6183624" cy="4534473"/>
          </a:xfrm>
          <a:solidFill>
            <a:schemeClr val="bg2">
              <a:lumMod val="90000"/>
            </a:schemeClr>
          </a:solidFill>
        </p:grpSpPr>
        <p:grpSp>
          <p:nvGrpSpPr>
            <p:cNvPr id="2" name="组合 1">
              <a:extLst>
                <a:ext uri="{FF2B5EF4-FFF2-40B4-BE49-F238E27FC236}">
                  <a16:creationId xmlns:a16="http://schemas.microsoft.com/office/drawing/2014/main" id="{8B0CCDA6-D110-4B6D-9C6F-7FCA126A515A}"/>
                </a:ext>
              </a:extLst>
            </p:cNvPr>
            <p:cNvGrpSpPr/>
            <p:nvPr/>
          </p:nvGrpSpPr>
          <p:grpSpPr>
            <a:xfrm>
              <a:off x="3168940" y="169923"/>
              <a:ext cx="6180141" cy="3461342"/>
              <a:chOff x="3168940" y="169923"/>
              <a:chExt cx="6180141" cy="3461342"/>
            </a:xfrm>
            <a:grpFill/>
          </p:grpSpPr>
          <p:sp>
            <p:nvSpPr>
              <p:cNvPr id="15" name="文本框 14">
                <a:extLst>
                  <a:ext uri="{FF2B5EF4-FFF2-40B4-BE49-F238E27FC236}">
                    <a16:creationId xmlns:a16="http://schemas.microsoft.com/office/drawing/2014/main" id="{6D75F72B-9B77-4FAB-82C5-66155053F57A}"/>
                  </a:ext>
                </a:extLst>
              </p:cNvPr>
              <p:cNvSpPr txBox="1"/>
              <p:nvPr/>
            </p:nvSpPr>
            <p:spPr>
              <a:xfrm>
                <a:off x="3168940" y="16992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16" name="文本框 15">
                <a:extLst>
                  <a:ext uri="{FF2B5EF4-FFF2-40B4-BE49-F238E27FC236}">
                    <a16:creationId xmlns:a16="http://schemas.microsoft.com/office/drawing/2014/main" id="{036801B0-9DFB-43D7-A030-8C62601A9630}"/>
                  </a:ext>
                </a:extLst>
              </p:cNvPr>
              <p:cNvSpPr txBox="1"/>
              <p:nvPr/>
            </p:nvSpPr>
            <p:spPr>
              <a:xfrm>
                <a:off x="3175678" y="498711"/>
                <a:ext cx="4448654"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zh-CN" altLang="en-US"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al</a:t>
                </a:r>
                <a:r>
                  <a:rPr lang="zh-CN" altLang="en-US" sz="1400" b="1" dirty="0"/>
                  <a:t>寄存器</a:t>
                </a:r>
              </a:p>
            </p:txBody>
          </p:sp>
          <p:sp>
            <p:nvSpPr>
              <p:cNvPr id="17" name="文本框 16">
                <a:extLst>
                  <a:ext uri="{FF2B5EF4-FFF2-40B4-BE49-F238E27FC236}">
                    <a16:creationId xmlns:a16="http://schemas.microsoft.com/office/drawing/2014/main" id="{6F88BDA5-03CF-4EDF-A6C4-07E798DBF805}"/>
                  </a:ext>
                </a:extLst>
              </p:cNvPr>
              <p:cNvSpPr txBox="1"/>
              <p:nvPr/>
            </p:nvSpPr>
            <p:spPr>
              <a:xfrm>
                <a:off x="3187509" y="808618"/>
                <a:ext cx="3182281"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0x13+esp</a:t>
                </a:r>
                <a:r>
                  <a:rPr lang="zh-CN" altLang="en-US" sz="1400" b="1" dirty="0"/>
                  <a:t>存储单元（</a:t>
                </a:r>
                <a:r>
                  <a:rPr lang="en-US" altLang="zh-CN" sz="1400" b="1" dirty="0" err="1"/>
                  <a:t>ui</a:t>
                </a:r>
                <a:r>
                  <a:rPr lang="zh-CN" altLang="en-US" sz="1400" b="1" dirty="0"/>
                  <a:t>）</a:t>
                </a:r>
              </a:p>
            </p:txBody>
          </p:sp>
          <p:sp>
            <p:nvSpPr>
              <p:cNvPr id="18" name="文本框 17">
                <a:extLst>
                  <a:ext uri="{FF2B5EF4-FFF2-40B4-BE49-F238E27FC236}">
                    <a16:creationId xmlns:a16="http://schemas.microsoft.com/office/drawing/2014/main" id="{B8054C89-4B9D-41AA-8324-EFFBDB40CBC3}"/>
                  </a:ext>
                </a:extLst>
              </p:cNvPr>
              <p:cNvSpPr txBox="1"/>
              <p:nvPr/>
            </p:nvSpPr>
            <p:spPr>
              <a:xfrm>
                <a:off x="3187509" y="1435414"/>
                <a:ext cx="5948552"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 </a:t>
                </a:r>
                <a:r>
                  <a:rPr lang="en-US" altLang="zh-CN" sz="1400" b="1" dirty="0"/>
                  <a:t>;</a:t>
                </a:r>
                <a:r>
                  <a:rPr lang="en-US" altLang="zh-CN" sz="1400" b="1" dirty="0" err="1">
                    <a:highlight>
                      <a:srgbClr val="FFFF00"/>
                    </a:highlight>
                  </a:rPr>
                  <a:t>cltd</a:t>
                </a:r>
                <a:r>
                  <a:rPr lang="zh-CN" altLang="en-US" sz="1400" b="1" dirty="0">
                    <a:highlight>
                      <a:srgbClr val="FFFF00"/>
                    </a:highlight>
                  </a:rPr>
                  <a:t>是符号扩展指令</a:t>
                </a:r>
                <a:r>
                  <a:rPr lang="en-US" altLang="zh-CN" sz="1400" b="1" dirty="0" err="1">
                    <a:highlight>
                      <a:srgbClr val="FFFF00"/>
                    </a:highlight>
                  </a:rPr>
                  <a:t>edx:eax</a:t>
                </a:r>
                <a:endParaRPr lang="zh-CN" altLang="en-US" sz="1400" b="1" dirty="0">
                  <a:highlight>
                    <a:srgbClr val="FFFF00"/>
                  </a:highlight>
                </a:endParaRPr>
              </a:p>
            </p:txBody>
          </p:sp>
          <p:sp>
            <p:nvSpPr>
              <p:cNvPr id="19" name="文本框 18">
                <a:extLst>
                  <a:ext uri="{FF2B5EF4-FFF2-40B4-BE49-F238E27FC236}">
                    <a16:creationId xmlns:a16="http://schemas.microsoft.com/office/drawing/2014/main" id="{68C1498A-4A0D-4DC5-9EB1-BB8163649E2C}"/>
                  </a:ext>
                </a:extLst>
              </p:cNvPr>
              <p:cNvSpPr txBox="1"/>
              <p:nvPr/>
            </p:nvSpPr>
            <p:spPr>
              <a:xfrm>
                <a:off x="3187509" y="1757157"/>
                <a:ext cx="4860113"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err="1"/>
                  <a:t>edx:eax</a:t>
                </a:r>
                <a:r>
                  <a:rPr lang="zh-CN" altLang="en-US" sz="1400" b="1" dirty="0"/>
                  <a:t>寄存器</a:t>
                </a:r>
                <a:r>
                  <a:rPr lang="en-US" altLang="zh-CN" sz="1400" b="1" dirty="0">
                    <a:solidFill>
                      <a:srgbClr val="C00000"/>
                    </a:solidFill>
                  </a:rPr>
                  <a:t>/</a:t>
                </a:r>
                <a:r>
                  <a:rPr lang="en-US" altLang="zh-CN" sz="1400" b="1" dirty="0"/>
                  <a:t>0xc+esp</a:t>
                </a:r>
                <a:r>
                  <a:rPr lang="zh-CN" altLang="en-US" sz="1400" b="1" dirty="0"/>
                  <a:t>存储单元的内容（</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0" name="文本框 19">
                <a:extLst>
                  <a:ext uri="{FF2B5EF4-FFF2-40B4-BE49-F238E27FC236}">
                    <a16:creationId xmlns:a16="http://schemas.microsoft.com/office/drawing/2014/main" id="{068077E7-9571-46AC-ACF9-F01106A3C100}"/>
                  </a:ext>
                </a:extLst>
              </p:cNvPr>
              <p:cNvSpPr txBox="1"/>
              <p:nvPr/>
            </p:nvSpPr>
            <p:spPr>
              <a:xfrm>
                <a:off x="3187868" y="2108578"/>
                <a:ext cx="3593484" cy="307777"/>
              </a:xfrm>
              <a:prstGeom prst="rect">
                <a:avLst/>
              </a:prstGeom>
              <a:grpFill/>
              <a:ln>
                <a:solidFill>
                  <a:schemeClr val="tx1"/>
                </a:solidFill>
              </a:ln>
            </p:spPr>
            <p:txBody>
              <a:bodyPr wrap="none" rtlCol="0">
                <a:spAutoFit/>
              </a:bodyPr>
              <a:lstStyle/>
              <a:p>
                <a:r>
                  <a:rPr lang="zh-CN" altLang="en-US" sz="1400" b="1" dirty="0"/>
                  <a:t>；</a:t>
                </a:r>
                <a:r>
                  <a:rPr lang="zh-CN" altLang="en-US" sz="1400" b="1" dirty="0">
                    <a:highlight>
                      <a:srgbClr val="FFFF00"/>
                    </a:highlight>
                  </a:rPr>
                  <a:t>商</a:t>
                </a:r>
                <a:r>
                  <a:rPr lang="zh-CN" altLang="en-US" sz="1400" b="1" dirty="0"/>
                  <a:t>在</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sp>
            <p:nvSpPr>
              <p:cNvPr id="21" name="文本框 20">
                <a:extLst>
                  <a:ext uri="{FF2B5EF4-FFF2-40B4-BE49-F238E27FC236}">
                    <a16:creationId xmlns:a16="http://schemas.microsoft.com/office/drawing/2014/main" id="{831226EE-2719-4684-BED2-A037E825DE02}"/>
                  </a:ext>
                </a:extLst>
              </p:cNvPr>
              <p:cNvSpPr txBox="1"/>
              <p:nvPr/>
            </p:nvSpPr>
            <p:spPr>
              <a:xfrm>
                <a:off x="3209299" y="257087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22" name="文本框 21">
                <a:extLst>
                  <a:ext uri="{FF2B5EF4-FFF2-40B4-BE49-F238E27FC236}">
                    <a16:creationId xmlns:a16="http://schemas.microsoft.com/office/drawing/2014/main" id="{3BE1CA2D-8FC8-43CB-A66A-291961BC427B}"/>
                  </a:ext>
                </a:extLst>
              </p:cNvPr>
              <p:cNvSpPr txBox="1"/>
              <p:nvPr/>
            </p:nvSpPr>
            <p:spPr>
              <a:xfrm>
                <a:off x="3201903" y="2895077"/>
                <a:ext cx="5449150" cy="615553"/>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movzbl</a:t>
                </a:r>
                <a:r>
                  <a:rPr lang="en-US" altLang="zh-CN" sz="1400" b="1" dirty="0"/>
                  <a:t> :</a:t>
                </a:r>
                <a:r>
                  <a:rPr lang="zh-CN" altLang="en-US" sz="1400" b="1" dirty="0"/>
                  <a:t>将</a:t>
                </a:r>
                <a:r>
                  <a:rPr lang="en-US" altLang="zh-CN" sz="1400" b="1" dirty="0"/>
                  <a:t>0</a:t>
                </a:r>
                <a:r>
                  <a:rPr lang="zh-CN" altLang="en-US" sz="1400" b="1" dirty="0"/>
                  <a:t>扩展的</a:t>
                </a:r>
                <a:r>
                  <a:rPr lang="en-US" altLang="zh-CN" sz="1400" b="1" dirty="0"/>
                  <a:t>1</a:t>
                </a:r>
                <a:r>
                  <a:rPr lang="zh-CN" altLang="en-US" sz="1400" b="1" dirty="0"/>
                  <a:t>字节复制到</a:t>
                </a:r>
                <a:r>
                  <a:rPr lang="en-US" altLang="zh-CN" sz="1400" b="1" dirty="0"/>
                  <a:t>4</a:t>
                </a:r>
                <a:r>
                  <a:rPr lang="zh-CN" altLang="en-US" sz="1400" b="1" dirty="0"/>
                  <a:t>字节  </a:t>
                </a:r>
                <a:r>
                  <a:rPr lang="en-US" altLang="zh-CN" sz="1400" b="1" dirty="0"/>
                  <a:t>al</a:t>
                </a:r>
                <a:r>
                  <a:rPr lang="zh-CN" altLang="en-US" sz="1400" b="1" dirty="0"/>
                  <a:t>寄存器</a:t>
                </a:r>
                <a:r>
                  <a:rPr lang="en-US" altLang="zh-CN" sz="1400" b="1" dirty="0"/>
                  <a:t> -&gt; </a:t>
                </a:r>
                <a:r>
                  <a:rPr lang="en-US" altLang="zh-CN" sz="1400" b="1" dirty="0" err="1"/>
                  <a:t>eax</a:t>
                </a:r>
                <a:r>
                  <a:rPr lang="zh-CN" altLang="en-US" sz="1400" b="1" dirty="0"/>
                  <a:t>寄存器</a:t>
                </a:r>
                <a:endParaRPr lang="en-US" altLang="zh-CN" sz="1400" b="1" dirty="0"/>
              </a:p>
              <a:p>
                <a:r>
                  <a:rPr lang="en-US" altLang="zh-CN" sz="1000" b="1" i="0" dirty="0" err="1">
                    <a:solidFill>
                      <a:srgbClr val="C00000"/>
                    </a:solidFill>
                    <a:effectLst/>
                    <a:latin typeface="Arial" panose="020B0604020202020204" pitchFamily="34" charset="0"/>
                  </a:rPr>
                  <a:t>movzbl</a:t>
                </a:r>
                <a:r>
                  <a:rPr lang="en-US" altLang="zh-CN" sz="1000" b="1" i="0" dirty="0">
                    <a:solidFill>
                      <a:srgbClr val="C00000"/>
                    </a:solidFill>
                    <a:effectLst/>
                    <a:latin typeface="Arial" panose="020B0604020202020204" pitchFamily="34" charset="0"/>
                  </a:rPr>
                  <a:t>:</a:t>
                </a:r>
                <a:r>
                  <a:rPr lang="zh-CN" altLang="en-US" sz="1000" b="1" i="0" dirty="0">
                    <a:solidFill>
                      <a:srgbClr val="C00000"/>
                    </a:solidFill>
                    <a:effectLst/>
                    <a:latin typeface="Arial" panose="020B0604020202020204" pitchFamily="34" charset="0"/>
                  </a:rPr>
                  <a:t>将一个字节的数据拷贝到一个</a:t>
                </a:r>
                <a:r>
                  <a:rPr lang="en-US" altLang="zh-CN" sz="1000" b="1" i="0" dirty="0">
                    <a:solidFill>
                      <a:srgbClr val="C00000"/>
                    </a:solidFill>
                    <a:effectLst/>
                    <a:latin typeface="Arial" panose="020B0604020202020204" pitchFamily="34" charset="0"/>
                  </a:rPr>
                  <a:t>32</a:t>
                </a:r>
                <a:r>
                  <a:rPr lang="zh-CN" altLang="en-US" sz="1000" b="1" i="0" dirty="0">
                    <a:solidFill>
                      <a:srgbClr val="C00000"/>
                    </a:solidFill>
                    <a:effectLst/>
                    <a:latin typeface="Arial" panose="020B0604020202020204" pitchFamily="34" charset="0"/>
                  </a:rPr>
                  <a:t>位的寄存器中，并在高位填充零。用于无符号数的扩展</a:t>
                </a:r>
                <a:endParaRPr lang="zh-CN" altLang="en-US" sz="1000" b="1" dirty="0">
                  <a:solidFill>
                    <a:srgbClr val="C00000"/>
                  </a:solidFill>
                </a:endParaRPr>
              </a:p>
            </p:txBody>
          </p:sp>
          <p:sp>
            <p:nvSpPr>
              <p:cNvPr id="23" name="文本框 22">
                <a:extLst>
                  <a:ext uri="{FF2B5EF4-FFF2-40B4-BE49-F238E27FC236}">
                    <a16:creationId xmlns:a16="http://schemas.microsoft.com/office/drawing/2014/main" id="{93641426-33B5-47C0-8F55-D6B9018FAE0A}"/>
                  </a:ext>
                </a:extLst>
              </p:cNvPr>
              <p:cNvSpPr txBox="1"/>
              <p:nvPr/>
            </p:nvSpPr>
            <p:spPr>
              <a:xfrm>
                <a:off x="3885537" y="3323488"/>
                <a:ext cx="5463544" cy="307777"/>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t>
                </a:r>
                <a:r>
                  <a:rPr lang="en-US" altLang="zh-CN" sz="1400" b="1" dirty="0" err="1"/>
                  <a:t>eax</a:t>
                </a:r>
                <a:r>
                  <a:rPr lang="zh-CN" altLang="en-US" sz="1400" b="1" dirty="0"/>
                  <a:t>寄存器</a:t>
                </a:r>
              </a:p>
            </p:txBody>
          </p:sp>
        </p:grpSp>
        <p:grpSp>
          <p:nvGrpSpPr>
            <p:cNvPr id="3" name="组合 2">
              <a:extLst>
                <a:ext uri="{FF2B5EF4-FFF2-40B4-BE49-F238E27FC236}">
                  <a16:creationId xmlns:a16="http://schemas.microsoft.com/office/drawing/2014/main" id="{3F2563A9-942E-459D-AE8F-8FAD83AA61BC}"/>
                </a:ext>
              </a:extLst>
            </p:cNvPr>
            <p:cNvGrpSpPr/>
            <p:nvPr/>
          </p:nvGrpSpPr>
          <p:grpSpPr>
            <a:xfrm>
              <a:off x="3165457" y="3710152"/>
              <a:ext cx="4288011" cy="994244"/>
              <a:chOff x="3165457" y="3710152"/>
              <a:chExt cx="4288011" cy="994244"/>
            </a:xfrm>
            <a:grpFill/>
          </p:grpSpPr>
          <p:sp>
            <p:nvSpPr>
              <p:cNvPr id="25" name="文本框 24">
                <a:extLst>
                  <a:ext uri="{FF2B5EF4-FFF2-40B4-BE49-F238E27FC236}">
                    <a16:creationId xmlns:a16="http://schemas.microsoft.com/office/drawing/2014/main" id="{A266241E-EDC7-4D2A-9A2D-CBE0BB337DBB}"/>
                  </a:ext>
                </a:extLst>
              </p:cNvPr>
              <p:cNvSpPr txBox="1"/>
              <p:nvPr/>
            </p:nvSpPr>
            <p:spPr>
              <a:xfrm>
                <a:off x="3175678" y="3710152"/>
                <a:ext cx="4075155" cy="307777"/>
              </a:xfrm>
              <a:prstGeom prst="rect">
                <a:avLst/>
              </a:prstGeom>
              <a:grpFill/>
              <a:ln>
                <a:solidFill>
                  <a:schemeClr val="tx1"/>
                </a:solidFill>
              </a:ln>
            </p:spPr>
            <p:txBody>
              <a:bodyPr wrap="none" rtlCol="0">
                <a:spAutoFit/>
              </a:bodyPr>
              <a:lstStyle/>
              <a:p>
                <a:r>
                  <a:rPr lang="zh-CN" altLang="en-US" sz="1400" b="1" dirty="0"/>
                  <a:t>；将</a:t>
                </a:r>
                <a:r>
                  <a:rPr lang="en-US" altLang="zh-CN" sz="1400" b="1" dirty="0"/>
                  <a:t>0x18+esp</a:t>
                </a:r>
                <a:r>
                  <a:rPr lang="zh-CN" altLang="en-US" sz="1400" b="1" dirty="0"/>
                  <a:t>存储单元的内容（</a:t>
                </a:r>
                <a:r>
                  <a:rPr lang="en-US" altLang="zh-CN" sz="1400" b="1" dirty="0"/>
                  <a:t>e</a:t>
                </a:r>
                <a:r>
                  <a:rPr lang="zh-CN" altLang="en-US" sz="1400" b="1" dirty="0"/>
                  <a:t>）</a:t>
                </a:r>
                <a:r>
                  <a:rPr lang="en-US" altLang="zh-CN" sz="1400" b="1" dirty="0"/>
                  <a:t> -&gt; </a:t>
                </a:r>
                <a:r>
                  <a:rPr lang="zh-CN" altLang="en-US" sz="1400" b="1" dirty="0"/>
                  <a:t>浮点寄存器</a:t>
                </a:r>
              </a:p>
            </p:txBody>
          </p:sp>
          <p:sp>
            <p:nvSpPr>
              <p:cNvPr id="26" name="文本框 25">
                <a:extLst>
                  <a:ext uri="{FF2B5EF4-FFF2-40B4-BE49-F238E27FC236}">
                    <a16:creationId xmlns:a16="http://schemas.microsoft.com/office/drawing/2014/main" id="{5E48FDC7-8EA4-4A38-BEEB-944AD1138757}"/>
                  </a:ext>
                </a:extLst>
              </p:cNvPr>
              <p:cNvSpPr txBox="1"/>
              <p:nvPr/>
            </p:nvSpPr>
            <p:spPr>
              <a:xfrm>
                <a:off x="3182747" y="4087132"/>
                <a:ext cx="4270721"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solidFill>
                      <a:srgbClr val="C00000"/>
                    </a:solidFill>
                  </a:rPr>
                  <a:t>+0x20+esp</a:t>
                </a:r>
                <a:r>
                  <a:rPr lang="zh-CN" altLang="en-US" sz="1400" b="1" dirty="0"/>
                  <a:t>存储单元（</a:t>
                </a:r>
                <a:r>
                  <a:rPr lang="en-US" altLang="zh-CN" sz="1400" b="1" dirty="0"/>
                  <a:t>f</a:t>
                </a:r>
                <a:r>
                  <a:rPr lang="zh-CN" altLang="en-US" sz="1400" b="1" dirty="0"/>
                  <a:t>）</a:t>
                </a:r>
                <a:r>
                  <a:rPr lang="en-US" altLang="zh-CN" sz="1400" b="1" dirty="0"/>
                  <a:t>-&gt; </a:t>
                </a:r>
                <a:r>
                  <a:rPr lang="zh-CN" altLang="en-US" sz="1400" b="1" dirty="0"/>
                  <a:t>浮点寄存器</a:t>
                </a:r>
              </a:p>
            </p:txBody>
          </p:sp>
          <p:sp>
            <p:nvSpPr>
              <p:cNvPr id="27" name="文本框 26">
                <a:extLst>
                  <a:ext uri="{FF2B5EF4-FFF2-40B4-BE49-F238E27FC236}">
                    <a16:creationId xmlns:a16="http://schemas.microsoft.com/office/drawing/2014/main" id="{2368165E-D277-49F6-9E52-22E61E8EF6CC}"/>
                  </a:ext>
                </a:extLst>
              </p:cNvPr>
              <p:cNvSpPr txBox="1"/>
              <p:nvPr/>
            </p:nvSpPr>
            <p:spPr>
              <a:xfrm>
                <a:off x="3165457" y="4396619"/>
                <a:ext cx="3716082"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t> -&gt; 0x18+esp</a:t>
                </a:r>
                <a:r>
                  <a:rPr lang="zh-CN" altLang="en-US" sz="1400" b="1" dirty="0"/>
                  <a:t>存储单元（</a:t>
                </a:r>
                <a:r>
                  <a:rPr lang="en-US" altLang="zh-CN" sz="1400" b="1" dirty="0"/>
                  <a:t>e</a:t>
                </a:r>
                <a:r>
                  <a:rPr lang="zh-CN" altLang="en-US" sz="1400" b="1" dirty="0"/>
                  <a:t>）存储</a:t>
                </a:r>
              </a:p>
            </p:txBody>
          </p:sp>
        </p:grpSp>
      </p:grpSp>
      <p:sp>
        <p:nvSpPr>
          <p:cNvPr id="33" name="文本框 32">
            <a:extLst>
              <a:ext uri="{FF2B5EF4-FFF2-40B4-BE49-F238E27FC236}">
                <a16:creationId xmlns:a16="http://schemas.microsoft.com/office/drawing/2014/main" id="{EAAB9C22-0A38-4F54-976A-A1341208D9BE}"/>
              </a:ext>
            </a:extLst>
          </p:cNvPr>
          <p:cNvSpPr txBox="1"/>
          <p:nvPr/>
        </p:nvSpPr>
        <p:spPr>
          <a:xfrm>
            <a:off x="2861098" y="2277566"/>
            <a:ext cx="2834430"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 </a:t>
            </a:r>
            <a:r>
              <a:rPr lang="zh-CN" altLang="en-US" sz="1400" b="1" dirty="0"/>
              <a:t>长整型</a:t>
            </a:r>
            <a:r>
              <a:rPr lang="en-US" altLang="zh-CN" sz="1400" b="1" dirty="0"/>
              <a:t>-&gt;</a:t>
            </a:r>
            <a:r>
              <a:rPr lang="zh-CN" altLang="en-US" sz="1400" b="1" dirty="0"/>
              <a:t>双精度 </a:t>
            </a:r>
            <a:r>
              <a:rPr lang="en-US" altLang="zh-CN" sz="1400" b="1" dirty="0"/>
              <a:t>32bit-&gt;64bit</a:t>
            </a:r>
            <a:endParaRPr lang="zh-CN" altLang="en-US" sz="1400" b="1" dirty="0"/>
          </a:p>
        </p:txBody>
      </p:sp>
      <p:sp>
        <p:nvSpPr>
          <p:cNvPr id="35" name="标题 34">
            <a:extLst>
              <a:ext uri="{FF2B5EF4-FFF2-40B4-BE49-F238E27FC236}">
                <a16:creationId xmlns:a16="http://schemas.microsoft.com/office/drawing/2014/main" id="{05C06E10-CB01-4F30-9E1B-92C1215E1CAD}"/>
              </a:ext>
            </a:extLst>
          </p:cNvPr>
          <p:cNvSpPr>
            <a:spLocks noGrp="1"/>
          </p:cNvSpPr>
          <p:nvPr>
            <p:ph type="title"/>
          </p:nvPr>
        </p:nvSpPr>
        <p:spPr>
          <a:xfrm>
            <a:off x="459541" y="183897"/>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5" name="对话气泡: 圆角矩形 4">
            <a:extLst>
              <a:ext uri="{FF2B5EF4-FFF2-40B4-BE49-F238E27FC236}">
                <a16:creationId xmlns:a16="http://schemas.microsoft.com/office/drawing/2014/main" id="{56AC9271-1E03-4F9F-B775-5FC8EA5A749A}"/>
              </a:ext>
            </a:extLst>
          </p:cNvPr>
          <p:cNvSpPr/>
          <p:nvPr/>
        </p:nvSpPr>
        <p:spPr>
          <a:xfrm>
            <a:off x="1043609" y="4365104"/>
            <a:ext cx="1512168" cy="302500"/>
          </a:xfrm>
          <a:prstGeom prst="wedgeRoundRectCallout">
            <a:avLst>
              <a:gd name="adj1" fmla="val -36706"/>
              <a:gd name="adj2" fmla="val 8949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C00000"/>
                </a:solidFill>
              </a:rPr>
              <a:t>单精度浮点数相加</a:t>
            </a:r>
          </a:p>
        </p:txBody>
      </p:sp>
    </p:spTree>
    <p:extLst>
      <p:ext uri="{BB962C8B-B14F-4D97-AF65-F5344CB8AC3E}">
        <p14:creationId xmlns:p14="http://schemas.microsoft.com/office/powerpoint/2010/main" val="237665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3.2  </a:t>
            </a:r>
            <a:r>
              <a:rPr lang="zh-CN" altLang="en-US" b="1" dirty="0">
                <a:solidFill>
                  <a:srgbClr val="002060"/>
                </a:solidFill>
                <a:latin typeface="+mn-lt"/>
                <a:ea typeface="黑体" pitchFamily="49" charset="-122"/>
              </a:rPr>
              <a:t>定点加减法运算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、补码加法</a:t>
            </a:r>
            <a:endParaRPr lang="en-US" altLang="zh-CN" sz="2000" b="1" dirty="0"/>
          </a:p>
          <a:p>
            <a:pPr lvl="1" eaLnBrk="1" hangingPunct="1"/>
            <a:endParaRPr lang="en-US" altLang="zh-CN" sz="20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3.1</a:t>
            </a:r>
            <a:r>
              <a:rPr lang="zh-CN" altLang="en-US" sz="1600" b="1" dirty="0"/>
              <a:t>：</a:t>
            </a:r>
            <a:r>
              <a:rPr lang="en-US" altLang="zh-CN" sz="1600" b="1" dirty="0"/>
              <a:t>x=0.1010</a:t>
            </a:r>
            <a:r>
              <a:rPr lang="zh-CN" altLang="en-US" sz="1600" b="1" dirty="0"/>
              <a:t>，</a:t>
            </a:r>
            <a:r>
              <a:rPr lang="en-US" altLang="zh-CN" sz="1600" b="1" dirty="0"/>
              <a:t>y=0.0101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=0.1010</a:t>
            </a:r>
            <a:r>
              <a:rPr lang="zh-CN" altLang="en-US" sz="1600" b="1" dirty="0"/>
              <a:t>，</a:t>
            </a:r>
            <a:r>
              <a:rPr lang="en-US" altLang="zh-CN" sz="1600" b="1" dirty="0"/>
              <a:t>[y]</a:t>
            </a:r>
            <a:r>
              <a:rPr lang="zh-CN" altLang="en-US" sz="1600" b="1" baseline="-25000" dirty="0"/>
              <a:t>补</a:t>
            </a:r>
            <a:r>
              <a:rPr lang="en-US" altLang="zh-CN" sz="1600" b="1" dirty="0"/>
              <a:t>=0.0101</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=0.1111</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4653136"/>
            <a:ext cx="1521007" cy="1047021"/>
            <a:chOff x="3131840" y="4614227"/>
            <a:chExt cx="1521007" cy="1047021"/>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1047021"/>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0.1010</a:t>
              </a:r>
            </a:p>
            <a:p>
              <a:r>
                <a:rPr lang="en-US" altLang="zh-CN" sz="1400" b="1" dirty="0"/>
                <a:t>+ [y]</a:t>
              </a:r>
              <a:r>
                <a:rPr lang="zh-CN" altLang="en-US" sz="1400" b="1" baseline="-25000" dirty="0"/>
                <a:t>补</a:t>
              </a:r>
              <a:r>
                <a:rPr lang="en-US" altLang="zh-CN" sz="1400" b="1" baseline="-25000" dirty="0"/>
                <a:t>    </a:t>
              </a:r>
              <a:r>
                <a:rPr lang="en-US" altLang="zh-CN" sz="1400" b="1" dirty="0"/>
                <a:t>0.0101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0.1111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7186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6EE63C7-1A1B-4BF4-B183-A56ADB83E42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2" eaLnBrk="1" hangingPunct="1"/>
            <a:r>
              <a:rPr lang="zh-CN" altLang="en-US" sz="1600" b="1" dirty="0"/>
              <a:t>例</a:t>
            </a:r>
            <a:r>
              <a:rPr lang="en-US" altLang="zh-CN" sz="1600" b="1" dirty="0"/>
              <a:t>3.2</a:t>
            </a:r>
            <a:r>
              <a:rPr lang="zh-CN" altLang="en-US" sz="1600" b="1" dirty="0"/>
              <a:t>：</a:t>
            </a:r>
            <a:r>
              <a:rPr lang="en-US" altLang="zh-CN" sz="1600" b="1" dirty="0"/>
              <a:t>x=-0.1010</a:t>
            </a:r>
            <a:r>
              <a:rPr lang="zh-CN" altLang="en-US" sz="1600" b="1" dirty="0"/>
              <a:t>，</a:t>
            </a:r>
            <a:r>
              <a:rPr lang="en-US" altLang="zh-CN" sz="1600" b="1" dirty="0"/>
              <a:t>y=-0.0100</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zh-CN" altLang="en-US" sz="1600" b="1" dirty="0"/>
              <a:t>和</a:t>
            </a:r>
            <a:r>
              <a:rPr lang="en-US" altLang="zh-CN" sz="1600" b="1" dirty="0"/>
              <a:t> </a:t>
            </a:r>
            <a:r>
              <a:rPr lang="en-US" altLang="zh-CN" sz="1600" b="1" dirty="0" err="1"/>
              <a:t>x+y</a:t>
            </a:r>
            <a:endParaRPr lang="en-US" altLang="zh-CN" sz="1600" b="1" dirty="0"/>
          </a:p>
          <a:p>
            <a:pPr lvl="2" eaLnBrk="1" hangingPunct="1"/>
            <a:endParaRPr lang="en-US" altLang="zh-CN" sz="1600" b="1" dirty="0"/>
          </a:p>
          <a:p>
            <a:pPr lvl="2" eaLnBrk="1" hangingPunct="1"/>
            <a:r>
              <a:rPr lang="zh-CN" altLang="en-US" sz="1600" b="1" dirty="0"/>
              <a:t>解：</a:t>
            </a:r>
            <a:r>
              <a:rPr lang="en-US" altLang="zh-CN" sz="1600" b="1" dirty="0"/>
              <a:t> [x]</a:t>
            </a:r>
            <a:r>
              <a:rPr lang="zh-CN" altLang="en-US" sz="1600" b="1" baseline="-25000" dirty="0"/>
              <a:t>补</a:t>
            </a:r>
            <a:r>
              <a:rPr lang="en-US" altLang="zh-CN" sz="1600" b="1" dirty="0"/>
              <a:t>=1.0110</a:t>
            </a:r>
            <a:r>
              <a:rPr lang="zh-CN" altLang="en-US" sz="1600" b="1" dirty="0"/>
              <a:t>，</a:t>
            </a:r>
            <a:r>
              <a:rPr lang="en-US" altLang="zh-CN" sz="1600" b="1" dirty="0"/>
              <a:t>[y]</a:t>
            </a:r>
            <a:r>
              <a:rPr lang="zh-CN" altLang="en-US" sz="1600" b="1" baseline="-25000" dirty="0"/>
              <a:t>补</a:t>
            </a:r>
            <a:r>
              <a:rPr lang="en-US" altLang="zh-CN" sz="1600" b="1" dirty="0"/>
              <a:t>=1.1100</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=1.0010          </a:t>
            </a:r>
            <a:r>
              <a:rPr lang="en-US" altLang="zh-CN" sz="1600" b="1" dirty="0" err="1"/>
              <a:t>x+y</a:t>
            </a:r>
            <a:r>
              <a:rPr lang="en-US" altLang="zh-CN" sz="1600" b="1" dirty="0"/>
              <a:t>=-0.1110</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06108" y="2225770"/>
            <a:ext cx="1521007" cy="1579678"/>
            <a:chOff x="2954180" y="5157192"/>
            <a:chExt cx="1521007" cy="1579678"/>
          </a:xfrm>
        </p:grpSpPr>
        <p:sp>
          <p:nvSpPr>
            <p:cNvPr id="4" name="文本框 3">
              <a:extLst>
                <a:ext uri="{FF2B5EF4-FFF2-40B4-BE49-F238E27FC236}">
                  <a16:creationId xmlns:a16="http://schemas.microsoft.com/office/drawing/2014/main" id="{4BEBF1E4-FA94-4AF5-9996-FD61E8864793}"/>
                </a:ext>
              </a:extLst>
            </p:cNvPr>
            <p:cNvSpPr txBox="1"/>
            <p:nvPr/>
          </p:nvSpPr>
          <p:spPr>
            <a:xfrm>
              <a:off x="2954180" y="5782763"/>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  1.0110</a:t>
              </a:r>
            </a:p>
            <a:p>
              <a:r>
                <a:rPr lang="en-US" altLang="zh-CN" sz="1400" b="1" dirty="0"/>
                <a:t>+ [y]</a:t>
              </a:r>
              <a:r>
                <a:rPr lang="zh-CN" altLang="en-US" sz="1400" b="1" baseline="-25000" dirty="0"/>
                <a:t>补</a:t>
              </a:r>
              <a:r>
                <a:rPr lang="en-US" altLang="zh-CN" sz="1400" b="1" baseline="-25000" dirty="0"/>
                <a:t>    </a:t>
              </a:r>
              <a:r>
                <a:rPr lang="en-US" altLang="zh-CN" sz="1400" b="1" dirty="0"/>
                <a:t>  1.1100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1.0010</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C5EE8B1D-F85A-491E-B32E-3F20D0399FD0}"/>
              </a:ext>
            </a:extLst>
          </p:cNvPr>
          <p:cNvSpPr txBox="1"/>
          <p:nvPr/>
        </p:nvSpPr>
        <p:spPr>
          <a:xfrm>
            <a:off x="4910623" y="2798797"/>
            <a:ext cx="3034680" cy="11695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1010</a:t>
            </a:r>
            <a:r>
              <a:rPr lang="zh-CN" altLang="en-US" sz="1400" b="1" dirty="0"/>
              <a:t>取反得到</a:t>
            </a:r>
            <a:r>
              <a:rPr lang="en-US" altLang="zh-CN" sz="1400" b="1" dirty="0"/>
              <a:t>0101</a:t>
            </a:r>
            <a:r>
              <a:rPr lang="zh-CN" altLang="en-US" sz="1400" b="1" dirty="0"/>
              <a:t>，加</a:t>
            </a:r>
            <a:r>
              <a:rPr lang="en-US" altLang="zh-CN" sz="1400" b="1" dirty="0"/>
              <a:t>1</a:t>
            </a:r>
            <a:r>
              <a:rPr lang="zh-CN" altLang="en-US" sz="1400" b="1" dirty="0"/>
              <a:t>得到</a:t>
            </a:r>
            <a:r>
              <a:rPr lang="en-US" altLang="zh-CN" sz="1400" b="1" dirty="0"/>
              <a:t>0110</a:t>
            </a:r>
          </a:p>
          <a:p>
            <a:endParaRPr lang="en-US" altLang="zh-CN" sz="1400" b="1" dirty="0"/>
          </a:p>
          <a:p>
            <a:r>
              <a:rPr lang="en-US" altLang="zh-CN" sz="1400" b="1" dirty="0"/>
              <a:t>0100</a:t>
            </a:r>
            <a:r>
              <a:rPr lang="zh-CN" altLang="en-US" sz="1400" b="1" dirty="0"/>
              <a:t>取反得到</a:t>
            </a:r>
            <a:r>
              <a:rPr lang="en-US" altLang="zh-CN" sz="1400" b="1" dirty="0"/>
              <a:t>1011</a:t>
            </a:r>
            <a:r>
              <a:rPr lang="zh-CN" altLang="en-US" sz="1400" b="1" dirty="0"/>
              <a:t>，加</a:t>
            </a:r>
            <a:r>
              <a:rPr lang="en-US" altLang="zh-CN" sz="1400" b="1" dirty="0"/>
              <a:t>1</a:t>
            </a:r>
            <a:r>
              <a:rPr lang="zh-CN" altLang="en-US" sz="1400" b="1" dirty="0"/>
              <a:t>得到</a:t>
            </a:r>
            <a:r>
              <a:rPr lang="en-US" altLang="zh-CN" sz="1400" b="1" dirty="0"/>
              <a:t>1100</a:t>
            </a:r>
          </a:p>
        </p:txBody>
      </p:sp>
      <p:sp>
        <p:nvSpPr>
          <p:cNvPr id="7" name="文本框 6">
            <a:extLst>
              <a:ext uri="{FF2B5EF4-FFF2-40B4-BE49-F238E27FC236}">
                <a16:creationId xmlns:a16="http://schemas.microsoft.com/office/drawing/2014/main" id="{A9AAD86D-8E43-484A-B74D-B52E7DED7E09}"/>
              </a:ext>
            </a:extLst>
          </p:cNvPr>
          <p:cNvSpPr txBox="1"/>
          <p:nvPr/>
        </p:nvSpPr>
        <p:spPr>
          <a:xfrm>
            <a:off x="4910623" y="4142174"/>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0010</a:t>
            </a:r>
            <a:r>
              <a:rPr lang="zh-CN" altLang="en-US" sz="1400" b="1" dirty="0"/>
              <a:t>取反得到</a:t>
            </a:r>
            <a:r>
              <a:rPr lang="en-US" altLang="zh-CN" sz="1400" b="1" dirty="0"/>
              <a:t>1101</a:t>
            </a:r>
            <a:r>
              <a:rPr lang="zh-CN" altLang="en-US" sz="1400" b="1" dirty="0"/>
              <a:t>，加</a:t>
            </a:r>
            <a:r>
              <a:rPr lang="en-US" altLang="zh-CN" sz="1400" b="1" dirty="0"/>
              <a:t>1</a:t>
            </a:r>
            <a:r>
              <a:rPr lang="zh-CN" altLang="en-US" sz="1400" b="1" dirty="0"/>
              <a:t>得到</a:t>
            </a:r>
            <a:r>
              <a:rPr lang="en-US" altLang="zh-CN" sz="1400" b="1" dirty="0"/>
              <a:t>1110</a:t>
            </a:r>
          </a:p>
        </p:txBody>
      </p:sp>
      <p:sp>
        <p:nvSpPr>
          <p:cNvPr id="3" name="文本框 2">
            <a:extLst>
              <a:ext uri="{FF2B5EF4-FFF2-40B4-BE49-F238E27FC236}">
                <a16:creationId xmlns:a16="http://schemas.microsoft.com/office/drawing/2014/main" id="{ABFEDD66-0C76-4B80-8396-89197BBCC7D3}"/>
              </a:ext>
            </a:extLst>
          </p:cNvPr>
          <p:cNvSpPr txBox="1"/>
          <p:nvPr/>
        </p:nvSpPr>
        <p:spPr>
          <a:xfrm>
            <a:off x="2360955" y="3950262"/>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8EE0EB9-0A1C-48B5-949B-32ECD6389231}"/>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4602"/>
            <a:ext cx="8229600" cy="5476766"/>
          </a:xfrm>
        </p:spPr>
        <p:txBody>
          <a:bodyPr/>
          <a:lstStyle/>
          <a:p>
            <a:pPr lvl="1" eaLnBrk="1" hangingPunct="1"/>
            <a:r>
              <a:rPr lang="en-US" altLang="zh-CN" sz="2000" b="1" dirty="0"/>
              <a:t>2</a:t>
            </a:r>
            <a:r>
              <a:rPr lang="zh-CN" altLang="en-US" sz="2000" b="1" dirty="0"/>
              <a:t>、补码减法</a:t>
            </a:r>
            <a:endParaRPr lang="en-US" altLang="zh-CN" sz="20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3.3</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=0.1001</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3.4</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zh-CN" altLang="en-US" sz="1600" b="1" dirty="0"/>
              <a:t>和</a:t>
            </a:r>
            <a:r>
              <a:rPr lang="en-US" altLang="zh-CN" sz="1600" b="1" dirty="0"/>
              <a:t> x-y</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=1.0111</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r>
              <a:rPr lang="en-US" altLang="zh-CN" sz="1600" b="1" dirty="0"/>
              <a:t>[x-y]</a:t>
            </a:r>
            <a:r>
              <a:rPr lang="zh-CN" altLang="en-US" sz="1600" b="1" baseline="-25000" dirty="0"/>
              <a:t>补</a:t>
            </a:r>
            <a:r>
              <a:rPr lang="en-US" altLang="zh-CN" sz="1600" b="1" dirty="0"/>
              <a:t>=1.1101          x-y =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35598" y="3167532"/>
            <a:ext cx="1521007" cy="954107"/>
            <a:chOff x="3131840" y="4614227"/>
            <a:chExt cx="1521007" cy="954107"/>
          </a:xfrm>
          <a:solidFill>
            <a:schemeClr val="bg2">
              <a:lumMod val="90000"/>
            </a:schemeClr>
          </a:solidFill>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0.1001</a:t>
              </a:r>
            </a:p>
            <a:p>
              <a:r>
                <a:rPr lang="en-US" altLang="zh-CN" sz="1400" b="1" dirty="0"/>
                <a:t>+ [-y]</a:t>
              </a:r>
              <a:r>
                <a:rPr lang="zh-CN" altLang="en-US" sz="1400" b="1" baseline="-25000" dirty="0"/>
                <a:t>补</a:t>
              </a:r>
              <a:r>
                <a:rPr lang="en-US" altLang="zh-CN" sz="1400" b="1" baseline="-25000" dirty="0"/>
                <a:t>    </a:t>
              </a:r>
              <a:r>
                <a:rPr lang="en-US" altLang="zh-CN" sz="1400" b="1" dirty="0"/>
                <a:t>1.1010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0.0011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3CC962E9-2C50-4F77-BEFA-C3E500C0850F}"/>
              </a:ext>
            </a:extLst>
          </p:cNvPr>
          <p:cNvGrpSpPr/>
          <p:nvPr/>
        </p:nvGrpSpPr>
        <p:grpSpPr>
          <a:xfrm>
            <a:off x="2394917" y="4545849"/>
            <a:ext cx="1521007" cy="954107"/>
            <a:chOff x="2990093" y="4324088"/>
            <a:chExt cx="1521007" cy="954107"/>
          </a:xfrm>
          <a:solidFill>
            <a:schemeClr val="bg2">
              <a:lumMod val="90000"/>
            </a:schemeClr>
          </a:solidFill>
        </p:grpSpPr>
        <p:sp>
          <p:nvSpPr>
            <p:cNvPr id="9" name="文本框 8">
              <a:extLst>
                <a:ext uri="{FF2B5EF4-FFF2-40B4-BE49-F238E27FC236}">
                  <a16:creationId xmlns:a16="http://schemas.microsoft.com/office/drawing/2014/main" id="{C6B50BC6-D632-45B5-8272-F79B14DBD344}"/>
                </a:ext>
              </a:extLst>
            </p:cNvPr>
            <p:cNvSpPr txBox="1"/>
            <p:nvPr/>
          </p:nvSpPr>
          <p:spPr>
            <a:xfrm>
              <a:off x="2990093" y="432408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1.0111</a:t>
              </a:r>
            </a:p>
            <a:p>
              <a:r>
                <a:rPr lang="en-US" altLang="zh-CN" sz="1400" b="1" dirty="0"/>
                <a:t>+ [-y]</a:t>
              </a:r>
              <a:r>
                <a:rPr lang="zh-CN" altLang="en-US" sz="1400" b="1" baseline="-25000" dirty="0"/>
                <a:t>补</a:t>
              </a:r>
              <a:r>
                <a:rPr lang="en-US" altLang="zh-CN" sz="1400" b="1" baseline="-25000" dirty="0"/>
                <a:t>    </a:t>
              </a:r>
              <a:r>
                <a:rPr lang="en-US" altLang="zh-CN" sz="1400" b="1" dirty="0"/>
                <a:t>0.0110</a:t>
              </a:r>
            </a:p>
            <a:p>
              <a:endParaRPr lang="en-US" altLang="zh-CN" sz="1400" b="1" dirty="0"/>
            </a:p>
            <a:p>
              <a:r>
                <a:rPr lang="en-US" altLang="zh-CN" sz="1400" b="1" dirty="0"/>
                <a:t>[x-y]</a:t>
              </a:r>
              <a:r>
                <a:rPr lang="zh-CN" altLang="en-US" sz="1400" b="1" baseline="-25000" dirty="0"/>
                <a:t>补   </a:t>
              </a:r>
              <a:r>
                <a:rPr lang="en-US" altLang="zh-CN" sz="1400" b="1" dirty="0"/>
                <a:t>  1.1101</a:t>
              </a:r>
              <a:endParaRPr lang="zh-CN" altLang="en-US" sz="1400" dirty="0"/>
            </a:p>
          </p:txBody>
        </p:sp>
        <p:cxnSp>
          <p:nvCxnSpPr>
            <p:cNvPr id="11" name="直接连接符 10">
              <a:extLst>
                <a:ext uri="{FF2B5EF4-FFF2-40B4-BE49-F238E27FC236}">
                  <a16:creationId xmlns:a16="http://schemas.microsoft.com/office/drawing/2014/main" id="{7683C4AC-6606-42D3-A2E5-65AA159A88E6}"/>
                </a:ext>
              </a:extLst>
            </p:cNvPr>
            <p:cNvCxnSpPr>
              <a:cxnSpLocks/>
            </p:cNvCxnSpPr>
            <p:nvPr/>
          </p:nvCxnSpPr>
          <p:spPr>
            <a:xfrm>
              <a:off x="3065042" y="4918623"/>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3FB15116-42CC-4700-8401-42D8E493B845}"/>
              </a:ext>
            </a:extLst>
          </p:cNvPr>
          <p:cNvSpPr txBox="1"/>
          <p:nvPr/>
        </p:nvSpPr>
        <p:spPr>
          <a:xfrm>
            <a:off x="4036098" y="3490698"/>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
        <p:nvSpPr>
          <p:cNvPr id="13" name="文本框 12">
            <a:extLst>
              <a:ext uri="{FF2B5EF4-FFF2-40B4-BE49-F238E27FC236}">
                <a16:creationId xmlns:a16="http://schemas.microsoft.com/office/drawing/2014/main" id="{C1A98FCF-778E-4247-A002-443643CB866E}"/>
              </a:ext>
            </a:extLst>
          </p:cNvPr>
          <p:cNvSpPr txBox="1"/>
          <p:nvPr/>
        </p:nvSpPr>
        <p:spPr>
          <a:xfrm>
            <a:off x="5751853" y="3178019"/>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4" name="文本框 13">
            <a:extLst>
              <a:ext uri="{FF2B5EF4-FFF2-40B4-BE49-F238E27FC236}">
                <a16:creationId xmlns:a16="http://schemas.microsoft.com/office/drawing/2014/main" id="{3C904A47-47C7-4BF0-B60D-BCB3EFFF2CA3}"/>
              </a:ext>
            </a:extLst>
          </p:cNvPr>
          <p:cNvSpPr txBox="1"/>
          <p:nvPr/>
        </p:nvSpPr>
        <p:spPr>
          <a:xfrm>
            <a:off x="5741867" y="4066952"/>
            <a:ext cx="3034680"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1001</a:t>
            </a:r>
            <a:r>
              <a:rPr lang="zh-CN" altLang="en-US" sz="1400" b="1" dirty="0"/>
              <a:t>取反得到</a:t>
            </a:r>
            <a:r>
              <a:rPr lang="en-US" altLang="zh-CN" sz="1400" b="1" dirty="0"/>
              <a:t>0110</a:t>
            </a:r>
            <a:r>
              <a:rPr lang="zh-CN" altLang="en-US" sz="1400" b="1" dirty="0"/>
              <a:t>，加</a:t>
            </a:r>
            <a:r>
              <a:rPr lang="en-US" altLang="zh-CN" sz="1400" b="1" dirty="0"/>
              <a:t>1</a:t>
            </a:r>
            <a:r>
              <a:rPr lang="zh-CN" altLang="en-US" sz="1400" b="1" dirty="0"/>
              <a:t>得到</a:t>
            </a:r>
            <a:r>
              <a:rPr lang="en-US" altLang="zh-CN" sz="1400" b="1" dirty="0"/>
              <a:t>0111</a:t>
            </a:r>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5" name="文本框 14">
            <a:extLst>
              <a:ext uri="{FF2B5EF4-FFF2-40B4-BE49-F238E27FC236}">
                <a16:creationId xmlns:a16="http://schemas.microsoft.com/office/drawing/2014/main" id="{8D585267-55FC-4D94-9D0D-DF4D67570AFA}"/>
              </a:ext>
            </a:extLst>
          </p:cNvPr>
          <p:cNvSpPr txBox="1"/>
          <p:nvPr/>
        </p:nvSpPr>
        <p:spPr>
          <a:xfrm>
            <a:off x="5761133" y="5224066"/>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1101</a:t>
            </a:r>
            <a:r>
              <a:rPr lang="zh-CN" altLang="en-US" sz="1400" b="1" dirty="0"/>
              <a:t>取反得到</a:t>
            </a:r>
            <a:r>
              <a:rPr lang="en-US" altLang="zh-CN" sz="1400" b="1" dirty="0"/>
              <a:t>0010</a:t>
            </a:r>
            <a:r>
              <a:rPr lang="zh-CN" altLang="en-US" sz="1400" b="1" dirty="0"/>
              <a:t>，加</a:t>
            </a:r>
            <a:r>
              <a:rPr lang="en-US" altLang="zh-CN" sz="1400" b="1" dirty="0"/>
              <a:t>1</a:t>
            </a:r>
            <a:r>
              <a:rPr lang="zh-CN" altLang="en-US" sz="1400" b="1" dirty="0"/>
              <a:t>得到</a:t>
            </a:r>
            <a:r>
              <a:rPr lang="en-US" altLang="zh-CN" sz="1400" b="1" dirty="0"/>
              <a:t>0011</a:t>
            </a:r>
          </a:p>
        </p:txBody>
      </p:sp>
      <p:sp>
        <p:nvSpPr>
          <p:cNvPr id="2" name="圆角矩形标注 1"/>
          <p:cNvSpPr/>
          <p:nvPr/>
        </p:nvSpPr>
        <p:spPr>
          <a:xfrm>
            <a:off x="5796136" y="1368954"/>
            <a:ext cx="2553444"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solidFill>
                  <a:srgbClr val="002060"/>
                </a:solidFill>
              </a:rPr>
              <a:t>[-Y]</a:t>
            </a:r>
            <a:r>
              <a:rPr lang="zh-CN" altLang="en-US" b="1" dirty="0">
                <a:solidFill>
                  <a:srgbClr val="002060"/>
                </a:solidFill>
              </a:rPr>
              <a:t>补</a:t>
            </a:r>
            <a:r>
              <a:rPr lang="en-US" altLang="zh-CN" b="1" dirty="0">
                <a:solidFill>
                  <a:srgbClr val="002060"/>
                </a:solidFill>
              </a:rPr>
              <a:t>=[Y]</a:t>
            </a:r>
            <a:r>
              <a:rPr lang="zh-CN" altLang="en-US" b="1" dirty="0">
                <a:solidFill>
                  <a:srgbClr val="002060"/>
                </a:solidFill>
              </a:rPr>
              <a:t>补连同符号位取反</a:t>
            </a:r>
            <a:r>
              <a:rPr lang="en-US" altLang="zh-CN" b="1" dirty="0">
                <a:solidFill>
                  <a:srgbClr val="002060"/>
                </a:solidFill>
              </a:rPr>
              <a:t>+1</a:t>
            </a:r>
            <a:endParaRPr lang="zh-CN" altLang="en-US" b="1" dirty="0">
              <a:solidFill>
                <a:srgbClr val="002060"/>
              </a:solidFill>
            </a:endParaRPr>
          </a:p>
        </p:txBody>
      </p:sp>
      <p:sp>
        <p:nvSpPr>
          <p:cNvPr id="16" name="圆角矩形标注 15"/>
          <p:cNvSpPr/>
          <p:nvPr/>
        </p:nvSpPr>
        <p:spPr>
          <a:xfrm>
            <a:off x="3931725" y="3963188"/>
            <a:ext cx="1057752" cy="401916"/>
          </a:xfrm>
          <a:prstGeom prst="wedgeRoundRectCallout">
            <a:avLst>
              <a:gd name="adj1" fmla="val -64008"/>
              <a:gd name="adj2" fmla="val -5934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002060"/>
                </a:solidFill>
              </a:rPr>
              <a:t>模溢出</a:t>
            </a:r>
          </a:p>
        </p:txBody>
      </p:sp>
    </p:spTree>
    <p:extLst>
      <p:ext uri="{BB962C8B-B14F-4D97-AF65-F5344CB8AC3E}">
        <p14:creationId xmlns:p14="http://schemas.microsoft.com/office/powerpoint/2010/main" val="218177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1A8C75-E3FB-4E07-9930-14E15F86A8D9}"/>
              </a:ext>
            </a:extLst>
          </p:cNvPr>
          <p:cNvSpPr>
            <a:spLocks noGrp="1"/>
          </p:cNvSpPr>
          <p:nvPr>
            <p:ph type="title"/>
          </p:nvPr>
        </p:nvSpPr>
        <p:spPr>
          <a:xfrm>
            <a:off x="346813" y="116632"/>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8507" y="1127815"/>
            <a:ext cx="8229600" cy="5455547"/>
          </a:xfrm>
        </p:spPr>
        <p:txBody>
          <a:bodyPr rtlCol="0">
            <a:noAutofit/>
          </a:bodyPr>
          <a:lstStyle/>
          <a:p>
            <a:pPr lvl="1" eaLnBrk="1" hangingPunct="1"/>
            <a:r>
              <a:rPr lang="en-US" altLang="zh-CN" sz="2400" b="1" dirty="0"/>
              <a:t>1</a:t>
            </a:r>
            <a:r>
              <a:rPr lang="zh-CN" altLang="en-US" sz="2400" b="1" dirty="0"/>
              <a:t>、溢出的概念</a:t>
            </a:r>
            <a:endParaRPr lang="en-US" altLang="zh-CN" sz="2400" b="1" dirty="0"/>
          </a:p>
          <a:p>
            <a:pPr lvl="2" eaLnBrk="1" hangingPunct="1"/>
            <a:r>
              <a:rPr lang="zh-CN" altLang="en-US" sz="1600" b="1" dirty="0"/>
              <a:t>例</a:t>
            </a:r>
            <a:r>
              <a:rPr lang="en-US" altLang="zh-CN" sz="1600" b="1" dirty="0"/>
              <a:t>3.5</a:t>
            </a:r>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=0.1011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marL="914400" lvl="2" indent="0" eaLnBrk="1" hangingPunct="1">
              <a:buNone/>
            </a:pPr>
            <a:r>
              <a:rPr lang="zh-CN" altLang="en-US" sz="1600" b="1" dirty="0"/>
              <a:t>                    （</a:t>
            </a:r>
            <a:r>
              <a:rPr lang="en-US" altLang="zh-CN" sz="1600" b="1" dirty="0"/>
              <a:t>2</a:t>
            </a:r>
            <a:r>
              <a:rPr lang="zh-CN" altLang="en-US" sz="1600" b="1" dirty="0"/>
              <a:t>）设</a:t>
            </a:r>
            <a:r>
              <a:rPr lang="en-US" altLang="zh-CN" sz="1600" b="1" dirty="0"/>
              <a:t>[x]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=1.0100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第（</a:t>
            </a:r>
            <a:r>
              <a:rPr lang="en-US" altLang="zh-CN" sz="1600" b="1" dirty="0"/>
              <a:t>1</a:t>
            </a:r>
            <a:r>
              <a:rPr lang="zh-CN" altLang="en-US" sz="1600" b="1" dirty="0"/>
              <a:t>）种情况：两个正数相加，结果为负数（</a:t>
            </a:r>
            <a:r>
              <a:rPr lang="en-US" altLang="zh-CN" sz="1600" b="1" dirty="0"/>
              <a:t>1.0111</a:t>
            </a:r>
            <a:r>
              <a:rPr lang="zh-CN" altLang="en-US" sz="1600" b="1" dirty="0"/>
              <a:t>），出错</a:t>
            </a:r>
            <a:endParaRPr lang="en-US" altLang="zh-CN" sz="1600" b="1" dirty="0"/>
          </a:p>
          <a:p>
            <a:pPr lvl="2" eaLnBrk="1" hangingPunct="1"/>
            <a:r>
              <a:rPr lang="zh-CN" altLang="en-US" sz="1600" b="1" dirty="0"/>
              <a:t>第（</a:t>
            </a:r>
            <a:r>
              <a:rPr lang="en-US" altLang="zh-CN" sz="1600" b="1" dirty="0"/>
              <a:t>2</a:t>
            </a:r>
            <a:r>
              <a:rPr lang="zh-CN" altLang="en-US" sz="1600" b="1" dirty="0"/>
              <a:t>）种情况：两个负数相加，结果为正数（</a:t>
            </a:r>
            <a:r>
              <a:rPr lang="en-US" altLang="zh-CN" sz="1600" b="1" dirty="0"/>
              <a:t>0.1001</a:t>
            </a:r>
            <a:r>
              <a:rPr lang="zh-CN" altLang="en-US" sz="1600" b="1" dirty="0"/>
              <a:t>），出错</a:t>
            </a:r>
            <a:endParaRPr lang="en-US" altLang="zh-CN" sz="1600" b="1" dirty="0"/>
          </a:p>
          <a:p>
            <a:pPr lvl="2" eaLnBrk="1" hangingPunct="1"/>
            <a:endParaRPr lang="en-US" altLang="zh-CN" sz="1600" b="1" dirty="0"/>
          </a:p>
          <a:p>
            <a:pPr lvl="2" eaLnBrk="1" hangingPunct="1"/>
            <a:r>
              <a:rPr lang="zh-CN" altLang="en-US" sz="1600" b="1" dirty="0"/>
              <a:t>原因：</a:t>
            </a:r>
            <a:endParaRPr lang="en-US" altLang="zh-CN" sz="1600" b="1" dirty="0"/>
          </a:p>
          <a:p>
            <a:pPr lvl="3" eaLnBrk="1" hangingPunct="1"/>
            <a:r>
              <a:rPr lang="zh-CN" altLang="en-US" sz="1400" b="1" dirty="0"/>
              <a:t>第（</a:t>
            </a:r>
            <a:r>
              <a:rPr lang="en-US" altLang="zh-CN" sz="1400" b="1" dirty="0"/>
              <a:t>1</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大于</a:t>
            </a:r>
            <a:r>
              <a:rPr lang="en-US" altLang="zh-CN" sz="1400" b="1" dirty="0">
                <a:solidFill>
                  <a:srgbClr val="C00000"/>
                </a:solidFill>
              </a:rPr>
              <a:t>1</a:t>
            </a:r>
            <a:r>
              <a:rPr lang="zh-CN" altLang="en-US" sz="1400" b="1" dirty="0"/>
              <a:t>，超出了定点小数的表示范围，发生溢出</a:t>
            </a:r>
            <a:endParaRPr lang="en-US" altLang="zh-CN" sz="1400" b="1" dirty="0"/>
          </a:p>
          <a:p>
            <a:pPr lvl="3" eaLnBrk="1" hangingPunct="1"/>
            <a:r>
              <a:rPr lang="zh-CN" altLang="en-US" sz="1400" b="1" dirty="0"/>
              <a:t>第（</a:t>
            </a:r>
            <a:r>
              <a:rPr lang="en-US" altLang="zh-CN" sz="1400" b="1" dirty="0"/>
              <a:t>2</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小于</a:t>
            </a:r>
            <a:r>
              <a:rPr lang="en-US" altLang="zh-CN" sz="1400" b="1" dirty="0">
                <a:solidFill>
                  <a:srgbClr val="C00000"/>
                </a:solidFill>
              </a:rPr>
              <a:t>-1</a:t>
            </a:r>
            <a:r>
              <a:rPr lang="zh-CN" altLang="en-US" sz="1400" b="1" dirty="0"/>
              <a:t>，也超出了定点小数的表示范围，发生溢出</a:t>
            </a:r>
            <a:endParaRPr lang="en-US" altLang="zh-CN" sz="1400" b="1" dirty="0"/>
          </a:p>
          <a:p>
            <a:pPr lvl="3" eaLnBrk="1" hangingPunct="1"/>
            <a:r>
              <a:rPr lang="zh-CN" altLang="en-US" sz="1400" b="1" dirty="0"/>
              <a:t>补码定点小数表示范围</a:t>
            </a:r>
            <a:r>
              <a:rPr lang="zh-CN" altLang="en-US" sz="1400" b="1" dirty="0">
                <a:solidFill>
                  <a:srgbClr val="C00000"/>
                </a:solidFill>
              </a:rPr>
              <a:t>：</a:t>
            </a:r>
            <a:r>
              <a:rPr lang="en-US" altLang="zh-CN" sz="1400" b="1" dirty="0">
                <a:solidFill>
                  <a:srgbClr val="C00000"/>
                </a:solidFill>
              </a:rPr>
              <a:t>[-1,1)</a:t>
            </a:r>
            <a:endParaRPr lang="en-US" altLang="zh-CN" sz="1050" b="1" dirty="0">
              <a:solidFill>
                <a:srgbClr val="C00000"/>
              </a:solidFill>
            </a:endParaRPr>
          </a:p>
          <a:p>
            <a:pPr lvl="1" eaLnBrk="1" hangingPunct="1"/>
            <a:endParaRPr lang="en-US" altLang="zh-CN" sz="1600" b="1" dirty="0"/>
          </a:p>
        </p:txBody>
      </p:sp>
      <p:grpSp>
        <p:nvGrpSpPr>
          <p:cNvPr id="12" name="组合 11">
            <a:extLst>
              <a:ext uri="{FF2B5EF4-FFF2-40B4-BE49-F238E27FC236}">
                <a16:creationId xmlns:a16="http://schemas.microsoft.com/office/drawing/2014/main" id="{F866DD3D-C40F-48F9-AA1D-71A852D0D612}"/>
              </a:ext>
            </a:extLst>
          </p:cNvPr>
          <p:cNvGrpSpPr/>
          <p:nvPr/>
        </p:nvGrpSpPr>
        <p:grpSpPr>
          <a:xfrm>
            <a:off x="2111930" y="2380147"/>
            <a:ext cx="1521007" cy="954107"/>
            <a:chOff x="3131840" y="4614227"/>
            <a:chExt cx="1521007" cy="954107"/>
          </a:xfrm>
          <a:solidFill>
            <a:schemeClr val="bg2">
              <a:lumMod val="90000"/>
            </a:schemeClr>
          </a:solidFill>
        </p:grpSpPr>
        <p:sp>
          <p:nvSpPr>
            <p:cNvPr id="13" name="文本框 12">
              <a:extLst>
                <a:ext uri="{FF2B5EF4-FFF2-40B4-BE49-F238E27FC236}">
                  <a16:creationId xmlns:a16="http://schemas.microsoft.com/office/drawing/2014/main" id="{88E34D1A-7837-4EF0-AEBE-FC50B608CFFA}"/>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0.1011</a:t>
              </a:r>
            </a:p>
            <a:p>
              <a:r>
                <a:rPr lang="en-US" altLang="zh-CN" sz="1400" b="1" dirty="0"/>
                <a:t>+  [y]</a:t>
              </a:r>
              <a:r>
                <a:rPr lang="zh-CN" altLang="en-US" sz="1400" b="1" baseline="-25000" dirty="0"/>
                <a:t>补</a:t>
              </a:r>
              <a:r>
                <a:rPr lang="en-US" altLang="zh-CN" sz="1400" b="1" baseline="-25000" dirty="0"/>
                <a:t>    </a:t>
              </a:r>
              <a:r>
                <a:rPr lang="en-US" altLang="zh-CN" sz="1400" b="1" dirty="0"/>
                <a:t>0.1100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 1.0111</a:t>
              </a:r>
              <a:endParaRPr lang="zh-CN" altLang="en-US" sz="1400" dirty="0"/>
            </a:p>
          </p:txBody>
        </p:sp>
        <p:cxnSp>
          <p:nvCxnSpPr>
            <p:cNvPr id="14" name="直接连接符 13">
              <a:extLst>
                <a:ext uri="{FF2B5EF4-FFF2-40B4-BE49-F238E27FC236}">
                  <a16:creationId xmlns:a16="http://schemas.microsoft.com/office/drawing/2014/main" id="{C7A2BD17-31DD-40A4-9E9E-3D581B31DA65}"/>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BAEDFF8-72A6-44CF-BB2A-46F57C83A1A3}"/>
              </a:ext>
            </a:extLst>
          </p:cNvPr>
          <p:cNvGrpSpPr/>
          <p:nvPr/>
        </p:nvGrpSpPr>
        <p:grpSpPr>
          <a:xfrm>
            <a:off x="4304610" y="2380146"/>
            <a:ext cx="1521007" cy="954107"/>
            <a:chOff x="3092876" y="4149568"/>
            <a:chExt cx="1521007" cy="954107"/>
          </a:xfrm>
          <a:solidFill>
            <a:schemeClr val="bg2">
              <a:lumMod val="90000"/>
            </a:schemeClr>
          </a:solidFill>
        </p:grpSpPr>
        <p:sp>
          <p:nvSpPr>
            <p:cNvPr id="17" name="文本框 16">
              <a:extLst>
                <a:ext uri="{FF2B5EF4-FFF2-40B4-BE49-F238E27FC236}">
                  <a16:creationId xmlns:a16="http://schemas.microsoft.com/office/drawing/2014/main" id="{F4E8FB5F-89B1-49C6-A64C-025BB7DA76D4}"/>
                </a:ext>
              </a:extLst>
            </p:cNvPr>
            <p:cNvSpPr txBox="1"/>
            <p:nvPr/>
          </p:nvSpPr>
          <p:spPr>
            <a:xfrm>
              <a:off x="3092876" y="414956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18" name="直接连接符 17">
              <a:extLst>
                <a:ext uri="{FF2B5EF4-FFF2-40B4-BE49-F238E27FC236}">
                  <a16:creationId xmlns:a16="http://schemas.microsoft.com/office/drawing/2014/main" id="{AA89FB45-2425-4AAF-9469-87365BD0C750}"/>
                </a:ext>
              </a:extLst>
            </p:cNvPr>
            <p:cNvCxnSpPr>
              <a:cxnSpLocks/>
            </p:cNvCxnSpPr>
            <p:nvPr/>
          </p:nvCxnSpPr>
          <p:spPr>
            <a:xfrm>
              <a:off x="3231572" y="4692534"/>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B2A49AB6-AA5D-438A-8584-FE0E74C868BD}"/>
              </a:ext>
            </a:extLst>
          </p:cNvPr>
          <p:cNvSpPr txBox="1"/>
          <p:nvPr/>
        </p:nvSpPr>
        <p:spPr>
          <a:xfrm>
            <a:off x="6084168" y="3000513"/>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329571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B4F7D-1519-4A97-A047-ECEA042EE584}"/>
              </a:ext>
            </a:extLst>
          </p:cNvPr>
          <p:cNvSpPr>
            <a:spLocks noGrp="1"/>
          </p:cNvSpPr>
          <p:nvPr>
            <p:ph type="title"/>
          </p:nvPr>
        </p:nvSpPr>
        <p:spPr>
          <a:xfrm>
            <a:off x="457200" y="75901"/>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54104"/>
            <a:ext cx="8229600" cy="5487264"/>
          </a:xfrm>
        </p:spPr>
        <p:txBody>
          <a:bodyPr rtlCol="0">
            <a:noAutofit/>
          </a:bodyPr>
          <a:lstStyle/>
          <a:p>
            <a:pPr lvl="1" eaLnBrk="1" hangingPunct="1"/>
            <a:r>
              <a:rPr lang="en-US" altLang="zh-CN" sz="2000" b="1" dirty="0"/>
              <a:t>2</a:t>
            </a:r>
            <a:r>
              <a:rPr lang="zh-CN" altLang="en-US" sz="2000" b="1" dirty="0"/>
              <a:t>、溢出检测</a:t>
            </a:r>
            <a:endParaRPr lang="en-US" altLang="zh-CN" sz="2000" b="1" dirty="0"/>
          </a:p>
          <a:p>
            <a:pPr marL="457200" lvl="1" indent="0" eaLnBrk="1" hangingPunct="1">
              <a:buNone/>
            </a:pPr>
            <a:r>
              <a:rPr lang="en-US" altLang="zh-CN" sz="1600" b="1" dirty="0"/>
              <a:t>       </a:t>
            </a:r>
            <a:r>
              <a:rPr lang="zh-CN" altLang="en-US" sz="1600" b="1" dirty="0"/>
              <a:t>三种常见的溢出检测方法：</a:t>
            </a:r>
            <a:endParaRPr lang="en-US" altLang="zh-CN" sz="1600" b="1" dirty="0"/>
          </a:p>
          <a:p>
            <a:pPr marL="457200" lvl="1" indent="0" eaLnBrk="1" hangingPunct="1">
              <a:buNone/>
            </a:pPr>
            <a:r>
              <a:rPr lang="en-US" altLang="zh-CN" sz="1600" b="1" dirty="0"/>
              <a:t>   </a:t>
            </a:r>
            <a:r>
              <a:rPr lang="zh-CN" altLang="en-US" sz="1600" b="1" dirty="0"/>
              <a:t>（</a:t>
            </a:r>
            <a:r>
              <a:rPr lang="en-US" altLang="zh-CN" sz="1600" b="1" dirty="0"/>
              <a:t>1</a:t>
            </a:r>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正数             不溢出</a:t>
            </a:r>
            <a:endParaRPr lang="en-US" altLang="zh-CN" sz="1600" b="1" dirty="0"/>
          </a:p>
          <a:p>
            <a:pPr lvl="2" eaLnBrk="1" hangingPunct="1"/>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负数              </a:t>
            </a:r>
            <a:r>
              <a:rPr lang="zh-CN" altLang="en-US" sz="1600" b="1" dirty="0">
                <a:solidFill>
                  <a:srgbClr val="C00000"/>
                </a:solidFill>
              </a:rPr>
              <a:t>溢出</a:t>
            </a:r>
            <a:endParaRPr lang="en-US" altLang="zh-CN" sz="1600" b="1" dirty="0">
              <a:solidFill>
                <a:srgbClr val="C00000"/>
              </a:solidFill>
            </a:endParaRPr>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负数             不溢出</a:t>
            </a:r>
            <a:endParaRPr lang="en-US" altLang="zh-CN" sz="1600" b="1" dirty="0"/>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正数              </a:t>
            </a:r>
            <a:r>
              <a:rPr lang="zh-CN" altLang="en-US" sz="1600" b="1" dirty="0">
                <a:solidFill>
                  <a:srgbClr val="C00000"/>
                </a:solidFill>
              </a:rPr>
              <a:t>溢出 </a:t>
            </a:r>
            <a:endParaRPr lang="en-US" altLang="zh-CN" sz="1600" b="1" dirty="0">
              <a:solidFill>
                <a:srgbClr val="C00000"/>
              </a:solidFill>
            </a:endParaRPr>
          </a:p>
          <a:p>
            <a:pPr lvl="2" eaLnBrk="1" hangingPunct="1"/>
            <a:r>
              <a:rPr lang="zh-CN" altLang="en-US" sz="1600" b="1" dirty="0"/>
              <a:t>正数 </a:t>
            </a:r>
            <a:r>
              <a:rPr lang="en-US" altLang="zh-CN" sz="1600" b="1" dirty="0"/>
              <a:t>+ </a:t>
            </a:r>
            <a:r>
              <a:rPr lang="zh-CN" altLang="en-US" sz="1600" b="1" dirty="0"/>
              <a:t>负数 </a:t>
            </a:r>
            <a:r>
              <a:rPr lang="en-US" altLang="zh-CN" sz="1600" b="1" dirty="0"/>
              <a:t>                         </a:t>
            </a:r>
            <a:r>
              <a:rPr lang="zh-CN" altLang="en-US" sz="1600" b="1" dirty="0"/>
              <a:t>不可能产生溢出</a:t>
            </a:r>
            <a:endParaRPr lang="en-US" altLang="zh-CN" sz="1600" b="1" dirty="0"/>
          </a:p>
          <a:p>
            <a:pPr lvl="2" eaLnBrk="1" hangingPunct="1"/>
            <a:r>
              <a:rPr lang="zh-CN" altLang="en-US" sz="1600" b="1" dirty="0"/>
              <a:t>负数 </a:t>
            </a:r>
            <a:r>
              <a:rPr lang="en-US" altLang="zh-CN" sz="1600" b="1" dirty="0"/>
              <a:t>+ </a:t>
            </a:r>
            <a:r>
              <a:rPr lang="zh-CN" altLang="en-US" sz="1600" b="1" dirty="0"/>
              <a:t>正数                          不可能产生溢出</a:t>
            </a:r>
            <a:endParaRPr lang="en-US" altLang="zh-CN" sz="1600" b="1" dirty="0"/>
          </a:p>
          <a:p>
            <a:pPr lvl="2" eaLnBrk="1" hangingPunct="1"/>
            <a:r>
              <a:rPr lang="zh-CN" altLang="en-US" sz="1600" b="1" dirty="0"/>
              <a:t>根据操作数和运算结果的符号位是否一致进行检测</a:t>
            </a:r>
            <a:endParaRPr lang="en-US" altLang="zh-CN" sz="1600" b="1" dirty="0"/>
          </a:p>
          <a:p>
            <a:pPr lvl="2" eaLnBrk="1" hangingPunct="1"/>
            <a:r>
              <a:rPr lang="zh-CN" altLang="en-US" sz="1600" b="1" dirty="0"/>
              <a:t>正正得负、负负得正时溢出</a:t>
            </a:r>
            <a:endParaRPr lang="en-US" altLang="zh-CN" sz="1600" b="1" dirty="0"/>
          </a:p>
          <a:p>
            <a:pPr lvl="2" eaLnBrk="1" hangingPunct="1">
              <a:lnSpc>
                <a:spcPct val="150000"/>
              </a:lnSpc>
            </a:pPr>
            <a:r>
              <a:rPr lang="zh-CN" altLang="en-US" sz="1600" b="1" dirty="0"/>
              <a:t>设</a:t>
            </a:r>
            <a:r>
              <a:rPr lang="en-US" altLang="zh-CN" sz="1600" b="1" dirty="0" err="1"/>
              <a:t>X</a:t>
            </a:r>
            <a:r>
              <a:rPr lang="en-US" altLang="zh-CN" sz="1600" b="1" baseline="-25000" dirty="0" err="1"/>
              <a:t>f</a:t>
            </a:r>
            <a:r>
              <a:rPr lang="zh-CN" altLang="en-US" sz="1600" b="1" dirty="0"/>
              <a:t>、</a:t>
            </a:r>
            <a:r>
              <a:rPr lang="en-US" altLang="zh-CN" sz="1600" b="1" dirty="0" err="1"/>
              <a:t>Y</a:t>
            </a:r>
            <a:r>
              <a:rPr lang="en-US" altLang="zh-CN" sz="1600" b="1" baseline="-25000" dirty="0" err="1"/>
              <a:t>f</a:t>
            </a:r>
            <a:r>
              <a:rPr lang="zh-CN" altLang="en-US" sz="1600" b="1" dirty="0"/>
              <a:t>为操作数的符号位，</a:t>
            </a:r>
            <a:r>
              <a:rPr lang="en-US" altLang="zh-CN" sz="1600" b="1" dirty="0"/>
              <a:t>S</a:t>
            </a:r>
            <a:r>
              <a:rPr lang="en-US" altLang="zh-CN" sz="1600" b="1" baseline="-25000" dirty="0"/>
              <a:t>f</a:t>
            </a:r>
            <a:r>
              <a:rPr lang="zh-CN" altLang="en-US" sz="1600" b="1" dirty="0"/>
              <a:t>为运算结果的符号位</a:t>
            </a:r>
            <a:endParaRPr lang="en-US" altLang="zh-CN" sz="1600" b="1" dirty="0"/>
          </a:p>
          <a:p>
            <a:pPr lvl="2" eaLnBrk="1" hangingPunct="1">
              <a:lnSpc>
                <a:spcPct val="150000"/>
              </a:lnSpc>
            </a:pPr>
            <a:r>
              <a:rPr lang="zh-CN" altLang="en-US" sz="1600" b="1" dirty="0"/>
              <a:t>溢出标志</a:t>
            </a:r>
            <a:r>
              <a:rPr lang="en-US" altLang="zh-CN" sz="1600" b="1" dirty="0"/>
              <a:t>V</a:t>
            </a:r>
            <a:r>
              <a:rPr lang="zh-CN" altLang="en-US" sz="1600" b="1" dirty="0"/>
              <a:t>检测公式：</a:t>
            </a:r>
            <a:endParaRPr lang="en-US" altLang="zh-CN" sz="1600" b="1" dirty="0"/>
          </a:p>
          <a:p>
            <a:pPr lvl="2" eaLnBrk="1" hangingPunct="1">
              <a:lnSpc>
                <a:spcPct val="150000"/>
              </a:lnSpc>
            </a:pPr>
            <a:r>
              <a:rPr lang="en-US" altLang="zh-CN" sz="1600" b="1" dirty="0"/>
              <a:t>V=0</a:t>
            </a:r>
            <a:r>
              <a:rPr lang="zh-CN" altLang="en-US" sz="1600" b="1" dirty="0"/>
              <a:t>，没有溢出；</a:t>
            </a:r>
            <a:r>
              <a:rPr lang="en-US" altLang="zh-CN" sz="1600" b="1" dirty="0"/>
              <a:t>V=1</a:t>
            </a:r>
            <a:r>
              <a:rPr lang="zh-CN" altLang="en-US" sz="1600" b="1" dirty="0"/>
              <a:t>，有溢出</a:t>
            </a:r>
            <a:endParaRPr lang="en-US" altLang="zh-CN" sz="1600" b="1" dirty="0"/>
          </a:p>
          <a:p>
            <a:pPr lvl="2" eaLnBrk="1" hangingPunct="1">
              <a:lnSpc>
                <a:spcPct val="150000"/>
              </a:lnSpc>
            </a:pPr>
            <a:r>
              <a:rPr lang="zh-CN" altLang="en-US" sz="1600" b="1" dirty="0"/>
              <a:t>如果是减法，则溢出标志</a:t>
            </a:r>
            <a:r>
              <a:rPr lang="en-US" altLang="zh-CN" sz="1600" b="1" dirty="0"/>
              <a:t>V</a:t>
            </a:r>
            <a:r>
              <a:rPr lang="zh-CN" altLang="en-US" sz="1600" b="1" dirty="0"/>
              <a:t>的检测公式为：</a:t>
            </a:r>
            <a:endParaRPr lang="en-US" altLang="zh-CN" sz="1600" b="1" dirty="0"/>
          </a:p>
          <a:p>
            <a:pPr lvl="3" eaLnBrk="1" hangingPunct="1">
              <a:lnSpc>
                <a:spcPct val="150000"/>
              </a:lnSpc>
            </a:pPr>
            <a:r>
              <a:rPr lang="en-US" altLang="zh-CN" sz="1600" b="1" dirty="0"/>
              <a:t>[x-y]</a:t>
            </a:r>
            <a:r>
              <a:rPr lang="zh-CN" altLang="en-US" sz="1600" b="1" baseline="-25000" dirty="0"/>
              <a:t>补</a:t>
            </a:r>
            <a:r>
              <a:rPr lang="en-US" altLang="zh-CN" sz="1600" b="1" dirty="0"/>
              <a:t>= [x]</a:t>
            </a:r>
            <a:r>
              <a:rPr lang="zh-CN" altLang="en-US" sz="1600" b="1" baseline="-25000" dirty="0"/>
              <a:t>补 </a:t>
            </a:r>
            <a:r>
              <a:rPr lang="en-US" altLang="zh-CN" sz="1600" b="1" dirty="0"/>
              <a:t>- [y]</a:t>
            </a:r>
            <a:r>
              <a:rPr lang="zh-CN" altLang="en-US" sz="1600" b="1" baseline="-25000" dirty="0"/>
              <a:t>补</a:t>
            </a:r>
            <a:endParaRPr lang="en-US" altLang="zh-CN" sz="16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26" name="组合 25">
            <a:extLst>
              <a:ext uri="{FF2B5EF4-FFF2-40B4-BE49-F238E27FC236}">
                <a16:creationId xmlns:a16="http://schemas.microsoft.com/office/drawing/2014/main" id="{0791B746-EAF6-4503-BBCB-1DF7A37A5800}"/>
              </a:ext>
            </a:extLst>
          </p:cNvPr>
          <p:cNvGrpSpPr/>
          <p:nvPr/>
        </p:nvGrpSpPr>
        <p:grpSpPr>
          <a:xfrm>
            <a:off x="5508104" y="5577722"/>
            <a:ext cx="2016224" cy="338554"/>
            <a:chOff x="4139952" y="5157192"/>
            <a:chExt cx="2376264" cy="338554"/>
          </a:xfrm>
          <a:solidFill>
            <a:schemeClr val="bg2">
              <a:lumMod val="90000"/>
            </a:schemeClr>
          </a:solidFill>
        </p:grpSpPr>
        <p:grpSp>
          <p:nvGrpSpPr>
            <p:cNvPr id="27" name="组合 26">
              <a:extLst>
                <a:ext uri="{FF2B5EF4-FFF2-40B4-BE49-F238E27FC236}">
                  <a16:creationId xmlns:a16="http://schemas.microsoft.com/office/drawing/2014/main" id="{542CF46F-F32B-4AFE-8B84-71614656602F}"/>
                </a:ext>
              </a:extLst>
            </p:cNvPr>
            <p:cNvGrpSpPr/>
            <p:nvPr/>
          </p:nvGrpSpPr>
          <p:grpSpPr>
            <a:xfrm>
              <a:off x="4139952" y="5157192"/>
              <a:ext cx="2376264" cy="338554"/>
              <a:chOff x="1907704" y="5229200"/>
              <a:chExt cx="2376264" cy="338554"/>
            </a:xfrm>
            <a:grpFill/>
          </p:grpSpPr>
          <p:sp>
            <p:nvSpPr>
              <p:cNvPr id="29" name="文本框 28">
                <a:extLst>
                  <a:ext uri="{FF2B5EF4-FFF2-40B4-BE49-F238E27FC236}">
                    <a16:creationId xmlns:a16="http://schemas.microsoft.com/office/drawing/2014/main" id="{FEA32A01-0CA9-4D91-8345-973DE16C6F1E}"/>
                  </a:ext>
                </a:extLst>
              </p:cNvPr>
              <p:cNvSpPr txBox="1"/>
              <p:nvPr/>
            </p:nvSpPr>
            <p:spPr>
              <a:xfrm>
                <a:off x="1907704" y="5229200"/>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0" name="直接连接符 29">
                <a:extLst>
                  <a:ext uri="{FF2B5EF4-FFF2-40B4-BE49-F238E27FC236}">
                    <a16:creationId xmlns:a16="http://schemas.microsoft.com/office/drawing/2014/main" id="{40D2EA13-251B-47D4-AFB7-B300079436EB}"/>
                  </a:ext>
                </a:extLst>
              </p:cNvPr>
              <p:cNvCxnSpPr>
                <a:cxnSpLocks/>
              </p:cNvCxnSpPr>
              <p:nvPr/>
            </p:nvCxnSpPr>
            <p:spPr>
              <a:xfrm>
                <a:off x="2612354" y="5285260"/>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8E08B53-C565-4B99-B7CC-DC2A9A463B43}"/>
                  </a:ext>
                </a:extLst>
              </p:cNvPr>
              <p:cNvCxnSpPr>
                <a:cxnSpLocks/>
              </p:cNvCxnSpPr>
              <p:nvPr/>
            </p:nvCxnSpPr>
            <p:spPr>
              <a:xfrm>
                <a:off x="3152880" y="529057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6BDFCDEC-171F-422D-A631-3D970065C483}"/>
                </a:ext>
              </a:extLst>
            </p:cNvPr>
            <p:cNvCxnSpPr>
              <a:cxnSpLocks/>
            </p:cNvCxnSpPr>
            <p:nvPr/>
          </p:nvCxnSpPr>
          <p:spPr>
            <a:xfrm>
              <a:off x="5014335" y="521325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A9E50F2-DFEB-4E94-B066-DAEE207421A4}"/>
              </a:ext>
            </a:extLst>
          </p:cNvPr>
          <p:cNvGrpSpPr/>
          <p:nvPr/>
        </p:nvGrpSpPr>
        <p:grpSpPr>
          <a:xfrm>
            <a:off x="3574799" y="4752631"/>
            <a:ext cx="2016224" cy="338554"/>
            <a:chOff x="4382021" y="5284934"/>
            <a:chExt cx="2376264" cy="338554"/>
          </a:xfrm>
          <a:solidFill>
            <a:schemeClr val="bg2">
              <a:lumMod val="90000"/>
            </a:schemeClr>
          </a:solidFill>
        </p:grpSpPr>
        <p:grpSp>
          <p:nvGrpSpPr>
            <p:cNvPr id="33" name="组合 32">
              <a:extLst>
                <a:ext uri="{FF2B5EF4-FFF2-40B4-BE49-F238E27FC236}">
                  <a16:creationId xmlns:a16="http://schemas.microsoft.com/office/drawing/2014/main" id="{F4EE739C-08A5-414C-9C3A-366F8945DC85}"/>
                </a:ext>
              </a:extLst>
            </p:cNvPr>
            <p:cNvGrpSpPr/>
            <p:nvPr/>
          </p:nvGrpSpPr>
          <p:grpSpPr>
            <a:xfrm>
              <a:off x="4382021" y="5284934"/>
              <a:ext cx="2376264" cy="338554"/>
              <a:chOff x="2149773" y="5356942"/>
              <a:chExt cx="2376264" cy="338554"/>
            </a:xfrm>
            <a:grpFill/>
          </p:grpSpPr>
          <p:sp>
            <p:nvSpPr>
              <p:cNvPr id="35" name="文本框 34">
                <a:extLst>
                  <a:ext uri="{FF2B5EF4-FFF2-40B4-BE49-F238E27FC236}">
                    <a16:creationId xmlns:a16="http://schemas.microsoft.com/office/drawing/2014/main" id="{78AABAAF-CE27-4216-9BDF-FD71DE6F4EC2}"/>
                  </a:ext>
                </a:extLst>
              </p:cNvPr>
              <p:cNvSpPr txBox="1"/>
              <p:nvPr/>
            </p:nvSpPr>
            <p:spPr>
              <a:xfrm>
                <a:off x="2149773" y="5356942"/>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6" name="直接连接符 35">
                <a:extLst>
                  <a:ext uri="{FF2B5EF4-FFF2-40B4-BE49-F238E27FC236}">
                    <a16:creationId xmlns:a16="http://schemas.microsoft.com/office/drawing/2014/main" id="{A33E13C6-595E-4713-8AF4-3334BB2B5C9A}"/>
                  </a:ext>
                </a:extLst>
              </p:cNvPr>
              <p:cNvCxnSpPr>
                <a:cxnSpLocks/>
              </p:cNvCxnSpPr>
              <p:nvPr/>
            </p:nvCxnSpPr>
            <p:spPr>
              <a:xfrm>
                <a:off x="3579645" y="535694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8E509D4-B5DB-421D-88DF-685E50BD00A5}"/>
                  </a:ext>
                </a:extLst>
              </p:cNvPr>
              <p:cNvCxnSpPr>
                <a:cxnSpLocks/>
              </p:cNvCxnSpPr>
              <p:nvPr/>
            </p:nvCxnSpPr>
            <p:spPr>
              <a:xfrm flipV="1">
                <a:off x="2985579" y="5368130"/>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574FC2D8-9CFD-4428-A6B0-6A9B5121427E}"/>
                </a:ext>
              </a:extLst>
            </p:cNvPr>
            <p:cNvCxnSpPr>
              <a:cxnSpLocks/>
            </p:cNvCxnSpPr>
            <p:nvPr/>
          </p:nvCxnSpPr>
          <p:spPr>
            <a:xfrm flipV="1">
              <a:off x="5570153" y="5296122"/>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6855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E3126-A5F4-4E04-A2D2-006A20D4FF8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65567" y="1390559"/>
            <a:ext cx="8229600" cy="5141168"/>
          </a:xfrm>
        </p:spPr>
        <p:txBody>
          <a:bodyPr/>
          <a:lstStyle/>
          <a:p>
            <a:pPr lvl="2" eaLnBrk="1" hangingPunct="1"/>
            <a:r>
              <a:rPr lang="zh-CN" altLang="en-US" sz="1600" b="1" dirty="0"/>
              <a:t>例</a:t>
            </a:r>
            <a:r>
              <a:rPr lang="en-US" altLang="zh-CN" sz="1600" b="1" dirty="0"/>
              <a:t>3.6</a:t>
            </a:r>
            <a:r>
              <a:rPr lang="zh-CN" altLang="en-US" sz="1600" b="1" dirty="0"/>
              <a:t>：</a:t>
            </a:r>
            <a:r>
              <a:rPr lang="en-US" altLang="zh-CN" sz="1600" b="1" dirty="0"/>
              <a:t>x=-0.1011</a:t>
            </a:r>
            <a:r>
              <a:rPr lang="zh-CN" altLang="en-US" sz="1600" b="1" dirty="0"/>
              <a:t>，</a:t>
            </a:r>
            <a:r>
              <a:rPr lang="en-US" altLang="zh-CN" sz="1600" b="1" dirty="0"/>
              <a:t>y=0.1100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a:t>
            </a:r>
            <a:r>
              <a:rPr lang="en-US" altLang="zh-CN" sz="1600" b="1" dirty="0"/>
              <a:t>[-y]</a:t>
            </a:r>
            <a:r>
              <a:rPr lang="zh-CN" altLang="en-US" sz="1600" b="1" baseline="-25000" dirty="0"/>
              <a:t>补</a:t>
            </a:r>
            <a:r>
              <a:rPr lang="en-US" altLang="zh-CN" sz="1600" b="1" dirty="0"/>
              <a:t>=1.0100</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负数</a:t>
            </a:r>
            <a:r>
              <a:rPr lang="en-US" altLang="zh-CN" sz="1600" b="1" dirty="0"/>
              <a:t>-</a:t>
            </a:r>
            <a:r>
              <a:rPr lang="zh-CN" altLang="en-US" sz="1600" b="1" dirty="0"/>
              <a:t>正数</a:t>
            </a:r>
            <a:r>
              <a:rPr lang="en-US" altLang="zh-CN" sz="1600" b="1" dirty="0"/>
              <a:t>=</a:t>
            </a:r>
            <a:r>
              <a:rPr lang="zh-CN" altLang="en-US" sz="1600" b="1" dirty="0"/>
              <a:t>负数</a:t>
            </a:r>
            <a:r>
              <a:rPr lang="en-US" altLang="zh-CN" sz="1600" b="1" dirty="0"/>
              <a:t>+</a:t>
            </a:r>
            <a:r>
              <a:rPr lang="zh-CN" altLang="en-US" sz="1600" b="1" dirty="0"/>
              <a:t>负数，结果是正数，溢出了</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a:t>
            </a:r>
            <a:endParaRPr lang="en-US" altLang="zh-CN" sz="1600" b="1" dirty="0"/>
          </a:p>
          <a:p>
            <a:pPr lvl="2" eaLnBrk="1" hangingPunct="1"/>
            <a:endParaRPr lang="en-US" altLang="zh-CN" sz="16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=1</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endParaRPr lang="en-US" altLang="zh-CN" sz="1600" b="1" dirty="0"/>
          </a:p>
          <a:p>
            <a:pPr lvl="2" eaLnBrk="1" hangingPunct="1"/>
            <a:endParaRPr lang="en-US" altLang="zh-CN" sz="1600" b="1" dirty="0"/>
          </a:p>
          <a:p>
            <a:pPr lvl="2" eaLnBrk="1" hangingPunct="1"/>
            <a:r>
              <a:rPr lang="zh-CN" altLang="en-US" sz="1600" b="1" dirty="0"/>
              <a:t>如果采用减法运算的溢出标志</a:t>
            </a:r>
            <a:r>
              <a:rPr lang="en-US" altLang="zh-CN" sz="1600" b="1" dirty="0"/>
              <a:t>V</a:t>
            </a:r>
            <a:r>
              <a:rPr lang="zh-CN" altLang="en-US" sz="1600" b="1" dirty="0"/>
              <a:t>：</a:t>
            </a:r>
            <a:endParaRPr lang="en-US" altLang="zh-CN" sz="1600" b="1" dirty="0"/>
          </a:p>
          <a:p>
            <a:pPr lvl="3" eaLnBrk="1" hangingPunct="1"/>
            <a:r>
              <a:rPr lang="en-US" altLang="zh-CN" sz="1200" b="1" dirty="0"/>
              <a:t>[x-y]</a:t>
            </a:r>
            <a:r>
              <a:rPr lang="zh-CN" altLang="en-US" sz="1200" b="1" baseline="-25000" dirty="0"/>
              <a:t>补</a:t>
            </a:r>
            <a:r>
              <a:rPr lang="en-US" altLang="zh-CN" sz="1200" b="1" dirty="0"/>
              <a:t>= [x]</a:t>
            </a:r>
            <a:r>
              <a:rPr lang="zh-CN" altLang="en-US" sz="1200" b="1" baseline="-25000" dirty="0"/>
              <a:t>补 </a:t>
            </a:r>
            <a:r>
              <a:rPr lang="en-US" altLang="zh-CN" sz="1200" b="1" dirty="0"/>
              <a:t>- [y]</a:t>
            </a:r>
            <a:r>
              <a:rPr lang="zh-CN" altLang="en-US" sz="1200" b="1" baseline="-25000" dirty="0"/>
              <a:t>补</a:t>
            </a:r>
            <a:endParaRPr lang="en-US" altLang="zh-CN" sz="12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=0</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r>
              <a:rPr lang="en-US" altLang="zh-CN" sz="1600" b="1" dirty="0"/>
              <a:t>  </a:t>
            </a:r>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3163424" y="2265328"/>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CA3DDB6-8FFC-4779-ACEB-9601A1D3DF5D}"/>
              </a:ext>
            </a:extLst>
          </p:cNvPr>
          <p:cNvGrpSpPr/>
          <p:nvPr/>
        </p:nvGrpSpPr>
        <p:grpSpPr>
          <a:xfrm>
            <a:off x="4684431" y="5433632"/>
            <a:ext cx="2016224" cy="400110"/>
            <a:chOff x="4139952" y="5157192"/>
            <a:chExt cx="2376264" cy="400110"/>
          </a:xfrm>
          <a:solidFill>
            <a:schemeClr val="bg2">
              <a:lumMod val="90000"/>
            </a:schemeClr>
          </a:solidFill>
        </p:grpSpPr>
        <p:grpSp>
          <p:nvGrpSpPr>
            <p:cNvPr id="33" name="组合 32">
              <a:extLst>
                <a:ext uri="{FF2B5EF4-FFF2-40B4-BE49-F238E27FC236}">
                  <a16:creationId xmlns:a16="http://schemas.microsoft.com/office/drawing/2014/main" id="{70362F75-6552-493E-AB90-D55EB7A0C729}"/>
                </a:ext>
              </a:extLst>
            </p:cNvPr>
            <p:cNvGrpSpPr/>
            <p:nvPr/>
          </p:nvGrpSpPr>
          <p:grpSpPr>
            <a:xfrm>
              <a:off x="4139952" y="5157192"/>
              <a:ext cx="2376264" cy="400110"/>
              <a:chOff x="1907704" y="5229200"/>
              <a:chExt cx="2376264" cy="400110"/>
            </a:xfrm>
            <a:grpFill/>
          </p:grpSpPr>
          <p:sp>
            <p:nvSpPr>
              <p:cNvPr id="35" name="文本框 34">
                <a:extLst>
                  <a:ext uri="{FF2B5EF4-FFF2-40B4-BE49-F238E27FC236}">
                    <a16:creationId xmlns:a16="http://schemas.microsoft.com/office/drawing/2014/main" id="{2B105789-711E-4086-A165-A6F8872E18F3}"/>
                  </a:ext>
                </a:extLst>
              </p:cNvPr>
              <p:cNvSpPr txBox="1"/>
              <p:nvPr/>
            </p:nvSpPr>
            <p:spPr>
              <a:xfrm>
                <a:off x="1907704" y="5229200"/>
                <a:ext cx="2376264" cy="400110"/>
              </a:xfrm>
              <a:prstGeom prst="rect">
                <a:avLst/>
              </a:prstGeom>
              <a:grp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36" name="直接连接符 35">
                <a:extLst>
                  <a:ext uri="{FF2B5EF4-FFF2-40B4-BE49-F238E27FC236}">
                    <a16:creationId xmlns:a16="http://schemas.microsoft.com/office/drawing/2014/main" id="{09671884-3A4D-4B41-B98D-B4A91E478267}"/>
                  </a:ext>
                </a:extLst>
              </p:cNvPr>
              <p:cNvCxnSpPr>
                <a:cxnSpLocks/>
              </p:cNvCxnSpPr>
              <p:nvPr/>
            </p:nvCxnSpPr>
            <p:spPr>
              <a:xfrm>
                <a:off x="2769557" y="531715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50D7EDA-30D6-4166-A30F-F0BC79C498CA}"/>
                  </a:ext>
                </a:extLst>
              </p:cNvPr>
              <p:cNvCxnSpPr>
                <a:cxnSpLocks/>
              </p:cNvCxnSpPr>
              <p:nvPr/>
            </p:nvCxnSpPr>
            <p:spPr>
              <a:xfrm>
                <a:off x="3451337" y="532247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2D207024-B2C0-4CAF-A8E6-1F91C05BD2AB}"/>
                </a:ext>
              </a:extLst>
            </p:cNvPr>
            <p:cNvCxnSpPr>
              <a:cxnSpLocks/>
            </p:cNvCxnSpPr>
            <p:nvPr/>
          </p:nvCxnSpPr>
          <p:spPr>
            <a:xfrm>
              <a:off x="5202864" y="5250464"/>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D8825D01-CE73-442B-B15B-EBE91476F380}"/>
              </a:ext>
            </a:extLst>
          </p:cNvPr>
          <p:cNvGrpSpPr/>
          <p:nvPr/>
        </p:nvGrpSpPr>
        <p:grpSpPr>
          <a:xfrm>
            <a:off x="2876852" y="4001416"/>
            <a:ext cx="2016224" cy="400110"/>
            <a:chOff x="4139952" y="5157192"/>
            <a:chExt cx="2376264" cy="400110"/>
          </a:xfrm>
        </p:grpSpPr>
        <p:grpSp>
          <p:nvGrpSpPr>
            <p:cNvPr id="39" name="组合 38">
              <a:extLst>
                <a:ext uri="{FF2B5EF4-FFF2-40B4-BE49-F238E27FC236}">
                  <a16:creationId xmlns:a16="http://schemas.microsoft.com/office/drawing/2014/main" id="{3A98A7F0-73B0-48B7-BFE5-8C93838517A3}"/>
                </a:ext>
              </a:extLst>
            </p:cNvPr>
            <p:cNvGrpSpPr/>
            <p:nvPr/>
          </p:nvGrpSpPr>
          <p:grpSpPr>
            <a:xfrm>
              <a:off x="4139952" y="5157192"/>
              <a:ext cx="2376264" cy="400110"/>
              <a:chOff x="1907704" y="5229200"/>
              <a:chExt cx="2376264" cy="400110"/>
            </a:xfrm>
          </p:grpSpPr>
          <p:sp>
            <p:nvSpPr>
              <p:cNvPr id="41" name="文本框 40">
                <a:extLst>
                  <a:ext uri="{FF2B5EF4-FFF2-40B4-BE49-F238E27FC236}">
                    <a16:creationId xmlns:a16="http://schemas.microsoft.com/office/drawing/2014/main" id="{5A951097-2F3F-40B2-BF7B-895DD3665A81}"/>
                  </a:ext>
                </a:extLst>
              </p:cNvPr>
              <p:cNvSpPr txBox="1"/>
              <p:nvPr/>
            </p:nvSpPr>
            <p:spPr>
              <a:xfrm>
                <a:off x="1907704" y="5229200"/>
                <a:ext cx="2376264" cy="400110"/>
              </a:xfrm>
              <a:prstGeom prst="rect">
                <a:avLst/>
              </a:prstGeom>
              <a:solidFill>
                <a:schemeClr val="bg2">
                  <a:lumMod val="90000"/>
                </a:schemeClr>
              </a:solid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42" name="直接连接符 41">
                <a:extLst>
                  <a:ext uri="{FF2B5EF4-FFF2-40B4-BE49-F238E27FC236}">
                    <a16:creationId xmlns:a16="http://schemas.microsoft.com/office/drawing/2014/main" id="{C2F0AC76-12E1-4D94-A848-957297708281}"/>
                  </a:ext>
                </a:extLst>
              </p:cNvPr>
              <p:cNvCxnSpPr>
                <a:cxnSpLocks/>
              </p:cNvCxnSpPr>
              <p:nvPr/>
            </p:nvCxnSpPr>
            <p:spPr>
              <a:xfrm>
                <a:off x="3674610"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C2B584-A6DE-4F58-B11C-FBCB72B32519}"/>
                  </a:ext>
                </a:extLst>
              </p:cNvPr>
              <p:cNvCxnSpPr>
                <a:cxnSpLocks/>
              </p:cNvCxnSpPr>
              <p:nvPr/>
            </p:nvCxnSpPr>
            <p:spPr>
              <a:xfrm>
                <a:off x="3448489"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714A7650-C95D-4517-967A-AD0DF58B94E5}"/>
                </a:ext>
              </a:extLst>
            </p:cNvPr>
            <p:cNvCxnSpPr>
              <a:cxnSpLocks/>
            </p:cNvCxnSpPr>
            <p:nvPr/>
          </p:nvCxnSpPr>
          <p:spPr>
            <a:xfrm>
              <a:off x="5212133" y="5248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标注 17"/>
          <p:cNvSpPr/>
          <p:nvPr/>
        </p:nvSpPr>
        <p:spPr>
          <a:xfrm>
            <a:off x="5175851" y="2265328"/>
            <a:ext cx="2088233"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最高有效位向前无进位</a:t>
            </a:r>
            <a:endParaRPr lang="en-US" altLang="zh-CN" sz="1400" b="1" dirty="0">
              <a:solidFill>
                <a:srgbClr val="002060"/>
              </a:solidFill>
            </a:endParaRPr>
          </a:p>
          <a:p>
            <a:r>
              <a:rPr lang="zh-CN" altLang="en-US" sz="1400" b="1" dirty="0">
                <a:solidFill>
                  <a:srgbClr val="002060"/>
                </a:solidFill>
              </a:rPr>
              <a:t> 但符号位向前有进位</a:t>
            </a:r>
            <a:endParaRPr lang="en-US" altLang="zh-CN" sz="1400" b="1" dirty="0">
              <a:solidFill>
                <a:srgbClr val="002060"/>
              </a:solidFill>
            </a:endParaRPr>
          </a:p>
          <a:p>
            <a:r>
              <a:rPr lang="zh-CN" altLang="en-US" sz="1400" b="1" dirty="0">
                <a:solidFill>
                  <a:srgbClr val="002060"/>
                </a:solidFill>
              </a:rPr>
              <a:t>  所以溢出</a:t>
            </a:r>
          </a:p>
        </p:txBody>
      </p:sp>
    </p:spTree>
    <p:extLst>
      <p:ext uri="{BB962C8B-B14F-4D97-AF65-F5344CB8AC3E}">
        <p14:creationId xmlns:p14="http://schemas.microsoft.com/office/powerpoint/2010/main" val="1760803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B70848-F733-4F46-8C66-D9F7029AE127}"/>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1431814"/>
            <a:ext cx="8229600" cy="5069160"/>
          </a:xfrm>
        </p:spPr>
        <p:txBody>
          <a:bodyPr rtlCol="0">
            <a:normAutofit fontScale="85000" lnSpcReduction="20000"/>
          </a:bodyPr>
          <a:lstStyle/>
          <a:p>
            <a:pPr lvl="1" eaLnBrk="1" hangingPunct="1"/>
            <a:r>
              <a:rPr lang="zh-CN" altLang="en-US" sz="2100" b="1" dirty="0"/>
              <a:t>（</a:t>
            </a:r>
            <a:r>
              <a:rPr lang="en-US" altLang="zh-CN" sz="2100" b="1" dirty="0"/>
              <a:t>2</a:t>
            </a:r>
            <a:r>
              <a:rPr lang="zh-CN" altLang="en-US" sz="2100" b="1" dirty="0"/>
              <a:t>）根据运算过程中最高数据位的进位与符号位的进位是否一致进行检测</a:t>
            </a:r>
            <a:endParaRPr lang="en-US" altLang="zh-CN" sz="2100" b="1" dirty="0"/>
          </a:p>
          <a:p>
            <a:pPr lvl="2" eaLnBrk="1" hangingPunct="1"/>
            <a:endParaRPr lang="en-US" altLang="zh-CN" sz="19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a:t>
            </a:r>
            <a:r>
              <a:rPr lang="zh-CN" altLang="en-US" sz="1600" b="1" dirty="0"/>
              <a:t>：符号位产生的进位信号；</a:t>
            </a:r>
            <a:r>
              <a:rPr lang="en-US" altLang="zh-CN" sz="1600" b="1" dirty="0"/>
              <a:t>C</a:t>
            </a:r>
            <a:r>
              <a:rPr lang="en-US" altLang="zh-CN" sz="1600" b="1" baseline="-25000" dirty="0"/>
              <a:t>d</a:t>
            </a:r>
            <a:r>
              <a:rPr lang="zh-CN" altLang="en-US" sz="1600" b="1" dirty="0"/>
              <a:t>：最高有效位产生的进位信号</a:t>
            </a:r>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3.7</a:t>
            </a:r>
            <a:r>
              <a:rPr lang="zh-CN" altLang="en-US" sz="1600" b="1" dirty="0"/>
              <a:t>：</a:t>
            </a:r>
            <a:r>
              <a:rPr lang="en-US" altLang="zh-CN" sz="1600" b="1" dirty="0"/>
              <a:t>x=-111</a:t>
            </a:r>
            <a:r>
              <a:rPr lang="zh-CN" altLang="en-US" sz="1600" b="1" dirty="0"/>
              <a:t>，</a:t>
            </a:r>
            <a:r>
              <a:rPr lang="en-US" altLang="zh-CN" sz="1600" b="1" dirty="0"/>
              <a:t>y=110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=1,001</a:t>
            </a:r>
            <a:r>
              <a:rPr lang="zh-CN" altLang="en-US" sz="1600" b="1" dirty="0"/>
              <a:t>，</a:t>
            </a:r>
            <a:r>
              <a:rPr lang="en-US" altLang="zh-CN" sz="1600" b="1" dirty="0"/>
              <a:t>[y]</a:t>
            </a:r>
            <a:r>
              <a:rPr lang="zh-CN" altLang="en-US" sz="1600" b="1" baseline="-25000" dirty="0"/>
              <a:t>补</a:t>
            </a:r>
            <a:r>
              <a:rPr lang="en-US" altLang="zh-CN" sz="1600" b="1" dirty="0"/>
              <a:t>=0,110</a:t>
            </a:r>
            <a:r>
              <a:rPr lang="zh-CN" altLang="en-US" sz="1600" b="1" dirty="0"/>
              <a:t>，</a:t>
            </a:r>
            <a:r>
              <a:rPr lang="en-US" altLang="zh-CN" sz="1600" b="1" dirty="0"/>
              <a:t>[-y]</a:t>
            </a:r>
            <a:r>
              <a:rPr lang="zh-CN" altLang="en-US" sz="1600" b="1" baseline="-25000" dirty="0"/>
              <a:t>补</a:t>
            </a:r>
            <a:r>
              <a:rPr lang="en-US" altLang="zh-CN" sz="1600" b="1" dirty="0"/>
              <a:t>=1,010</a:t>
            </a:r>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0</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a:t>
            </a:r>
            <a:r>
              <a:rPr lang="en-US" altLang="zh-CN" sz="1600" b="1" dirty="0"/>
              <a:t>0=1</a:t>
            </a:r>
            <a:r>
              <a:rPr lang="zh-CN" altLang="en-US" sz="1600" b="1" dirty="0"/>
              <a:t>，溢出（</a:t>
            </a:r>
            <a:r>
              <a:rPr lang="en-US" altLang="zh-CN" sz="1600" b="1" dirty="0"/>
              <a:t>-7-6=-13</a:t>
            </a:r>
            <a:r>
              <a:rPr lang="zh-CN" altLang="en-US" sz="1600" b="1" dirty="0"/>
              <a:t>；超出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3.8</a:t>
            </a:r>
            <a:r>
              <a:rPr lang="zh-CN" altLang="en-US" sz="1600" b="1" dirty="0"/>
              <a:t>：</a:t>
            </a:r>
            <a:r>
              <a:rPr lang="en-US" altLang="zh-CN" sz="1600" b="1" dirty="0"/>
              <a:t>x=-011</a:t>
            </a:r>
            <a:r>
              <a:rPr lang="zh-CN" altLang="en-US" sz="1600" b="1" dirty="0"/>
              <a:t>，</a:t>
            </a:r>
            <a:r>
              <a:rPr lang="en-US" altLang="zh-CN" sz="1600" b="1" dirty="0"/>
              <a:t>y=100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=1,101</a:t>
            </a:r>
            <a:r>
              <a:rPr lang="zh-CN" altLang="en-US" sz="1600" b="1" dirty="0"/>
              <a:t>，</a:t>
            </a:r>
            <a:r>
              <a:rPr lang="en-US" altLang="zh-CN" sz="1600" b="1" dirty="0"/>
              <a:t>[y]</a:t>
            </a:r>
            <a:r>
              <a:rPr lang="zh-CN" altLang="en-US" sz="1600" b="1" baseline="-25000" dirty="0"/>
              <a:t>补</a:t>
            </a:r>
            <a:r>
              <a:rPr lang="en-US" altLang="zh-CN" sz="1600" b="1" dirty="0"/>
              <a:t>=0,100</a:t>
            </a:r>
            <a:r>
              <a:rPr lang="zh-CN" altLang="en-US" sz="1600" b="1" dirty="0"/>
              <a:t>，</a:t>
            </a:r>
            <a:r>
              <a:rPr lang="en-US" altLang="zh-CN" sz="1600" b="1" dirty="0"/>
              <a:t>[-y]</a:t>
            </a:r>
            <a:r>
              <a:rPr lang="zh-CN" altLang="en-US" sz="1600" b="1" baseline="-25000" dirty="0"/>
              <a:t>补</a:t>
            </a:r>
            <a:r>
              <a:rPr lang="en-US" altLang="zh-CN" sz="1600" b="1" dirty="0"/>
              <a:t>=1,110</a:t>
            </a:r>
          </a:p>
          <a:p>
            <a:pPr lvl="2" eaLnBrk="1" hangingPunct="1"/>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1</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⊕1</a:t>
            </a:r>
            <a:r>
              <a:rPr lang="en-US" altLang="zh-CN" sz="1600" b="1" dirty="0"/>
              <a:t>=0</a:t>
            </a:r>
            <a:r>
              <a:rPr lang="zh-CN" altLang="en-US" sz="1600" b="1" dirty="0"/>
              <a:t>，没有溢出（</a:t>
            </a:r>
            <a:r>
              <a:rPr lang="en-US" altLang="zh-CN" sz="1600" b="1" dirty="0"/>
              <a:t>-3-4=-7</a:t>
            </a:r>
            <a:r>
              <a:rPr lang="zh-CN" altLang="en-US" sz="1600" b="1" dirty="0"/>
              <a:t>；没有超出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p:txBody>
      </p:sp>
      <p:sp>
        <p:nvSpPr>
          <p:cNvPr id="35" name="文本框 34">
            <a:extLst>
              <a:ext uri="{FF2B5EF4-FFF2-40B4-BE49-F238E27FC236}">
                <a16:creationId xmlns:a16="http://schemas.microsoft.com/office/drawing/2014/main" id="{78AABAAF-CE27-4216-9BDF-FD71DE6F4EC2}"/>
              </a:ext>
            </a:extLst>
          </p:cNvPr>
          <p:cNvSpPr txBox="1"/>
          <p:nvPr/>
        </p:nvSpPr>
        <p:spPr>
          <a:xfrm>
            <a:off x="3419872" y="1988840"/>
            <a:ext cx="1224136" cy="338554"/>
          </a:xfrm>
          <a:prstGeom prst="rect">
            <a:avLst/>
          </a:prstGeom>
          <a:solidFill>
            <a:schemeClr val="bg2">
              <a:lumMod val="90000"/>
            </a:schemeClr>
          </a:solidFill>
        </p:spPr>
        <p:txBody>
          <a:bodyPr wrap="square" rtlCol="0">
            <a:spAutoFit/>
          </a:bodyPr>
          <a:lstStyle/>
          <a:p>
            <a:r>
              <a:rPr lang="en-US" altLang="zh-CN" sz="1600" b="1" dirty="0"/>
              <a:t> V = C</a:t>
            </a:r>
            <a:r>
              <a:rPr lang="en-US" altLang="zh-CN" sz="1600" b="1" baseline="-25000" dirty="0"/>
              <a:t>f </a:t>
            </a:r>
            <a:r>
              <a:rPr lang="en-US" altLang="zh-CN" sz="1600" b="1" dirty="0">
                <a:latin typeface="等线" panose="02010600030101010101" pitchFamily="2" charset="-122"/>
                <a:ea typeface="等线" panose="02010600030101010101" pitchFamily="2" charset="-122"/>
              </a:rPr>
              <a:t>⊕</a:t>
            </a:r>
            <a:r>
              <a:rPr lang="en-US" altLang="zh-CN" sz="1600" b="1" dirty="0"/>
              <a:t> C</a:t>
            </a:r>
            <a:r>
              <a:rPr lang="en-US" altLang="zh-CN" sz="1600" b="1" baseline="-25000" dirty="0"/>
              <a:t>d</a:t>
            </a:r>
          </a:p>
        </p:txBody>
      </p:sp>
      <p:grpSp>
        <p:nvGrpSpPr>
          <p:cNvPr id="2" name="组合 1">
            <a:extLst>
              <a:ext uri="{FF2B5EF4-FFF2-40B4-BE49-F238E27FC236}">
                <a16:creationId xmlns:a16="http://schemas.microsoft.com/office/drawing/2014/main" id="{23BF4D81-4456-4E35-A47A-3123A782D129}"/>
              </a:ext>
            </a:extLst>
          </p:cNvPr>
          <p:cNvGrpSpPr/>
          <p:nvPr/>
        </p:nvGrpSpPr>
        <p:grpSpPr>
          <a:xfrm>
            <a:off x="6824837" y="2095583"/>
            <a:ext cx="1521007" cy="954107"/>
            <a:chOff x="3240980" y="3266981"/>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1,001</a:t>
              </a:r>
            </a:p>
            <a:p>
              <a:r>
                <a:rPr lang="en-US" altLang="zh-CN" sz="1400" b="1" dirty="0"/>
                <a:t>+ [-y]</a:t>
              </a:r>
              <a:r>
                <a:rPr lang="zh-CN" altLang="en-US" sz="1400" b="1" baseline="-25000" dirty="0"/>
                <a:t>补</a:t>
              </a:r>
              <a:r>
                <a:rPr lang="en-US" altLang="zh-CN" sz="1400" b="1" baseline="-25000" dirty="0"/>
                <a:t>    </a:t>
              </a:r>
              <a:r>
                <a:rPr lang="en-US" altLang="zh-CN" sz="1400" b="1" dirty="0"/>
                <a:t>1,010</a:t>
              </a:r>
            </a:p>
            <a:p>
              <a:endParaRPr lang="en-US" altLang="zh-CN" sz="1400" b="1" dirty="0"/>
            </a:p>
            <a:p>
              <a:r>
                <a:rPr lang="en-US" altLang="zh-CN" sz="1400" b="1" dirty="0"/>
                <a:t>[x-y]</a:t>
              </a:r>
              <a:r>
                <a:rPr lang="zh-CN" altLang="en-US" sz="1400" b="1" baseline="-25000" dirty="0"/>
                <a:t>补   </a:t>
              </a:r>
              <a:r>
                <a:rPr lang="en-US" altLang="zh-CN" sz="1400" b="1" dirty="0"/>
                <a:t>10,011</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AE5B7A12-0483-44C9-8132-49303C5C7305}"/>
              </a:ext>
            </a:extLst>
          </p:cNvPr>
          <p:cNvGrpSpPr/>
          <p:nvPr/>
        </p:nvGrpSpPr>
        <p:grpSpPr>
          <a:xfrm>
            <a:off x="6560591" y="4106638"/>
            <a:ext cx="1521007" cy="954107"/>
            <a:chOff x="3240980" y="3266981"/>
            <a:chExt cx="1521007" cy="954107"/>
          </a:xfrm>
          <a:solidFill>
            <a:schemeClr val="bg2">
              <a:lumMod val="90000"/>
            </a:schemeClr>
          </a:solidFill>
        </p:grpSpPr>
        <p:sp>
          <p:nvSpPr>
            <p:cNvPr id="19" name="文本框 18">
              <a:extLst>
                <a:ext uri="{FF2B5EF4-FFF2-40B4-BE49-F238E27FC236}">
                  <a16:creationId xmlns:a16="http://schemas.microsoft.com/office/drawing/2014/main" id="{5522CB45-2213-421F-AFD5-78C961B37DCC}"/>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a:t>
              </a:r>
            </a:p>
            <a:p>
              <a:r>
                <a:rPr lang="en-US" altLang="zh-CN" sz="1400" b="1" dirty="0"/>
                <a:t>+ [-y]</a:t>
              </a:r>
              <a:r>
                <a:rPr lang="zh-CN" altLang="en-US" sz="1400" b="1" baseline="-25000" dirty="0"/>
                <a:t>补</a:t>
              </a:r>
              <a:r>
                <a:rPr lang="en-US" altLang="zh-CN" sz="1400" b="1" baseline="-25000" dirty="0"/>
                <a:t>    </a:t>
              </a:r>
              <a:r>
                <a:rPr lang="en-US" altLang="zh-CN" sz="1400" b="1" dirty="0"/>
                <a:t>1,100</a:t>
              </a:r>
            </a:p>
            <a:p>
              <a:endParaRPr lang="en-US" altLang="zh-CN" sz="1400" b="1" dirty="0"/>
            </a:p>
            <a:p>
              <a:r>
                <a:rPr lang="en-US" altLang="zh-CN" sz="1400" b="1" dirty="0"/>
                <a:t>[x-y]</a:t>
              </a:r>
              <a:r>
                <a:rPr lang="zh-CN" altLang="en-US" sz="1400" b="1" baseline="-25000" dirty="0"/>
                <a:t>补   </a:t>
              </a:r>
              <a:r>
                <a:rPr lang="en-US" altLang="zh-CN" sz="1400" b="1" dirty="0"/>
                <a:t>11,001</a:t>
              </a:r>
              <a:endParaRPr lang="zh-CN" altLang="en-US" sz="1400" dirty="0"/>
            </a:p>
          </p:txBody>
        </p:sp>
        <p:cxnSp>
          <p:nvCxnSpPr>
            <p:cNvPr id="20" name="直接连接符 19">
              <a:extLst>
                <a:ext uri="{FF2B5EF4-FFF2-40B4-BE49-F238E27FC236}">
                  <a16:creationId xmlns:a16="http://schemas.microsoft.com/office/drawing/2014/main" id="{A5E1F440-3CCD-4627-AF03-3B43839CF106}"/>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06C09BA2-3D93-4671-AD13-60FD949DEF0B}"/>
              </a:ext>
            </a:extLst>
          </p:cNvPr>
          <p:cNvSpPr txBox="1"/>
          <p:nvPr/>
        </p:nvSpPr>
        <p:spPr>
          <a:xfrm>
            <a:off x="7728602" y="3349670"/>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0</a:t>
            </a:r>
            <a:endParaRPr lang="zh-CN" altLang="en-US" sz="1200" dirty="0"/>
          </a:p>
        </p:txBody>
      </p:sp>
      <p:sp>
        <p:nvSpPr>
          <p:cNvPr id="12" name="文本框 11">
            <a:extLst>
              <a:ext uri="{FF2B5EF4-FFF2-40B4-BE49-F238E27FC236}">
                <a16:creationId xmlns:a16="http://schemas.microsoft.com/office/drawing/2014/main" id="{34047F9E-5E3C-469B-A674-662B2A5BCC3B}"/>
              </a:ext>
            </a:extLst>
          </p:cNvPr>
          <p:cNvSpPr txBox="1"/>
          <p:nvPr/>
        </p:nvSpPr>
        <p:spPr>
          <a:xfrm>
            <a:off x="6948264" y="3368025"/>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6" name="直接箭头连接符 5">
            <a:extLst>
              <a:ext uri="{FF2B5EF4-FFF2-40B4-BE49-F238E27FC236}">
                <a16:creationId xmlns:a16="http://schemas.microsoft.com/office/drawing/2014/main" id="{026F5E00-06AC-45C5-945C-18BFB8707FBF}"/>
              </a:ext>
            </a:extLst>
          </p:cNvPr>
          <p:cNvCxnSpPr>
            <a:cxnSpLocks/>
          </p:cNvCxnSpPr>
          <p:nvPr/>
        </p:nvCxnSpPr>
        <p:spPr>
          <a:xfrm flipV="1">
            <a:off x="7350315" y="2980023"/>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1BCA19B-BF2F-48CF-B693-85FEABA59AB1}"/>
              </a:ext>
            </a:extLst>
          </p:cNvPr>
          <p:cNvCxnSpPr>
            <a:cxnSpLocks/>
          </p:cNvCxnSpPr>
          <p:nvPr/>
        </p:nvCxnSpPr>
        <p:spPr>
          <a:xfrm flipH="1" flipV="1">
            <a:off x="7571154" y="2971827"/>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31980B9A-026B-4F51-95EC-BFC10633E808}"/>
              </a:ext>
            </a:extLst>
          </p:cNvPr>
          <p:cNvSpPr txBox="1"/>
          <p:nvPr/>
        </p:nvSpPr>
        <p:spPr>
          <a:xfrm>
            <a:off x="7217274" y="5442443"/>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1</a:t>
            </a:r>
            <a:endParaRPr lang="zh-CN" altLang="en-US" sz="1200" dirty="0"/>
          </a:p>
        </p:txBody>
      </p:sp>
      <p:sp>
        <p:nvSpPr>
          <p:cNvPr id="22" name="文本框 21">
            <a:extLst>
              <a:ext uri="{FF2B5EF4-FFF2-40B4-BE49-F238E27FC236}">
                <a16:creationId xmlns:a16="http://schemas.microsoft.com/office/drawing/2014/main" id="{2059CF2B-957D-4F5B-BD8C-DF1951838768}"/>
              </a:ext>
            </a:extLst>
          </p:cNvPr>
          <p:cNvSpPr txBox="1"/>
          <p:nvPr/>
        </p:nvSpPr>
        <p:spPr>
          <a:xfrm>
            <a:off x="6433576" y="5435917"/>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23" name="直接箭头连接符 22">
            <a:extLst>
              <a:ext uri="{FF2B5EF4-FFF2-40B4-BE49-F238E27FC236}">
                <a16:creationId xmlns:a16="http://schemas.microsoft.com/office/drawing/2014/main" id="{3600AA10-4A3C-427C-9B53-A02EBB1A772B}"/>
              </a:ext>
            </a:extLst>
          </p:cNvPr>
          <p:cNvCxnSpPr>
            <a:cxnSpLocks/>
            <a:stCxn id="22" idx="0"/>
          </p:cNvCxnSpPr>
          <p:nvPr/>
        </p:nvCxnSpPr>
        <p:spPr>
          <a:xfrm flipV="1">
            <a:off x="6721608" y="5064252"/>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082BBD1-3F19-49B0-9036-D6D17002E59B}"/>
              </a:ext>
            </a:extLst>
          </p:cNvPr>
          <p:cNvCxnSpPr>
            <a:cxnSpLocks/>
          </p:cNvCxnSpPr>
          <p:nvPr/>
        </p:nvCxnSpPr>
        <p:spPr>
          <a:xfrm flipH="1" flipV="1">
            <a:off x="6939623" y="5068202"/>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圆角矩形标注 24"/>
          <p:cNvSpPr/>
          <p:nvPr/>
        </p:nvSpPr>
        <p:spPr>
          <a:xfrm>
            <a:off x="4080717" y="5226842"/>
            <a:ext cx="2145225" cy="695147"/>
          </a:xfrm>
          <a:prstGeom prst="wedgeRoundRectCallout">
            <a:avLst>
              <a:gd name="adj1" fmla="val 66393"/>
              <a:gd name="adj2" fmla="val -6105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最高有效位向前有进位</a:t>
            </a:r>
            <a:endParaRPr lang="en-US" altLang="zh-CN" sz="1400" b="1" dirty="0">
              <a:solidFill>
                <a:srgbClr val="002060"/>
              </a:solidFill>
            </a:endParaRPr>
          </a:p>
          <a:p>
            <a:r>
              <a:rPr lang="zh-CN" altLang="en-US" sz="1400" b="1" dirty="0">
                <a:solidFill>
                  <a:srgbClr val="002060"/>
                </a:solidFill>
              </a:rPr>
              <a:t> 符号位向前也有进位</a:t>
            </a:r>
            <a:endParaRPr lang="en-US" altLang="zh-CN" sz="1400" b="1" dirty="0">
              <a:solidFill>
                <a:srgbClr val="002060"/>
              </a:solidFill>
            </a:endParaRPr>
          </a:p>
          <a:p>
            <a:r>
              <a:rPr lang="zh-CN" altLang="en-US" sz="1400" b="1" dirty="0">
                <a:solidFill>
                  <a:srgbClr val="002060"/>
                </a:solidFill>
              </a:rPr>
              <a:t>  所以无溢出</a:t>
            </a:r>
          </a:p>
        </p:txBody>
      </p:sp>
    </p:spTree>
    <p:extLst>
      <p:ext uri="{BB962C8B-B14F-4D97-AF65-F5344CB8AC3E}">
        <p14:creationId xmlns:p14="http://schemas.microsoft.com/office/powerpoint/2010/main" val="2564652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EFB3F6B-375C-4F55-B756-52C5044D1A83}"/>
              </a:ext>
            </a:extLst>
          </p:cNvPr>
          <p:cNvSpPr>
            <a:spLocks noGrp="1"/>
          </p:cNvSpPr>
          <p:nvPr>
            <p:ph type="title"/>
          </p:nvPr>
        </p:nvSpPr>
        <p:spPr>
          <a:xfrm>
            <a:off x="423278" y="0"/>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1052736"/>
            <a:ext cx="4489782" cy="5377932"/>
          </a:xfrm>
        </p:spPr>
        <p:txBody>
          <a:bodyPr rtlCol="0">
            <a:noAutofit/>
          </a:bodyPr>
          <a:lstStyle/>
          <a:p>
            <a:pPr marL="514350" lvl="1" indent="0" eaLnBrk="1" hangingPunct="1">
              <a:buNone/>
            </a:pPr>
            <a:r>
              <a:rPr lang="zh-CN" altLang="en-US" sz="2000" b="1" dirty="0"/>
              <a:t>（</a:t>
            </a:r>
            <a:r>
              <a:rPr lang="en-US" altLang="zh-CN" sz="2000" b="1" dirty="0"/>
              <a:t>3</a:t>
            </a:r>
            <a:r>
              <a:rPr lang="zh-CN" altLang="en-US" sz="2000" b="1" dirty="0"/>
              <a:t>）利用变形补码的符号位进行检测</a:t>
            </a:r>
            <a:endParaRPr lang="en-US" altLang="zh-CN" sz="2000" b="1" dirty="0"/>
          </a:p>
          <a:p>
            <a:pPr lvl="1" eaLnBrk="1" hangingPunct="1"/>
            <a:endParaRPr lang="en-US" altLang="zh-CN" sz="1800" b="1" dirty="0"/>
          </a:p>
          <a:p>
            <a:pPr lvl="1" eaLnBrk="1" hangingPunct="1"/>
            <a:r>
              <a:rPr lang="zh-CN" altLang="en-US" sz="1800" b="1" dirty="0">
                <a:solidFill>
                  <a:srgbClr val="C00000"/>
                </a:solidFill>
              </a:rPr>
              <a:t>变形补码（双符号位补码）</a:t>
            </a:r>
            <a:r>
              <a:rPr lang="zh-CN" altLang="en-US" sz="1800" b="1" dirty="0"/>
              <a:t>：正数的符号位为</a:t>
            </a:r>
            <a:r>
              <a:rPr lang="en-US" altLang="zh-CN" sz="1800" b="1" dirty="0"/>
              <a:t>00</a:t>
            </a:r>
            <a:r>
              <a:rPr lang="zh-CN" altLang="en-US" sz="1800" b="1" dirty="0"/>
              <a:t>，负数的符号位为</a:t>
            </a:r>
            <a:r>
              <a:rPr lang="en-US" altLang="zh-CN" sz="1800" b="1" dirty="0"/>
              <a:t>11</a:t>
            </a:r>
          </a:p>
          <a:p>
            <a:pPr lvl="1" eaLnBrk="1" hangingPunct="1"/>
            <a:endParaRPr lang="en-US" altLang="zh-CN" sz="1800" b="1" dirty="0"/>
          </a:p>
          <a:p>
            <a:pPr lvl="1" eaLnBrk="1" hangingPunct="1"/>
            <a:r>
              <a:rPr lang="zh-CN" altLang="en-US" sz="1800" b="1" dirty="0"/>
              <a:t>如果运算结果的符号位为</a:t>
            </a:r>
            <a:r>
              <a:rPr lang="en-US" altLang="zh-CN" sz="1800" b="1" dirty="0"/>
              <a:t>00</a:t>
            </a:r>
            <a:r>
              <a:rPr lang="zh-CN" altLang="en-US" sz="1800" b="1" dirty="0"/>
              <a:t>或</a:t>
            </a:r>
            <a:r>
              <a:rPr lang="en-US" altLang="zh-CN" sz="1800" b="1" dirty="0"/>
              <a:t>11</a:t>
            </a:r>
            <a:r>
              <a:rPr lang="zh-CN" altLang="en-US" sz="1800" b="1" dirty="0"/>
              <a:t>，则没有溢出；如果运算结果的符号位为</a:t>
            </a:r>
            <a:r>
              <a:rPr lang="en-US" altLang="zh-CN" sz="1800" b="1" dirty="0"/>
              <a:t>01</a:t>
            </a:r>
            <a:r>
              <a:rPr lang="zh-CN" altLang="en-US" sz="1800" b="1" dirty="0"/>
              <a:t>或</a:t>
            </a:r>
            <a:r>
              <a:rPr lang="en-US" altLang="zh-CN" sz="1800" b="1" dirty="0"/>
              <a:t>10</a:t>
            </a:r>
            <a:r>
              <a:rPr lang="zh-CN" altLang="en-US" sz="1800" b="1" dirty="0"/>
              <a:t>，则产生溢出</a:t>
            </a:r>
            <a:endParaRPr lang="en-US" altLang="zh-CN" sz="1800" b="1" dirty="0"/>
          </a:p>
          <a:p>
            <a:pPr lvl="1" eaLnBrk="1" hangingPunct="1"/>
            <a:endParaRPr lang="en-US" altLang="zh-CN" sz="1800" b="1" dirty="0"/>
          </a:p>
          <a:p>
            <a:pPr lvl="1" eaLnBrk="1" hangingPunct="1"/>
            <a:r>
              <a:rPr lang="zh-CN" altLang="en-US" sz="1800" b="1" dirty="0"/>
              <a:t>溢出标志</a:t>
            </a:r>
            <a:r>
              <a:rPr lang="en-US" altLang="zh-CN" sz="1800" b="1" dirty="0"/>
              <a:t>V</a:t>
            </a:r>
            <a:r>
              <a:rPr lang="zh-CN" altLang="en-US" sz="1800" b="1" dirty="0"/>
              <a:t>检测公式：</a:t>
            </a:r>
            <a:endParaRPr lang="en-US" altLang="zh-CN" sz="1800" b="1" dirty="0"/>
          </a:p>
          <a:p>
            <a:pPr lvl="1" eaLnBrk="1" hangingPunct="1"/>
            <a:endParaRPr lang="en-US" altLang="zh-CN" sz="1800" b="1" dirty="0"/>
          </a:p>
          <a:p>
            <a:pPr lvl="1" eaLnBrk="1" hangingPunct="1"/>
            <a:r>
              <a:rPr lang="en-US" altLang="zh-CN" sz="1800" b="1" dirty="0"/>
              <a:t>S</a:t>
            </a:r>
            <a:r>
              <a:rPr lang="en-US" altLang="zh-CN" sz="1800" b="1" baseline="-25000" dirty="0"/>
              <a:t>f1</a:t>
            </a:r>
            <a:r>
              <a:rPr lang="zh-CN" altLang="en-US" sz="1800" b="1" dirty="0"/>
              <a:t>、</a:t>
            </a:r>
            <a:r>
              <a:rPr lang="en-US" altLang="zh-CN" sz="1800" b="1" dirty="0"/>
              <a:t>S</a:t>
            </a:r>
            <a:r>
              <a:rPr lang="en-US" altLang="zh-CN" sz="1800" b="1" baseline="-25000" dirty="0"/>
              <a:t>f2</a:t>
            </a:r>
            <a:r>
              <a:rPr lang="zh-CN" altLang="en-US" sz="1800" b="1" dirty="0"/>
              <a:t>分别表示运算结果的第</a:t>
            </a:r>
            <a:r>
              <a:rPr lang="en-US" altLang="zh-CN" sz="1800" b="1" dirty="0"/>
              <a:t>1</a:t>
            </a:r>
            <a:r>
              <a:rPr lang="zh-CN" altLang="en-US" sz="1800" b="1" dirty="0"/>
              <a:t>个符号位和第</a:t>
            </a:r>
            <a:r>
              <a:rPr lang="en-US" altLang="zh-CN" sz="1800" b="1" dirty="0"/>
              <a:t>2</a:t>
            </a:r>
            <a:r>
              <a:rPr lang="zh-CN" altLang="en-US" sz="1800" b="1" dirty="0"/>
              <a:t>个符号位</a:t>
            </a:r>
            <a:endParaRPr lang="en-US" altLang="zh-CN" sz="1800" b="1" dirty="0"/>
          </a:p>
          <a:p>
            <a:pPr lvl="1" eaLnBrk="1" hangingPunct="1"/>
            <a:r>
              <a:rPr lang="en-US" altLang="zh-CN" sz="1800" b="1" dirty="0">
                <a:solidFill>
                  <a:srgbClr val="002060"/>
                </a:solidFill>
              </a:rPr>
              <a:t>Sf1</a:t>
            </a:r>
            <a:r>
              <a:rPr lang="zh-CN" altLang="en-US" sz="1800" b="1" dirty="0">
                <a:solidFill>
                  <a:srgbClr val="002060"/>
                </a:solidFill>
              </a:rPr>
              <a:t>为结果真正符号位</a:t>
            </a:r>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2" eaLnBrk="1" hangingPunct="1"/>
            <a:endParaRPr lang="en-US" altLang="zh-CN" sz="1400" b="1" dirty="0"/>
          </a:p>
        </p:txBody>
      </p:sp>
      <p:grpSp>
        <p:nvGrpSpPr>
          <p:cNvPr id="2" name="组合 1">
            <a:extLst>
              <a:ext uri="{FF2B5EF4-FFF2-40B4-BE49-F238E27FC236}">
                <a16:creationId xmlns:a16="http://schemas.microsoft.com/office/drawing/2014/main" id="{23BF4D81-4456-4E35-A47A-3123A782D129}"/>
              </a:ext>
            </a:extLst>
          </p:cNvPr>
          <p:cNvGrpSpPr/>
          <p:nvPr/>
        </p:nvGrpSpPr>
        <p:grpSpPr>
          <a:xfrm>
            <a:off x="3981714" y="5310092"/>
            <a:ext cx="1521007" cy="954107"/>
            <a:chOff x="3862785" y="2783004"/>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862785" y="278300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00.0111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0</a:t>
              </a:r>
              <a:r>
                <a:rPr lang="en-US" altLang="zh-CN" sz="1400" b="1" dirty="0"/>
                <a:t>1.0010</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4001481" y="333824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75285193-0284-446A-9207-3149ACCE8E3B}"/>
              </a:ext>
            </a:extLst>
          </p:cNvPr>
          <p:cNvGrpSpPr/>
          <p:nvPr/>
        </p:nvGrpSpPr>
        <p:grpSpPr>
          <a:xfrm>
            <a:off x="5635181" y="5287704"/>
            <a:ext cx="1521007" cy="954107"/>
            <a:chOff x="3071725" y="2837444"/>
            <a:chExt cx="1521007" cy="954107"/>
          </a:xfrm>
          <a:solidFill>
            <a:schemeClr val="bg2">
              <a:lumMod val="90000"/>
            </a:schemeClr>
          </a:solidFill>
        </p:grpSpPr>
        <p:sp>
          <p:nvSpPr>
            <p:cNvPr id="11" name="文本框 10">
              <a:extLst>
                <a:ext uri="{FF2B5EF4-FFF2-40B4-BE49-F238E27FC236}">
                  <a16:creationId xmlns:a16="http://schemas.microsoft.com/office/drawing/2014/main" id="{9171F033-0973-4FCC-A3D0-B21AD9908CC7}"/>
                </a:ext>
              </a:extLst>
            </p:cNvPr>
            <p:cNvSpPr txBox="1"/>
            <p:nvPr/>
          </p:nvSpPr>
          <p:spPr>
            <a:xfrm>
              <a:off x="3071725" y="283744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11.0101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0.1000</a:t>
              </a:r>
              <a:endParaRPr lang="zh-CN" altLang="en-US" sz="1400" dirty="0"/>
            </a:p>
          </p:txBody>
        </p:sp>
        <p:cxnSp>
          <p:nvCxnSpPr>
            <p:cNvPr id="12" name="直接连接符 11">
              <a:extLst>
                <a:ext uri="{FF2B5EF4-FFF2-40B4-BE49-F238E27FC236}">
                  <a16:creationId xmlns:a16="http://schemas.microsoft.com/office/drawing/2014/main" id="{718FBA6B-A8D5-4D5B-8353-82DF31908A51}"/>
                </a:ext>
              </a:extLst>
            </p:cNvPr>
            <p:cNvCxnSpPr>
              <a:cxnSpLocks/>
            </p:cNvCxnSpPr>
            <p:nvPr/>
          </p:nvCxnSpPr>
          <p:spPr>
            <a:xfrm>
              <a:off x="3175545" y="3431851"/>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86A1B5D3-08AF-45C4-9592-C663161BFC64}"/>
              </a:ext>
            </a:extLst>
          </p:cNvPr>
          <p:cNvGrpSpPr/>
          <p:nvPr/>
        </p:nvGrpSpPr>
        <p:grpSpPr>
          <a:xfrm>
            <a:off x="7262025" y="5296517"/>
            <a:ext cx="1521007" cy="954107"/>
            <a:chOff x="4276951" y="4464114"/>
            <a:chExt cx="1521007" cy="954107"/>
          </a:xfrm>
          <a:solidFill>
            <a:schemeClr val="bg2">
              <a:lumMod val="90000"/>
            </a:schemeClr>
          </a:solidFill>
        </p:grpSpPr>
        <p:sp>
          <p:nvSpPr>
            <p:cNvPr id="14" name="文本框 13">
              <a:extLst>
                <a:ext uri="{FF2B5EF4-FFF2-40B4-BE49-F238E27FC236}">
                  <a16:creationId xmlns:a16="http://schemas.microsoft.com/office/drawing/2014/main" id="{466B17D8-7F10-48FE-907D-F88C425900F2}"/>
                </a:ext>
              </a:extLst>
            </p:cNvPr>
            <p:cNvSpPr txBox="1"/>
            <p:nvPr/>
          </p:nvSpPr>
          <p:spPr>
            <a:xfrm>
              <a:off x="4276951" y="446411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1.1110</a:t>
              </a:r>
              <a:endParaRPr lang="zh-CN" altLang="en-US" sz="1400" dirty="0"/>
            </a:p>
          </p:txBody>
        </p:sp>
        <p:cxnSp>
          <p:nvCxnSpPr>
            <p:cNvPr id="17" name="直接连接符 16">
              <a:extLst>
                <a:ext uri="{FF2B5EF4-FFF2-40B4-BE49-F238E27FC236}">
                  <a16:creationId xmlns:a16="http://schemas.microsoft.com/office/drawing/2014/main" id="{C2D88780-7F8A-493F-ACB6-ABE98BA32F1D}"/>
                </a:ext>
              </a:extLst>
            </p:cNvPr>
            <p:cNvCxnSpPr>
              <a:cxnSpLocks/>
            </p:cNvCxnSpPr>
            <p:nvPr/>
          </p:nvCxnSpPr>
          <p:spPr>
            <a:xfrm>
              <a:off x="4415647" y="508579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48E75BC7-19C3-4D36-B94D-5713CE937B68}"/>
              </a:ext>
            </a:extLst>
          </p:cNvPr>
          <p:cNvSpPr txBox="1"/>
          <p:nvPr/>
        </p:nvSpPr>
        <p:spPr>
          <a:xfrm>
            <a:off x="3076279" y="4140043"/>
            <a:ext cx="1521007" cy="400110"/>
          </a:xfrm>
          <a:prstGeom prst="rect">
            <a:avLst/>
          </a:prstGeom>
          <a:solidFill>
            <a:schemeClr val="bg2">
              <a:lumMod val="90000"/>
            </a:schemeClr>
          </a:solidFill>
        </p:spPr>
        <p:txBody>
          <a:bodyPr wrap="square" rtlCol="0">
            <a:spAutoFit/>
          </a:bodyPr>
          <a:lstStyle/>
          <a:p>
            <a:r>
              <a:rPr lang="en-US" altLang="zh-CN" sz="2000" dirty="0"/>
              <a:t> V = S</a:t>
            </a:r>
            <a:r>
              <a:rPr lang="en-US" altLang="zh-CN" sz="2000" baseline="-25000" dirty="0"/>
              <a:t>f1 </a:t>
            </a:r>
            <a:r>
              <a:rPr lang="en-US" altLang="zh-CN" sz="2000" dirty="0">
                <a:latin typeface="等线" panose="02010600030101010101" pitchFamily="2" charset="-122"/>
                <a:ea typeface="等线" panose="02010600030101010101" pitchFamily="2" charset="-122"/>
              </a:rPr>
              <a:t>⊕</a:t>
            </a:r>
            <a:r>
              <a:rPr lang="en-US" altLang="zh-CN" sz="2000" dirty="0"/>
              <a:t> S</a:t>
            </a:r>
            <a:r>
              <a:rPr lang="en-US" altLang="zh-CN" sz="2000" baseline="-25000" dirty="0"/>
              <a:t>f2</a:t>
            </a:r>
          </a:p>
        </p:txBody>
      </p:sp>
      <p:sp>
        <p:nvSpPr>
          <p:cNvPr id="19" name="文本框 18">
            <a:extLst>
              <a:ext uri="{FF2B5EF4-FFF2-40B4-BE49-F238E27FC236}">
                <a16:creationId xmlns:a16="http://schemas.microsoft.com/office/drawing/2014/main" id="{31527194-962D-4719-85AE-585AB57DDE68}"/>
              </a:ext>
            </a:extLst>
          </p:cNvPr>
          <p:cNvSpPr txBox="1"/>
          <p:nvPr/>
        </p:nvSpPr>
        <p:spPr>
          <a:xfrm>
            <a:off x="4478870" y="1143000"/>
            <a:ext cx="4174008" cy="3877985"/>
          </a:xfrm>
          <a:prstGeom prst="rect">
            <a:avLst/>
          </a:prstGeom>
          <a:noFill/>
        </p:spPr>
        <p:txBody>
          <a:bodyPr wrap="square">
            <a:spAutoFit/>
          </a:bodyPr>
          <a:lstStyle/>
          <a:p>
            <a:pPr lvl="1" eaLnBrk="1" hangingPunct="1"/>
            <a:r>
              <a:rPr lang="zh-CN" altLang="en-US" b="1" dirty="0"/>
              <a:t>例</a:t>
            </a:r>
            <a:r>
              <a:rPr lang="en-US" altLang="zh-CN" b="1" dirty="0"/>
              <a:t>3.9</a:t>
            </a:r>
            <a:r>
              <a:rPr lang="zh-CN" altLang="en-US" b="1" dirty="0"/>
              <a:t>：</a:t>
            </a:r>
            <a:endParaRPr lang="en-US" altLang="zh-CN" b="1" dirty="0"/>
          </a:p>
          <a:p>
            <a:pPr lvl="1" eaLnBrk="1" hangingPunct="1"/>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=00.0111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2</a:t>
            </a:r>
            <a:r>
              <a:rPr lang="zh-CN" altLang="en-US" sz="1600" b="1" dirty="0"/>
              <a:t>）</a:t>
            </a:r>
            <a:r>
              <a:rPr lang="en-US" altLang="zh-CN" sz="1600" b="1" dirty="0"/>
              <a:t> </a:t>
            </a:r>
            <a:r>
              <a:rPr lang="zh-CN" altLang="en-US" sz="1600" b="1" dirty="0"/>
              <a:t>设</a:t>
            </a:r>
            <a:r>
              <a:rPr lang="en-US" altLang="zh-CN" sz="1600" b="1" dirty="0"/>
              <a:t>[x]</a:t>
            </a:r>
            <a:r>
              <a:rPr lang="zh-CN" altLang="en-US" sz="1600" b="1" baseline="-25000" dirty="0"/>
              <a:t>补</a:t>
            </a:r>
            <a:r>
              <a:rPr lang="en-US" altLang="zh-CN" sz="1600" b="1" dirty="0"/>
              <a:t>=11.0101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3</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endParaRPr lang="en-US" altLang="zh-CN" b="1" dirty="0"/>
          </a:p>
          <a:p>
            <a:pPr lvl="1" eaLnBrk="1" hangingPunct="1"/>
            <a:r>
              <a:rPr lang="zh-CN" altLang="en-US" b="1" dirty="0"/>
              <a:t>解：</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1</a:t>
            </a:r>
            <a:r>
              <a:rPr lang="zh-CN" altLang="en-US" sz="1600" b="1" dirty="0"/>
              <a:t>）情况，运算结果的符号位为</a:t>
            </a:r>
            <a:r>
              <a:rPr lang="en-US" altLang="zh-CN" sz="1600" b="1" dirty="0"/>
              <a:t>01</a:t>
            </a:r>
            <a:r>
              <a:rPr lang="zh-CN" altLang="en-US" sz="1600" b="1" dirty="0"/>
              <a:t>，正溢出（</a:t>
            </a:r>
            <a:r>
              <a:rPr lang="en-US" altLang="zh-CN" sz="1600" b="1" dirty="0"/>
              <a:t>11/16 + 7/16 = 18/16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2</a:t>
            </a:r>
            <a:r>
              <a:rPr lang="zh-CN" altLang="en-US" sz="1600" b="1" dirty="0"/>
              <a:t>）情况，运算结果的符号位为</a:t>
            </a:r>
            <a:r>
              <a:rPr lang="en-US" altLang="zh-CN" sz="1600" b="1" dirty="0"/>
              <a:t>10</a:t>
            </a:r>
            <a:r>
              <a:rPr lang="zh-CN" altLang="en-US" sz="1600" b="1" dirty="0"/>
              <a:t>，负溢出（</a:t>
            </a:r>
            <a:r>
              <a:rPr lang="en-US" altLang="zh-CN" sz="1600" b="1" dirty="0"/>
              <a:t>-11/16 - 13/16 = -24/16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3</a:t>
            </a:r>
            <a:r>
              <a:rPr lang="zh-CN" altLang="en-US" sz="1600" b="1" dirty="0"/>
              <a:t>）情况，运算结果的符号位为</a:t>
            </a:r>
            <a:r>
              <a:rPr lang="en-US" altLang="zh-CN" sz="1600" b="1" dirty="0"/>
              <a:t>11</a:t>
            </a:r>
            <a:r>
              <a:rPr lang="zh-CN" altLang="en-US" sz="1600" b="1" dirty="0"/>
              <a:t>，没有溢出（</a:t>
            </a:r>
            <a:r>
              <a:rPr lang="en-US" altLang="zh-CN" sz="1600" b="1" dirty="0"/>
              <a:t>11/16 - 13/16 = -2/16</a:t>
            </a:r>
            <a:endParaRPr lang="en-US" altLang="zh-CN" b="1" dirty="0"/>
          </a:p>
        </p:txBody>
      </p:sp>
      <p:sp>
        <p:nvSpPr>
          <p:cNvPr id="6" name="文本框 5">
            <a:extLst>
              <a:ext uri="{FF2B5EF4-FFF2-40B4-BE49-F238E27FC236}">
                <a16:creationId xmlns:a16="http://schemas.microsoft.com/office/drawing/2014/main" id="{DA349F6F-3462-4517-BFBF-7A01EF2ED8FF}"/>
              </a:ext>
            </a:extLst>
          </p:cNvPr>
          <p:cNvSpPr txBox="1"/>
          <p:nvPr/>
        </p:nvSpPr>
        <p:spPr>
          <a:xfrm>
            <a:off x="4478039" y="6258872"/>
            <a:ext cx="3765538" cy="369332"/>
          </a:xfrm>
          <a:prstGeom prst="rect">
            <a:avLst/>
          </a:prstGeom>
          <a:noFill/>
        </p:spPr>
        <p:txBody>
          <a:bodyPr wrap="square" rtlCol="0">
            <a:spAutoFit/>
          </a:bodyPr>
          <a:lstStyle/>
          <a:p>
            <a:r>
              <a:rPr lang="zh-CN" altLang="en-US" dirty="0"/>
              <a:t>（</a:t>
            </a:r>
            <a:r>
              <a:rPr lang="en-US" altLang="zh-CN" dirty="0"/>
              <a:t>1</a:t>
            </a:r>
            <a:r>
              <a:rPr lang="zh-CN" altLang="en-US" dirty="0"/>
              <a:t>）                  （</a:t>
            </a:r>
            <a:r>
              <a:rPr lang="en-US" altLang="zh-CN" dirty="0"/>
              <a:t>2</a:t>
            </a:r>
            <a:r>
              <a:rPr lang="zh-CN" altLang="en-US" dirty="0"/>
              <a:t>）                 （</a:t>
            </a:r>
            <a:r>
              <a:rPr lang="en-US" altLang="zh-CN" dirty="0"/>
              <a:t>3</a:t>
            </a:r>
            <a:r>
              <a:rPr lang="zh-CN" altLang="en-US" dirty="0"/>
              <a:t>）</a:t>
            </a:r>
          </a:p>
        </p:txBody>
      </p:sp>
    </p:spTree>
    <p:extLst>
      <p:ext uri="{BB962C8B-B14F-4D97-AF65-F5344CB8AC3E}">
        <p14:creationId xmlns:p14="http://schemas.microsoft.com/office/powerpoint/2010/main" val="274720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C8DC0-64FD-4CB7-B2FD-210D57D30DC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EAA8E0C3-2B92-45EE-A309-20D070B9271F}"/>
              </a:ext>
            </a:extLst>
          </p:cNvPr>
          <p:cNvSpPr>
            <a:spLocks noGrp="1"/>
          </p:cNvSpPr>
          <p:nvPr>
            <p:ph idx="1"/>
          </p:nvPr>
        </p:nvSpPr>
        <p:spPr>
          <a:xfrm>
            <a:off x="457200" y="1600201"/>
            <a:ext cx="8229600" cy="388640"/>
          </a:xfrm>
        </p:spPr>
        <p:txBody>
          <a:bodyPr/>
          <a:lstStyle/>
          <a:p>
            <a:pPr lvl="2"/>
            <a:r>
              <a:rPr lang="zh-CN" altLang="en-US" b="1" dirty="0"/>
              <a:t>溢出检测的软件方法：</a:t>
            </a:r>
            <a:endParaRPr lang="en-US" altLang="zh-CN" b="1" dirty="0"/>
          </a:p>
          <a:p>
            <a:pPr marL="914400" lvl="2" indent="0">
              <a:buNone/>
            </a:pPr>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zh-CN" altLang="en-US" b="1" dirty="0"/>
          </a:p>
        </p:txBody>
      </p:sp>
      <p:grpSp>
        <p:nvGrpSpPr>
          <p:cNvPr id="9" name="组合 8">
            <a:extLst>
              <a:ext uri="{FF2B5EF4-FFF2-40B4-BE49-F238E27FC236}">
                <a16:creationId xmlns:a16="http://schemas.microsoft.com/office/drawing/2014/main" id="{AACAF401-4236-456F-8404-724455A4567B}"/>
              </a:ext>
            </a:extLst>
          </p:cNvPr>
          <p:cNvGrpSpPr/>
          <p:nvPr/>
        </p:nvGrpSpPr>
        <p:grpSpPr>
          <a:xfrm>
            <a:off x="989194" y="2420888"/>
            <a:ext cx="7697606" cy="2310140"/>
            <a:chOff x="1859056" y="1994724"/>
            <a:chExt cx="7103641" cy="2310140"/>
          </a:xfrm>
        </p:grpSpPr>
        <p:pic>
          <p:nvPicPr>
            <p:cNvPr id="5" name="图片 4">
              <a:extLst>
                <a:ext uri="{FF2B5EF4-FFF2-40B4-BE49-F238E27FC236}">
                  <a16:creationId xmlns:a16="http://schemas.microsoft.com/office/drawing/2014/main" id="{3F524699-46B5-4D24-8370-1DE71C210F3F}"/>
                </a:ext>
              </a:extLst>
            </p:cNvPr>
            <p:cNvPicPr>
              <a:picLocks noChangeAspect="1"/>
            </p:cNvPicPr>
            <p:nvPr/>
          </p:nvPicPr>
          <p:blipFill>
            <a:blip r:embed="rId2"/>
            <a:stretch>
              <a:fillRect/>
            </a:stretch>
          </p:blipFill>
          <p:spPr>
            <a:xfrm>
              <a:off x="1859056" y="1994724"/>
              <a:ext cx="4060343" cy="2310140"/>
            </a:xfrm>
            <a:prstGeom prst="rect">
              <a:avLst/>
            </a:prstGeom>
            <a:ln>
              <a:solidFill>
                <a:schemeClr val="bg1"/>
              </a:solidFill>
            </a:ln>
          </p:spPr>
        </p:pic>
        <p:sp>
          <p:nvSpPr>
            <p:cNvPr id="7" name="文本框 6">
              <a:extLst>
                <a:ext uri="{FF2B5EF4-FFF2-40B4-BE49-F238E27FC236}">
                  <a16:creationId xmlns:a16="http://schemas.microsoft.com/office/drawing/2014/main" id="{B13A67E4-0751-4492-96F1-A441F908CF84}"/>
                </a:ext>
              </a:extLst>
            </p:cNvPr>
            <p:cNvSpPr txBox="1"/>
            <p:nvPr/>
          </p:nvSpPr>
          <p:spPr>
            <a:xfrm>
              <a:off x="5919400" y="2188061"/>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负数 + 负数 = 正数          溢出（负溢出） </a:t>
              </a:r>
            </a:p>
          </p:txBody>
        </p:sp>
        <p:sp>
          <p:nvSpPr>
            <p:cNvPr id="8" name="文本框 7">
              <a:extLst>
                <a:ext uri="{FF2B5EF4-FFF2-40B4-BE49-F238E27FC236}">
                  <a16:creationId xmlns:a16="http://schemas.microsoft.com/office/drawing/2014/main" id="{C10FB6F7-08D8-453E-9F3B-7DB6AB65DA25}"/>
                </a:ext>
              </a:extLst>
            </p:cNvPr>
            <p:cNvSpPr txBox="1"/>
            <p:nvPr/>
          </p:nvSpPr>
          <p:spPr>
            <a:xfrm>
              <a:off x="5919400" y="2564904"/>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正数 + 正数 = 负数           溢出（正溢出） </a:t>
              </a:r>
            </a:p>
          </p:txBody>
        </p:sp>
      </p:grpSp>
    </p:spTree>
    <p:extLst>
      <p:ext uri="{BB962C8B-B14F-4D97-AF65-F5344CB8AC3E}">
        <p14:creationId xmlns:p14="http://schemas.microsoft.com/office/powerpoint/2010/main" val="173536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D7886E6-27B4-4CAA-8153-06C706707356}"/>
              </a:ext>
            </a:extLst>
          </p:cNvPr>
          <p:cNvSpPr>
            <a:spLocks noGrp="1"/>
          </p:cNvSpPr>
          <p:nvPr>
            <p:ph type="title"/>
          </p:nvPr>
        </p:nvSpPr>
        <p:spPr>
          <a:xfrm>
            <a:off x="457200" y="274638"/>
            <a:ext cx="8229600" cy="644623"/>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824461"/>
            <a:ext cx="8229600" cy="4525963"/>
          </a:xfrm>
        </p:spPr>
        <p:txBody>
          <a:bodyPr rtlCol="0">
            <a:normAutofit/>
          </a:bodyPr>
          <a:lstStyle/>
          <a:p>
            <a:pPr lvl="1" eaLnBrk="1" hangingPunct="1"/>
            <a:endParaRPr lang="en-US" altLang="zh-CN" sz="2000" b="1" dirty="0"/>
          </a:p>
          <a:p>
            <a:pPr lvl="1" eaLnBrk="1" hangingPunct="1"/>
            <a:r>
              <a:rPr lang="en-US" altLang="zh-CN" sz="2000" b="1" dirty="0"/>
              <a:t>1</a:t>
            </a:r>
            <a:r>
              <a:rPr lang="zh-CN" altLang="en-US" sz="2000" b="1" dirty="0"/>
              <a:t>、全加器（</a:t>
            </a:r>
            <a:r>
              <a:rPr lang="en-US" altLang="zh-CN" sz="2000" b="1" dirty="0"/>
              <a:t>Full Adder</a:t>
            </a:r>
            <a:r>
              <a:rPr lang="zh-CN" altLang="en-US" sz="2000" b="1" dirty="0"/>
              <a:t>，</a:t>
            </a:r>
            <a:r>
              <a:rPr lang="en-US" altLang="zh-CN" sz="2000" b="1" dirty="0"/>
              <a:t>FA</a:t>
            </a:r>
            <a:r>
              <a:rPr lang="zh-CN" altLang="en-US" sz="2000" b="1" dirty="0"/>
              <a:t>）</a:t>
            </a:r>
            <a:endParaRPr lang="en-US" altLang="zh-CN" sz="2000" b="1" dirty="0"/>
          </a:p>
          <a:p>
            <a:pPr lvl="1" eaLnBrk="1" hangingPunct="1"/>
            <a:endParaRPr lang="en-US" altLang="zh-CN" sz="2000" b="1" dirty="0"/>
          </a:p>
        </p:txBody>
      </p:sp>
      <p:grpSp>
        <p:nvGrpSpPr>
          <p:cNvPr id="9" name="Group 4">
            <a:extLst>
              <a:ext uri="{FF2B5EF4-FFF2-40B4-BE49-F238E27FC236}">
                <a16:creationId xmlns:a16="http://schemas.microsoft.com/office/drawing/2014/main" id="{1D9B551B-B81D-4EC7-9465-D2677B1EF386}"/>
              </a:ext>
            </a:extLst>
          </p:cNvPr>
          <p:cNvGrpSpPr>
            <a:grpSpLocks/>
          </p:cNvGrpSpPr>
          <p:nvPr/>
        </p:nvGrpSpPr>
        <p:grpSpPr bwMode="auto">
          <a:xfrm>
            <a:off x="1399952" y="1712975"/>
            <a:ext cx="5188272" cy="3012169"/>
            <a:chOff x="0" y="0"/>
            <a:chExt cx="3160" cy="1705"/>
          </a:xfrm>
        </p:grpSpPr>
        <p:sp>
          <p:nvSpPr>
            <p:cNvPr id="10" name="Rectangle 4">
              <a:extLst>
                <a:ext uri="{FF2B5EF4-FFF2-40B4-BE49-F238E27FC236}">
                  <a16:creationId xmlns:a16="http://schemas.microsoft.com/office/drawing/2014/main" id="{CCD69048-0330-4D79-A9D0-CD81AB32FFF2}"/>
                </a:ext>
              </a:extLst>
            </p:cNvPr>
            <p:cNvSpPr>
              <a:spLocks noChangeArrowheads="1"/>
            </p:cNvSpPr>
            <p:nvPr/>
          </p:nvSpPr>
          <p:spPr bwMode="auto">
            <a:xfrm>
              <a:off x="84" y="212"/>
              <a:ext cx="3076" cy="1493"/>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800" b="1" dirty="0">
                <a:latin typeface="Arial Rounded MT Bold" panose="020F0704030504030204" pitchFamily="34" charset="0"/>
                <a:ea typeface="微软雅黑" panose="020B0503020204020204" pitchFamily="34" charset="-122"/>
              </a:endParaRPr>
            </a:p>
          </p:txBody>
        </p:sp>
        <p:sp>
          <p:nvSpPr>
            <p:cNvPr id="11" name="Rectangle 5">
              <a:extLst>
                <a:ext uri="{FF2B5EF4-FFF2-40B4-BE49-F238E27FC236}">
                  <a16:creationId xmlns:a16="http://schemas.microsoft.com/office/drawing/2014/main" id="{E33A35A0-184A-4BA8-BE9F-BBA68B7C4815}"/>
                </a:ext>
              </a:extLst>
            </p:cNvPr>
            <p:cNvSpPr>
              <a:spLocks noChangeArrowheads="1"/>
            </p:cNvSpPr>
            <p:nvPr/>
          </p:nvSpPr>
          <p:spPr bwMode="auto">
            <a:xfrm>
              <a:off x="2528"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5" name="Rectangle 6">
              <a:extLst>
                <a:ext uri="{FF2B5EF4-FFF2-40B4-BE49-F238E27FC236}">
                  <a16:creationId xmlns:a16="http://schemas.microsoft.com/office/drawing/2014/main" id="{8DA347F0-003B-489D-BEF8-D1611264E52B}"/>
                </a:ext>
              </a:extLst>
            </p:cNvPr>
            <p:cNvSpPr>
              <a:spLocks noChangeArrowheads="1"/>
            </p:cNvSpPr>
            <p:nvPr/>
          </p:nvSpPr>
          <p:spPr bwMode="auto">
            <a:xfrm>
              <a:off x="1946"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9" name="Rectangle 7">
              <a:extLst>
                <a:ext uri="{FF2B5EF4-FFF2-40B4-BE49-F238E27FC236}">
                  <a16:creationId xmlns:a16="http://schemas.microsoft.com/office/drawing/2014/main" id="{94791655-8B20-4882-B4BA-7DFDBAB90990}"/>
                </a:ext>
              </a:extLst>
            </p:cNvPr>
            <p:cNvSpPr>
              <a:spLocks noChangeArrowheads="1"/>
            </p:cNvSpPr>
            <p:nvPr/>
          </p:nvSpPr>
          <p:spPr bwMode="auto">
            <a:xfrm>
              <a:off x="1123" y="150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0" name="Rectangle 8">
              <a:extLst>
                <a:ext uri="{FF2B5EF4-FFF2-40B4-BE49-F238E27FC236}">
                  <a16:creationId xmlns:a16="http://schemas.microsoft.com/office/drawing/2014/main" id="{7C7A4523-84E3-4CD1-AA87-8709FE89DFF1}"/>
                </a:ext>
              </a:extLst>
            </p:cNvPr>
            <p:cNvSpPr>
              <a:spLocks noChangeArrowheads="1"/>
            </p:cNvSpPr>
            <p:nvPr/>
          </p:nvSpPr>
          <p:spPr bwMode="auto">
            <a:xfrm>
              <a:off x="582" y="150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1" name="Rectangle 9">
              <a:extLst>
                <a:ext uri="{FF2B5EF4-FFF2-40B4-BE49-F238E27FC236}">
                  <a16:creationId xmlns:a16="http://schemas.microsoft.com/office/drawing/2014/main" id="{79C142E7-086E-4712-A6C0-33EF2EFF5FCD}"/>
                </a:ext>
              </a:extLst>
            </p:cNvPr>
            <p:cNvSpPr>
              <a:spLocks noChangeArrowheads="1"/>
            </p:cNvSpPr>
            <p:nvPr/>
          </p:nvSpPr>
          <p:spPr bwMode="auto">
            <a:xfrm>
              <a:off x="0" y="150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2" name="Rectangle 10">
              <a:extLst>
                <a:ext uri="{FF2B5EF4-FFF2-40B4-BE49-F238E27FC236}">
                  <a16:creationId xmlns:a16="http://schemas.microsoft.com/office/drawing/2014/main" id="{DE93E9DB-9A48-4238-861E-17838D469FC4}"/>
                </a:ext>
              </a:extLst>
            </p:cNvPr>
            <p:cNvSpPr>
              <a:spLocks noChangeArrowheads="1"/>
            </p:cNvSpPr>
            <p:nvPr/>
          </p:nvSpPr>
          <p:spPr bwMode="auto">
            <a:xfrm>
              <a:off x="2528"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3" name="Rectangle 11">
              <a:extLst>
                <a:ext uri="{FF2B5EF4-FFF2-40B4-BE49-F238E27FC236}">
                  <a16:creationId xmlns:a16="http://schemas.microsoft.com/office/drawing/2014/main" id="{6C051171-5CEA-494A-B9C5-9F0894D48B82}"/>
                </a:ext>
              </a:extLst>
            </p:cNvPr>
            <p:cNvSpPr>
              <a:spLocks noChangeArrowheads="1"/>
            </p:cNvSpPr>
            <p:nvPr/>
          </p:nvSpPr>
          <p:spPr bwMode="auto">
            <a:xfrm>
              <a:off x="1946"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4" name="Rectangle 12">
              <a:extLst>
                <a:ext uri="{FF2B5EF4-FFF2-40B4-BE49-F238E27FC236}">
                  <a16:creationId xmlns:a16="http://schemas.microsoft.com/office/drawing/2014/main" id="{83EF2EDE-C1EA-4582-B017-D157145AD52F}"/>
                </a:ext>
              </a:extLst>
            </p:cNvPr>
            <p:cNvSpPr>
              <a:spLocks noChangeArrowheads="1"/>
            </p:cNvSpPr>
            <p:nvPr/>
          </p:nvSpPr>
          <p:spPr bwMode="auto">
            <a:xfrm>
              <a:off x="1123" y="135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5" name="Rectangle 13">
              <a:extLst>
                <a:ext uri="{FF2B5EF4-FFF2-40B4-BE49-F238E27FC236}">
                  <a16:creationId xmlns:a16="http://schemas.microsoft.com/office/drawing/2014/main" id="{7977ECD7-9DCE-4249-B7EF-FCD32641C2EB}"/>
                </a:ext>
              </a:extLst>
            </p:cNvPr>
            <p:cNvSpPr>
              <a:spLocks noChangeArrowheads="1"/>
            </p:cNvSpPr>
            <p:nvPr/>
          </p:nvSpPr>
          <p:spPr bwMode="auto">
            <a:xfrm>
              <a:off x="582" y="135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6" name="Rectangle 14">
              <a:extLst>
                <a:ext uri="{FF2B5EF4-FFF2-40B4-BE49-F238E27FC236}">
                  <a16:creationId xmlns:a16="http://schemas.microsoft.com/office/drawing/2014/main" id="{16545641-CD85-485A-938D-6BE9EA1CB33D}"/>
                </a:ext>
              </a:extLst>
            </p:cNvPr>
            <p:cNvSpPr>
              <a:spLocks noChangeArrowheads="1"/>
            </p:cNvSpPr>
            <p:nvPr/>
          </p:nvSpPr>
          <p:spPr bwMode="auto">
            <a:xfrm>
              <a:off x="0" y="135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7" name="Rectangle 15">
              <a:extLst>
                <a:ext uri="{FF2B5EF4-FFF2-40B4-BE49-F238E27FC236}">
                  <a16:creationId xmlns:a16="http://schemas.microsoft.com/office/drawing/2014/main" id="{48674C72-C9F8-4005-8AA9-D4D49568D42B}"/>
                </a:ext>
              </a:extLst>
            </p:cNvPr>
            <p:cNvSpPr>
              <a:spLocks noChangeArrowheads="1"/>
            </p:cNvSpPr>
            <p:nvPr/>
          </p:nvSpPr>
          <p:spPr bwMode="auto">
            <a:xfrm>
              <a:off x="2528"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8" name="Rectangle 16">
              <a:extLst>
                <a:ext uri="{FF2B5EF4-FFF2-40B4-BE49-F238E27FC236}">
                  <a16:creationId xmlns:a16="http://schemas.microsoft.com/office/drawing/2014/main" id="{C42EE1E6-9FF2-48EF-97F6-E359DA5F9A56}"/>
                </a:ext>
              </a:extLst>
            </p:cNvPr>
            <p:cNvSpPr>
              <a:spLocks noChangeArrowheads="1"/>
            </p:cNvSpPr>
            <p:nvPr/>
          </p:nvSpPr>
          <p:spPr bwMode="auto">
            <a:xfrm>
              <a:off x="1946"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9" name="Rectangle 17">
              <a:extLst>
                <a:ext uri="{FF2B5EF4-FFF2-40B4-BE49-F238E27FC236}">
                  <a16:creationId xmlns:a16="http://schemas.microsoft.com/office/drawing/2014/main" id="{D7EB3354-CEB1-4A81-80DC-FEAEB17A1282}"/>
                </a:ext>
              </a:extLst>
            </p:cNvPr>
            <p:cNvSpPr>
              <a:spLocks noChangeArrowheads="1"/>
            </p:cNvSpPr>
            <p:nvPr/>
          </p:nvSpPr>
          <p:spPr bwMode="auto">
            <a:xfrm>
              <a:off x="1123" y="1164"/>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0" name="Rectangle 18">
              <a:extLst>
                <a:ext uri="{FF2B5EF4-FFF2-40B4-BE49-F238E27FC236}">
                  <a16:creationId xmlns:a16="http://schemas.microsoft.com/office/drawing/2014/main" id="{9A5D62BC-E845-4B82-A2B6-A89692CFC9E5}"/>
                </a:ext>
              </a:extLst>
            </p:cNvPr>
            <p:cNvSpPr>
              <a:spLocks noChangeArrowheads="1"/>
            </p:cNvSpPr>
            <p:nvPr/>
          </p:nvSpPr>
          <p:spPr bwMode="auto">
            <a:xfrm>
              <a:off x="582" y="1164"/>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1" name="Rectangle 19">
              <a:extLst>
                <a:ext uri="{FF2B5EF4-FFF2-40B4-BE49-F238E27FC236}">
                  <a16:creationId xmlns:a16="http://schemas.microsoft.com/office/drawing/2014/main" id="{49BA755B-7066-4E00-BECF-4BC728F4E8D1}"/>
                </a:ext>
              </a:extLst>
            </p:cNvPr>
            <p:cNvSpPr>
              <a:spLocks noChangeArrowheads="1"/>
            </p:cNvSpPr>
            <p:nvPr/>
          </p:nvSpPr>
          <p:spPr bwMode="auto">
            <a:xfrm>
              <a:off x="0" y="1164"/>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2" name="Rectangle 20">
              <a:extLst>
                <a:ext uri="{FF2B5EF4-FFF2-40B4-BE49-F238E27FC236}">
                  <a16:creationId xmlns:a16="http://schemas.microsoft.com/office/drawing/2014/main" id="{D6397A16-22B8-4B8A-AEA0-3E999354FA49}"/>
                </a:ext>
              </a:extLst>
            </p:cNvPr>
            <p:cNvSpPr>
              <a:spLocks noChangeArrowheads="1"/>
            </p:cNvSpPr>
            <p:nvPr/>
          </p:nvSpPr>
          <p:spPr bwMode="auto">
            <a:xfrm>
              <a:off x="2528"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3" name="Rectangle 21">
              <a:extLst>
                <a:ext uri="{FF2B5EF4-FFF2-40B4-BE49-F238E27FC236}">
                  <a16:creationId xmlns:a16="http://schemas.microsoft.com/office/drawing/2014/main" id="{34A4810D-CC9D-4431-A476-395F4884CE93}"/>
                </a:ext>
              </a:extLst>
            </p:cNvPr>
            <p:cNvSpPr>
              <a:spLocks noChangeArrowheads="1"/>
            </p:cNvSpPr>
            <p:nvPr/>
          </p:nvSpPr>
          <p:spPr bwMode="auto">
            <a:xfrm>
              <a:off x="1946"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4" name="Rectangle 22">
              <a:extLst>
                <a:ext uri="{FF2B5EF4-FFF2-40B4-BE49-F238E27FC236}">
                  <a16:creationId xmlns:a16="http://schemas.microsoft.com/office/drawing/2014/main" id="{6B625A28-8A32-4C22-AAD3-9537AF838D95}"/>
                </a:ext>
              </a:extLst>
            </p:cNvPr>
            <p:cNvSpPr>
              <a:spLocks noChangeArrowheads="1"/>
            </p:cNvSpPr>
            <p:nvPr/>
          </p:nvSpPr>
          <p:spPr bwMode="auto">
            <a:xfrm>
              <a:off x="1123" y="976"/>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5" name="Rectangle 23">
              <a:extLst>
                <a:ext uri="{FF2B5EF4-FFF2-40B4-BE49-F238E27FC236}">
                  <a16:creationId xmlns:a16="http://schemas.microsoft.com/office/drawing/2014/main" id="{3016F6F0-A13C-4BBA-8746-F574DDAFC4A1}"/>
                </a:ext>
              </a:extLst>
            </p:cNvPr>
            <p:cNvSpPr>
              <a:spLocks noChangeArrowheads="1"/>
            </p:cNvSpPr>
            <p:nvPr/>
          </p:nvSpPr>
          <p:spPr bwMode="auto">
            <a:xfrm>
              <a:off x="582" y="976"/>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6" name="Rectangle 24">
              <a:extLst>
                <a:ext uri="{FF2B5EF4-FFF2-40B4-BE49-F238E27FC236}">
                  <a16:creationId xmlns:a16="http://schemas.microsoft.com/office/drawing/2014/main" id="{B57068F2-4CC2-443A-9C4C-EB50F9050B9C}"/>
                </a:ext>
              </a:extLst>
            </p:cNvPr>
            <p:cNvSpPr>
              <a:spLocks noChangeArrowheads="1"/>
            </p:cNvSpPr>
            <p:nvPr/>
          </p:nvSpPr>
          <p:spPr bwMode="auto">
            <a:xfrm>
              <a:off x="0" y="976"/>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7" name="Rectangle 25">
              <a:extLst>
                <a:ext uri="{FF2B5EF4-FFF2-40B4-BE49-F238E27FC236}">
                  <a16:creationId xmlns:a16="http://schemas.microsoft.com/office/drawing/2014/main" id="{2E4BE981-65BA-4D0C-8336-D59EA5022344}"/>
                </a:ext>
              </a:extLst>
            </p:cNvPr>
            <p:cNvSpPr>
              <a:spLocks noChangeArrowheads="1"/>
            </p:cNvSpPr>
            <p:nvPr/>
          </p:nvSpPr>
          <p:spPr bwMode="auto">
            <a:xfrm>
              <a:off x="2528"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8" name="Rectangle 26">
              <a:extLst>
                <a:ext uri="{FF2B5EF4-FFF2-40B4-BE49-F238E27FC236}">
                  <a16:creationId xmlns:a16="http://schemas.microsoft.com/office/drawing/2014/main" id="{742F4185-249E-4903-8C90-10F2EF63D6E0}"/>
                </a:ext>
              </a:extLst>
            </p:cNvPr>
            <p:cNvSpPr>
              <a:spLocks noChangeArrowheads="1"/>
            </p:cNvSpPr>
            <p:nvPr/>
          </p:nvSpPr>
          <p:spPr bwMode="auto">
            <a:xfrm>
              <a:off x="2528" y="607"/>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9" name="Rectangle 27">
              <a:extLst>
                <a:ext uri="{FF2B5EF4-FFF2-40B4-BE49-F238E27FC236}">
                  <a16:creationId xmlns:a16="http://schemas.microsoft.com/office/drawing/2014/main" id="{A5AF2361-000F-4466-93E1-B93A6CD45B07}"/>
                </a:ext>
              </a:extLst>
            </p:cNvPr>
            <p:cNvSpPr>
              <a:spLocks noChangeArrowheads="1"/>
            </p:cNvSpPr>
            <p:nvPr/>
          </p:nvSpPr>
          <p:spPr bwMode="auto">
            <a:xfrm>
              <a:off x="2528"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0" name="Rectangle 28">
              <a:extLst>
                <a:ext uri="{FF2B5EF4-FFF2-40B4-BE49-F238E27FC236}">
                  <a16:creationId xmlns:a16="http://schemas.microsoft.com/office/drawing/2014/main" id="{643C0C5A-C57A-4B2C-A986-51522E833CD4}"/>
                </a:ext>
              </a:extLst>
            </p:cNvPr>
            <p:cNvSpPr>
              <a:spLocks noChangeArrowheads="1"/>
            </p:cNvSpPr>
            <p:nvPr/>
          </p:nvSpPr>
          <p:spPr bwMode="auto">
            <a:xfrm>
              <a:off x="2539" y="204"/>
              <a:ext cx="59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1" name="Rectangle 29">
              <a:extLst>
                <a:ext uri="{FF2B5EF4-FFF2-40B4-BE49-F238E27FC236}">
                  <a16:creationId xmlns:a16="http://schemas.microsoft.com/office/drawing/2014/main" id="{6E3A4229-4BDE-481A-A8CA-8441FF91874D}"/>
                </a:ext>
              </a:extLst>
            </p:cNvPr>
            <p:cNvSpPr>
              <a:spLocks noChangeArrowheads="1"/>
            </p:cNvSpPr>
            <p:nvPr/>
          </p:nvSpPr>
          <p:spPr bwMode="auto">
            <a:xfrm>
              <a:off x="2539" y="0"/>
              <a:ext cx="621"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i+1</a:t>
              </a:r>
            </a:p>
          </p:txBody>
        </p:sp>
        <p:sp>
          <p:nvSpPr>
            <p:cNvPr id="42" name="Rectangle 30">
              <a:extLst>
                <a:ext uri="{FF2B5EF4-FFF2-40B4-BE49-F238E27FC236}">
                  <a16:creationId xmlns:a16="http://schemas.microsoft.com/office/drawing/2014/main" id="{9ACF3BA6-633D-458C-BFC8-622285ACD4F6}"/>
                </a:ext>
              </a:extLst>
            </p:cNvPr>
            <p:cNvSpPr>
              <a:spLocks noChangeArrowheads="1"/>
            </p:cNvSpPr>
            <p:nvPr/>
          </p:nvSpPr>
          <p:spPr bwMode="auto">
            <a:xfrm>
              <a:off x="1946"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3" name="Rectangle 31">
              <a:extLst>
                <a:ext uri="{FF2B5EF4-FFF2-40B4-BE49-F238E27FC236}">
                  <a16:creationId xmlns:a16="http://schemas.microsoft.com/office/drawing/2014/main" id="{5B5DCF4C-14CF-42DB-BB6E-02ABD13C4E2F}"/>
                </a:ext>
              </a:extLst>
            </p:cNvPr>
            <p:cNvSpPr>
              <a:spLocks noChangeArrowheads="1"/>
            </p:cNvSpPr>
            <p:nvPr/>
          </p:nvSpPr>
          <p:spPr bwMode="auto">
            <a:xfrm>
              <a:off x="1946" y="599"/>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4" name="Rectangle 32">
              <a:extLst>
                <a:ext uri="{FF2B5EF4-FFF2-40B4-BE49-F238E27FC236}">
                  <a16:creationId xmlns:a16="http://schemas.microsoft.com/office/drawing/2014/main" id="{63770040-822B-4F80-ADD6-0B4DE642398F}"/>
                </a:ext>
              </a:extLst>
            </p:cNvPr>
            <p:cNvSpPr>
              <a:spLocks noChangeArrowheads="1"/>
            </p:cNvSpPr>
            <p:nvPr/>
          </p:nvSpPr>
          <p:spPr bwMode="auto">
            <a:xfrm>
              <a:off x="1946"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5" name="Rectangle 33">
              <a:extLst>
                <a:ext uri="{FF2B5EF4-FFF2-40B4-BE49-F238E27FC236}">
                  <a16:creationId xmlns:a16="http://schemas.microsoft.com/office/drawing/2014/main" id="{CAB9C74A-03EC-4185-940F-896AFD8B19FC}"/>
                </a:ext>
              </a:extLst>
            </p:cNvPr>
            <p:cNvSpPr>
              <a:spLocks noChangeArrowheads="1"/>
            </p:cNvSpPr>
            <p:nvPr/>
          </p:nvSpPr>
          <p:spPr bwMode="auto">
            <a:xfrm>
              <a:off x="1946" y="22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6" name="Rectangle 34">
              <a:extLst>
                <a:ext uri="{FF2B5EF4-FFF2-40B4-BE49-F238E27FC236}">
                  <a16:creationId xmlns:a16="http://schemas.microsoft.com/office/drawing/2014/main" id="{AF4542F3-1876-4DC9-B82A-110C4FC9FA4B}"/>
                </a:ext>
              </a:extLst>
            </p:cNvPr>
            <p:cNvSpPr>
              <a:spLocks noChangeArrowheads="1"/>
            </p:cNvSpPr>
            <p:nvPr/>
          </p:nvSpPr>
          <p:spPr bwMode="auto">
            <a:xfrm>
              <a:off x="1946" y="0"/>
              <a:ext cx="59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和数</a:t>
              </a:r>
              <a:r>
                <a:rPr lang="en-US" altLang="zh-CN" sz="1400" b="1" dirty="0">
                  <a:solidFill>
                    <a:schemeClr val="bg1"/>
                  </a:solidFill>
                  <a:latin typeface="Arial Rounded MT Bold" panose="020F0704030504030204" pitchFamily="34" charset="0"/>
                  <a:ea typeface="微软雅黑" panose="020B0503020204020204" pitchFamily="34" charset="-122"/>
                </a:rPr>
                <a:t>S</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47" name="Rectangle 35">
              <a:extLst>
                <a:ext uri="{FF2B5EF4-FFF2-40B4-BE49-F238E27FC236}">
                  <a16:creationId xmlns:a16="http://schemas.microsoft.com/office/drawing/2014/main" id="{171A08EA-47F4-49C0-AE9C-AE023FB500B7}"/>
                </a:ext>
              </a:extLst>
            </p:cNvPr>
            <p:cNvSpPr>
              <a:spLocks noChangeArrowheads="1"/>
            </p:cNvSpPr>
            <p:nvPr/>
          </p:nvSpPr>
          <p:spPr bwMode="auto">
            <a:xfrm>
              <a:off x="1123" y="78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8" name="Rectangle 36">
              <a:extLst>
                <a:ext uri="{FF2B5EF4-FFF2-40B4-BE49-F238E27FC236}">
                  <a16:creationId xmlns:a16="http://schemas.microsoft.com/office/drawing/2014/main" id="{F13ED4E9-18B4-4759-8ED5-EFC5AC6C06F6}"/>
                </a:ext>
              </a:extLst>
            </p:cNvPr>
            <p:cNvSpPr>
              <a:spLocks noChangeArrowheads="1"/>
            </p:cNvSpPr>
            <p:nvPr/>
          </p:nvSpPr>
          <p:spPr bwMode="auto">
            <a:xfrm>
              <a:off x="582" y="78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9" name="Rectangle 37">
              <a:extLst>
                <a:ext uri="{FF2B5EF4-FFF2-40B4-BE49-F238E27FC236}">
                  <a16:creationId xmlns:a16="http://schemas.microsoft.com/office/drawing/2014/main" id="{6B1E27C5-8663-4BA9-84A0-D6C44A5C9ABA}"/>
                </a:ext>
              </a:extLst>
            </p:cNvPr>
            <p:cNvSpPr>
              <a:spLocks noChangeArrowheads="1"/>
            </p:cNvSpPr>
            <p:nvPr/>
          </p:nvSpPr>
          <p:spPr bwMode="auto">
            <a:xfrm>
              <a:off x="0" y="77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0" name="Rectangle 38">
              <a:extLst>
                <a:ext uri="{FF2B5EF4-FFF2-40B4-BE49-F238E27FC236}">
                  <a16:creationId xmlns:a16="http://schemas.microsoft.com/office/drawing/2014/main" id="{A5B8324E-ED0E-4DAF-899F-9A49BFD50B40}"/>
                </a:ext>
              </a:extLst>
            </p:cNvPr>
            <p:cNvSpPr>
              <a:spLocks noChangeArrowheads="1"/>
            </p:cNvSpPr>
            <p:nvPr/>
          </p:nvSpPr>
          <p:spPr bwMode="auto">
            <a:xfrm>
              <a:off x="1123" y="599"/>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1" name="Rectangle 39">
              <a:extLst>
                <a:ext uri="{FF2B5EF4-FFF2-40B4-BE49-F238E27FC236}">
                  <a16:creationId xmlns:a16="http://schemas.microsoft.com/office/drawing/2014/main" id="{164F85F7-ADAF-40FD-BDA5-551A56C9BA62}"/>
                </a:ext>
              </a:extLst>
            </p:cNvPr>
            <p:cNvSpPr>
              <a:spLocks noChangeArrowheads="1"/>
            </p:cNvSpPr>
            <p:nvPr/>
          </p:nvSpPr>
          <p:spPr bwMode="auto">
            <a:xfrm>
              <a:off x="582" y="599"/>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2" name="Rectangle 40">
              <a:extLst>
                <a:ext uri="{FF2B5EF4-FFF2-40B4-BE49-F238E27FC236}">
                  <a16:creationId xmlns:a16="http://schemas.microsoft.com/office/drawing/2014/main" id="{568168AB-D573-49E6-982C-799F03A764C8}"/>
                </a:ext>
              </a:extLst>
            </p:cNvPr>
            <p:cNvSpPr>
              <a:spLocks noChangeArrowheads="1"/>
            </p:cNvSpPr>
            <p:nvPr/>
          </p:nvSpPr>
          <p:spPr bwMode="auto">
            <a:xfrm>
              <a:off x="0" y="599"/>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3" name="Rectangle 41">
              <a:extLst>
                <a:ext uri="{FF2B5EF4-FFF2-40B4-BE49-F238E27FC236}">
                  <a16:creationId xmlns:a16="http://schemas.microsoft.com/office/drawing/2014/main" id="{21D26877-C604-42A3-B780-60D9EF4F15D7}"/>
                </a:ext>
              </a:extLst>
            </p:cNvPr>
            <p:cNvSpPr>
              <a:spLocks noChangeArrowheads="1"/>
            </p:cNvSpPr>
            <p:nvPr/>
          </p:nvSpPr>
          <p:spPr bwMode="auto">
            <a:xfrm>
              <a:off x="1123" y="410"/>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4" name="Rectangle 42">
              <a:extLst>
                <a:ext uri="{FF2B5EF4-FFF2-40B4-BE49-F238E27FC236}">
                  <a16:creationId xmlns:a16="http://schemas.microsoft.com/office/drawing/2014/main" id="{F0D714A0-02FE-4B80-BF76-8D0C039E4FFC}"/>
                </a:ext>
              </a:extLst>
            </p:cNvPr>
            <p:cNvSpPr>
              <a:spLocks noChangeArrowheads="1"/>
            </p:cNvSpPr>
            <p:nvPr/>
          </p:nvSpPr>
          <p:spPr bwMode="auto">
            <a:xfrm>
              <a:off x="582" y="410"/>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5" name="Rectangle 43">
              <a:extLst>
                <a:ext uri="{FF2B5EF4-FFF2-40B4-BE49-F238E27FC236}">
                  <a16:creationId xmlns:a16="http://schemas.microsoft.com/office/drawing/2014/main" id="{0DF45939-2B7C-45EB-A00A-B384CCE005DB}"/>
                </a:ext>
              </a:extLst>
            </p:cNvPr>
            <p:cNvSpPr>
              <a:spLocks noChangeArrowheads="1"/>
            </p:cNvSpPr>
            <p:nvPr/>
          </p:nvSpPr>
          <p:spPr bwMode="auto">
            <a:xfrm>
              <a:off x="0" y="410"/>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6" name="Rectangle 44">
              <a:extLst>
                <a:ext uri="{FF2B5EF4-FFF2-40B4-BE49-F238E27FC236}">
                  <a16:creationId xmlns:a16="http://schemas.microsoft.com/office/drawing/2014/main" id="{14F534A4-DA4C-44B3-8965-0784ADD16415}"/>
                </a:ext>
              </a:extLst>
            </p:cNvPr>
            <p:cNvSpPr>
              <a:spLocks noChangeArrowheads="1"/>
            </p:cNvSpPr>
            <p:nvPr/>
          </p:nvSpPr>
          <p:spPr bwMode="auto">
            <a:xfrm>
              <a:off x="1123" y="22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7" name="Rectangle 45">
              <a:extLst>
                <a:ext uri="{FF2B5EF4-FFF2-40B4-BE49-F238E27FC236}">
                  <a16:creationId xmlns:a16="http://schemas.microsoft.com/office/drawing/2014/main" id="{985927FF-ED7B-456D-8FB3-00D595865A04}"/>
                </a:ext>
              </a:extLst>
            </p:cNvPr>
            <p:cNvSpPr>
              <a:spLocks noChangeArrowheads="1"/>
            </p:cNvSpPr>
            <p:nvPr/>
          </p:nvSpPr>
          <p:spPr bwMode="auto">
            <a:xfrm>
              <a:off x="582" y="22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8" name="Rectangle 46">
              <a:extLst>
                <a:ext uri="{FF2B5EF4-FFF2-40B4-BE49-F238E27FC236}">
                  <a16:creationId xmlns:a16="http://schemas.microsoft.com/office/drawing/2014/main" id="{B5799C0C-AC6A-4C2A-90F2-1380759A45E2}"/>
                </a:ext>
              </a:extLst>
            </p:cNvPr>
            <p:cNvSpPr>
              <a:spLocks noChangeArrowheads="1"/>
            </p:cNvSpPr>
            <p:nvPr/>
          </p:nvSpPr>
          <p:spPr bwMode="auto">
            <a:xfrm>
              <a:off x="0" y="22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9" name="Rectangle 47">
              <a:extLst>
                <a:ext uri="{FF2B5EF4-FFF2-40B4-BE49-F238E27FC236}">
                  <a16:creationId xmlns:a16="http://schemas.microsoft.com/office/drawing/2014/main" id="{89A833A2-9173-4F8E-AA66-50502ED3CD33}"/>
                </a:ext>
              </a:extLst>
            </p:cNvPr>
            <p:cNvSpPr>
              <a:spLocks noChangeArrowheads="1"/>
            </p:cNvSpPr>
            <p:nvPr/>
          </p:nvSpPr>
          <p:spPr bwMode="auto">
            <a:xfrm>
              <a:off x="582" y="0"/>
              <a:ext cx="725"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Yi</a:t>
              </a:r>
            </a:p>
          </p:txBody>
        </p:sp>
        <p:sp>
          <p:nvSpPr>
            <p:cNvPr id="60" name="Rectangle 48">
              <a:extLst>
                <a:ext uri="{FF2B5EF4-FFF2-40B4-BE49-F238E27FC236}">
                  <a16:creationId xmlns:a16="http://schemas.microsoft.com/office/drawing/2014/main" id="{D0F1DC32-F657-4293-9E5A-9E351AE6C931}"/>
                </a:ext>
              </a:extLst>
            </p:cNvPr>
            <p:cNvSpPr>
              <a:spLocks noChangeArrowheads="1"/>
            </p:cNvSpPr>
            <p:nvPr/>
          </p:nvSpPr>
          <p:spPr bwMode="auto">
            <a:xfrm>
              <a:off x="84" y="0"/>
              <a:ext cx="674"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X</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1" name="Rectangle 49">
              <a:extLst>
                <a:ext uri="{FF2B5EF4-FFF2-40B4-BE49-F238E27FC236}">
                  <a16:creationId xmlns:a16="http://schemas.microsoft.com/office/drawing/2014/main" id="{F241D75D-750A-4247-85D1-2D39EF21E692}"/>
                </a:ext>
              </a:extLst>
            </p:cNvPr>
            <p:cNvSpPr>
              <a:spLocks noChangeArrowheads="1"/>
            </p:cNvSpPr>
            <p:nvPr/>
          </p:nvSpPr>
          <p:spPr bwMode="auto">
            <a:xfrm>
              <a:off x="1123" y="0"/>
              <a:ext cx="82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低位进位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2" name="Line 50">
              <a:extLst>
                <a:ext uri="{FF2B5EF4-FFF2-40B4-BE49-F238E27FC236}">
                  <a16:creationId xmlns:a16="http://schemas.microsoft.com/office/drawing/2014/main" id="{05642CBF-74E7-4F5F-97EF-D6119CF85A9B}"/>
                </a:ext>
              </a:extLst>
            </p:cNvPr>
            <p:cNvSpPr>
              <a:spLocks noChangeShapeType="1"/>
            </p:cNvSpPr>
            <p:nvPr/>
          </p:nvSpPr>
          <p:spPr bwMode="auto">
            <a:xfrm>
              <a:off x="1938" y="0"/>
              <a:ext cx="0" cy="16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Arial Rounded MT Bold" panose="020F0704030504030204" pitchFamily="34" charset="0"/>
              </a:endParaRPr>
            </a:p>
          </p:txBody>
        </p:sp>
      </p:grpSp>
      <p:sp>
        <p:nvSpPr>
          <p:cNvPr id="63" name="圆角矩形 76">
            <a:extLst>
              <a:ext uri="{FF2B5EF4-FFF2-40B4-BE49-F238E27FC236}">
                <a16:creationId xmlns:a16="http://schemas.microsoft.com/office/drawing/2014/main" id="{76AE1ECC-6C7B-459C-A533-4BEE374971B3}"/>
              </a:ext>
            </a:extLst>
          </p:cNvPr>
          <p:cNvSpPr/>
          <p:nvPr/>
        </p:nvSpPr>
        <p:spPr>
          <a:xfrm>
            <a:off x="1401228" y="5015886"/>
            <a:ext cx="251660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 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64" name="圆角矩形 77">
            <a:extLst>
              <a:ext uri="{FF2B5EF4-FFF2-40B4-BE49-F238E27FC236}">
                <a16:creationId xmlns:a16="http://schemas.microsoft.com/office/drawing/2014/main" id="{18A4EB8D-C6DD-462F-B8A1-672E6AE79744}"/>
              </a:ext>
            </a:extLst>
          </p:cNvPr>
          <p:cNvSpPr/>
          <p:nvPr/>
        </p:nvSpPr>
        <p:spPr>
          <a:xfrm>
            <a:off x="1403648" y="5591950"/>
            <a:ext cx="252028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7186A43-358F-4492-967E-B2DA95534930}"/>
              </a:ext>
            </a:extLst>
          </p:cNvPr>
          <p:cNvPicPr>
            <a:picLocks noChangeAspect="1"/>
          </p:cNvPicPr>
          <p:nvPr/>
        </p:nvPicPr>
        <p:blipFill>
          <a:blip r:embed="rId2"/>
          <a:stretch>
            <a:fillRect/>
          </a:stretch>
        </p:blipFill>
        <p:spPr>
          <a:xfrm>
            <a:off x="4590763" y="4980888"/>
            <a:ext cx="2372850" cy="1756525"/>
          </a:xfrm>
          <a:prstGeom prst="rect">
            <a:avLst/>
          </a:prstGeom>
        </p:spPr>
      </p:pic>
      <p:sp>
        <p:nvSpPr>
          <p:cNvPr id="65" name="圆角矩形 77">
            <a:extLst>
              <a:ext uri="{FF2B5EF4-FFF2-40B4-BE49-F238E27FC236}">
                <a16:creationId xmlns:a16="http://schemas.microsoft.com/office/drawing/2014/main" id="{F9DBB00D-22BD-47F0-A42B-14CF8F8B57C0}"/>
              </a:ext>
            </a:extLst>
          </p:cNvPr>
          <p:cNvSpPr/>
          <p:nvPr/>
        </p:nvSpPr>
        <p:spPr>
          <a:xfrm>
            <a:off x="1403648" y="6168014"/>
            <a:ext cx="2520280"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9E46B503-7431-4F1D-AD26-16E7BFC505BD}"/>
              </a:ext>
            </a:extLst>
          </p:cNvPr>
          <p:cNvSpPr txBox="1"/>
          <p:nvPr/>
        </p:nvSpPr>
        <p:spPr>
          <a:xfrm>
            <a:off x="611560" y="6207832"/>
            <a:ext cx="648072" cy="369332"/>
          </a:xfrm>
          <a:prstGeom prst="rect">
            <a:avLst/>
          </a:prstGeom>
          <a:noFill/>
        </p:spPr>
        <p:txBody>
          <a:bodyPr wrap="square" rtlCol="0">
            <a:spAutoFit/>
          </a:bodyPr>
          <a:lstStyle/>
          <a:p>
            <a:r>
              <a:rPr lang="zh-CN" altLang="en-US" b="1" dirty="0"/>
              <a:t>或者</a:t>
            </a:r>
          </a:p>
        </p:txBody>
      </p:sp>
    </p:spTree>
    <p:extLst>
      <p:ext uri="{BB962C8B-B14F-4D97-AF65-F5344CB8AC3E}">
        <p14:creationId xmlns:p14="http://schemas.microsoft.com/office/powerpoint/2010/main" val="2123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wipe(left)">
                                      <p:cBhvr>
                                        <p:cTn id="13" dur="500"/>
                                        <p:tgtEl>
                                          <p:spTgt spid="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wipe(left)">
                                      <p:cBhvr>
                                        <p:cTn id="18" dur="500"/>
                                        <p:tgtEl>
                                          <p:spTgt spid="6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129DEBD-AF5F-4B1B-A220-7BFE1DA5C763}"/>
              </a:ext>
            </a:extLst>
          </p:cNvPr>
          <p:cNvSpPr>
            <a:spLocks noGrp="1"/>
          </p:cNvSpPr>
          <p:nvPr>
            <p:ph type="title"/>
          </p:nvPr>
        </p:nvSpPr>
        <p:spPr>
          <a:xfrm>
            <a:off x="457200" y="96993"/>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95DB92D-D7B6-45C7-8437-5D7D7E2D4D9F}"/>
              </a:ext>
            </a:extLst>
          </p:cNvPr>
          <p:cNvSpPr>
            <a:spLocks noGrp="1"/>
          </p:cNvSpPr>
          <p:nvPr>
            <p:ph idx="1"/>
          </p:nvPr>
        </p:nvSpPr>
        <p:spPr>
          <a:xfrm>
            <a:off x="237543" y="1197809"/>
            <a:ext cx="8229600" cy="4525963"/>
          </a:xfrm>
        </p:spPr>
        <p:txBody>
          <a:bodyPr/>
          <a:lstStyle/>
          <a:p>
            <a:pPr lvl="1"/>
            <a:r>
              <a:rPr lang="zh-CN" altLang="en-US" sz="2000" b="1" dirty="0"/>
              <a:t>全加器逻辑电路实现：</a:t>
            </a:r>
            <a:endParaRPr lang="en-US" altLang="zh-CN" sz="2000" b="1" dirty="0"/>
          </a:p>
          <a:p>
            <a:pPr lvl="2"/>
            <a:r>
              <a:rPr lang="zh-CN" altLang="en-US" sz="1600" b="1" dirty="0"/>
              <a:t>假设异或门的时间延迟为</a:t>
            </a:r>
            <a:r>
              <a:rPr lang="en-US" altLang="zh-CN" sz="1600" b="1" dirty="0"/>
              <a:t>3T</a:t>
            </a:r>
            <a:r>
              <a:rPr lang="zh-CN" altLang="en-US" sz="1600" b="1" dirty="0"/>
              <a:t>、与门和或门的时间延迟均为</a:t>
            </a:r>
            <a:r>
              <a:rPr lang="en-US" altLang="zh-CN" sz="1600" b="1" dirty="0"/>
              <a:t>1T</a:t>
            </a:r>
            <a:endParaRPr lang="zh-CN" altLang="en-US" sz="1200" b="1" dirty="0"/>
          </a:p>
        </p:txBody>
      </p:sp>
      <p:grpSp>
        <p:nvGrpSpPr>
          <p:cNvPr id="126" name="组合 125">
            <a:extLst>
              <a:ext uri="{FF2B5EF4-FFF2-40B4-BE49-F238E27FC236}">
                <a16:creationId xmlns:a16="http://schemas.microsoft.com/office/drawing/2014/main" id="{EF0FE6BA-808C-435E-AB89-A98BC87C73E7}"/>
              </a:ext>
            </a:extLst>
          </p:cNvPr>
          <p:cNvGrpSpPr/>
          <p:nvPr/>
        </p:nvGrpSpPr>
        <p:grpSpPr>
          <a:xfrm>
            <a:off x="4731585" y="1872359"/>
            <a:ext cx="3312287" cy="4433786"/>
            <a:chOff x="4572000" y="1268760"/>
            <a:chExt cx="4334457" cy="5319841"/>
          </a:xfrm>
        </p:grpSpPr>
        <p:grpSp>
          <p:nvGrpSpPr>
            <p:cNvPr id="127" name="组合 126">
              <a:extLst>
                <a:ext uri="{FF2B5EF4-FFF2-40B4-BE49-F238E27FC236}">
                  <a16:creationId xmlns:a16="http://schemas.microsoft.com/office/drawing/2014/main" id="{61A547EE-5EB5-43F7-A583-8087317CD5E0}"/>
                </a:ext>
              </a:extLst>
            </p:cNvPr>
            <p:cNvGrpSpPr/>
            <p:nvPr/>
          </p:nvGrpSpPr>
          <p:grpSpPr>
            <a:xfrm>
              <a:off x="4572000" y="1268760"/>
              <a:ext cx="4334457" cy="5319841"/>
              <a:chOff x="4572000" y="1268760"/>
              <a:chExt cx="4334457" cy="5319841"/>
            </a:xfrm>
          </p:grpSpPr>
          <p:grpSp>
            <p:nvGrpSpPr>
              <p:cNvPr id="130" name="组合 129">
                <a:extLst>
                  <a:ext uri="{FF2B5EF4-FFF2-40B4-BE49-F238E27FC236}">
                    <a16:creationId xmlns:a16="http://schemas.microsoft.com/office/drawing/2014/main" id="{94B1B1B8-C85C-48EF-810E-DB87F0630B5F}"/>
                  </a:ext>
                </a:extLst>
              </p:cNvPr>
              <p:cNvGrpSpPr/>
              <p:nvPr/>
            </p:nvGrpSpPr>
            <p:grpSpPr>
              <a:xfrm>
                <a:off x="4572000" y="1268760"/>
                <a:ext cx="4334457" cy="5319841"/>
                <a:chOff x="4269991" y="1268760"/>
                <a:chExt cx="4334457" cy="5319841"/>
              </a:xfrm>
            </p:grpSpPr>
            <p:sp>
              <p:nvSpPr>
                <p:cNvPr id="132" name="Rectangle 62">
                  <a:extLst>
                    <a:ext uri="{FF2B5EF4-FFF2-40B4-BE49-F238E27FC236}">
                      <a16:creationId xmlns:a16="http://schemas.microsoft.com/office/drawing/2014/main" id="{37791A50-CA66-4F52-A9F5-2656A031DC8D}"/>
                    </a:ext>
                  </a:extLst>
                </p:cNvPr>
                <p:cNvSpPr>
                  <a:spLocks noChangeArrowheads="1"/>
                </p:cNvSpPr>
                <p:nvPr/>
              </p:nvSpPr>
              <p:spPr bwMode="auto">
                <a:xfrm>
                  <a:off x="5148064" y="2042931"/>
                  <a:ext cx="3456384" cy="3771499"/>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grpSp>
              <p:nvGrpSpPr>
                <p:cNvPr id="133" name="组合 132">
                  <a:extLst>
                    <a:ext uri="{FF2B5EF4-FFF2-40B4-BE49-F238E27FC236}">
                      <a16:creationId xmlns:a16="http://schemas.microsoft.com/office/drawing/2014/main" id="{3F780D4D-0240-4581-A8FE-82DD3064D12A}"/>
                    </a:ext>
                  </a:extLst>
                </p:cNvPr>
                <p:cNvGrpSpPr/>
                <p:nvPr/>
              </p:nvGrpSpPr>
              <p:grpSpPr>
                <a:xfrm>
                  <a:off x="4269991" y="1268760"/>
                  <a:ext cx="4046425" cy="5319841"/>
                  <a:chOff x="4283968" y="1268760"/>
                  <a:chExt cx="4046425" cy="5319841"/>
                </a:xfrm>
              </p:grpSpPr>
              <p:grpSp>
                <p:nvGrpSpPr>
                  <p:cNvPr id="134" name="组合 133">
                    <a:extLst>
                      <a:ext uri="{FF2B5EF4-FFF2-40B4-BE49-F238E27FC236}">
                        <a16:creationId xmlns:a16="http://schemas.microsoft.com/office/drawing/2014/main" id="{0D179A26-0825-4063-85CF-22820EE589D6}"/>
                      </a:ext>
                    </a:extLst>
                  </p:cNvPr>
                  <p:cNvGrpSpPr/>
                  <p:nvPr/>
                </p:nvGrpSpPr>
                <p:grpSpPr>
                  <a:xfrm>
                    <a:off x="4441244" y="1268760"/>
                    <a:ext cx="3889149" cy="5319841"/>
                    <a:chOff x="4441244" y="1268760"/>
                    <a:chExt cx="3889149" cy="5319841"/>
                  </a:xfrm>
                </p:grpSpPr>
                <p:grpSp>
                  <p:nvGrpSpPr>
                    <p:cNvPr id="152" name="组合 151">
                      <a:extLst>
                        <a:ext uri="{FF2B5EF4-FFF2-40B4-BE49-F238E27FC236}">
                          <a16:creationId xmlns:a16="http://schemas.microsoft.com/office/drawing/2014/main" id="{FE9AD7DC-0B6B-4684-8A9A-3F9B23381347}"/>
                        </a:ext>
                      </a:extLst>
                    </p:cNvPr>
                    <p:cNvGrpSpPr/>
                    <p:nvPr/>
                  </p:nvGrpSpPr>
                  <p:grpSpPr>
                    <a:xfrm>
                      <a:off x="4441244" y="1268760"/>
                      <a:ext cx="3889149" cy="5319841"/>
                      <a:chOff x="4441244" y="1268760"/>
                      <a:chExt cx="3889149" cy="5319841"/>
                    </a:xfrm>
                  </p:grpSpPr>
                  <p:grpSp>
                    <p:nvGrpSpPr>
                      <p:cNvPr id="154" name="组合 153">
                        <a:extLst>
                          <a:ext uri="{FF2B5EF4-FFF2-40B4-BE49-F238E27FC236}">
                            <a16:creationId xmlns:a16="http://schemas.microsoft.com/office/drawing/2014/main" id="{2C5B05BD-CDD9-4AF4-B41C-6F3A76A95FE7}"/>
                          </a:ext>
                        </a:extLst>
                      </p:cNvPr>
                      <p:cNvGrpSpPr/>
                      <p:nvPr/>
                    </p:nvGrpSpPr>
                    <p:grpSpPr>
                      <a:xfrm>
                        <a:off x="5004048" y="1268760"/>
                        <a:ext cx="3326345" cy="5319841"/>
                        <a:chOff x="5004048" y="1268760"/>
                        <a:chExt cx="3326345" cy="5319841"/>
                      </a:xfrm>
                    </p:grpSpPr>
                    <p:grpSp>
                      <p:nvGrpSpPr>
                        <p:cNvPr id="158" name="组合 157">
                          <a:extLst>
                            <a:ext uri="{FF2B5EF4-FFF2-40B4-BE49-F238E27FC236}">
                              <a16:creationId xmlns:a16="http://schemas.microsoft.com/office/drawing/2014/main" id="{979678D4-B6E5-4326-AED7-930E039F515E}"/>
                            </a:ext>
                          </a:extLst>
                        </p:cNvPr>
                        <p:cNvGrpSpPr/>
                        <p:nvPr/>
                      </p:nvGrpSpPr>
                      <p:grpSpPr>
                        <a:xfrm>
                          <a:off x="5004048" y="1268760"/>
                          <a:ext cx="3326345" cy="5319841"/>
                          <a:chOff x="5004048" y="1268760"/>
                          <a:chExt cx="3326345" cy="5319841"/>
                        </a:xfrm>
                      </p:grpSpPr>
                      <p:grpSp>
                        <p:nvGrpSpPr>
                          <p:cNvPr id="162" name="组合 161">
                            <a:extLst>
                              <a:ext uri="{FF2B5EF4-FFF2-40B4-BE49-F238E27FC236}">
                                <a16:creationId xmlns:a16="http://schemas.microsoft.com/office/drawing/2014/main" id="{434A0290-686B-428D-9159-A231589F5EB2}"/>
                              </a:ext>
                            </a:extLst>
                          </p:cNvPr>
                          <p:cNvGrpSpPr/>
                          <p:nvPr/>
                        </p:nvGrpSpPr>
                        <p:grpSpPr>
                          <a:xfrm>
                            <a:off x="5385512" y="1268760"/>
                            <a:ext cx="2944881" cy="5319841"/>
                            <a:chOff x="5385512" y="1268760"/>
                            <a:chExt cx="2944881" cy="5319841"/>
                          </a:xfrm>
                        </p:grpSpPr>
                        <p:grpSp>
                          <p:nvGrpSpPr>
                            <p:cNvPr id="164" name="组合 163">
                              <a:extLst>
                                <a:ext uri="{FF2B5EF4-FFF2-40B4-BE49-F238E27FC236}">
                                  <a16:creationId xmlns:a16="http://schemas.microsoft.com/office/drawing/2014/main" id="{D31E7AB2-41B1-4031-B262-E8CF08EAEB16}"/>
                                </a:ext>
                              </a:extLst>
                            </p:cNvPr>
                            <p:cNvGrpSpPr/>
                            <p:nvPr/>
                          </p:nvGrpSpPr>
                          <p:grpSpPr>
                            <a:xfrm>
                              <a:off x="5385512" y="1268760"/>
                              <a:ext cx="2944881" cy="5319841"/>
                              <a:chOff x="5385512" y="1268760"/>
                              <a:chExt cx="2944881" cy="5319841"/>
                            </a:xfrm>
                          </p:grpSpPr>
                          <p:pic>
                            <p:nvPicPr>
                              <p:cNvPr id="166" name="图片 165">
                                <a:extLst>
                                  <a:ext uri="{FF2B5EF4-FFF2-40B4-BE49-F238E27FC236}">
                                    <a16:creationId xmlns:a16="http://schemas.microsoft.com/office/drawing/2014/main" id="{F648ED5B-9E5F-4C7A-BF32-BEDEF8C9E4D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5512" y="1268760"/>
                                <a:ext cx="2944881" cy="5319841"/>
                              </a:xfrm>
                              <a:prstGeom prst="rect">
                                <a:avLst/>
                              </a:prstGeom>
                            </p:spPr>
                          </p:pic>
                          <p:pic>
                            <p:nvPicPr>
                              <p:cNvPr id="167" name="图片 166">
                                <a:extLst>
                                  <a:ext uri="{FF2B5EF4-FFF2-40B4-BE49-F238E27FC236}">
                                    <a16:creationId xmlns:a16="http://schemas.microsoft.com/office/drawing/2014/main" id="{E2AF4C92-BFEA-4652-A008-6DF50D60FCDC}"/>
                                  </a:ext>
                                </a:extLst>
                              </p:cNvPr>
                              <p:cNvPicPr>
                                <a:picLocks noChangeAspect="1"/>
                              </p:cNvPicPr>
                              <p:nvPr/>
                            </p:nvPicPr>
                            <p:blipFill>
                              <a:blip r:embed="rId3"/>
                              <a:stretch>
                                <a:fillRect/>
                              </a:stretch>
                            </p:blipFill>
                            <p:spPr>
                              <a:xfrm>
                                <a:off x="6266061" y="3884978"/>
                                <a:ext cx="1008112" cy="1117657"/>
                              </a:xfrm>
                              <a:prstGeom prst="rect">
                                <a:avLst/>
                              </a:prstGeom>
                            </p:spPr>
                          </p:pic>
                          <p:pic>
                            <p:nvPicPr>
                              <p:cNvPr id="168" name="图片 167">
                                <a:extLst>
                                  <a:ext uri="{FF2B5EF4-FFF2-40B4-BE49-F238E27FC236}">
                                    <a16:creationId xmlns:a16="http://schemas.microsoft.com/office/drawing/2014/main" id="{1D8245ED-172A-4AA3-A9CC-D71050C99601}"/>
                                  </a:ext>
                                </a:extLst>
                              </p:cNvPr>
                              <p:cNvPicPr>
                                <a:picLocks noChangeAspect="1"/>
                              </p:cNvPicPr>
                              <p:nvPr/>
                            </p:nvPicPr>
                            <p:blipFill>
                              <a:blip r:embed="rId3"/>
                              <a:stretch>
                                <a:fillRect/>
                              </a:stretch>
                            </p:blipFill>
                            <p:spPr>
                              <a:xfrm>
                                <a:off x="7308305" y="3806276"/>
                                <a:ext cx="381684" cy="414812"/>
                              </a:xfrm>
                              <a:prstGeom prst="rect">
                                <a:avLst/>
                              </a:prstGeom>
                            </p:spPr>
                          </p:pic>
                        </p:grpSp>
                        <p:pic>
                          <p:nvPicPr>
                            <p:cNvPr id="165" name="图片 164">
                              <a:extLst>
                                <a:ext uri="{FF2B5EF4-FFF2-40B4-BE49-F238E27FC236}">
                                  <a16:creationId xmlns:a16="http://schemas.microsoft.com/office/drawing/2014/main" id="{2F74197E-C629-4E8B-86D5-B552D309017F}"/>
                                </a:ext>
                              </a:extLst>
                            </p:cNvPr>
                            <p:cNvPicPr>
                              <a:picLocks noChangeAspect="1"/>
                            </p:cNvPicPr>
                            <p:nvPr/>
                          </p:nvPicPr>
                          <p:blipFill>
                            <a:blip r:embed="rId3"/>
                            <a:stretch>
                              <a:fillRect/>
                            </a:stretch>
                          </p:blipFill>
                          <p:spPr>
                            <a:xfrm>
                              <a:off x="6183709" y="3055196"/>
                              <a:ext cx="710169" cy="877860"/>
                            </a:xfrm>
                            <a:prstGeom prst="rect">
                              <a:avLst/>
                            </a:prstGeom>
                          </p:spPr>
                        </p:pic>
                      </p:grpSp>
                      <p:pic>
                        <p:nvPicPr>
                          <p:cNvPr id="163" name="图片 162">
                            <a:extLst>
                              <a:ext uri="{FF2B5EF4-FFF2-40B4-BE49-F238E27FC236}">
                                <a16:creationId xmlns:a16="http://schemas.microsoft.com/office/drawing/2014/main" id="{048C0F79-6327-43D2-8A63-08443B2C9624}"/>
                              </a:ext>
                            </a:extLst>
                          </p:cNvPr>
                          <p:cNvPicPr>
                            <a:picLocks noChangeAspect="1"/>
                          </p:cNvPicPr>
                          <p:nvPr/>
                        </p:nvPicPr>
                        <p:blipFill>
                          <a:blip r:embed="rId4"/>
                          <a:stretch>
                            <a:fillRect/>
                          </a:stretch>
                        </p:blipFill>
                        <p:spPr>
                          <a:xfrm>
                            <a:off x="5004048" y="2060848"/>
                            <a:ext cx="368319" cy="3743014"/>
                          </a:xfrm>
                          <a:prstGeom prst="rect">
                            <a:avLst/>
                          </a:prstGeom>
                        </p:spPr>
                      </p:pic>
                    </p:grpSp>
                    <p:grpSp>
                      <p:nvGrpSpPr>
                        <p:cNvPr id="159" name="组合 158">
                          <a:extLst>
                            <a:ext uri="{FF2B5EF4-FFF2-40B4-BE49-F238E27FC236}">
                              <a16:creationId xmlns:a16="http://schemas.microsoft.com/office/drawing/2014/main" id="{0F8D1C11-49B5-447F-98D7-0FA1709004EA}"/>
                            </a:ext>
                          </a:extLst>
                        </p:cNvPr>
                        <p:cNvGrpSpPr/>
                        <p:nvPr/>
                      </p:nvGrpSpPr>
                      <p:grpSpPr>
                        <a:xfrm>
                          <a:off x="6156176" y="3046512"/>
                          <a:ext cx="764306" cy="1760402"/>
                          <a:chOff x="6156176" y="3046512"/>
                          <a:chExt cx="764306" cy="1760402"/>
                        </a:xfrm>
                      </p:grpSpPr>
                      <p:pic>
                        <p:nvPicPr>
                          <p:cNvPr id="160" name="图片 159">
                            <a:extLst>
                              <a:ext uri="{FF2B5EF4-FFF2-40B4-BE49-F238E27FC236}">
                                <a16:creationId xmlns:a16="http://schemas.microsoft.com/office/drawing/2014/main" id="{2BD8446C-5B8C-473B-9E6E-AEFE32EDE32C}"/>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61" name="图片 160">
                            <a:extLst>
                              <a:ext uri="{FF2B5EF4-FFF2-40B4-BE49-F238E27FC236}">
                                <a16:creationId xmlns:a16="http://schemas.microsoft.com/office/drawing/2014/main" id="{BBCEB250-3336-4F42-87DB-B2043184448C}"/>
                              </a:ext>
                            </a:extLst>
                          </p:cNvPr>
                          <p:cNvPicPr>
                            <a:picLocks noChangeAspect="1"/>
                          </p:cNvPicPr>
                          <p:nvPr/>
                        </p:nvPicPr>
                        <p:blipFill>
                          <a:blip r:embed="rId6"/>
                          <a:stretch>
                            <a:fillRect/>
                          </a:stretch>
                        </p:blipFill>
                        <p:spPr>
                          <a:xfrm>
                            <a:off x="6451668" y="3046512"/>
                            <a:ext cx="199394" cy="1117657"/>
                          </a:xfrm>
                          <a:prstGeom prst="rect">
                            <a:avLst/>
                          </a:prstGeom>
                        </p:spPr>
                      </p:pic>
                    </p:grpSp>
                  </p:grpSp>
                  <p:grpSp>
                    <p:nvGrpSpPr>
                      <p:cNvPr id="155" name="组合 154">
                        <a:extLst>
                          <a:ext uri="{FF2B5EF4-FFF2-40B4-BE49-F238E27FC236}">
                            <a16:creationId xmlns:a16="http://schemas.microsoft.com/office/drawing/2014/main" id="{F2656C74-D247-47AA-85CB-38DC7263CDA2}"/>
                          </a:ext>
                        </a:extLst>
                      </p:cNvPr>
                      <p:cNvGrpSpPr/>
                      <p:nvPr/>
                    </p:nvGrpSpPr>
                    <p:grpSpPr>
                      <a:xfrm>
                        <a:off x="4441244" y="3046512"/>
                        <a:ext cx="764306" cy="1760402"/>
                        <a:chOff x="6156176" y="3046512"/>
                        <a:chExt cx="764306" cy="1760402"/>
                      </a:xfrm>
                    </p:grpSpPr>
                    <p:pic>
                      <p:nvPicPr>
                        <p:cNvPr id="156" name="图片 155">
                          <a:extLst>
                            <a:ext uri="{FF2B5EF4-FFF2-40B4-BE49-F238E27FC236}">
                              <a16:creationId xmlns:a16="http://schemas.microsoft.com/office/drawing/2014/main" id="{B1A1051D-9A3C-4F4B-A4B6-92C3EF4A4BF1}"/>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57" name="图片 156">
                          <a:extLst>
                            <a:ext uri="{FF2B5EF4-FFF2-40B4-BE49-F238E27FC236}">
                              <a16:creationId xmlns:a16="http://schemas.microsoft.com/office/drawing/2014/main" id="{D0F78F41-8575-4BF6-8E1A-8839C61DA1E4}"/>
                            </a:ext>
                          </a:extLst>
                        </p:cNvPr>
                        <p:cNvPicPr>
                          <a:picLocks noChangeAspect="1"/>
                        </p:cNvPicPr>
                        <p:nvPr/>
                      </p:nvPicPr>
                      <p:blipFill>
                        <a:blip r:embed="rId6"/>
                        <a:stretch>
                          <a:fillRect/>
                        </a:stretch>
                      </p:blipFill>
                      <p:spPr>
                        <a:xfrm>
                          <a:off x="6451668" y="3046512"/>
                          <a:ext cx="199394" cy="1117657"/>
                        </a:xfrm>
                        <a:prstGeom prst="rect">
                          <a:avLst/>
                        </a:prstGeom>
                      </p:spPr>
                    </p:pic>
                  </p:grpSp>
                </p:grpSp>
                <p:pic>
                  <p:nvPicPr>
                    <p:cNvPr id="153" name="图片 152">
                      <a:extLst>
                        <a:ext uri="{FF2B5EF4-FFF2-40B4-BE49-F238E27FC236}">
                          <a16:creationId xmlns:a16="http://schemas.microsoft.com/office/drawing/2014/main" id="{F2DE91E8-31BC-4452-9A63-9F742D3195E0}"/>
                        </a:ext>
                      </a:extLst>
                    </p:cNvPr>
                    <p:cNvPicPr>
                      <a:picLocks noChangeAspect="1"/>
                    </p:cNvPicPr>
                    <p:nvPr/>
                  </p:nvPicPr>
                  <p:blipFill>
                    <a:blip r:embed="rId7"/>
                    <a:stretch>
                      <a:fillRect/>
                    </a:stretch>
                  </p:blipFill>
                  <p:spPr>
                    <a:xfrm>
                      <a:off x="5595353" y="2855330"/>
                      <a:ext cx="431822" cy="789694"/>
                    </a:xfrm>
                    <a:prstGeom prst="rect">
                      <a:avLst/>
                    </a:prstGeom>
                  </p:spPr>
                </p:pic>
              </p:grpSp>
              <p:grpSp>
                <p:nvGrpSpPr>
                  <p:cNvPr id="135" name="组合 134">
                    <a:extLst>
                      <a:ext uri="{FF2B5EF4-FFF2-40B4-BE49-F238E27FC236}">
                        <a16:creationId xmlns:a16="http://schemas.microsoft.com/office/drawing/2014/main" id="{03DA3B48-8A94-4312-8E8C-73D31AFA7FD9}"/>
                      </a:ext>
                    </a:extLst>
                  </p:cNvPr>
                  <p:cNvGrpSpPr/>
                  <p:nvPr/>
                </p:nvGrpSpPr>
                <p:grpSpPr>
                  <a:xfrm>
                    <a:off x="4283968" y="2032128"/>
                    <a:ext cx="2990205" cy="3782302"/>
                    <a:chOff x="4283968" y="2032128"/>
                    <a:chExt cx="2990205" cy="3782302"/>
                  </a:xfrm>
                </p:grpSpPr>
                <p:grpSp>
                  <p:nvGrpSpPr>
                    <p:cNvPr id="136" name="组合 135">
                      <a:extLst>
                        <a:ext uri="{FF2B5EF4-FFF2-40B4-BE49-F238E27FC236}">
                          <a16:creationId xmlns:a16="http://schemas.microsoft.com/office/drawing/2014/main" id="{90183702-5391-4C62-AB04-0F92F587B7BB}"/>
                        </a:ext>
                      </a:extLst>
                    </p:cNvPr>
                    <p:cNvGrpSpPr/>
                    <p:nvPr/>
                  </p:nvGrpSpPr>
                  <p:grpSpPr>
                    <a:xfrm>
                      <a:off x="4633346" y="2739653"/>
                      <a:ext cx="2640827" cy="2890862"/>
                      <a:chOff x="4633346" y="2739653"/>
                      <a:chExt cx="2640827" cy="2890862"/>
                    </a:xfrm>
                  </p:grpSpPr>
                  <p:cxnSp>
                    <p:nvCxnSpPr>
                      <p:cNvPr id="141" name="直接连接符 140">
                        <a:extLst>
                          <a:ext uri="{FF2B5EF4-FFF2-40B4-BE49-F238E27FC236}">
                            <a16:creationId xmlns:a16="http://schemas.microsoft.com/office/drawing/2014/main" id="{2D6BB310-E3C7-42CD-93F4-9036E393EDB9}"/>
                          </a:ext>
                        </a:extLst>
                      </p:cNvPr>
                      <p:cNvCxnSpPr>
                        <a:cxnSpLocks/>
                        <a:stCxn id="157" idx="0"/>
                      </p:cNvCxnSpPr>
                      <p:nvPr/>
                    </p:nvCxnSpPr>
                    <p:spPr>
                      <a:xfrm>
                        <a:off x="4836433" y="3046512"/>
                        <a:ext cx="887695" cy="868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78A54FA0-3D00-4A10-82BB-AE613F7CF226}"/>
                          </a:ext>
                        </a:extLst>
                      </p:cNvPr>
                      <p:cNvCxnSpPr>
                        <a:cxnSpLocks/>
                      </p:cNvCxnSpPr>
                      <p:nvPr/>
                    </p:nvCxnSpPr>
                    <p:spPr>
                      <a:xfrm>
                        <a:off x="5687084" y="3626636"/>
                        <a:ext cx="268080" cy="183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F0E930AC-476E-4F44-A865-4902CB0948BC}"/>
                          </a:ext>
                        </a:extLst>
                      </p:cNvPr>
                      <p:cNvCxnSpPr/>
                      <p:nvPr/>
                    </p:nvCxnSpPr>
                    <p:spPr>
                      <a:xfrm>
                        <a:off x="5940152" y="2739653"/>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ADE05AC-3C55-4969-AC35-133A35F86777}"/>
                          </a:ext>
                        </a:extLst>
                      </p:cNvPr>
                      <p:cNvCxnSpPr/>
                      <p:nvPr/>
                    </p:nvCxnSpPr>
                    <p:spPr>
                      <a:xfrm flipV="1">
                        <a:off x="5702484" y="2844508"/>
                        <a:ext cx="0" cy="19986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45" name="组合 144">
                        <a:extLst>
                          <a:ext uri="{FF2B5EF4-FFF2-40B4-BE49-F238E27FC236}">
                            <a16:creationId xmlns:a16="http://schemas.microsoft.com/office/drawing/2014/main" id="{3A37E625-62D5-409B-8B10-C780EED55E70}"/>
                          </a:ext>
                        </a:extLst>
                      </p:cNvPr>
                      <p:cNvGrpSpPr/>
                      <p:nvPr/>
                    </p:nvGrpSpPr>
                    <p:grpSpPr>
                      <a:xfrm>
                        <a:off x="4633346" y="4710924"/>
                        <a:ext cx="2640827" cy="919591"/>
                        <a:chOff x="4633346" y="4710924"/>
                        <a:chExt cx="2640827" cy="919591"/>
                      </a:xfrm>
                    </p:grpSpPr>
                    <p:cxnSp>
                      <p:nvCxnSpPr>
                        <p:cNvPr id="146" name="直接连接符 145">
                          <a:extLst>
                            <a:ext uri="{FF2B5EF4-FFF2-40B4-BE49-F238E27FC236}">
                              <a16:creationId xmlns:a16="http://schemas.microsoft.com/office/drawing/2014/main" id="{8B53AB6C-3AA7-4029-B0E5-8A5BB0526BCE}"/>
                            </a:ext>
                          </a:extLst>
                        </p:cNvPr>
                        <p:cNvCxnSpPr/>
                        <p:nvPr/>
                      </p:nvCxnSpPr>
                      <p:spPr>
                        <a:xfrm flipH="1">
                          <a:off x="4644008" y="5610884"/>
                          <a:ext cx="263016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2295BBFC-49A3-4BDC-BF8D-F6D797B2A1A5}"/>
                            </a:ext>
                          </a:extLst>
                        </p:cNvPr>
                        <p:cNvCxnSpPr/>
                        <p:nvPr/>
                      </p:nvCxnSpPr>
                      <p:spPr>
                        <a:xfrm>
                          <a:off x="4633346" y="471092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5E1362BD-7085-4EBF-A76E-E171E1E2DCF6}"/>
                            </a:ext>
                          </a:extLst>
                        </p:cNvPr>
                        <p:cNvCxnSpPr>
                          <a:cxnSpLocks/>
                        </p:cNvCxnSpPr>
                        <p:nvPr/>
                      </p:nvCxnSpPr>
                      <p:spPr>
                        <a:xfrm flipH="1">
                          <a:off x="5036514" y="5384038"/>
                          <a:ext cx="45265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FD32D79-EE46-4982-BCCF-B0297A7AAACD}"/>
                            </a:ext>
                          </a:extLst>
                        </p:cNvPr>
                        <p:cNvCxnSpPr>
                          <a:cxnSpLocks/>
                        </p:cNvCxnSpPr>
                        <p:nvPr/>
                      </p:nvCxnSpPr>
                      <p:spPr>
                        <a:xfrm>
                          <a:off x="5036514" y="4798729"/>
                          <a:ext cx="0" cy="57989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ED511894-A42C-48B5-A519-76321E76F79F}"/>
                            </a:ext>
                          </a:extLst>
                        </p:cNvPr>
                        <p:cNvCxnSpPr/>
                        <p:nvPr/>
                      </p:nvCxnSpPr>
                      <p:spPr>
                        <a:xfrm>
                          <a:off x="6355967" y="472514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4D1B045B-0409-4324-9418-0E03F7D48884}"/>
                            </a:ext>
                          </a:extLst>
                        </p:cNvPr>
                        <p:cNvCxnSpPr>
                          <a:cxnSpLocks/>
                        </p:cNvCxnSpPr>
                        <p:nvPr/>
                      </p:nvCxnSpPr>
                      <p:spPr>
                        <a:xfrm>
                          <a:off x="6753884" y="4725144"/>
                          <a:ext cx="0" cy="4759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137" name="组合 136">
                      <a:extLst>
                        <a:ext uri="{FF2B5EF4-FFF2-40B4-BE49-F238E27FC236}">
                          <a16:creationId xmlns:a16="http://schemas.microsoft.com/office/drawing/2014/main" id="{3FE6D57D-8BF9-4D78-AD92-37B4C242D8DC}"/>
                        </a:ext>
                      </a:extLst>
                    </p:cNvPr>
                    <p:cNvGrpSpPr/>
                    <p:nvPr/>
                  </p:nvGrpSpPr>
                  <p:grpSpPr>
                    <a:xfrm>
                      <a:off x="4283968" y="2032128"/>
                      <a:ext cx="906758" cy="3782302"/>
                      <a:chOff x="4283968" y="2032128"/>
                      <a:chExt cx="906758" cy="3782302"/>
                    </a:xfrm>
                  </p:grpSpPr>
                  <p:cxnSp>
                    <p:nvCxnSpPr>
                      <p:cNvPr id="138" name="直接连接符 137">
                        <a:extLst>
                          <a:ext uri="{FF2B5EF4-FFF2-40B4-BE49-F238E27FC236}">
                            <a16:creationId xmlns:a16="http://schemas.microsoft.com/office/drawing/2014/main" id="{C79C6961-BF2A-49FE-8545-4FDA150D83E8}"/>
                          </a:ext>
                        </a:extLst>
                      </p:cNvPr>
                      <p:cNvCxnSpPr>
                        <a:cxnSpLocks/>
                      </p:cNvCxnSpPr>
                      <p:nvPr/>
                    </p:nvCxnSpPr>
                    <p:spPr>
                      <a:xfrm flipH="1">
                        <a:off x="4283968" y="2044615"/>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B48B0D28-2BF6-41A0-BCFF-551A68F5E506}"/>
                          </a:ext>
                        </a:extLst>
                      </p:cNvPr>
                      <p:cNvCxnSpPr>
                        <a:cxnSpLocks/>
                      </p:cNvCxnSpPr>
                      <p:nvPr/>
                    </p:nvCxnSpPr>
                    <p:spPr>
                      <a:xfrm flipH="1">
                        <a:off x="4286486" y="5814430"/>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6A05C4F4-FEA7-4745-A760-0BE431E3853E}"/>
                          </a:ext>
                        </a:extLst>
                      </p:cNvPr>
                      <p:cNvCxnSpPr>
                        <a:cxnSpLocks/>
                      </p:cNvCxnSpPr>
                      <p:nvPr/>
                    </p:nvCxnSpPr>
                    <p:spPr>
                      <a:xfrm>
                        <a:off x="4283968" y="2032128"/>
                        <a:ext cx="0" cy="37823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pic>
            <p:nvPicPr>
              <p:cNvPr id="131" name="图片 130">
                <a:extLst>
                  <a:ext uri="{FF2B5EF4-FFF2-40B4-BE49-F238E27FC236}">
                    <a16:creationId xmlns:a16="http://schemas.microsoft.com/office/drawing/2014/main" id="{F07C1C7E-1253-4BBF-90FF-21B7692289DB}"/>
                  </a:ext>
                </a:extLst>
              </p:cNvPr>
              <p:cNvPicPr>
                <a:picLocks noChangeAspect="1"/>
              </p:cNvPicPr>
              <p:nvPr/>
            </p:nvPicPr>
            <p:blipFill>
              <a:blip r:embed="rId8"/>
              <a:stretch>
                <a:fillRect/>
              </a:stretch>
            </p:blipFill>
            <p:spPr>
              <a:xfrm>
                <a:off x="6283959" y="1839385"/>
                <a:ext cx="527077" cy="170113"/>
              </a:xfrm>
              <a:prstGeom prst="rect">
                <a:avLst/>
              </a:prstGeom>
            </p:spPr>
          </p:pic>
        </p:grpSp>
        <p:sp>
          <p:nvSpPr>
            <p:cNvPr id="128" name="文本框 127">
              <a:extLst>
                <a:ext uri="{FF2B5EF4-FFF2-40B4-BE49-F238E27FC236}">
                  <a16:creationId xmlns:a16="http://schemas.microsoft.com/office/drawing/2014/main" id="{2D5CD0E1-CD91-4C5E-9C2B-9D9529FA01F0}"/>
                </a:ext>
              </a:extLst>
            </p:cNvPr>
            <p:cNvSpPr txBox="1"/>
            <p:nvPr/>
          </p:nvSpPr>
          <p:spPr>
            <a:xfrm>
              <a:off x="5076056" y="3933056"/>
              <a:ext cx="364202" cy="307777"/>
            </a:xfrm>
            <a:prstGeom prst="rect">
              <a:avLst/>
            </a:prstGeom>
            <a:noFill/>
          </p:spPr>
          <p:txBody>
            <a:bodyPr wrap="none" rtlCol="0">
              <a:spAutoFit/>
            </a:bodyPr>
            <a:lstStyle/>
            <a:p>
              <a:r>
                <a:rPr lang="en-US" altLang="zh-CN" sz="1400" dirty="0"/>
                <a:t>1T</a:t>
              </a:r>
              <a:endParaRPr lang="zh-CN" altLang="en-US" sz="1400" dirty="0"/>
            </a:p>
          </p:txBody>
        </p:sp>
        <p:sp>
          <p:nvSpPr>
            <p:cNvPr id="129" name="文本框 128">
              <a:extLst>
                <a:ext uri="{FF2B5EF4-FFF2-40B4-BE49-F238E27FC236}">
                  <a16:creationId xmlns:a16="http://schemas.microsoft.com/office/drawing/2014/main" id="{0FA146BE-37F4-4566-9ADE-11EB956EAF60}"/>
                </a:ext>
              </a:extLst>
            </p:cNvPr>
            <p:cNvSpPr txBox="1"/>
            <p:nvPr/>
          </p:nvSpPr>
          <p:spPr>
            <a:xfrm>
              <a:off x="6224022" y="1764841"/>
              <a:ext cx="364202" cy="307777"/>
            </a:xfrm>
            <a:prstGeom prst="rect">
              <a:avLst/>
            </a:prstGeom>
            <a:noFill/>
          </p:spPr>
          <p:txBody>
            <a:bodyPr wrap="none" rtlCol="0">
              <a:spAutoFit/>
            </a:bodyPr>
            <a:lstStyle/>
            <a:p>
              <a:r>
                <a:rPr lang="en-US" altLang="zh-CN" sz="1400" dirty="0"/>
                <a:t>2T</a:t>
              </a:r>
              <a:endParaRPr lang="zh-CN" altLang="en-US" sz="1400" dirty="0"/>
            </a:p>
          </p:txBody>
        </p:sp>
      </p:grpSp>
      <p:sp>
        <p:nvSpPr>
          <p:cNvPr id="169" name="圆角矩形 77">
            <a:extLst>
              <a:ext uri="{FF2B5EF4-FFF2-40B4-BE49-F238E27FC236}">
                <a16:creationId xmlns:a16="http://schemas.microsoft.com/office/drawing/2014/main" id="{E8836AA8-0F00-4C5C-8C39-589B29D450BC}"/>
              </a:ext>
            </a:extLst>
          </p:cNvPr>
          <p:cNvSpPr/>
          <p:nvPr/>
        </p:nvSpPr>
        <p:spPr>
          <a:xfrm>
            <a:off x="1362532" y="6304233"/>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170" name="圆角矩形 77">
            <a:extLst>
              <a:ext uri="{FF2B5EF4-FFF2-40B4-BE49-F238E27FC236}">
                <a16:creationId xmlns:a16="http://schemas.microsoft.com/office/drawing/2014/main" id="{D0A49A67-AF4E-4324-B099-7F8A49700DBB}"/>
              </a:ext>
            </a:extLst>
          </p:cNvPr>
          <p:cNvSpPr/>
          <p:nvPr/>
        </p:nvSpPr>
        <p:spPr>
          <a:xfrm>
            <a:off x="5596544" y="6240022"/>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grpSp>
        <p:nvGrpSpPr>
          <p:cNvPr id="171" name="组合 170">
            <a:extLst>
              <a:ext uri="{FF2B5EF4-FFF2-40B4-BE49-F238E27FC236}">
                <a16:creationId xmlns:a16="http://schemas.microsoft.com/office/drawing/2014/main" id="{3B207C56-0258-4196-8D48-849D7CC02090}"/>
              </a:ext>
            </a:extLst>
          </p:cNvPr>
          <p:cNvGrpSpPr/>
          <p:nvPr/>
        </p:nvGrpSpPr>
        <p:grpSpPr>
          <a:xfrm>
            <a:off x="719371" y="2277443"/>
            <a:ext cx="3213816" cy="4032447"/>
            <a:chOff x="6496369" y="352880"/>
            <a:chExt cx="4261370" cy="6451745"/>
          </a:xfrm>
        </p:grpSpPr>
        <p:sp>
          <p:nvSpPr>
            <p:cNvPr id="172" name="Rectangle 62">
              <a:extLst>
                <a:ext uri="{FF2B5EF4-FFF2-40B4-BE49-F238E27FC236}">
                  <a16:creationId xmlns:a16="http://schemas.microsoft.com/office/drawing/2014/main" id="{7B44EC57-16BE-4AC8-BDB6-BFD2162DC9DB}"/>
                </a:ext>
              </a:extLst>
            </p:cNvPr>
            <p:cNvSpPr>
              <a:spLocks noChangeArrowheads="1"/>
            </p:cNvSpPr>
            <p:nvPr/>
          </p:nvSpPr>
          <p:spPr bwMode="auto">
            <a:xfrm>
              <a:off x="6496369" y="1291772"/>
              <a:ext cx="4261370" cy="4573962"/>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pic>
          <p:nvPicPr>
            <p:cNvPr id="173" name="图片 172">
              <a:extLst>
                <a:ext uri="{FF2B5EF4-FFF2-40B4-BE49-F238E27FC236}">
                  <a16:creationId xmlns:a16="http://schemas.microsoft.com/office/drawing/2014/main" id="{89B39222-90A6-4AA2-A334-7DAE1E1B5E7C}"/>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89118" y="352880"/>
              <a:ext cx="3630739" cy="6451745"/>
            </a:xfrm>
            <a:prstGeom prst="rect">
              <a:avLst/>
            </a:prstGeom>
          </p:spPr>
        </p:pic>
      </p:grpSp>
      <p:sp>
        <p:nvSpPr>
          <p:cNvPr id="51" name="文本框 50">
            <a:extLst>
              <a:ext uri="{FF2B5EF4-FFF2-40B4-BE49-F238E27FC236}">
                <a16:creationId xmlns:a16="http://schemas.microsoft.com/office/drawing/2014/main" id="{7287DDB5-C6D7-4457-9169-615DEA1ADC00}"/>
              </a:ext>
            </a:extLst>
          </p:cNvPr>
          <p:cNvSpPr txBox="1"/>
          <p:nvPr/>
        </p:nvSpPr>
        <p:spPr>
          <a:xfrm>
            <a:off x="4793340" y="6274524"/>
            <a:ext cx="648072" cy="369332"/>
          </a:xfrm>
          <a:prstGeom prst="rect">
            <a:avLst/>
          </a:prstGeom>
          <a:noFill/>
        </p:spPr>
        <p:txBody>
          <a:bodyPr wrap="square" rtlCol="0">
            <a:spAutoFit/>
          </a:bodyPr>
          <a:lstStyle/>
          <a:p>
            <a:r>
              <a:rPr lang="zh-CN" altLang="en-US" b="1" dirty="0"/>
              <a:t>或者</a:t>
            </a:r>
          </a:p>
        </p:txBody>
      </p:sp>
      <p:sp>
        <p:nvSpPr>
          <p:cNvPr id="2" name="文本框 1">
            <a:extLst>
              <a:ext uri="{FF2B5EF4-FFF2-40B4-BE49-F238E27FC236}">
                <a16:creationId xmlns:a16="http://schemas.microsoft.com/office/drawing/2014/main" id="{A1224537-B2F4-4EDB-A676-AEA15E3757C1}"/>
              </a:ext>
            </a:extLst>
          </p:cNvPr>
          <p:cNvSpPr txBox="1"/>
          <p:nvPr/>
        </p:nvSpPr>
        <p:spPr>
          <a:xfrm>
            <a:off x="1697908" y="1974960"/>
            <a:ext cx="805029" cy="338554"/>
          </a:xfrm>
          <a:prstGeom prst="rect">
            <a:avLst/>
          </a:prstGeom>
          <a:solidFill>
            <a:srgbClr val="FFFF00"/>
          </a:solidFill>
        </p:spPr>
        <p:txBody>
          <a:bodyPr wrap="none" rtlCol="0">
            <a:spAutoFit/>
          </a:bodyPr>
          <a:lstStyle/>
          <a:p>
            <a:r>
              <a:rPr lang="zh-CN" altLang="en-US" sz="1600" b="1" dirty="0"/>
              <a:t>全加器</a:t>
            </a:r>
          </a:p>
        </p:txBody>
      </p:sp>
      <p:sp>
        <p:nvSpPr>
          <p:cNvPr id="54" name="文本框 53">
            <a:extLst>
              <a:ext uri="{FF2B5EF4-FFF2-40B4-BE49-F238E27FC236}">
                <a16:creationId xmlns:a16="http://schemas.microsoft.com/office/drawing/2014/main" id="{82697104-1B34-4121-A9B6-E9591F084516}"/>
              </a:ext>
            </a:extLst>
          </p:cNvPr>
          <p:cNvSpPr txBox="1"/>
          <p:nvPr/>
        </p:nvSpPr>
        <p:spPr>
          <a:xfrm>
            <a:off x="7627730" y="1931469"/>
            <a:ext cx="805029" cy="338554"/>
          </a:xfrm>
          <a:prstGeom prst="rect">
            <a:avLst/>
          </a:prstGeom>
          <a:solidFill>
            <a:srgbClr val="FFFF00"/>
          </a:solidFill>
        </p:spPr>
        <p:txBody>
          <a:bodyPr wrap="none" rtlCol="0">
            <a:spAutoFit/>
          </a:bodyPr>
          <a:lstStyle/>
          <a:p>
            <a:r>
              <a:rPr lang="zh-CN" altLang="en-US" sz="1600" b="1" dirty="0"/>
              <a:t>全加器</a:t>
            </a:r>
          </a:p>
        </p:txBody>
      </p:sp>
      <p:sp>
        <p:nvSpPr>
          <p:cNvPr id="7" name="文本框 6">
            <a:extLst>
              <a:ext uri="{FF2B5EF4-FFF2-40B4-BE49-F238E27FC236}">
                <a16:creationId xmlns:a16="http://schemas.microsoft.com/office/drawing/2014/main" id="{B0172A64-533A-439D-90C3-9BF60BFAA840}"/>
              </a:ext>
            </a:extLst>
          </p:cNvPr>
          <p:cNvSpPr txBox="1"/>
          <p:nvPr/>
        </p:nvSpPr>
        <p:spPr>
          <a:xfrm>
            <a:off x="2843808" y="2996952"/>
            <a:ext cx="439496" cy="369332"/>
          </a:xfrm>
          <a:prstGeom prst="rect">
            <a:avLst/>
          </a:prstGeom>
          <a:noFill/>
        </p:spPr>
        <p:txBody>
          <a:bodyPr wrap="square" rtlCol="0">
            <a:spAutoFit/>
          </a:bodyPr>
          <a:lstStyle/>
          <a:p>
            <a:r>
              <a:rPr lang="en-US" altLang="zh-CN" dirty="0"/>
              <a:t>3T </a:t>
            </a:r>
            <a:endParaRPr lang="zh-CN" altLang="en-US" dirty="0"/>
          </a:p>
        </p:txBody>
      </p:sp>
      <p:sp>
        <p:nvSpPr>
          <p:cNvPr id="59" name="文本框 58">
            <a:extLst>
              <a:ext uri="{FF2B5EF4-FFF2-40B4-BE49-F238E27FC236}">
                <a16:creationId xmlns:a16="http://schemas.microsoft.com/office/drawing/2014/main" id="{25F8509F-6AED-4A98-89C2-7DBA6A9AC6C7}"/>
              </a:ext>
            </a:extLst>
          </p:cNvPr>
          <p:cNvSpPr txBox="1"/>
          <p:nvPr/>
        </p:nvSpPr>
        <p:spPr>
          <a:xfrm>
            <a:off x="907976" y="3032038"/>
            <a:ext cx="439496" cy="369332"/>
          </a:xfrm>
          <a:prstGeom prst="rect">
            <a:avLst/>
          </a:prstGeom>
          <a:noFill/>
        </p:spPr>
        <p:txBody>
          <a:bodyPr wrap="square" rtlCol="0">
            <a:spAutoFit/>
          </a:bodyPr>
          <a:lstStyle/>
          <a:p>
            <a:r>
              <a:rPr lang="en-US" altLang="zh-CN" dirty="0"/>
              <a:t>1T </a:t>
            </a:r>
            <a:endParaRPr lang="zh-CN" altLang="en-US" dirty="0"/>
          </a:p>
        </p:txBody>
      </p:sp>
    </p:spTree>
    <p:extLst>
      <p:ext uri="{BB962C8B-B14F-4D97-AF65-F5344CB8AC3E}">
        <p14:creationId xmlns:p14="http://schemas.microsoft.com/office/powerpoint/2010/main" val="96784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wipe(left)">
                                      <p:cBhvr>
                                        <p:cTn id="7" dur="5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wipe(left)">
                                      <p:cBhvr>
                                        <p:cTn id="12" dur="500"/>
                                        <p:tgtEl>
                                          <p:spTgt spid="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wipe(up)">
                                      <p:cBhvr>
                                        <p:cTn id="1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7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1</a:t>
            </a:r>
            <a:r>
              <a:rPr lang="zh-CN" altLang="en-US" b="1" dirty="0"/>
              <a:t>）</a:t>
            </a:r>
          </a:p>
        </p:txBody>
      </p:sp>
      <p:pic>
        <p:nvPicPr>
          <p:cNvPr id="5" name="图片 4">
            <a:extLst>
              <a:ext uri="{FF2B5EF4-FFF2-40B4-BE49-F238E27FC236}">
                <a16:creationId xmlns:a16="http://schemas.microsoft.com/office/drawing/2014/main" id="{E4A84DE2-621B-4891-A7E1-04607CE30CB2}"/>
              </a:ext>
            </a:extLst>
          </p:cNvPr>
          <p:cNvPicPr>
            <a:picLocks noChangeAspect="1"/>
          </p:cNvPicPr>
          <p:nvPr/>
        </p:nvPicPr>
        <p:blipFill>
          <a:blip r:embed="rId2"/>
          <a:stretch>
            <a:fillRect/>
          </a:stretch>
        </p:blipFill>
        <p:spPr>
          <a:xfrm>
            <a:off x="611560" y="1419728"/>
            <a:ext cx="4176464" cy="2016320"/>
          </a:xfrm>
          <a:prstGeom prst="rect">
            <a:avLst/>
          </a:prstGeom>
        </p:spPr>
      </p:pic>
      <p:pic>
        <p:nvPicPr>
          <p:cNvPr id="7" name="图片 6">
            <a:extLst>
              <a:ext uri="{FF2B5EF4-FFF2-40B4-BE49-F238E27FC236}">
                <a16:creationId xmlns:a16="http://schemas.microsoft.com/office/drawing/2014/main" id="{F5E491B8-B749-419B-8C7B-AD38F43004E3}"/>
              </a:ext>
            </a:extLst>
          </p:cNvPr>
          <p:cNvPicPr>
            <a:picLocks noChangeAspect="1"/>
          </p:cNvPicPr>
          <p:nvPr/>
        </p:nvPicPr>
        <p:blipFill>
          <a:blip r:embed="rId3"/>
          <a:stretch>
            <a:fillRect/>
          </a:stretch>
        </p:blipFill>
        <p:spPr>
          <a:xfrm>
            <a:off x="611560" y="3717032"/>
            <a:ext cx="4215183" cy="2038263"/>
          </a:xfrm>
          <a:prstGeom prst="rect">
            <a:avLst/>
          </a:prstGeom>
        </p:spPr>
      </p:pic>
      <p:pic>
        <p:nvPicPr>
          <p:cNvPr id="9" name="图片 8">
            <a:extLst>
              <a:ext uri="{FF2B5EF4-FFF2-40B4-BE49-F238E27FC236}">
                <a16:creationId xmlns:a16="http://schemas.microsoft.com/office/drawing/2014/main" id="{1FD3D1E5-5EB3-4909-BC4F-3D39669BFDD4}"/>
              </a:ext>
            </a:extLst>
          </p:cNvPr>
          <p:cNvPicPr>
            <a:picLocks noChangeAspect="1"/>
          </p:cNvPicPr>
          <p:nvPr/>
        </p:nvPicPr>
        <p:blipFill>
          <a:blip r:embed="rId4"/>
          <a:stretch>
            <a:fillRect/>
          </a:stretch>
        </p:blipFill>
        <p:spPr>
          <a:xfrm>
            <a:off x="5004048" y="2564904"/>
            <a:ext cx="3923928" cy="1805724"/>
          </a:xfrm>
          <a:prstGeom prst="rect">
            <a:avLst/>
          </a:prstGeom>
        </p:spPr>
      </p:pic>
    </p:spTree>
    <p:extLst>
      <p:ext uri="{BB962C8B-B14F-4D97-AF65-F5344CB8AC3E}">
        <p14:creationId xmlns:p14="http://schemas.microsoft.com/office/powerpoint/2010/main" val="4262924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2</a:t>
            </a:r>
            <a:r>
              <a:rPr lang="zh-CN" altLang="en-US" b="1" dirty="0"/>
              <a:t>）</a:t>
            </a:r>
          </a:p>
        </p:txBody>
      </p:sp>
      <p:pic>
        <p:nvPicPr>
          <p:cNvPr id="4" name="图片 3">
            <a:extLst>
              <a:ext uri="{FF2B5EF4-FFF2-40B4-BE49-F238E27FC236}">
                <a16:creationId xmlns:a16="http://schemas.microsoft.com/office/drawing/2014/main" id="{8941291E-394B-48EB-8CDA-61C7002BC3F0}"/>
              </a:ext>
            </a:extLst>
          </p:cNvPr>
          <p:cNvPicPr>
            <a:picLocks noChangeAspect="1"/>
          </p:cNvPicPr>
          <p:nvPr/>
        </p:nvPicPr>
        <p:blipFill>
          <a:blip r:embed="rId2"/>
          <a:stretch>
            <a:fillRect/>
          </a:stretch>
        </p:blipFill>
        <p:spPr>
          <a:xfrm>
            <a:off x="530865" y="1582508"/>
            <a:ext cx="4034948" cy="1799658"/>
          </a:xfrm>
          <a:prstGeom prst="rect">
            <a:avLst/>
          </a:prstGeom>
        </p:spPr>
      </p:pic>
      <p:pic>
        <p:nvPicPr>
          <p:cNvPr id="8" name="图片 7">
            <a:extLst>
              <a:ext uri="{FF2B5EF4-FFF2-40B4-BE49-F238E27FC236}">
                <a16:creationId xmlns:a16="http://schemas.microsoft.com/office/drawing/2014/main" id="{09F3CA0B-8FA1-40BB-9552-1433AAA2D538}"/>
              </a:ext>
            </a:extLst>
          </p:cNvPr>
          <p:cNvPicPr>
            <a:picLocks noChangeAspect="1"/>
          </p:cNvPicPr>
          <p:nvPr/>
        </p:nvPicPr>
        <p:blipFill>
          <a:blip r:embed="rId3"/>
          <a:stretch>
            <a:fillRect/>
          </a:stretch>
        </p:blipFill>
        <p:spPr>
          <a:xfrm>
            <a:off x="611560" y="3982212"/>
            <a:ext cx="4034948" cy="2016224"/>
          </a:xfrm>
          <a:prstGeom prst="rect">
            <a:avLst/>
          </a:prstGeom>
        </p:spPr>
      </p:pic>
      <p:pic>
        <p:nvPicPr>
          <p:cNvPr id="11" name="图片 10">
            <a:extLst>
              <a:ext uri="{FF2B5EF4-FFF2-40B4-BE49-F238E27FC236}">
                <a16:creationId xmlns:a16="http://schemas.microsoft.com/office/drawing/2014/main" id="{7BADA083-11DF-460B-844C-9220048EF4E8}"/>
              </a:ext>
            </a:extLst>
          </p:cNvPr>
          <p:cNvPicPr>
            <a:picLocks noChangeAspect="1"/>
          </p:cNvPicPr>
          <p:nvPr/>
        </p:nvPicPr>
        <p:blipFill>
          <a:blip r:embed="rId4"/>
          <a:stretch>
            <a:fillRect/>
          </a:stretch>
        </p:blipFill>
        <p:spPr>
          <a:xfrm>
            <a:off x="4932040" y="1582508"/>
            <a:ext cx="4034948" cy="2129267"/>
          </a:xfrm>
          <a:prstGeom prst="rect">
            <a:avLst/>
          </a:prstGeom>
        </p:spPr>
      </p:pic>
      <p:pic>
        <p:nvPicPr>
          <p:cNvPr id="13" name="图片 12">
            <a:extLst>
              <a:ext uri="{FF2B5EF4-FFF2-40B4-BE49-F238E27FC236}">
                <a16:creationId xmlns:a16="http://schemas.microsoft.com/office/drawing/2014/main" id="{4B76B290-AD4F-420A-B920-76D24724D9EE}"/>
              </a:ext>
            </a:extLst>
          </p:cNvPr>
          <p:cNvPicPr>
            <a:picLocks noChangeAspect="1"/>
          </p:cNvPicPr>
          <p:nvPr/>
        </p:nvPicPr>
        <p:blipFill>
          <a:blip r:embed="rId5"/>
          <a:stretch>
            <a:fillRect/>
          </a:stretch>
        </p:blipFill>
        <p:spPr>
          <a:xfrm>
            <a:off x="5050904" y="3982212"/>
            <a:ext cx="3635896" cy="1735729"/>
          </a:xfrm>
          <a:prstGeom prst="rect">
            <a:avLst/>
          </a:prstGeom>
        </p:spPr>
      </p:pic>
    </p:spTree>
    <p:extLst>
      <p:ext uri="{BB962C8B-B14F-4D97-AF65-F5344CB8AC3E}">
        <p14:creationId xmlns:p14="http://schemas.microsoft.com/office/powerpoint/2010/main" val="3147585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8442E40-7CE1-46E0-B414-E7EB11EE7DA8}"/>
              </a:ext>
            </a:extLst>
          </p:cNvPr>
          <p:cNvPicPr>
            <a:picLocks noChangeAspect="1"/>
          </p:cNvPicPr>
          <p:nvPr/>
        </p:nvPicPr>
        <p:blipFill>
          <a:blip r:embed="rId2"/>
          <a:stretch>
            <a:fillRect/>
          </a:stretch>
        </p:blipFill>
        <p:spPr>
          <a:xfrm>
            <a:off x="2186733" y="342632"/>
            <a:ext cx="4770533" cy="6172735"/>
          </a:xfrm>
          <a:prstGeom prst="rect">
            <a:avLst/>
          </a:prstGeom>
        </p:spPr>
      </p:pic>
    </p:spTree>
    <p:extLst>
      <p:ext uri="{BB962C8B-B14F-4D97-AF65-F5344CB8AC3E}">
        <p14:creationId xmlns:p14="http://schemas.microsoft.com/office/powerpoint/2010/main" val="1482401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FF77B-5FB8-4059-9175-B374A320E74C}"/>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41D43929-E8E8-49D9-961C-9C7EB3D06F64}"/>
              </a:ext>
            </a:extLst>
          </p:cNvPr>
          <p:cNvSpPr>
            <a:spLocks noGrp="1"/>
          </p:cNvSpPr>
          <p:nvPr>
            <p:ph idx="1"/>
          </p:nvPr>
        </p:nvSpPr>
        <p:spPr/>
        <p:txBody>
          <a:bodyPr/>
          <a:lstStyle/>
          <a:p>
            <a:pPr lvl="1"/>
            <a:r>
              <a:rPr lang="zh-CN" altLang="en-US" sz="2000" b="1" dirty="0"/>
              <a:t>半加器（</a:t>
            </a:r>
            <a:r>
              <a:rPr lang="en-US" altLang="zh-CN" sz="2000" b="1" dirty="0"/>
              <a:t>Half Adder</a:t>
            </a:r>
            <a:r>
              <a:rPr lang="zh-CN" altLang="en-US" sz="2000" b="1" dirty="0"/>
              <a:t>，</a:t>
            </a:r>
            <a:r>
              <a:rPr lang="en-US" altLang="zh-CN" sz="2000" b="1" dirty="0"/>
              <a:t>HA</a:t>
            </a:r>
            <a:r>
              <a:rPr lang="zh-CN" altLang="en-US" sz="2000" b="1" dirty="0"/>
              <a:t>）</a:t>
            </a:r>
            <a:endParaRPr lang="en-US" altLang="zh-CN" sz="2000" b="1" dirty="0"/>
          </a:p>
          <a:p>
            <a:pPr lvl="1"/>
            <a:endParaRPr lang="en-US" altLang="zh-CN" sz="2000" b="1" dirty="0"/>
          </a:p>
          <a:p>
            <a:pPr lvl="2"/>
            <a:r>
              <a:rPr lang="en-US" altLang="zh-CN" sz="1800" b="1" dirty="0"/>
              <a:t>S</a:t>
            </a:r>
            <a:r>
              <a:rPr lang="en-US" altLang="zh-CN" sz="1800" b="1" baseline="-25000" dirty="0"/>
              <a:t>i</a:t>
            </a:r>
            <a:r>
              <a:rPr lang="en-US" altLang="zh-CN" sz="1800" b="1" dirty="0"/>
              <a:t>=</a:t>
            </a:r>
            <a:r>
              <a:rPr lang="en-US" altLang="zh-CN" sz="1800" b="1" dirty="0" err="1"/>
              <a:t>X</a:t>
            </a:r>
            <a:r>
              <a:rPr lang="en-US" altLang="zh-CN" sz="1800" b="1" baseline="-25000" dirty="0" err="1"/>
              <a:t>i</a:t>
            </a:r>
            <a:r>
              <a:rPr lang="en-US" altLang="zh-CN" sz="1800" b="1" dirty="0" err="1">
                <a:latin typeface="等线" panose="02010600030101010101" pitchFamily="2" charset="-122"/>
                <a:ea typeface="等线" panose="02010600030101010101" pitchFamily="2" charset="-122"/>
              </a:rPr>
              <a:t>⊕</a:t>
            </a:r>
            <a:r>
              <a:rPr lang="en-US" altLang="zh-CN" sz="1800" b="1" dirty="0" err="1"/>
              <a:t>Y</a:t>
            </a:r>
            <a:r>
              <a:rPr lang="en-US" altLang="zh-CN" sz="1800" b="1" baseline="-25000" dirty="0" err="1"/>
              <a:t>i</a:t>
            </a:r>
            <a:endParaRPr lang="en-US" altLang="zh-CN" sz="1800" b="1" baseline="-25000" dirty="0"/>
          </a:p>
          <a:p>
            <a:pPr lvl="2"/>
            <a:endParaRPr lang="en-US" altLang="zh-CN" sz="1800" b="1" dirty="0"/>
          </a:p>
          <a:p>
            <a:pPr lvl="2"/>
            <a:r>
              <a:rPr lang="en-US" altLang="zh-CN" sz="1800" b="1" dirty="0"/>
              <a:t>C</a:t>
            </a:r>
            <a:r>
              <a:rPr lang="en-US" altLang="zh-CN" sz="1800" b="1" baseline="-25000" dirty="0"/>
              <a:t>i+1</a:t>
            </a:r>
            <a:r>
              <a:rPr lang="en-US" altLang="zh-CN" sz="1800" b="1" dirty="0"/>
              <a:t>=</a:t>
            </a:r>
            <a:r>
              <a:rPr lang="en-US" altLang="zh-CN" sz="1800" b="1" dirty="0" err="1"/>
              <a:t>X</a:t>
            </a:r>
            <a:r>
              <a:rPr lang="en-US" altLang="zh-CN" sz="1800" b="1" baseline="-25000" dirty="0" err="1"/>
              <a:t>i</a:t>
            </a:r>
            <a:r>
              <a:rPr lang="en-US" altLang="zh-CN" sz="1800" b="1" dirty="0" err="1"/>
              <a:t>·Y</a:t>
            </a:r>
            <a:r>
              <a:rPr lang="en-US" altLang="zh-CN" sz="1800" b="1" baseline="-25000" dirty="0" err="1"/>
              <a:t>i</a:t>
            </a:r>
            <a:endParaRPr lang="en-US" altLang="zh-CN" sz="1600" b="1" baseline="-25000" dirty="0"/>
          </a:p>
          <a:p>
            <a:pPr lvl="1"/>
            <a:endParaRPr lang="en-US" altLang="zh-CN" sz="2000" b="1" dirty="0"/>
          </a:p>
          <a:p>
            <a:pPr lvl="1"/>
            <a:endParaRPr lang="zh-CN" altLang="en-US" sz="1600" b="1" dirty="0"/>
          </a:p>
        </p:txBody>
      </p:sp>
      <p:graphicFrame>
        <p:nvGraphicFramePr>
          <p:cNvPr id="52" name="表格 52">
            <a:extLst>
              <a:ext uri="{FF2B5EF4-FFF2-40B4-BE49-F238E27FC236}">
                <a16:creationId xmlns:a16="http://schemas.microsoft.com/office/drawing/2014/main" id="{27CC0952-E40C-4491-A2DD-BF93550D47D1}"/>
              </a:ext>
            </a:extLst>
          </p:cNvPr>
          <p:cNvGraphicFramePr>
            <a:graphicFrameLocks noGrp="1"/>
          </p:cNvGraphicFramePr>
          <p:nvPr>
            <p:extLst>
              <p:ext uri="{D42A27DB-BD31-4B8C-83A1-F6EECF244321}">
                <p14:modId xmlns:p14="http://schemas.microsoft.com/office/powerpoint/2010/main" val="2940469976"/>
              </p:ext>
            </p:extLst>
          </p:nvPr>
        </p:nvGraphicFramePr>
        <p:xfrm>
          <a:off x="3418059" y="2105621"/>
          <a:ext cx="3096344" cy="185420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199093647"/>
                    </a:ext>
                  </a:extLst>
                </a:gridCol>
                <a:gridCol w="720080">
                  <a:extLst>
                    <a:ext uri="{9D8B030D-6E8A-4147-A177-3AD203B41FA5}">
                      <a16:colId xmlns:a16="http://schemas.microsoft.com/office/drawing/2014/main" val="1619741427"/>
                    </a:ext>
                  </a:extLst>
                </a:gridCol>
                <a:gridCol w="741355">
                  <a:extLst>
                    <a:ext uri="{9D8B030D-6E8A-4147-A177-3AD203B41FA5}">
                      <a16:colId xmlns:a16="http://schemas.microsoft.com/office/drawing/2014/main" val="3259034753"/>
                    </a:ext>
                  </a:extLst>
                </a:gridCol>
                <a:gridCol w="914829">
                  <a:extLst>
                    <a:ext uri="{9D8B030D-6E8A-4147-A177-3AD203B41FA5}">
                      <a16:colId xmlns:a16="http://schemas.microsoft.com/office/drawing/2014/main" val="4166612373"/>
                    </a:ext>
                  </a:extLst>
                </a:gridCol>
              </a:tblGrid>
              <a:tr h="370840">
                <a:tc>
                  <a:txBody>
                    <a:bodyPr/>
                    <a:lstStyle/>
                    <a:p>
                      <a:pPr algn="ctr"/>
                      <a:r>
                        <a:rPr lang="en-US" altLang="zh-CN" b="1" dirty="0"/>
                        <a:t>X</a:t>
                      </a:r>
                      <a:r>
                        <a:rPr lang="en-US" altLang="zh-CN" b="1" baseline="-25000" dirty="0"/>
                        <a:t>i</a:t>
                      </a:r>
                      <a:endParaRPr lang="zh-CN" altLang="en-US" b="1" baseline="-25000" dirty="0"/>
                    </a:p>
                  </a:txBody>
                  <a:tcPr>
                    <a:solidFill>
                      <a:schemeClr val="tx1">
                        <a:lumMod val="75000"/>
                        <a:lumOff val="25000"/>
                      </a:schemeClr>
                    </a:solidFill>
                  </a:tcPr>
                </a:tc>
                <a:tc>
                  <a:txBody>
                    <a:bodyPr/>
                    <a:lstStyle/>
                    <a:p>
                      <a:pPr algn="ctr"/>
                      <a:r>
                        <a:rPr lang="en-US" altLang="zh-CN" b="1" dirty="0"/>
                        <a:t>Y</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S</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C</a:t>
                      </a:r>
                      <a:r>
                        <a:rPr lang="en-US" altLang="zh-CN" sz="1800" b="1" kern="1200" baseline="-25000" dirty="0">
                          <a:solidFill>
                            <a:schemeClr val="lt1"/>
                          </a:solidFill>
                          <a:latin typeface="+mn-lt"/>
                          <a:ea typeface="+mn-ea"/>
                          <a:cs typeface="+mn-cs"/>
                        </a:rPr>
                        <a:t>i</a:t>
                      </a:r>
                      <a:r>
                        <a:rPr lang="en-US" altLang="zh-CN" b="1" baseline="-25000" dirty="0"/>
                        <a:t>+1</a:t>
                      </a:r>
                      <a:endParaRPr lang="zh-CN" altLang="en-US" b="1" baseline="-25000" dirty="0"/>
                    </a:p>
                  </a:txBody>
                  <a:tcPr>
                    <a:solidFill>
                      <a:schemeClr val="tx1">
                        <a:lumMod val="75000"/>
                        <a:lumOff val="25000"/>
                      </a:schemeClr>
                    </a:solidFill>
                  </a:tcPr>
                </a:tc>
                <a:extLst>
                  <a:ext uri="{0D108BD9-81ED-4DB2-BD59-A6C34878D82A}">
                    <a16:rowId xmlns:a16="http://schemas.microsoft.com/office/drawing/2014/main" val="3863426135"/>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540509898"/>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709158263"/>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2656618360"/>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2591553980"/>
                  </a:ext>
                </a:extLst>
              </a:tr>
            </a:tbl>
          </a:graphicData>
        </a:graphic>
      </p:graphicFrame>
      <p:grpSp>
        <p:nvGrpSpPr>
          <p:cNvPr id="74" name="组合 73">
            <a:extLst>
              <a:ext uri="{FF2B5EF4-FFF2-40B4-BE49-F238E27FC236}">
                <a16:creationId xmlns:a16="http://schemas.microsoft.com/office/drawing/2014/main" id="{19466D0C-FD65-4733-98BD-E6D63F33BD3B}"/>
              </a:ext>
            </a:extLst>
          </p:cNvPr>
          <p:cNvGrpSpPr/>
          <p:nvPr/>
        </p:nvGrpSpPr>
        <p:grpSpPr>
          <a:xfrm>
            <a:off x="3419872" y="4193897"/>
            <a:ext cx="3280869" cy="1788911"/>
            <a:chOff x="2016998" y="3896461"/>
            <a:chExt cx="3280869" cy="1788911"/>
          </a:xfrm>
        </p:grpSpPr>
        <p:grpSp>
          <p:nvGrpSpPr>
            <p:cNvPr id="75" name="组合 74">
              <a:extLst>
                <a:ext uri="{FF2B5EF4-FFF2-40B4-BE49-F238E27FC236}">
                  <a16:creationId xmlns:a16="http://schemas.microsoft.com/office/drawing/2014/main" id="{F0894F44-E569-4E87-A29C-546C2EDC7FA9}"/>
                </a:ext>
              </a:extLst>
            </p:cNvPr>
            <p:cNvGrpSpPr/>
            <p:nvPr/>
          </p:nvGrpSpPr>
          <p:grpSpPr>
            <a:xfrm>
              <a:off x="2123728" y="3896461"/>
              <a:ext cx="3174139" cy="1788911"/>
              <a:chOff x="2123728" y="3896461"/>
              <a:chExt cx="3174139" cy="1788911"/>
            </a:xfrm>
          </p:grpSpPr>
          <p:pic>
            <p:nvPicPr>
              <p:cNvPr id="80" name="Picture 2">
                <a:extLst>
                  <a:ext uri="{FF2B5EF4-FFF2-40B4-BE49-F238E27FC236}">
                    <a16:creationId xmlns:a16="http://schemas.microsoft.com/office/drawing/2014/main" id="{D7E28E35-C07F-4086-ACD5-14A410279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96461"/>
                <a:ext cx="2787774" cy="1548763"/>
              </a:xfrm>
              <a:prstGeom prst="rect">
                <a:avLst/>
              </a:prstGeom>
              <a:noFill/>
              <a:extLst>
                <a:ext uri="{909E8E84-426E-40DD-AFC4-6F175D3DCCD1}">
                  <a14:hiddenFill xmlns:a14="http://schemas.microsoft.com/office/drawing/2010/main">
                    <a:solidFill>
                      <a:srgbClr val="FFFFFF"/>
                    </a:solidFill>
                  </a14:hiddenFill>
                </a:ext>
              </a:extLst>
            </p:spPr>
          </p:pic>
          <p:pic>
            <p:nvPicPr>
              <p:cNvPr id="81" name="图片 80">
                <a:extLst>
                  <a:ext uri="{FF2B5EF4-FFF2-40B4-BE49-F238E27FC236}">
                    <a16:creationId xmlns:a16="http://schemas.microsoft.com/office/drawing/2014/main" id="{FE262831-A056-4270-BA9D-0152348324EC}"/>
                  </a:ext>
                </a:extLst>
              </p:cNvPr>
              <p:cNvPicPr>
                <a:picLocks noChangeAspect="1"/>
              </p:cNvPicPr>
              <p:nvPr/>
            </p:nvPicPr>
            <p:blipFill>
              <a:blip r:embed="rId3"/>
              <a:stretch>
                <a:fillRect/>
              </a:stretch>
            </p:blipFill>
            <p:spPr>
              <a:xfrm>
                <a:off x="4110356" y="5259900"/>
                <a:ext cx="1187511" cy="425472"/>
              </a:xfrm>
              <a:prstGeom prst="rect">
                <a:avLst/>
              </a:prstGeom>
            </p:spPr>
          </p:pic>
        </p:grpSp>
        <p:sp>
          <p:nvSpPr>
            <p:cNvPr id="76" name="文本框 75">
              <a:extLst>
                <a:ext uri="{FF2B5EF4-FFF2-40B4-BE49-F238E27FC236}">
                  <a16:creationId xmlns:a16="http://schemas.microsoft.com/office/drawing/2014/main" id="{0D3A5250-BF21-4DA2-B286-19D5D3D2A07B}"/>
                </a:ext>
              </a:extLst>
            </p:cNvPr>
            <p:cNvSpPr txBox="1"/>
            <p:nvPr/>
          </p:nvSpPr>
          <p:spPr>
            <a:xfrm>
              <a:off x="2016998" y="3903839"/>
              <a:ext cx="360040" cy="369332"/>
            </a:xfrm>
            <a:prstGeom prst="rect">
              <a:avLst/>
            </a:prstGeom>
            <a:solidFill>
              <a:schemeClr val="bg1"/>
            </a:solidFill>
          </p:spPr>
          <p:txBody>
            <a:bodyPr wrap="square">
              <a:spAutoFit/>
            </a:bodyPr>
            <a:lstStyle/>
            <a:p>
              <a:r>
                <a:rPr lang="en-US" altLang="zh-CN" sz="1800" b="1" dirty="0"/>
                <a:t>X</a:t>
              </a:r>
              <a:r>
                <a:rPr lang="en-US" altLang="zh-CN" sz="1800" b="1" baseline="-25000" dirty="0"/>
                <a:t>i</a:t>
              </a:r>
              <a:endParaRPr lang="zh-CN" altLang="en-US" dirty="0"/>
            </a:p>
          </p:txBody>
        </p:sp>
        <p:sp>
          <p:nvSpPr>
            <p:cNvPr id="77" name="文本框 76">
              <a:extLst>
                <a:ext uri="{FF2B5EF4-FFF2-40B4-BE49-F238E27FC236}">
                  <a16:creationId xmlns:a16="http://schemas.microsoft.com/office/drawing/2014/main" id="{9EEB2EB3-A62D-4545-B2E6-6C41AFF87B36}"/>
                </a:ext>
              </a:extLst>
            </p:cNvPr>
            <p:cNvSpPr txBox="1"/>
            <p:nvPr/>
          </p:nvSpPr>
          <p:spPr>
            <a:xfrm>
              <a:off x="2028572" y="4221088"/>
              <a:ext cx="360040" cy="369332"/>
            </a:xfrm>
            <a:prstGeom prst="rect">
              <a:avLst/>
            </a:prstGeom>
            <a:solidFill>
              <a:schemeClr val="bg1"/>
            </a:solidFill>
          </p:spPr>
          <p:txBody>
            <a:bodyPr wrap="square">
              <a:spAutoFit/>
            </a:bodyPr>
            <a:lstStyle/>
            <a:p>
              <a:r>
                <a:rPr lang="en-US" altLang="zh-CN" sz="1800" b="1" dirty="0"/>
                <a:t>Y</a:t>
              </a:r>
              <a:r>
                <a:rPr lang="en-US" altLang="zh-CN" sz="1800" b="1" baseline="-25000" dirty="0"/>
                <a:t>i</a:t>
              </a:r>
              <a:endParaRPr lang="zh-CN" altLang="en-US" dirty="0"/>
            </a:p>
          </p:txBody>
        </p:sp>
        <p:sp>
          <p:nvSpPr>
            <p:cNvPr id="78" name="文本框 77">
              <a:extLst>
                <a:ext uri="{FF2B5EF4-FFF2-40B4-BE49-F238E27FC236}">
                  <a16:creationId xmlns:a16="http://schemas.microsoft.com/office/drawing/2014/main" id="{D2EA61AB-2029-40B0-8043-AE790A325DD5}"/>
                </a:ext>
              </a:extLst>
            </p:cNvPr>
            <p:cNvSpPr txBox="1"/>
            <p:nvPr/>
          </p:nvSpPr>
          <p:spPr>
            <a:xfrm>
              <a:off x="4661369" y="4053924"/>
              <a:ext cx="360040" cy="369332"/>
            </a:xfrm>
            <a:prstGeom prst="rect">
              <a:avLst/>
            </a:prstGeom>
            <a:solidFill>
              <a:schemeClr val="bg1"/>
            </a:solidFill>
          </p:spPr>
          <p:txBody>
            <a:bodyPr wrap="square">
              <a:spAutoFit/>
            </a:bodyPr>
            <a:lstStyle/>
            <a:p>
              <a:r>
                <a:rPr lang="en-US" altLang="zh-CN" sz="1800" b="1" dirty="0"/>
                <a:t>S</a:t>
              </a:r>
              <a:r>
                <a:rPr lang="en-US" altLang="zh-CN" sz="1800" b="1" baseline="-25000" dirty="0"/>
                <a:t>i</a:t>
              </a:r>
              <a:endParaRPr lang="zh-CN" altLang="en-US" dirty="0"/>
            </a:p>
          </p:txBody>
        </p:sp>
        <p:sp>
          <p:nvSpPr>
            <p:cNvPr id="79" name="文本框 78">
              <a:extLst>
                <a:ext uri="{FF2B5EF4-FFF2-40B4-BE49-F238E27FC236}">
                  <a16:creationId xmlns:a16="http://schemas.microsoft.com/office/drawing/2014/main" id="{47F93927-DEBE-4292-A109-89259B195C9C}"/>
                </a:ext>
              </a:extLst>
            </p:cNvPr>
            <p:cNvSpPr txBox="1"/>
            <p:nvPr/>
          </p:nvSpPr>
          <p:spPr>
            <a:xfrm>
              <a:off x="4644008" y="4908728"/>
              <a:ext cx="504056" cy="369332"/>
            </a:xfrm>
            <a:prstGeom prst="rect">
              <a:avLst/>
            </a:prstGeom>
            <a:solidFill>
              <a:schemeClr val="bg1"/>
            </a:solidFill>
          </p:spPr>
          <p:txBody>
            <a:bodyPr wrap="square">
              <a:spAutoFit/>
            </a:bodyPr>
            <a:lstStyle/>
            <a:p>
              <a:r>
                <a:rPr lang="en-US" altLang="zh-CN" sz="1800" b="1" dirty="0"/>
                <a:t>C</a:t>
              </a:r>
              <a:r>
                <a:rPr lang="en-US" altLang="zh-CN" sz="1800" b="1" baseline="-25000" dirty="0"/>
                <a:t>i+1</a:t>
              </a:r>
              <a:endParaRPr lang="zh-CN" altLang="en-US" dirty="0"/>
            </a:p>
          </p:txBody>
        </p:sp>
      </p:grpSp>
    </p:spTree>
    <p:extLst>
      <p:ext uri="{BB962C8B-B14F-4D97-AF65-F5344CB8AC3E}">
        <p14:creationId xmlns:p14="http://schemas.microsoft.com/office/powerpoint/2010/main" val="118378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28D176C6-82FB-4AA3-B65E-D23E1C986CC9}"/>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p:txBody>
          <a:bodyPr/>
          <a:lstStyle/>
          <a:p>
            <a:pPr lvl="1"/>
            <a:r>
              <a:rPr lang="en-US" altLang="zh-CN" sz="2000" b="1" dirty="0"/>
              <a:t>2</a:t>
            </a:r>
            <a:r>
              <a:rPr lang="zh-CN" altLang="en-US" sz="2000" b="1" dirty="0"/>
              <a:t>、多位串行加法器</a:t>
            </a:r>
            <a:endParaRPr lang="en-US" altLang="zh-CN" sz="2000" b="1" dirty="0"/>
          </a:p>
          <a:p>
            <a:pPr lvl="2"/>
            <a:endParaRPr lang="en-US" altLang="zh-CN" sz="1600" b="1" dirty="0"/>
          </a:p>
          <a:p>
            <a:pPr lvl="2"/>
            <a:r>
              <a:rPr lang="zh-CN" altLang="en-US" sz="1600" b="1" dirty="0"/>
              <a:t>也称为行波进位加法器（</a:t>
            </a:r>
            <a:r>
              <a:rPr lang="en-US" altLang="zh-CN" sz="1600" b="1" dirty="0"/>
              <a:t>Ripple Carry</a:t>
            </a:r>
            <a:r>
              <a:rPr lang="zh-CN" altLang="en-US" sz="1600" b="1" dirty="0"/>
              <a:t> </a:t>
            </a:r>
            <a:r>
              <a:rPr lang="en-US" altLang="zh-CN" sz="1600" b="1" dirty="0"/>
              <a:t>Adder</a:t>
            </a:r>
            <a:r>
              <a:rPr lang="zh-CN" altLang="en-US" sz="1600" b="1" dirty="0"/>
              <a:t>）</a:t>
            </a:r>
            <a:endParaRPr lang="en-US" altLang="zh-CN" sz="1600" b="1" dirty="0"/>
          </a:p>
          <a:p>
            <a:pPr lvl="2"/>
            <a:endParaRPr lang="en-US" altLang="zh-CN" sz="1600" b="1" dirty="0"/>
          </a:p>
          <a:p>
            <a:pPr lvl="2"/>
            <a:r>
              <a:rPr lang="zh-CN" altLang="en-US" sz="1600" b="1" dirty="0"/>
              <a:t>无符号加法：溢出标志</a:t>
            </a:r>
            <a:r>
              <a:rPr lang="en-US" altLang="zh-CN" sz="1600" b="1" dirty="0"/>
              <a:t>V = C</a:t>
            </a:r>
            <a:r>
              <a:rPr lang="en-US" altLang="zh-CN" sz="1600" b="1" baseline="-25000" dirty="0"/>
              <a:t>n</a:t>
            </a:r>
          </a:p>
          <a:p>
            <a:pPr lvl="2"/>
            <a:r>
              <a:rPr lang="zh-CN" altLang="en-US" sz="1600" b="1" dirty="0"/>
              <a:t>有符号加法：溢出标志</a:t>
            </a:r>
            <a:r>
              <a:rPr lang="en-US" altLang="zh-CN" sz="1600" b="1" dirty="0"/>
              <a:t>V</a:t>
            </a:r>
            <a:r>
              <a:rPr lang="zh-CN" altLang="en-US" sz="1600" b="1" dirty="0"/>
              <a:t> </a:t>
            </a:r>
            <a:r>
              <a:rPr lang="en-US" altLang="zh-CN" sz="1600" b="1" dirty="0"/>
              <a:t>= 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p>
          <a:p>
            <a:pPr lvl="2"/>
            <a:endParaRPr lang="en-US" altLang="zh-CN" sz="1600" b="1" dirty="0"/>
          </a:p>
          <a:p>
            <a:pPr lvl="2"/>
            <a:r>
              <a:rPr lang="zh-CN" altLang="en-US" sz="1600" b="1" dirty="0"/>
              <a:t>教材中图</a:t>
            </a:r>
            <a:r>
              <a:rPr lang="en-US" altLang="zh-CN" sz="1600" b="1" dirty="0"/>
              <a:t>3.3</a:t>
            </a:r>
            <a:r>
              <a:rPr lang="zh-CN" altLang="en-US" sz="1600" b="1" dirty="0"/>
              <a:t>上的时间延迟请同学们自行分析</a:t>
            </a:r>
            <a:endParaRPr lang="en-US" altLang="zh-CN" sz="16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6" name="文本框 5">
            <a:extLst>
              <a:ext uri="{FF2B5EF4-FFF2-40B4-BE49-F238E27FC236}">
                <a16:creationId xmlns:a16="http://schemas.microsoft.com/office/drawing/2014/main" id="{BF3DF4ED-4B0D-4E4C-B707-3CA82380D852}"/>
              </a:ext>
            </a:extLst>
          </p:cNvPr>
          <p:cNvSpPr txBox="1"/>
          <p:nvPr/>
        </p:nvSpPr>
        <p:spPr>
          <a:xfrm>
            <a:off x="4633083" y="1843049"/>
            <a:ext cx="4104456"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200" b="1" dirty="0">
                <a:solidFill>
                  <a:srgbClr val="C00000"/>
                </a:solidFill>
              </a:rPr>
              <a:t>最高数据位的进位（</a:t>
            </a:r>
            <a:r>
              <a:rPr lang="en-US" altLang="zh-CN" sz="1200" b="1" dirty="0">
                <a:solidFill>
                  <a:srgbClr val="C00000"/>
                </a:solidFill>
              </a:rPr>
              <a:t>C</a:t>
            </a:r>
            <a:r>
              <a:rPr lang="en-US" altLang="zh-CN" sz="1200" b="1" baseline="-25000" dirty="0">
                <a:solidFill>
                  <a:srgbClr val="C00000"/>
                </a:solidFill>
              </a:rPr>
              <a:t>n-1</a:t>
            </a:r>
            <a:r>
              <a:rPr lang="zh-CN" altLang="en-US" sz="1200" b="1" dirty="0">
                <a:solidFill>
                  <a:srgbClr val="C00000"/>
                </a:solidFill>
              </a:rPr>
              <a:t>）与符号位的进位（</a:t>
            </a:r>
            <a:r>
              <a:rPr lang="en-US" altLang="zh-CN" sz="1200" b="1" dirty="0">
                <a:solidFill>
                  <a:srgbClr val="C00000"/>
                </a:solidFill>
              </a:rPr>
              <a:t>C</a:t>
            </a:r>
            <a:r>
              <a:rPr lang="en-US" altLang="zh-CN" sz="1200" b="1" baseline="-25000" dirty="0">
                <a:solidFill>
                  <a:srgbClr val="C00000"/>
                </a:solidFill>
              </a:rPr>
              <a:t>n</a:t>
            </a:r>
            <a:r>
              <a:rPr lang="zh-CN" altLang="en-US" sz="1200" b="1" dirty="0">
                <a:solidFill>
                  <a:srgbClr val="C00000"/>
                </a:solidFill>
              </a:rPr>
              <a:t>）是否一致</a:t>
            </a:r>
            <a:endParaRPr lang="zh-CN" altLang="en-US" sz="1200" dirty="0">
              <a:solidFill>
                <a:srgbClr val="C00000"/>
              </a:solidFill>
            </a:endParaRPr>
          </a:p>
        </p:txBody>
      </p:sp>
      <p:grpSp>
        <p:nvGrpSpPr>
          <p:cNvPr id="4" name="组合 3">
            <a:extLst>
              <a:ext uri="{FF2B5EF4-FFF2-40B4-BE49-F238E27FC236}">
                <a16:creationId xmlns:a16="http://schemas.microsoft.com/office/drawing/2014/main" id="{A826D0CF-2D2E-46B7-A5A6-07DA99CE2ACA}"/>
              </a:ext>
            </a:extLst>
          </p:cNvPr>
          <p:cNvGrpSpPr/>
          <p:nvPr/>
        </p:nvGrpSpPr>
        <p:grpSpPr>
          <a:xfrm>
            <a:off x="853640" y="2852936"/>
            <a:ext cx="7102736" cy="3456384"/>
            <a:chOff x="853640" y="3068960"/>
            <a:chExt cx="7102736" cy="3456384"/>
          </a:xfrm>
        </p:grpSpPr>
        <p:pic>
          <p:nvPicPr>
            <p:cNvPr id="5" name="图片 4">
              <a:extLst>
                <a:ext uri="{FF2B5EF4-FFF2-40B4-BE49-F238E27FC236}">
                  <a16:creationId xmlns:a16="http://schemas.microsoft.com/office/drawing/2014/main" id="{71CDBA97-0817-4E5E-8863-9ECB7B51FF56}"/>
                </a:ext>
              </a:extLst>
            </p:cNvPr>
            <p:cNvPicPr>
              <a:picLocks noChangeAspect="1"/>
            </p:cNvPicPr>
            <p:nvPr/>
          </p:nvPicPr>
          <p:blipFill>
            <a:blip r:embed="rId2"/>
            <a:stretch>
              <a:fillRect/>
            </a:stretch>
          </p:blipFill>
          <p:spPr>
            <a:xfrm>
              <a:off x="853640" y="3068960"/>
              <a:ext cx="7102736" cy="3456384"/>
            </a:xfrm>
            <a:prstGeom prst="rect">
              <a:avLst/>
            </a:prstGeom>
          </p:spPr>
        </p:pic>
        <p:sp>
          <p:nvSpPr>
            <p:cNvPr id="2" name="文本框 1">
              <a:extLst>
                <a:ext uri="{FF2B5EF4-FFF2-40B4-BE49-F238E27FC236}">
                  <a16:creationId xmlns:a16="http://schemas.microsoft.com/office/drawing/2014/main" id="{8AC770F2-3CEC-4197-A5E4-80206B9AC5A7}"/>
                </a:ext>
              </a:extLst>
            </p:cNvPr>
            <p:cNvSpPr txBox="1"/>
            <p:nvPr/>
          </p:nvSpPr>
          <p:spPr>
            <a:xfrm>
              <a:off x="1512868" y="3082008"/>
              <a:ext cx="1166808" cy="338554"/>
            </a:xfrm>
            <a:prstGeom prst="rect">
              <a:avLst/>
            </a:prstGeom>
            <a:solidFill>
              <a:schemeClr val="bg1"/>
            </a:solidFill>
          </p:spPr>
          <p:txBody>
            <a:bodyPr wrap="square" rtlCol="0">
              <a:spAutoFit/>
            </a:bodyPr>
            <a:lstStyle/>
            <a:p>
              <a:pPr algn="ctr"/>
              <a:r>
                <a:rPr lang="en-US" altLang="zh-CN" sz="1600" b="1" dirty="0">
                  <a:solidFill>
                    <a:srgbClr val="C00000"/>
                  </a:solidFill>
                </a:rPr>
                <a:t>V </a:t>
              </a:r>
              <a:r>
                <a:rPr lang="en-US" altLang="zh-CN" sz="1600" b="1" dirty="0"/>
                <a:t>             </a:t>
              </a:r>
              <a:endParaRPr lang="zh-CN" altLang="en-US" sz="1600" b="1" dirty="0"/>
            </a:p>
          </p:txBody>
        </p:sp>
      </p:grpSp>
      <p:sp>
        <p:nvSpPr>
          <p:cNvPr id="8" name="文本框 7">
            <a:extLst>
              <a:ext uri="{FF2B5EF4-FFF2-40B4-BE49-F238E27FC236}">
                <a16:creationId xmlns:a16="http://schemas.microsoft.com/office/drawing/2014/main" id="{3018C78A-2640-4B27-86E5-516C6CDA8449}"/>
              </a:ext>
            </a:extLst>
          </p:cNvPr>
          <p:cNvSpPr txBox="1"/>
          <p:nvPr/>
        </p:nvSpPr>
        <p:spPr>
          <a:xfrm>
            <a:off x="3491880" y="6381328"/>
            <a:ext cx="1931939" cy="307777"/>
          </a:xfrm>
          <a:prstGeom prst="rect">
            <a:avLst/>
          </a:prstGeom>
          <a:noFill/>
        </p:spPr>
        <p:txBody>
          <a:bodyPr wrap="none" rtlCol="0">
            <a:spAutoFit/>
          </a:bodyPr>
          <a:lstStyle/>
          <a:p>
            <a:r>
              <a:rPr lang="zh-CN" altLang="en-US" sz="1400" b="1" dirty="0"/>
              <a:t>图</a:t>
            </a:r>
            <a:r>
              <a:rPr lang="en-US" altLang="zh-CN" sz="1400" b="1" dirty="0"/>
              <a:t>3.3  </a:t>
            </a:r>
            <a:r>
              <a:rPr lang="zh-CN" altLang="en-US" sz="1400" b="1" dirty="0"/>
              <a:t>多位串行加法器</a:t>
            </a:r>
          </a:p>
        </p:txBody>
      </p:sp>
      <p:sp>
        <p:nvSpPr>
          <p:cNvPr id="9" name="圆角矩形标注 8"/>
          <p:cNvSpPr/>
          <p:nvPr/>
        </p:nvSpPr>
        <p:spPr>
          <a:xfrm>
            <a:off x="782444" y="3100199"/>
            <a:ext cx="926499" cy="288963"/>
          </a:xfrm>
          <a:prstGeom prst="wedgeRoundRectCallout">
            <a:avLst>
              <a:gd name="adj1" fmla="val 72902"/>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异或门</a:t>
            </a:r>
          </a:p>
        </p:txBody>
      </p:sp>
      <p:sp>
        <p:nvSpPr>
          <p:cNvPr id="11" name="文本框 10">
            <a:extLst>
              <a:ext uri="{FF2B5EF4-FFF2-40B4-BE49-F238E27FC236}">
                <a16:creationId xmlns:a16="http://schemas.microsoft.com/office/drawing/2014/main" id="{F325B4A5-CB17-4802-B483-AECF30D58FE1}"/>
              </a:ext>
            </a:extLst>
          </p:cNvPr>
          <p:cNvSpPr txBox="1"/>
          <p:nvPr/>
        </p:nvSpPr>
        <p:spPr>
          <a:xfrm>
            <a:off x="7099555" y="3578673"/>
            <a:ext cx="432048" cy="369332"/>
          </a:xfrm>
          <a:prstGeom prst="rect">
            <a:avLst/>
          </a:prstGeom>
          <a:noFill/>
        </p:spPr>
        <p:txBody>
          <a:bodyPr wrap="square" rtlCol="0">
            <a:spAutoFit/>
          </a:bodyPr>
          <a:lstStyle/>
          <a:p>
            <a:r>
              <a:rPr lang="en-US" altLang="zh-CN" dirty="0">
                <a:solidFill>
                  <a:srgbClr val="C00000"/>
                </a:solidFill>
              </a:rPr>
              <a:t>6T</a:t>
            </a:r>
            <a:endParaRPr lang="zh-CN" altLang="en-US" dirty="0">
              <a:solidFill>
                <a:srgbClr val="C00000"/>
              </a:solidFill>
            </a:endParaRPr>
          </a:p>
        </p:txBody>
      </p:sp>
      <p:sp>
        <p:nvSpPr>
          <p:cNvPr id="12" name="文本框 11">
            <a:extLst>
              <a:ext uri="{FF2B5EF4-FFF2-40B4-BE49-F238E27FC236}">
                <a16:creationId xmlns:a16="http://schemas.microsoft.com/office/drawing/2014/main" id="{0C555787-75B1-40C9-B600-AC2BE6A3F0B5}"/>
              </a:ext>
            </a:extLst>
          </p:cNvPr>
          <p:cNvSpPr txBox="1"/>
          <p:nvPr/>
        </p:nvSpPr>
        <p:spPr>
          <a:xfrm>
            <a:off x="6253263" y="3922515"/>
            <a:ext cx="432048" cy="369332"/>
          </a:xfrm>
          <a:prstGeom prst="rect">
            <a:avLst/>
          </a:prstGeom>
          <a:noFill/>
        </p:spPr>
        <p:txBody>
          <a:bodyPr wrap="square" rtlCol="0">
            <a:spAutoFit/>
          </a:bodyPr>
          <a:lstStyle/>
          <a:p>
            <a:r>
              <a:rPr lang="en-US" altLang="zh-CN" dirty="0">
                <a:solidFill>
                  <a:srgbClr val="C00000"/>
                </a:solidFill>
              </a:rPr>
              <a:t>5T</a:t>
            </a:r>
            <a:endParaRPr lang="zh-CN" altLang="en-US" dirty="0">
              <a:solidFill>
                <a:srgbClr val="C00000"/>
              </a:solidFill>
            </a:endParaRPr>
          </a:p>
        </p:txBody>
      </p:sp>
      <p:sp>
        <p:nvSpPr>
          <p:cNvPr id="13" name="文本框 12">
            <a:extLst>
              <a:ext uri="{FF2B5EF4-FFF2-40B4-BE49-F238E27FC236}">
                <a16:creationId xmlns:a16="http://schemas.microsoft.com/office/drawing/2014/main" id="{59563992-15C0-4B32-B17B-7FCF337F9FC0}"/>
              </a:ext>
            </a:extLst>
          </p:cNvPr>
          <p:cNvSpPr txBox="1"/>
          <p:nvPr/>
        </p:nvSpPr>
        <p:spPr>
          <a:xfrm>
            <a:off x="5090791" y="3925953"/>
            <a:ext cx="432048"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
        <p:nvSpPr>
          <p:cNvPr id="14" name="文本框 13">
            <a:extLst>
              <a:ext uri="{FF2B5EF4-FFF2-40B4-BE49-F238E27FC236}">
                <a16:creationId xmlns:a16="http://schemas.microsoft.com/office/drawing/2014/main" id="{0BEE33D3-3C71-4F62-A4D6-3746888FFE5D}"/>
              </a:ext>
            </a:extLst>
          </p:cNvPr>
          <p:cNvSpPr txBox="1"/>
          <p:nvPr/>
        </p:nvSpPr>
        <p:spPr>
          <a:xfrm>
            <a:off x="5840291" y="3566558"/>
            <a:ext cx="432048" cy="369332"/>
          </a:xfrm>
          <a:prstGeom prst="rect">
            <a:avLst/>
          </a:prstGeom>
          <a:noFill/>
        </p:spPr>
        <p:txBody>
          <a:bodyPr wrap="square" rtlCol="0">
            <a:spAutoFit/>
          </a:bodyPr>
          <a:lstStyle/>
          <a:p>
            <a:r>
              <a:rPr lang="en-US" altLang="zh-CN" dirty="0">
                <a:solidFill>
                  <a:srgbClr val="C00000"/>
                </a:solidFill>
              </a:rPr>
              <a:t>8T</a:t>
            </a:r>
            <a:endParaRPr lang="zh-CN" altLang="en-US" dirty="0">
              <a:solidFill>
                <a:srgbClr val="C00000"/>
              </a:solidFill>
            </a:endParaRPr>
          </a:p>
        </p:txBody>
      </p:sp>
      <p:sp>
        <p:nvSpPr>
          <p:cNvPr id="15" name="文本框 14">
            <a:extLst>
              <a:ext uri="{FF2B5EF4-FFF2-40B4-BE49-F238E27FC236}">
                <a16:creationId xmlns:a16="http://schemas.microsoft.com/office/drawing/2014/main" id="{CCBD3602-0BB2-46BE-9FAC-E5A8A313E839}"/>
              </a:ext>
            </a:extLst>
          </p:cNvPr>
          <p:cNvSpPr txBox="1"/>
          <p:nvPr/>
        </p:nvSpPr>
        <p:spPr>
          <a:xfrm>
            <a:off x="2886968" y="3537550"/>
            <a:ext cx="902947" cy="369332"/>
          </a:xfrm>
          <a:prstGeom prst="rect">
            <a:avLst/>
          </a:prstGeom>
          <a:noFill/>
        </p:spPr>
        <p:txBody>
          <a:bodyPr wrap="square" rtlCol="0">
            <a:spAutoFit/>
          </a:bodyPr>
          <a:lstStyle/>
          <a:p>
            <a:r>
              <a:rPr lang="en-US" altLang="zh-CN" dirty="0">
                <a:solidFill>
                  <a:srgbClr val="C00000"/>
                </a:solidFill>
              </a:rPr>
              <a:t>(2n+4)T</a:t>
            </a:r>
            <a:endParaRPr lang="zh-CN" altLang="en-US" dirty="0">
              <a:solidFill>
                <a:srgbClr val="C00000"/>
              </a:solidFill>
            </a:endParaRPr>
          </a:p>
        </p:txBody>
      </p:sp>
      <p:sp>
        <p:nvSpPr>
          <p:cNvPr id="16" name="文本框 15">
            <a:extLst>
              <a:ext uri="{FF2B5EF4-FFF2-40B4-BE49-F238E27FC236}">
                <a16:creationId xmlns:a16="http://schemas.microsoft.com/office/drawing/2014/main" id="{1D6AA881-7CD7-4135-960D-03922CF055F1}"/>
              </a:ext>
            </a:extLst>
          </p:cNvPr>
          <p:cNvSpPr txBox="1"/>
          <p:nvPr/>
        </p:nvSpPr>
        <p:spPr>
          <a:xfrm>
            <a:off x="1644798" y="4343359"/>
            <a:ext cx="902947" cy="369332"/>
          </a:xfrm>
          <a:prstGeom prst="rect">
            <a:avLst/>
          </a:prstGeom>
          <a:noFill/>
        </p:spPr>
        <p:txBody>
          <a:bodyPr wrap="square" rtlCol="0">
            <a:spAutoFit/>
          </a:bodyPr>
          <a:lstStyle/>
          <a:p>
            <a:r>
              <a:rPr lang="en-US" altLang="zh-CN" dirty="0">
                <a:solidFill>
                  <a:srgbClr val="C00000"/>
                </a:solidFill>
              </a:rPr>
              <a:t>(2n+3)T</a:t>
            </a:r>
            <a:endParaRPr lang="zh-CN" altLang="en-US" dirty="0">
              <a:solidFill>
                <a:srgbClr val="C00000"/>
              </a:solidFill>
            </a:endParaRPr>
          </a:p>
        </p:txBody>
      </p:sp>
      <p:sp>
        <p:nvSpPr>
          <p:cNvPr id="17" name="文本框 16">
            <a:extLst>
              <a:ext uri="{FF2B5EF4-FFF2-40B4-BE49-F238E27FC236}">
                <a16:creationId xmlns:a16="http://schemas.microsoft.com/office/drawing/2014/main" id="{AECD95B7-9ED7-48AE-BBAB-80A6991C3CDC}"/>
              </a:ext>
            </a:extLst>
          </p:cNvPr>
          <p:cNvSpPr txBox="1"/>
          <p:nvPr/>
        </p:nvSpPr>
        <p:spPr>
          <a:xfrm>
            <a:off x="2152146" y="3124907"/>
            <a:ext cx="598725" cy="369332"/>
          </a:xfrm>
          <a:prstGeom prst="rect">
            <a:avLst/>
          </a:prstGeom>
          <a:noFill/>
        </p:spPr>
        <p:txBody>
          <a:bodyPr wrap="square" rtlCol="0">
            <a:spAutoFit/>
          </a:bodyPr>
          <a:lstStyle/>
          <a:p>
            <a:r>
              <a:rPr lang="en-US" altLang="zh-CN" dirty="0">
                <a:solidFill>
                  <a:srgbClr val="C00000"/>
                </a:solidFill>
              </a:rPr>
              <a:t>+3T</a:t>
            </a:r>
            <a:endParaRPr lang="zh-CN" altLang="en-US" dirty="0">
              <a:solidFill>
                <a:srgbClr val="C00000"/>
              </a:solidFill>
            </a:endParaRPr>
          </a:p>
        </p:txBody>
      </p:sp>
      <p:sp>
        <p:nvSpPr>
          <p:cNvPr id="19" name="圆角矩形标注 8">
            <a:extLst>
              <a:ext uri="{FF2B5EF4-FFF2-40B4-BE49-F238E27FC236}">
                <a16:creationId xmlns:a16="http://schemas.microsoft.com/office/drawing/2014/main" id="{49F5F445-732D-4540-B8A5-6A8A55241AA5}"/>
              </a:ext>
            </a:extLst>
          </p:cNvPr>
          <p:cNvSpPr/>
          <p:nvPr/>
        </p:nvSpPr>
        <p:spPr>
          <a:xfrm>
            <a:off x="7308304" y="2276872"/>
            <a:ext cx="1695947" cy="945396"/>
          </a:xfrm>
          <a:prstGeom prst="wedgeRoundRectCallout">
            <a:avLst>
              <a:gd name="adj1" fmla="val -52439"/>
              <a:gd name="adj2" fmla="val 8997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002060"/>
                </a:solidFill>
              </a:rPr>
              <a:t>参考全加器电路图</a:t>
            </a:r>
            <a:r>
              <a:rPr lang="en-US" altLang="zh-CN" sz="1600" b="1" dirty="0">
                <a:solidFill>
                  <a:srgbClr val="002060"/>
                </a:solidFill>
              </a:rPr>
              <a:t>3.2(a)</a:t>
            </a:r>
          </a:p>
          <a:p>
            <a:r>
              <a:rPr lang="zh-CN" altLang="en-US" sz="1600" b="1" dirty="0">
                <a:solidFill>
                  <a:srgbClr val="002060"/>
                </a:solidFill>
              </a:rPr>
              <a:t>异或门</a:t>
            </a:r>
            <a:r>
              <a:rPr lang="en-US" altLang="zh-CN" sz="1600" b="1" dirty="0">
                <a:solidFill>
                  <a:srgbClr val="002060"/>
                </a:solidFill>
              </a:rPr>
              <a:t>3T</a:t>
            </a:r>
          </a:p>
          <a:p>
            <a:r>
              <a:rPr lang="zh-CN" altLang="en-US" sz="1600" b="1" dirty="0">
                <a:solidFill>
                  <a:srgbClr val="002060"/>
                </a:solidFill>
              </a:rPr>
              <a:t>与门</a:t>
            </a:r>
            <a:r>
              <a:rPr lang="en-US" altLang="zh-CN" sz="1600" b="1" dirty="0">
                <a:solidFill>
                  <a:srgbClr val="002060"/>
                </a:solidFill>
              </a:rPr>
              <a:t>/</a:t>
            </a:r>
            <a:r>
              <a:rPr lang="zh-CN" altLang="en-US" sz="1600" b="1" dirty="0">
                <a:solidFill>
                  <a:srgbClr val="002060"/>
                </a:solidFill>
              </a:rPr>
              <a:t>或门 </a:t>
            </a:r>
            <a:r>
              <a:rPr lang="en-US" altLang="zh-CN" sz="1600" b="1" dirty="0">
                <a:solidFill>
                  <a:srgbClr val="002060"/>
                </a:solidFill>
              </a:rPr>
              <a:t>1T</a:t>
            </a:r>
            <a:endParaRPr lang="zh-CN" altLang="en-US" sz="1600" b="1" dirty="0">
              <a:solidFill>
                <a:srgbClr val="002060"/>
              </a:solidFill>
            </a:endParaRPr>
          </a:p>
        </p:txBody>
      </p:sp>
      <p:sp>
        <p:nvSpPr>
          <p:cNvPr id="7" name="对话气泡: 圆角矩形 6">
            <a:extLst>
              <a:ext uri="{FF2B5EF4-FFF2-40B4-BE49-F238E27FC236}">
                <a16:creationId xmlns:a16="http://schemas.microsoft.com/office/drawing/2014/main" id="{1467E251-F332-42AE-8072-24C390824172}"/>
              </a:ext>
            </a:extLst>
          </p:cNvPr>
          <p:cNvSpPr/>
          <p:nvPr/>
        </p:nvSpPr>
        <p:spPr>
          <a:xfrm>
            <a:off x="5654223" y="1196752"/>
            <a:ext cx="2374161" cy="535490"/>
          </a:xfrm>
          <a:prstGeom prst="wedgeRoundRectCallout">
            <a:avLst>
              <a:gd name="adj1" fmla="val -39043"/>
              <a:gd name="adj2" fmla="val 701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XiYi</a:t>
            </a:r>
            <a:r>
              <a:rPr lang="en-US" altLang="zh-CN" dirty="0"/>
              <a:t>+(Xi</a:t>
            </a:r>
            <a:r>
              <a:rPr lang="en-US" altLang="zh-CN" b="1" dirty="0">
                <a:latin typeface="等线" panose="02010600030101010101" pitchFamily="2" charset="-122"/>
                <a:ea typeface="等线" panose="02010600030101010101" pitchFamily="2" charset="-122"/>
              </a:rPr>
              <a:t> ⊕ </a:t>
            </a:r>
            <a:r>
              <a:rPr lang="en-US" altLang="zh-CN" dirty="0"/>
              <a:t>Yi)Ci</a:t>
            </a:r>
          </a:p>
          <a:p>
            <a:pPr algn="ctr"/>
            <a:r>
              <a:rPr lang="en-US" altLang="zh-CN" dirty="0"/>
              <a:t>Si=Xi</a:t>
            </a:r>
            <a:r>
              <a:rPr lang="en-US" altLang="zh-CN" b="1" dirty="0">
                <a:latin typeface="等线" panose="02010600030101010101" pitchFamily="2" charset="-122"/>
                <a:ea typeface="等线" panose="02010600030101010101" pitchFamily="2" charset="-122"/>
              </a:rPr>
              <a:t> ⊕Yi ⊕Ci</a:t>
            </a:r>
            <a:endParaRPr lang="zh-CN" altLang="en-US" dirty="0"/>
          </a:p>
        </p:txBody>
      </p:sp>
    </p:spTree>
    <p:extLst>
      <p:ext uri="{BB962C8B-B14F-4D97-AF65-F5344CB8AC3E}">
        <p14:creationId xmlns:p14="http://schemas.microsoft.com/office/powerpoint/2010/main" val="1184217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A03D50F-C6F7-4B33-8B8B-BE997321BF4C}"/>
              </a:ext>
            </a:extLst>
          </p:cNvPr>
          <p:cNvPicPr>
            <a:picLocks noChangeAspect="1"/>
          </p:cNvPicPr>
          <p:nvPr/>
        </p:nvPicPr>
        <p:blipFill>
          <a:blip r:embed="rId2"/>
          <a:stretch>
            <a:fillRect/>
          </a:stretch>
        </p:blipFill>
        <p:spPr>
          <a:xfrm>
            <a:off x="602405" y="2042284"/>
            <a:ext cx="7939189" cy="3906996"/>
          </a:xfrm>
          <a:prstGeom prst="rect">
            <a:avLst/>
          </a:prstGeom>
        </p:spPr>
      </p:pic>
      <p:sp>
        <p:nvSpPr>
          <p:cNvPr id="5" name="文本框 4">
            <a:extLst>
              <a:ext uri="{FF2B5EF4-FFF2-40B4-BE49-F238E27FC236}">
                <a16:creationId xmlns:a16="http://schemas.microsoft.com/office/drawing/2014/main" id="{135A7186-46EE-470F-913D-69342B50BB6D}"/>
              </a:ext>
            </a:extLst>
          </p:cNvPr>
          <p:cNvSpPr txBox="1"/>
          <p:nvPr/>
        </p:nvSpPr>
        <p:spPr>
          <a:xfrm>
            <a:off x="2555776" y="404664"/>
            <a:ext cx="3812262"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位串行加法器</a:t>
            </a:r>
          </a:p>
        </p:txBody>
      </p:sp>
      <p:sp>
        <p:nvSpPr>
          <p:cNvPr id="2" name="文本框 1">
            <a:extLst>
              <a:ext uri="{FF2B5EF4-FFF2-40B4-BE49-F238E27FC236}">
                <a16:creationId xmlns:a16="http://schemas.microsoft.com/office/drawing/2014/main" id="{9D111A9B-2B9F-6D4D-2DB4-9BFA8684D3D0}"/>
              </a:ext>
            </a:extLst>
          </p:cNvPr>
          <p:cNvSpPr txBox="1"/>
          <p:nvPr/>
        </p:nvSpPr>
        <p:spPr>
          <a:xfrm>
            <a:off x="2699792" y="1196752"/>
            <a:ext cx="3528392"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位串行加法器</a:t>
            </a:r>
            <a:r>
              <a:rPr lang="en-US" altLang="zh-CN" sz="1200" b="1" dirty="0"/>
              <a:t>.circ</a:t>
            </a:r>
            <a:r>
              <a:rPr lang="zh-CN" altLang="en-US" sz="1200" b="1" dirty="0"/>
              <a:t>”</a:t>
            </a:r>
          </a:p>
        </p:txBody>
      </p:sp>
    </p:spTree>
    <p:extLst>
      <p:ext uri="{BB962C8B-B14F-4D97-AF65-F5344CB8AC3E}">
        <p14:creationId xmlns:p14="http://schemas.microsoft.com/office/powerpoint/2010/main" val="1103371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2FB63E7B-6453-4869-9689-B37CDA960259}"/>
              </a:ext>
            </a:extLst>
          </p:cNvPr>
          <p:cNvSpPr>
            <a:spLocks noGrp="1"/>
          </p:cNvSpPr>
          <p:nvPr>
            <p:ph type="title"/>
          </p:nvPr>
        </p:nvSpPr>
        <p:spPr>
          <a:xfrm>
            <a:off x="717765" y="78915"/>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85293" y="1203145"/>
            <a:ext cx="8047147" cy="2207490"/>
          </a:xfrm>
        </p:spPr>
        <p:txBody>
          <a:bodyPr/>
          <a:lstStyle/>
          <a:p>
            <a:pPr lvl="1"/>
            <a:r>
              <a:rPr lang="en-US" altLang="zh-CN" sz="2000" b="1" dirty="0"/>
              <a:t>3</a:t>
            </a:r>
            <a:r>
              <a:rPr lang="zh-CN" altLang="en-US" sz="2000" b="1" dirty="0"/>
              <a:t>、可控加减法电路（</a:t>
            </a:r>
            <a:r>
              <a:rPr lang="en-US" altLang="zh-CN" sz="2000" b="1" dirty="0"/>
              <a:t>Controller Adder / Subtractor</a:t>
            </a:r>
            <a:r>
              <a:rPr lang="zh-CN" altLang="en-US" sz="2000" b="1" dirty="0"/>
              <a:t>）</a:t>
            </a:r>
            <a:endParaRPr lang="en-US" altLang="zh-CN" sz="2000" b="1" dirty="0"/>
          </a:p>
          <a:p>
            <a:pPr lvl="2"/>
            <a:r>
              <a:rPr lang="en-US" altLang="zh-CN" sz="1600" b="1" dirty="0"/>
              <a:t>Sub=0</a:t>
            </a:r>
            <a:r>
              <a:rPr lang="zh-CN" altLang="en-US" sz="1600" b="1" dirty="0"/>
              <a:t>：加法运算</a:t>
            </a:r>
            <a:endParaRPr lang="en-US" altLang="zh-CN" sz="1600" b="1" dirty="0"/>
          </a:p>
          <a:p>
            <a:pPr lvl="2"/>
            <a:r>
              <a:rPr lang="en-US" altLang="zh-CN" sz="1600" b="1" dirty="0"/>
              <a:t>Sub=1</a:t>
            </a:r>
            <a:r>
              <a:rPr lang="zh-CN" altLang="en-US" sz="1600" b="1" dirty="0"/>
              <a:t>：减法运算（</a:t>
            </a:r>
            <a:r>
              <a:rPr lang="en-US" altLang="zh-CN" sz="1600" b="1" dirty="0"/>
              <a:t>X-Y=X+/Y+1</a:t>
            </a:r>
            <a:r>
              <a:rPr lang="zh-CN" altLang="en-US" sz="1600" b="1" dirty="0"/>
              <a:t>，</a:t>
            </a:r>
            <a:r>
              <a:rPr lang="en-US" altLang="zh-CN" sz="1600" b="1" dirty="0"/>
              <a:t>Sub=1</a:t>
            </a:r>
            <a:r>
              <a:rPr lang="zh-CN" altLang="en-US" sz="1600" b="1" dirty="0"/>
              <a:t>，</a:t>
            </a:r>
            <a:r>
              <a:rPr lang="en-US" altLang="zh-CN" sz="1600" b="1" dirty="0" err="1"/>
              <a:t>Y</a:t>
            </a:r>
            <a:r>
              <a:rPr lang="en-US" altLang="zh-CN" sz="1600" b="1" dirty="0" err="1">
                <a:ea typeface="等线" panose="02010600030101010101" pitchFamily="2" charset="-122"/>
              </a:rPr>
              <a:t>⊕Sub</a:t>
            </a:r>
            <a:r>
              <a:rPr lang="en-US" altLang="zh-CN" sz="1600" b="1" dirty="0">
                <a:ea typeface="等线" panose="02010600030101010101" pitchFamily="2" charset="-122"/>
              </a:rPr>
              <a:t>=/Y</a:t>
            </a:r>
            <a:r>
              <a:rPr lang="zh-CN" altLang="en-US" sz="1600" b="1" dirty="0">
                <a:ea typeface="等线" panose="02010600030101010101" pitchFamily="2" charset="-122"/>
              </a:rPr>
              <a:t>，</a:t>
            </a:r>
            <a:r>
              <a:rPr lang="en-US" altLang="zh-CN" sz="1600" b="1" dirty="0">
                <a:ea typeface="等线" panose="02010600030101010101" pitchFamily="2" charset="-122"/>
              </a:rPr>
              <a:t>C</a:t>
            </a:r>
            <a:r>
              <a:rPr lang="en-US" altLang="zh-CN" sz="1600" b="1" baseline="-25000" dirty="0">
                <a:ea typeface="等线" panose="02010600030101010101" pitchFamily="2" charset="-122"/>
              </a:rPr>
              <a:t>0</a:t>
            </a:r>
            <a:r>
              <a:rPr lang="en-US" altLang="zh-CN" sz="1600" b="1" dirty="0">
                <a:ea typeface="等线" panose="02010600030101010101" pitchFamily="2" charset="-122"/>
              </a:rPr>
              <a:t>=Sub=1</a:t>
            </a:r>
            <a:r>
              <a:rPr lang="zh-CN" altLang="en-US" sz="1600" b="1" dirty="0"/>
              <a:t>）</a:t>
            </a:r>
            <a:endParaRPr lang="en-US" altLang="zh-CN" sz="1600" b="1" dirty="0"/>
          </a:p>
          <a:p>
            <a:pPr lvl="3"/>
            <a:r>
              <a:rPr lang="en-US" altLang="zh-CN" sz="1600" b="1" dirty="0">
                <a:highlight>
                  <a:srgbClr val="FFFF00"/>
                </a:highlight>
              </a:rPr>
              <a:t>Yi</a:t>
            </a:r>
            <a:r>
              <a:rPr lang="zh-CN" altLang="en-US" sz="1600" b="1" dirty="0">
                <a:highlight>
                  <a:srgbClr val="FFFF00"/>
                </a:highlight>
              </a:rPr>
              <a:t>各位</a:t>
            </a:r>
            <a:r>
              <a:rPr lang="en-US" altLang="zh-CN" sz="1600" b="1" dirty="0">
                <a:highlight>
                  <a:srgbClr val="FFFF00"/>
                </a:highlight>
                <a:latin typeface="等线" panose="02010600030101010101" pitchFamily="2" charset="-122"/>
                <a:ea typeface="等线" panose="02010600030101010101" pitchFamily="2" charset="-122"/>
              </a:rPr>
              <a:t>⊕ </a:t>
            </a:r>
            <a:r>
              <a:rPr lang="en-US" altLang="zh-CN" sz="1600" b="1" dirty="0">
                <a:highlight>
                  <a:srgbClr val="FFFF00"/>
                </a:highlight>
              </a:rPr>
              <a:t>sub =1</a:t>
            </a:r>
            <a:r>
              <a:rPr lang="zh-CN" altLang="en-US" sz="1600" b="1" dirty="0">
                <a:highlight>
                  <a:srgbClr val="FFFF00"/>
                </a:highlight>
              </a:rPr>
              <a:t>相当于取反</a:t>
            </a:r>
            <a:r>
              <a:rPr lang="zh-CN" altLang="en-US" sz="1600" b="1" dirty="0"/>
              <a:t>，即：</a:t>
            </a:r>
            <a:r>
              <a:rPr lang="en-US" altLang="zh-CN" sz="1600" b="1" dirty="0"/>
              <a:t>Yi=0 </a:t>
            </a:r>
            <a:r>
              <a:rPr lang="en-US" altLang="zh-CN" sz="1600" b="1" dirty="0">
                <a:latin typeface="等线" panose="02010600030101010101" pitchFamily="2" charset="-122"/>
                <a:ea typeface="等线" panose="02010600030101010101" pitchFamily="2" charset="-122"/>
              </a:rPr>
              <a:t>⊕ sub=&gt;1; </a:t>
            </a:r>
            <a:r>
              <a:rPr lang="en-US" altLang="zh-CN" sz="1600" b="1" dirty="0"/>
              <a:t>Yi=1 </a:t>
            </a:r>
            <a:r>
              <a:rPr lang="en-US" altLang="zh-CN" sz="1600" b="1" dirty="0">
                <a:latin typeface="等线" panose="02010600030101010101" pitchFamily="2" charset="-122"/>
                <a:ea typeface="等线" panose="02010600030101010101" pitchFamily="2" charset="-122"/>
              </a:rPr>
              <a:t>⊕ sub=0 </a:t>
            </a:r>
          </a:p>
          <a:p>
            <a:pPr lvl="3"/>
            <a:r>
              <a:rPr lang="zh-CN" altLang="en-US" sz="1600" b="1" dirty="0">
                <a:latin typeface="等线" panose="02010600030101010101" pitchFamily="2" charset="-122"/>
                <a:ea typeface="等线" panose="02010600030101010101" pitchFamily="2" charset="-122"/>
              </a:rPr>
              <a:t>相当取反码，结果</a:t>
            </a:r>
            <a:r>
              <a:rPr lang="en-US" altLang="zh-CN" sz="1600" b="1" dirty="0">
                <a:solidFill>
                  <a:srgbClr val="C00000"/>
                </a:solidFill>
                <a:latin typeface="等线" panose="02010600030101010101" pitchFamily="2" charset="-122"/>
                <a:ea typeface="等线" panose="02010600030101010101" pitchFamily="2" charset="-122"/>
              </a:rPr>
              <a:t>+1</a:t>
            </a:r>
            <a:r>
              <a:rPr lang="zh-CN" altLang="en-US" sz="1600" b="1" dirty="0">
                <a:latin typeface="等线" panose="02010600030101010101" pitchFamily="2" charset="-122"/>
                <a:ea typeface="等线" panose="02010600030101010101" pitchFamily="2" charset="-122"/>
              </a:rPr>
              <a:t>，体现在</a:t>
            </a:r>
            <a:r>
              <a:rPr lang="en-US" altLang="zh-CN" sz="1600" b="1" dirty="0">
                <a:solidFill>
                  <a:srgbClr val="C00000"/>
                </a:solidFill>
                <a:latin typeface="等线" panose="02010600030101010101" pitchFamily="2" charset="-122"/>
                <a:ea typeface="等线" panose="02010600030101010101" pitchFamily="2" charset="-122"/>
              </a:rPr>
              <a:t>C</a:t>
            </a:r>
            <a:r>
              <a:rPr lang="en-US" altLang="zh-CN" sz="1000" b="1" dirty="0">
                <a:solidFill>
                  <a:srgbClr val="C00000"/>
                </a:solidFill>
                <a:latin typeface="等线" panose="02010600030101010101" pitchFamily="2" charset="-122"/>
                <a:ea typeface="等线" panose="02010600030101010101" pitchFamily="2" charset="-122"/>
              </a:rPr>
              <a:t>0</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sub-&gt;C</a:t>
            </a:r>
            <a:r>
              <a:rPr lang="en-US" altLang="zh-CN" sz="1000" b="1" dirty="0">
                <a:latin typeface="等线" panose="02010600030101010101" pitchFamily="2" charset="-122"/>
                <a:ea typeface="等线" panose="02010600030101010101" pitchFamily="2" charset="-122"/>
              </a:rPr>
              <a:t>0</a:t>
            </a:r>
            <a:r>
              <a:rPr lang="en-US" altLang="zh-CN" sz="1600" b="1" dirty="0">
                <a:latin typeface="等线" panose="02010600030101010101" pitchFamily="2" charset="-122"/>
                <a:ea typeface="等线" panose="02010600030101010101" pitchFamily="2" charset="-122"/>
              </a:rPr>
              <a:t>.</a:t>
            </a:r>
            <a:endParaRPr lang="en-US" altLang="zh-CN" sz="1600" b="1" dirty="0"/>
          </a:p>
          <a:p>
            <a:pPr lvl="2"/>
            <a:r>
              <a:rPr lang="zh-CN" altLang="en-US" sz="1600" b="1" dirty="0"/>
              <a:t>无符号加法：溢出标志</a:t>
            </a:r>
            <a:r>
              <a:rPr lang="en-US" altLang="zh-CN" sz="1600" b="1" dirty="0"/>
              <a:t>V=C</a:t>
            </a:r>
            <a:r>
              <a:rPr lang="en-US" altLang="zh-CN" sz="1600" b="1" baseline="-25000" dirty="0"/>
              <a:t>n </a:t>
            </a:r>
            <a:r>
              <a:rPr lang="zh-CN" altLang="en-US" sz="1600" b="1" dirty="0"/>
              <a:t>；</a:t>
            </a:r>
            <a:r>
              <a:rPr lang="zh-CN" altLang="en-US" sz="1600" b="1" baseline="-25000" dirty="0"/>
              <a:t> </a:t>
            </a:r>
            <a:r>
              <a:rPr lang="zh-CN" altLang="en-US" sz="1600" b="1" dirty="0"/>
              <a:t>无符号减法：溢出标志</a:t>
            </a:r>
            <a:r>
              <a:rPr lang="en-US" altLang="zh-CN" sz="1600" b="1" dirty="0"/>
              <a:t>V=/C</a:t>
            </a:r>
            <a:r>
              <a:rPr lang="en-US" altLang="zh-CN" sz="1600" b="1" baseline="-25000" dirty="0"/>
              <a:t>n</a:t>
            </a:r>
          </a:p>
          <a:p>
            <a:pPr lvl="2"/>
            <a:r>
              <a:rPr lang="zh-CN" altLang="en-US" sz="1600" b="1" dirty="0"/>
              <a:t>有符号加法</a:t>
            </a:r>
            <a:r>
              <a:rPr lang="en-US" altLang="zh-CN" sz="1600" b="1" dirty="0"/>
              <a:t>/</a:t>
            </a:r>
            <a:r>
              <a:rPr lang="zh-CN" altLang="en-US" sz="1600" b="1" dirty="0"/>
              <a:t>减法：溢出标志</a:t>
            </a:r>
            <a:r>
              <a:rPr lang="en-US" altLang="zh-CN" sz="1600" b="1" dirty="0"/>
              <a:t>V=C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grpSp>
        <p:nvGrpSpPr>
          <p:cNvPr id="5" name="组合 4">
            <a:extLst>
              <a:ext uri="{FF2B5EF4-FFF2-40B4-BE49-F238E27FC236}">
                <a16:creationId xmlns:a16="http://schemas.microsoft.com/office/drawing/2014/main" id="{94B25E31-A58A-4FA5-9B7D-8C12DB27DCDC}"/>
              </a:ext>
            </a:extLst>
          </p:cNvPr>
          <p:cNvGrpSpPr/>
          <p:nvPr/>
        </p:nvGrpSpPr>
        <p:grpSpPr>
          <a:xfrm>
            <a:off x="1214917" y="3365435"/>
            <a:ext cx="7714530" cy="3275706"/>
            <a:chOff x="827584" y="3393654"/>
            <a:chExt cx="7714530" cy="3275706"/>
          </a:xfrm>
        </p:grpSpPr>
        <p:grpSp>
          <p:nvGrpSpPr>
            <p:cNvPr id="8" name="组合 7">
              <a:extLst>
                <a:ext uri="{FF2B5EF4-FFF2-40B4-BE49-F238E27FC236}">
                  <a16:creationId xmlns:a16="http://schemas.microsoft.com/office/drawing/2014/main" id="{5AA51CF4-268E-45C4-ACD9-45ABF19F2EA0}"/>
                </a:ext>
              </a:extLst>
            </p:cNvPr>
            <p:cNvGrpSpPr/>
            <p:nvPr/>
          </p:nvGrpSpPr>
          <p:grpSpPr>
            <a:xfrm>
              <a:off x="827584" y="3393654"/>
              <a:ext cx="7714530" cy="3275706"/>
              <a:chOff x="827584" y="2636912"/>
              <a:chExt cx="7714530" cy="3275706"/>
            </a:xfrm>
          </p:grpSpPr>
          <p:pic>
            <p:nvPicPr>
              <p:cNvPr id="4" name="图片 3">
                <a:extLst>
                  <a:ext uri="{FF2B5EF4-FFF2-40B4-BE49-F238E27FC236}">
                    <a16:creationId xmlns:a16="http://schemas.microsoft.com/office/drawing/2014/main" id="{F5CEF7C1-D387-477F-A458-A3A8C6F1A9DC}"/>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7" name="图片 6">
                <a:extLst>
                  <a:ext uri="{FF2B5EF4-FFF2-40B4-BE49-F238E27FC236}">
                    <a16:creationId xmlns:a16="http://schemas.microsoft.com/office/drawing/2014/main" id="{0CB9778E-5347-4756-934D-875A94A5AFDF}"/>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9" name="文本框 8">
              <a:extLst>
                <a:ext uri="{FF2B5EF4-FFF2-40B4-BE49-F238E27FC236}">
                  <a16:creationId xmlns:a16="http://schemas.microsoft.com/office/drawing/2014/main" id="{9DAE978B-9FD7-415D-8FCA-6694DA8D19C4}"/>
                </a:ext>
              </a:extLst>
            </p:cNvPr>
            <p:cNvSpPr txBox="1"/>
            <p:nvPr/>
          </p:nvSpPr>
          <p:spPr>
            <a:xfrm>
              <a:off x="1331640" y="3516956"/>
              <a:ext cx="1166808" cy="276999"/>
            </a:xfrm>
            <a:prstGeom prst="rect">
              <a:avLst/>
            </a:prstGeom>
            <a:solidFill>
              <a:schemeClr val="bg1"/>
            </a:solidFill>
          </p:spPr>
          <p:txBody>
            <a:bodyPr wrap="square" rtlCol="0">
              <a:spAutoFit/>
            </a:bodyPr>
            <a:lstStyle/>
            <a:p>
              <a:pPr algn="ctr"/>
              <a:r>
                <a:rPr lang="en-US" altLang="zh-CN" sz="1200" b="1" dirty="0">
                  <a:solidFill>
                    <a:srgbClr val="C00000"/>
                  </a:solidFill>
                </a:rPr>
                <a:t>V </a:t>
              </a:r>
              <a:r>
                <a:rPr lang="en-US" altLang="zh-CN" sz="1200" b="1" dirty="0"/>
                <a:t>             </a:t>
              </a:r>
              <a:endParaRPr lang="zh-CN" altLang="en-US" sz="1200" b="1" dirty="0"/>
            </a:p>
          </p:txBody>
        </p:sp>
      </p:grpSp>
      <p:sp>
        <p:nvSpPr>
          <p:cNvPr id="2" name="文本框 1">
            <a:extLst>
              <a:ext uri="{FF2B5EF4-FFF2-40B4-BE49-F238E27FC236}">
                <a16:creationId xmlns:a16="http://schemas.microsoft.com/office/drawing/2014/main" id="{EB37705E-4E70-4170-AD89-2D2925DAFCE8}"/>
              </a:ext>
            </a:extLst>
          </p:cNvPr>
          <p:cNvSpPr txBox="1"/>
          <p:nvPr/>
        </p:nvSpPr>
        <p:spPr>
          <a:xfrm>
            <a:off x="7642378" y="1134110"/>
            <a:ext cx="1100608"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Y</a:t>
            </a:r>
            <a:r>
              <a:rPr lang="zh-CN" altLang="en-US" sz="1400" b="1" dirty="0">
                <a:solidFill>
                  <a:srgbClr val="C00000"/>
                </a:solidFill>
              </a:rPr>
              <a:t>的非</a:t>
            </a:r>
          </a:p>
        </p:txBody>
      </p:sp>
      <p:sp>
        <p:nvSpPr>
          <p:cNvPr id="10" name="文本框 9">
            <a:extLst>
              <a:ext uri="{FF2B5EF4-FFF2-40B4-BE49-F238E27FC236}">
                <a16:creationId xmlns:a16="http://schemas.microsoft.com/office/drawing/2014/main" id="{A3BF2E64-3A23-4835-9B33-58ED49C6108E}"/>
              </a:ext>
            </a:extLst>
          </p:cNvPr>
          <p:cNvSpPr txBox="1"/>
          <p:nvPr/>
        </p:nvSpPr>
        <p:spPr>
          <a:xfrm>
            <a:off x="3491880" y="6525344"/>
            <a:ext cx="2291012" cy="307777"/>
          </a:xfrm>
          <a:prstGeom prst="rect">
            <a:avLst/>
          </a:prstGeom>
          <a:noFill/>
        </p:spPr>
        <p:txBody>
          <a:bodyPr wrap="none" rtlCol="0">
            <a:spAutoFit/>
          </a:bodyPr>
          <a:lstStyle/>
          <a:p>
            <a:r>
              <a:rPr lang="zh-CN" altLang="en-US" sz="1400" b="1" dirty="0"/>
              <a:t>图</a:t>
            </a:r>
            <a:r>
              <a:rPr lang="en-US" altLang="zh-CN" sz="1400" b="1" dirty="0"/>
              <a:t>3.4  </a:t>
            </a:r>
            <a:r>
              <a:rPr lang="zh-CN" altLang="en-US" sz="1400" b="1" dirty="0"/>
              <a:t>多位可控加减法电路</a:t>
            </a:r>
          </a:p>
        </p:txBody>
      </p:sp>
      <p:sp>
        <p:nvSpPr>
          <p:cNvPr id="11" name="圆角矩形标注 10"/>
          <p:cNvSpPr/>
          <p:nvPr/>
        </p:nvSpPr>
        <p:spPr>
          <a:xfrm>
            <a:off x="7824175" y="5087773"/>
            <a:ext cx="984301" cy="434618"/>
          </a:xfrm>
          <a:prstGeom prst="wedgeRoundRectCallout">
            <a:avLst>
              <a:gd name="adj1" fmla="val -76200"/>
              <a:gd name="adj2" fmla="val 6284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solidFill>
                  <a:srgbClr val="002060"/>
                </a:solidFill>
              </a:rPr>
              <a:t>Sub=1=C0</a:t>
            </a:r>
            <a:endParaRPr lang="zh-CN" altLang="en-US" sz="1400" b="1" dirty="0">
              <a:solidFill>
                <a:srgbClr val="002060"/>
              </a:solidFill>
            </a:endParaRPr>
          </a:p>
        </p:txBody>
      </p:sp>
      <p:sp>
        <p:nvSpPr>
          <p:cNvPr id="12" name="圆角矩形标注 8">
            <a:extLst>
              <a:ext uri="{FF2B5EF4-FFF2-40B4-BE49-F238E27FC236}">
                <a16:creationId xmlns:a16="http://schemas.microsoft.com/office/drawing/2014/main" id="{07F80C37-EBC4-4B5F-9B2A-8551A7BE67E2}"/>
              </a:ext>
            </a:extLst>
          </p:cNvPr>
          <p:cNvSpPr/>
          <p:nvPr/>
        </p:nvSpPr>
        <p:spPr>
          <a:xfrm>
            <a:off x="7350923" y="1645405"/>
            <a:ext cx="1793077" cy="261610"/>
          </a:xfrm>
          <a:prstGeom prst="wedgeRoundRectCallout">
            <a:avLst>
              <a:gd name="adj1" fmla="val -46727"/>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补码</a:t>
            </a:r>
            <a:r>
              <a:rPr lang="en-US" altLang="zh-CN" sz="1600" b="1" dirty="0">
                <a:solidFill>
                  <a:srgbClr val="002060"/>
                </a:solidFill>
              </a:rPr>
              <a:t>=</a:t>
            </a:r>
            <a:r>
              <a:rPr lang="zh-CN" altLang="en-US" sz="1600" b="1" dirty="0">
                <a:solidFill>
                  <a:srgbClr val="002060"/>
                </a:solidFill>
              </a:rPr>
              <a:t>原码取反</a:t>
            </a:r>
            <a:r>
              <a:rPr lang="en-US" altLang="zh-CN" sz="1600" b="1" dirty="0">
                <a:solidFill>
                  <a:srgbClr val="002060"/>
                </a:solidFill>
              </a:rPr>
              <a:t>+1</a:t>
            </a:r>
            <a:endParaRPr lang="zh-CN" altLang="en-US" sz="1600" b="1" dirty="0">
              <a:solidFill>
                <a:srgbClr val="002060"/>
              </a:solidFill>
            </a:endParaRPr>
          </a:p>
        </p:txBody>
      </p:sp>
      <p:sp>
        <p:nvSpPr>
          <p:cNvPr id="14" name="文本框 13">
            <a:extLst>
              <a:ext uri="{FF2B5EF4-FFF2-40B4-BE49-F238E27FC236}">
                <a16:creationId xmlns:a16="http://schemas.microsoft.com/office/drawing/2014/main" id="{B1EC8F81-BC2E-4418-9C3D-7EE65F6F9D36}"/>
              </a:ext>
            </a:extLst>
          </p:cNvPr>
          <p:cNvSpPr txBox="1"/>
          <p:nvPr/>
        </p:nvSpPr>
        <p:spPr>
          <a:xfrm>
            <a:off x="6916698" y="4854626"/>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15" name="文本框 14">
            <a:extLst>
              <a:ext uri="{FF2B5EF4-FFF2-40B4-BE49-F238E27FC236}">
                <a16:creationId xmlns:a16="http://schemas.microsoft.com/office/drawing/2014/main" id="{A64BEC9A-2DEC-4B6E-B5CA-3787B0416130}"/>
              </a:ext>
            </a:extLst>
          </p:cNvPr>
          <p:cNvSpPr txBox="1"/>
          <p:nvPr/>
        </p:nvSpPr>
        <p:spPr>
          <a:xfrm>
            <a:off x="6641693" y="3553313"/>
            <a:ext cx="603964" cy="369332"/>
          </a:xfrm>
          <a:prstGeom prst="rect">
            <a:avLst/>
          </a:prstGeom>
          <a:noFill/>
        </p:spPr>
        <p:txBody>
          <a:bodyPr wrap="square" rtlCol="0">
            <a:spAutoFit/>
          </a:bodyPr>
          <a:lstStyle/>
          <a:p>
            <a:r>
              <a:rPr lang="en-US" altLang="zh-CN" dirty="0">
                <a:solidFill>
                  <a:srgbClr val="C00000"/>
                </a:solidFill>
              </a:rPr>
              <a:t>9T </a:t>
            </a:r>
            <a:endParaRPr lang="zh-CN" altLang="en-US" dirty="0">
              <a:solidFill>
                <a:srgbClr val="C00000"/>
              </a:solidFill>
            </a:endParaRPr>
          </a:p>
        </p:txBody>
      </p:sp>
      <p:sp>
        <p:nvSpPr>
          <p:cNvPr id="16" name="文本框 15">
            <a:extLst>
              <a:ext uri="{FF2B5EF4-FFF2-40B4-BE49-F238E27FC236}">
                <a16:creationId xmlns:a16="http://schemas.microsoft.com/office/drawing/2014/main" id="{B7427E8C-1454-4F70-80F2-FD89D3823113}"/>
              </a:ext>
            </a:extLst>
          </p:cNvPr>
          <p:cNvSpPr txBox="1"/>
          <p:nvPr/>
        </p:nvSpPr>
        <p:spPr>
          <a:xfrm>
            <a:off x="5638170" y="4163016"/>
            <a:ext cx="603964" cy="369332"/>
          </a:xfrm>
          <a:prstGeom prst="rect">
            <a:avLst/>
          </a:prstGeom>
          <a:noFill/>
        </p:spPr>
        <p:txBody>
          <a:bodyPr wrap="square" rtlCol="0">
            <a:spAutoFit/>
          </a:bodyPr>
          <a:lstStyle/>
          <a:p>
            <a:r>
              <a:rPr lang="en-US" altLang="zh-CN" dirty="0">
                <a:solidFill>
                  <a:srgbClr val="C00000"/>
                </a:solidFill>
              </a:rPr>
              <a:t>8T </a:t>
            </a:r>
            <a:endParaRPr lang="zh-CN" altLang="en-US" dirty="0">
              <a:solidFill>
                <a:srgbClr val="C00000"/>
              </a:solidFill>
            </a:endParaRPr>
          </a:p>
        </p:txBody>
      </p:sp>
      <p:sp>
        <p:nvSpPr>
          <p:cNvPr id="17" name="文本框 16">
            <a:extLst>
              <a:ext uri="{FF2B5EF4-FFF2-40B4-BE49-F238E27FC236}">
                <a16:creationId xmlns:a16="http://schemas.microsoft.com/office/drawing/2014/main" id="{136F3759-37C1-41B2-80BA-0507E4A306F3}"/>
              </a:ext>
            </a:extLst>
          </p:cNvPr>
          <p:cNvSpPr txBox="1"/>
          <p:nvPr/>
        </p:nvSpPr>
        <p:spPr>
          <a:xfrm>
            <a:off x="2632549" y="3492245"/>
            <a:ext cx="938713" cy="369332"/>
          </a:xfrm>
          <a:prstGeom prst="rect">
            <a:avLst/>
          </a:prstGeom>
          <a:noFill/>
        </p:spPr>
        <p:txBody>
          <a:bodyPr wrap="square" rtlCol="0">
            <a:spAutoFit/>
          </a:bodyPr>
          <a:lstStyle/>
          <a:p>
            <a:r>
              <a:rPr lang="en-US" altLang="zh-CN" dirty="0">
                <a:solidFill>
                  <a:srgbClr val="C00000"/>
                </a:solidFill>
              </a:rPr>
              <a:t>(2n+7)T </a:t>
            </a:r>
            <a:endParaRPr lang="zh-CN" altLang="en-US" dirty="0">
              <a:solidFill>
                <a:srgbClr val="C00000"/>
              </a:solidFill>
            </a:endParaRPr>
          </a:p>
        </p:txBody>
      </p:sp>
      <p:sp>
        <p:nvSpPr>
          <p:cNvPr id="18" name="文本框 17">
            <a:extLst>
              <a:ext uri="{FF2B5EF4-FFF2-40B4-BE49-F238E27FC236}">
                <a16:creationId xmlns:a16="http://schemas.microsoft.com/office/drawing/2014/main" id="{6BAE8BA1-057F-4177-8F59-60EC216F4828}"/>
              </a:ext>
            </a:extLst>
          </p:cNvPr>
          <p:cNvSpPr txBox="1"/>
          <p:nvPr/>
        </p:nvSpPr>
        <p:spPr>
          <a:xfrm>
            <a:off x="1342539" y="4970470"/>
            <a:ext cx="938713" cy="369332"/>
          </a:xfrm>
          <a:prstGeom prst="rect">
            <a:avLst/>
          </a:prstGeom>
          <a:noFill/>
        </p:spPr>
        <p:txBody>
          <a:bodyPr wrap="square" rtlCol="0">
            <a:spAutoFit/>
          </a:bodyPr>
          <a:lstStyle/>
          <a:p>
            <a:r>
              <a:rPr lang="en-US" altLang="zh-CN" dirty="0">
                <a:solidFill>
                  <a:srgbClr val="C00000"/>
                </a:solidFill>
              </a:rPr>
              <a:t>(2n+6)T </a:t>
            </a:r>
            <a:endParaRPr lang="zh-CN" altLang="en-US" dirty="0">
              <a:solidFill>
                <a:srgbClr val="C00000"/>
              </a:solidFill>
            </a:endParaRPr>
          </a:p>
        </p:txBody>
      </p:sp>
      <p:sp>
        <p:nvSpPr>
          <p:cNvPr id="19" name="文本框 18">
            <a:extLst>
              <a:ext uri="{FF2B5EF4-FFF2-40B4-BE49-F238E27FC236}">
                <a16:creationId xmlns:a16="http://schemas.microsoft.com/office/drawing/2014/main" id="{AC438FFB-07AA-410B-A15F-1EF837AEC22E}"/>
              </a:ext>
            </a:extLst>
          </p:cNvPr>
          <p:cNvSpPr txBox="1"/>
          <p:nvPr/>
        </p:nvSpPr>
        <p:spPr>
          <a:xfrm>
            <a:off x="1718973" y="3953382"/>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20" name="文本框 19">
            <a:extLst>
              <a:ext uri="{FF2B5EF4-FFF2-40B4-BE49-F238E27FC236}">
                <a16:creationId xmlns:a16="http://schemas.microsoft.com/office/drawing/2014/main" id="{F064391B-D3F5-485B-AC96-7C1C4AC8E1B9}"/>
              </a:ext>
            </a:extLst>
          </p:cNvPr>
          <p:cNvSpPr txBox="1"/>
          <p:nvPr/>
        </p:nvSpPr>
        <p:spPr>
          <a:xfrm>
            <a:off x="1002050" y="3384319"/>
            <a:ext cx="938713" cy="369332"/>
          </a:xfrm>
          <a:prstGeom prst="rect">
            <a:avLst/>
          </a:prstGeom>
          <a:noFill/>
        </p:spPr>
        <p:txBody>
          <a:bodyPr wrap="square" rtlCol="0">
            <a:spAutoFit/>
          </a:bodyPr>
          <a:lstStyle/>
          <a:p>
            <a:r>
              <a:rPr lang="en-US" altLang="zh-CN" dirty="0">
                <a:solidFill>
                  <a:srgbClr val="C00000"/>
                </a:solidFill>
              </a:rPr>
              <a:t>(2n+9)T </a:t>
            </a:r>
            <a:endParaRPr lang="zh-CN" altLang="en-US" dirty="0">
              <a:solidFill>
                <a:srgbClr val="C00000"/>
              </a:solidFill>
            </a:endParaRPr>
          </a:p>
        </p:txBody>
      </p:sp>
    </p:spTree>
    <p:extLst>
      <p:ext uri="{BB962C8B-B14F-4D97-AF65-F5344CB8AC3E}">
        <p14:creationId xmlns:p14="http://schemas.microsoft.com/office/powerpoint/2010/main" val="868273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22E00-2E36-4295-A1E9-7730613C5A46}"/>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7C2F5058-0018-4466-837D-F48BCB381E74}"/>
              </a:ext>
            </a:extLst>
          </p:cNvPr>
          <p:cNvSpPr>
            <a:spLocks noGrp="1"/>
          </p:cNvSpPr>
          <p:nvPr>
            <p:ph idx="1"/>
          </p:nvPr>
        </p:nvSpPr>
        <p:spPr/>
        <p:txBody>
          <a:bodyPr/>
          <a:lstStyle/>
          <a:p>
            <a:pPr lvl="2"/>
            <a:r>
              <a:rPr lang="zh-CN" altLang="en-US" sz="1600" b="1" dirty="0"/>
              <a:t>无符号加法：溢出标志</a:t>
            </a:r>
            <a:r>
              <a:rPr lang="en-US" altLang="zh-CN" sz="1600" b="1" dirty="0"/>
              <a:t>V=C</a:t>
            </a:r>
            <a:r>
              <a:rPr lang="en-US" altLang="zh-CN" sz="1600" b="1" baseline="-25000" dirty="0"/>
              <a:t>n</a:t>
            </a:r>
          </a:p>
          <a:p>
            <a:pPr lvl="2"/>
            <a:r>
              <a:rPr lang="zh-CN" altLang="en-US" sz="1600" b="1" dirty="0"/>
              <a:t>无符号减法：溢出标志</a:t>
            </a:r>
            <a:r>
              <a:rPr lang="en-US" altLang="zh-CN" sz="1600" b="1" dirty="0"/>
              <a:t>V=/C</a:t>
            </a:r>
            <a:r>
              <a:rPr lang="en-US" altLang="zh-CN" sz="1600" b="1" baseline="-25000" dirty="0"/>
              <a:t>n</a:t>
            </a:r>
            <a:endParaRPr lang="zh-CN" altLang="en-US" sz="1200" dirty="0"/>
          </a:p>
        </p:txBody>
      </p:sp>
      <p:pic>
        <p:nvPicPr>
          <p:cNvPr id="5" name="图片 4">
            <a:extLst>
              <a:ext uri="{FF2B5EF4-FFF2-40B4-BE49-F238E27FC236}">
                <a16:creationId xmlns:a16="http://schemas.microsoft.com/office/drawing/2014/main" id="{EA0BA9E1-0092-4271-9681-DA99259EA2FC}"/>
              </a:ext>
            </a:extLst>
          </p:cNvPr>
          <p:cNvPicPr>
            <a:picLocks noChangeAspect="1"/>
          </p:cNvPicPr>
          <p:nvPr/>
        </p:nvPicPr>
        <p:blipFill>
          <a:blip r:embed="rId2"/>
          <a:stretch>
            <a:fillRect/>
          </a:stretch>
        </p:blipFill>
        <p:spPr>
          <a:xfrm>
            <a:off x="1187624" y="2204864"/>
            <a:ext cx="6912768" cy="3041269"/>
          </a:xfrm>
          <a:prstGeom prst="rect">
            <a:avLst/>
          </a:prstGeom>
        </p:spPr>
      </p:pic>
      <p:sp>
        <p:nvSpPr>
          <p:cNvPr id="6" name="文本框 5">
            <a:extLst>
              <a:ext uri="{FF2B5EF4-FFF2-40B4-BE49-F238E27FC236}">
                <a16:creationId xmlns:a16="http://schemas.microsoft.com/office/drawing/2014/main" id="{801813E1-05FF-419C-8C88-9E68E36538E3}"/>
              </a:ext>
            </a:extLst>
          </p:cNvPr>
          <p:cNvSpPr txBox="1"/>
          <p:nvPr/>
        </p:nvSpPr>
        <p:spPr>
          <a:xfrm>
            <a:off x="107504"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t>Cn=0    V=0    </a:t>
            </a:r>
          </a:p>
          <a:p>
            <a:r>
              <a:rPr lang="zh-CN" altLang="en-US" sz="1100" b="1" dirty="0"/>
              <a:t>不溢出</a:t>
            </a:r>
          </a:p>
        </p:txBody>
      </p:sp>
      <p:sp>
        <p:nvSpPr>
          <p:cNvPr id="7" name="文本框 6">
            <a:extLst>
              <a:ext uri="{FF2B5EF4-FFF2-40B4-BE49-F238E27FC236}">
                <a16:creationId xmlns:a16="http://schemas.microsoft.com/office/drawing/2014/main" id="{2ACA0801-F7D6-4E98-97E0-2DED89A3D7C2}"/>
              </a:ext>
            </a:extLst>
          </p:cNvPr>
          <p:cNvSpPr txBox="1"/>
          <p:nvPr/>
        </p:nvSpPr>
        <p:spPr>
          <a:xfrm>
            <a:off x="107504"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t>Cn=1    V=0    </a:t>
            </a:r>
          </a:p>
          <a:p>
            <a:r>
              <a:rPr lang="zh-CN" altLang="en-US" sz="1100" b="1" dirty="0"/>
              <a:t>不溢出</a:t>
            </a:r>
          </a:p>
        </p:txBody>
      </p:sp>
      <p:sp>
        <p:nvSpPr>
          <p:cNvPr id="8" name="文本框 7">
            <a:extLst>
              <a:ext uri="{FF2B5EF4-FFF2-40B4-BE49-F238E27FC236}">
                <a16:creationId xmlns:a16="http://schemas.microsoft.com/office/drawing/2014/main" id="{B8E092D6-10B4-4166-9820-6B33B18C925E}"/>
              </a:ext>
            </a:extLst>
          </p:cNvPr>
          <p:cNvSpPr txBox="1"/>
          <p:nvPr/>
        </p:nvSpPr>
        <p:spPr>
          <a:xfrm>
            <a:off x="8100392"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solidFill>
                  <a:srgbClr val="C00000"/>
                </a:solidFill>
              </a:rPr>
              <a:t>Cn=1    </a:t>
            </a:r>
            <a:r>
              <a:rPr lang="en-US" altLang="zh-CN" sz="1100" b="1" dirty="0"/>
              <a:t>V=1    </a:t>
            </a:r>
          </a:p>
          <a:p>
            <a:r>
              <a:rPr lang="zh-CN" altLang="en-US" sz="1100" b="1" dirty="0"/>
              <a:t>溢出</a:t>
            </a:r>
          </a:p>
        </p:txBody>
      </p:sp>
      <p:sp>
        <p:nvSpPr>
          <p:cNvPr id="9" name="文本框 8">
            <a:extLst>
              <a:ext uri="{FF2B5EF4-FFF2-40B4-BE49-F238E27FC236}">
                <a16:creationId xmlns:a16="http://schemas.microsoft.com/office/drawing/2014/main" id="{D004115C-DA3B-462A-B435-7AC3BE01310F}"/>
              </a:ext>
            </a:extLst>
          </p:cNvPr>
          <p:cNvSpPr txBox="1"/>
          <p:nvPr/>
        </p:nvSpPr>
        <p:spPr>
          <a:xfrm>
            <a:off x="8100392"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solidFill>
                  <a:srgbClr val="C00000"/>
                </a:solidFill>
              </a:rPr>
              <a:t>Cn=0</a:t>
            </a:r>
            <a:r>
              <a:rPr lang="en-US" altLang="zh-CN" sz="1100" b="1" dirty="0"/>
              <a:t>    V=1    </a:t>
            </a:r>
          </a:p>
          <a:p>
            <a:r>
              <a:rPr lang="zh-CN" altLang="en-US" sz="1100" b="1" dirty="0"/>
              <a:t>溢出</a:t>
            </a:r>
          </a:p>
        </p:txBody>
      </p:sp>
      <p:sp>
        <p:nvSpPr>
          <p:cNvPr id="4" name="文本框 3">
            <a:extLst>
              <a:ext uri="{FF2B5EF4-FFF2-40B4-BE49-F238E27FC236}">
                <a16:creationId xmlns:a16="http://schemas.microsoft.com/office/drawing/2014/main" id="{360399A7-9844-49A4-BF36-9C1C32B4109C}"/>
              </a:ext>
            </a:extLst>
          </p:cNvPr>
          <p:cNvSpPr txBox="1"/>
          <p:nvPr/>
        </p:nvSpPr>
        <p:spPr>
          <a:xfrm>
            <a:off x="827584" y="3224009"/>
            <a:ext cx="1008112" cy="276999"/>
          </a:xfrm>
          <a:prstGeom prst="rect">
            <a:avLst/>
          </a:prstGeom>
          <a:solidFill>
            <a:schemeClr val="tx1"/>
          </a:solidFill>
        </p:spPr>
        <p:txBody>
          <a:bodyPr wrap="square" rtlCol="0">
            <a:spAutoFit/>
          </a:bodyPr>
          <a:lstStyle/>
          <a:p>
            <a:r>
              <a:rPr lang="zh-CN" altLang="en-US" sz="1200" b="1" dirty="0">
                <a:solidFill>
                  <a:schemeClr val="bg1"/>
                </a:solidFill>
              </a:rPr>
              <a:t>加法不溢出</a:t>
            </a:r>
          </a:p>
        </p:txBody>
      </p:sp>
      <p:sp>
        <p:nvSpPr>
          <p:cNvPr id="10" name="文本框 9">
            <a:extLst>
              <a:ext uri="{FF2B5EF4-FFF2-40B4-BE49-F238E27FC236}">
                <a16:creationId xmlns:a16="http://schemas.microsoft.com/office/drawing/2014/main" id="{E6199604-A5B5-45D5-A894-96B37254B09B}"/>
              </a:ext>
            </a:extLst>
          </p:cNvPr>
          <p:cNvSpPr txBox="1"/>
          <p:nvPr/>
        </p:nvSpPr>
        <p:spPr>
          <a:xfrm>
            <a:off x="827584" y="4736177"/>
            <a:ext cx="1008112" cy="276999"/>
          </a:xfrm>
          <a:prstGeom prst="rect">
            <a:avLst/>
          </a:prstGeom>
          <a:solidFill>
            <a:schemeClr val="tx1"/>
          </a:solidFill>
        </p:spPr>
        <p:txBody>
          <a:bodyPr wrap="square" rtlCol="0">
            <a:spAutoFit/>
          </a:bodyPr>
          <a:lstStyle/>
          <a:p>
            <a:r>
              <a:rPr lang="zh-CN" altLang="en-US" sz="1200" b="1" dirty="0">
                <a:solidFill>
                  <a:schemeClr val="bg1"/>
                </a:solidFill>
              </a:rPr>
              <a:t>减法不溢出</a:t>
            </a:r>
          </a:p>
        </p:txBody>
      </p:sp>
    </p:spTree>
    <p:extLst>
      <p:ext uri="{BB962C8B-B14F-4D97-AF65-F5344CB8AC3E}">
        <p14:creationId xmlns:p14="http://schemas.microsoft.com/office/powerpoint/2010/main" val="2039262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D4BDEFA-E709-4231-9782-08A0FCC3F695}"/>
              </a:ext>
            </a:extLst>
          </p:cNvPr>
          <p:cNvPicPr>
            <a:picLocks noChangeAspect="1"/>
          </p:cNvPicPr>
          <p:nvPr/>
        </p:nvPicPr>
        <p:blipFill>
          <a:blip r:embed="rId2"/>
          <a:stretch>
            <a:fillRect/>
          </a:stretch>
        </p:blipFill>
        <p:spPr>
          <a:xfrm>
            <a:off x="361097" y="1772816"/>
            <a:ext cx="8421805" cy="3600400"/>
          </a:xfrm>
          <a:prstGeom prst="rect">
            <a:avLst/>
          </a:prstGeom>
        </p:spPr>
      </p:pic>
      <p:sp>
        <p:nvSpPr>
          <p:cNvPr id="5" name="文本框 4">
            <a:extLst>
              <a:ext uri="{FF2B5EF4-FFF2-40B4-BE49-F238E27FC236}">
                <a16:creationId xmlns:a16="http://schemas.microsoft.com/office/drawing/2014/main" id="{03DB1D1A-F8A4-4A42-B250-6080D3B83DF9}"/>
              </a:ext>
            </a:extLst>
          </p:cNvPr>
          <p:cNvSpPr txBox="1"/>
          <p:nvPr/>
        </p:nvSpPr>
        <p:spPr>
          <a:xfrm>
            <a:off x="2339752" y="425296"/>
            <a:ext cx="4509568"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位串行可控加减法器</a:t>
            </a:r>
          </a:p>
        </p:txBody>
      </p:sp>
      <p:sp>
        <p:nvSpPr>
          <p:cNvPr id="9" name="文本框 8">
            <a:extLst>
              <a:ext uri="{FF2B5EF4-FFF2-40B4-BE49-F238E27FC236}">
                <a16:creationId xmlns:a16="http://schemas.microsoft.com/office/drawing/2014/main" id="{177D4009-A68C-4A3C-9F2C-C2538BFB208F}"/>
              </a:ext>
            </a:extLst>
          </p:cNvPr>
          <p:cNvSpPr txBox="1"/>
          <p:nvPr/>
        </p:nvSpPr>
        <p:spPr>
          <a:xfrm>
            <a:off x="2267744" y="5760549"/>
            <a:ext cx="4572000" cy="646331"/>
          </a:xfrm>
          <a:prstGeom prst="rect">
            <a:avLst/>
          </a:prstGeom>
          <a:solidFill>
            <a:srgbClr val="FFFF00"/>
          </a:solidFill>
        </p:spPr>
        <p:txBody>
          <a:bodyPr wrap="square">
            <a:spAutoFit/>
          </a:bodyPr>
          <a:lstStyle/>
          <a:p>
            <a:r>
              <a:rPr lang="zh-CN" altLang="en-US" sz="1200" b="1" dirty="0"/>
              <a:t>Sub=0：加法运算</a:t>
            </a:r>
            <a:endParaRPr lang="en-US" altLang="zh-CN" sz="1200" b="1" dirty="0"/>
          </a:p>
          <a:p>
            <a:endParaRPr lang="zh-CN" altLang="en-US" sz="1200" b="1" dirty="0"/>
          </a:p>
          <a:p>
            <a:r>
              <a:rPr lang="zh-CN" altLang="en-US" sz="1200" b="1" dirty="0"/>
              <a:t>Sub=1：减法运算（X-Y=X+/Y+1，Sub=1，Y⊕Sub=/Y，C</a:t>
            </a:r>
            <a:r>
              <a:rPr lang="zh-CN" altLang="en-US" sz="1200" b="1" baseline="-25000" dirty="0"/>
              <a:t>0</a:t>
            </a:r>
            <a:r>
              <a:rPr lang="zh-CN" altLang="en-US" sz="1200" b="1" dirty="0"/>
              <a:t>=Sub=1）</a:t>
            </a:r>
          </a:p>
        </p:txBody>
      </p:sp>
      <p:cxnSp>
        <p:nvCxnSpPr>
          <p:cNvPr id="11" name="直接箭头连接符 10">
            <a:extLst>
              <a:ext uri="{FF2B5EF4-FFF2-40B4-BE49-F238E27FC236}">
                <a16:creationId xmlns:a16="http://schemas.microsoft.com/office/drawing/2014/main" id="{F02743BC-83E2-4CA6-8960-AD6374152F2B}"/>
              </a:ext>
            </a:extLst>
          </p:cNvPr>
          <p:cNvCxnSpPr/>
          <p:nvPr/>
        </p:nvCxnSpPr>
        <p:spPr>
          <a:xfrm flipV="1">
            <a:off x="5220072" y="3717032"/>
            <a:ext cx="1619672"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A4C58AB-D91B-A1F7-F92C-8F09D9362174}"/>
              </a:ext>
            </a:extLst>
          </p:cNvPr>
          <p:cNvSpPr txBox="1"/>
          <p:nvPr/>
        </p:nvSpPr>
        <p:spPr>
          <a:xfrm>
            <a:off x="2699792" y="1128029"/>
            <a:ext cx="3960440"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位串行可控加减法器</a:t>
            </a:r>
            <a:r>
              <a:rPr lang="en-US" altLang="zh-CN" sz="1200" b="1" dirty="0"/>
              <a:t>.circ</a:t>
            </a:r>
            <a:r>
              <a:rPr lang="zh-CN" altLang="en-US" sz="1200" b="1" dirty="0"/>
              <a:t>”</a:t>
            </a:r>
          </a:p>
        </p:txBody>
      </p:sp>
    </p:spTree>
    <p:extLst>
      <p:ext uri="{BB962C8B-B14F-4D97-AF65-F5344CB8AC3E}">
        <p14:creationId xmlns:p14="http://schemas.microsoft.com/office/powerpoint/2010/main" val="3301649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F5333-B710-4D8F-979A-6D5F26EB982E}"/>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72260" y="1268760"/>
            <a:ext cx="8229600" cy="5472608"/>
          </a:xfrm>
        </p:spPr>
        <p:txBody>
          <a:bodyPr/>
          <a:lstStyle/>
          <a:p>
            <a:pPr lvl="1"/>
            <a:r>
              <a:rPr lang="en-US" altLang="zh-CN" sz="2000" b="1" dirty="0"/>
              <a:t>4</a:t>
            </a:r>
            <a:r>
              <a:rPr lang="zh-CN" altLang="en-US" sz="2000" b="1" dirty="0"/>
              <a:t>、先行进位加法器（</a:t>
            </a:r>
            <a:r>
              <a:rPr lang="en-US" altLang="zh-CN" sz="2000" b="1" dirty="0"/>
              <a:t>Carry Look-Ahead Adder</a:t>
            </a:r>
            <a:r>
              <a:rPr lang="zh-CN" altLang="en-US" sz="2000" b="1" dirty="0"/>
              <a:t>）</a:t>
            </a:r>
            <a:endParaRPr lang="en-US" altLang="zh-CN" sz="2000" b="1" dirty="0"/>
          </a:p>
          <a:p>
            <a:pPr lvl="2"/>
            <a:endParaRPr lang="en-US" altLang="zh-CN" sz="1600" b="1" dirty="0"/>
          </a:p>
          <a:p>
            <a:pPr lvl="2"/>
            <a:r>
              <a:rPr lang="zh-CN" altLang="en-US" sz="1600" b="1" spc="300" dirty="0">
                <a:cs typeface="Courier New" panose="02070309020205020404" pitchFamily="49" charset="0"/>
              </a:rPr>
              <a:t>全加器：</a:t>
            </a:r>
            <a:endParaRPr lang="en-US" altLang="zh-CN" sz="1600" b="1" spc="300" dirty="0">
              <a:cs typeface="Courier New" panose="02070309020205020404" pitchFamily="49" charset="0"/>
            </a:endParaRPr>
          </a:p>
          <a:p>
            <a:pPr lvl="3"/>
            <a:r>
              <a:rPr lang="en-US" altLang="zh-CN" sz="1600" b="1" spc="300" dirty="0">
                <a:cs typeface="Courier New" panose="02070309020205020404" pitchFamily="49" charset="0"/>
              </a:rPr>
              <a:t>S</a:t>
            </a:r>
            <a:r>
              <a:rPr lang="en-US" altLang="zh-CN" sz="1600" b="1" spc="300" baseline="-25000" dirty="0">
                <a:cs typeface="Courier New" panose="02070309020205020404" pitchFamily="49" charset="0"/>
              </a:rPr>
              <a:t>i </a:t>
            </a:r>
            <a:r>
              <a:rPr lang="en-US" altLang="zh-CN" sz="1600" b="1" spc="300" dirty="0">
                <a:cs typeface="Courier New" panose="02070309020205020404" pitchFamily="49" charset="0"/>
              </a:rPr>
              <a:t>= </a:t>
            </a:r>
            <a:r>
              <a:rPr lang="en-US" altLang="zh-CN" sz="1600" b="1" spc="300" dirty="0" err="1">
                <a:cs typeface="Courier New" panose="02070309020205020404" pitchFamily="49" charset="0"/>
              </a:rPr>
              <a:t>X</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⊕Y</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⊕C</a:t>
            </a:r>
            <a:r>
              <a:rPr lang="en-US" altLang="zh-CN" sz="1600" b="1" spc="300" baseline="-25000" dirty="0" err="1">
                <a:cs typeface="Courier New" panose="02070309020205020404" pitchFamily="49" charset="0"/>
              </a:rPr>
              <a:t>i</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a:t>
            </a:r>
          </a:p>
          <a:p>
            <a:pPr lvl="2"/>
            <a:endParaRPr lang="en-US" altLang="zh-CN" sz="1600" b="1" spc="3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定义：</a:t>
            </a:r>
            <a:endParaRPr lang="en-US" altLang="zh-CN" sz="1600" b="1" spc="300" dirty="0">
              <a:cs typeface="Courier New" panose="02070309020205020404" pitchFamily="49" charset="0"/>
            </a:endParaRPr>
          </a:p>
          <a:p>
            <a:pPr lvl="3"/>
            <a:r>
              <a:rPr lang="zh-CN" altLang="en-US" sz="1600" b="1" spc="300" dirty="0">
                <a:solidFill>
                  <a:srgbClr val="C00000"/>
                </a:solidFill>
                <a:cs typeface="Courier New" panose="02070309020205020404" pitchFamily="49" charset="0"/>
              </a:rPr>
              <a:t>进位生成函数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baseline="-25000" dirty="0">
                <a:ea typeface="微软雅黑" panose="020B0503020204020204" pitchFamily="34" charset="-122"/>
                <a:cs typeface="Courier New" panose="02070309020205020404" pitchFamily="49" charset="0"/>
              </a:rPr>
              <a:t>   </a:t>
            </a:r>
          </a:p>
          <a:p>
            <a:pPr lvl="3"/>
            <a:r>
              <a:rPr lang="zh-CN" altLang="en-US" sz="1600" b="1" spc="300" dirty="0">
                <a:solidFill>
                  <a:srgbClr val="C00000"/>
                </a:solidFill>
                <a:cs typeface="Courier New" panose="02070309020205020404" pitchFamily="49" charset="0"/>
              </a:rPr>
              <a:t>进位传递函数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则有：</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P</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C</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3"/>
            <a:endParaRPr lang="en-US" altLang="zh-CN" sz="1600" b="1" spc="300" baseline="-25000" dirty="0">
              <a:ea typeface="微软雅黑" panose="020B0503020204020204" pitchFamily="34" charset="-122"/>
              <a:cs typeface="Courier New" panose="02070309020205020404" pitchFamily="49" charset="0"/>
            </a:endParaRP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spc="300" dirty="0">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a:t>
            </a:r>
            <a:r>
              <a:rPr lang="en-US" altLang="zh-CN" sz="1600" b="1" spc="300" baseline="-25000" dirty="0">
                <a:ea typeface="微软雅黑" panose="020B0503020204020204" pitchFamily="34" charset="-122"/>
                <a:cs typeface="Courier New" panose="02070309020205020404" pitchFamily="49" charset="0"/>
              </a:rPr>
              <a:t> </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n </a:t>
            </a:r>
            <a:r>
              <a:rPr lang="en-US" altLang="zh-CN" sz="1600" b="1" dirty="0">
                <a:ea typeface="微软雅黑" panose="020B0503020204020204" pitchFamily="34" charset="-122"/>
                <a:cs typeface="Courier New" panose="02070309020205020404" pitchFamily="49"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n-3</a:t>
            </a:r>
            <a:r>
              <a:rPr lang="zh-CN" altLang="en-US" sz="1600" b="1" dirty="0">
                <a:ea typeface="Segoe UI Black" panose="020B0A02040204020203" pitchFamily="34" charset="0"/>
                <a:cs typeface="Segoe UI Black" panose="020B0A02040204020203" pitchFamily="34"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a:buNone/>
            </a:pPr>
            <a:endParaRPr lang="en-US" altLang="zh-CN" sz="1400" b="1" baseline="-25000" dirty="0">
              <a:latin typeface="Courier New" panose="02070309020205020404" pitchFamily="49" charset="0"/>
              <a:ea typeface="微软雅黑" panose="020B0503020204020204" pitchFamily="34" charset="-122"/>
              <a:cs typeface="Courier New" panose="02070309020205020404" pitchFamily="49" charset="0"/>
            </a:endParaRPr>
          </a:p>
          <a:p>
            <a:pPr algn="l" eaLnBrk="1" hangingPunct="1">
              <a:buFont typeface="Wingdings" panose="05000000000000000000" pitchFamily="2" charset="2"/>
              <a:buNone/>
            </a:pPr>
            <a:endParaRPr lang="en-US" altLang="zh-CN" sz="1400" baseline="-25000" dirty="0">
              <a:latin typeface="Arial Rounded MT Bold" panose="020F0704030504030204" pitchFamily="34" charset="0"/>
              <a:ea typeface="微软雅黑" panose="020B0503020204020204" pitchFamily="34" charset="-122"/>
            </a:endParaRPr>
          </a:p>
          <a:p>
            <a:pPr lvl="3"/>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spc="300" dirty="0">
              <a:latin typeface="Courier New" panose="02070309020205020404" pitchFamily="49" charset="0"/>
              <a:ea typeface="微软雅黑" panose="020B0503020204020204" pitchFamily="34" charset="-122"/>
              <a:cs typeface="Courier New" panose="02070309020205020404" pitchFamily="49" charset="0"/>
            </a:endParaRPr>
          </a:p>
          <a:p>
            <a:pPr lvl="2"/>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69803-D566-4E19-B9D1-C13B2DABE98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6A4B0BC3-B274-4505-A498-E9472B626FD3}"/>
              </a:ext>
            </a:extLst>
          </p:cNvPr>
          <p:cNvSpPr>
            <a:spLocks noGrp="1"/>
          </p:cNvSpPr>
          <p:nvPr>
            <p:ph idx="1"/>
          </p:nvPr>
        </p:nvSpPr>
        <p:spPr>
          <a:xfrm>
            <a:off x="683568" y="1403572"/>
            <a:ext cx="8229600" cy="369333"/>
          </a:xfrm>
        </p:spPr>
        <p:txBody>
          <a:bodyPr/>
          <a:lstStyle/>
          <a:p>
            <a:r>
              <a:rPr lang="zh-CN" altLang="en-US" sz="1800" b="1" dirty="0"/>
              <a:t>进位生成</a:t>
            </a:r>
            <a:r>
              <a:rPr lang="en-US" altLang="zh-CN" sz="1800" b="1" dirty="0"/>
              <a:t>/</a:t>
            </a:r>
            <a:r>
              <a:rPr lang="zh-CN" altLang="en-US" sz="1800" b="1" dirty="0"/>
              <a:t>进位传递电路（即教材中图</a:t>
            </a:r>
            <a:r>
              <a:rPr lang="en-US" altLang="zh-CN" sz="1800" b="1" dirty="0"/>
              <a:t>3.6</a:t>
            </a:r>
            <a:r>
              <a:rPr lang="zh-CN" altLang="en-US" sz="1800" b="1" dirty="0"/>
              <a:t>的与门异或门电路，时间延迟为</a:t>
            </a:r>
            <a:r>
              <a:rPr lang="en-US" altLang="zh-CN" sz="1800" b="1" dirty="0"/>
              <a:t>3T</a:t>
            </a:r>
            <a:r>
              <a:rPr lang="zh-CN" altLang="en-US" sz="1800" b="1" dirty="0"/>
              <a:t>）：</a:t>
            </a:r>
          </a:p>
        </p:txBody>
      </p:sp>
      <p:grpSp>
        <p:nvGrpSpPr>
          <p:cNvPr id="7" name="组合 6">
            <a:extLst>
              <a:ext uri="{FF2B5EF4-FFF2-40B4-BE49-F238E27FC236}">
                <a16:creationId xmlns:a16="http://schemas.microsoft.com/office/drawing/2014/main" id="{11F643BA-CCBD-4A1F-B9FA-A9B1824B1BA8}"/>
              </a:ext>
            </a:extLst>
          </p:cNvPr>
          <p:cNvGrpSpPr/>
          <p:nvPr/>
        </p:nvGrpSpPr>
        <p:grpSpPr>
          <a:xfrm>
            <a:off x="971600" y="2636912"/>
            <a:ext cx="8064896" cy="3101781"/>
            <a:chOff x="971600" y="1772816"/>
            <a:chExt cx="8064896" cy="3101781"/>
          </a:xfrm>
        </p:grpSpPr>
        <p:pic>
          <p:nvPicPr>
            <p:cNvPr id="5" name="图片 4">
              <a:extLst>
                <a:ext uri="{FF2B5EF4-FFF2-40B4-BE49-F238E27FC236}">
                  <a16:creationId xmlns:a16="http://schemas.microsoft.com/office/drawing/2014/main" id="{D08FE639-82EE-4016-8308-3F7E05B5805C}"/>
                </a:ext>
              </a:extLst>
            </p:cNvPr>
            <p:cNvPicPr>
              <a:picLocks noChangeAspect="1"/>
            </p:cNvPicPr>
            <p:nvPr/>
          </p:nvPicPr>
          <p:blipFill>
            <a:blip r:embed="rId2"/>
            <a:stretch>
              <a:fillRect/>
            </a:stretch>
          </p:blipFill>
          <p:spPr>
            <a:xfrm>
              <a:off x="971600" y="1772816"/>
              <a:ext cx="6833285" cy="3101781"/>
            </a:xfrm>
            <a:prstGeom prst="rect">
              <a:avLst/>
            </a:prstGeom>
          </p:spPr>
        </p:pic>
        <p:sp>
          <p:nvSpPr>
            <p:cNvPr id="6" name="文本框 5">
              <a:extLst>
                <a:ext uri="{FF2B5EF4-FFF2-40B4-BE49-F238E27FC236}">
                  <a16:creationId xmlns:a16="http://schemas.microsoft.com/office/drawing/2014/main" id="{1BD74545-BA5D-4489-8D67-B1DF8D4EC3D0}"/>
                </a:ext>
              </a:extLst>
            </p:cNvPr>
            <p:cNvSpPr txBox="1"/>
            <p:nvPr/>
          </p:nvSpPr>
          <p:spPr>
            <a:xfrm>
              <a:off x="7452320" y="3013245"/>
              <a:ext cx="1584176" cy="338554"/>
            </a:xfrm>
            <a:prstGeom prst="rect">
              <a:avLst/>
            </a:prstGeom>
            <a:noFill/>
          </p:spPr>
          <p:txBody>
            <a:bodyPr wrap="square" rtlCol="0">
              <a:spAutoFit/>
            </a:bodyPr>
            <a:lstStyle/>
            <a:p>
              <a:r>
                <a:rPr lang="zh-CN" altLang="en-US" sz="1600" b="1" dirty="0"/>
                <a:t>时间延迟</a:t>
              </a:r>
              <a:r>
                <a:rPr lang="en-US" altLang="zh-CN" sz="1600" b="1" dirty="0"/>
                <a:t>3T</a:t>
              </a:r>
              <a:endParaRPr lang="zh-CN" altLang="en-US" sz="1600" b="1" dirty="0"/>
            </a:p>
          </p:txBody>
        </p:sp>
      </p:grpSp>
      <p:sp>
        <p:nvSpPr>
          <p:cNvPr id="9" name="文本框 8">
            <a:extLst>
              <a:ext uri="{FF2B5EF4-FFF2-40B4-BE49-F238E27FC236}">
                <a16:creationId xmlns:a16="http://schemas.microsoft.com/office/drawing/2014/main" id="{091A6C6B-E9EA-4362-A201-5C156D7422A3}"/>
              </a:ext>
            </a:extLst>
          </p:cNvPr>
          <p:cNvSpPr txBox="1"/>
          <p:nvPr/>
        </p:nvSpPr>
        <p:spPr>
          <a:xfrm>
            <a:off x="1958448" y="2150994"/>
            <a:ext cx="5227104" cy="369332"/>
          </a:xfrm>
          <a:prstGeom prst="rect">
            <a:avLst/>
          </a:prstGeom>
          <a:solidFill>
            <a:schemeClr val="bg2">
              <a:lumMod val="90000"/>
            </a:schemeClr>
          </a:solidFill>
        </p:spPr>
        <p:txBody>
          <a:bodyPr wrap="square">
            <a:spAutoFit/>
          </a:bodyPr>
          <a:lstStyle/>
          <a:p>
            <a:pPr algn="just"/>
            <a:r>
              <a:rPr lang="zh-CN" altLang="zh-CN" sz="1600" b="1" dirty="0">
                <a:latin typeface="+mn-lt"/>
                <a:ea typeface="+mn-ea"/>
              </a:rPr>
              <a:t>进位生成函数：</a:t>
            </a:r>
            <a:r>
              <a:rPr lang="en-US" altLang="zh-CN" sz="1800" b="1" kern="100" dirty="0">
                <a:effectLst/>
                <a:latin typeface="+mn-lt"/>
                <a:ea typeface="等线" panose="02010600030101010101" pitchFamily="2" charset="-122"/>
                <a:cs typeface="Times New Roman" panose="02020603050405020304" pitchFamily="18" charset="0"/>
              </a:rPr>
              <a:t>G</a:t>
            </a:r>
            <a:r>
              <a:rPr lang="en-US" altLang="zh-CN" sz="1800" b="1" kern="100" baseline="-25000" dirty="0">
                <a:effectLst/>
                <a:latin typeface="+mn-lt"/>
                <a:ea typeface="等线" panose="02010600030101010101" pitchFamily="2" charset="-122"/>
                <a:cs typeface="Times New Roman" panose="02020603050405020304" pitchFamily="18" charset="0"/>
              </a:rPr>
              <a:t>i </a:t>
            </a:r>
            <a:r>
              <a:rPr lang="en-US" altLang="zh-CN" sz="1800" b="1" kern="100" dirty="0">
                <a:effectLst/>
                <a:latin typeface="+mn-lt"/>
                <a:ea typeface="等线" panose="02010600030101010101" pitchFamily="2" charset="-122"/>
                <a:cs typeface="Times New Roman" panose="02020603050405020304" pitchFamily="18" charset="0"/>
              </a:rPr>
              <a:t>= </a:t>
            </a:r>
            <a:r>
              <a:rPr lang="en-US" altLang="zh-CN" sz="1800" b="1" kern="100" dirty="0" err="1">
                <a:effectLst/>
                <a:latin typeface="+mn-lt"/>
                <a:ea typeface="等线" panose="02010600030101010101" pitchFamily="2" charset="-122"/>
                <a:cs typeface="Times New Roman" panose="02020603050405020304" pitchFamily="18" charset="0"/>
              </a:rPr>
              <a:t>X</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dirty="0" err="1">
                <a:effectLst/>
                <a:latin typeface="+mn-lt"/>
                <a:ea typeface="等线" panose="02010600030101010101" pitchFamily="2" charset="-122"/>
                <a:cs typeface="Times New Roman" panose="02020603050405020304" pitchFamily="18" charset="0"/>
              </a:rPr>
              <a:t>Y</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baseline="-25000" dirty="0">
                <a:effectLst/>
                <a:latin typeface="+mn-lt"/>
                <a:ea typeface="等线" panose="02010600030101010101" pitchFamily="2" charset="-122"/>
                <a:cs typeface="Times New Roman" panose="02020603050405020304" pitchFamily="18" charset="0"/>
              </a:rPr>
              <a:t>               </a:t>
            </a:r>
            <a:r>
              <a:rPr lang="zh-CN" altLang="zh-CN" sz="1600" b="1" dirty="0">
                <a:latin typeface="+mn-lt"/>
                <a:ea typeface="+mn-ea"/>
              </a:rPr>
              <a:t>进位传递函数：</a:t>
            </a:r>
            <a:r>
              <a:rPr lang="en-US" altLang="zh-CN" sz="1800" b="1" dirty="0">
                <a:effectLst/>
                <a:latin typeface="+mn-lt"/>
                <a:ea typeface="等线" panose="02010600030101010101" pitchFamily="2" charset="-122"/>
                <a:cs typeface="Times New Roman" panose="02020603050405020304" pitchFamily="18" charset="0"/>
              </a:rPr>
              <a:t>P</a:t>
            </a:r>
            <a:r>
              <a:rPr lang="en-US" altLang="zh-CN" sz="1800" b="1" baseline="-25000" dirty="0">
                <a:effectLst/>
                <a:latin typeface="+mn-lt"/>
                <a:ea typeface="等线" panose="02010600030101010101" pitchFamily="2" charset="-122"/>
                <a:cs typeface="Times New Roman" panose="02020603050405020304" pitchFamily="18" charset="0"/>
              </a:rPr>
              <a:t>i </a:t>
            </a:r>
            <a:r>
              <a:rPr lang="en-US" altLang="zh-CN" sz="1800" b="1" dirty="0">
                <a:effectLst/>
                <a:latin typeface="+mn-lt"/>
                <a:ea typeface="等线" panose="02010600030101010101" pitchFamily="2" charset="-122"/>
                <a:cs typeface="Times New Roman" panose="02020603050405020304" pitchFamily="18" charset="0"/>
              </a:rPr>
              <a:t>= </a:t>
            </a:r>
            <a:r>
              <a:rPr lang="en-US" altLang="zh-CN" sz="1800" b="1" dirty="0" err="1">
                <a:effectLst/>
                <a:latin typeface="+mn-lt"/>
                <a:ea typeface="等线" panose="02010600030101010101" pitchFamily="2" charset="-122"/>
                <a:cs typeface="Times New Roman" panose="02020603050405020304" pitchFamily="18" charset="0"/>
              </a:rPr>
              <a:t>X</a:t>
            </a:r>
            <a:r>
              <a:rPr lang="en-US" altLang="zh-CN" sz="1800" b="1" baseline="-25000" dirty="0" err="1">
                <a:effectLst/>
                <a:latin typeface="+mn-lt"/>
                <a:ea typeface="等线" panose="02010600030101010101" pitchFamily="2" charset="-122"/>
                <a:cs typeface="Times New Roman" panose="02020603050405020304" pitchFamily="18" charset="0"/>
              </a:rPr>
              <a:t>i</a:t>
            </a:r>
            <a:r>
              <a:rPr lang="en-US" altLang="zh-CN" sz="1800" b="1" dirty="0" err="1">
                <a:effectLst/>
                <a:latin typeface="+mn-lt"/>
                <a:ea typeface="等线" panose="02010600030101010101" pitchFamily="2" charset="-122"/>
                <a:cs typeface="Times New Roman" panose="02020603050405020304" pitchFamily="18" charset="0"/>
              </a:rPr>
              <a:t>⊕Y</a:t>
            </a:r>
            <a:r>
              <a:rPr lang="en-US" altLang="zh-CN" sz="1800" b="1" baseline="-25000" dirty="0" err="1">
                <a:effectLst/>
                <a:latin typeface="+mn-lt"/>
                <a:ea typeface="等线" panose="02010600030101010101" pitchFamily="2" charset="-122"/>
                <a:cs typeface="Times New Roman" panose="02020603050405020304" pitchFamily="18" charset="0"/>
              </a:rPr>
              <a:t>i</a:t>
            </a:r>
            <a:endParaRPr lang="zh-CN" altLang="en-US" b="1" dirty="0">
              <a:latin typeface="+mn-lt"/>
            </a:endParaRPr>
          </a:p>
        </p:txBody>
      </p:sp>
      <p:sp>
        <p:nvSpPr>
          <p:cNvPr id="8" name="文本框 7">
            <a:extLst>
              <a:ext uri="{FF2B5EF4-FFF2-40B4-BE49-F238E27FC236}">
                <a16:creationId xmlns:a16="http://schemas.microsoft.com/office/drawing/2014/main" id="{5DC37660-A87C-4B32-A9F4-37E7CA79B91B}"/>
              </a:ext>
            </a:extLst>
          </p:cNvPr>
          <p:cNvSpPr txBox="1"/>
          <p:nvPr/>
        </p:nvSpPr>
        <p:spPr>
          <a:xfrm>
            <a:off x="2771800" y="5929535"/>
            <a:ext cx="3456384" cy="307777"/>
          </a:xfrm>
          <a:prstGeom prst="rect">
            <a:avLst/>
          </a:prstGeom>
          <a:noFill/>
        </p:spPr>
        <p:txBody>
          <a:bodyPr wrap="square">
            <a:spAutoFit/>
          </a:bodyPr>
          <a:lstStyle/>
          <a:p>
            <a:pPr algn="ctr"/>
            <a:r>
              <a:rPr lang="zh-CN" altLang="en-US" sz="1400" b="1" dirty="0"/>
              <a:t>图</a:t>
            </a:r>
            <a:r>
              <a:rPr lang="en-US" altLang="zh-CN" sz="1400" b="1" dirty="0"/>
              <a:t>3.6</a:t>
            </a:r>
            <a:r>
              <a:rPr lang="zh-CN" altLang="en-US" sz="1400" b="1" dirty="0"/>
              <a:t>    </a:t>
            </a:r>
            <a:r>
              <a:rPr lang="en-US" altLang="zh-CN" sz="1400" b="1" dirty="0"/>
              <a:t>4</a:t>
            </a:r>
            <a:r>
              <a:rPr lang="zh-CN" altLang="en-US" sz="1400" b="1" dirty="0"/>
              <a:t>位进位生成</a:t>
            </a:r>
            <a:r>
              <a:rPr lang="en-US" altLang="zh-CN" sz="1400" b="1" dirty="0"/>
              <a:t>/</a:t>
            </a:r>
            <a:r>
              <a:rPr lang="zh-CN" altLang="en-US" sz="1400" b="1" dirty="0"/>
              <a:t>进位传递电路</a:t>
            </a:r>
            <a:endParaRPr lang="zh-CN" altLang="en-US" sz="1400" dirty="0"/>
          </a:p>
        </p:txBody>
      </p:sp>
    </p:spTree>
    <p:extLst>
      <p:ext uri="{BB962C8B-B14F-4D97-AF65-F5344CB8AC3E}">
        <p14:creationId xmlns:p14="http://schemas.microsoft.com/office/powerpoint/2010/main" val="3704290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D73537-B4EB-417E-AA42-2D2D4C947F98}"/>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7269F0D5-DE26-4516-A6D3-0427500B63AB}"/>
              </a:ext>
            </a:extLst>
          </p:cNvPr>
          <p:cNvSpPr>
            <a:spLocks noGrp="1"/>
          </p:cNvSpPr>
          <p:nvPr>
            <p:ph idx="1"/>
          </p:nvPr>
        </p:nvSpPr>
        <p:spPr>
          <a:xfrm>
            <a:off x="457200" y="1336121"/>
            <a:ext cx="8229600" cy="4525963"/>
          </a:xfrm>
        </p:spPr>
        <p:txBody>
          <a:bodyPr/>
          <a:lstStyle/>
          <a:p>
            <a:r>
              <a:rPr lang="en-US" altLang="zh-CN" sz="1600" b="1" dirty="0"/>
              <a:t>4</a:t>
            </a:r>
            <a:r>
              <a:rPr lang="zh-CN" altLang="en-US" sz="1600" b="1" dirty="0"/>
              <a:t>位先行进位电路（教材图</a:t>
            </a:r>
            <a:r>
              <a:rPr lang="en-US" altLang="zh-CN" sz="1600" b="1" dirty="0"/>
              <a:t>3.5</a:t>
            </a:r>
            <a:r>
              <a:rPr lang="zh-CN" altLang="en-US" sz="1600" b="1" dirty="0"/>
              <a:t>，时间延迟为</a:t>
            </a:r>
            <a:r>
              <a:rPr lang="en-US" altLang="zh-CN" sz="1600" b="1" dirty="0"/>
              <a:t>2T</a:t>
            </a:r>
            <a:r>
              <a:rPr lang="zh-CN" altLang="en-US" sz="1600" b="1" dirty="0"/>
              <a:t>）：</a:t>
            </a:r>
          </a:p>
        </p:txBody>
      </p:sp>
      <p:grpSp>
        <p:nvGrpSpPr>
          <p:cNvPr id="7" name="组合 6">
            <a:extLst>
              <a:ext uri="{FF2B5EF4-FFF2-40B4-BE49-F238E27FC236}">
                <a16:creationId xmlns:a16="http://schemas.microsoft.com/office/drawing/2014/main" id="{E00B50F8-E4B8-4E2B-ABA9-AF9F891954C1}"/>
              </a:ext>
            </a:extLst>
          </p:cNvPr>
          <p:cNvGrpSpPr/>
          <p:nvPr/>
        </p:nvGrpSpPr>
        <p:grpSpPr>
          <a:xfrm>
            <a:off x="517275" y="2889298"/>
            <a:ext cx="8230150" cy="3694064"/>
            <a:chOff x="827584" y="1595524"/>
            <a:chExt cx="8252820" cy="3849700"/>
          </a:xfrm>
        </p:grpSpPr>
        <p:pic>
          <p:nvPicPr>
            <p:cNvPr id="5" name="图片 4">
              <a:extLst>
                <a:ext uri="{FF2B5EF4-FFF2-40B4-BE49-F238E27FC236}">
                  <a16:creationId xmlns:a16="http://schemas.microsoft.com/office/drawing/2014/main" id="{819BCDCF-D777-4908-B146-87578C65E77C}"/>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6" name="文本框 5">
              <a:extLst>
                <a:ext uri="{FF2B5EF4-FFF2-40B4-BE49-F238E27FC236}">
                  <a16:creationId xmlns:a16="http://schemas.microsoft.com/office/drawing/2014/main" id="{75D108D4-B859-427A-8225-F76DF9B5C0A8}"/>
                </a:ext>
              </a:extLst>
            </p:cNvPr>
            <p:cNvSpPr txBox="1"/>
            <p:nvPr/>
          </p:nvSpPr>
          <p:spPr>
            <a:xfrm>
              <a:off x="7773916" y="1595524"/>
              <a:ext cx="1306488" cy="523220"/>
            </a:xfrm>
            <a:prstGeom prst="rect">
              <a:avLst/>
            </a:prstGeom>
            <a:noFill/>
          </p:spPr>
          <p:txBody>
            <a:bodyPr wrap="square" rtlCol="0">
              <a:spAutoFit/>
            </a:bodyPr>
            <a:lstStyle/>
            <a:p>
              <a:r>
                <a:rPr lang="zh-CN" altLang="en-US" sz="1400" b="1" dirty="0"/>
                <a:t>时间延迟</a:t>
              </a:r>
              <a:r>
                <a:rPr lang="en-US" altLang="zh-CN" sz="1400" b="1" dirty="0"/>
                <a:t>1T+1T=2T</a:t>
              </a:r>
              <a:endParaRPr lang="zh-CN" altLang="en-US" sz="1400" b="1" dirty="0"/>
            </a:p>
          </p:txBody>
        </p:sp>
      </p:grpSp>
      <p:sp>
        <p:nvSpPr>
          <p:cNvPr id="8" name="文本框 7">
            <a:extLst>
              <a:ext uri="{FF2B5EF4-FFF2-40B4-BE49-F238E27FC236}">
                <a16:creationId xmlns:a16="http://schemas.microsoft.com/office/drawing/2014/main" id="{E320B009-6F6A-47C1-9179-B594FE05E1E7}"/>
              </a:ext>
            </a:extLst>
          </p:cNvPr>
          <p:cNvSpPr txBox="1"/>
          <p:nvPr/>
        </p:nvSpPr>
        <p:spPr>
          <a:xfrm>
            <a:off x="808903" y="1693448"/>
            <a:ext cx="6211369" cy="1384995"/>
          </a:xfrm>
          <a:prstGeom prst="rect">
            <a:avLst/>
          </a:prstGeom>
          <a:solidFill>
            <a:schemeClr val="bg2">
              <a:lumMod val="90000"/>
            </a:schemeClr>
          </a:solidFill>
        </p:spPr>
        <p:txBody>
          <a:bodyPr wrap="square">
            <a:spAutoFit/>
          </a:bodyPr>
          <a:lstStyle/>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4</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a:t>
            </a:r>
            <a:r>
              <a:rPr lang="en-US" altLang="zh-CN" sz="1200" b="1" kern="100" baseline="-25000" dirty="0">
                <a:effectLst/>
                <a:latin typeface="+mn-lt"/>
                <a:ea typeface="等线" panose="02010600030101010101" pitchFamily="2" charset="-122"/>
                <a:cs typeface="Times New Roman" panose="02020603050405020304" pitchFamily="18" charset="0"/>
              </a:rPr>
              <a:t> </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6D825BF-6D9D-486E-9DF1-5A8A78B4728F}"/>
              </a:ext>
            </a:extLst>
          </p:cNvPr>
          <p:cNvSpPr txBox="1"/>
          <p:nvPr/>
        </p:nvSpPr>
        <p:spPr>
          <a:xfrm>
            <a:off x="3203848" y="6550223"/>
            <a:ext cx="2448272" cy="307777"/>
          </a:xfrm>
          <a:prstGeom prst="rect">
            <a:avLst/>
          </a:prstGeom>
          <a:noFill/>
        </p:spPr>
        <p:txBody>
          <a:bodyPr wrap="square">
            <a:spAutoFit/>
          </a:bodyPr>
          <a:lstStyle/>
          <a:p>
            <a:r>
              <a:rPr lang="zh-CN" altLang="en-US" sz="1400" b="1" dirty="0"/>
              <a:t>图</a:t>
            </a:r>
            <a:r>
              <a:rPr lang="en-US" altLang="zh-CN" sz="1400" b="1" dirty="0"/>
              <a:t>3.5    4</a:t>
            </a:r>
            <a:r>
              <a:rPr lang="zh-CN" altLang="en-US" sz="1400" b="1" dirty="0"/>
              <a:t>位先行进位电路</a:t>
            </a:r>
            <a:endParaRPr lang="zh-CN" altLang="en-US" sz="1400" dirty="0"/>
          </a:p>
        </p:txBody>
      </p:sp>
      <p:sp>
        <p:nvSpPr>
          <p:cNvPr id="2" name="文本框 1">
            <a:extLst>
              <a:ext uri="{FF2B5EF4-FFF2-40B4-BE49-F238E27FC236}">
                <a16:creationId xmlns:a16="http://schemas.microsoft.com/office/drawing/2014/main" id="{25205842-9B3C-4D8C-B5B9-5FA2751FB0E5}"/>
              </a:ext>
            </a:extLst>
          </p:cNvPr>
          <p:cNvSpPr txBox="1"/>
          <p:nvPr/>
        </p:nvSpPr>
        <p:spPr>
          <a:xfrm>
            <a:off x="7626032" y="3995772"/>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sp>
        <p:nvSpPr>
          <p:cNvPr id="12" name="文本框 11">
            <a:extLst>
              <a:ext uri="{FF2B5EF4-FFF2-40B4-BE49-F238E27FC236}">
                <a16:creationId xmlns:a16="http://schemas.microsoft.com/office/drawing/2014/main" id="{5402AD65-CE27-4F5C-8448-782A1C565B74}"/>
              </a:ext>
            </a:extLst>
          </p:cNvPr>
          <p:cNvSpPr txBox="1"/>
          <p:nvPr/>
        </p:nvSpPr>
        <p:spPr>
          <a:xfrm>
            <a:off x="6907550" y="3229770"/>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cxnSp>
        <p:nvCxnSpPr>
          <p:cNvPr id="13" name="直接箭头连接符 12">
            <a:extLst>
              <a:ext uri="{FF2B5EF4-FFF2-40B4-BE49-F238E27FC236}">
                <a16:creationId xmlns:a16="http://schemas.microsoft.com/office/drawing/2014/main" id="{3B43EEED-C638-4A61-B73C-31B98057F516}"/>
              </a:ext>
            </a:extLst>
          </p:cNvPr>
          <p:cNvCxnSpPr/>
          <p:nvPr/>
        </p:nvCxnSpPr>
        <p:spPr>
          <a:xfrm flipV="1">
            <a:off x="7262289" y="3351009"/>
            <a:ext cx="245801" cy="304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接箭头连接符 13">
            <a:extLst>
              <a:ext uri="{FF2B5EF4-FFF2-40B4-BE49-F238E27FC236}">
                <a16:creationId xmlns:a16="http://schemas.microsoft.com/office/drawing/2014/main" id="{5E71ABFA-D83A-43D7-9EBF-DB04D088C053}"/>
              </a:ext>
            </a:extLst>
          </p:cNvPr>
          <p:cNvCxnSpPr>
            <a:cxnSpLocks/>
          </p:cNvCxnSpPr>
          <p:nvPr/>
        </p:nvCxnSpPr>
        <p:spPr>
          <a:xfrm flipH="1" flipV="1">
            <a:off x="7772334" y="3475358"/>
            <a:ext cx="9520" cy="5204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98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9611A-6E22-4DD1-9543-2EB7983A3E2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84482" y="1417638"/>
            <a:ext cx="8229600" cy="4963690"/>
          </a:xfrm>
        </p:spPr>
        <p:txBody>
          <a:bodyPr/>
          <a:lstStyle/>
          <a:p>
            <a:r>
              <a:rPr lang="zh-CN" altLang="en-US" sz="1800" b="1" dirty="0"/>
              <a:t>成组进位生成函数：</a:t>
            </a:r>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r>
              <a:rPr lang="zh-CN" altLang="en-US" sz="1800" b="1" dirty="0"/>
              <a:t>成组进位传递函数：</a:t>
            </a:r>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endParaRPr lang="en-US" altLang="zh-CN" sz="1800" b="1" dirty="0"/>
          </a:p>
          <a:p>
            <a:r>
              <a:rPr lang="zh-CN" altLang="en-US" sz="1800" b="1" dirty="0"/>
              <a:t>由前面的推导有：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0</a:t>
            </a:r>
            <a:r>
              <a:rPr lang="en-US" altLang="zh-CN" sz="1800" b="1" dirty="0">
                <a:ea typeface="微软雅黑" panose="020B0503020204020204" pitchFamily="34" charset="-122"/>
                <a:cs typeface="Courier New" panose="02070309020205020404" pitchFamily="49" charset="0"/>
              </a:rPr>
              <a:t> </a:t>
            </a:r>
          </a:p>
          <a:p>
            <a:r>
              <a:rPr lang="zh-CN" altLang="en-US" sz="1800" b="1" dirty="0"/>
              <a:t>定义：</a:t>
            </a:r>
            <a:r>
              <a:rPr lang="en-US" altLang="zh-CN" sz="1800" b="1" dirty="0">
                <a:ea typeface="微软雅黑" panose="020B0503020204020204" pitchFamily="34" charset="-122"/>
                <a:cs typeface="Courier New" panose="02070309020205020404" pitchFamily="49" charset="0"/>
              </a:rPr>
              <a:t> </a:t>
            </a:r>
          </a:p>
          <a:p>
            <a:pPr lvl="1"/>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endParaRPr lang="en-US" altLang="zh-CN" sz="1800" b="1" dirty="0">
              <a:ea typeface="Segoe UI Black" panose="020B0A02040204020203" pitchFamily="34" charset="0"/>
              <a:cs typeface="Segoe UI Black" panose="020B0A02040204020203" pitchFamily="34" charset="0"/>
            </a:endParaRPr>
          </a:p>
          <a:p>
            <a:pPr lvl="1"/>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 </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endParaRPr lang="en-US" altLang="zh-CN" sz="1400" b="1" dirty="0">
              <a:ea typeface="微软雅黑" panose="020B0503020204020204" pitchFamily="34" charset="-122"/>
              <a:cs typeface="Courier New" panose="02070309020205020404" pitchFamily="49" charset="0"/>
            </a:endParaRPr>
          </a:p>
          <a:p>
            <a:endParaRPr lang="en-US" altLang="zh-CN" sz="1800" b="1" dirty="0">
              <a:ea typeface="微软雅黑" panose="020B0503020204020204" pitchFamily="34" charset="-122"/>
              <a:cs typeface="Courier New" panose="02070309020205020404" pitchFamily="49" charset="0"/>
            </a:endParaRPr>
          </a:p>
          <a:p>
            <a:endParaRPr lang="en-US" altLang="zh-CN" sz="1800" b="1" dirty="0"/>
          </a:p>
          <a:p>
            <a:r>
              <a:rPr lang="zh-CN" altLang="en-US" sz="1800" b="1" dirty="0"/>
              <a:t>则有：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dirty="0">
                <a:ea typeface="微软雅黑" panose="020B0503020204020204" pitchFamily="34" charset="-122"/>
                <a:cs typeface="Courier New" panose="02070309020205020404" pitchFamily="49" charset="0"/>
              </a:rPr>
              <a:t>= </a:t>
            </a:r>
            <a:r>
              <a:rPr lang="en-US" altLang="zh-CN" sz="1800" b="1" dirty="0">
                <a:solidFill>
                  <a:srgbClr val="C00000"/>
                </a:solidFill>
                <a:ea typeface="微软雅黑" panose="020B0503020204020204" pitchFamily="34" charset="-122"/>
                <a:cs typeface="Courier New" panose="02070309020205020404" pitchFamily="49" charset="0"/>
              </a:rPr>
              <a:t>G</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zh-CN" altLang="en-US" sz="1800" b="1" dirty="0">
                <a:ea typeface="Segoe UI Black" panose="020B0A02040204020203" pitchFamily="34" charset="0"/>
                <a:cs typeface="Segoe UI Black" panose="020B0A02040204020203" pitchFamily="34" charset="0"/>
              </a:rPr>
              <a:t>＋</a:t>
            </a:r>
            <a:r>
              <a:rPr lang="en-US" altLang="zh-CN" sz="1800" b="1" dirty="0">
                <a:solidFill>
                  <a:srgbClr val="C00000"/>
                </a:solidFill>
                <a:ea typeface="微软雅黑" panose="020B0503020204020204" pitchFamily="34" charset="-122"/>
                <a:cs typeface="Courier New" panose="02070309020205020404" pitchFamily="49" charset="0"/>
              </a:rPr>
              <a:t>P</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C</a:t>
            </a:r>
            <a:r>
              <a:rPr lang="en-US" altLang="zh-CN" sz="1800" b="1" baseline="-25000" dirty="0">
                <a:ea typeface="微软雅黑" panose="020B0503020204020204" pitchFamily="34" charset="-122"/>
                <a:cs typeface="Courier New" panose="02070309020205020404" pitchFamily="49" charset="0"/>
              </a:rPr>
              <a:t>0 </a:t>
            </a:r>
          </a:p>
          <a:p>
            <a:pPr lvl="1"/>
            <a:endParaRPr lang="en-US" altLang="zh-CN" sz="1800" b="1" spc="300" baseline="-25000" dirty="0">
              <a:ea typeface="微软雅黑" panose="020B0503020204020204" pitchFamily="34" charset="-122"/>
              <a:cs typeface="Courier New" panose="02070309020205020404" pitchFamily="49" charset="0"/>
            </a:endParaRPr>
          </a:p>
          <a:p>
            <a:r>
              <a:rPr lang="zh-CN" altLang="en-US" sz="1800" b="1" dirty="0"/>
              <a:t>设计成组进位生成和传递函数的目的：方便级联构成多级先行进位系统</a:t>
            </a:r>
            <a:r>
              <a:rPr lang="en-US" altLang="zh-CN" sz="1800" b="1" dirty="0"/>
              <a:t>SN74182</a:t>
            </a:r>
          </a:p>
          <a:p>
            <a:endParaRPr lang="zh-CN" altLang="en-US" sz="1800" b="1" dirty="0"/>
          </a:p>
        </p:txBody>
      </p:sp>
    </p:spTree>
    <p:extLst>
      <p:ext uri="{BB962C8B-B14F-4D97-AF65-F5344CB8AC3E}">
        <p14:creationId xmlns:p14="http://schemas.microsoft.com/office/powerpoint/2010/main" val="208946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6E87D29-785F-444C-923C-B5C37B1712B2}"/>
              </a:ext>
            </a:extLst>
          </p:cNvPr>
          <p:cNvSpPr>
            <a:spLocks noGrp="1"/>
          </p:cNvSpPr>
          <p:nvPr>
            <p:ph type="title"/>
          </p:nvPr>
        </p:nvSpPr>
        <p:spPr>
          <a:xfrm>
            <a:off x="457200" y="84729"/>
            <a:ext cx="8229600" cy="1143000"/>
          </a:xfrm>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662362" y="1227729"/>
            <a:ext cx="8229600" cy="4525963"/>
          </a:xfrm>
        </p:spPr>
        <p:txBody>
          <a:bodyPr/>
          <a:lstStyle/>
          <a:p>
            <a:r>
              <a:rPr lang="zh-CN" altLang="en-US" sz="1600" b="1" dirty="0"/>
              <a:t>可级联的</a:t>
            </a:r>
            <a:r>
              <a:rPr lang="en-US" altLang="zh-CN" sz="1600" b="1" dirty="0"/>
              <a:t>4</a:t>
            </a:r>
            <a:r>
              <a:rPr lang="zh-CN" altLang="en-US" sz="1600" b="1" dirty="0"/>
              <a:t>位先行进位电路（</a:t>
            </a:r>
            <a:r>
              <a:rPr lang="en-US" altLang="zh-CN" sz="1600" b="1" dirty="0"/>
              <a:t>CLA 74182</a:t>
            </a:r>
            <a:r>
              <a:rPr lang="zh-CN" altLang="en-US" sz="1600" b="1" dirty="0"/>
              <a:t>，教材图</a:t>
            </a:r>
            <a:r>
              <a:rPr lang="en-US" altLang="zh-CN" sz="1600" b="1" dirty="0"/>
              <a:t>3.5</a:t>
            </a:r>
            <a:r>
              <a:rPr lang="zh-CN" altLang="en-US" sz="1600" b="1" dirty="0"/>
              <a:t>）：</a:t>
            </a:r>
            <a:endParaRPr lang="en-US" altLang="zh-CN" sz="1600" b="1" dirty="0"/>
          </a:p>
          <a:p>
            <a:pPr lvl="1"/>
            <a:r>
              <a:rPr lang="zh-CN" altLang="en-US" sz="1600" b="1" dirty="0"/>
              <a:t>时间延迟为</a:t>
            </a:r>
            <a:r>
              <a:rPr lang="en-US" altLang="zh-CN" sz="1600" b="1" dirty="0"/>
              <a:t>2T</a:t>
            </a:r>
          </a:p>
          <a:p>
            <a:pPr lvl="1"/>
            <a:r>
              <a:rPr lang="en-US" altLang="zh-CN" sz="1600" b="1" dirty="0"/>
              <a:t>CLA 74182</a:t>
            </a:r>
            <a:r>
              <a:rPr lang="zh-CN" altLang="en-US" sz="1600" b="1" dirty="0"/>
              <a:t>：也称为</a:t>
            </a:r>
            <a:r>
              <a:rPr lang="en-US" altLang="zh-CN" sz="1600" b="1" dirty="0"/>
              <a:t>SN74182</a:t>
            </a:r>
            <a:r>
              <a:rPr lang="zh-CN" altLang="en-US" sz="1600" b="1" dirty="0"/>
              <a:t>、</a:t>
            </a:r>
            <a:r>
              <a:rPr lang="en-US" altLang="zh-CN" sz="1600" b="1" dirty="0"/>
              <a:t>74LS182</a:t>
            </a:r>
            <a:r>
              <a:rPr lang="zh-CN" altLang="en-US" sz="1600" b="1" dirty="0"/>
              <a:t>，是</a:t>
            </a:r>
            <a:r>
              <a:rPr lang="en-US" altLang="zh-CN" sz="1600" b="1" dirty="0"/>
              <a:t>4</a:t>
            </a:r>
            <a:r>
              <a:rPr lang="zh-CN" altLang="en-US" sz="1600" b="1" dirty="0"/>
              <a:t>位先行进位电路芯片的名称</a:t>
            </a:r>
          </a:p>
        </p:txBody>
      </p:sp>
      <p:grpSp>
        <p:nvGrpSpPr>
          <p:cNvPr id="2" name="组合 1">
            <a:extLst>
              <a:ext uri="{FF2B5EF4-FFF2-40B4-BE49-F238E27FC236}">
                <a16:creationId xmlns:a16="http://schemas.microsoft.com/office/drawing/2014/main" id="{A3360E39-383E-4869-ACB9-5799232F56DF}"/>
              </a:ext>
            </a:extLst>
          </p:cNvPr>
          <p:cNvGrpSpPr/>
          <p:nvPr/>
        </p:nvGrpSpPr>
        <p:grpSpPr>
          <a:xfrm>
            <a:off x="899592" y="2235441"/>
            <a:ext cx="7479048" cy="3667092"/>
            <a:chOff x="632824" y="1778132"/>
            <a:chExt cx="7479048" cy="3667092"/>
          </a:xfrm>
        </p:grpSpPr>
        <p:grpSp>
          <p:nvGrpSpPr>
            <p:cNvPr id="8" name="组合 7">
              <a:extLst>
                <a:ext uri="{FF2B5EF4-FFF2-40B4-BE49-F238E27FC236}">
                  <a16:creationId xmlns:a16="http://schemas.microsoft.com/office/drawing/2014/main" id="{03885A20-F016-4D0C-95E1-01E12365F8B2}"/>
                </a:ext>
              </a:extLst>
            </p:cNvPr>
            <p:cNvGrpSpPr/>
            <p:nvPr/>
          </p:nvGrpSpPr>
          <p:grpSpPr>
            <a:xfrm>
              <a:off x="632824" y="1778132"/>
              <a:ext cx="7479048" cy="3667092"/>
              <a:chOff x="632824" y="1778132"/>
              <a:chExt cx="7479048" cy="3667092"/>
            </a:xfrm>
          </p:grpSpPr>
          <p:grpSp>
            <p:nvGrpSpPr>
              <p:cNvPr id="7" name="组合 6">
                <a:extLst>
                  <a:ext uri="{FF2B5EF4-FFF2-40B4-BE49-F238E27FC236}">
                    <a16:creationId xmlns:a16="http://schemas.microsoft.com/office/drawing/2014/main" id="{5F0C8809-7212-4F7E-B1C2-D19D649EBD89}"/>
                  </a:ext>
                </a:extLst>
              </p:cNvPr>
              <p:cNvGrpSpPr/>
              <p:nvPr/>
            </p:nvGrpSpPr>
            <p:grpSpPr>
              <a:xfrm>
                <a:off x="827584" y="1788764"/>
                <a:ext cx="7284288" cy="3656460"/>
                <a:chOff x="827584" y="1788764"/>
                <a:chExt cx="7284288" cy="3656460"/>
              </a:xfrm>
            </p:grpSpPr>
            <p:grpSp>
              <p:nvGrpSpPr>
                <p:cNvPr id="25" name="组合 24">
                  <a:extLst>
                    <a:ext uri="{FF2B5EF4-FFF2-40B4-BE49-F238E27FC236}">
                      <a16:creationId xmlns:a16="http://schemas.microsoft.com/office/drawing/2014/main" id="{A55C0786-7F37-46A1-8946-5534D9D2142B}"/>
                    </a:ext>
                  </a:extLst>
                </p:cNvPr>
                <p:cNvGrpSpPr/>
                <p:nvPr/>
              </p:nvGrpSpPr>
              <p:grpSpPr>
                <a:xfrm>
                  <a:off x="827584" y="1788764"/>
                  <a:ext cx="7284288" cy="3656460"/>
                  <a:chOff x="827584" y="1788764"/>
                  <a:chExt cx="7284288" cy="3656460"/>
                </a:xfrm>
              </p:grpSpPr>
              <p:pic>
                <p:nvPicPr>
                  <p:cNvPr id="28" name="图片 27">
                    <a:extLst>
                      <a:ext uri="{FF2B5EF4-FFF2-40B4-BE49-F238E27FC236}">
                        <a16:creationId xmlns:a16="http://schemas.microsoft.com/office/drawing/2014/main" id="{66FDA277-2676-405A-98DA-D6A365B6E88A}"/>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29" name="文本框 28">
                    <a:extLst>
                      <a:ext uri="{FF2B5EF4-FFF2-40B4-BE49-F238E27FC236}">
                        <a16:creationId xmlns:a16="http://schemas.microsoft.com/office/drawing/2014/main" id="{0B13AE28-9A7E-4A66-A2E2-1C006B6CDA0C}"/>
                      </a:ext>
                    </a:extLst>
                  </p:cNvPr>
                  <p:cNvSpPr txBox="1"/>
                  <p:nvPr/>
                </p:nvSpPr>
                <p:spPr>
                  <a:xfrm>
                    <a:off x="6985956" y="1788764"/>
                    <a:ext cx="504056" cy="400110"/>
                  </a:xfrm>
                  <a:prstGeom prst="rect">
                    <a:avLst/>
                  </a:prstGeom>
                  <a:noFill/>
                </p:spPr>
                <p:txBody>
                  <a:bodyPr wrap="square" rtlCol="0">
                    <a:spAutoFit/>
                  </a:bodyPr>
                  <a:lstStyle/>
                  <a:p>
                    <a:r>
                      <a:rPr lang="en-US" altLang="zh-CN" sz="2000" b="1" dirty="0"/>
                      <a:t>2T</a:t>
                    </a:r>
                    <a:endParaRPr lang="zh-CN" altLang="en-US" sz="2000" b="1" dirty="0"/>
                  </a:p>
                </p:txBody>
              </p:sp>
            </p:grpSp>
            <p:cxnSp>
              <p:nvCxnSpPr>
                <p:cNvPr id="4" name="直接连接符 3">
                  <a:extLst>
                    <a:ext uri="{FF2B5EF4-FFF2-40B4-BE49-F238E27FC236}">
                      <a16:creationId xmlns:a16="http://schemas.microsoft.com/office/drawing/2014/main" id="{E66EE65F-FA22-40F8-BAFF-88936A0B611F}"/>
                    </a:ext>
                  </a:extLst>
                </p:cNvPr>
                <p:cNvCxnSpPr/>
                <p:nvPr/>
              </p:nvCxnSpPr>
              <p:spPr>
                <a:xfrm flipV="1">
                  <a:off x="1187624" y="2132856"/>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3D95D74-6CEC-4A76-861E-59A3D70EDD23}"/>
                    </a:ext>
                  </a:extLst>
                </p:cNvPr>
                <p:cNvCxnSpPr/>
                <p:nvPr/>
              </p:nvCxnSpPr>
              <p:spPr>
                <a:xfrm flipV="1">
                  <a:off x="1547664" y="2150217"/>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47FBA886-768E-42B3-933A-86AC762657F5}"/>
                    </a:ext>
                  </a:extLst>
                </p:cNvPr>
                <p:cNvSpPr txBox="1"/>
                <p:nvPr/>
              </p:nvSpPr>
              <p:spPr>
                <a:xfrm>
                  <a:off x="1052618" y="1792459"/>
                  <a:ext cx="864096" cy="369332"/>
                </a:xfrm>
                <a:prstGeom prst="rect">
                  <a:avLst/>
                </a:prstGeom>
                <a:noFill/>
              </p:spPr>
              <p:txBody>
                <a:bodyPr wrap="square" rtlCol="0">
                  <a:spAutoFit/>
                </a:bodyPr>
                <a:lstStyle/>
                <a:p>
                  <a:r>
                    <a:rPr lang="en-US" altLang="zh-CN" dirty="0"/>
                    <a:t>P*  G*</a:t>
                  </a:r>
                  <a:endParaRPr lang="zh-CN" altLang="en-US" dirty="0"/>
                </a:p>
              </p:txBody>
            </p:sp>
          </p:grpSp>
          <p:sp>
            <p:nvSpPr>
              <p:cNvPr id="31" name="文本框 30">
                <a:extLst>
                  <a:ext uri="{FF2B5EF4-FFF2-40B4-BE49-F238E27FC236}">
                    <a16:creationId xmlns:a16="http://schemas.microsoft.com/office/drawing/2014/main" id="{5C897F7A-0476-40D0-BBC0-44A6864C9435}"/>
                  </a:ext>
                </a:extLst>
              </p:cNvPr>
              <p:cNvSpPr txBox="1"/>
              <p:nvPr/>
            </p:nvSpPr>
            <p:spPr>
              <a:xfrm>
                <a:off x="632824" y="1778132"/>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2" name="文本框 11">
              <a:extLst>
                <a:ext uri="{FF2B5EF4-FFF2-40B4-BE49-F238E27FC236}">
                  <a16:creationId xmlns:a16="http://schemas.microsoft.com/office/drawing/2014/main" id="{AF7E934C-9C82-4E3A-99DB-4C8750835730}"/>
                </a:ext>
              </a:extLst>
            </p:cNvPr>
            <p:cNvSpPr txBox="1"/>
            <p:nvPr/>
          </p:nvSpPr>
          <p:spPr>
            <a:xfrm>
              <a:off x="5508104" y="1794122"/>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3" name="文本框 12">
              <a:extLst>
                <a:ext uri="{FF2B5EF4-FFF2-40B4-BE49-F238E27FC236}">
                  <a16:creationId xmlns:a16="http://schemas.microsoft.com/office/drawing/2014/main" id="{07249C54-13B6-42F7-8240-804DC584A01B}"/>
                </a:ext>
              </a:extLst>
            </p:cNvPr>
            <p:cNvSpPr txBox="1"/>
            <p:nvPr/>
          </p:nvSpPr>
          <p:spPr>
            <a:xfrm>
              <a:off x="3990620" y="1794080"/>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4" name="文本框 13">
              <a:extLst>
                <a:ext uri="{FF2B5EF4-FFF2-40B4-BE49-F238E27FC236}">
                  <a16:creationId xmlns:a16="http://schemas.microsoft.com/office/drawing/2014/main" id="{D0AADFF7-B47E-4FCC-BB66-FF39E47E31F5}"/>
                </a:ext>
              </a:extLst>
            </p:cNvPr>
            <p:cNvSpPr txBox="1"/>
            <p:nvPr/>
          </p:nvSpPr>
          <p:spPr>
            <a:xfrm>
              <a:off x="2390496" y="1810028"/>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7" name="文本框 16">
            <a:extLst>
              <a:ext uri="{FF2B5EF4-FFF2-40B4-BE49-F238E27FC236}">
                <a16:creationId xmlns:a16="http://schemas.microsoft.com/office/drawing/2014/main" id="{7AED432D-881B-4359-BD7F-3BDEDE5975FC}"/>
              </a:ext>
            </a:extLst>
          </p:cNvPr>
          <p:cNvSpPr txBox="1"/>
          <p:nvPr/>
        </p:nvSpPr>
        <p:spPr>
          <a:xfrm>
            <a:off x="2987824" y="6093296"/>
            <a:ext cx="3334089" cy="338554"/>
          </a:xfrm>
          <a:prstGeom prst="rect">
            <a:avLst/>
          </a:prstGeom>
          <a:noFill/>
        </p:spPr>
        <p:txBody>
          <a:bodyPr wrap="square">
            <a:spAutoFit/>
          </a:bodyPr>
          <a:lstStyle/>
          <a:p>
            <a:r>
              <a:rPr lang="zh-CN" altLang="en-US" sz="1600" b="1" dirty="0"/>
              <a:t>图</a:t>
            </a:r>
            <a:r>
              <a:rPr lang="en-US" altLang="zh-CN" sz="1600" b="1" dirty="0"/>
              <a:t>3.5    </a:t>
            </a:r>
            <a:r>
              <a:rPr lang="zh-CN" altLang="en-US" sz="1600" b="1" dirty="0"/>
              <a:t>可级联的</a:t>
            </a:r>
            <a:r>
              <a:rPr lang="en-US" altLang="zh-CN" sz="1600" b="1" dirty="0"/>
              <a:t>4</a:t>
            </a:r>
            <a:r>
              <a:rPr lang="zh-CN" altLang="en-US" sz="1600" b="1" dirty="0"/>
              <a:t>位先行进位电路</a:t>
            </a:r>
            <a:endParaRPr lang="zh-CN" altLang="en-US" sz="1600" dirty="0"/>
          </a:p>
        </p:txBody>
      </p:sp>
    </p:spTree>
    <p:extLst>
      <p:ext uri="{BB962C8B-B14F-4D97-AF65-F5344CB8AC3E}">
        <p14:creationId xmlns:p14="http://schemas.microsoft.com/office/powerpoint/2010/main" val="531202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235385"/>
            <a:ext cx="8229600" cy="4525963"/>
          </a:xfrm>
        </p:spPr>
        <p:txBody>
          <a:bodyPr/>
          <a:lstStyle/>
          <a:p>
            <a:r>
              <a:rPr lang="en-US" altLang="zh-CN" sz="1800" b="1" dirty="0"/>
              <a:t>4</a:t>
            </a:r>
            <a:r>
              <a:rPr lang="zh-CN" altLang="en-US" sz="1800" b="1" dirty="0"/>
              <a:t>位</a:t>
            </a:r>
            <a:r>
              <a:rPr lang="zh-CN" altLang="en-US" sz="1800" b="1" dirty="0">
                <a:highlight>
                  <a:srgbClr val="FFFF00"/>
                </a:highlight>
              </a:rPr>
              <a:t>先行</a:t>
            </a:r>
            <a:r>
              <a:rPr lang="zh-CN" altLang="en-US" sz="1800" b="1" dirty="0"/>
              <a:t>进位加法器（教材图</a:t>
            </a:r>
            <a:r>
              <a:rPr lang="en-US" altLang="zh-CN" sz="1800" b="1" dirty="0"/>
              <a:t>3.6</a:t>
            </a:r>
            <a:r>
              <a:rPr lang="zh-CN" altLang="en-US" sz="1800" b="1" dirty="0"/>
              <a:t>，也称快速加法器、并行加法器）</a:t>
            </a:r>
            <a:endParaRPr lang="en-US" altLang="zh-CN" sz="1800" b="1" dirty="0"/>
          </a:p>
          <a:p>
            <a:pPr lvl="1"/>
            <a:r>
              <a:rPr lang="zh-CN" altLang="en-US" sz="1600" b="1" dirty="0"/>
              <a:t>得到</a:t>
            </a:r>
            <a:r>
              <a:rPr lang="en-US" altLang="zh-CN" sz="1600" b="1" dirty="0"/>
              <a:t>S</a:t>
            </a:r>
            <a:r>
              <a:rPr lang="en-US" altLang="zh-CN" sz="1600" b="1" baseline="-25000" dirty="0"/>
              <a:t>0</a:t>
            </a:r>
            <a:r>
              <a:rPr lang="zh-CN" altLang="en-US" sz="1600" b="1" dirty="0"/>
              <a:t>的时间延迟为</a:t>
            </a:r>
            <a:r>
              <a:rPr lang="en-US" altLang="zh-CN" sz="1600" b="1" dirty="0"/>
              <a:t>6T</a:t>
            </a:r>
            <a:r>
              <a:rPr lang="zh-CN" altLang="en-US" sz="1600" b="1" dirty="0"/>
              <a:t>（根据教材），得到</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3T+2T+3T=8T</a:t>
            </a:r>
          </a:p>
          <a:p>
            <a:pPr lvl="2"/>
            <a:r>
              <a:rPr lang="en-US" altLang="zh-CN" sz="1200" b="1" dirty="0">
                <a:solidFill>
                  <a:srgbClr val="C00000"/>
                </a:solidFill>
              </a:rPr>
              <a:t>S0=P0</a:t>
            </a:r>
            <a:r>
              <a:rPr lang="en-US" altLang="zh-CN" sz="1200" b="1" dirty="0">
                <a:solidFill>
                  <a:srgbClr val="C00000"/>
                </a:solidFill>
                <a:ea typeface="等线" panose="02010600030101010101" pitchFamily="2" charset="-122"/>
                <a:cs typeface="Times New Roman" panose="02020603050405020304" pitchFamily="18" charset="0"/>
              </a:rPr>
              <a:t> ⊕ C0,  </a:t>
            </a:r>
            <a:r>
              <a:rPr lang="zh-CN" altLang="en-US" sz="1200" b="1" dirty="0">
                <a:solidFill>
                  <a:srgbClr val="C00000"/>
                </a:solidFill>
                <a:ea typeface="等线" panose="02010600030101010101" pitchFamily="2" charset="-122"/>
                <a:cs typeface="Times New Roman" panose="02020603050405020304" pitchFamily="18" charset="0"/>
              </a:rPr>
              <a:t>生成</a:t>
            </a:r>
            <a:r>
              <a:rPr lang="en-US" altLang="zh-CN" sz="1200" b="1" dirty="0">
                <a:solidFill>
                  <a:srgbClr val="C00000"/>
                </a:solidFill>
                <a:ea typeface="等线" panose="02010600030101010101" pitchFamily="2" charset="-122"/>
                <a:cs typeface="Times New Roman" panose="02020603050405020304" pitchFamily="18" charset="0"/>
              </a:rPr>
              <a:t>P0</a:t>
            </a:r>
            <a:r>
              <a:rPr lang="zh-CN" altLang="en-US" sz="1200" b="1" dirty="0">
                <a:solidFill>
                  <a:srgbClr val="C00000"/>
                </a:solidFill>
                <a:ea typeface="等线" panose="02010600030101010101" pitchFamily="2" charset="-122"/>
                <a:cs typeface="Times New Roman" panose="02020603050405020304" pitchFamily="18" charset="0"/>
              </a:rPr>
              <a:t>的时间为</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，再加上一个异或门的</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，即为</a:t>
            </a:r>
            <a:r>
              <a:rPr lang="en-US" altLang="zh-CN" sz="1200" b="1" dirty="0">
                <a:solidFill>
                  <a:srgbClr val="C00000"/>
                </a:solidFill>
                <a:ea typeface="等线" panose="02010600030101010101" pitchFamily="2" charset="-122"/>
                <a:cs typeface="Times New Roman" panose="02020603050405020304" pitchFamily="18" charset="0"/>
              </a:rPr>
              <a:t>6T</a:t>
            </a:r>
          </a:p>
          <a:p>
            <a:pPr lvl="2"/>
            <a:r>
              <a:rPr lang="en-US" altLang="zh-CN" sz="1200" b="1" dirty="0">
                <a:solidFill>
                  <a:srgbClr val="C00000"/>
                </a:solidFill>
                <a:ea typeface="等线" panose="02010600030101010101" pitchFamily="2" charset="-122"/>
                <a:cs typeface="Times New Roman" panose="02020603050405020304" pitchFamily="18" charset="0"/>
              </a:rPr>
              <a:t>S1</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S2</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S3</a:t>
            </a:r>
            <a:r>
              <a:rPr lang="zh-CN" altLang="en-US" sz="1200" b="1" dirty="0">
                <a:solidFill>
                  <a:srgbClr val="C00000"/>
                </a:solidFill>
                <a:ea typeface="等线" panose="02010600030101010101" pitchFamily="2" charset="-122"/>
                <a:cs typeface="Times New Roman" panose="02020603050405020304" pitchFamily="18" charset="0"/>
              </a:rPr>
              <a:t>的时间要再加上</a:t>
            </a:r>
            <a:r>
              <a:rPr lang="en-US" altLang="zh-CN" sz="1200" b="1" dirty="0">
                <a:solidFill>
                  <a:srgbClr val="C00000"/>
                </a:solidFill>
                <a:ea typeface="等线" panose="02010600030101010101" pitchFamily="2" charset="-122"/>
                <a:cs typeface="Times New Roman" panose="02020603050405020304" pitchFamily="18" charset="0"/>
              </a:rPr>
              <a:t>2T</a:t>
            </a:r>
            <a:r>
              <a:rPr lang="zh-CN" altLang="en-US" sz="1200" b="1" dirty="0">
                <a:solidFill>
                  <a:srgbClr val="C00000"/>
                </a:solidFill>
                <a:ea typeface="等线" panose="02010600030101010101" pitchFamily="2" charset="-122"/>
                <a:cs typeface="Times New Roman" panose="02020603050405020304" pitchFamily="18" charset="0"/>
              </a:rPr>
              <a:t>的进位电路传送时间，故为</a:t>
            </a:r>
            <a:r>
              <a:rPr lang="en-US" altLang="zh-CN" sz="1200" b="1" dirty="0">
                <a:solidFill>
                  <a:srgbClr val="C00000"/>
                </a:solidFill>
                <a:ea typeface="等线" panose="02010600030101010101" pitchFamily="2" charset="-122"/>
                <a:cs typeface="Times New Roman" panose="02020603050405020304" pitchFamily="18" charset="0"/>
              </a:rPr>
              <a:t>8T</a:t>
            </a:r>
          </a:p>
          <a:p>
            <a:pPr lvl="1"/>
            <a:r>
              <a:rPr lang="zh-CN" altLang="en-US" sz="1400" b="1" dirty="0"/>
              <a:t>得到</a:t>
            </a:r>
            <a:r>
              <a:rPr lang="en-US" altLang="zh-CN" sz="1400" b="1" dirty="0"/>
              <a:t>C</a:t>
            </a:r>
            <a:r>
              <a:rPr lang="en-US" altLang="zh-CN" sz="1400" b="1" baseline="-25000" dirty="0"/>
              <a:t>4</a:t>
            </a:r>
            <a:r>
              <a:rPr lang="zh-CN" altLang="en-US" sz="1400" b="1" dirty="0"/>
              <a:t>的时间延迟为</a:t>
            </a:r>
            <a:r>
              <a:rPr lang="en-US" altLang="zh-CN" sz="1400" b="1" dirty="0">
                <a:highlight>
                  <a:srgbClr val="FFFF00"/>
                </a:highlight>
              </a:rPr>
              <a:t>2T</a:t>
            </a:r>
            <a:r>
              <a:rPr lang="en-US" altLang="zh-CN" sz="1400" b="1" dirty="0"/>
              <a:t>+3T=5T </a:t>
            </a:r>
            <a:r>
              <a:rPr lang="zh-CN" altLang="en-US" sz="1400" b="1" dirty="0"/>
              <a:t>；</a:t>
            </a:r>
            <a:r>
              <a:rPr lang="en-US" altLang="zh-CN" sz="1400" b="1" dirty="0">
                <a:highlight>
                  <a:srgbClr val="FFFF00"/>
                </a:highlight>
              </a:rPr>
              <a:t>C4</a:t>
            </a:r>
            <a:r>
              <a:rPr lang="en-US" altLang="zh-CN" sz="1400" b="1" dirty="0"/>
              <a:t>=G3+P3G2+P3P2G1+P3P2P1G0+P3P2P1P0</a:t>
            </a:r>
            <a:r>
              <a:rPr lang="en-US" altLang="zh-CN" sz="1400" b="1" dirty="0">
                <a:highlight>
                  <a:srgbClr val="FFFF00"/>
                </a:highlight>
              </a:rPr>
              <a:t>C0</a:t>
            </a:r>
            <a:r>
              <a:rPr lang="zh-CN" altLang="en-US" sz="1400" b="1" dirty="0">
                <a:highlight>
                  <a:srgbClr val="FFFF00"/>
                </a:highlight>
              </a:rPr>
              <a:t>（参图</a:t>
            </a:r>
            <a:r>
              <a:rPr lang="en-US" altLang="zh-CN" sz="1400" b="1" dirty="0">
                <a:highlight>
                  <a:srgbClr val="FFFF00"/>
                </a:highlight>
              </a:rPr>
              <a:t>3.5</a:t>
            </a:r>
            <a:r>
              <a:rPr lang="zh-CN" altLang="en-US" sz="1400" b="1" dirty="0">
                <a:highlight>
                  <a:srgbClr val="FFFF00"/>
                </a:highlight>
              </a:rPr>
              <a:t>）</a:t>
            </a:r>
            <a:endParaRPr lang="en-US" altLang="zh-CN" sz="1400" b="1" dirty="0">
              <a:highlight>
                <a:srgbClr val="FFFF00"/>
              </a:highlight>
            </a:endParaRPr>
          </a:p>
          <a:p>
            <a:pPr lvl="1"/>
            <a:r>
              <a:rPr lang="en-US" altLang="zh-CN" sz="1400" b="1" dirty="0">
                <a:highlight>
                  <a:srgbClr val="FFFF00"/>
                </a:highlight>
              </a:rPr>
              <a:t>Xi</a:t>
            </a:r>
            <a:r>
              <a:rPr lang="zh-CN" altLang="en-US" sz="1400" b="1" dirty="0">
                <a:highlight>
                  <a:srgbClr val="FFFF00"/>
                </a:highlight>
              </a:rPr>
              <a:t>和</a:t>
            </a:r>
            <a:r>
              <a:rPr lang="en-US" altLang="zh-CN" sz="1400" b="1" dirty="0">
                <a:highlight>
                  <a:srgbClr val="FFFF00"/>
                </a:highlight>
              </a:rPr>
              <a:t>Yi</a:t>
            </a:r>
            <a:r>
              <a:rPr lang="zh-CN" altLang="en-US" sz="1400" b="1" dirty="0">
                <a:highlight>
                  <a:srgbClr val="FFFF00"/>
                </a:highlight>
              </a:rPr>
              <a:t>到位后，所有的</a:t>
            </a:r>
            <a:r>
              <a:rPr lang="en-US" altLang="zh-CN" sz="1400" b="1" dirty="0">
                <a:highlight>
                  <a:srgbClr val="FFFF00"/>
                </a:highlight>
              </a:rPr>
              <a:t>G</a:t>
            </a:r>
            <a:r>
              <a:rPr lang="zh-CN" altLang="en-US" sz="1400" b="1" dirty="0">
                <a:highlight>
                  <a:srgbClr val="FFFF00"/>
                </a:highlight>
              </a:rPr>
              <a:t>和</a:t>
            </a:r>
            <a:r>
              <a:rPr lang="en-US" altLang="zh-CN" sz="1400" b="1" dirty="0">
                <a:highlight>
                  <a:srgbClr val="FFFF00"/>
                </a:highlight>
              </a:rPr>
              <a:t>P</a:t>
            </a:r>
            <a:r>
              <a:rPr lang="zh-CN" altLang="en-US" sz="1400" b="1" dirty="0">
                <a:highlight>
                  <a:srgbClr val="FFFF00"/>
                </a:highlight>
              </a:rPr>
              <a:t>并行生成，</a:t>
            </a:r>
            <a:r>
              <a:rPr lang="en-US" altLang="zh-CN" sz="1400" b="1" dirty="0">
                <a:highlight>
                  <a:srgbClr val="FFFF00"/>
                </a:highlight>
              </a:rPr>
              <a:t>C0</a:t>
            </a:r>
            <a:r>
              <a:rPr lang="zh-CN" altLang="en-US" sz="1400" b="1" dirty="0">
                <a:highlight>
                  <a:srgbClr val="FFFF00"/>
                </a:highlight>
              </a:rPr>
              <a:t>到位后，</a:t>
            </a:r>
            <a:r>
              <a:rPr lang="en-US" altLang="zh-CN" sz="1400" b="1" dirty="0">
                <a:highlight>
                  <a:srgbClr val="FFFF00"/>
                </a:highlight>
              </a:rPr>
              <a:t>C1-C4</a:t>
            </a:r>
            <a:r>
              <a:rPr lang="zh-CN" altLang="en-US" sz="1400" b="1" dirty="0">
                <a:highlight>
                  <a:srgbClr val="FFFF00"/>
                </a:highlight>
              </a:rPr>
              <a:t>同步，</a:t>
            </a:r>
            <a:r>
              <a:rPr lang="en-US" altLang="zh-CN" sz="1400" b="1" dirty="0">
                <a:highlight>
                  <a:srgbClr val="FFFF00"/>
                </a:highlight>
              </a:rPr>
              <a:t>S1-S3</a:t>
            </a:r>
            <a:r>
              <a:rPr lang="zh-CN" altLang="en-US" sz="1400" b="1" dirty="0">
                <a:highlight>
                  <a:srgbClr val="FFFF00"/>
                </a:highlight>
              </a:rPr>
              <a:t>同步生成</a:t>
            </a:r>
            <a:endParaRPr lang="en-US" altLang="zh-CN" sz="1400" b="1" dirty="0">
              <a:highlight>
                <a:srgbClr val="FFFF00"/>
              </a:highlight>
            </a:endParaRPr>
          </a:p>
          <a:p>
            <a:pPr lvl="1"/>
            <a:r>
              <a:rPr lang="zh-CN" altLang="en-US" sz="1400" b="1" dirty="0">
                <a:highlight>
                  <a:srgbClr val="FFFF00"/>
                </a:highlight>
              </a:rPr>
              <a:t>改之前</a:t>
            </a:r>
            <a:r>
              <a:rPr lang="zh-CN" altLang="en-US" sz="1600" b="1" dirty="0">
                <a:highlight>
                  <a:srgbClr val="FFFF00"/>
                </a:highlight>
              </a:rPr>
              <a:t>的</a:t>
            </a:r>
            <a:r>
              <a:rPr lang="zh-CN" altLang="en-US" sz="1400" b="1" dirty="0">
                <a:highlight>
                  <a:srgbClr val="FFFF00"/>
                </a:highlight>
              </a:rPr>
              <a:t>串行进位方式为并行进位</a:t>
            </a:r>
            <a:endParaRPr lang="zh-CN" altLang="en-US" sz="1600" b="1" dirty="0">
              <a:highlight>
                <a:srgbClr val="FFFF00"/>
              </a:highlight>
            </a:endParaRPr>
          </a:p>
        </p:txBody>
      </p:sp>
      <p:grpSp>
        <p:nvGrpSpPr>
          <p:cNvPr id="23" name="组合 22">
            <a:extLst>
              <a:ext uri="{FF2B5EF4-FFF2-40B4-BE49-F238E27FC236}">
                <a16:creationId xmlns:a16="http://schemas.microsoft.com/office/drawing/2014/main" id="{C65F9932-A0DE-4F1F-B5C8-43ADF5E0750B}"/>
              </a:ext>
            </a:extLst>
          </p:cNvPr>
          <p:cNvGrpSpPr/>
          <p:nvPr/>
        </p:nvGrpSpPr>
        <p:grpSpPr>
          <a:xfrm>
            <a:off x="1198183" y="2221956"/>
            <a:ext cx="6840760" cy="4293692"/>
            <a:chOff x="899592" y="1943620"/>
            <a:chExt cx="6840760" cy="4293692"/>
          </a:xfrm>
        </p:grpSpPr>
        <p:grpSp>
          <p:nvGrpSpPr>
            <p:cNvPr id="21" name="组合 20">
              <a:extLst>
                <a:ext uri="{FF2B5EF4-FFF2-40B4-BE49-F238E27FC236}">
                  <a16:creationId xmlns:a16="http://schemas.microsoft.com/office/drawing/2014/main" id="{91CB2187-433D-4123-B44C-3266B2693A1E}"/>
                </a:ext>
              </a:extLst>
            </p:cNvPr>
            <p:cNvGrpSpPr/>
            <p:nvPr/>
          </p:nvGrpSpPr>
          <p:grpSpPr>
            <a:xfrm>
              <a:off x="1102804" y="1943620"/>
              <a:ext cx="6637548" cy="4293692"/>
              <a:chOff x="1102804" y="1943620"/>
              <a:chExt cx="6637548" cy="4293692"/>
            </a:xfrm>
          </p:grpSpPr>
          <p:grpSp>
            <p:nvGrpSpPr>
              <p:cNvPr id="17" name="组合 16">
                <a:extLst>
                  <a:ext uri="{FF2B5EF4-FFF2-40B4-BE49-F238E27FC236}">
                    <a16:creationId xmlns:a16="http://schemas.microsoft.com/office/drawing/2014/main" id="{E0D0553F-53A7-4F3F-9E75-819FB96C9226}"/>
                  </a:ext>
                </a:extLst>
              </p:cNvPr>
              <p:cNvGrpSpPr/>
              <p:nvPr/>
            </p:nvGrpSpPr>
            <p:grpSpPr>
              <a:xfrm>
                <a:off x="1102804" y="1943620"/>
                <a:ext cx="6637548" cy="4293692"/>
                <a:chOff x="1102804" y="1943620"/>
                <a:chExt cx="6637548" cy="4293692"/>
              </a:xfrm>
            </p:grpSpPr>
            <p:grpSp>
              <p:nvGrpSpPr>
                <p:cNvPr id="14" name="组合 13">
                  <a:extLst>
                    <a:ext uri="{FF2B5EF4-FFF2-40B4-BE49-F238E27FC236}">
                      <a16:creationId xmlns:a16="http://schemas.microsoft.com/office/drawing/2014/main" id="{860817C2-21A3-491A-8829-97BF69715D92}"/>
                    </a:ext>
                  </a:extLst>
                </p:cNvPr>
                <p:cNvGrpSpPr/>
                <p:nvPr/>
              </p:nvGrpSpPr>
              <p:grpSpPr>
                <a:xfrm>
                  <a:off x="1102804" y="1943620"/>
                  <a:ext cx="6637548" cy="4293692"/>
                  <a:chOff x="1102804" y="1943620"/>
                  <a:chExt cx="6637548" cy="4293692"/>
                </a:xfrm>
              </p:grpSpPr>
              <p:grpSp>
                <p:nvGrpSpPr>
                  <p:cNvPr id="9" name="组合 8">
                    <a:extLst>
                      <a:ext uri="{FF2B5EF4-FFF2-40B4-BE49-F238E27FC236}">
                        <a16:creationId xmlns:a16="http://schemas.microsoft.com/office/drawing/2014/main" id="{16157919-1592-4226-8A3C-3425EBDFDC88}"/>
                      </a:ext>
                    </a:extLst>
                  </p:cNvPr>
                  <p:cNvGrpSpPr/>
                  <p:nvPr/>
                </p:nvGrpSpPr>
                <p:grpSpPr>
                  <a:xfrm>
                    <a:off x="1102804" y="1943620"/>
                    <a:ext cx="6637548" cy="4293692"/>
                    <a:chOff x="971600" y="1943620"/>
                    <a:chExt cx="6637548" cy="4293692"/>
                  </a:xfrm>
                </p:grpSpPr>
                <p:grpSp>
                  <p:nvGrpSpPr>
                    <p:cNvPr id="7" name="组合 6">
                      <a:extLst>
                        <a:ext uri="{FF2B5EF4-FFF2-40B4-BE49-F238E27FC236}">
                          <a16:creationId xmlns:a16="http://schemas.microsoft.com/office/drawing/2014/main" id="{922850F8-7FCD-48B0-A448-00358A9D39FB}"/>
                        </a:ext>
                      </a:extLst>
                    </p:cNvPr>
                    <p:cNvGrpSpPr/>
                    <p:nvPr/>
                  </p:nvGrpSpPr>
                  <p:grpSpPr>
                    <a:xfrm>
                      <a:off x="971600" y="1988840"/>
                      <a:ext cx="6637548" cy="4248472"/>
                      <a:chOff x="899592" y="1988840"/>
                      <a:chExt cx="6637548" cy="4248472"/>
                    </a:xfrm>
                  </p:grpSpPr>
                  <p:pic>
                    <p:nvPicPr>
                      <p:cNvPr id="5" name="图片 4">
                        <a:extLst>
                          <a:ext uri="{FF2B5EF4-FFF2-40B4-BE49-F238E27FC236}">
                            <a16:creationId xmlns:a16="http://schemas.microsoft.com/office/drawing/2014/main" id="{1C1556F6-7B88-4157-8B52-760033780FE5}"/>
                          </a:ext>
                        </a:extLst>
                      </p:cNvPr>
                      <p:cNvPicPr>
                        <a:picLocks noChangeAspect="1"/>
                      </p:cNvPicPr>
                      <p:nvPr/>
                    </p:nvPicPr>
                    <p:blipFill>
                      <a:blip r:embed="rId2"/>
                      <a:stretch>
                        <a:fillRect/>
                      </a:stretch>
                    </p:blipFill>
                    <p:spPr>
                      <a:xfrm>
                        <a:off x="899592" y="1988840"/>
                        <a:ext cx="6637548" cy="4248472"/>
                      </a:xfrm>
                      <a:prstGeom prst="rect">
                        <a:avLst/>
                      </a:prstGeom>
                    </p:spPr>
                  </p:pic>
                  <p:pic>
                    <p:nvPicPr>
                      <p:cNvPr id="4" name="图片 3">
                        <a:extLst>
                          <a:ext uri="{FF2B5EF4-FFF2-40B4-BE49-F238E27FC236}">
                            <a16:creationId xmlns:a16="http://schemas.microsoft.com/office/drawing/2014/main" id="{A63916E8-41AF-4AAC-BFF7-5486055D892E}"/>
                          </a:ext>
                        </a:extLst>
                      </p:cNvPr>
                      <p:cNvPicPr>
                        <a:picLocks noChangeAspect="1"/>
                      </p:cNvPicPr>
                      <p:nvPr/>
                    </p:nvPicPr>
                    <p:blipFill>
                      <a:blip r:embed="rId3"/>
                      <a:stretch>
                        <a:fillRect/>
                      </a:stretch>
                    </p:blipFill>
                    <p:spPr>
                      <a:xfrm>
                        <a:off x="5220072" y="2112897"/>
                        <a:ext cx="498605" cy="452007"/>
                      </a:xfrm>
                      <a:prstGeom prst="rect">
                        <a:avLst/>
                      </a:prstGeom>
                    </p:spPr>
                  </p:pic>
                </p:grpSp>
                <p:sp>
                  <p:nvSpPr>
                    <p:cNvPr id="8" name="文本框 7">
                      <a:extLst>
                        <a:ext uri="{FF2B5EF4-FFF2-40B4-BE49-F238E27FC236}">
                          <a16:creationId xmlns:a16="http://schemas.microsoft.com/office/drawing/2014/main" id="{BBAEB4EE-F1AD-4BA2-88B8-55D7D1CFAD13}"/>
                        </a:ext>
                      </a:extLst>
                    </p:cNvPr>
                    <p:cNvSpPr txBox="1"/>
                    <p:nvPr/>
                  </p:nvSpPr>
                  <p:spPr>
                    <a:xfrm>
                      <a:off x="6286202" y="1943620"/>
                      <a:ext cx="811149" cy="338554"/>
                    </a:xfrm>
                    <a:prstGeom prst="rect">
                      <a:avLst/>
                    </a:prstGeom>
                    <a:noFill/>
                  </p:spPr>
                  <p:txBody>
                    <a:bodyPr wrap="square" rtlCol="0">
                      <a:spAutoFit/>
                    </a:bodyPr>
                    <a:lstStyle/>
                    <a:p>
                      <a:r>
                        <a:rPr lang="en-US" altLang="zh-CN" sz="1600" b="1" dirty="0">
                          <a:highlight>
                            <a:srgbClr val="FFFF00"/>
                          </a:highlight>
                        </a:rPr>
                        <a:t>6T</a:t>
                      </a:r>
                      <a:endParaRPr lang="zh-CN" altLang="en-US" sz="1600" b="1" dirty="0">
                        <a:highlight>
                          <a:srgbClr val="FFFF00"/>
                        </a:highlight>
                      </a:endParaRPr>
                    </a:p>
                  </p:txBody>
                </p:sp>
              </p:grpSp>
              <p:sp>
                <p:nvSpPr>
                  <p:cNvPr id="10" name="文本框 9">
                    <a:extLst>
                      <a:ext uri="{FF2B5EF4-FFF2-40B4-BE49-F238E27FC236}">
                        <a16:creationId xmlns:a16="http://schemas.microsoft.com/office/drawing/2014/main" id="{9DBD5498-B83C-4FBF-A696-C9971685EF3E}"/>
                      </a:ext>
                    </a:extLst>
                  </p:cNvPr>
                  <p:cNvSpPr txBox="1"/>
                  <p:nvPr/>
                </p:nvSpPr>
                <p:spPr>
                  <a:xfrm>
                    <a:off x="6078852" y="3377359"/>
                    <a:ext cx="338554" cy="307777"/>
                  </a:xfrm>
                  <a:prstGeom prst="rect">
                    <a:avLst/>
                  </a:prstGeom>
                  <a:noFill/>
                </p:spPr>
                <p:txBody>
                  <a:bodyPr wrap="none" rtlCol="0">
                    <a:spAutoFit/>
                  </a:bodyPr>
                  <a:lstStyle/>
                  <a:p>
                    <a:r>
                      <a:rPr lang="en-US" altLang="zh-CN" sz="1400" b="1" dirty="0"/>
                      <a:t>P</a:t>
                    </a:r>
                    <a:r>
                      <a:rPr lang="en-US" altLang="zh-CN" sz="1400" b="1" baseline="-25000" dirty="0"/>
                      <a:t>0</a:t>
                    </a:r>
                    <a:endParaRPr lang="zh-CN" altLang="en-US" sz="1400" b="1" baseline="-25000" dirty="0"/>
                  </a:p>
                </p:txBody>
              </p:sp>
              <p:sp>
                <p:nvSpPr>
                  <p:cNvPr id="11" name="文本框 10">
                    <a:extLst>
                      <a:ext uri="{FF2B5EF4-FFF2-40B4-BE49-F238E27FC236}">
                        <a16:creationId xmlns:a16="http://schemas.microsoft.com/office/drawing/2014/main" id="{55C5AFD2-ADE7-4CAC-8F52-2088834B054C}"/>
                      </a:ext>
                    </a:extLst>
                  </p:cNvPr>
                  <p:cNvSpPr txBox="1"/>
                  <p:nvPr/>
                </p:nvSpPr>
                <p:spPr>
                  <a:xfrm>
                    <a:off x="5004048" y="3387991"/>
                    <a:ext cx="341760" cy="307777"/>
                  </a:xfrm>
                  <a:prstGeom prst="rect">
                    <a:avLst/>
                  </a:prstGeom>
                  <a:noFill/>
                </p:spPr>
                <p:txBody>
                  <a:bodyPr wrap="none" rtlCol="0">
                    <a:spAutoFit/>
                  </a:bodyPr>
                  <a:lstStyle/>
                  <a:p>
                    <a:r>
                      <a:rPr lang="en-US" altLang="zh-CN" sz="1400" b="1" dirty="0"/>
                      <a:t>P</a:t>
                    </a:r>
                    <a:r>
                      <a:rPr lang="en-US" altLang="zh-CN" sz="1400" b="1" baseline="-25000" dirty="0"/>
                      <a:t>1</a:t>
                    </a:r>
                    <a:endParaRPr lang="zh-CN" altLang="en-US" sz="1400" b="1" baseline="-25000" dirty="0"/>
                  </a:p>
                </p:txBody>
              </p:sp>
              <p:sp>
                <p:nvSpPr>
                  <p:cNvPr id="12" name="文本框 11">
                    <a:extLst>
                      <a:ext uri="{FF2B5EF4-FFF2-40B4-BE49-F238E27FC236}">
                        <a16:creationId xmlns:a16="http://schemas.microsoft.com/office/drawing/2014/main" id="{C99C3979-3BC6-482B-8C53-3552297466A5}"/>
                      </a:ext>
                    </a:extLst>
                  </p:cNvPr>
                  <p:cNvSpPr txBox="1"/>
                  <p:nvPr/>
                </p:nvSpPr>
                <p:spPr>
                  <a:xfrm>
                    <a:off x="3945414" y="3383572"/>
                    <a:ext cx="341760" cy="307777"/>
                  </a:xfrm>
                  <a:prstGeom prst="rect">
                    <a:avLst/>
                  </a:prstGeom>
                  <a:noFill/>
                </p:spPr>
                <p:txBody>
                  <a:bodyPr wrap="none" rtlCol="0">
                    <a:spAutoFit/>
                  </a:bodyPr>
                  <a:lstStyle/>
                  <a:p>
                    <a:r>
                      <a:rPr lang="en-US" altLang="zh-CN" sz="1400" b="1" dirty="0"/>
                      <a:t>P</a:t>
                    </a:r>
                    <a:r>
                      <a:rPr lang="en-US" altLang="zh-CN" sz="1400" b="1" baseline="-25000" dirty="0"/>
                      <a:t>2</a:t>
                    </a:r>
                    <a:endParaRPr lang="zh-CN" altLang="en-US" sz="1400" b="1" baseline="-25000" dirty="0"/>
                  </a:p>
                </p:txBody>
              </p:sp>
              <p:sp>
                <p:nvSpPr>
                  <p:cNvPr id="13" name="文本框 12">
                    <a:extLst>
                      <a:ext uri="{FF2B5EF4-FFF2-40B4-BE49-F238E27FC236}">
                        <a16:creationId xmlns:a16="http://schemas.microsoft.com/office/drawing/2014/main" id="{2E7BC871-F0CE-4AA4-A282-DBC377C01120}"/>
                      </a:ext>
                    </a:extLst>
                  </p:cNvPr>
                  <p:cNvSpPr txBox="1"/>
                  <p:nvPr/>
                </p:nvSpPr>
                <p:spPr>
                  <a:xfrm>
                    <a:off x="2886558" y="3378256"/>
                    <a:ext cx="341760" cy="307777"/>
                  </a:xfrm>
                  <a:prstGeom prst="rect">
                    <a:avLst/>
                  </a:prstGeom>
                  <a:noFill/>
                </p:spPr>
                <p:txBody>
                  <a:bodyPr wrap="none" rtlCol="0">
                    <a:spAutoFit/>
                  </a:bodyPr>
                  <a:lstStyle/>
                  <a:p>
                    <a:r>
                      <a:rPr lang="en-US" altLang="zh-CN" sz="1400" b="1" dirty="0"/>
                      <a:t>P</a:t>
                    </a:r>
                    <a:r>
                      <a:rPr lang="en-US" altLang="zh-CN" sz="1400" b="1" baseline="-25000" dirty="0"/>
                      <a:t>3</a:t>
                    </a:r>
                    <a:endParaRPr lang="zh-CN" altLang="en-US" sz="1400" b="1" baseline="-25000" dirty="0"/>
                  </a:p>
                </p:txBody>
              </p:sp>
            </p:grpSp>
            <p:pic>
              <p:nvPicPr>
                <p:cNvPr id="16" name="图片 15">
                  <a:extLst>
                    <a:ext uri="{FF2B5EF4-FFF2-40B4-BE49-F238E27FC236}">
                      <a16:creationId xmlns:a16="http://schemas.microsoft.com/office/drawing/2014/main" id="{6FB4FE5A-2ACC-40B3-A4BE-EF058E17F116}"/>
                    </a:ext>
                  </a:extLst>
                </p:cNvPr>
                <p:cNvPicPr>
                  <a:picLocks noChangeAspect="1"/>
                </p:cNvPicPr>
                <p:nvPr/>
              </p:nvPicPr>
              <p:blipFill>
                <a:blip r:embed="rId4"/>
                <a:stretch>
                  <a:fillRect/>
                </a:stretch>
              </p:blipFill>
              <p:spPr>
                <a:xfrm>
                  <a:off x="1907704" y="2683593"/>
                  <a:ext cx="457223" cy="387370"/>
                </a:xfrm>
                <a:prstGeom prst="rect">
                  <a:avLst/>
                </a:prstGeom>
              </p:spPr>
            </p:pic>
          </p:grpSp>
          <p:sp>
            <p:nvSpPr>
              <p:cNvPr id="18" name="文本框 17">
                <a:extLst>
                  <a:ext uri="{FF2B5EF4-FFF2-40B4-BE49-F238E27FC236}">
                    <a16:creationId xmlns:a16="http://schemas.microsoft.com/office/drawing/2014/main" id="{DFE1366D-B3B1-4D47-8545-ED40C909C22B}"/>
                  </a:ext>
                </a:extLst>
              </p:cNvPr>
              <p:cNvSpPr txBox="1"/>
              <p:nvPr/>
            </p:nvSpPr>
            <p:spPr>
              <a:xfrm>
                <a:off x="5292080" y="2044900"/>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19" name="文本框 18">
                <a:extLst>
                  <a:ext uri="{FF2B5EF4-FFF2-40B4-BE49-F238E27FC236}">
                    <a16:creationId xmlns:a16="http://schemas.microsoft.com/office/drawing/2014/main" id="{5E590081-E31C-4782-A1DE-6ACE2EF3A5C4}"/>
                  </a:ext>
                </a:extLst>
              </p:cNvPr>
              <p:cNvSpPr txBox="1"/>
              <p:nvPr/>
            </p:nvSpPr>
            <p:spPr>
              <a:xfrm>
                <a:off x="3198532" y="2039584"/>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20" name="文本框 19">
                <a:extLst>
                  <a:ext uri="{FF2B5EF4-FFF2-40B4-BE49-F238E27FC236}">
                    <a16:creationId xmlns:a16="http://schemas.microsoft.com/office/drawing/2014/main" id="{5DE9DB0E-7E58-405C-8A20-C8A6A266537F}"/>
                  </a:ext>
                </a:extLst>
              </p:cNvPr>
              <p:cNvSpPr txBox="1"/>
              <p:nvPr/>
            </p:nvSpPr>
            <p:spPr>
              <a:xfrm>
                <a:off x="4206644" y="2034268"/>
                <a:ext cx="504056" cy="338554"/>
              </a:xfrm>
              <a:prstGeom prst="rect">
                <a:avLst/>
              </a:prstGeom>
              <a:noFill/>
            </p:spPr>
            <p:txBody>
              <a:bodyPr wrap="square" rtlCol="0">
                <a:spAutoFit/>
              </a:bodyPr>
              <a:lstStyle/>
              <a:p>
                <a:r>
                  <a:rPr lang="en-US" altLang="zh-CN" sz="1600" b="1" dirty="0"/>
                  <a:t>8T</a:t>
                </a:r>
                <a:endParaRPr lang="zh-CN" altLang="en-US" sz="1600" b="1" dirty="0"/>
              </a:p>
            </p:txBody>
          </p:sp>
        </p:grpSp>
        <p:sp>
          <p:nvSpPr>
            <p:cNvPr id="22" name="文本框 21">
              <a:extLst>
                <a:ext uri="{FF2B5EF4-FFF2-40B4-BE49-F238E27FC236}">
                  <a16:creationId xmlns:a16="http://schemas.microsoft.com/office/drawing/2014/main" id="{5E1CF4A9-7964-498E-B0E5-FB1847C3D756}"/>
                </a:ext>
              </a:extLst>
            </p:cNvPr>
            <p:cNvSpPr txBox="1"/>
            <p:nvPr/>
          </p:nvSpPr>
          <p:spPr>
            <a:xfrm>
              <a:off x="899592" y="2930260"/>
              <a:ext cx="504056" cy="338554"/>
            </a:xfrm>
            <a:prstGeom prst="rect">
              <a:avLst/>
            </a:prstGeom>
            <a:noFill/>
          </p:spPr>
          <p:txBody>
            <a:bodyPr wrap="square" rtlCol="0">
              <a:spAutoFit/>
            </a:bodyPr>
            <a:lstStyle/>
            <a:p>
              <a:r>
                <a:rPr lang="en-US" altLang="zh-CN" sz="1600" b="1" dirty="0"/>
                <a:t>5T</a:t>
              </a:r>
              <a:endParaRPr lang="zh-CN" altLang="en-US" sz="1600" b="1" dirty="0"/>
            </a:p>
          </p:txBody>
        </p:sp>
      </p:grpSp>
      <p:sp>
        <p:nvSpPr>
          <p:cNvPr id="24" name="文本框 23">
            <a:extLst>
              <a:ext uri="{FF2B5EF4-FFF2-40B4-BE49-F238E27FC236}">
                <a16:creationId xmlns:a16="http://schemas.microsoft.com/office/drawing/2014/main" id="{B6442376-FDCA-4A27-B554-A63A84D0D472}"/>
              </a:ext>
            </a:extLst>
          </p:cNvPr>
          <p:cNvSpPr txBox="1"/>
          <p:nvPr/>
        </p:nvSpPr>
        <p:spPr>
          <a:xfrm>
            <a:off x="3684246" y="6515648"/>
            <a:ext cx="2304256" cy="307777"/>
          </a:xfrm>
          <a:prstGeom prst="rect">
            <a:avLst/>
          </a:prstGeom>
          <a:noFill/>
        </p:spPr>
        <p:txBody>
          <a:bodyPr wrap="square">
            <a:spAutoFit/>
          </a:bodyPr>
          <a:lstStyle/>
          <a:p>
            <a:r>
              <a:rPr lang="zh-CN" altLang="en-US" sz="1400" b="1" dirty="0"/>
              <a:t>图</a:t>
            </a:r>
            <a:r>
              <a:rPr lang="en-US" altLang="zh-CN" sz="1400" b="1" dirty="0"/>
              <a:t>3.6    4</a:t>
            </a:r>
            <a:r>
              <a:rPr lang="zh-CN" altLang="en-US" sz="1400" b="1" dirty="0"/>
              <a:t>位先行进位加法器</a:t>
            </a:r>
            <a:endParaRPr lang="zh-CN" altLang="en-US" sz="1400" dirty="0"/>
          </a:p>
        </p:txBody>
      </p:sp>
      <p:sp>
        <p:nvSpPr>
          <p:cNvPr id="25" name="对话气泡: 圆角矩形 24">
            <a:extLst>
              <a:ext uri="{FF2B5EF4-FFF2-40B4-BE49-F238E27FC236}">
                <a16:creationId xmlns:a16="http://schemas.microsoft.com/office/drawing/2014/main" id="{37CF84EC-83F1-45B1-AF0C-BAA581B44AD5}"/>
              </a:ext>
            </a:extLst>
          </p:cNvPr>
          <p:cNvSpPr/>
          <p:nvPr/>
        </p:nvSpPr>
        <p:spPr>
          <a:xfrm>
            <a:off x="190669" y="4797152"/>
            <a:ext cx="2016224" cy="684103"/>
          </a:xfrm>
          <a:prstGeom prst="wedgeRoundRectCallout">
            <a:avLst>
              <a:gd name="adj1" fmla="val 58070"/>
              <a:gd name="adj2" fmla="val -1280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Gi+PiCi</a:t>
            </a:r>
            <a:endParaRPr lang="en-US" altLang="zh-CN" dirty="0"/>
          </a:p>
          <a:p>
            <a:pPr algn="ctr"/>
            <a:r>
              <a:rPr lang="en-US" altLang="zh-CN" dirty="0"/>
              <a:t>Si=Pi</a:t>
            </a:r>
            <a:r>
              <a:rPr lang="en-US" altLang="zh-CN" b="1" dirty="0">
                <a:latin typeface="等线" panose="02010600030101010101" pitchFamily="2" charset="-122"/>
                <a:ea typeface="等线" panose="02010600030101010101" pitchFamily="2" charset="-122"/>
              </a:rPr>
              <a:t> ⊕Ci</a:t>
            </a:r>
            <a:endParaRPr lang="zh-CN" altLang="en-US" dirty="0"/>
          </a:p>
        </p:txBody>
      </p:sp>
      <p:sp>
        <p:nvSpPr>
          <p:cNvPr id="26" name="文本框 25">
            <a:extLst>
              <a:ext uri="{FF2B5EF4-FFF2-40B4-BE49-F238E27FC236}">
                <a16:creationId xmlns:a16="http://schemas.microsoft.com/office/drawing/2014/main" id="{EDAB7CFB-CB09-441D-9E40-A7A2AA441742}"/>
              </a:ext>
            </a:extLst>
          </p:cNvPr>
          <p:cNvSpPr txBox="1"/>
          <p:nvPr/>
        </p:nvSpPr>
        <p:spPr>
          <a:xfrm>
            <a:off x="2626216" y="2335535"/>
            <a:ext cx="864096" cy="369332"/>
          </a:xfrm>
          <a:prstGeom prst="rect">
            <a:avLst/>
          </a:prstGeom>
          <a:noFill/>
        </p:spPr>
        <p:txBody>
          <a:bodyPr wrap="square" rtlCol="0">
            <a:spAutoFit/>
          </a:bodyPr>
          <a:lstStyle/>
          <a:p>
            <a:r>
              <a:rPr lang="en-US" altLang="zh-CN" dirty="0"/>
              <a:t>P*  G*</a:t>
            </a:r>
            <a:endParaRPr lang="zh-CN" altLang="en-US" dirty="0"/>
          </a:p>
        </p:txBody>
      </p:sp>
      <p:cxnSp>
        <p:nvCxnSpPr>
          <p:cNvPr id="6" name="直接连接符 5">
            <a:extLst>
              <a:ext uri="{FF2B5EF4-FFF2-40B4-BE49-F238E27FC236}">
                <a16:creationId xmlns:a16="http://schemas.microsoft.com/office/drawing/2014/main" id="{9C5E9F5E-23FC-4EC7-B367-9527E6148E78}"/>
              </a:ext>
            </a:extLst>
          </p:cNvPr>
          <p:cNvCxnSpPr/>
          <p:nvPr/>
        </p:nvCxnSpPr>
        <p:spPr>
          <a:xfrm flipV="1">
            <a:off x="2843808" y="2624805"/>
            <a:ext cx="0" cy="300139"/>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5441201-FC1F-4802-B215-D568ECEB63F2}"/>
              </a:ext>
            </a:extLst>
          </p:cNvPr>
          <p:cNvCxnSpPr/>
          <p:nvPr/>
        </p:nvCxnSpPr>
        <p:spPr>
          <a:xfrm flipV="1">
            <a:off x="3116342" y="2613409"/>
            <a:ext cx="0" cy="300139"/>
          </a:xfrm>
          <a:prstGeom prst="line">
            <a:avLst/>
          </a:prstGeom>
          <a:ln w="28575"/>
        </p:spPr>
        <p:style>
          <a:lnRef idx="1">
            <a:schemeClr val="dk1"/>
          </a:lnRef>
          <a:fillRef idx="0">
            <a:schemeClr val="dk1"/>
          </a:fillRef>
          <a:effectRef idx="0">
            <a:schemeClr val="dk1"/>
          </a:effectRef>
          <a:fontRef idx="minor">
            <a:schemeClr val="tx1"/>
          </a:fontRef>
        </p:style>
      </p:cxnSp>
      <p:sp>
        <p:nvSpPr>
          <p:cNvPr id="15" name="对话气泡: 矩形 14">
            <a:extLst>
              <a:ext uri="{FF2B5EF4-FFF2-40B4-BE49-F238E27FC236}">
                <a16:creationId xmlns:a16="http://schemas.microsoft.com/office/drawing/2014/main" id="{670EDBA7-77E8-4FB7-82F8-1011A5719BEC}"/>
              </a:ext>
            </a:extLst>
          </p:cNvPr>
          <p:cNvSpPr/>
          <p:nvPr/>
        </p:nvSpPr>
        <p:spPr>
          <a:xfrm>
            <a:off x="7527147" y="1700808"/>
            <a:ext cx="1377246" cy="1718033"/>
          </a:xfrm>
          <a:prstGeom prst="wedgeRectCallout">
            <a:avLst>
              <a:gd name="adj1" fmla="val -36765"/>
              <a:gd name="adj2" fmla="val 8738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改为</a:t>
            </a:r>
            <a:r>
              <a:rPr lang="en-US" altLang="zh-CN" sz="1600" b="1" dirty="0">
                <a:solidFill>
                  <a:srgbClr val="C00000"/>
                </a:solidFill>
              </a:rPr>
              <a:t>C</a:t>
            </a:r>
            <a:r>
              <a:rPr lang="en-US" altLang="zh-CN" sz="1600" b="1" baseline="-25000" dirty="0">
                <a:solidFill>
                  <a:srgbClr val="C00000"/>
                </a:solidFill>
              </a:rPr>
              <a:t>-1</a:t>
            </a:r>
            <a:r>
              <a:rPr lang="zh-CN" altLang="en-US" sz="1600" b="1" dirty="0">
                <a:solidFill>
                  <a:srgbClr val="C00000"/>
                </a:solidFill>
              </a:rPr>
              <a:t>更合理，否则会破坏迭代关系；而且更符合并行进位的特点</a:t>
            </a:r>
          </a:p>
        </p:txBody>
      </p:sp>
      <p:sp>
        <p:nvSpPr>
          <p:cNvPr id="28" name="矩形 27">
            <a:extLst>
              <a:ext uri="{FF2B5EF4-FFF2-40B4-BE49-F238E27FC236}">
                <a16:creationId xmlns:a16="http://schemas.microsoft.com/office/drawing/2014/main" id="{B2115F9B-0E05-41B9-882F-4984EBE4806B}"/>
              </a:ext>
            </a:extLst>
          </p:cNvPr>
          <p:cNvSpPr/>
          <p:nvPr/>
        </p:nvSpPr>
        <p:spPr>
          <a:xfrm>
            <a:off x="7853444" y="3948577"/>
            <a:ext cx="431528" cy="369332"/>
          </a:xfrm>
          <a:prstGeom prst="rect">
            <a:avLst/>
          </a:prstGeom>
        </p:spPr>
        <p:txBody>
          <a:bodyPr wrap="none">
            <a:spAutoFit/>
          </a:bodyPr>
          <a:lstStyle/>
          <a:p>
            <a:r>
              <a:rPr lang="en-US" altLang="zh-CN" b="1" dirty="0">
                <a:solidFill>
                  <a:srgbClr val="C00000"/>
                </a:solidFill>
              </a:rPr>
              <a:t>C</a:t>
            </a:r>
            <a:r>
              <a:rPr lang="en-US" altLang="zh-CN" b="1" baseline="-25000" dirty="0">
                <a:solidFill>
                  <a:srgbClr val="C00000"/>
                </a:solidFill>
              </a:rPr>
              <a:t>-1</a:t>
            </a:r>
            <a:endParaRPr lang="zh-CN" altLang="en-US" dirty="0"/>
          </a:p>
        </p:txBody>
      </p:sp>
    </p:spTree>
    <p:extLst>
      <p:ext uri="{BB962C8B-B14F-4D97-AF65-F5344CB8AC3E}">
        <p14:creationId xmlns:p14="http://schemas.microsoft.com/office/powerpoint/2010/main" val="2686553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43D3BF6-3B27-4ACA-B55E-6CE35D9580FF}"/>
              </a:ext>
            </a:extLst>
          </p:cNvPr>
          <p:cNvSpPr txBox="1"/>
          <p:nvPr/>
        </p:nvSpPr>
        <p:spPr>
          <a:xfrm>
            <a:off x="2808785" y="404664"/>
            <a:ext cx="3347391"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位先行进位电路</a:t>
            </a:r>
            <a:endParaRPr lang="zh-CN" altLang="en-US" b="1" dirty="0"/>
          </a:p>
        </p:txBody>
      </p:sp>
      <p:pic>
        <p:nvPicPr>
          <p:cNvPr id="7" name="图片 6">
            <a:extLst>
              <a:ext uri="{FF2B5EF4-FFF2-40B4-BE49-F238E27FC236}">
                <a16:creationId xmlns:a16="http://schemas.microsoft.com/office/drawing/2014/main" id="{840091BD-813E-FB56-7263-A162D49A78FC}"/>
              </a:ext>
            </a:extLst>
          </p:cNvPr>
          <p:cNvPicPr>
            <a:picLocks noChangeAspect="1"/>
          </p:cNvPicPr>
          <p:nvPr/>
        </p:nvPicPr>
        <p:blipFill>
          <a:blip r:embed="rId2"/>
          <a:stretch>
            <a:fillRect/>
          </a:stretch>
        </p:blipFill>
        <p:spPr>
          <a:xfrm>
            <a:off x="0" y="1700808"/>
            <a:ext cx="9144000" cy="4212619"/>
          </a:xfrm>
          <a:prstGeom prst="rect">
            <a:avLst/>
          </a:prstGeom>
        </p:spPr>
      </p:pic>
      <p:sp>
        <p:nvSpPr>
          <p:cNvPr id="8" name="文本框 7">
            <a:extLst>
              <a:ext uri="{FF2B5EF4-FFF2-40B4-BE49-F238E27FC236}">
                <a16:creationId xmlns:a16="http://schemas.microsoft.com/office/drawing/2014/main" id="{11DB9E62-8816-0A0E-F709-61442436C6C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位先行进位电路</a:t>
            </a:r>
            <a:r>
              <a:rPr lang="en-US" altLang="zh-CN" sz="1200" b="1" dirty="0"/>
              <a:t>.circ</a:t>
            </a:r>
            <a:r>
              <a:rPr lang="zh-CN" altLang="en-US" sz="1200" b="1" dirty="0"/>
              <a:t>”</a:t>
            </a:r>
          </a:p>
        </p:txBody>
      </p:sp>
    </p:spTree>
    <p:extLst>
      <p:ext uri="{BB962C8B-B14F-4D97-AF65-F5344CB8AC3E}">
        <p14:creationId xmlns:p14="http://schemas.microsoft.com/office/powerpoint/2010/main" val="1256946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729087-FB46-4F36-AF33-C0DD9342B80B}"/>
              </a:ext>
            </a:extLst>
          </p:cNvPr>
          <p:cNvSpPr txBox="1"/>
          <p:nvPr/>
        </p:nvSpPr>
        <p:spPr>
          <a:xfrm>
            <a:off x="2029421" y="404664"/>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位快速加法器（先行进位加法器）</a:t>
            </a:r>
            <a:endParaRPr lang="zh-CN" altLang="en-US" b="1" dirty="0"/>
          </a:p>
        </p:txBody>
      </p:sp>
      <p:pic>
        <p:nvPicPr>
          <p:cNvPr id="3" name="图片 2">
            <a:extLst>
              <a:ext uri="{FF2B5EF4-FFF2-40B4-BE49-F238E27FC236}">
                <a16:creationId xmlns:a16="http://schemas.microsoft.com/office/drawing/2014/main" id="{3DA49181-3DC0-9E0F-4C39-D79B7A904D67}"/>
              </a:ext>
            </a:extLst>
          </p:cNvPr>
          <p:cNvPicPr>
            <a:picLocks noChangeAspect="1"/>
          </p:cNvPicPr>
          <p:nvPr/>
        </p:nvPicPr>
        <p:blipFill>
          <a:blip r:embed="rId2"/>
          <a:stretch>
            <a:fillRect/>
          </a:stretch>
        </p:blipFill>
        <p:spPr>
          <a:xfrm>
            <a:off x="0" y="1700808"/>
            <a:ext cx="9144000" cy="4768854"/>
          </a:xfrm>
          <a:prstGeom prst="rect">
            <a:avLst/>
          </a:prstGeom>
        </p:spPr>
      </p:pic>
      <p:sp>
        <p:nvSpPr>
          <p:cNvPr id="7" name="文本框 6">
            <a:extLst>
              <a:ext uri="{FF2B5EF4-FFF2-40B4-BE49-F238E27FC236}">
                <a16:creationId xmlns:a16="http://schemas.microsoft.com/office/drawing/2014/main" id="{BE9B27B2-EAAD-A0D4-81AB-AFF6AD393ED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位快速加法器</a:t>
            </a:r>
            <a:r>
              <a:rPr lang="en-US" altLang="zh-CN" sz="1200" b="1" dirty="0"/>
              <a:t>.circ</a:t>
            </a:r>
            <a:r>
              <a:rPr lang="zh-CN" altLang="en-US" sz="1200" b="1" dirty="0"/>
              <a:t>”</a:t>
            </a:r>
          </a:p>
        </p:txBody>
      </p:sp>
    </p:spTree>
    <p:extLst>
      <p:ext uri="{BB962C8B-B14F-4D97-AF65-F5344CB8AC3E}">
        <p14:creationId xmlns:p14="http://schemas.microsoft.com/office/powerpoint/2010/main" val="2782089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6547284E-884B-4D0B-B2D0-5568309BD1CA}"/>
              </a:ext>
            </a:extLst>
          </p:cNvPr>
          <p:cNvGrpSpPr/>
          <p:nvPr/>
        </p:nvGrpSpPr>
        <p:grpSpPr>
          <a:xfrm>
            <a:off x="70804" y="3848224"/>
            <a:ext cx="8928992" cy="2410684"/>
            <a:chOff x="0" y="2319783"/>
            <a:chExt cx="9144000" cy="2218434"/>
          </a:xfrm>
        </p:grpSpPr>
        <p:pic>
          <p:nvPicPr>
            <p:cNvPr id="4" name="图片 3">
              <a:extLst>
                <a:ext uri="{FF2B5EF4-FFF2-40B4-BE49-F238E27FC236}">
                  <a16:creationId xmlns:a16="http://schemas.microsoft.com/office/drawing/2014/main" id="{2ED42C82-3397-461D-8DB1-78263239F7DC}"/>
                </a:ext>
              </a:extLst>
            </p:cNvPr>
            <p:cNvPicPr>
              <a:picLocks noChangeAspect="1"/>
            </p:cNvPicPr>
            <p:nvPr/>
          </p:nvPicPr>
          <p:blipFill>
            <a:blip r:embed="rId2"/>
            <a:stretch>
              <a:fillRect/>
            </a:stretch>
          </p:blipFill>
          <p:spPr>
            <a:xfrm>
              <a:off x="0" y="2319783"/>
              <a:ext cx="9144000" cy="2218434"/>
            </a:xfrm>
            <a:prstGeom prst="rect">
              <a:avLst/>
            </a:prstGeom>
          </p:spPr>
        </p:pic>
        <p:sp>
          <p:nvSpPr>
            <p:cNvPr id="6" name="文本框 5">
              <a:extLst>
                <a:ext uri="{FF2B5EF4-FFF2-40B4-BE49-F238E27FC236}">
                  <a16:creationId xmlns:a16="http://schemas.microsoft.com/office/drawing/2014/main" id="{20129B68-E0FA-4EB4-8870-B7DF18AB1E77}"/>
                </a:ext>
              </a:extLst>
            </p:cNvPr>
            <p:cNvSpPr txBox="1"/>
            <p:nvPr/>
          </p:nvSpPr>
          <p:spPr>
            <a:xfrm>
              <a:off x="7102624" y="4230440"/>
              <a:ext cx="1717848" cy="276999"/>
            </a:xfrm>
            <a:prstGeom prst="rect">
              <a:avLst/>
            </a:prstGeom>
            <a:noFill/>
          </p:spPr>
          <p:txBody>
            <a:bodyPr wrap="square" rtlCol="0">
              <a:spAutoFit/>
            </a:bodyPr>
            <a:lstStyle/>
            <a:p>
              <a:r>
                <a:rPr lang="en-US" altLang="zh-CN" sz="1200" b="1" dirty="0"/>
                <a:t>X</a:t>
              </a:r>
              <a:r>
                <a:rPr lang="en-US" altLang="zh-CN" sz="1200" b="1" baseline="-25000" dirty="0"/>
                <a:t>3  </a:t>
              </a:r>
              <a:r>
                <a:rPr lang="en-US" altLang="zh-CN" sz="1200" b="1" dirty="0"/>
                <a:t>Y</a:t>
              </a:r>
              <a:r>
                <a:rPr lang="en-US" altLang="zh-CN" sz="1200" b="1" baseline="-25000" dirty="0"/>
                <a:t>3  </a:t>
              </a:r>
              <a:r>
                <a:rPr lang="en-US" altLang="zh-CN" sz="1200" b="1" dirty="0"/>
                <a:t>X</a:t>
              </a:r>
              <a:r>
                <a:rPr lang="en-US" altLang="zh-CN" sz="1200" b="1" baseline="-25000" dirty="0"/>
                <a:t>2  </a:t>
              </a:r>
              <a:r>
                <a:rPr lang="en-US" altLang="zh-CN" sz="1200" b="1" dirty="0"/>
                <a:t>Y</a:t>
              </a:r>
              <a:r>
                <a:rPr lang="en-US" altLang="zh-CN" sz="1200" b="1" baseline="-25000" dirty="0"/>
                <a:t>2  </a:t>
              </a:r>
              <a:r>
                <a:rPr lang="en-US" altLang="zh-CN" sz="1200" b="1" dirty="0"/>
                <a:t>X</a:t>
              </a:r>
              <a:r>
                <a:rPr lang="en-US" altLang="zh-CN" sz="1200" b="1" baseline="-25000" dirty="0"/>
                <a:t>1  </a:t>
              </a:r>
              <a:r>
                <a:rPr lang="en-US" altLang="zh-CN" sz="1200" b="1" dirty="0"/>
                <a:t>Y</a:t>
              </a:r>
              <a:r>
                <a:rPr lang="en-US" altLang="zh-CN" sz="1200" b="1" baseline="-25000" dirty="0"/>
                <a:t>1  </a:t>
              </a:r>
              <a:r>
                <a:rPr lang="en-US" altLang="zh-CN" sz="1200" b="1" dirty="0"/>
                <a:t>X</a:t>
              </a:r>
              <a:r>
                <a:rPr lang="en-US" altLang="zh-CN" sz="1200" b="1" baseline="-25000" dirty="0"/>
                <a:t>0  </a:t>
              </a:r>
              <a:r>
                <a:rPr lang="en-US" altLang="zh-CN" sz="1200" b="1" dirty="0"/>
                <a:t>Y</a:t>
              </a:r>
              <a:r>
                <a:rPr lang="en-US" altLang="zh-CN" sz="1200" b="1" baseline="-25000" dirty="0"/>
                <a:t>0</a:t>
              </a:r>
              <a:endParaRPr lang="zh-CN" altLang="en-US" sz="1200" b="1" baseline="-25000" dirty="0"/>
            </a:p>
          </p:txBody>
        </p:sp>
        <p:sp>
          <p:nvSpPr>
            <p:cNvPr id="7" name="文本框 6">
              <a:extLst>
                <a:ext uri="{FF2B5EF4-FFF2-40B4-BE49-F238E27FC236}">
                  <a16:creationId xmlns:a16="http://schemas.microsoft.com/office/drawing/2014/main" id="{6996C3B9-3439-4F47-BD81-5F7D35634D27}"/>
                </a:ext>
              </a:extLst>
            </p:cNvPr>
            <p:cNvSpPr txBox="1"/>
            <p:nvPr/>
          </p:nvSpPr>
          <p:spPr>
            <a:xfrm>
              <a:off x="4905098" y="4221088"/>
              <a:ext cx="1717848" cy="286351"/>
            </a:xfrm>
            <a:prstGeom prst="rect">
              <a:avLst/>
            </a:prstGeom>
            <a:noFill/>
          </p:spPr>
          <p:txBody>
            <a:bodyPr wrap="square" rtlCol="0">
              <a:spAutoFit/>
            </a:bodyPr>
            <a:lstStyle/>
            <a:p>
              <a:r>
                <a:rPr lang="en-US" altLang="zh-CN" sz="1200" b="1" dirty="0"/>
                <a:t>X</a:t>
              </a:r>
              <a:r>
                <a:rPr lang="en-US" altLang="zh-CN" sz="1200" b="1" baseline="-25000" dirty="0"/>
                <a:t>7  </a:t>
              </a:r>
              <a:r>
                <a:rPr lang="en-US" altLang="zh-CN" sz="1200" b="1" dirty="0"/>
                <a:t>Y</a:t>
              </a:r>
              <a:r>
                <a:rPr lang="en-US" altLang="zh-CN" sz="1200" b="1" baseline="-25000" dirty="0"/>
                <a:t>7  </a:t>
              </a:r>
              <a:r>
                <a:rPr lang="en-US" altLang="zh-CN" sz="1200" b="1" dirty="0"/>
                <a:t>X</a:t>
              </a:r>
              <a:r>
                <a:rPr lang="en-US" altLang="zh-CN" sz="1200" b="1" baseline="-25000" dirty="0"/>
                <a:t>6  </a:t>
              </a:r>
              <a:r>
                <a:rPr lang="en-US" altLang="zh-CN" sz="1200" b="1" dirty="0"/>
                <a:t>Y</a:t>
              </a:r>
              <a:r>
                <a:rPr lang="en-US" altLang="zh-CN" sz="1200" b="1" baseline="-25000" dirty="0"/>
                <a:t>6  </a:t>
              </a:r>
              <a:r>
                <a:rPr lang="en-US" altLang="zh-CN" sz="1200" b="1" dirty="0"/>
                <a:t>X</a:t>
              </a:r>
              <a:r>
                <a:rPr lang="en-US" altLang="zh-CN" sz="1200" b="1" baseline="-25000" dirty="0"/>
                <a:t>5  </a:t>
              </a:r>
              <a:r>
                <a:rPr lang="en-US" altLang="zh-CN" sz="1200" b="1" dirty="0"/>
                <a:t>Y</a:t>
              </a:r>
              <a:r>
                <a:rPr lang="en-US" altLang="zh-CN" sz="1200" b="1" baseline="-25000" dirty="0"/>
                <a:t>5  </a:t>
              </a:r>
              <a:r>
                <a:rPr lang="en-US" altLang="zh-CN" sz="1200" b="1" dirty="0"/>
                <a:t>X</a:t>
              </a:r>
              <a:r>
                <a:rPr lang="en-US" altLang="zh-CN" sz="1200" b="1" baseline="-25000" dirty="0"/>
                <a:t>4  </a:t>
              </a:r>
              <a:r>
                <a:rPr lang="en-US" altLang="zh-CN" sz="1200" b="1" dirty="0"/>
                <a:t>Y</a:t>
              </a:r>
              <a:r>
                <a:rPr lang="en-US" altLang="zh-CN" sz="1200" b="1" baseline="-25000" dirty="0"/>
                <a:t>4</a:t>
              </a:r>
              <a:endParaRPr lang="zh-CN" altLang="en-US" sz="1200" b="1" baseline="-25000" dirty="0"/>
            </a:p>
          </p:txBody>
        </p:sp>
        <p:sp>
          <p:nvSpPr>
            <p:cNvPr id="8" name="文本框 7">
              <a:extLst>
                <a:ext uri="{FF2B5EF4-FFF2-40B4-BE49-F238E27FC236}">
                  <a16:creationId xmlns:a16="http://schemas.microsoft.com/office/drawing/2014/main" id="{31A3527D-6306-408E-A533-8F8611DB6C7B}"/>
                </a:ext>
              </a:extLst>
            </p:cNvPr>
            <p:cNvSpPr txBox="1"/>
            <p:nvPr/>
          </p:nvSpPr>
          <p:spPr>
            <a:xfrm>
              <a:off x="2771800" y="4221088"/>
              <a:ext cx="1809770" cy="276999"/>
            </a:xfrm>
            <a:prstGeom prst="rect">
              <a:avLst/>
            </a:prstGeom>
            <a:noFill/>
          </p:spPr>
          <p:txBody>
            <a:bodyPr wrap="square" rtlCol="0">
              <a:spAutoFit/>
            </a:bodyPr>
            <a:lstStyle/>
            <a:p>
              <a:r>
                <a:rPr lang="en-US" altLang="zh-CN" sz="1200" b="1" dirty="0"/>
                <a:t>X</a:t>
              </a:r>
              <a:r>
                <a:rPr lang="en-US" altLang="zh-CN" sz="1200" b="1" baseline="-25000" dirty="0"/>
                <a:t>11  </a:t>
              </a:r>
              <a:r>
                <a:rPr lang="en-US" altLang="zh-CN" sz="1200" b="1" dirty="0"/>
                <a:t>Y</a:t>
              </a:r>
              <a:r>
                <a:rPr lang="en-US" altLang="zh-CN" sz="1200" b="1" baseline="-25000" dirty="0"/>
                <a:t>11  </a:t>
              </a:r>
              <a:r>
                <a:rPr lang="en-US" altLang="zh-CN" sz="1200" b="1" dirty="0"/>
                <a:t>X</a:t>
              </a:r>
              <a:r>
                <a:rPr lang="en-US" altLang="zh-CN" sz="1200" b="1" baseline="-25000" dirty="0"/>
                <a:t>10  </a:t>
              </a:r>
              <a:r>
                <a:rPr lang="en-US" altLang="zh-CN" sz="1200" b="1" dirty="0"/>
                <a:t>Y</a:t>
              </a:r>
              <a:r>
                <a:rPr lang="en-US" altLang="zh-CN" sz="1200" b="1" baseline="-25000" dirty="0"/>
                <a:t>10  </a:t>
              </a:r>
              <a:r>
                <a:rPr lang="en-US" altLang="zh-CN" sz="1200" b="1" dirty="0"/>
                <a:t>X</a:t>
              </a:r>
              <a:r>
                <a:rPr lang="en-US" altLang="zh-CN" sz="1200" b="1" baseline="-25000" dirty="0"/>
                <a:t>9  </a:t>
              </a:r>
              <a:r>
                <a:rPr lang="en-US" altLang="zh-CN" sz="1200" b="1" dirty="0"/>
                <a:t>Y</a:t>
              </a:r>
              <a:r>
                <a:rPr lang="en-US" altLang="zh-CN" sz="1200" b="1" baseline="-25000" dirty="0"/>
                <a:t>9  </a:t>
              </a:r>
              <a:r>
                <a:rPr lang="en-US" altLang="zh-CN" sz="1200" b="1" dirty="0"/>
                <a:t>X</a:t>
              </a:r>
              <a:r>
                <a:rPr lang="en-US" altLang="zh-CN" sz="1200" b="1" baseline="-25000" dirty="0"/>
                <a:t>8  </a:t>
              </a:r>
              <a:r>
                <a:rPr lang="en-US" altLang="zh-CN" sz="1200" b="1" dirty="0"/>
                <a:t>Y</a:t>
              </a:r>
              <a:r>
                <a:rPr lang="en-US" altLang="zh-CN" sz="1200" b="1" baseline="-25000" dirty="0"/>
                <a:t>8</a:t>
              </a:r>
              <a:endParaRPr lang="zh-CN" altLang="en-US" sz="1200" b="1" baseline="-25000" dirty="0"/>
            </a:p>
          </p:txBody>
        </p:sp>
        <p:sp>
          <p:nvSpPr>
            <p:cNvPr id="9" name="文本框 8">
              <a:extLst>
                <a:ext uri="{FF2B5EF4-FFF2-40B4-BE49-F238E27FC236}">
                  <a16:creationId xmlns:a16="http://schemas.microsoft.com/office/drawing/2014/main" id="{D55A3042-A9BF-47D0-A12D-83C8AE3526B9}"/>
                </a:ext>
              </a:extLst>
            </p:cNvPr>
            <p:cNvSpPr txBox="1"/>
            <p:nvPr/>
          </p:nvSpPr>
          <p:spPr>
            <a:xfrm>
              <a:off x="248024" y="4221088"/>
              <a:ext cx="2200248" cy="276999"/>
            </a:xfrm>
            <a:prstGeom prst="rect">
              <a:avLst/>
            </a:prstGeom>
            <a:noFill/>
          </p:spPr>
          <p:txBody>
            <a:bodyPr wrap="square" rtlCol="0">
              <a:spAutoFit/>
            </a:bodyPr>
            <a:lstStyle/>
            <a:p>
              <a:r>
                <a:rPr lang="en-US" altLang="zh-CN" sz="1200" b="1" dirty="0"/>
                <a:t>X</a:t>
              </a:r>
              <a:r>
                <a:rPr lang="en-US" altLang="zh-CN" sz="1200" b="1" baseline="-25000" dirty="0"/>
                <a:t>15  </a:t>
              </a:r>
              <a:r>
                <a:rPr lang="en-US" altLang="zh-CN" sz="1200" b="1" dirty="0"/>
                <a:t>Y</a:t>
              </a:r>
              <a:r>
                <a:rPr lang="en-US" altLang="zh-CN" sz="1200" b="1" baseline="-25000" dirty="0"/>
                <a:t>15  </a:t>
              </a:r>
              <a:r>
                <a:rPr lang="en-US" altLang="zh-CN" sz="1200" b="1" dirty="0"/>
                <a:t>X</a:t>
              </a:r>
              <a:r>
                <a:rPr lang="en-US" altLang="zh-CN" sz="1200" b="1" baseline="-25000" dirty="0"/>
                <a:t>14  </a:t>
              </a:r>
              <a:r>
                <a:rPr lang="en-US" altLang="zh-CN" sz="1200" b="1" dirty="0"/>
                <a:t>Y</a:t>
              </a:r>
              <a:r>
                <a:rPr lang="en-US" altLang="zh-CN" sz="1200" b="1" baseline="-25000" dirty="0"/>
                <a:t>14  </a:t>
              </a:r>
              <a:r>
                <a:rPr lang="en-US" altLang="zh-CN" sz="1200" b="1" dirty="0"/>
                <a:t>X</a:t>
              </a:r>
              <a:r>
                <a:rPr lang="en-US" altLang="zh-CN" sz="1200" b="1" baseline="-25000" dirty="0"/>
                <a:t>13  </a:t>
              </a:r>
              <a:r>
                <a:rPr lang="en-US" altLang="zh-CN" sz="1200" b="1" dirty="0"/>
                <a:t>Y</a:t>
              </a:r>
              <a:r>
                <a:rPr lang="en-US" altLang="zh-CN" sz="1200" b="1" baseline="-25000" dirty="0"/>
                <a:t>13  </a:t>
              </a:r>
              <a:r>
                <a:rPr lang="en-US" altLang="zh-CN" sz="1200" b="1" dirty="0"/>
                <a:t>X</a:t>
              </a:r>
              <a:r>
                <a:rPr lang="en-US" altLang="zh-CN" sz="1200" b="1" baseline="-25000" dirty="0"/>
                <a:t>12  </a:t>
              </a:r>
              <a:r>
                <a:rPr lang="en-US" altLang="zh-CN" sz="1200" b="1" dirty="0"/>
                <a:t>Y</a:t>
              </a:r>
              <a:r>
                <a:rPr lang="en-US" altLang="zh-CN" sz="1200" b="1" baseline="-25000" dirty="0"/>
                <a:t>12</a:t>
              </a:r>
              <a:endParaRPr lang="zh-CN" altLang="en-US" sz="1200" b="1" baseline="-25000" dirty="0"/>
            </a:p>
          </p:txBody>
        </p:sp>
        <p:sp>
          <p:nvSpPr>
            <p:cNvPr id="11" name="文本框 10">
              <a:extLst>
                <a:ext uri="{FF2B5EF4-FFF2-40B4-BE49-F238E27FC236}">
                  <a16:creationId xmlns:a16="http://schemas.microsoft.com/office/drawing/2014/main" id="{E83A4940-147E-4B94-9066-09A8FC6DD6BA}"/>
                </a:ext>
              </a:extLst>
            </p:cNvPr>
            <p:cNvSpPr txBox="1"/>
            <p:nvPr/>
          </p:nvSpPr>
          <p:spPr>
            <a:xfrm>
              <a:off x="4932043" y="3140968"/>
              <a:ext cx="1656183" cy="276999"/>
            </a:xfrm>
            <a:prstGeom prst="rect">
              <a:avLst/>
            </a:prstGeom>
            <a:noFill/>
          </p:spPr>
          <p:txBody>
            <a:bodyPr wrap="square" rtlCol="0">
              <a:spAutoFit/>
            </a:bodyPr>
            <a:lstStyle/>
            <a:p>
              <a:r>
                <a:rPr lang="en-US" altLang="zh-CN" sz="1200" b="1" dirty="0"/>
                <a:t>S</a:t>
              </a:r>
              <a:r>
                <a:rPr lang="en-US" altLang="zh-CN" sz="1200" b="1" baseline="-25000" dirty="0"/>
                <a:t>7           </a:t>
              </a:r>
              <a:r>
                <a:rPr lang="en-US" altLang="zh-CN" sz="1200" b="1" dirty="0"/>
                <a:t>S</a:t>
              </a:r>
              <a:r>
                <a:rPr lang="en-US" altLang="zh-CN" sz="1200" b="1" baseline="-25000" dirty="0"/>
                <a:t>6            </a:t>
              </a:r>
              <a:r>
                <a:rPr lang="en-US" altLang="zh-CN" sz="1200" b="1" dirty="0"/>
                <a:t>S</a:t>
              </a:r>
              <a:r>
                <a:rPr lang="en-US" altLang="zh-CN" sz="1200" b="1" baseline="-25000" dirty="0"/>
                <a:t>5    </a:t>
              </a:r>
              <a:r>
                <a:rPr lang="en-US" altLang="zh-CN" sz="1200" b="1" dirty="0"/>
                <a:t>   </a:t>
              </a:r>
              <a:r>
                <a:rPr lang="en-US" altLang="zh-CN" sz="1200" b="1" baseline="-25000" dirty="0"/>
                <a:t>  </a:t>
              </a:r>
              <a:r>
                <a:rPr lang="en-US" altLang="zh-CN" sz="1200" b="1" dirty="0"/>
                <a:t>S</a:t>
              </a:r>
              <a:r>
                <a:rPr lang="en-US" altLang="zh-CN" sz="1200" b="1" baseline="-25000" dirty="0"/>
                <a:t>4</a:t>
              </a:r>
              <a:endParaRPr lang="zh-CN" altLang="en-US" sz="1200" b="1" baseline="-25000" dirty="0"/>
            </a:p>
          </p:txBody>
        </p:sp>
        <p:sp>
          <p:nvSpPr>
            <p:cNvPr id="12" name="文本框 11">
              <a:extLst>
                <a:ext uri="{FF2B5EF4-FFF2-40B4-BE49-F238E27FC236}">
                  <a16:creationId xmlns:a16="http://schemas.microsoft.com/office/drawing/2014/main" id="{E246A3F4-90DA-4022-8F13-A891C4E12CFB}"/>
                </a:ext>
              </a:extLst>
            </p:cNvPr>
            <p:cNvSpPr txBox="1"/>
            <p:nvPr/>
          </p:nvSpPr>
          <p:spPr>
            <a:xfrm>
              <a:off x="2987824" y="3140968"/>
              <a:ext cx="1584176" cy="276999"/>
            </a:xfrm>
            <a:prstGeom prst="rect">
              <a:avLst/>
            </a:prstGeom>
            <a:noFill/>
          </p:spPr>
          <p:txBody>
            <a:bodyPr wrap="square" rtlCol="0">
              <a:spAutoFit/>
            </a:bodyPr>
            <a:lstStyle/>
            <a:p>
              <a:r>
                <a:rPr lang="en-US" altLang="zh-CN" sz="1200" b="1" dirty="0"/>
                <a:t>S</a:t>
              </a:r>
              <a:r>
                <a:rPr lang="en-US" altLang="zh-CN" sz="1200" b="1" baseline="-25000" dirty="0"/>
                <a:t>11         </a:t>
              </a:r>
              <a:r>
                <a:rPr lang="en-US" altLang="zh-CN" sz="1200" b="1" dirty="0"/>
                <a:t>S</a:t>
              </a:r>
              <a:r>
                <a:rPr lang="en-US" altLang="zh-CN" sz="1200" b="1" baseline="-25000" dirty="0"/>
                <a:t>10         </a:t>
              </a:r>
              <a:r>
                <a:rPr lang="en-US" altLang="zh-CN" sz="1200" b="1" dirty="0"/>
                <a:t>S</a:t>
              </a:r>
              <a:r>
                <a:rPr lang="en-US" altLang="zh-CN" sz="1200" b="1" baseline="-25000" dirty="0"/>
                <a:t>9           </a:t>
              </a:r>
              <a:r>
                <a:rPr lang="en-US" altLang="zh-CN" sz="1200" b="1" dirty="0"/>
                <a:t>S</a:t>
              </a:r>
              <a:r>
                <a:rPr lang="en-US" altLang="zh-CN" sz="1200" b="1" baseline="-25000" dirty="0"/>
                <a:t>8</a:t>
              </a:r>
              <a:endParaRPr lang="zh-CN" altLang="en-US" sz="1200" b="1" baseline="-25000" dirty="0"/>
            </a:p>
          </p:txBody>
        </p:sp>
        <p:sp>
          <p:nvSpPr>
            <p:cNvPr id="13" name="文本框 12">
              <a:extLst>
                <a:ext uri="{FF2B5EF4-FFF2-40B4-BE49-F238E27FC236}">
                  <a16:creationId xmlns:a16="http://schemas.microsoft.com/office/drawing/2014/main" id="{A87BFA81-6DD3-4473-8C1C-D94E4D482B74}"/>
                </a:ext>
              </a:extLst>
            </p:cNvPr>
            <p:cNvSpPr txBox="1"/>
            <p:nvPr/>
          </p:nvSpPr>
          <p:spPr>
            <a:xfrm>
              <a:off x="755576" y="3140968"/>
              <a:ext cx="1656184" cy="276999"/>
            </a:xfrm>
            <a:prstGeom prst="rect">
              <a:avLst/>
            </a:prstGeom>
            <a:noFill/>
          </p:spPr>
          <p:txBody>
            <a:bodyPr wrap="square" rtlCol="0">
              <a:spAutoFit/>
            </a:bodyPr>
            <a:lstStyle/>
            <a:p>
              <a:r>
                <a:rPr lang="en-US" altLang="zh-CN" sz="1200" b="1" dirty="0"/>
                <a:t>S</a:t>
              </a:r>
              <a:r>
                <a:rPr lang="en-US" altLang="zh-CN" sz="1200" b="1" baseline="-25000" dirty="0"/>
                <a:t>15          </a:t>
              </a:r>
              <a:r>
                <a:rPr lang="en-US" altLang="zh-CN" sz="1200" b="1" dirty="0"/>
                <a:t>S</a:t>
              </a:r>
              <a:r>
                <a:rPr lang="en-US" altLang="zh-CN" sz="1200" b="1" baseline="-25000" dirty="0"/>
                <a:t>14         </a:t>
              </a:r>
              <a:r>
                <a:rPr lang="en-US" altLang="zh-CN" sz="1200" b="1" dirty="0"/>
                <a:t>S</a:t>
              </a:r>
              <a:r>
                <a:rPr lang="en-US" altLang="zh-CN" sz="1200" b="1" baseline="-25000" dirty="0"/>
                <a:t>13         </a:t>
              </a:r>
              <a:r>
                <a:rPr lang="en-US" altLang="zh-CN" sz="1200" b="1" dirty="0"/>
                <a:t>S</a:t>
              </a:r>
              <a:r>
                <a:rPr lang="en-US" altLang="zh-CN" sz="1200" b="1" baseline="-25000" dirty="0"/>
                <a:t>12</a:t>
              </a:r>
              <a:endParaRPr lang="zh-CN" altLang="en-US" sz="1200" b="1" baseline="-25000" dirty="0"/>
            </a:p>
          </p:txBody>
        </p:sp>
        <p:sp>
          <p:nvSpPr>
            <p:cNvPr id="14" name="文本框 13">
              <a:extLst>
                <a:ext uri="{FF2B5EF4-FFF2-40B4-BE49-F238E27FC236}">
                  <a16:creationId xmlns:a16="http://schemas.microsoft.com/office/drawing/2014/main" id="{2AC3493F-5D7A-48D4-9CD9-28751B1FC857}"/>
                </a:ext>
              </a:extLst>
            </p:cNvPr>
            <p:cNvSpPr txBox="1"/>
            <p:nvPr/>
          </p:nvSpPr>
          <p:spPr>
            <a:xfrm>
              <a:off x="7164289" y="3140968"/>
              <a:ext cx="1656184" cy="276999"/>
            </a:xfrm>
            <a:prstGeom prst="rect">
              <a:avLst/>
            </a:prstGeom>
            <a:noFill/>
          </p:spPr>
          <p:txBody>
            <a:bodyPr wrap="square" rtlCol="0">
              <a:spAutoFit/>
            </a:bodyPr>
            <a:lstStyle/>
            <a:p>
              <a:r>
                <a:rPr lang="en-US" altLang="zh-CN" sz="1200" b="1" dirty="0"/>
                <a:t>S</a:t>
              </a:r>
              <a:r>
                <a:rPr lang="en-US" altLang="zh-CN" sz="1200" b="1" baseline="-25000" dirty="0"/>
                <a:t>3           </a:t>
              </a:r>
              <a:r>
                <a:rPr lang="en-US" altLang="zh-CN" sz="1200" b="1" dirty="0"/>
                <a:t>S</a:t>
              </a:r>
              <a:r>
                <a:rPr lang="en-US" altLang="zh-CN" sz="1200" b="1" baseline="-25000" dirty="0"/>
                <a:t>2            </a:t>
              </a:r>
              <a:r>
                <a:rPr lang="en-US" altLang="zh-CN" sz="1200" b="1" dirty="0"/>
                <a:t>S</a:t>
              </a:r>
              <a:r>
                <a:rPr lang="en-US" altLang="zh-CN" sz="1200" b="1" baseline="-25000" dirty="0"/>
                <a:t>1           </a:t>
              </a:r>
              <a:r>
                <a:rPr lang="en-US" altLang="zh-CN" sz="1200" b="1" dirty="0"/>
                <a:t>S</a:t>
              </a:r>
              <a:r>
                <a:rPr lang="en-US" altLang="zh-CN" sz="1200" b="1" baseline="-25000" dirty="0"/>
                <a:t>0</a:t>
              </a:r>
              <a:endParaRPr lang="zh-CN" altLang="en-US" sz="1200" b="1" baseline="-25000" dirty="0"/>
            </a:p>
          </p:txBody>
        </p:sp>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332668"/>
            <a:ext cx="8229600" cy="3309237"/>
          </a:xfrm>
        </p:spPr>
        <p:txBody>
          <a:bodyPr/>
          <a:lstStyle/>
          <a:p>
            <a:r>
              <a:rPr lang="en-US" altLang="zh-CN" sz="1800" b="1" dirty="0"/>
              <a:t>16</a:t>
            </a:r>
            <a:r>
              <a:rPr lang="zh-CN" altLang="en-US" sz="1800" b="1" dirty="0"/>
              <a:t>位加法器（教材图</a:t>
            </a:r>
            <a:r>
              <a:rPr lang="en-US" altLang="zh-CN" sz="1800" b="1" dirty="0"/>
              <a:t>3.7</a:t>
            </a:r>
            <a:r>
              <a:rPr lang="zh-CN" altLang="en-US" sz="1800" b="1" dirty="0"/>
              <a:t>，组内并行、组间串行，即：</a:t>
            </a:r>
            <a:r>
              <a:rPr lang="zh-CN" altLang="en-US" sz="1800" b="1" dirty="0">
                <a:highlight>
                  <a:srgbClr val="FFFF00"/>
                </a:highlight>
              </a:rPr>
              <a:t>单重分组</a:t>
            </a:r>
            <a:r>
              <a:rPr lang="zh-CN" altLang="en-US" sz="1800" b="1" dirty="0"/>
              <a:t>）</a:t>
            </a:r>
            <a:r>
              <a:rPr lang="zh-CN" altLang="en-US" sz="1800" b="1" dirty="0">
                <a:highlight>
                  <a:srgbClr val="FFFF00"/>
                </a:highlight>
              </a:rPr>
              <a:t>参：唐朔飞老师</a:t>
            </a:r>
            <a:r>
              <a:rPr lang="en-US" altLang="zh-CN" sz="1800" b="1" dirty="0">
                <a:highlight>
                  <a:srgbClr val="FFFF00"/>
                </a:highlight>
              </a:rPr>
              <a:t>PPT</a:t>
            </a:r>
          </a:p>
          <a:p>
            <a:pPr lvl="1">
              <a:lnSpc>
                <a:spcPct val="120000"/>
              </a:lnSpc>
            </a:pPr>
            <a:r>
              <a:rPr lang="zh-CN" altLang="en-US" sz="1600" b="1" dirty="0"/>
              <a:t>得到</a:t>
            </a:r>
            <a:r>
              <a:rPr lang="en-US" altLang="zh-CN" sz="1600" b="1" dirty="0"/>
              <a:t>S</a:t>
            </a:r>
            <a:r>
              <a:rPr lang="en-US" altLang="zh-CN" sz="1600" b="1" baseline="-25000" dirty="0"/>
              <a:t>0</a:t>
            </a:r>
            <a:r>
              <a:rPr lang="zh-CN" altLang="en-US" sz="1600" b="1" dirty="0"/>
              <a:t>时间</a:t>
            </a:r>
            <a:r>
              <a:rPr lang="en-US" altLang="zh-CN" sz="1600" b="1" dirty="0">
                <a:solidFill>
                  <a:srgbClr val="C00000"/>
                </a:solidFill>
              </a:rPr>
              <a:t>6T</a:t>
            </a:r>
            <a:r>
              <a:rPr lang="zh-CN" altLang="en-US" sz="1600" b="1" dirty="0"/>
              <a:t>、</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8T </a:t>
            </a:r>
            <a:r>
              <a:rPr lang="zh-CN" altLang="en-US" sz="1600" b="1" dirty="0"/>
              <a:t>； </a:t>
            </a:r>
            <a:r>
              <a:rPr lang="en-US" altLang="zh-CN" sz="1600" b="1" dirty="0">
                <a:solidFill>
                  <a:srgbClr val="C00000"/>
                </a:solidFill>
              </a:rPr>
              <a:t>C0</a:t>
            </a:r>
            <a:r>
              <a:rPr lang="zh-CN" altLang="en-US" sz="1600" b="1" dirty="0">
                <a:solidFill>
                  <a:srgbClr val="C00000"/>
                </a:solidFill>
              </a:rPr>
              <a:t>即刻到位，生成</a:t>
            </a:r>
            <a:r>
              <a:rPr lang="en-US" altLang="zh-CN" sz="1600" b="1" dirty="0">
                <a:solidFill>
                  <a:srgbClr val="C00000"/>
                </a:solidFill>
              </a:rPr>
              <a:t>S </a:t>
            </a:r>
            <a:r>
              <a:rPr lang="zh-CN" altLang="en-US" sz="1600" b="1" dirty="0">
                <a:solidFill>
                  <a:srgbClr val="C00000"/>
                </a:solidFill>
              </a:rPr>
              <a:t>参图</a:t>
            </a:r>
            <a:r>
              <a:rPr lang="en-US" altLang="zh-CN" sz="1600" b="1" dirty="0">
                <a:solidFill>
                  <a:srgbClr val="C00000"/>
                </a:solidFill>
              </a:rPr>
              <a:t>3.6</a:t>
            </a:r>
          </a:p>
          <a:p>
            <a:pPr lvl="1">
              <a:lnSpc>
                <a:spcPct val="120000"/>
              </a:lnSpc>
            </a:pPr>
            <a:r>
              <a:rPr lang="en-US" altLang="zh-CN" sz="1600" b="1" dirty="0">
                <a:solidFill>
                  <a:srgbClr val="C00000"/>
                </a:solidFill>
              </a:rPr>
              <a:t>S0=X0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Y0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C0  ;    Si=Xi</a:t>
            </a:r>
            <a:r>
              <a:rPr lang="en-US" altLang="zh-CN" sz="1600" b="1" dirty="0">
                <a:latin typeface="等线" panose="02010600030101010101" pitchFamily="2" charset="-122"/>
                <a:ea typeface="等线" panose="02010600030101010101" pitchFamily="2" charset="-122"/>
              </a:rPr>
              <a:t> ⊕Yi ⊕Ci    Ci+1=</a:t>
            </a:r>
            <a:r>
              <a:rPr lang="en-US" altLang="zh-CN" sz="1600" b="1" dirty="0" err="1">
                <a:latin typeface="等线" panose="02010600030101010101" pitchFamily="2" charset="-122"/>
                <a:ea typeface="等线" panose="02010600030101010101" pitchFamily="2" charset="-122"/>
              </a:rPr>
              <a:t>XiYi</a:t>
            </a:r>
            <a:r>
              <a:rPr lang="en-US" altLang="zh-CN" sz="1600" b="1" dirty="0">
                <a:latin typeface="等线" panose="02010600030101010101" pitchFamily="2" charset="-122"/>
                <a:ea typeface="等线" panose="02010600030101010101" pitchFamily="2" charset="-122"/>
              </a:rPr>
              <a:t>+(Xi ⊕Yi)Ci</a:t>
            </a:r>
            <a:endParaRPr lang="en-US" altLang="zh-CN" sz="1600" b="1" dirty="0">
              <a:solidFill>
                <a:srgbClr val="C00000"/>
              </a:solidFill>
            </a:endParaRPr>
          </a:p>
          <a:p>
            <a:pPr lvl="1">
              <a:lnSpc>
                <a:spcPct val="120000"/>
              </a:lnSpc>
            </a:pPr>
            <a:r>
              <a:rPr lang="zh-CN" altLang="en-US" sz="1600" b="1" dirty="0"/>
              <a:t>得到</a:t>
            </a:r>
            <a:r>
              <a:rPr lang="en-US" altLang="zh-CN" sz="1600" b="1" dirty="0"/>
              <a:t>S</a:t>
            </a:r>
            <a:r>
              <a:rPr lang="en-US" altLang="zh-CN" sz="1600" b="1" baseline="-25000" dirty="0"/>
              <a:t>4</a:t>
            </a:r>
            <a:r>
              <a:rPr lang="zh-CN" altLang="en-US" sz="1600" b="1" dirty="0"/>
              <a:t>、</a:t>
            </a:r>
            <a:r>
              <a:rPr lang="en-US" altLang="zh-CN" sz="1600" b="1" dirty="0"/>
              <a:t>S</a:t>
            </a:r>
            <a:r>
              <a:rPr lang="en-US" altLang="zh-CN" sz="1600" b="1" baseline="-25000" dirty="0"/>
              <a:t>5</a:t>
            </a:r>
            <a:r>
              <a:rPr lang="zh-CN" altLang="en-US" sz="1600" b="1" dirty="0"/>
              <a:t>、</a:t>
            </a:r>
            <a:r>
              <a:rPr lang="en-US" altLang="zh-CN" sz="1600" b="1" dirty="0"/>
              <a:t>S</a:t>
            </a:r>
            <a:r>
              <a:rPr lang="en-US" altLang="zh-CN" sz="1600" b="1" baseline="-25000" dirty="0"/>
              <a:t>6</a:t>
            </a:r>
            <a:r>
              <a:rPr lang="zh-CN" altLang="en-US" sz="1600" b="1" dirty="0"/>
              <a:t>、</a:t>
            </a:r>
            <a:r>
              <a:rPr lang="en-US" altLang="zh-CN" sz="1600" b="1" dirty="0"/>
              <a:t>S</a:t>
            </a:r>
            <a:r>
              <a:rPr lang="en-US" altLang="zh-CN" sz="1600" b="1" baseline="-25000" dirty="0"/>
              <a:t>7</a:t>
            </a:r>
            <a:r>
              <a:rPr lang="zh-CN" altLang="en-US" sz="1600" b="1" dirty="0"/>
              <a:t>的时间延迟为</a:t>
            </a:r>
            <a:r>
              <a:rPr lang="en-US" altLang="zh-CN" sz="1600" b="1" dirty="0"/>
              <a:t>5T+5T=10T</a:t>
            </a:r>
            <a:r>
              <a:rPr lang="zh-CN" altLang="en-US" sz="1600" b="1" dirty="0"/>
              <a:t>； </a:t>
            </a:r>
            <a:r>
              <a:rPr lang="zh-CN" altLang="en-US" sz="1600" b="1" dirty="0">
                <a:solidFill>
                  <a:srgbClr val="C00000"/>
                </a:solidFill>
              </a:rPr>
              <a:t>需要加上进位的生成时间</a:t>
            </a:r>
            <a:r>
              <a:rPr lang="en-US" altLang="zh-CN" sz="1600" b="1" dirty="0">
                <a:solidFill>
                  <a:srgbClr val="C00000"/>
                </a:solidFill>
              </a:rPr>
              <a:t>5T</a:t>
            </a:r>
            <a:r>
              <a:rPr lang="zh-CN" altLang="en-US" sz="1600" b="1" dirty="0">
                <a:solidFill>
                  <a:srgbClr val="C00000"/>
                </a:solidFill>
              </a:rPr>
              <a:t>才能生成</a:t>
            </a:r>
            <a:r>
              <a:rPr lang="en-US" altLang="zh-CN" sz="1600" b="1" dirty="0">
                <a:solidFill>
                  <a:srgbClr val="C00000"/>
                </a:solidFill>
              </a:rPr>
              <a:t>S</a:t>
            </a:r>
          </a:p>
          <a:p>
            <a:pPr lvl="1">
              <a:lnSpc>
                <a:spcPct val="120000"/>
              </a:lnSpc>
            </a:pPr>
            <a:r>
              <a:rPr lang="zh-CN" altLang="en-US" sz="1600" b="1" dirty="0"/>
              <a:t>得到</a:t>
            </a:r>
            <a:r>
              <a:rPr lang="en-US" altLang="zh-CN" sz="1600" b="1" dirty="0"/>
              <a:t>S</a:t>
            </a:r>
            <a:r>
              <a:rPr lang="en-US" altLang="zh-CN" sz="1600" b="1" baseline="-25000" dirty="0"/>
              <a:t>8</a:t>
            </a:r>
            <a:r>
              <a:rPr lang="zh-CN" altLang="en-US" sz="1600" b="1" dirty="0"/>
              <a:t>、</a:t>
            </a:r>
            <a:r>
              <a:rPr lang="en-US" altLang="zh-CN" sz="1600" b="1" dirty="0"/>
              <a:t>S</a:t>
            </a:r>
            <a:r>
              <a:rPr lang="en-US" altLang="zh-CN" sz="1600" b="1" baseline="-25000" dirty="0"/>
              <a:t>9</a:t>
            </a:r>
            <a:r>
              <a:rPr lang="zh-CN" altLang="en-US" sz="1600" b="1" dirty="0"/>
              <a:t>、</a:t>
            </a:r>
            <a:r>
              <a:rPr lang="en-US" altLang="zh-CN" sz="1600" b="1" dirty="0"/>
              <a:t>S</a:t>
            </a:r>
            <a:r>
              <a:rPr lang="en-US" altLang="zh-CN" sz="1600" b="1" baseline="-25000" dirty="0"/>
              <a:t>10</a:t>
            </a:r>
            <a:r>
              <a:rPr lang="zh-CN" altLang="en-US" sz="1600" b="1" dirty="0"/>
              <a:t>、</a:t>
            </a:r>
            <a:r>
              <a:rPr lang="en-US" altLang="zh-CN" sz="1600" b="1" dirty="0"/>
              <a:t>S</a:t>
            </a:r>
            <a:r>
              <a:rPr lang="en-US" altLang="zh-CN" sz="1600" b="1" baseline="-25000" dirty="0"/>
              <a:t>11</a:t>
            </a:r>
            <a:r>
              <a:rPr lang="zh-CN" altLang="en-US" sz="1600" b="1" dirty="0"/>
              <a:t>的时间延迟为</a:t>
            </a:r>
            <a:r>
              <a:rPr lang="en-US" altLang="zh-CN" sz="1600" b="1" dirty="0"/>
              <a:t>7T+5T=12T</a:t>
            </a:r>
          </a:p>
          <a:p>
            <a:pPr lvl="1">
              <a:lnSpc>
                <a:spcPct val="120000"/>
              </a:lnSpc>
            </a:pPr>
            <a:r>
              <a:rPr lang="zh-CN" altLang="en-US" sz="1600" b="1" dirty="0"/>
              <a:t>得到</a:t>
            </a:r>
            <a:r>
              <a:rPr lang="en-US" altLang="zh-CN" sz="1600" b="1" dirty="0"/>
              <a:t>S</a:t>
            </a:r>
            <a:r>
              <a:rPr lang="en-US" altLang="zh-CN" sz="1600" b="1" baseline="-25000" dirty="0"/>
              <a:t>12</a:t>
            </a:r>
            <a:r>
              <a:rPr lang="zh-CN" altLang="en-US" sz="1600" b="1" dirty="0"/>
              <a:t>、</a:t>
            </a:r>
            <a:r>
              <a:rPr lang="en-US" altLang="zh-CN" sz="1600" b="1" dirty="0"/>
              <a:t>S</a:t>
            </a:r>
            <a:r>
              <a:rPr lang="en-US" altLang="zh-CN" sz="1600" b="1" baseline="-25000" dirty="0"/>
              <a:t>13</a:t>
            </a:r>
            <a:r>
              <a:rPr lang="zh-CN" altLang="en-US" sz="1600" b="1" dirty="0"/>
              <a:t>、</a:t>
            </a:r>
            <a:r>
              <a:rPr lang="en-US" altLang="zh-CN" sz="1600" b="1" dirty="0"/>
              <a:t>S</a:t>
            </a:r>
            <a:r>
              <a:rPr lang="en-US" altLang="zh-CN" sz="1600" b="1" baseline="-25000" dirty="0"/>
              <a:t>14</a:t>
            </a:r>
            <a:r>
              <a:rPr lang="zh-CN" altLang="en-US" sz="1600" b="1" dirty="0"/>
              <a:t>、</a:t>
            </a:r>
            <a:r>
              <a:rPr lang="en-US" altLang="zh-CN" sz="1600" b="1" dirty="0"/>
              <a:t>S</a:t>
            </a:r>
            <a:r>
              <a:rPr lang="en-US" altLang="zh-CN" sz="1600" b="1" baseline="-25000" dirty="0"/>
              <a:t>15</a:t>
            </a:r>
            <a:r>
              <a:rPr lang="zh-CN" altLang="en-US" sz="1600" b="1" dirty="0"/>
              <a:t>的时间延迟为</a:t>
            </a:r>
            <a:r>
              <a:rPr lang="en-US" altLang="zh-CN" sz="1600" b="1" dirty="0"/>
              <a:t>9T+5T=14T</a:t>
            </a:r>
          </a:p>
          <a:p>
            <a:pPr lvl="1">
              <a:lnSpc>
                <a:spcPct val="120000"/>
              </a:lnSpc>
            </a:pPr>
            <a:r>
              <a:rPr lang="zh-CN" altLang="en-US" sz="1600" b="1" dirty="0"/>
              <a:t>得到</a:t>
            </a:r>
            <a:r>
              <a:rPr lang="en-US" altLang="zh-CN" sz="1600" b="1" dirty="0"/>
              <a:t>C</a:t>
            </a:r>
            <a:r>
              <a:rPr lang="en-US" altLang="zh-CN" sz="1600" b="1" baseline="-25000" dirty="0"/>
              <a:t>16</a:t>
            </a:r>
            <a:r>
              <a:rPr lang="zh-CN" altLang="en-US" sz="1600" b="1" dirty="0"/>
              <a:t>的时间延迟为</a:t>
            </a:r>
            <a:r>
              <a:rPr lang="en-US" altLang="zh-CN" sz="1600" b="1" dirty="0"/>
              <a:t>=5T+2(n-1)T=11T; </a:t>
            </a:r>
          </a:p>
          <a:p>
            <a:pPr lvl="1">
              <a:lnSpc>
                <a:spcPct val="120000"/>
              </a:lnSpc>
            </a:pPr>
            <a:r>
              <a:rPr lang="zh-CN" altLang="en-US" sz="1600" b="1" dirty="0">
                <a:solidFill>
                  <a:srgbClr val="C00000"/>
                </a:solidFill>
              </a:rPr>
              <a:t>因为先行进位</a:t>
            </a:r>
            <a:r>
              <a:rPr lang="en-US" altLang="zh-CN" sz="1600" b="1" dirty="0">
                <a:solidFill>
                  <a:srgbClr val="C00000"/>
                </a:solidFill>
              </a:rPr>
              <a:t>P</a:t>
            </a:r>
            <a:r>
              <a:rPr lang="zh-CN" altLang="en-US" sz="1600" b="1" dirty="0">
                <a:solidFill>
                  <a:srgbClr val="C00000"/>
                </a:solidFill>
              </a:rPr>
              <a:t>和</a:t>
            </a:r>
            <a:r>
              <a:rPr lang="en-US" altLang="zh-CN" sz="1600" b="1" dirty="0">
                <a:solidFill>
                  <a:srgbClr val="C00000"/>
                </a:solidFill>
              </a:rPr>
              <a:t>G</a:t>
            </a:r>
            <a:r>
              <a:rPr lang="zh-CN" altLang="en-US" sz="1600" b="1" dirty="0">
                <a:solidFill>
                  <a:srgbClr val="C00000"/>
                </a:solidFill>
              </a:rPr>
              <a:t>并行生成，之后再需要</a:t>
            </a:r>
            <a:r>
              <a:rPr lang="en-US" altLang="zh-CN" sz="1600" b="1" dirty="0">
                <a:solidFill>
                  <a:srgbClr val="C00000"/>
                </a:solidFill>
              </a:rPr>
              <a:t>2T</a:t>
            </a:r>
            <a:r>
              <a:rPr lang="zh-CN" altLang="en-US" sz="1600" b="1" dirty="0">
                <a:solidFill>
                  <a:srgbClr val="C00000"/>
                </a:solidFill>
              </a:rPr>
              <a:t>即可得到最高位进位位</a:t>
            </a:r>
            <a:r>
              <a:rPr lang="en-US" altLang="zh-CN" sz="1600" b="1" dirty="0">
                <a:solidFill>
                  <a:srgbClr val="C00000"/>
                </a:solidFill>
              </a:rPr>
              <a:t>C4</a:t>
            </a:r>
            <a:r>
              <a:rPr lang="zh-CN" altLang="en-US" sz="1600" b="1" dirty="0">
                <a:solidFill>
                  <a:srgbClr val="C00000"/>
                </a:solidFill>
              </a:rPr>
              <a:t>，</a:t>
            </a:r>
            <a:r>
              <a:rPr lang="en-US" altLang="zh-CN" sz="1600" b="1" dirty="0">
                <a:solidFill>
                  <a:srgbClr val="C00000"/>
                </a:solidFill>
              </a:rPr>
              <a:t>C8</a:t>
            </a:r>
            <a:r>
              <a:rPr lang="zh-CN" altLang="en-US" sz="1600" b="1" dirty="0">
                <a:solidFill>
                  <a:srgbClr val="C00000"/>
                </a:solidFill>
              </a:rPr>
              <a:t>，</a:t>
            </a:r>
            <a:r>
              <a:rPr lang="en-US" altLang="zh-CN" sz="1600" b="1" dirty="0">
                <a:solidFill>
                  <a:srgbClr val="C00000"/>
                </a:solidFill>
              </a:rPr>
              <a:t>C12</a:t>
            </a:r>
            <a:r>
              <a:rPr lang="zh-CN" altLang="en-US" sz="1600" b="1" dirty="0">
                <a:solidFill>
                  <a:srgbClr val="C00000"/>
                </a:solidFill>
              </a:rPr>
              <a:t>，</a:t>
            </a:r>
            <a:r>
              <a:rPr lang="en-US" altLang="zh-CN" sz="1600" b="1" dirty="0">
                <a:solidFill>
                  <a:srgbClr val="C00000"/>
                </a:solidFill>
              </a:rPr>
              <a:t>C16</a:t>
            </a:r>
            <a:r>
              <a:rPr lang="zh-CN" altLang="en-US" sz="1600" b="1" dirty="0">
                <a:solidFill>
                  <a:srgbClr val="C00000"/>
                </a:solidFill>
              </a:rPr>
              <a:t>，参看四位先行进位电路需要</a:t>
            </a:r>
            <a:r>
              <a:rPr lang="en-US" altLang="zh-CN" sz="1600" b="1" dirty="0">
                <a:solidFill>
                  <a:srgbClr val="C00000"/>
                </a:solidFill>
              </a:rPr>
              <a:t>2T</a:t>
            </a:r>
            <a:r>
              <a:rPr lang="zh-CN" altLang="en-US" sz="1600" b="1" dirty="0">
                <a:solidFill>
                  <a:srgbClr val="C00000"/>
                </a:solidFill>
              </a:rPr>
              <a:t>（图</a:t>
            </a:r>
            <a:r>
              <a:rPr lang="en-US" altLang="zh-CN" sz="1600" b="1" dirty="0">
                <a:solidFill>
                  <a:srgbClr val="C00000"/>
                </a:solidFill>
              </a:rPr>
              <a:t>3.6</a:t>
            </a:r>
            <a:r>
              <a:rPr lang="zh-CN" altLang="en-US" sz="1600" b="1" dirty="0">
                <a:solidFill>
                  <a:srgbClr val="C00000"/>
                </a:solidFill>
              </a:rPr>
              <a:t>）</a:t>
            </a:r>
            <a:endParaRPr lang="en-US" altLang="zh-CN" sz="1600" b="1" dirty="0">
              <a:solidFill>
                <a:srgbClr val="C00000"/>
              </a:solidFill>
            </a:endParaRPr>
          </a:p>
          <a:p>
            <a:pPr lvl="1">
              <a:lnSpc>
                <a:spcPct val="120000"/>
              </a:lnSpc>
            </a:pPr>
            <a:r>
              <a:rPr lang="zh-CN" altLang="en-US" sz="1600" b="1" dirty="0"/>
              <a:t>采用串行进位，得到运算结果需要的时间延迟为</a:t>
            </a:r>
            <a:r>
              <a:rPr lang="en-US" altLang="zh-CN" sz="1600" b="1" dirty="0"/>
              <a:t>(2n+4)T=(2x16+4)T=</a:t>
            </a:r>
            <a:r>
              <a:rPr lang="en-US" altLang="zh-CN" sz="1600" b="1" dirty="0">
                <a:solidFill>
                  <a:srgbClr val="C00000"/>
                </a:solidFill>
              </a:rPr>
              <a:t>36T</a:t>
            </a:r>
          </a:p>
        </p:txBody>
      </p:sp>
      <p:sp>
        <p:nvSpPr>
          <p:cNvPr id="16" name="文本框 15">
            <a:extLst>
              <a:ext uri="{FF2B5EF4-FFF2-40B4-BE49-F238E27FC236}">
                <a16:creationId xmlns:a16="http://schemas.microsoft.com/office/drawing/2014/main" id="{2F2E0E80-7F5A-4E54-8BC9-445F5A6F8564}"/>
              </a:ext>
            </a:extLst>
          </p:cNvPr>
          <p:cNvSpPr txBox="1"/>
          <p:nvPr/>
        </p:nvSpPr>
        <p:spPr>
          <a:xfrm>
            <a:off x="3707208" y="6465227"/>
            <a:ext cx="1656184" cy="307777"/>
          </a:xfrm>
          <a:prstGeom prst="rect">
            <a:avLst/>
          </a:prstGeom>
          <a:noFill/>
        </p:spPr>
        <p:txBody>
          <a:bodyPr wrap="square">
            <a:spAutoFit/>
          </a:bodyPr>
          <a:lstStyle/>
          <a:p>
            <a:r>
              <a:rPr lang="zh-CN" altLang="en-US" sz="1400" b="1" dirty="0"/>
              <a:t>图</a:t>
            </a:r>
            <a:r>
              <a:rPr lang="en-US" altLang="zh-CN" sz="1400" b="1" dirty="0"/>
              <a:t>3.7    16</a:t>
            </a:r>
            <a:r>
              <a:rPr lang="zh-CN" altLang="en-US" sz="1400" b="1" dirty="0"/>
              <a:t>位加法器</a:t>
            </a:r>
            <a:endParaRPr lang="zh-CN" altLang="en-US" sz="1400" dirty="0"/>
          </a:p>
        </p:txBody>
      </p:sp>
    </p:spTree>
    <p:extLst>
      <p:ext uri="{BB962C8B-B14F-4D97-AF65-F5344CB8AC3E}">
        <p14:creationId xmlns:p14="http://schemas.microsoft.com/office/powerpoint/2010/main" val="2889301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a:extLst>
              <a:ext uri="{FF2B5EF4-FFF2-40B4-BE49-F238E27FC236}">
                <a16:creationId xmlns:a16="http://schemas.microsoft.com/office/drawing/2014/main" id="{DB04ABB7-7772-B287-ADFF-3F83F877396E}"/>
              </a:ext>
            </a:extLst>
          </p:cNvPr>
          <p:cNvGrpSpPr/>
          <p:nvPr/>
        </p:nvGrpSpPr>
        <p:grpSpPr>
          <a:xfrm>
            <a:off x="481693" y="2669620"/>
            <a:ext cx="8517619" cy="3947916"/>
            <a:chOff x="234067" y="2185119"/>
            <a:chExt cx="8641308" cy="4353335"/>
          </a:xfrm>
        </p:grpSpPr>
        <p:grpSp>
          <p:nvGrpSpPr>
            <p:cNvPr id="71" name="组合 70">
              <a:extLst>
                <a:ext uri="{FF2B5EF4-FFF2-40B4-BE49-F238E27FC236}">
                  <a16:creationId xmlns:a16="http://schemas.microsoft.com/office/drawing/2014/main" id="{E3205498-3AFD-3F2B-732A-8993BCEBC461}"/>
                </a:ext>
              </a:extLst>
            </p:cNvPr>
            <p:cNvGrpSpPr/>
            <p:nvPr/>
          </p:nvGrpSpPr>
          <p:grpSpPr>
            <a:xfrm>
              <a:off x="234067" y="2185119"/>
              <a:ext cx="8641308" cy="4353335"/>
              <a:chOff x="234067" y="2185119"/>
              <a:chExt cx="8641308" cy="4353335"/>
            </a:xfrm>
          </p:grpSpPr>
          <p:grpSp>
            <p:nvGrpSpPr>
              <p:cNvPr id="68" name="组合 67">
                <a:extLst>
                  <a:ext uri="{FF2B5EF4-FFF2-40B4-BE49-F238E27FC236}">
                    <a16:creationId xmlns:a16="http://schemas.microsoft.com/office/drawing/2014/main" id="{8C6F1460-0D5A-48A2-A873-C2D8F329CE41}"/>
                  </a:ext>
                </a:extLst>
              </p:cNvPr>
              <p:cNvGrpSpPr/>
              <p:nvPr/>
            </p:nvGrpSpPr>
            <p:grpSpPr>
              <a:xfrm>
                <a:off x="268624" y="2185119"/>
                <a:ext cx="8606751" cy="4353335"/>
                <a:chOff x="268624" y="2185119"/>
                <a:chExt cx="8606751" cy="4353335"/>
              </a:xfrm>
            </p:grpSpPr>
            <p:grpSp>
              <p:nvGrpSpPr>
                <p:cNvPr id="65" name="组合 64">
                  <a:extLst>
                    <a:ext uri="{FF2B5EF4-FFF2-40B4-BE49-F238E27FC236}">
                      <a16:creationId xmlns:a16="http://schemas.microsoft.com/office/drawing/2014/main" id="{9B44B73E-9645-49F0-712C-5C99723E3B93}"/>
                    </a:ext>
                  </a:extLst>
                </p:cNvPr>
                <p:cNvGrpSpPr/>
                <p:nvPr/>
              </p:nvGrpSpPr>
              <p:grpSpPr>
                <a:xfrm>
                  <a:off x="268624" y="2185119"/>
                  <a:ext cx="8606751" cy="4353335"/>
                  <a:chOff x="268624" y="2185119"/>
                  <a:chExt cx="8606751" cy="4353335"/>
                </a:xfrm>
              </p:grpSpPr>
              <p:grpSp>
                <p:nvGrpSpPr>
                  <p:cNvPr id="62" name="组合 61">
                    <a:extLst>
                      <a:ext uri="{FF2B5EF4-FFF2-40B4-BE49-F238E27FC236}">
                        <a16:creationId xmlns:a16="http://schemas.microsoft.com/office/drawing/2014/main" id="{5DC17799-CC88-D2D7-B968-043B96187E37}"/>
                      </a:ext>
                    </a:extLst>
                  </p:cNvPr>
                  <p:cNvGrpSpPr/>
                  <p:nvPr/>
                </p:nvGrpSpPr>
                <p:grpSpPr>
                  <a:xfrm>
                    <a:off x="268624" y="2185119"/>
                    <a:ext cx="8606751" cy="4353335"/>
                    <a:chOff x="268624" y="2185119"/>
                    <a:chExt cx="8606751" cy="4353335"/>
                  </a:xfrm>
                </p:grpSpPr>
                <p:grpSp>
                  <p:nvGrpSpPr>
                    <p:cNvPr id="60" name="组合 59">
                      <a:extLst>
                        <a:ext uri="{FF2B5EF4-FFF2-40B4-BE49-F238E27FC236}">
                          <a16:creationId xmlns:a16="http://schemas.microsoft.com/office/drawing/2014/main" id="{8497EA54-4F15-F776-61BE-B3AA142A0D9D}"/>
                        </a:ext>
                      </a:extLst>
                    </p:cNvPr>
                    <p:cNvGrpSpPr/>
                    <p:nvPr/>
                  </p:nvGrpSpPr>
                  <p:grpSpPr>
                    <a:xfrm>
                      <a:off x="268624" y="2185119"/>
                      <a:ext cx="8606751" cy="4353335"/>
                      <a:chOff x="268624" y="2185119"/>
                      <a:chExt cx="8606751" cy="4353335"/>
                    </a:xfrm>
                  </p:grpSpPr>
                  <p:grpSp>
                    <p:nvGrpSpPr>
                      <p:cNvPr id="58" name="组合 57">
                        <a:extLst>
                          <a:ext uri="{FF2B5EF4-FFF2-40B4-BE49-F238E27FC236}">
                            <a16:creationId xmlns:a16="http://schemas.microsoft.com/office/drawing/2014/main" id="{3486578A-916A-8F13-BBCD-A367F4FE1A7F}"/>
                          </a:ext>
                        </a:extLst>
                      </p:cNvPr>
                      <p:cNvGrpSpPr/>
                      <p:nvPr/>
                    </p:nvGrpSpPr>
                    <p:grpSpPr>
                      <a:xfrm>
                        <a:off x="268624" y="2185119"/>
                        <a:ext cx="8606751" cy="4353335"/>
                        <a:chOff x="268624" y="2185119"/>
                        <a:chExt cx="8606751" cy="4353335"/>
                      </a:xfrm>
                    </p:grpSpPr>
                    <p:grpSp>
                      <p:nvGrpSpPr>
                        <p:cNvPr id="56" name="组合 55">
                          <a:extLst>
                            <a:ext uri="{FF2B5EF4-FFF2-40B4-BE49-F238E27FC236}">
                              <a16:creationId xmlns:a16="http://schemas.microsoft.com/office/drawing/2014/main" id="{23A69153-6C1F-A13D-80AF-B43465E77A21}"/>
                            </a:ext>
                          </a:extLst>
                        </p:cNvPr>
                        <p:cNvGrpSpPr/>
                        <p:nvPr/>
                      </p:nvGrpSpPr>
                      <p:grpSpPr>
                        <a:xfrm>
                          <a:off x="268624" y="2185119"/>
                          <a:ext cx="8606751" cy="4353335"/>
                          <a:chOff x="268624" y="2185119"/>
                          <a:chExt cx="8606751" cy="4353335"/>
                        </a:xfrm>
                      </p:grpSpPr>
                      <p:grpSp>
                        <p:nvGrpSpPr>
                          <p:cNvPr id="54" name="组合 53">
                            <a:extLst>
                              <a:ext uri="{FF2B5EF4-FFF2-40B4-BE49-F238E27FC236}">
                                <a16:creationId xmlns:a16="http://schemas.microsoft.com/office/drawing/2014/main" id="{C018FD83-7398-471F-746A-EF675F19410B}"/>
                              </a:ext>
                            </a:extLst>
                          </p:cNvPr>
                          <p:cNvGrpSpPr/>
                          <p:nvPr/>
                        </p:nvGrpSpPr>
                        <p:grpSpPr>
                          <a:xfrm>
                            <a:off x="268624" y="2185119"/>
                            <a:ext cx="8606751" cy="4353335"/>
                            <a:chOff x="268624" y="1792561"/>
                            <a:chExt cx="8606751" cy="4353335"/>
                          </a:xfrm>
                        </p:grpSpPr>
                        <p:grpSp>
                          <p:nvGrpSpPr>
                            <p:cNvPr id="52" name="组合 51">
                              <a:extLst>
                                <a:ext uri="{FF2B5EF4-FFF2-40B4-BE49-F238E27FC236}">
                                  <a16:creationId xmlns:a16="http://schemas.microsoft.com/office/drawing/2014/main" id="{D6D4AEF7-C743-DE5B-9AFF-B99B95D1CC30}"/>
                                </a:ext>
                              </a:extLst>
                            </p:cNvPr>
                            <p:cNvGrpSpPr/>
                            <p:nvPr/>
                          </p:nvGrpSpPr>
                          <p:grpSpPr>
                            <a:xfrm>
                              <a:off x="268624" y="1792561"/>
                              <a:ext cx="8606751" cy="4177797"/>
                              <a:chOff x="268624" y="1792561"/>
                              <a:chExt cx="8606751" cy="4177797"/>
                            </a:xfrm>
                          </p:grpSpPr>
                          <p:grpSp>
                            <p:nvGrpSpPr>
                              <p:cNvPr id="2" name="组合 1">
                                <a:extLst>
                                  <a:ext uri="{FF2B5EF4-FFF2-40B4-BE49-F238E27FC236}">
                                    <a16:creationId xmlns:a16="http://schemas.microsoft.com/office/drawing/2014/main" id="{B2CAA4AB-83B3-1702-E326-27F2961CACD9}"/>
                                  </a:ext>
                                </a:extLst>
                              </p:cNvPr>
                              <p:cNvGrpSpPr/>
                              <p:nvPr/>
                            </p:nvGrpSpPr>
                            <p:grpSpPr>
                              <a:xfrm>
                                <a:off x="268624" y="1792561"/>
                                <a:ext cx="8606751" cy="4177797"/>
                                <a:chOff x="268624" y="2296617"/>
                                <a:chExt cx="8606751" cy="4177797"/>
                              </a:xfrm>
                            </p:grpSpPr>
                            <p:grpSp>
                              <p:nvGrpSpPr>
                                <p:cNvPr id="4" name="组合 3">
                                  <a:extLst>
                                    <a:ext uri="{FF2B5EF4-FFF2-40B4-BE49-F238E27FC236}">
                                      <a16:creationId xmlns:a16="http://schemas.microsoft.com/office/drawing/2014/main" id="{BD99CA16-BEA2-E1B6-0E35-A0B4F645CA41}"/>
                                    </a:ext>
                                  </a:extLst>
                                </p:cNvPr>
                                <p:cNvGrpSpPr/>
                                <p:nvPr/>
                              </p:nvGrpSpPr>
                              <p:grpSpPr>
                                <a:xfrm>
                                  <a:off x="268624" y="2296617"/>
                                  <a:ext cx="8606751" cy="4177797"/>
                                  <a:chOff x="268624" y="2296617"/>
                                  <a:chExt cx="8606751" cy="4177797"/>
                                </a:xfrm>
                              </p:grpSpPr>
                              <p:grpSp>
                                <p:nvGrpSpPr>
                                  <p:cNvPr id="7" name="组合 6">
                                    <a:extLst>
                                      <a:ext uri="{FF2B5EF4-FFF2-40B4-BE49-F238E27FC236}">
                                        <a16:creationId xmlns:a16="http://schemas.microsoft.com/office/drawing/2014/main" id="{98C3347F-BB0A-9FDF-BF01-4BA6064BB8EB}"/>
                                      </a:ext>
                                    </a:extLst>
                                  </p:cNvPr>
                                  <p:cNvGrpSpPr/>
                                  <p:nvPr/>
                                </p:nvGrpSpPr>
                                <p:grpSpPr>
                                  <a:xfrm>
                                    <a:off x="268624" y="2296617"/>
                                    <a:ext cx="8606751" cy="4177797"/>
                                    <a:chOff x="268624" y="1586903"/>
                                    <a:chExt cx="8606751" cy="4177797"/>
                                  </a:xfrm>
                                </p:grpSpPr>
                                <p:grpSp>
                                  <p:nvGrpSpPr>
                                    <p:cNvPr id="10" name="组合 9">
                                      <a:extLst>
                                        <a:ext uri="{FF2B5EF4-FFF2-40B4-BE49-F238E27FC236}">
                                          <a16:creationId xmlns:a16="http://schemas.microsoft.com/office/drawing/2014/main" id="{0A5E172E-AA30-7AFC-1A4D-6AB573AC8980}"/>
                                        </a:ext>
                                      </a:extLst>
                                    </p:cNvPr>
                                    <p:cNvGrpSpPr/>
                                    <p:nvPr/>
                                  </p:nvGrpSpPr>
                                  <p:grpSpPr>
                                    <a:xfrm>
                                      <a:off x="268624" y="1586903"/>
                                      <a:ext cx="8606751" cy="4177797"/>
                                      <a:chOff x="268624" y="1586903"/>
                                      <a:chExt cx="8606751" cy="4177797"/>
                                    </a:xfrm>
                                  </p:grpSpPr>
                                  <p:grpSp>
                                    <p:nvGrpSpPr>
                                      <p:cNvPr id="12" name="组合 11">
                                        <a:extLst>
                                          <a:ext uri="{FF2B5EF4-FFF2-40B4-BE49-F238E27FC236}">
                                            <a16:creationId xmlns:a16="http://schemas.microsoft.com/office/drawing/2014/main" id="{B29A8D01-FEAE-50B2-88F3-408EC017CC2F}"/>
                                          </a:ext>
                                        </a:extLst>
                                      </p:cNvPr>
                                      <p:cNvGrpSpPr/>
                                      <p:nvPr/>
                                    </p:nvGrpSpPr>
                                    <p:grpSpPr>
                                      <a:xfrm>
                                        <a:off x="268624" y="1586903"/>
                                        <a:ext cx="8606751" cy="4177797"/>
                                        <a:chOff x="268624" y="1586903"/>
                                        <a:chExt cx="8606751" cy="4177797"/>
                                      </a:xfrm>
                                    </p:grpSpPr>
                                    <p:grpSp>
                                      <p:nvGrpSpPr>
                                        <p:cNvPr id="19" name="组合 18">
                                          <a:extLst>
                                            <a:ext uri="{FF2B5EF4-FFF2-40B4-BE49-F238E27FC236}">
                                              <a16:creationId xmlns:a16="http://schemas.microsoft.com/office/drawing/2014/main" id="{4EE6EB13-3ED5-1D7D-F8D9-220820B8F756}"/>
                                            </a:ext>
                                          </a:extLst>
                                        </p:cNvPr>
                                        <p:cNvGrpSpPr/>
                                        <p:nvPr/>
                                      </p:nvGrpSpPr>
                                      <p:grpSpPr>
                                        <a:xfrm>
                                          <a:off x="268624" y="1586903"/>
                                          <a:ext cx="8606751" cy="4177797"/>
                                          <a:chOff x="268624" y="1576537"/>
                                          <a:chExt cx="8606751" cy="4177797"/>
                                        </a:xfrm>
                                      </p:grpSpPr>
                                      <p:grpSp>
                                        <p:nvGrpSpPr>
                                          <p:cNvPr id="40" name="组合 39">
                                            <a:extLst>
                                              <a:ext uri="{FF2B5EF4-FFF2-40B4-BE49-F238E27FC236}">
                                                <a16:creationId xmlns:a16="http://schemas.microsoft.com/office/drawing/2014/main" id="{C510995B-7EB1-8807-486C-CE16471421C2}"/>
                                              </a:ext>
                                            </a:extLst>
                                          </p:cNvPr>
                                          <p:cNvGrpSpPr/>
                                          <p:nvPr/>
                                        </p:nvGrpSpPr>
                                        <p:grpSpPr>
                                          <a:xfrm>
                                            <a:off x="268624" y="1576537"/>
                                            <a:ext cx="8606751" cy="4177797"/>
                                            <a:chOff x="268624" y="1576537"/>
                                            <a:chExt cx="8606751" cy="4177797"/>
                                          </a:xfrm>
                                        </p:grpSpPr>
                                        <p:grpSp>
                                          <p:nvGrpSpPr>
                                            <p:cNvPr id="45" name="组合 44">
                                              <a:extLst>
                                                <a:ext uri="{FF2B5EF4-FFF2-40B4-BE49-F238E27FC236}">
                                                  <a16:creationId xmlns:a16="http://schemas.microsoft.com/office/drawing/2014/main" id="{99DDAB04-C365-4B3C-29FF-624FD7515152}"/>
                                                </a:ext>
                                              </a:extLst>
                                            </p:cNvPr>
                                            <p:cNvGrpSpPr/>
                                            <p:nvPr/>
                                          </p:nvGrpSpPr>
                                          <p:grpSpPr>
                                            <a:xfrm>
                                              <a:off x="268624" y="1576537"/>
                                              <a:ext cx="8606751" cy="4177797"/>
                                              <a:chOff x="268624" y="1576537"/>
                                              <a:chExt cx="8606751" cy="4177797"/>
                                            </a:xfrm>
                                          </p:grpSpPr>
                                          <p:pic>
                                            <p:nvPicPr>
                                              <p:cNvPr id="49" name="图片 48">
                                                <a:extLst>
                                                  <a:ext uri="{FF2B5EF4-FFF2-40B4-BE49-F238E27FC236}">
                                                    <a16:creationId xmlns:a16="http://schemas.microsoft.com/office/drawing/2014/main" id="{5CB1851A-4BCC-865A-9D32-C6700271AA53}"/>
                                                  </a:ext>
                                                </a:extLst>
                                              </p:cNvPr>
                                              <p:cNvPicPr>
                                                <a:picLocks noChangeAspect="1"/>
                                              </p:cNvPicPr>
                                              <p:nvPr/>
                                            </p:nvPicPr>
                                            <p:blipFill>
                                              <a:blip r:embed="rId2"/>
                                              <a:stretch>
                                                <a:fillRect/>
                                              </a:stretch>
                                            </p:blipFill>
                                            <p:spPr>
                                              <a:xfrm>
                                                <a:off x="268624" y="1576537"/>
                                                <a:ext cx="8606751" cy="4177797"/>
                                              </a:xfrm>
                                              <a:prstGeom prst="rect">
                                                <a:avLst/>
                                              </a:prstGeom>
                                            </p:spPr>
                                          </p:pic>
                                          <p:pic>
                                            <p:nvPicPr>
                                              <p:cNvPr id="50" name="图片 49">
                                                <a:extLst>
                                                  <a:ext uri="{FF2B5EF4-FFF2-40B4-BE49-F238E27FC236}">
                                                    <a16:creationId xmlns:a16="http://schemas.microsoft.com/office/drawing/2014/main" id="{76552E1B-4DD7-382B-1752-214B145A4C6F}"/>
                                                  </a:ext>
                                                </a:extLst>
                                              </p:cNvPr>
                                              <p:cNvPicPr>
                                                <a:picLocks noChangeAspect="1"/>
                                              </p:cNvPicPr>
                                              <p:nvPr/>
                                            </p:nvPicPr>
                                            <p:blipFill>
                                              <a:blip r:embed="rId3"/>
                                              <a:stretch>
                                                <a:fillRect/>
                                              </a:stretch>
                                            </p:blipFill>
                                            <p:spPr>
                                              <a:xfrm>
                                                <a:off x="1998524" y="4143293"/>
                                                <a:ext cx="323867" cy="260363"/>
                                              </a:xfrm>
                                              <a:prstGeom prst="rect">
                                                <a:avLst/>
                                              </a:prstGeom>
                                            </p:spPr>
                                          </p:pic>
                                        </p:grpSp>
                                        <p:pic>
                                          <p:nvPicPr>
                                            <p:cNvPr id="46" name="图片 45">
                                              <a:extLst>
                                                <a:ext uri="{FF2B5EF4-FFF2-40B4-BE49-F238E27FC236}">
                                                  <a16:creationId xmlns:a16="http://schemas.microsoft.com/office/drawing/2014/main" id="{51F48C46-4346-3525-D55D-5BA6CEC87115}"/>
                                                </a:ext>
                                              </a:extLst>
                                            </p:cNvPr>
                                            <p:cNvPicPr>
                                              <a:picLocks noChangeAspect="1"/>
                                            </p:cNvPicPr>
                                            <p:nvPr/>
                                          </p:nvPicPr>
                                          <p:blipFill>
                                            <a:blip r:embed="rId4"/>
                                            <a:stretch>
                                              <a:fillRect/>
                                            </a:stretch>
                                          </p:blipFill>
                                          <p:spPr>
                                            <a:xfrm>
                                              <a:off x="3927885" y="4154867"/>
                                              <a:ext cx="228518" cy="223077"/>
                                            </a:xfrm>
                                            <a:prstGeom prst="rect">
                                              <a:avLst/>
                                            </a:prstGeom>
                                          </p:spPr>
                                        </p:pic>
                                        <p:pic>
                                          <p:nvPicPr>
                                            <p:cNvPr id="47" name="图片 46">
                                              <a:extLst>
                                                <a:ext uri="{FF2B5EF4-FFF2-40B4-BE49-F238E27FC236}">
                                                  <a16:creationId xmlns:a16="http://schemas.microsoft.com/office/drawing/2014/main" id="{A99B01D4-8A5F-A3F0-95D3-D5548D8BEB2C}"/>
                                                </a:ext>
                                              </a:extLst>
                                            </p:cNvPr>
                                            <p:cNvPicPr>
                                              <a:picLocks noChangeAspect="1"/>
                                            </p:cNvPicPr>
                                            <p:nvPr/>
                                          </p:nvPicPr>
                                          <p:blipFill>
                                            <a:blip r:embed="rId4"/>
                                            <a:stretch>
                                              <a:fillRect/>
                                            </a:stretch>
                                          </p:blipFill>
                                          <p:spPr>
                                            <a:xfrm>
                                              <a:off x="5959157" y="4149080"/>
                                              <a:ext cx="228518" cy="223077"/>
                                            </a:xfrm>
                                            <a:prstGeom prst="rect">
                                              <a:avLst/>
                                            </a:prstGeom>
                                          </p:spPr>
                                        </p:pic>
                                        <p:pic>
                                          <p:nvPicPr>
                                            <p:cNvPr id="48" name="图片 47">
                                              <a:extLst>
                                                <a:ext uri="{FF2B5EF4-FFF2-40B4-BE49-F238E27FC236}">
                                                  <a16:creationId xmlns:a16="http://schemas.microsoft.com/office/drawing/2014/main" id="{31F27E7B-41EB-DA2C-4747-7305951B6678}"/>
                                                </a:ext>
                                              </a:extLst>
                                            </p:cNvPr>
                                            <p:cNvPicPr>
                                              <a:picLocks noChangeAspect="1"/>
                                            </p:cNvPicPr>
                                            <p:nvPr/>
                                          </p:nvPicPr>
                                          <p:blipFill>
                                            <a:blip r:embed="rId4"/>
                                            <a:stretch>
                                              <a:fillRect/>
                                            </a:stretch>
                                          </p:blipFill>
                                          <p:spPr>
                                            <a:xfrm>
                                              <a:off x="7909160" y="4160654"/>
                                              <a:ext cx="228518" cy="223077"/>
                                            </a:xfrm>
                                            <a:prstGeom prst="rect">
                                              <a:avLst/>
                                            </a:prstGeom>
                                          </p:spPr>
                                        </p:pic>
                                      </p:grpSp>
                                      <p:pic>
                                        <p:nvPicPr>
                                          <p:cNvPr id="41" name="图片 40">
                                            <a:extLst>
                                              <a:ext uri="{FF2B5EF4-FFF2-40B4-BE49-F238E27FC236}">
                                                <a16:creationId xmlns:a16="http://schemas.microsoft.com/office/drawing/2014/main" id="{130DBA06-E547-14D4-BADB-362113DE268C}"/>
                                              </a:ext>
                                            </a:extLst>
                                          </p:cNvPr>
                                          <p:cNvPicPr>
                                            <a:picLocks noChangeAspect="1"/>
                                          </p:cNvPicPr>
                                          <p:nvPr/>
                                        </p:nvPicPr>
                                        <p:blipFill>
                                          <a:blip r:embed="rId5"/>
                                          <a:stretch>
                                            <a:fillRect/>
                                          </a:stretch>
                                        </p:blipFill>
                                        <p:spPr>
                                          <a:xfrm>
                                            <a:off x="1521141" y="3978184"/>
                                            <a:ext cx="353577" cy="425472"/>
                                          </a:xfrm>
                                          <a:prstGeom prst="rect">
                                            <a:avLst/>
                                          </a:prstGeom>
                                        </p:spPr>
                                      </p:pic>
                                      <p:pic>
                                        <p:nvPicPr>
                                          <p:cNvPr id="42" name="图片 41">
                                            <a:extLst>
                                              <a:ext uri="{FF2B5EF4-FFF2-40B4-BE49-F238E27FC236}">
                                                <a16:creationId xmlns:a16="http://schemas.microsoft.com/office/drawing/2014/main" id="{67467EC5-4D5B-1AC8-1487-080C38815276}"/>
                                              </a:ext>
                                            </a:extLst>
                                          </p:cNvPr>
                                          <p:cNvPicPr>
                                            <a:picLocks noChangeAspect="1"/>
                                          </p:cNvPicPr>
                                          <p:nvPr/>
                                        </p:nvPicPr>
                                        <p:blipFill>
                                          <a:blip r:embed="rId5"/>
                                          <a:stretch>
                                            <a:fillRect/>
                                          </a:stretch>
                                        </p:blipFill>
                                        <p:spPr>
                                          <a:xfrm>
                                            <a:off x="3460032" y="3978184"/>
                                            <a:ext cx="353577" cy="425472"/>
                                          </a:xfrm>
                                          <a:prstGeom prst="rect">
                                            <a:avLst/>
                                          </a:prstGeom>
                                        </p:spPr>
                                      </p:pic>
                                      <p:pic>
                                        <p:nvPicPr>
                                          <p:cNvPr id="43" name="图片 42">
                                            <a:extLst>
                                              <a:ext uri="{FF2B5EF4-FFF2-40B4-BE49-F238E27FC236}">
                                                <a16:creationId xmlns:a16="http://schemas.microsoft.com/office/drawing/2014/main" id="{B0C71F65-FCB8-B62D-22F5-FF5074993722}"/>
                                              </a:ext>
                                            </a:extLst>
                                          </p:cNvPr>
                                          <p:cNvPicPr>
                                            <a:picLocks noChangeAspect="1"/>
                                          </p:cNvPicPr>
                                          <p:nvPr/>
                                        </p:nvPicPr>
                                        <p:blipFill>
                                          <a:blip r:embed="rId5"/>
                                          <a:stretch>
                                            <a:fillRect/>
                                          </a:stretch>
                                        </p:blipFill>
                                        <p:spPr>
                                          <a:xfrm>
                                            <a:off x="5535094" y="3978335"/>
                                            <a:ext cx="353577" cy="425472"/>
                                          </a:xfrm>
                                          <a:prstGeom prst="rect">
                                            <a:avLst/>
                                          </a:prstGeom>
                                        </p:spPr>
                                      </p:pic>
                                      <p:pic>
                                        <p:nvPicPr>
                                          <p:cNvPr id="44" name="图片 43">
                                            <a:extLst>
                                              <a:ext uri="{FF2B5EF4-FFF2-40B4-BE49-F238E27FC236}">
                                                <a16:creationId xmlns:a16="http://schemas.microsoft.com/office/drawing/2014/main" id="{680E281E-A741-7BE8-691E-F838E88C127D}"/>
                                              </a:ext>
                                            </a:extLst>
                                          </p:cNvPr>
                                          <p:cNvPicPr>
                                            <a:picLocks noChangeAspect="1"/>
                                          </p:cNvPicPr>
                                          <p:nvPr/>
                                        </p:nvPicPr>
                                        <p:blipFill>
                                          <a:blip r:embed="rId5"/>
                                          <a:stretch>
                                            <a:fillRect/>
                                          </a:stretch>
                                        </p:blipFill>
                                        <p:spPr>
                                          <a:xfrm>
                                            <a:off x="7446070" y="3978184"/>
                                            <a:ext cx="353577" cy="425472"/>
                                          </a:xfrm>
                                          <a:prstGeom prst="rect">
                                            <a:avLst/>
                                          </a:prstGeom>
                                        </p:spPr>
                                      </p:pic>
                                    </p:grpSp>
                                    <p:grpSp>
                                      <p:nvGrpSpPr>
                                        <p:cNvPr id="20" name="组合 19">
                                          <a:extLst>
                                            <a:ext uri="{FF2B5EF4-FFF2-40B4-BE49-F238E27FC236}">
                                              <a16:creationId xmlns:a16="http://schemas.microsoft.com/office/drawing/2014/main" id="{F20C186D-CA83-E056-10E9-41C32BDCFC2B}"/>
                                            </a:ext>
                                          </a:extLst>
                                        </p:cNvPr>
                                        <p:cNvGrpSpPr/>
                                        <p:nvPr/>
                                      </p:nvGrpSpPr>
                                      <p:grpSpPr>
                                        <a:xfrm>
                                          <a:off x="5309441" y="3728606"/>
                                          <a:ext cx="1008112" cy="730140"/>
                                          <a:chOff x="7253657" y="3728065"/>
                                          <a:chExt cx="1008112" cy="730140"/>
                                        </a:xfrm>
                                      </p:grpSpPr>
                                      <p:cxnSp>
                                        <p:nvCxnSpPr>
                                          <p:cNvPr id="35" name="直接连接符 34">
                                            <a:extLst>
                                              <a:ext uri="{FF2B5EF4-FFF2-40B4-BE49-F238E27FC236}">
                                                <a16:creationId xmlns:a16="http://schemas.microsoft.com/office/drawing/2014/main" id="{27B6BA0C-A953-7B77-BAB9-D23C8162CA82}"/>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5BA6AF6-17B4-2EAB-049F-78890E747171}"/>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932F383-290B-BA85-5487-D6B8937FFEF6}"/>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59C603C-7C29-E1B2-C32E-3D5AE6EFEE3C}"/>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B4F3F0AA-47F5-AE76-2596-D7E82351158A}"/>
                                              </a:ext>
                                            </a:extLst>
                                          </p:cNvPr>
                                          <p:cNvSpPr txBox="1"/>
                                          <p:nvPr/>
                                        </p:nvSpPr>
                                        <p:spPr>
                                          <a:xfrm>
                                            <a:off x="7253657" y="3728065"/>
                                            <a:ext cx="1008112" cy="261610"/>
                                          </a:xfrm>
                                          <a:prstGeom prst="rect">
                                            <a:avLst/>
                                          </a:prstGeom>
                                          <a:noFill/>
                                        </p:spPr>
                                        <p:txBody>
                                          <a:bodyPr wrap="square" rtlCol="0">
                                            <a:spAutoFit/>
                                          </a:bodyPr>
                                          <a:lstStyle/>
                                          <a:p>
                                            <a:r>
                                              <a:rPr lang="en-US" altLang="zh-CN" sz="1050" b="1" dirty="0"/>
                                              <a:t>S</a:t>
                                            </a:r>
                                            <a:r>
                                              <a:rPr lang="en-US" altLang="zh-CN" sz="1050" b="1" baseline="-25000" dirty="0"/>
                                              <a:t>7</a:t>
                                            </a:r>
                                            <a:r>
                                              <a:rPr lang="en-US" altLang="zh-CN" sz="1050" b="1" dirty="0"/>
                                              <a:t>S</a:t>
                                            </a:r>
                                            <a:r>
                                              <a:rPr lang="en-US" altLang="zh-CN" sz="1050" b="1" baseline="-25000" dirty="0"/>
                                              <a:t>6</a:t>
                                            </a:r>
                                            <a:r>
                                              <a:rPr lang="en-US" altLang="zh-CN" sz="1050" b="1" dirty="0"/>
                                              <a:t>S</a:t>
                                            </a:r>
                                            <a:r>
                                              <a:rPr lang="en-US" altLang="zh-CN" sz="1050" b="1" baseline="-25000" dirty="0"/>
                                              <a:t>5</a:t>
                                            </a:r>
                                            <a:r>
                                              <a:rPr lang="en-US" altLang="zh-CN" sz="1050" b="1" dirty="0"/>
                                              <a:t>S</a:t>
                                            </a:r>
                                            <a:r>
                                              <a:rPr lang="en-US" altLang="zh-CN" sz="1050" b="1" baseline="-25000" dirty="0"/>
                                              <a:t>4</a:t>
                                            </a:r>
                                            <a:endParaRPr lang="zh-CN" altLang="en-US" sz="1050" b="1" baseline="-25000" dirty="0"/>
                                          </a:p>
                                        </p:txBody>
                                      </p:sp>
                                    </p:grpSp>
                                    <p:pic>
                                      <p:nvPicPr>
                                        <p:cNvPr id="21" name="图片 20">
                                          <a:extLst>
                                            <a:ext uri="{FF2B5EF4-FFF2-40B4-BE49-F238E27FC236}">
                                              <a16:creationId xmlns:a16="http://schemas.microsoft.com/office/drawing/2014/main" id="{EA22C402-826B-0570-05D2-EDF735AAB429}"/>
                                            </a:ext>
                                          </a:extLst>
                                        </p:cNvPr>
                                        <p:cNvPicPr>
                                          <a:picLocks noChangeAspect="1"/>
                                        </p:cNvPicPr>
                                        <p:nvPr/>
                                      </p:nvPicPr>
                                      <p:blipFill>
                                        <a:blip r:embed="rId6"/>
                                        <a:stretch>
                                          <a:fillRect/>
                                        </a:stretch>
                                      </p:blipFill>
                                      <p:spPr>
                                        <a:xfrm>
                                          <a:off x="1066477" y="3494719"/>
                                          <a:ext cx="320089" cy="277000"/>
                                        </a:xfrm>
                                        <a:prstGeom prst="rect">
                                          <a:avLst/>
                                        </a:prstGeom>
                                      </p:spPr>
                                    </p:pic>
                                    <p:pic>
                                      <p:nvPicPr>
                                        <p:cNvPr id="22" name="图片 21">
                                          <a:extLst>
                                            <a:ext uri="{FF2B5EF4-FFF2-40B4-BE49-F238E27FC236}">
                                              <a16:creationId xmlns:a16="http://schemas.microsoft.com/office/drawing/2014/main" id="{04C50A72-7E11-3D10-46A5-AB0474570CC0}"/>
                                            </a:ext>
                                          </a:extLst>
                                        </p:cNvPr>
                                        <p:cNvPicPr>
                                          <a:picLocks noChangeAspect="1"/>
                                        </p:cNvPicPr>
                                        <p:nvPr/>
                                      </p:nvPicPr>
                                      <p:blipFill>
                                        <a:blip r:embed="rId7"/>
                                        <a:stretch>
                                          <a:fillRect/>
                                        </a:stretch>
                                      </p:blipFill>
                                      <p:spPr>
                                        <a:xfrm>
                                          <a:off x="1457120" y="3633450"/>
                                          <a:ext cx="317516" cy="444523"/>
                                        </a:xfrm>
                                        <a:prstGeom prst="rect">
                                          <a:avLst/>
                                        </a:prstGeom>
                                      </p:spPr>
                                    </p:pic>
                                    <p:grpSp>
                                      <p:nvGrpSpPr>
                                        <p:cNvPr id="23" name="组合 22">
                                          <a:extLst>
                                            <a:ext uri="{FF2B5EF4-FFF2-40B4-BE49-F238E27FC236}">
                                              <a16:creationId xmlns:a16="http://schemas.microsoft.com/office/drawing/2014/main" id="{19D7DBD2-7D8F-536A-C518-220AA29E7C27}"/>
                                            </a:ext>
                                          </a:extLst>
                                        </p:cNvPr>
                                        <p:cNvGrpSpPr/>
                                        <p:nvPr/>
                                      </p:nvGrpSpPr>
                                      <p:grpSpPr>
                                        <a:xfrm>
                                          <a:off x="7253657" y="3717032"/>
                                          <a:ext cx="1008112" cy="730140"/>
                                          <a:chOff x="7253657" y="3728065"/>
                                          <a:chExt cx="1008112" cy="730140"/>
                                        </a:xfrm>
                                      </p:grpSpPr>
                                      <p:cxnSp>
                                        <p:nvCxnSpPr>
                                          <p:cNvPr id="30" name="直接连接符 29">
                                            <a:extLst>
                                              <a:ext uri="{FF2B5EF4-FFF2-40B4-BE49-F238E27FC236}">
                                                <a16:creationId xmlns:a16="http://schemas.microsoft.com/office/drawing/2014/main" id="{53849E16-B8C8-DC40-6D10-77257BA2655F}"/>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ABE2EA0-070F-1779-A2C6-29DD22342F55}"/>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B9890CF-CF5F-F2D9-3B3E-EE2A52B2DC02}"/>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295478A-D5D0-B326-CA90-FA3217D33641}"/>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06FACC1-1A67-B0D3-168E-56CBFF33BA3B}"/>
                                              </a:ext>
                                            </a:extLst>
                                          </p:cNvPr>
                                          <p:cNvSpPr txBox="1"/>
                                          <p:nvPr/>
                                        </p:nvSpPr>
                                        <p:spPr>
                                          <a:xfrm>
                                            <a:off x="7253657" y="3728065"/>
                                            <a:ext cx="1008112" cy="261610"/>
                                          </a:xfrm>
                                          <a:prstGeom prst="rect">
                                            <a:avLst/>
                                          </a:prstGeom>
                                          <a:noFill/>
                                        </p:spPr>
                                        <p:txBody>
                                          <a:bodyPr wrap="square" rtlCol="0">
                                            <a:spAutoFit/>
                                          </a:bodyPr>
                                          <a:lstStyle/>
                                          <a:p>
                                            <a:r>
                                              <a:rPr lang="en-US" altLang="zh-CN" sz="1100" b="1" dirty="0"/>
                                              <a:t>S</a:t>
                                            </a:r>
                                            <a:r>
                                              <a:rPr lang="en-US" altLang="zh-CN" sz="1100" b="1" baseline="-25000" dirty="0"/>
                                              <a:t>3</a:t>
                                            </a:r>
                                            <a:r>
                                              <a:rPr lang="en-US" altLang="zh-CN" sz="1100" b="1" dirty="0"/>
                                              <a:t>S</a:t>
                                            </a:r>
                                            <a:r>
                                              <a:rPr lang="en-US" altLang="zh-CN" sz="1100" b="1" baseline="-25000" dirty="0"/>
                                              <a:t>2</a:t>
                                            </a:r>
                                            <a:r>
                                              <a:rPr lang="en-US" altLang="zh-CN" sz="1100" b="1" dirty="0"/>
                                              <a:t>S</a:t>
                                            </a:r>
                                            <a:r>
                                              <a:rPr lang="en-US" altLang="zh-CN" sz="1100" b="1" baseline="-25000" dirty="0"/>
                                              <a:t>1</a:t>
                                            </a:r>
                                            <a:r>
                                              <a:rPr lang="en-US" altLang="zh-CN" sz="1100" b="1" dirty="0"/>
                                              <a:t>S</a:t>
                                            </a:r>
                                            <a:r>
                                              <a:rPr lang="en-US" altLang="zh-CN" sz="1100" b="1" baseline="-25000" dirty="0"/>
                                              <a:t>0</a:t>
                                            </a:r>
                                            <a:endParaRPr lang="zh-CN" altLang="en-US" sz="1100" b="1" baseline="-25000" dirty="0"/>
                                          </a:p>
                                        </p:txBody>
                                      </p:sp>
                                    </p:grpSp>
                                    <p:grpSp>
                                      <p:nvGrpSpPr>
                                        <p:cNvPr id="24" name="组合 23">
                                          <a:extLst>
                                            <a:ext uri="{FF2B5EF4-FFF2-40B4-BE49-F238E27FC236}">
                                              <a16:creationId xmlns:a16="http://schemas.microsoft.com/office/drawing/2014/main" id="{78E751C0-3C90-E549-F720-9C5F7375C609}"/>
                                            </a:ext>
                                          </a:extLst>
                                        </p:cNvPr>
                                        <p:cNvGrpSpPr/>
                                        <p:nvPr/>
                                      </p:nvGrpSpPr>
                                      <p:grpSpPr>
                                        <a:xfrm>
                                          <a:off x="3313142" y="3728606"/>
                                          <a:ext cx="1008112" cy="730140"/>
                                          <a:chOff x="7253657" y="3728065"/>
                                          <a:chExt cx="1008112" cy="730140"/>
                                        </a:xfrm>
                                      </p:grpSpPr>
                                      <p:cxnSp>
                                        <p:nvCxnSpPr>
                                          <p:cNvPr id="25" name="直接连接符 24">
                                            <a:extLst>
                                              <a:ext uri="{FF2B5EF4-FFF2-40B4-BE49-F238E27FC236}">
                                                <a16:creationId xmlns:a16="http://schemas.microsoft.com/office/drawing/2014/main" id="{E67B49F1-E153-A6C1-E528-ED7B0D0AE90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B28C0E-623B-0B42-0847-41A010C8123F}"/>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C645F48-32BB-F87D-53D6-9110163B3B30}"/>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AB9DDA6-BC6C-C8E8-011E-C45F3EC62975}"/>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826AC539-31E1-F248-E18F-002C2DEEC765}"/>
                                              </a:ext>
                                            </a:extLst>
                                          </p:cNvPr>
                                          <p:cNvSpPr txBox="1"/>
                                          <p:nvPr/>
                                        </p:nvSpPr>
                                        <p:spPr>
                                          <a:xfrm>
                                            <a:off x="7253657" y="3728065"/>
                                            <a:ext cx="1008112" cy="246221"/>
                                          </a:xfrm>
                                          <a:prstGeom prst="rect">
                                            <a:avLst/>
                                          </a:prstGeom>
                                          <a:noFill/>
                                        </p:spPr>
                                        <p:txBody>
                                          <a:bodyPr wrap="square" rtlCol="0">
                                            <a:spAutoFit/>
                                          </a:bodyPr>
                                          <a:lstStyle/>
                                          <a:p>
                                            <a:r>
                                              <a:rPr lang="en-US" altLang="zh-CN" sz="1000" b="1" dirty="0"/>
                                              <a:t>S</a:t>
                                            </a:r>
                                            <a:r>
                                              <a:rPr lang="en-US" altLang="zh-CN" sz="1000" b="1" baseline="-25000" dirty="0"/>
                                              <a:t>11</a:t>
                                            </a:r>
                                            <a:r>
                                              <a:rPr lang="en-US" altLang="zh-CN" sz="1000" b="1" dirty="0"/>
                                              <a:t>S</a:t>
                                            </a:r>
                                            <a:r>
                                              <a:rPr lang="en-US" altLang="zh-CN" sz="1000" b="1" baseline="-25000" dirty="0"/>
                                              <a:t>10</a:t>
                                            </a:r>
                                            <a:r>
                                              <a:rPr lang="en-US" altLang="zh-CN" sz="1000" b="1" dirty="0"/>
                                              <a:t>S</a:t>
                                            </a:r>
                                            <a:r>
                                              <a:rPr lang="en-US" altLang="zh-CN" sz="1000" b="1" baseline="-25000" dirty="0"/>
                                              <a:t>9</a:t>
                                            </a:r>
                                            <a:r>
                                              <a:rPr lang="en-US" altLang="zh-CN" sz="1000" b="1" dirty="0"/>
                                              <a:t>S</a:t>
                                            </a:r>
                                            <a:r>
                                              <a:rPr lang="en-US" altLang="zh-CN" sz="1000" b="1" baseline="-25000" dirty="0"/>
                                              <a:t>8</a:t>
                                            </a:r>
                                            <a:endParaRPr lang="zh-CN" altLang="en-US" sz="1200" b="1" baseline="-25000" dirty="0"/>
                                          </a:p>
                                        </p:txBody>
                                      </p:sp>
                                    </p:grpSp>
                                  </p:grpSp>
                                  <p:grpSp>
                                    <p:nvGrpSpPr>
                                      <p:cNvPr id="13" name="组合 12">
                                        <a:extLst>
                                          <a:ext uri="{FF2B5EF4-FFF2-40B4-BE49-F238E27FC236}">
                                            <a16:creationId xmlns:a16="http://schemas.microsoft.com/office/drawing/2014/main" id="{D10BD0E0-0273-C37E-3DA0-341A6EC61807}"/>
                                          </a:ext>
                                        </a:extLst>
                                      </p:cNvPr>
                                      <p:cNvGrpSpPr/>
                                      <p:nvPr/>
                                    </p:nvGrpSpPr>
                                    <p:grpSpPr>
                                      <a:xfrm>
                                        <a:off x="1343214" y="3734393"/>
                                        <a:ext cx="1008112" cy="730140"/>
                                        <a:chOff x="7253657" y="3728065"/>
                                        <a:chExt cx="1008112" cy="730140"/>
                                      </a:xfrm>
                                    </p:grpSpPr>
                                    <p:cxnSp>
                                      <p:nvCxnSpPr>
                                        <p:cNvPr id="14" name="直接连接符 13">
                                          <a:extLst>
                                            <a:ext uri="{FF2B5EF4-FFF2-40B4-BE49-F238E27FC236}">
                                              <a16:creationId xmlns:a16="http://schemas.microsoft.com/office/drawing/2014/main" id="{FC08C3EA-6B52-A43E-EF83-51F54F203BB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4361999-888B-79E3-0835-B1ED98D438E9}"/>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F10E4CF-6B41-4F1D-DBBD-F1A894DB7E2B}"/>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B25889B-648F-4A7C-A519-40665811DF33}"/>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172FF8C0-85E3-DEB2-B76A-5E627F50B714}"/>
                                            </a:ext>
                                          </a:extLst>
                                        </p:cNvPr>
                                        <p:cNvSpPr txBox="1"/>
                                        <p:nvPr/>
                                      </p:nvSpPr>
                                      <p:spPr>
                                        <a:xfrm>
                                          <a:off x="7253657" y="3728065"/>
                                          <a:ext cx="1008112" cy="230832"/>
                                        </a:xfrm>
                                        <a:prstGeom prst="rect">
                                          <a:avLst/>
                                        </a:prstGeom>
                                        <a:noFill/>
                                      </p:spPr>
                                      <p:txBody>
                                        <a:bodyPr wrap="square" rtlCol="0">
                                          <a:spAutoFit/>
                                        </a:bodyPr>
                                        <a:lstStyle/>
                                        <a:p>
                                          <a:r>
                                            <a:rPr lang="en-US" altLang="zh-CN" sz="900" b="1" dirty="0"/>
                                            <a:t>S</a:t>
                                          </a:r>
                                          <a:r>
                                            <a:rPr lang="en-US" altLang="zh-CN" sz="900" b="1" baseline="-25000" dirty="0"/>
                                            <a:t>15</a:t>
                                          </a:r>
                                          <a:r>
                                            <a:rPr lang="en-US" altLang="zh-CN" sz="900" b="1" dirty="0"/>
                                            <a:t>S</a:t>
                                          </a:r>
                                          <a:r>
                                            <a:rPr lang="en-US" altLang="zh-CN" sz="900" b="1" baseline="-25000" dirty="0"/>
                                            <a:t>14</a:t>
                                          </a:r>
                                          <a:r>
                                            <a:rPr lang="en-US" altLang="zh-CN" sz="900" b="1" dirty="0"/>
                                            <a:t>S</a:t>
                                          </a:r>
                                          <a:r>
                                            <a:rPr lang="en-US" altLang="zh-CN" sz="900" b="1" baseline="-25000" dirty="0"/>
                                            <a:t>13</a:t>
                                          </a:r>
                                          <a:r>
                                            <a:rPr lang="en-US" altLang="zh-CN" sz="900" b="1" dirty="0"/>
                                            <a:t>S</a:t>
                                          </a:r>
                                          <a:r>
                                            <a:rPr lang="en-US" altLang="zh-CN" sz="900" b="1" baseline="-25000" dirty="0"/>
                                            <a:t>12</a:t>
                                          </a:r>
                                          <a:endParaRPr lang="zh-CN" altLang="en-US" sz="1200" b="1" baseline="-25000" dirty="0"/>
                                        </a:p>
                                      </p:txBody>
                                    </p:sp>
                                  </p:grpSp>
                                </p:grpSp>
                                <p:sp>
                                  <p:nvSpPr>
                                    <p:cNvPr id="11" name="文本框 10">
                                      <a:extLst>
                                        <a:ext uri="{FF2B5EF4-FFF2-40B4-BE49-F238E27FC236}">
                                          <a16:creationId xmlns:a16="http://schemas.microsoft.com/office/drawing/2014/main" id="{C7D9517C-F68C-FD12-B2B7-A54C3D2AF9F6}"/>
                                        </a:ext>
                                      </a:extLst>
                                    </p:cNvPr>
                                    <p:cNvSpPr txBox="1"/>
                                    <p:nvPr/>
                                  </p:nvSpPr>
                                  <p:spPr>
                                    <a:xfrm>
                                      <a:off x="1475656" y="3460938"/>
                                      <a:ext cx="504056" cy="338554"/>
                                    </a:xfrm>
                                    <a:prstGeom prst="rect">
                                      <a:avLst/>
                                    </a:prstGeom>
                                    <a:noFill/>
                                  </p:spPr>
                                  <p:txBody>
                                    <a:bodyPr wrap="square" rtlCol="0">
                                      <a:spAutoFit/>
                                    </a:bodyPr>
                                    <a:lstStyle/>
                                    <a:p>
                                      <a:r>
                                        <a:rPr lang="en-US" altLang="zh-CN" sz="1600" b="1" dirty="0"/>
                                        <a:t>12T</a:t>
                                      </a:r>
                                      <a:endParaRPr lang="zh-CN" altLang="en-US" sz="1600" b="1" dirty="0"/>
                                    </a:p>
                                  </p:txBody>
                                </p:sp>
                              </p:grpSp>
                              <p:pic>
                                <p:nvPicPr>
                                  <p:cNvPr id="8" name="图片 7">
                                    <a:extLst>
                                      <a:ext uri="{FF2B5EF4-FFF2-40B4-BE49-F238E27FC236}">
                                        <a16:creationId xmlns:a16="http://schemas.microsoft.com/office/drawing/2014/main" id="{9F309D59-2323-9E55-5DB6-101E14A109D1}"/>
                                      </a:ext>
                                    </a:extLst>
                                  </p:cNvPr>
                                  <p:cNvPicPr>
                                    <a:picLocks noChangeAspect="1"/>
                                  </p:cNvPicPr>
                                  <p:nvPr/>
                                </p:nvPicPr>
                                <p:blipFill>
                                  <a:blip r:embed="rId8"/>
                                  <a:stretch>
                                    <a:fillRect/>
                                  </a:stretch>
                                </p:blipFill>
                                <p:spPr>
                                  <a:xfrm>
                                    <a:off x="2634679" y="3889371"/>
                                    <a:ext cx="345072" cy="539778"/>
                                  </a:xfrm>
                                  <a:prstGeom prst="rect">
                                    <a:avLst/>
                                  </a:prstGeom>
                                </p:spPr>
                              </p:pic>
                              <p:pic>
                                <p:nvPicPr>
                                  <p:cNvPr id="9" name="图片 8">
                                    <a:extLst>
                                      <a:ext uri="{FF2B5EF4-FFF2-40B4-BE49-F238E27FC236}">
                                        <a16:creationId xmlns:a16="http://schemas.microsoft.com/office/drawing/2014/main" id="{CA7D60AB-E97A-1376-D17B-37524D523F7F}"/>
                                      </a:ext>
                                    </a:extLst>
                                  </p:cNvPr>
                                  <p:cNvPicPr>
                                    <a:picLocks noChangeAspect="1"/>
                                  </p:cNvPicPr>
                                  <p:nvPr/>
                                </p:nvPicPr>
                                <p:blipFill>
                                  <a:blip r:embed="rId8"/>
                                  <a:stretch>
                                    <a:fillRect/>
                                  </a:stretch>
                                </p:blipFill>
                                <p:spPr>
                                  <a:xfrm>
                                    <a:off x="1028132" y="4026031"/>
                                    <a:ext cx="345072" cy="539778"/>
                                  </a:xfrm>
                                  <a:prstGeom prst="rect">
                                    <a:avLst/>
                                  </a:prstGeom>
                                </p:spPr>
                              </p:pic>
                            </p:grpSp>
                            <p:pic>
                              <p:nvPicPr>
                                <p:cNvPr id="5" name="图片 4">
                                  <a:extLst>
                                    <a:ext uri="{FF2B5EF4-FFF2-40B4-BE49-F238E27FC236}">
                                      <a16:creationId xmlns:a16="http://schemas.microsoft.com/office/drawing/2014/main" id="{B047BF03-B4E6-926A-16B0-41EE00A27D84}"/>
                                    </a:ext>
                                  </a:extLst>
                                </p:cNvPr>
                                <p:cNvPicPr>
                                  <a:picLocks noChangeAspect="1"/>
                                </p:cNvPicPr>
                                <p:nvPr/>
                              </p:nvPicPr>
                              <p:blipFill>
                                <a:blip r:embed="rId8"/>
                                <a:stretch>
                                  <a:fillRect/>
                                </a:stretch>
                              </p:blipFill>
                              <p:spPr>
                                <a:xfrm>
                                  <a:off x="348135" y="5013176"/>
                                  <a:ext cx="345072" cy="539778"/>
                                </a:xfrm>
                                <a:prstGeom prst="rect">
                                  <a:avLst/>
                                </a:prstGeom>
                              </p:spPr>
                            </p:pic>
                            <p:pic>
                              <p:nvPicPr>
                                <p:cNvPr id="6" name="图片 5">
                                  <a:extLst>
                                    <a:ext uri="{FF2B5EF4-FFF2-40B4-BE49-F238E27FC236}">
                                      <a16:creationId xmlns:a16="http://schemas.microsoft.com/office/drawing/2014/main" id="{ECCC5458-0B66-FE31-CAFA-583ADF7ED1FF}"/>
                                    </a:ext>
                                  </a:extLst>
                                </p:cNvPr>
                                <p:cNvPicPr>
                                  <a:picLocks noChangeAspect="1"/>
                                </p:cNvPicPr>
                                <p:nvPr/>
                              </p:nvPicPr>
                              <p:blipFill>
                                <a:blip r:embed="rId8"/>
                                <a:stretch>
                                  <a:fillRect/>
                                </a:stretch>
                              </p:blipFill>
                              <p:spPr>
                                <a:xfrm>
                                  <a:off x="1560201" y="4026881"/>
                                  <a:ext cx="345072" cy="410897"/>
                                </a:xfrm>
                                <a:prstGeom prst="rect">
                                  <a:avLst/>
                                </a:prstGeom>
                              </p:spPr>
                            </p:pic>
                          </p:grpSp>
                          <p:sp>
                            <p:nvSpPr>
                              <p:cNvPr id="51" name="文本框 50">
                                <a:extLst>
                                  <a:ext uri="{FF2B5EF4-FFF2-40B4-BE49-F238E27FC236}">
                                    <a16:creationId xmlns:a16="http://schemas.microsoft.com/office/drawing/2014/main" id="{343FF025-FFA0-898A-D02D-AE363706770C}"/>
                                  </a:ext>
                                </a:extLst>
                              </p:cNvPr>
                              <p:cNvSpPr txBox="1"/>
                              <p:nvPr/>
                            </p:nvSpPr>
                            <p:spPr>
                              <a:xfrm>
                                <a:off x="2987824" y="2658441"/>
                                <a:ext cx="3655516" cy="339383"/>
                              </a:xfrm>
                              <a:prstGeom prst="rect">
                                <a:avLst/>
                              </a:prstGeom>
                              <a:solidFill>
                                <a:srgbClr val="00FFCC"/>
                              </a:solidFill>
                            </p:spPr>
                            <p:txBody>
                              <a:bodyPr wrap="square" rtlCol="0">
                                <a:spAutoFit/>
                              </a:bodyPr>
                              <a:lstStyle/>
                              <a:p>
                                <a:r>
                                  <a:rPr lang="zh-CN" altLang="en-US" sz="1400" b="1" dirty="0"/>
                                  <a:t>可级联先行进位电路（</a:t>
                                </a:r>
                                <a:r>
                                  <a:rPr lang="en-US" altLang="zh-CN" sz="1400" b="1" dirty="0"/>
                                  <a:t>4</a:t>
                                </a:r>
                                <a:r>
                                  <a:rPr lang="zh-CN" altLang="en-US" sz="1400" b="1" dirty="0"/>
                                  <a:t>位先行进位电路）</a:t>
                                </a:r>
                              </a:p>
                            </p:txBody>
                          </p:sp>
                        </p:grpSp>
                        <p:sp>
                          <p:nvSpPr>
                            <p:cNvPr id="53" name="文本框 52">
                              <a:extLst>
                                <a:ext uri="{FF2B5EF4-FFF2-40B4-BE49-F238E27FC236}">
                                  <a16:creationId xmlns:a16="http://schemas.microsoft.com/office/drawing/2014/main" id="{B7C58B7A-5399-C48B-B4AB-27A664D76CB7}"/>
                                </a:ext>
                              </a:extLst>
                            </p:cNvPr>
                            <p:cNvSpPr txBox="1"/>
                            <p:nvPr/>
                          </p:nvSpPr>
                          <p:spPr>
                            <a:xfrm>
                              <a:off x="3017967" y="5838119"/>
                              <a:ext cx="3682874" cy="307777"/>
                            </a:xfrm>
                            <a:prstGeom prst="rect">
                              <a:avLst/>
                            </a:prstGeom>
                            <a:noFill/>
                          </p:spPr>
                          <p:txBody>
                            <a:bodyPr wrap="square">
                              <a:spAutoFit/>
                            </a:bodyPr>
                            <a:lstStyle/>
                            <a:p>
                              <a:r>
                                <a:rPr lang="zh-CN" altLang="en-US" sz="1400" b="1" dirty="0"/>
                                <a:t>图</a:t>
                              </a:r>
                              <a:r>
                                <a:rPr lang="en-US" altLang="zh-CN" sz="1400" b="1" dirty="0"/>
                                <a:t>3.8    16</a:t>
                              </a:r>
                              <a:r>
                                <a:rPr lang="zh-CN" altLang="en-US" sz="1400" b="1" dirty="0"/>
                                <a:t>位加法器（组内并行、组间并行）</a:t>
                              </a:r>
                              <a:endParaRPr lang="zh-CN" altLang="en-US" sz="1400" dirty="0"/>
                            </a:p>
                          </p:txBody>
                        </p:sp>
                      </p:grpSp>
                      <p:sp>
                        <p:nvSpPr>
                          <p:cNvPr id="55" name="文本框 54">
                            <a:extLst>
                              <a:ext uri="{FF2B5EF4-FFF2-40B4-BE49-F238E27FC236}">
                                <a16:creationId xmlns:a16="http://schemas.microsoft.com/office/drawing/2014/main" id="{432C0F54-495D-5728-3B83-101DAB5F6E7A}"/>
                              </a:ext>
                            </a:extLst>
                          </p:cNvPr>
                          <p:cNvSpPr txBox="1"/>
                          <p:nvPr/>
                        </p:nvSpPr>
                        <p:spPr>
                          <a:xfrm>
                            <a:off x="2667940" y="4921423"/>
                            <a:ext cx="4382931" cy="307777"/>
                          </a:xfrm>
                          <a:prstGeom prst="rect">
                            <a:avLst/>
                          </a:prstGeom>
                          <a:noFill/>
                        </p:spPr>
                        <p:txBody>
                          <a:bodyPr wrap="none" rtlCol="0">
                            <a:spAutoFit/>
                          </a:bodyPr>
                          <a:lstStyle/>
                          <a:p>
                            <a:r>
                              <a:rPr lang="en-US" altLang="zh-CN" sz="1400" b="1" dirty="0">
                                <a:solidFill>
                                  <a:srgbClr val="00B050"/>
                                </a:solidFill>
                              </a:rPr>
                              <a:t>C</a:t>
                            </a:r>
                            <a:r>
                              <a:rPr lang="en-US" altLang="zh-CN" sz="1400" b="1" baseline="-25000" dirty="0">
                                <a:solidFill>
                                  <a:srgbClr val="00B050"/>
                                </a:solidFill>
                              </a:rPr>
                              <a:t>12                                                             </a:t>
                            </a:r>
                            <a:r>
                              <a:rPr lang="en-US" altLang="zh-CN" sz="1400" b="1" dirty="0">
                                <a:solidFill>
                                  <a:srgbClr val="00B050"/>
                                </a:solidFill>
                              </a:rPr>
                              <a:t>     C</a:t>
                            </a:r>
                            <a:r>
                              <a:rPr lang="en-US" altLang="zh-CN" sz="1400" b="1" baseline="-25000" dirty="0">
                                <a:solidFill>
                                  <a:srgbClr val="00B050"/>
                                </a:solidFill>
                              </a:rPr>
                              <a:t>8</a:t>
                            </a:r>
                            <a:r>
                              <a:rPr lang="en-US" altLang="zh-CN" sz="1400" b="1" dirty="0">
                                <a:solidFill>
                                  <a:srgbClr val="00B050"/>
                                </a:solidFill>
                              </a:rPr>
                              <a:t>                                             C</a:t>
                            </a:r>
                            <a:r>
                              <a:rPr lang="en-US" altLang="zh-CN" sz="1400" b="1" baseline="-25000" dirty="0">
                                <a:solidFill>
                                  <a:srgbClr val="00B050"/>
                                </a:solidFill>
                              </a:rPr>
                              <a:t>4</a:t>
                            </a:r>
                            <a:endParaRPr lang="zh-CN" altLang="en-US" sz="1400" b="1" baseline="-25000" dirty="0">
                              <a:solidFill>
                                <a:srgbClr val="00B050"/>
                              </a:solidFill>
                            </a:endParaRPr>
                          </a:p>
                        </p:txBody>
                      </p:sp>
                    </p:grpSp>
                    <p:sp>
                      <p:nvSpPr>
                        <p:cNvPr id="57" name="文本框 56">
                          <a:extLst>
                            <a:ext uri="{FF2B5EF4-FFF2-40B4-BE49-F238E27FC236}">
                              <a16:creationId xmlns:a16="http://schemas.microsoft.com/office/drawing/2014/main" id="{271F3973-01D1-872B-58ED-0C5A48BAA2AC}"/>
                            </a:ext>
                          </a:extLst>
                        </p:cNvPr>
                        <p:cNvSpPr txBox="1"/>
                        <p:nvPr/>
                      </p:nvSpPr>
                      <p:spPr>
                        <a:xfrm>
                          <a:off x="1115616" y="3861048"/>
                          <a:ext cx="6882012" cy="276999"/>
                        </a:xfrm>
                        <a:prstGeom prst="rect">
                          <a:avLst/>
                        </a:prstGeom>
                        <a:noFill/>
                      </p:spPr>
                      <p:txBody>
                        <a:bodyPr wrap="none" rtlCol="0">
                          <a:spAutoFit/>
                        </a:bodyPr>
                        <a:lstStyle/>
                        <a:p>
                          <a:r>
                            <a:rPr lang="en-US" altLang="zh-CN" sz="1200" dirty="0"/>
                            <a:t>       5T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endParaRPr lang="zh-CN" altLang="en-US" sz="1200" dirty="0"/>
                        </a:p>
                      </p:txBody>
                    </p:sp>
                  </p:grpSp>
                  <p:sp>
                    <p:nvSpPr>
                      <p:cNvPr id="59" name="文本框 58">
                        <a:extLst>
                          <a:ext uri="{FF2B5EF4-FFF2-40B4-BE49-F238E27FC236}">
                            <a16:creationId xmlns:a16="http://schemas.microsoft.com/office/drawing/2014/main" id="{E9377671-E22D-E35F-F79E-5354B65D920B}"/>
                          </a:ext>
                        </a:extLst>
                      </p:cNvPr>
                      <p:cNvSpPr txBox="1"/>
                      <p:nvPr/>
                    </p:nvSpPr>
                    <p:spPr>
                      <a:xfrm>
                        <a:off x="2082476" y="3645024"/>
                        <a:ext cx="4560864" cy="276999"/>
                      </a:xfrm>
                      <a:prstGeom prst="rect">
                        <a:avLst/>
                      </a:prstGeom>
                      <a:noFill/>
                    </p:spPr>
                    <p:txBody>
                      <a:bodyPr wrap="none" rtlCol="0">
                        <a:spAutoFit/>
                      </a:bodyPr>
                      <a:lstStyle/>
                      <a:p>
                        <a:r>
                          <a:rPr lang="en-US" altLang="zh-CN" sz="1200" dirty="0"/>
                          <a:t>       7T                                                   </a:t>
                        </a:r>
                        <a:r>
                          <a:rPr lang="en-US" altLang="zh-CN" sz="1200" dirty="0" err="1"/>
                          <a:t>7T</a:t>
                        </a:r>
                        <a:r>
                          <a:rPr lang="en-US" altLang="zh-CN" sz="1200" dirty="0"/>
                          <a:t>                                                     </a:t>
                        </a:r>
                        <a:r>
                          <a:rPr lang="en-US" altLang="zh-CN" sz="1200" dirty="0" err="1"/>
                          <a:t>7T</a:t>
                        </a:r>
                        <a:endParaRPr lang="zh-CN" altLang="en-US" sz="1200" dirty="0"/>
                      </a:p>
                    </p:txBody>
                  </p:sp>
                </p:grpSp>
                <p:sp>
                  <p:nvSpPr>
                    <p:cNvPr id="61" name="文本框 60">
                      <a:extLst>
                        <a:ext uri="{FF2B5EF4-FFF2-40B4-BE49-F238E27FC236}">
                          <a16:creationId xmlns:a16="http://schemas.microsoft.com/office/drawing/2014/main" id="{6C0EA5BF-6F3F-9803-EB86-5CDEC126CC44}"/>
                        </a:ext>
                      </a:extLst>
                    </p:cNvPr>
                    <p:cNvSpPr txBox="1"/>
                    <p:nvPr/>
                  </p:nvSpPr>
                  <p:spPr>
                    <a:xfrm>
                      <a:off x="1331640" y="4160113"/>
                      <a:ext cx="6875600" cy="276999"/>
                    </a:xfrm>
                    <a:prstGeom prst="rect">
                      <a:avLst/>
                    </a:prstGeom>
                    <a:noFill/>
                  </p:spPr>
                  <p:txBody>
                    <a:bodyPr wrap="none" rtlCol="0">
                      <a:spAutoFit/>
                    </a:bodyPr>
                    <a:lstStyle/>
                    <a:p>
                      <a:r>
                        <a:rPr lang="en-US" altLang="zh-CN" sz="1200" b="1" dirty="0">
                          <a:solidFill>
                            <a:srgbClr val="7030A0"/>
                          </a:solidFill>
                        </a:rPr>
                        <a:t>     12T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endParaRPr lang="zh-CN" altLang="en-US" sz="1200" b="1" dirty="0">
                        <a:solidFill>
                          <a:srgbClr val="7030A0"/>
                        </a:solidFill>
                      </a:endParaRPr>
                    </a:p>
                  </p:txBody>
                </p:sp>
              </p:grpSp>
              <p:pic>
                <p:nvPicPr>
                  <p:cNvPr id="64" name="图片 63">
                    <a:extLst>
                      <a:ext uri="{FF2B5EF4-FFF2-40B4-BE49-F238E27FC236}">
                        <a16:creationId xmlns:a16="http://schemas.microsoft.com/office/drawing/2014/main" id="{57FAAF0D-13B0-7F1D-A8A7-D435391DFE71}"/>
                      </a:ext>
                    </a:extLst>
                  </p:cNvPr>
                  <p:cNvPicPr>
                    <a:picLocks noChangeAspect="1"/>
                  </p:cNvPicPr>
                  <p:nvPr/>
                </p:nvPicPr>
                <p:blipFill>
                  <a:blip r:embed="rId9"/>
                  <a:stretch>
                    <a:fillRect/>
                  </a:stretch>
                </p:blipFill>
                <p:spPr>
                  <a:xfrm>
                    <a:off x="7380312" y="4155587"/>
                    <a:ext cx="377401" cy="219217"/>
                  </a:xfrm>
                  <a:prstGeom prst="rect">
                    <a:avLst/>
                  </a:prstGeom>
                </p:spPr>
              </p:pic>
            </p:grpSp>
            <p:pic>
              <p:nvPicPr>
                <p:cNvPr id="67" name="图片 66">
                  <a:extLst>
                    <a:ext uri="{FF2B5EF4-FFF2-40B4-BE49-F238E27FC236}">
                      <a16:creationId xmlns:a16="http://schemas.microsoft.com/office/drawing/2014/main" id="{11EF9AE9-A2E4-3293-A570-F3F23FA7D31C}"/>
                    </a:ext>
                  </a:extLst>
                </p:cNvPr>
                <p:cNvPicPr>
                  <a:picLocks noChangeAspect="1"/>
                </p:cNvPicPr>
                <p:nvPr/>
              </p:nvPicPr>
              <p:blipFill>
                <a:blip r:embed="rId10"/>
                <a:stretch>
                  <a:fillRect/>
                </a:stretch>
              </p:blipFill>
              <p:spPr>
                <a:xfrm>
                  <a:off x="1389153" y="2204864"/>
                  <a:ext cx="606508" cy="377068"/>
                </a:xfrm>
                <a:prstGeom prst="rect">
                  <a:avLst/>
                </a:prstGeom>
              </p:spPr>
            </p:pic>
          </p:grpSp>
          <p:pic>
            <p:nvPicPr>
              <p:cNvPr id="70" name="图片 69">
                <a:extLst>
                  <a:ext uri="{FF2B5EF4-FFF2-40B4-BE49-F238E27FC236}">
                    <a16:creationId xmlns:a16="http://schemas.microsoft.com/office/drawing/2014/main" id="{F7CABEB0-2696-553E-A6B7-FF889CA3B5F6}"/>
                  </a:ext>
                </a:extLst>
              </p:cNvPr>
              <p:cNvPicPr>
                <a:picLocks noChangeAspect="1"/>
              </p:cNvPicPr>
              <p:nvPr/>
            </p:nvPicPr>
            <p:blipFill>
              <a:blip r:embed="rId10"/>
              <a:stretch>
                <a:fillRect/>
              </a:stretch>
            </p:blipFill>
            <p:spPr>
              <a:xfrm>
                <a:off x="234067" y="3168396"/>
                <a:ext cx="604361" cy="571580"/>
              </a:xfrm>
              <a:prstGeom prst="rect">
                <a:avLst/>
              </a:prstGeom>
            </p:spPr>
          </p:pic>
        </p:grpSp>
        <p:pic>
          <p:nvPicPr>
            <p:cNvPr id="73" name="图片 72">
              <a:extLst>
                <a:ext uri="{FF2B5EF4-FFF2-40B4-BE49-F238E27FC236}">
                  <a16:creationId xmlns:a16="http://schemas.microsoft.com/office/drawing/2014/main" id="{D163366E-300B-F602-6363-6130216B4373}"/>
                </a:ext>
              </a:extLst>
            </p:cNvPr>
            <p:cNvPicPr>
              <a:picLocks noChangeAspect="1"/>
            </p:cNvPicPr>
            <p:nvPr/>
          </p:nvPicPr>
          <p:blipFill>
            <a:blip r:embed="rId11"/>
            <a:stretch>
              <a:fillRect/>
            </a:stretch>
          </p:blipFill>
          <p:spPr>
            <a:xfrm>
              <a:off x="2633100" y="3682485"/>
              <a:ext cx="376290" cy="342948"/>
            </a:xfrm>
            <a:prstGeom prst="rect">
              <a:avLst/>
            </a:prstGeom>
          </p:spPr>
        </p:pic>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188641"/>
            <a:ext cx="8147248" cy="2601050"/>
          </a:xfrm>
        </p:spPr>
        <p:txBody>
          <a:bodyPr/>
          <a:lstStyle/>
          <a:p>
            <a:r>
              <a:rPr lang="en-US" altLang="zh-CN" sz="1800" b="1" dirty="0"/>
              <a:t>16</a:t>
            </a:r>
            <a:r>
              <a:rPr lang="zh-CN" altLang="en-US" sz="1800" b="1" dirty="0"/>
              <a:t>位加法器（</a:t>
            </a:r>
            <a:r>
              <a:rPr lang="zh-CN" altLang="en-US" sz="1800" b="1" dirty="0">
                <a:solidFill>
                  <a:srgbClr val="C00000"/>
                </a:solidFill>
              </a:rPr>
              <a:t>组内并行、组间并行 ，多重分组</a:t>
            </a:r>
            <a:r>
              <a:rPr lang="zh-CN" altLang="en-US" sz="1800" b="1" dirty="0"/>
              <a:t>，教材图</a:t>
            </a:r>
            <a:r>
              <a:rPr lang="en-US" altLang="zh-CN" sz="1800" b="1" dirty="0"/>
              <a:t>3.8</a:t>
            </a:r>
            <a:r>
              <a:rPr lang="zh-CN" altLang="en-US" sz="1800" b="1" dirty="0"/>
              <a:t>，可以进一步减少时间延迟）</a:t>
            </a:r>
            <a:endParaRPr lang="en-US" altLang="zh-CN" sz="1800" b="1" dirty="0"/>
          </a:p>
          <a:p>
            <a:pPr lvl="1"/>
            <a:endParaRPr lang="en-US" altLang="zh-CN" sz="900" b="1" dirty="0"/>
          </a:p>
          <a:p>
            <a:pPr lvl="1"/>
            <a:r>
              <a:rPr lang="zh-CN" altLang="en-US" sz="1200" b="1" dirty="0"/>
              <a:t>第</a:t>
            </a:r>
            <a:r>
              <a:rPr lang="en-US" altLang="zh-CN" sz="1200" b="1" dirty="0"/>
              <a:t>1</a:t>
            </a:r>
            <a:r>
              <a:rPr lang="zh-CN" altLang="en-US" sz="1200" b="1" dirty="0"/>
              <a:t>个（右下角）四位快速加法器：</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4</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0</a:t>
            </a:r>
            <a:r>
              <a:rPr lang="en-US" altLang="zh-CN" sz="1200" b="1" dirty="0">
                <a:ea typeface="微软雅黑" panose="020B0503020204020204" pitchFamily="34" charset="-122"/>
                <a:cs typeface="Courier New" panose="02070309020205020404" pitchFamily="49" charset="0"/>
              </a:rPr>
              <a:t> </a:t>
            </a:r>
          </a:p>
          <a:p>
            <a:pPr lvl="1"/>
            <a:r>
              <a:rPr lang="zh-CN" altLang="en-US" sz="1200" b="1" dirty="0"/>
              <a:t>定义：</a:t>
            </a:r>
            <a:r>
              <a:rPr lang="en-US" altLang="zh-CN" sz="1200" b="1" dirty="0">
                <a:ea typeface="微软雅黑" panose="020B0503020204020204" pitchFamily="34" charset="-122"/>
                <a:cs typeface="Courier New" panose="02070309020205020404" pitchFamily="49" charset="0"/>
              </a:rPr>
              <a:t>G</a:t>
            </a:r>
            <a:r>
              <a:rPr lang="en-US" altLang="zh-CN" sz="1200" b="1" baseline="30000" dirty="0">
                <a:ea typeface="微软雅黑" panose="020B0503020204020204" pitchFamily="34" charset="-122"/>
                <a:cs typeface="Courier New" panose="02070309020205020404" pitchFamily="49" charset="0"/>
              </a:rPr>
              <a:t>*</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zh-CN" altLang="en-US" sz="1200" b="1" spc="300" baseline="-25000" dirty="0">
                <a:ea typeface="微软雅黑" panose="020B0503020204020204" pitchFamily="34" charset="-122"/>
                <a:cs typeface="Courier New" panose="02070309020205020404" pitchFamily="49" charset="0"/>
              </a:rPr>
              <a:t>                      </a:t>
            </a:r>
            <a:r>
              <a:rPr lang="en-US" altLang="zh-CN" sz="1200" b="1" dirty="0">
                <a:ea typeface="微软雅黑" panose="020B0503020204020204" pitchFamily="34" charset="-122"/>
                <a:cs typeface="Courier New" panose="02070309020205020404" pitchFamily="49" charset="0"/>
              </a:rPr>
              <a:t>P</a:t>
            </a:r>
            <a:r>
              <a:rPr lang="en-US" altLang="zh-CN" sz="1200" b="1" baseline="30000" dirty="0">
                <a:ea typeface="微软雅黑" panose="020B0503020204020204" pitchFamily="34" charset="-122"/>
                <a:cs typeface="Courier New" panose="02070309020205020404" pitchFamily="49" charset="0"/>
              </a:rPr>
              <a:t>*</a:t>
            </a:r>
            <a:r>
              <a:rPr lang="en-US" altLang="zh-CN" sz="1200" b="1" dirty="0">
                <a:ea typeface="微软雅黑" panose="020B0503020204020204" pitchFamily="34" charset="-122"/>
                <a:cs typeface="Courier New" panose="02070309020205020404" pitchFamily="49" charset="0"/>
              </a:rPr>
              <a:t>= </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endParaRPr lang="en-US" altLang="zh-CN" sz="1200" b="1" dirty="0">
              <a:ea typeface="微软雅黑" panose="020B0503020204020204" pitchFamily="34" charset="-122"/>
              <a:cs typeface="Courier New" panose="02070309020205020404" pitchFamily="49" charset="0"/>
            </a:endParaRPr>
          </a:p>
          <a:p>
            <a:pPr lvl="1"/>
            <a:r>
              <a:rPr lang="zh-CN" altLang="en-US" sz="1200" b="1" dirty="0"/>
              <a:t>则有</a:t>
            </a:r>
            <a:r>
              <a:rPr lang="zh-CN" altLang="en-US" sz="1200" b="1" dirty="0">
                <a:highlight>
                  <a:srgbClr val="FFFF00"/>
                </a:highlight>
              </a:rPr>
              <a:t>：</a:t>
            </a:r>
            <a:r>
              <a:rPr lang="en-US" altLang="zh-CN" sz="1200" b="1" spc="300" dirty="0">
                <a:highlight>
                  <a:srgbClr val="FFFF00"/>
                </a:highlight>
                <a:ea typeface="微软雅黑" panose="020B0503020204020204" pitchFamily="34" charset="-122"/>
                <a:cs typeface="Courier New" panose="02070309020205020404" pitchFamily="49" charset="0"/>
              </a:rPr>
              <a:t>C</a:t>
            </a:r>
            <a:r>
              <a:rPr lang="en-US" altLang="zh-CN" sz="1200" b="1" spc="300" baseline="-25000" dirty="0">
                <a:highlight>
                  <a:srgbClr val="FFFF00"/>
                </a:highlight>
                <a:ea typeface="微软雅黑" panose="020B0503020204020204" pitchFamily="34" charset="-122"/>
                <a:cs typeface="Courier New" panose="02070309020205020404" pitchFamily="49" charset="0"/>
              </a:rPr>
              <a:t>4</a:t>
            </a:r>
            <a:r>
              <a:rPr lang="en-US" altLang="zh-CN" sz="1200" b="1" dirty="0">
                <a:highlight>
                  <a:srgbClr val="FFFF00"/>
                </a:highlight>
                <a:ea typeface="微软雅黑" panose="020B0503020204020204" pitchFamily="34" charset="-122"/>
                <a:cs typeface="Courier New" panose="02070309020205020404" pitchFamily="49" charset="0"/>
              </a:rPr>
              <a:t>= G</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zh-CN" altLang="en-US" sz="1200" b="1" dirty="0">
                <a:highlight>
                  <a:srgbClr val="FFFF00"/>
                </a:highlight>
                <a:ea typeface="Segoe UI Black" panose="020B0A02040204020203" pitchFamily="34" charset="0"/>
                <a:cs typeface="Segoe UI Black" panose="020B0A02040204020203" pitchFamily="34" charset="0"/>
              </a:rPr>
              <a:t>＋</a:t>
            </a:r>
            <a:r>
              <a:rPr lang="en-US" altLang="zh-CN" sz="1200" b="1" dirty="0">
                <a:highlight>
                  <a:srgbClr val="FFFF00"/>
                </a:highlight>
                <a:ea typeface="微软雅黑" panose="020B0503020204020204" pitchFamily="34" charset="-122"/>
                <a:cs typeface="Courier New" panose="02070309020205020404" pitchFamily="49" charset="0"/>
              </a:rPr>
              <a:t>P</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en-US" altLang="zh-CN" sz="1200" b="1" dirty="0">
                <a:highlight>
                  <a:srgbClr val="FFFF00"/>
                </a:highlight>
                <a:ea typeface="微软雅黑" panose="020B0503020204020204" pitchFamily="34" charset="-122"/>
                <a:cs typeface="Courier New" panose="02070309020205020404" pitchFamily="49" charset="0"/>
              </a:rPr>
              <a:t>C</a:t>
            </a:r>
            <a:r>
              <a:rPr lang="en-US" altLang="zh-CN" sz="1200" b="1" baseline="-25000" dirty="0">
                <a:highlight>
                  <a:srgbClr val="FFFF00"/>
                </a:highlight>
                <a:ea typeface="微软雅黑" panose="020B0503020204020204" pitchFamily="34" charset="-122"/>
                <a:cs typeface="Courier New" panose="02070309020205020404" pitchFamily="49" charset="0"/>
              </a:rPr>
              <a:t>0                         </a:t>
            </a:r>
            <a:r>
              <a:rPr lang="zh-CN" altLang="en-US" sz="1200" b="1" dirty="0"/>
              <a:t>对应可级联先行进位电路：</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0</a:t>
            </a:r>
          </a:p>
          <a:p>
            <a:pPr lvl="1"/>
            <a:r>
              <a:rPr lang="zh-CN" altLang="en-US" sz="1200" b="1" dirty="0"/>
              <a:t>类似的，可以得到</a:t>
            </a:r>
            <a:r>
              <a:rPr lang="en-US" altLang="zh-CN" sz="1200" b="1" dirty="0"/>
              <a:t>C</a:t>
            </a:r>
            <a:r>
              <a:rPr lang="en-US" altLang="zh-CN" sz="1200" b="1" baseline="-25000" dirty="0"/>
              <a:t>8</a:t>
            </a:r>
            <a:r>
              <a:rPr lang="zh-CN" altLang="en-US" sz="1200" b="1" dirty="0"/>
              <a:t>（第</a:t>
            </a:r>
            <a:r>
              <a:rPr lang="en-US" altLang="zh-CN" sz="1200" b="1" dirty="0"/>
              <a:t>2</a:t>
            </a:r>
            <a:r>
              <a:rPr lang="zh-CN" altLang="en-US" sz="1200" b="1" dirty="0"/>
              <a:t>个四位快速加法器的进位，对应可级联先行进位电路的</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12</a:t>
            </a:r>
            <a:r>
              <a:rPr lang="zh-CN" altLang="en-US" sz="1200" b="1" dirty="0"/>
              <a:t>（第</a:t>
            </a:r>
            <a:r>
              <a:rPr lang="en-US" altLang="zh-CN" sz="1200" b="1" dirty="0"/>
              <a:t>3</a:t>
            </a:r>
            <a:r>
              <a:rPr lang="zh-CN" altLang="en-US" sz="1200" b="1" dirty="0"/>
              <a:t>个四位快速加法器的进位，对应可级联先行进位电路的</a:t>
            </a:r>
            <a:r>
              <a:rPr lang="en-US" altLang="zh-CN" sz="1200" b="1" dirty="0"/>
              <a:t>C</a:t>
            </a:r>
            <a:r>
              <a:rPr lang="en-US" altLang="zh-CN" sz="1200" b="1" baseline="-25000" dirty="0"/>
              <a:t>3</a:t>
            </a:r>
            <a:r>
              <a:rPr lang="zh-CN" altLang="en-US" sz="1200" b="1" dirty="0"/>
              <a:t>）的计算公式</a:t>
            </a:r>
            <a:r>
              <a:rPr lang="zh-CN" altLang="en-US" sz="1200" b="1" dirty="0">
                <a:solidFill>
                  <a:srgbClr val="C00000"/>
                </a:solidFill>
              </a:rPr>
              <a:t>：</a:t>
            </a:r>
            <a:r>
              <a:rPr lang="en-US" altLang="zh-CN" sz="1200" b="1" spc="300" dirty="0">
                <a:solidFill>
                  <a:srgbClr val="C00000"/>
                </a:solidFill>
                <a:ea typeface="微软雅黑" panose="020B0503020204020204" pitchFamily="34" charset="-122"/>
                <a:cs typeface="Courier New" panose="02070309020205020404" pitchFamily="49" charset="0"/>
              </a:rPr>
              <a:t> C</a:t>
            </a:r>
            <a:r>
              <a:rPr lang="en-US" altLang="zh-CN" sz="1200" b="1" spc="300"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1                           </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3</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2</a:t>
            </a:r>
          </a:p>
          <a:p>
            <a:pPr lvl="1"/>
            <a:r>
              <a:rPr lang="zh-CN" altLang="en-US" sz="1200" b="1" dirty="0"/>
              <a:t>图</a:t>
            </a:r>
            <a:r>
              <a:rPr lang="en-US" altLang="zh-CN" sz="1200" b="1" dirty="0"/>
              <a:t>3.8</a:t>
            </a:r>
            <a:r>
              <a:rPr lang="zh-CN" altLang="en-US" sz="1200" b="1" dirty="0"/>
              <a:t>中的四位快速加法器见图</a:t>
            </a:r>
            <a:r>
              <a:rPr lang="en-US" altLang="zh-CN" sz="1200" b="1" dirty="0"/>
              <a:t>3.6</a:t>
            </a:r>
            <a:r>
              <a:rPr lang="zh-CN" altLang="en-US" sz="1200" b="1" dirty="0"/>
              <a:t>、可级联先行进位电路见图</a:t>
            </a:r>
            <a:r>
              <a:rPr lang="en-US" altLang="zh-CN" sz="1200" b="1" dirty="0"/>
              <a:t>3.5</a:t>
            </a:r>
          </a:p>
          <a:p>
            <a:pPr lvl="1"/>
            <a:r>
              <a:rPr lang="zh-CN" altLang="en-US" sz="1200" b="1" dirty="0"/>
              <a:t>图</a:t>
            </a:r>
            <a:r>
              <a:rPr lang="en-US" altLang="zh-CN" sz="1200" b="1" dirty="0"/>
              <a:t>3.8</a:t>
            </a:r>
            <a:r>
              <a:rPr lang="zh-CN" altLang="en-US" sz="1200" b="1" dirty="0"/>
              <a:t>时间延迟分析：</a:t>
            </a:r>
            <a:r>
              <a:rPr lang="en-US" altLang="zh-CN" sz="1200" b="1" dirty="0">
                <a:highlight>
                  <a:srgbClr val="FFFF00"/>
                </a:highlight>
              </a:rPr>
              <a:t>5T</a:t>
            </a:r>
            <a:r>
              <a:rPr lang="zh-CN" altLang="en-US" sz="1200" b="1" dirty="0">
                <a:highlight>
                  <a:srgbClr val="FFFF00"/>
                </a:highlight>
              </a:rPr>
              <a:t>时间延迟得到四位快速加法器的</a:t>
            </a:r>
            <a:r>
              <a:rPr lang="en-US" altLang="zh-CN" sz="1200" b="1" dirty="0">
                <a:highlight>
                  <a:srgbClr val="FFFF00"/>
                </a:highlight>
              </a:rPr>
              <a:t>P*</a:t>
            </a:r>
            <a:r>
              <a:rPr lang="zh-CN" altLang="en-US" sz="1200" b="1" dirty="0">
                <a:highlight>
                  <a:srgbClr val="FFFF00"/>
                </a:highlight>
              </a:rPr>
              <a:t>、</a:t>
            </a:r>
            <a:r>
              <a:rPr lang="en-US" altLang="zh-CN" sz="1200" b="1" dirty="0">
                <a:highlight>
                  <a:srgbClr val="FFFF00"/>
                </a:highlight>
              </a:rPr>
              <a:t>G</a:t>
            </a:r>
            <a:r>
              <a:rPr lang="zh-CN" altLang="en-US" sz="1200" b="1" dirty="0">
                <a:highlight>
                  <a:srgbClr val="FFFF00"/>
                </a:highlight>
              </a:rPr>
              <a:t>*</a:t>
            </a:r>
            <a:r>
              <a:rPr lang="zh-CN" altLang="en-US" sz="1200" b="1" dirty="0"/>
              <a:t>，再经过</a:t>
            </a:r>
            <a:r>
              <a:rPr lang="en-US" altLang="zh-CN" sz="1200" b="1" dirty="0"/>
              <a:t>2T</a:t>
            </a:r>
            <a:r>
              <a:rPr lang="zh-CN" altLang="en-US" sz="1200" b="1" dirty="0"/>
              <a:t>时间延迟得到可级联先行进位电路的</a:t>
            </a:r>
            <a:r>
              <a:rPr lang="en-US" altLang="zh-CN" sz="1200" b="1" dirty="0"/>
              <a:t>C</a:t>
            </a:r>
            <a:r>
              <a:rPr lang="en-US" altLang="zh-CN" sz="1200" b="1" baseline="-25000" dirty="0"/>
              <a:t>1</a:t>
            </a:r>
            <a:r>
              <a:rPr lang="zh-CN" altLang="en-US" sz="1200" b="1" dirty="0"/>
              <a:t>、</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3</a:t>
            </a:r>
            <a:r>
              <a:rPr lang="zh-CN" altLang="en-US" sz="1200" b="1" dirty="0"/>
              <a:t>（</a:t>
            </a:r>
            <a:r>
              <a:rPr lang="en-US" altLang="zh-CN" sz="1200" b="1" dirty="0"/>
              <a:t>7T=5T+2T</a:t>
            </a:r>
            <a:r>
              <a:rPr lang="zh-CN" altLang="en-US" sz="1200" b="1" dirty="0"/>
              <a:t>（</a:t>
            </a:r>
            <a:r>
              <a:rPr lang="en-US" altLang="zh-CN" sz="1200" b="1" dirty="0"/>
              <a:t>1T</a:t>
            </a:r>
            <a:r>
              <a:rPr lang="zh-CN" altLang="en-US" sz="1200" b="1" dirty="0"/>
              <a:t>与门</a:t>
            </a:r>
            <a:r>
              <a:rPr lang="en-US" altLang="zh-CN" sz="1200" b="1" dirty="0"/>
              <a:t>+1T</a:t>
            </a:r>
            <a:r>
              <a:rPr lang="zh-CN" altLang="en-US" sz="1200" b="1" dirty="0"/>
              <a:t>或门）），再经过</a:t>
            </a:r>
            <a:r>
              <a:rPr lang="en-US" altLang="zh-CN" sz="1200" b="1" dirty="0">
                <a:highlight>
                  <a:srgbClr val="FFFF00"/>
                </a:highlight>
              </a:rPr>
              <a:t>5T</a:t>
            </a:r>
            <a:r>
              <a:rPr lang="zh-CN" altLang="en-US" sz="1200" b="1" dirty="0">
                <a:highlight>
                  <a:srgbClr val="FFFF00"/>
                </a:highlight>
              </a:rPr>
              <a:t>时间（图</a:t>
            </a:r>
            <a:r>
              <a:rPr lang="en-US" altLang="zh-CN" sz="1200" b="1" dirty="0">
                <a:highlight>
                  <a:srgbClr val="FFFF00"/>
                </a:highlight>
              </a:rPr>
              <a:t>3.6 2T+3T</a:t>
            </a:r>
            <a:r>
              <a:rPr lang="zh-CN" altLang="en-US" sz="1200" b="1" dirty="0">
                <a:highlight>
                  <a:srgbClr val="FFFF00"/>
                </a:highlight>
              </a:rPr>
              <a:t>的异或门）延迟</a:t>
            </a:r>
            <a:r>
              <a:rPr lang="zh-CN" altLang="en-US" sz="1200" b="1" dirty="0"/>
              <a:t>得到运算结果</a:t>
            </a:r>
            <a:r>
              <a:rPr lang="en-US" altLang="zh-CN" sz="1200" b="1" dirty="0"/>
              <a:t>S</a:t>
            </a:r>
            <a:r>
              <a:rPr lang="en-US" altLang="zh-CN" sz="1200" b="1" baseline="-25000" dirty="0"/>
              <a:t>15</a:t>
            </a:r>
            <a:r>
              <a:rPr lang="en-US" altLang="zh-CN" sz="1200" b="1" dirty="0"/>
              <a:t>……S</a:t>
            </a:r>
            <a:r>
              <a:rPr lang="en-US" altLang="zh-CN" sz="1200" b="1" baseline="-25000" dirty="0"/>
              <a:t>0</a:t>
            </a:r>
            <a:r>
              <a:rPr lang="zh-CN" altLang="en-US" sz="1200" b="1" dirty="0"/>
              <a:t>；因此总的时间延迟为</a:t>
            </a:r>
            <a:r>
              <a:rPr lang="en-US" altLang="zh-CN" sz="1200" b="1" dirty="0">
                <a:solidFill>
                  <a:srgbClr val="C00000"/>
                </a:solidFill>
              </a:rPr>
              <a:t>12T</a:t>
            </a:r>
            <a:r>
              <a:rPr lang="en-US" altLang="zh-CN" sz="1200" b="1" dirty="0"/>
              <a:t>=5T+2T+5T </a:t>
            </a:r>
            <a:r>
              <a:rPr lang="zh-CN" altLang="en-US" sz="1200" b="1" dirty="0"/>
              <a:t>； 注：</a:t>
            </a:r>
            <a:r>
              <a:rPr lang="zh-CN" altLang="en-US" sz="1200" b="1" dirty="0">
                <a:highlight>
                  <a:srgbClr val="FFFF00"/>
                </a:highlight>
              </a:rPr>
              <a:t>此时图</a:t>
            </a:r>
            <a:r>
              <a:rPr lang="en-US" altLang="zh-CN" sz="1200" b="1" dirty="0">
                <a:highlight>
                  <a:srgbClr val="FFFF00"/>
                </a:highlight>
              </a:rPr>
              <a:t>3.6</a:t>
            </a:r>
            <a:r>
              <a:rPr lang="zh-CN" altLang="en-US" sz="1200" b="1" dirty="0">
                <a:highlight>
                  <a:srgbClr val="FFFF00"/>
                </a:highlight>
              </a:rPr>
              <a:t>中与门异或门电路的</a:t>
            </a:r>
            <a:r>
              <a:rPr lang="en-US" altLang="zh-CN" sz="1200" b="1" dirty="0">
                <a:highlight>
                  <a:srgbClr val="FFFF00"/>
                </a:highlight>
              </a:rPr>
              <a:t>3T</a:t>
            </a:r>
            <a:r>
              <a:rPr lang="zh-CN" altLang="en-US" sz="1200" b="1" dirty="0">
                <a:highlight>
                  <a:srgbClr val="FFFF00"/>
                </a:highlight>
              </a:rPr>
              <a:t>已经计算完毕，不占用时间</a:t>
            </a:r>
          </a:p>
        </p:txBody>
      </p:sp>
      <p:sp>
        <p:nvSpPr>
          <p:cNvPr id="63" name="文本框 62">
            <a:extLst>
              <a:ext uri="{FF2B5EF4-FFF2-40B4-BE49-F238E27FC236}">
                <a16:creationId xmlns:a16="http://schemas.microsoft.com/office/drawing/2014/main" id="{08E799AC-DF70-4432-9A25-A8544BD1A54A}"/>
              </a:ext>
            </a:extLst>
          </p:cNvPr>
          <p:cNvSpPr txBox="1"/>
          <p:nvPr/>
        </p:nvSpPr>
        <p:spPr>
          <a:xfrm>
            <a:off x="604335" y="3429000"/>
            <a:ext cx="424343"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Tree>
    <p:extLst>
      <p:ext uri="{BB962C8B-B14F-4D97-AF65-F5344CB8AC3E}">
        <p14:creationId xmlns:p14="http://schemas.microsoft.com/office/powerpoint/2010/main" val="2065744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57529DD-ED5E-41E3-912A-F17F4B6317E3}"/>
              </a:ext>
            </a:extLst>
          </p:cNvPr>
          <p:cNvSpPr>
            <a:spLocks noGrp="1"/>
          </p:cNvSpPr>
          <p:nvPr>
            <p:ph idx="1"/>
          </p:nvPr>
        </p:nvSpPr>
        <p:spPr>
          <a:xfrm>
            <a:off x="323528" y="332656"/>
            <a:ext cx="3780659" cy="5832647"/>
          </a:xfrm>
        </p:spPr>
        <p:txBody>
          <a:bodyPr/>
          <a:lstStyle/>
          <a:p>
            <a:r>
              <a:rPr lang="en-US" altLang="zh-CN" sz="2000" b="1" dirty="0"/>
              <a:t>16</a:t>
            </a:r>
            <a:r>
              <a:rPr lang="zh-CN" altLang="en-US" sz="2000" b="1" dirty="0"/>
              <a:t>位加法器时间延迟比较：</a:t>
            </a:r>
            <a:endParaRPr lang="en-US" altLang="zh-CN" sz="2000" b="1" dirty="0"/>
          </a:p>
          <a:p>
            <a:pPr lvl="1"/>
            <a:endParaRPr lang="en-US" altLang="zh-CN" sz="1600" b="1" dirty="0"/>
          </a:p>
          <a:p>
            <a:pPr lvl="1"/>
            <a:r>
              <a:rPr lang="en-US" altLang="zh-CN" sz="1600" b="1" dirty="0"/>
              <a:t>16</a:t>
            </a:r>
            <a:r>
              <a:rPr lang="zh-CN" altLang="en-US" sz="1600" b="1" dirty="0"/>
              <a:t>位加法器（串行，图</a:t>
            </a:r>
            <a:r>
              <a:rPr lang="en-US" altLang="zh-CN" sz="1600" b="1" dirty="0"/>
              <a:t>3.3</a:t>
            </a:r>
            <a:r>
              <a:rPr lang="zh-CN" altLang="en-US" sz="1600" b="1" dirty="0"/>
              <a:t>）：</a:t>
            </a:r>
            <a:endParaRPr lang="en-US" altLang="zh-CN" sz="1600" b="1" dirty="0"/>
          </a:p>
          <a:p>
            <a:pPr lvl="2"/>
            <a:r>
              <a:rPr lang="zh-CN" altLang="en-US" sz="1600" b="1" dirty="0"/>
              <a:t>时间延迟</a:t>
            </a:r>
            <a:r>
              <a:rPr lang="en-US" altLang="zh-CN" sz="1600" b="1" dirty="0"/>
              <a:t>=(2n+4)T=(2*16+4)T=</a:t>
            </a:r>
            <a:r>
              <a:rPr lang="en-US" altLang="zh-CN" sz="1600" b="1" dirty="0">
                <a:solidFill>
                  <a:srgbClr val="C00000"/>
                </a:solidFill>
              </a:rPr>
              <a:t>36T</a:t>
            </a:r>
            <a:endParaRPr lang="en-US" altLang="zh-CN" sz="1000" b="1" dirty="0">
              <a:solidFill>
                <a:srgbClr val="C00000"/>
              </a:solidFill>
            </a:endParaRPr>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位加法器（组内并行、组间串行，图</a:t>
            </a:r>
            <a:r>
              <a:rPr lang="en-US" altLang="zh-CN" sz="1600" b="1" dirty="0"/>
              <a:t>3.7</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14T</a:t>
            </a:r>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位加法器（组内并行、组间并行，图</a:t>
            </a:r>
            <a:r>
              <a:rPr lang="en-US" altLang="zh-CN" sz="1600" b="1" dirty="0"/>
              <a:t>3.8</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12T</a:t>
            </a:r>
          </a:p>
          <a:p>
            <a:pPr lvl="1"/>
            <a:endParaRPr lang="zh-CN" altLang="en-US" sz="1600" b="1" dirty="0"/>
          </a:p>
          <a:p>
            <a:endParaRPr lang="zh-CN" altLang="en-US" sz="2000" dirty="0"/>
          </a:p>
        </p:txBody>
      </p:sp>
      <p:pic>
        <p:nvPicPr>
          <p:cNvPr id="7" name="图片 6">
            <a:extLst>
              <a:ext uri="{FF2B5EF4-FFF2-40B4-BE49-F238E27FC236}">
                <a16:creationId xmlns:a16="http://schemas.microsoft.com/office/drawing/2014/main" id="{85EA9B25-4172-ED92-3E62-7A3DFF4BCE80}"/>
              </a:ext>
            </a:extLst>
          </p:cNvPr>
          <p:cNvPicPr>
            <a:picLocks noChangeAspect="1"/>
          </p:cNvPicPr>
          <p:nvPr/>
        </p:nvPicPr>
        <p:blipFill>
          <a:blip r:embed="rId2"/>
          <a:stretch>
            <a:fillRect/>
          </a:stretch>
        </p:blipFill>
        <p:spPr>
          <a:xfrm>
            <a:off x="3923928" y="249788"/>
            <a:ext cx="4654577" cy="2088232"/>
          </a:xfrm>
          <a:prstGeom prst="rect">
            <a:avLst/>
          </a:prstGeom>
        </p:spPr>
      </p:pic>
      <p:pic>
        <p:nvPicPr>
          <p:cNvPr id="9" name="图片 8">
            <a:extLst>
              <a:ext uri="{FF2B5EF4-FFF2-40B4-BE49-F238E27FC236}">
                <a16:creationId xmlns:a16="http://schemas.microsoft.com/office/drawing/2014/main" id="{AC072C82-E9F6-7A0D-96A9-D61E1A610F62}"/>
              </a:ext>
            </a:extLst>
          </p:cNvPr>
          <p:cNvPicPr>
            <a:picLocks noChangeAspect="1"/>
          </p:cNvPicPr>
          <p:nvPr/>
        </p:nvPicPr>
        <p:blipFill>
          <a:blip r:embed="rId3"/>
          <a:stretch>
            <a:fillRect/>
          </a:stretch>
        </p:blipFill>
        <p:spPr>
          <a:xfrm>
            <a:off x="4113734" y="2570334"/>
            <a:ext cx="4706738" cy="1359786"/>
          </a:xfrm>
          <a:prstGeom prst="rect">
            <a:avLst/>
          </a:prstGeom>
        </p:spPr>
      </p:pic>
      <p:pic>
        <p:nvPicPr>
          <p:cNvPr id="15" name="图片 14">
            <a:extLst>
              <a:ext uri="{FF2B5EF4-FFF2-40B4-BE49-F238E27FC236}">
                <a16:creationId xmlns:a16="http://schemas.microsoft.com/office/drawing/2014/main" id="{DF8131A7-4739-A9C0-2214-A23F6919546A}"/>
              </a:ext>
            </a:extLst>
          </p:cNvPr>
          <p:cNvPicPr>
            <a:picLocks noChangeAspect="1"/>
          </p:cNvPicPr>
          <p:nvPr/>
        </p:nvPicPr>
        <p:blipFill>
          <a:blip r:embed="rId4"/>
          <a:stretch>
            <a:fillRect/>
          </a:stretch>
        </p:blipFill>
        <p:spPr>
          <a:xfrm>
            <a:off x="4054835" y="3968081"/>
            <a:ext cx="4824536" cy="2506926"/>
          </a:xfrm>
          <a:prstGeom prst="rect">
            <a:avLst/>
          </a:prstGeom>
        </p:spPr>
      </p:pic>
    </p:spTree>
    <p:extLst>
      <p:ext uri="{BB962C8B-B14F-4D97-AF65-F5344CB8AC3E}">
        <p14:creationId xmlns:p14="http://schemas.microsoft.com/office/powerpoint/2010/main" val="3975810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34F9B-C553-4E98-8F3A-EF30C95867EC}"/>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283CDB6F-2F73-493A-AD9A-0960716B1C88}"/>
              </a:ext>
            </a:extLst>
          </p:cNvPr>
          <p:cNvSpPr>
            <a:spLocks noGrp="1"/>
          </p:cNvSpPr>
          <p:nvPr>
            <p:ph idx="1"/>
          </p:nvPr>
        </p:nvSpPr>
        <p:spPr>
          <a:xfrm>
            <a:off x="457200" y="1417638"/>
            <a:ext cx="8229600" cy="5035698"/>
          </a:xfrm>
        </p:spPr>
        <p:txBody>
          <a:bodyPr/>
          <a:lstStyle/>
          <a:p>
            <a:r>
              <a:rPr lang="zh-CN" altLang="en-US" sz="2000" b="1" dirty="0"/>
              <a:t>如何实现</a:t>
            </a:r>
            <a:r>
              <a:rPr lang="en-US" altLang="zh-CN" sz="2000" b="1" dirty="0"/>
              <a:t>32</a:t>
            </a:r>
            <a:r>
              <a:rPr lang="zh-CN" altLang="en-US" sz="2000" b="1" dirty="0"/>
              <a:t>位并行加法器？</a:t>
            </a:r>
            <a:endParaRPr lang="en-US" altLang="zh-CN" sz="2000" b="1" dirty="0"/>
          </a:p>
          <a:p>
            <a:endParaRPr lang="en-US" altLang="zh-CN" sz="2000" b="1" dirty="0"/>
          </a:p>
          <a:p>
            <a:pPr lvl="1"/>
            <a:r>
              <a:rPr lang="zh-CN" altLang="en-US" sz="1600" b="1" dirty="0"/>
              <a:t>思路：类似于图</a:t>
            </a:r>
            <a:r>
              <a:rPr lang="en-US" altLang="zh-CN" sz="1600" b="1" dirty="0"/>
              <a:t>3.7</a:t>
            </a:r>
            <a:r>
              <a:rPr lang="zh-CN" altLang="en-US" sz="1600" b="1" dirty="0"/>
              <a:t>的方式，采用</a:t>
            </a:r>
            <a:r>
              <a:rPr lang="en-US" altLang="zh-CN" sz="1600" b="1" dirty="0"/>
              <a:t>2</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en-US" altLang="zh-CN" sz="2000" b="1" dirty="0"/>
          </a:p>
          <a:p>
            <a:r>
              <a:rPr lang="zh-CN" altLang="en-US" sz="2000" b="1" dirty="0"/>
              <a:t>如何实现</a:t>
            </a:r>
            <a:r>
              <a:rPr lang="en-US" altLang="zh-CN" sz="2000" b="1" dirty="0"/>
              <a:t>64</a:t>
            </a:r>
            <a:r>
              <a:rPr lang="zh-CN" altLang="en-US" sz="2000" b="1" dirty="0"/>
              <a:t>位并行加法器？</a:t>
            </a:r>
            <a:endParaRPr lang="en-US" altLang="zh-CN" sz="2000" b="1" dirty="0"/>
          </a:p>
          <a:p>
            <a:endParaRPr lang="en-US" altLang="zh-CN" sz="2000" b="1" dirty="0"/>
          </a:p>
          <a:p>
            <a:pPr lvl="1"/>
            <a:r>
              <a:rPr lang="zh-CN" altLang="en-US" sz="1600" b="1" dirty="0"/>
              <a:t>思路：</a:t>
            </a:r>
            <a:endParaRPr lang="en-US" altLang="zh-CN" sz="1600" b="1" dirty="0"/>
          </a:p>
          <a:p>
            <a:pPr lvl="2"/>
            <a:r>
              <a:rPr lang="zh-CN" altLang="en-US" sz="1600" b="1" dirty="0"/>
              <a:t>方法</a:t>
            </a:r>
            <a:r>
              <a:rPr lang="en-US" altLang="zh-CN" sz="1600" b="1" dirty="0"/>
              <a:t>1</a:t>
            </a:r>
            <a:r>
              <a:rPr lang="zh-CN" altLang="en-US" sz="1600" b="1" dirty="0"/>
              <a:t>：类似于图</a:t>
            </a:r>
            <a:r>
              <a:rPr lang="en-US" altLang="zh-CN" sz="1600" b="1" dirty="0"/>
              <a:t>3.7</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2"/>
            <a:endParaRPr lang="en-US" altLang="zh-CN" sz="1600" b="1" dirty="0"/>
          </a:p>
          <a:p>
            <a:pPr lvl="2"/>
            <a:r>
              <a:rPr lang="zh-CN" altLang="en-US" sz="1600" b="1" dirty="0"/>
              <a:t>方法</a:t>
            </a:r>
            <a:r>
              <a:rPr lang="en-US" altLang="zh-CN" sz="1600" b="1" dirty="0"/>
              <a:t>2</a:t>
            </a:r>
            <a:r>
              <a:rPr lang="zh-CN" altLang="en-US" sz="1600" b="1" dirty="0"/>
              <a:t>：类似于图</a:t>
            </a:r>
            <a:r>
              <a:rPr lang="en-US" altLang="zh-CN" sz="1600" b="1" dirty="0"/>
              <a:t>3.8</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并联</a:t>
            </a:r>
            <a:r>
              <a:rPr lang="zh-CN" altLang="en-US" sz="1600" b="1" dirty="0"/>
              <a:t>（组内并行、组间并行）；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zh-CN" altLang="en-US" sz="1600" b="1" dirty="0"/>
          </a:p>
        </p:txBody>
      </p:sp>
    </p:spTree>
    <p:extLst>
      <p:ext uri="{BB962C8B-B14F-4D97-AF65-F5344CB8AC3E}">
        <p14:creationId xmlns:p14="http://schemas.microsoft.com/office/powerpoint/2010/main" val="23996430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3.3  </a:t>
            </a:r>
            <a:r>
              <a:rPr lang="zh-CN" altLang="en-US" b="1" dirty="0">
                <a:solidFill>
                  <a:srgbClr val="002060"/>
                </a:solidFill>
                <a:latin typeface="+mn-lt"/>
                <a:ea typeface="黑体" pitchFamily="49" charset="-122"/>
              </a:rPr>
              <a:t>定点乘法运算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954562"/>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、原码一位乘法运算方法</a:t>
            </a:r>
            <a:endParaRPr lang="en-US" altLang="zh-CN" sz="2000" b="1" dirty="0"/>
          </a:p>
          <a:p>
            <a:pPr lvl="2" eaLnBrk="1" hangingPunct="1"/>
            <a:r>
              <a:rPr lang="zh-CN" altLang="en-US" sz="1800" b="1" dirty="0"/>
              <a:t>（</a:t>
            </a:r>
            <a:r>
              <a:rPr lang="en-US" altLang="zh-CN" sz="1800" b="1" dirty="0"/>
              <a:t>1</a:t>
            </a:r>
            <a:r>
              <a:rPr lang="zh-CN" altLang="en-US" sz="1800" b="1" dirty="0"/>
              <a:t>）乘积符号的确定</a:t>
            </a:r>
            <a:endParaRPr lang="en-US" altLang="zh-CN" sz="1800" b="1" dirty="0"/>
          </a:p>
          <a:p>
            <a:pPr lvl="3" eaLnBrk="1" hangingPunct="1"/>
            <a:r>
              <a:rPr lang="zh-CN" altLang="en-US" sz="1800" b="1" dirty="0"/>
              <a:t>被乘数：</a:t>
            </a:r>
            <a:r>
              <a:rPr lang="en-US" altLang="zh-CN" sz="1800" b="1" dirty="0"/>
              <a:t>[x]</a:t>
            </a:r>
            <a:r>
              <a:rPr lang="zh-CN" altLang="en-US" sz="1800" b="1" baseline="-25000" dirty="0"/>
              <a:t>原</a:t>
            </a:r>
            <a:r>
              <a:rPr lang="en-US" altLang="zh-CN" sz="1800" b="1" dirty="0"/>
              <a:t>=x</a:t>
            </a:r>
            <a:r>
              <a:rPr lang="en-US" altLang="zh-CN" sz="1800" b="1" baseline="-25000" dirty="0"/>
              <a:t>0</a:t>
            </a:r>
            <a:r>
              <a:rPr lang="en-US" altLang="zh-CN" sz="1800" b="1" dirty="0"/>
              <a:t>.x</a:t>
            </a:r>
            <a:r>
              <a:rPr lang="en-US" altLang="zh-CN" sz="1800" b="1" baseline="-25000" dirty="0"/>
              <a:t>1</a:t>
            </a:r>
            <a:r>
              <a:rPr lang="en-US" altLang="zh-CN" sz="1800" b="1" dirty="0"/>
              <a:t>x</a:t>
            </a:r>
            <a:r>
              <a:rPr lang="en-US" altLang="zh-CN" sz="1800" b="1" baseline="-25000" dirty="0"/>
              <a:t>2</a:t>
            </a:r>
            <a:r>
              <a:rPr lang="en-US" altLang="zh-CN" sz="1800" b="1" dirty="0"/>
              <a:t>…</a:t>
            </a:r>
            <a:r>
              <a:rPr lang="en-US" altLang="zh-CN" sz="1800" b="1" dirty="0" err="1"/>
              <a:t>x</a:t>
            </a:r>
            <a:r>
              <a:rPr lang="en-US" altLang="zh-CN" sz="1800" b="1" baseline="-25000" dirty="0" err="1"/>
              <a:t>n</a:t>
            </a:r>
            <a:endParaRPr lang="en-US" altLang="zh-CN" sz="1800" b="1" baseline="-25000" dirty="0"/>
          </a:p>
          <a:p>
            <a:pPr lvl="3" eaLnBrk="1" hangingPunct="1"/>
            <a:r>
              <a:rPr lang="zh-CN" altLang="en-US" sz="1800" b="1" dirty="0"/>
              <a:t>乘数：</a:t>
            </a:r>
            <a:r>
              <a:rPr lang="en-US" altLang="zh-CN" sz="1800" b="1" dirty="0"/>
              <a:t>[y]</a:t>
            </a:r>
            <a:r>
              <a:rPr lang="zh-CN" altLang="en-US" sz="1800" b="1" baseline="-25000" dirty="0"/>
              <a:t>原</a:t>
            </a:r>
            <a:r>
              <a:rPr lang="en-US" altLang="zh-CN" sz="1800" b="1" dirty="0"/>
              <a:t>=y</a:t>
            </a:r>
            <a:r>
              <a:rPr lang="en-US" altLang="zh-CN" sz="1800" b="1" baseline="-25000" dirty="0"/>
              <a:t>0</a:t>
            </a:r>
            <a:r>
              <a:rPr lang="en-US" altLang="zh-CN" sz="1800" b="1" dirty="0"/>
              <a:t>.y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endParaRPr lang="en-US" altLang="zh-CN" sz="1800" b="1" baseline="-25000" dirty="0"/>
          </a:p>
          <a:p>
            <a:pPr lvl="3" eaLnBrk="1" hangingPunct="1"/>
            <a:r>
              <a:rPr lang="zh-CN" altLang="en-US" sz="1800" b="1" dirty="0"/>
              <a:t>乘积：</a:t>
            </a:r>
            <a:r>
              <a:rPr lang="en-US" altLang="zh-CN" sz="1800" b="1" dirty="0"/>
              <a:t>P=P</a:t>
            </a:r>
            <a:r>
              <a:rPr lang="en-US" altLang="zh-CN" sz="1800" b="1" baseline="-25000" dirty="0"/>
              <a:t>0</a:t>
            </a:r>
            <a:r>
              <a:rPr lang="en-US" altLang="zh-CN" sz="1800" b="1" dirty="0"/>
              <a:t>.P</a:t>
            </a:r>
            <a:r>
              <a:rPr lang="en-US" altLang="zh-CN" sz="1800" b="1" baseline="-25000" dirty="0"/>
              <a:t>1</a:t>
            </a:r>
            <a:r>
              <a:rPr lang="en-US" altLang="zh-CN" sz="1800" b="1" dirty="0"/>
              <a:t>P</a:t>
            </a:r>
            <a:r>
              <a:rPr lang="en-US" altLang="zh-CN" sz="1800" b="1" baseline="-25000" dirty="0"/>
              <a:t>2</a:t>
            </a:r>
            <a:r>
              <a:rPr lang="en-US" altLang="zh-CN" sz="1800" b="1" dirty="0"/>
              <a:t>…P</a:t>
            </a:r>
            <a:r>
              <a:rPr lang="en-US" altLang="zh-CN" sz="1800" b="1" baseline="-25000" dirty="0"/>
              <a:t>2n</a:t>
            </a:r>
          </a:p>
          <a:p>
            <a:pPr lvl="3" eaLnBrk="1" hangingPunct="1"/>
            <a:r>
              <a:rPr lang="zh-CN" altLang="en-US" sz="1800" b="1" dirty="0"/>
              <a:t>乘积的符号：</a:t>
            </a:r>
            <a:r>
              <a:rPr lang="en-US" altLang="zh-CN" sz="1800" b="1" dirty="0"/>
              <a:t>P</a:t>
            </a:r>
            <a:r>
              <a:rPr lang="en-US" altLang="zh-CN" sz="1800" b="1" baseline="-25000" dirty="0"/>
              <a:t>0</a:t>
            </a:r>
            <a:r>
              <a:rPr lang="en-US" altLang="zh-CN" sz="1800" b="1" dirty="0"/>
              <a:t>= x</a:t>
            </a:r>
            <a:r>
              <a:rPr lang="en-US" altLang="zh-CN" sz="1800" b="1" baseline="-25000" dirty="0"/>
              <a:t>0</a:t>
            </a:r>
            <a:r>
              <a:rPr lang="en-US" altLang="zh-CN" sz="1800" b="1" dirty="0">
                <a:latin typeface="等线" panose="02010600030101010101" pitchFamily="2" charset="-122"/>
                <a:ea typeface="等线" panose="02010600030101010101" pitchFamily="2" charset="-122"/>
              </a:rPr>
              <a:t>⊕</a:t>
            </a:r>
            <a:r>
              <a:rPr lang="en-US" altLang="zh-CN" sz="1800" b="1" dirty="0"/>
              <a:t>y</a:t>
            </a:r>
            <a:r>
              <a:rPr lang="en-US" altLang="zh-CN" sz="1800" b="1" baseline="-25000" dirty="0"/>
              <a:t>0</a:t>
            </a:r>
            <a:endParaRPr lang="en-US" altLang="zh-CN" sz="1800" b="1" dirty="0"/>
          </a:p>
          <a:p>
            <a:pPr lvl="2" eaLnBrk="1" hangingPunct="1"/>
            <a:endParaRPr lang="en-US" altLang="zh-CN" sz="1600" b="1" dirty="0"/>
          </a:p>
          <a:p>
            <a:pPr lvl="2" eaLnBrk="1" hangingPunct="1"/>
            <a:r>
              <a:rPr lang="zh-CN" altLang="en-US" sz="1800" b="1" dirty="0"/>
              <a:t>（</a:t>
            </a:r>
            <a:r>
              <a:rPr lang="en-US" altLang="zh-CN" sz="1800" b="1" dirty="0"/>
              <a:t>2</a:t>
            </a:r>
            <a:r>
              <a:rPr lang="zh-CN" altLang="en-US" sz="1800" b="1" dirty="0"/>
              <a:t>）乘积的数值</a:t>
            </a:r>
            <a:endParaRPr lang="en-US" altLang="zh-CN" sz="1800" b="1" dirty="0"/>
          </a:p>
          <a:p>
            <a:pPr lvl="3" eaLnBrk="1" hangingPunct="1"/>
            <a:r>
              <a:rPr lang="en-US" altLang="zh-CN" sz="1800" b="1" dirty="0"/>
              <a:t>|P|=|x|·|y|</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469630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714E76-2923-4FC7-9811-9166BC350FE7}"/>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grpSp>
        <p:nvGrpSpPr>
          <p:cNvPr id="8" name="组合 7">
            <a:extLst>
              <a:ext uri="{FF2B5EF4-FFF2-40B4-BE49-F238E27FC236}">
                <a16:creationId xmlns:a16="http://schemas.microsoft.com/office/drawing/2014/main" id="{FDADEE6A-DBAF-4D50-BAD6-6AC460048F0C}"/>
              </a:ext>
            </a:extLst>
          </p:cNvPr>
          <p:cNvGrpSpPr/>
          <p:nvPr/>
        </p:nvGrpSpPr>
        <p:grpSpPr>
          <a:xfrm>
            <a:off x="1163849" y="1241302"/>
            <a:ext cx="4195232" cy="5040560"/>
            <a:chOff x="2843808" y="1844824"/>
            <a:chExt cx="3781953" cy="4545922"/>
          </a:xfrm>
        </p:grpSpPr>
        <p:pic>
          <p:nvPicPr>
            <p:cNvPr id="5" name="图片 4">
              <a:extLst>
                <a:ext uri="{FF2B5EF4-FFF2-40B4-BE49-F238E27FC236}">
                  <a16:creationId xmlns:a16="http://schemas.microsoft.com/office/drawing/2014/main" id="{8F0767D0-CA7F-426F-8D24-01474BBA511E}"/>
                </a:ext>
              </a:extLst>
            </p:cNvPr>
            <p:cNvPicPr>
              <a:picLocks noChangeAspect="1"/>
            </p:cNvPicPr>
            <p:nvPr/>
          </p:nvPicPr>
          <p:blipFill>
            <a:blip r:embed="rId2"/>
            <a:stretch>
              <a:fillRect/>
            </a:stretch>
          </p:blipFill>
          <p:spPr>
            <a:xfrm>
              <a:off x="2843808" y="2132856"/>
              <a:ext cx="3548242" cy="4257890"/>
            </a:xfrm>
            <a:prstGeom prst="rect">
              <a:avLst/>
            </a:prstGeom>
          </p:spPr>
        </p:pic>
        <p:pic>
          <p:nvPicPr>
            <p:cNvPr id="7" name="图片 6">
              <a:extLst>
                <a:ext uri="{FF2B5EF4-FFF2-40B4-BE49-F238E27FC236}">
                  <a16:creationId xmlns:a16="http://schemas.microsoft.com/office/drawing/2014/main" id="{23BEBF8A-3932-46C6-8D79-47561CC1C159}"/>
                </a:ext>
              </a:extLst>
            </p:cNvPr>
            <p:cNvPicPr>
              <a:picLocks noChangeAspect="1"/>
            </p:cNvPicPr>
            <p:nvPr/>
          </p:nvPicPr>
          <p:blipFill>
            <a:blip r:embed="rId3"/>
            <a:stretch>
              <a:fillRect/>
            </a:stretch>
          </p:blipFill>
          <p:spPr>
            <a:xfrm>
              <a:off x="5508104" y="1844824"/>
              <a:ext cx="1117657" cy="666784"/>
            </a:xfrm>
            <a:prstGeom prst="rect">
              <a:avLst/>
            </a:prstGeom>
          </p:spPr>
        </p:pic>
      </p:grpSp>
      <p:sp>
        <p:nvSpPr>
          <p:cNvPr id="6" name="文本框 5">
            <a:extLst>
              <a:ext uri="{FF2B5EF4-FFF2-40B4-BE49-F238E27FC236}">
                <a16:creationId xmlns:a16="http://schemas.microsoft.com/office/drawing/2014/main" id="{EDB1654E-2754-4126-97EA-75B2E7BFFE78}"/>
              </a:ext>
            </a:extLst>
          </p:cNvPr>
          <p:cNvSpPr txBox="1"/>
          <p:nvPr/>
        </p:nvSpPr>
        <p:spPr>
          <a:xfrm>
            <a:off x="1619672" y="6275191"/>
            <a:ext cx="2765086" cy="307777"/>
          </a:xfrm>
          <a:prstGeom prst="rect">
            <a:avLst/>
          </a:prstGeom>
          <a:noFill/>
        </p:spPr>
        <p:txBody>
          <a:bodyPr wrap="square">
            <a:spAutoFit/>
          </a:bodyPr>
          <a:lstStyle/>
          <a:p>
            <a:r>
              <a:rPr lang="zh-CN" altLang="en-US" sz="1400" b="1" dirty="0"/>
              <a:t>图</a:t>
            </a:r>
            <a:r>
              <a:rPr lang="en-US" altLang="zh-CN" sz="1400" b="1" dirty="0"/>
              <a:t>3.9    </a:t>
            </a:r>
            <a:r>
              <a:rPr lang="zh-CN" altLang="en-US" sz="1400" b="1" dirty="0"/>
              <a:t>原码一位乘法算法流程图</a:t>
            </a:r>
            <a:endParaRPr lang="zh-CN" altLang="en-US" sz="1400" dirty="0"/>
          </a:p>
        </p:txBody>
      </p:sp>
      <p:sp>
        <p:nvSpPr>
          <p:cNvPr id="9" name="文本框 8">
            <a:extLst>
              <a:ext uri="{FF2B5EF4-FFF2-40B4-BE49-F238E27FC236}">
                <a16:creationId xmlns:a16="http://schemas.microsoft.com/office/drawing/2014/main" id="{1D6CD203-6279-40F0-A621-17DE517BC2D2}"/>
              </a:ext>
            </a:extLst>
          </p:cNvPr>
          <p:cNvSpPr txBox="1"/>
          <p:nvPr/>
        </p:nvSpPr>
        <p:spPr>
          <a:xfrm>
            <a:off x="4506207" y="1967055"/>
            <a:ext cx="4572000" cy="369332"/>
          </a:xfrm>
          <a:prstGeom prst="rect">
            <a:avLst/>
          </a:prstGeom>
          <a:noFill/>
        </p:spPr>
        <p:txBody>
          <a:bodyPr wrap="square">
            <a:spAutoFit/>
          </a:bodyPr>
          <a:lstStyle/>
          <a:p>
            <a:pPr lvl="2"/>
            <a:r>
              <a:rPr lang="en-US" altLang="zh-CN" sz="1800" b="1" dirty="0"/>
              <a:t>x=0.1101</a:t>
            </a:r>
            <a:r>
              <a:rPr lang="zh-CN" altLang="en-US" sz="1800" b="1" dirty="0"/>
              <a:t>，</a:t>
            </a:r>
            <a:r>
              <a:rPr lang="en-US" altLang="zh-CN" sz="1800" b="1" dirty="0"/>
              <a:t>y=0.1011</a:t>
            </a:r>
            <a:r>
              <a:rPr lang="zh-CN" altLang="en-US" sz="1800" b="1" dirty="0"/>
              <a:t>，手工计算</a:t>
            </a:r>
            <a:r>
              <a:rPr lang="en-US" altLang="zh-CN" sz="1800" b="1" dirty="0" err="1"/>
              <a:t>x·y</a:t>
            </a:r>
            <a:endParaRPr lang="zh-CN" altLang="en-US" sz="1400" b="1" dirty="0"/>
          </a:p>
        </p:txBody>
      </p:sp>
      <p:sp>
        <p:nvSpPr>
          <p:cNvPr id="11" name="文本框 10">
            <a:extLst>
              <a:ext uri="{FF2B5EF4-FFF2-40B4-BE49-F238E27FC236}">
                <a16:creationId xmlns:a16="http://schemas.microsoft.com/office/drawing/2014/main" id="{D12DBB83-DB2A-4A6C-A7FE-6B990E3B8A9C}"/>
              </a:ext>
            </a:extLst>
          </p:cNvPr>
          <p:cNvSpPr txBox="1"/>
          <p:nvPr/>
        </p:nvSpPr>
        <p:spPr>
          <a:xfrm>
            <a:off x="5590450" y="2493231"/>
            <a:ext cx="2952328" cy="295786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altLang="zh-CN" b="1" dirty="0"/>
              <a:t>                    0.  1  1  0  1</a:t>
            </a:r>
          </a:p>
          <a:p>
            <a:pPr>
              <a:lnSpc>
                <a:spcPct val="150000"/>
              </a:lnSpc>
            </a:pPr>
            <a:r>
              <a:rPr lang="en-US" altLang="zh-CN" b="1" dirty="0"/>
              <a:t>                x  0.  1  0  1  1</a:t>
            </a:r>
          </a:p>
          <a:p>
            <a:pPr>
              <a:lnSpc>
                <a:spcPct val="150000"/>
              </a:lnSpc>
            </a:pPr>
            <a:r>
              <a:rPr lang="en-US" altLang="zh-CN" b="1" dirty="0"/>
              <a:t>                         1  1  0  1</a:t>
            </a:r>
          </a:p>
          <a:p>
            <a:pPr>
              <a:lnSpc>
                <a:spcPct val="150000"/>
              </a:lnSpc>
            </a:pPr>
            <a:r>
              <a:rPr lang="en-US" altLang="zh-CN" b="1" dirty="0"/>
              <a:t>                     1  1  0  1</a:t>
            </a:r>
          </a:p>
          <a:p>
            <a:pPr>
              <a:lnSpc>
                <a:spcPct val="150000"/>
              </a:lnSpc>
            </a:pPr>
            <a:r>
              <a:rPr lang="en-US" altLang="zh-CN" b="1" dirty="0"/>
              <a:t>                 0  0  0  0</a:t>
            </a:r>
          </a:p>
          <a:p>
            <a:pPr>
              <a:lnSpc>
                <a:spcPct val="150000"/>
              </a:lnSpc>
            </a:pPr>
            <a:r>
              <a:rPr lang="en-US" altLang="zh-CN" b="1" dirty="0"/>
              <a:t>  +         1  1  0  1</a:t>
            </a:r>
          </a:p>
          <a:p>
            <a:pPr>
              <a:lnSpc>
                <a:spcPct val="150000"/>
              </a:lnSpc>
            </a:pPr>
            <a:r>
              <a:rPr lang="en-US" altLang="zh-CN" b="1" dirty="0"/>
              <a:t>    0.  1  0  0  0  1  1  1  1</a:t>
            </a:r>
          </a:p>
        </p:txBody>
      </p:sp>
      <p:sp>
        <p:nvSpPr>
          <p:cNvPr id="3" name="内容占位符 2">
            <a:extLst>
              <a:ext uri="{FF2B5EF4-FFF2-40B4-BE49-F238E27FC236}">
                <a16:creationId xmlns:a16="http://schemas.microsoft.com/office/drawing/2014/main" id="{F60285E8-0CCB-4ED1-9000-CAA7E6EC0842}"/>
              </a:ext>
            </a:extLst>
          </p:cNvPr>
          <p:cNvSpPr>
            <a:spLocks noGrp="1"/>
          </p:cNvSpPr>
          <p:nvPr>
            <p:ph idx="1"/>
          </p:nvPr>
        </p:nvSpPr>
        <p:spPr>
          <a:xfrm>
            <a:off x="-28043" y="1241302"/>
            <a:ext cx="8229600" cy="425195"/>
          </a:xfrm>
        </p:spPr>
        <p:txBody>
          <a:bodyPr/>
          <a:lstStyle/>
          <a:p>
            <a:pPr lvl="2"/>
            <a:r>
              <a:rPr lang="zh-CN" altLang="en-US" sz="2000" b="1" dirty="0"/>
              <a:t>原码一位乘法算法流程图（教材图</a:t>
            </a:r>
            <a:r>
              <a:rPr lang="en-US" altLang="zh-CN" sz="2000" b="1" dirty="0"/>
              <a:t>3.9</a:t>
            </a:r>
            <a:r>
              <a:rPr lang="zh-CN" altLang="en-US" sz="2000" b="1" dirty="0"/>
              <a:t>）</a:t>
            </a:r>
            <a:endParaRPr lang="zh-CN" altLang="en-US" sz="1600" b="1" dirty="0"/>
          </a:p>
        </p:txBody>
      </p:sp>
      <p:cxnSp>
        <p:nvCxnSpPr>
          <p:cNvPr id="15" name="直接连接符 14">
            <a:extLst>
              <a:ext uri="{FF2B5EF4-FFF2-40B4-BE49-F238E27FC236}">
                <a16:creationId xmlns:a16="http://schemas.microsoft.com/office/drawing/2014/main" id="{2BD04D10-773D-4937-8BB1-F5992BD86995}"/>
              </a:ext>
            </a:extLst>
          </p:cNvPr>
          <p:cNvCxnSpPr/>
          <p:nvPr/>
        </p:nvCxnSpPr>
        <p:spPr>
          <a:xfrm>
            <a:off x="5796136" y="3429000"/>
            <a:ext cx="2592288" cy="0"/>
          </a:xfrm>
          <a:prstGeom prst="line">
            <a:avLst/>
          </a:prstGeom>
          <a:ln/>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B049F85A-D80D-4C63-83E9-B914204CA3AB}"/>
              </a:ext>
            </a:extLst>
          </p:cNvPr>
          <p:cNvCxnSpPr/>
          <p:nvPr/>
        </p:nvCxnSpPr>
        <p:spPr>
          <a:xfrm>
            <a:off x="5770470" y="5013176"/>
            <a:ext cx="2592288"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04921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F37FE-4AA5-4117-A559-1AEC9F86E293}"/>
              </a:ext>
            </a:extLst>
          </p:cNvPr>
          <p:cNvSpPr>
            <a:spLocks noGrp="1"/>
          </p:cNvSpPr>
          <p:nvPr>
            <p:ph type="title"/>
          </p:nvPr>
        </p:nvSpPr>
        <p:spPr>
          <a:xfrm>
            <a:off x="457200" y="96518"/>
            <a:ext cx="8229600" cy="1143000"/>
          </a:xfrm>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1082755"/>
            <a:ext cx="8229600" cy="1514657"/>
          </a:xfrm>
        </p:spPr>
        <p:txBody>
          <a:bodyPr/>
          <a:lstStyle/>
          <a:p>
            <a:pPr lvl="2"/>
            <a:r>
              <a:rPr lang="zh-CN" altLang="en-US" sz="1800" b="1" dirty="0"/>
              <a:t>例</a:t>
            </a:r>
            <a:r>
              <a:rPr lang="en-US" altLang="zh-CN" sz="1800" b="1" dirty="0"/>
              <a:t>3.10</a:t>
            </a:r>
            <a:r>
              <a:rPr lang="zh-CN" altLang="en-US" sz="1800" b="1" dirty="0"/>
              <a:t>：</a:t>
            </a:r>
            <a:r>
              <a:rPr lang="en-US" altLang="zh-CN" sz="1800" b="1" dirty="0"/>
              <a:t>x = 0.1101</a:t>
            </a:r>
            <a:r>
              <a:rPr lang="zh-CN" altLang="en-US" sz="1800" b="1" dirty="0"/>
              <a:t>，</a:t>
            </a:r>
            <a:r>
              <a:rPr lang="en-US" altLang="zh-CN" sz="1800" b="1" dirty="0"/>
              <a:t>y = -0.1011</a:t>
            </a:r>
            <a:r>
              <a:rPr lang="zh-CN" altLang="en-US" sz="1800" b="1" dirty="0"/>
              <a:t>，用原码一位乘法求</a:t>
            </a:r>
            <a:r>
              <a:rPr lang="en-US" altLang="zh-CN" sz="1800" b="1" dirty="0" err="1"/>
              <a:t>x·y</a:t>
            </a:r>
            <a:endParaRPr lang="en-US" altLang="zh-CN" sz="1800" b="1" dirty="0"/>
          </a:p>
          <a:p>
            <a:pPr lvl="2"/>
            <a:r>
              <a:rPr lang="zh-CN" altLang="en-US" sz="1800" b="1" dirty="0"/>
              <a:t>解：</a:t>
            </a:r>
            <a:endParaRPr lang="en-US" altLang="zh-CN" sz="1800" b="1" dirty="0"/>
          </a:p>
          <a:p>
            <a:pPr lvl="3"/>
            <a:r>
              <a:rPr lang="zh-CN" altLang="en-US" sz="1400" b="1" dirty="0"/>
              <a:t>乘积的符号</a:t>
            </a:r>
            <a:r>
              <a:rPr lang="en-US" altLang="zh-CN" sz="1400" b="1" dirty="0"/>
              <a:t>P</a:t>
            </a:r>
            <a:r>
              <a:rPr lang="en-US" altLang="zh-CN" sz="1400" b="1" baseline="-25000" dirty="0"/>
              <a:t>0</a:t>
            </a:r>
            <a:r>
              <a:rPr lang="en-US" altLang="zh-CN" sz="1400" b="1" dirty="0"/>
              <a:t>= x</a:t>
            </a:r>
            <a:r>
              <a:rPr lang="en-US" altLang="zh-CN" sz="1400" b="1" baseline="-25000" dirty="0"/>
              <a:t>0</a:t>
            </a:r>
            <a:r>
              <a:rPr lang="en-US" altLang="zh-CN" sz="1400" b="1" dirty="0">
                <a:latin typeface="等线" panose="02010600030101010101" pitchFamily="2" charset="-122"/>
                <a:ea typeface="等线" panose="02010600030101010101" pitchFamily="2" charset="-122"/>
              </a:rPr>
              <a:t>⊕</a:t>
            </a:r>
            <a:r>
              <a:rPr lang="en-US" altLang="zh-CN" sz="1400" b="1" dirty="0"/>
              <a:t>y</a:t>
            </a:r>
            <a:r>
              <a:rPr lang="en-US" altLang="zh-CN" sz="1400" b="1" baseline="-25000" dirty="0"/>
              <a:t>0 </a:t>
            </a:r>
            <a:r>
              <a:rPr lang="en-US" altLang="zh-CN" sz="1400" b="1" dirty="0"/>
              <a:t>=1</a:t>
            </a:r>
          </a:p>
          <a:p>
            <a:pPr lvl="3"/>
            <a:r>
              <a:rPr lang="zh-CN" altLang="en-US" sz="1400" b="1" dirty="0"/>
              <a:t>乘积的绝对值</a:t>
            </a:r>
            <a:r>
              <a:rPr lang="en-US" altLang="zh-CN" sz="1400" b="1" dirty="0"/>
              <a:t>=0.1000 1111</a:t>
            </a:r>
            <a:r>
              <a:rPr lang="zh-CN" altLang="en-US" sz="1400" b="1" dirty="0"/>
              <a:t>（具体见下面的计算过程）</a:t>
            </a:r>
            <a:endParaRPr lang="en-US" altLang="zh-CN" sz="1400" b="1" dirty="0"/>
          </a:p>
          <a:p>
            <a:pPr lvl="3"/>
            <a:r>
              <a:rPr lang="zh-CN" altLang="en-US" sz="1400" b="1" dirty="0"/>
              <a:t>乘积：</a:t>
            </a:r>
            <a:r>
              <a:rPr lang="en-US" altLang="zh-CN" sz="1400" b="1" dirty="0"/>
              <a:t>[</a:t>
            </a:r>
            <a:r>
              <a:rPr lang="en-US" altLang="zh-CN" sz="1400" b="1" dirty="0" err="1"/>
              <a:t>x·y</a:t>
            </a:r>
            <a:r>
              <a:rPr lang="en-US" altLang="zh-CN" sz="1400" b="1" dirty="0"/>
              <a:t>]</a:t>
            </a:r>
            <a:r>
              <a:rPr lang="zh-CN" altLang="en-US" sz="1400" b="1" baseline="-25000" dirty="0"/>
              <a:t>原</a:t>
            </a:r>
            <a:r>
              <a:rPr lang="en-US" altLang="zh-CN" sz="1400" b="1" dirty="0"/>
              <a:t>=1.1000 1111</a:t>
            </a:r>
            <a:r>
              <a:rPr lang="zh-CN" altLang="en-US" sz="1400" b="1" dirty="0"/>
              <a:t>，</a:t>
            </a:r>
            <a:r>
              <a:rPr lang="en-US" altLang="zh-CN" sz="1400" b="1" dirty="0" err="1"/>
              <a:t>x·y</a:t>
            </a:r>
            <a:r>
              <a:rPr lang="en-US" altLang="zh-CN" sz="1400" b="1" dirty="0"/>
              <a:t> = -0.1000 1111</a:t>
            </a:r>
            <a:endParaRPr lang="zh-CN" altLang="en-US" sz="800" b="1" dirty="0"/>
          </a:p>
        </p:txBody>
      </p:sp>
      <p:grpSp>
        <p:nvGrpSpPr>
          <p:cNvPr id="15" name="组合 14">
            <a:extLst>
              <a:ext uri="{FF2B5EF4-FFF2-40B4-BE49-F238E27FC236}">
                <a16:creationId xmlns:a16="http://schemas.microsoft.com/office/drawing/2014/main" id="{40CC534B-D037-4A16-9B17-5AC45F85898A}"/>
              </a:ext>
            </a:extLst>
          </p:cNvPr>
          <p:cNvGrpSpPr/>
          <p:nvPr/>
        </p:nvGrpSpPr>
        <p:grpSpPr>
          <a:xfrm>
            <a:off x="1475656" y="2708920"/>
            <a:ext cx="4824536" cy="3970318"/>
            <a:chOff x="1574252" y="1854225"/>
            <a:chExt cx="4527641" cy="397031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574252" y="1854225"/>
              <a:ext cx="4527641" cy="3970318"/>
              <a:chOff x="1574252" y="2790329"/>
              <a:chExt cx="4527641" cy="3970318"/>
            </a:xfrm>
          </p:grpSpPr>
          <p:sp>
            <p:nvSpPr>
              <p:cNvPr id="5" name="文本框 4">
                <a:extLst>
                  <a:ext uri="{FF2B5EF4-FFF2-40B4-BE49-F238E27FC236}">
                    <a16:creationId xmlns:a16="http://schemas.microsoft.com/office/drawing/2014/main" id="{80055F23-3693-45A0-9AB6-48B9DABFB818}"/>
                  </a:ext>
                </a:extLst>
              </p:cNvPr>
              <p:cNvSpPr txBox="1"/>
              <p:nvPr/>
            </p:nvSpPr>
            <p:spPr>
              <a:xfrm>
                <a:off x="1574252" y="2790329"/>
                <a:ext cx="4392488" cy="397031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0 0 . 0 0 0 0       1 0 1 </a:t>
                </a:r>
                <a:r>
                  <a:rPr lang="en-US" altLang="zh-CN" sz="1400" b="1" dirty="0">
                    <a:solidFill>
                      <a:srgbClr val="C00000"/>
                    </a:solidFill>
                  </a:rPr>
                  <a:t>1</a:t>
                </a:r>
                <a:r>
                  <a:rPr lang="en-US" altLang="zh-CN" sz="1400" b="1" dirty="0"/>
                  <a:t>                P=0</a:t>
                </a:r>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0 0 . 1 1 0 1       1 0 1 1</a:t>
                </a:r>
              </a:p>
              <a:p>
                <a:r>
                  <a:rPr lang="en-US" altLang="zh-CN" sz="1400" b="1" dirty="0"/>
                  <a:t>    →	0 0 . 0 1 1 0       1 1 0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0 1 . 0 0 1 1       1 1 0 1</a:t>
                </a:r>
              </a:p>
              <a:p>
                <a:r>
                  <a:rPr lang="en-US" altLang="zh-CN" sz="1400" b="1" dirty="0"/>
                  <a:t>    → 	0 0 . 1 0 0 1       1 1 1 </a:t>
                </a:r>
                <a:r>
                  <a:rPr lang="en-US" altLang="zh-CN" sz="1400" b="1" dirty="0">
                    <a:solidFill>
                      <a:srgbClr val="C00000"/>
                    </a:solidFill>
                  </a:rPr>
                  <a:t>0</a:t>
                </a:r>
                <a:r>
                  <a:rPr lang="en-US" altLang="zh-CN" sz="1400" b="1" dirty="0"/>
                  <a:t>                 </a:t>
                </a:r>
                <a:r>
                  <a:rPr lang="zh-CN" altLang="en-US" sz="1400" b="1" dirty="0"/>
                  <a:t>逻辑右移一位</a:t>
                </a:r>
                <a:endParaRPr lang="en-US" altLang="zh-CN" sz="1400" b="1" dirty="0"/>
              </a:p>
              <a:p>
                <a:r>
                  <a:rPr lang="en-US" altLang="zh-CN" sz="1400" b="1" dirty="0"/>
                  <a:t>    +	0 0 . 0 0 0 0                                     </a:t>
                </a:r>
                <a:r>
                  <a:rPr lang="en-US" altLang="zh-CN" sz="1400" b="1" dirty="0" err="1"/>
                  <a:t>y</a:t>
                </a:r>
                <a:r>
                  <a:rPr lang="en-US" altLang="zh-CN" sz="1400" b="1" baseline="-25000" dirty="0" err="1"/>
                  <a:t>n</a:t>
                </a:r>
                <a:r>
                  <a:rPr lang="en-US" altLang="zh-CN" sz="1400" b="1" dirty="0"/>
                  <a:t>=0</a:t>
                </a:r>
                <a:r>
                  <a:rPr lang="zh-CN" altLang="en-US" sz="1400" b="1" dirty="0"/>
                  <a:t>，</a:t>
                </a:r>
                <a:r>
                  <a:rPr lang="en-US" altLang="zh-CN" sz="1400" b="1" dirty="0"/>
                  <a:t>+0</a:t>
                </a:r>
              </a:p>
              <a:p>
                <a:endParaRPr lang="en-US" altLang="zh-CN" sz="1400" b="1" dirty="0"/>
              </a:p>
              <a:p>
                <a:r>
                  <a:rPr lang="en-US" altLang="zh-CN" sz="1400" b="1" dirty="0"/>
                  <a:t>	0 0 . 1 0 0 1       1 1 1 0</a:t>
                </a:r>
              </a:p>
              <a:p>
                <a:r>
                  <a:rPr lang="en-US" altLang="zh-CN" sz="1400" b="1" dirty="0"/>
                  <a:t>    → 	0 0 . 0 1 0 0       1 1 1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0 1 . 0 0 0 1       1 1 1 1</a:t>
                </a:r>
              </a:p>
              <a:p>
                <a:r>
                  <a:rPr lang="en-US" altLang="zh-CN" sz="1400" b="1" dirty="0"/>
                  <a:t>    →  	</a:t>
                </a:r>
                <a:r>
                  <a:rPr lang="en-US" altLang="zh-CN" sz="1400" b="1" dirty="0">
                    <a:solidFill>
                      <a:srgbClr val="C00000"/>
                    </a:solidFill>
                  </a:rPr>
                  <a:t>0 0 . 1 0 0 0       1 1 1 1                   </a:t>
                </a:r>
                <a:r>
                  <a:rPr lang="zh-CN" altLang="en-US" sz="1400" b="1" dirty="0"/>
                  <a:t>右移一位</a:t>
                </a:r>
                <a:endParaRPr lang="en-US" altLang="zh-CN" sz="1400" b="1" dirty="0"/>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709405" y="3548334"/>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709405" y="5229200"/>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D90BD93A-F283-4D53-A76D-01573428C438}"/>
              </a:ext>
            </a:extLst>
          </p:cNvPr>
          <p:cNvSpPr txBox="1"/>
          <p:nvPr/>
        </p:nvSpPr>
        <p:spPr>
          <a:xfrm>
            <a:off x="6350900" y="2971021"/>
            <a:ext cx="2376263"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乘数</a:t>
            </a:r>
            <a:r>
              <a:rPr lang="en-US" altLang="zh-CN" sz="1400" b="1" dirty="0">
                <a:solidFill>
                  <a:srgbClr val="C00000"/>
                </a:solidFill>
              </a:rPr>
              <a:t>|y|</a:t>
            </a:r>
            <a:r>
              <a:rPr lang="zh-CN" altLang="en-US" sz="1400" b="1" dirty="0">
                <a:solidFill>
                  <a:srgbClr val="C00000"/>
                </a:solidFill>
              </a:rPr>
              <a:t>为</a:t>
            </a:r>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-0.1011</a:t>
            </a:r>
            <a:r>
              <a:rPr lang="zh-CN" altLang="en-US" sz="1400" b="1" dirty="0">
                <a:solidFill>
                  <a:srgbClr val="C00000"/>
                </a:solidFill>
              </a:rPr>
              <a:t>）的数值位（</a:t>
            </a:r>
            <a:r>
              <a:rPr lang="en-US" altLang="zh-CN" sz="1400" b="1" dirty="0">
                <a:solidFill>
                  <a:srgbClr val="C00000"/>
                </a:solidFill>
              </a:rPr>
              <a:t>1011</a:t>
            </a:r>
            <a:r>
              <a:rPr lang="zh-CN" altLang="en-US" sz="1400" b="1" dirty="0">
                <a:solidFill>
                  <a:srgbClr val="C00000"/>
                </a:solidFill>
              </a:rPr>
              <a:t>），部分积为</a:t>
            </a:r>
            <a:r>
              <a:rPr lang="en-US" altLang="zh-CN" sz="1400" b="1" dirty="0">
                <a:solidFill>
                  <a:srgbClr val="C00000"/>
                </a:solidFill>
              </a:rPr>
              <a:t>0</a:t>
            </a:r>
            <a:r>
              <a:rPr lang="zh-CN" altLang="en-US" sz="1400" b="1" dirty="0">
                <a:solidFill>
                  <a:srgbClr val="C00000"/>
                </a:solidFill>
              </a:rPr>
              <a:t>（采用</a:t>
            </a:r>
            <a:r>
              <a:rPr lang="zh-CN" altLang="en-US" sz="1400" b="1" dirty="0">
                <a:solidFill>
                  <a:srgbClr val="C00000"/>
                </a:solidFill>
                <a:highlight>
                  <a:srgbClr val="FFFF00"/>
                </a:highlight>
              </a:rPr>
              <a:t>双符号位</a:t>
            </a:r>
            <a:r>
              <a:rPr lang="zh-CN" altLang="en-US" sz="1400" b="1" dirty="0">
                <a:solidFill>
                  <a:srgbClr val="C00000"/>
                </a:solidFill>
              </a:rPr>
              <a:t>小数）</a:t>
            </a:r>
            <a:endParaRPr lang="en-US" altLang="zh-CN" sz="1400" b="1" dirty="0">
              <a:solidFill>
                <a:srgbClr val="C00000"/>
              </a:solidFill>
            </a:endParaRPr>
          </a:p>
        </p:txBody>
      </p:sp>
      <p:sp>
        <p:nvSpPr>
          <p:cNvPr id="11" name="文本框 10">
            <a:extLst>
              <a:ext uri="{FF2B5EF4-FFF2-40B4-BE49-F238E27FC236}">
                <a16:creationId xmlns:a16="http://schemas.microsoft.com/office/drawing/2014/main" id="{4EB78543-F55A-42A4-9397-8DFBBE5AF026}"/>
              </a:ext>
            </a:extLst>
          </p:cNvPr>
          <p:cNvSpPr txBox="1"/>
          <p:nvPr/>
        </p:nvSpPr>
        <p:spPr>
          <a:xfrm>
            <a:off x="6385637" y="3913016"/>
            <a:ext cx="2376263"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根据</a:t>
            </a:r>
            <a:r>
              <a:rPr lang="en-US" altLang="zh-CN" sz="1400" b="1" dirty="0">
                <a:solidFill>
                  <a:srgbClr val="C00000"/>
                </a:solidFill>
              </a:rPr>
              <a:t>|y|</a:t>
            </a:r>
            <a:r>
              <a:rPr lang="zh-CN" altLang="en-US" sz="1400" b="1" dirty="0">
                <a:solidFill>
                  <a:srgbClr val="C00000"/>
                </a:solidFill>
              </a:rPr>
              <a:t>的最后一位是</a:t>
            </a:r>
            <a:r>
              <a:rPr lang="en-US" altLang="zh-CN" sz="1400" b="1" dirty="0">
                <a:solidFill>
                  <a:srgbClr val="C00000"/>
                </a:solidFill>
              </a:rPr>
              <a:t>1</a:t>
            </a:r>
            <a:r>
              <a:rPr lang="zh-CN" altLang="en-US" sz="1400" b="1" dirty="0">
                <a:solidFill>
                  <a:srgbClr val="C00000"/>
                </a:solidFill>
              </a:rPr>
              <a:t>还是</a:t>
            </a:r>
            <a:r>
              <a:rPr lang="en-US" altLang="zh-CN" sz="1400" b="1" dirty="0">
                <a:solidFill>
                  <a:srgbClr val="C00000"/>
                </a:solidFill>
              </a:rPr>
              <a:t>0</a:t>
            </a:r>
            <a:r>
              <a:rPr lang="zh-CN" altLang="en-US" sz="1400" b="1" dirty="0">
                <a:solidFill>
                  <a:srgbClr val="C00000"/>
                </a:solidFill>
              </a:rPr>
              <a:t>，执行</a:t>
            </a:r>
            <a:r>
              <a:rPr lang="en-US" altLang="zh-CN" sz="1400" b="1" dirty="0">
                <a:solidFill>
                  <a:srgbClr val="C00000"/>
                </a:solidFill>
              </a:rPr>
              <a:t>+|x|</a:t>
            </a:r>
            <a:r>
              <a:rPr lang="zh-CN" altLang="en-US" sz="1400" b="1" dirty="0">
                <a:solidFill>
                  <a:srgbClr val="C00000"/>
                </a:solidFill>
              </a:rPr>
              <a:t>或</a:t>
            </a:r>
            <a:r>
              <a:rPr lang="en-US" altLang="zh-CN" sz="1400" b="1" dirty="0">
                <a:solidFill>
                  <a:srgbClr val="C00000"/>
                </a:solidFill>
              </a:rPr>
              <a:t>+0</a:t>
            </a:r>
            <a:r>
              <a:rPr lang="zh-CN" altLang="en-US" sz="1400" b="1" dirty="0">
                <a:solidFill>
                  <a:srgbClr val="C00000"/>
                </a:solidFill>
              </a:rPr>
              <a:t>的操作</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4C237F1-3E65-4868-8D72-29E177343959}"/>
                  </a:ext>
                </a:extLst>
              </p:cNvPr>
              <p:cNvSpPr txBox="1"/>
              <p:nvPr/>
            </p:nvSpPr>
            <p:spPr>
              <a:xfrm>
                <a:off x="6385637" y="4619327"/>
                <a:ext cx="2400249" cy="916982"/>
              </a:xfrm>
              <a:prstGeom prst="rect">
                <a:avLst/>
              </a:prstGeom>
              <a:noFill/>
              <a:ln w="19050">
                <a:solidFill>
                  <a:schemeClr val="tx1"/>
                </a:solidFill>
              </a:ln>
            </p:spPr>
            <p:txBody>
              <a:bodyPr wrap="square" rtlCol="0">
                <a:spAutoFit/>
              </a:bodyPr>
              <a:lstStyle/>
              <a:p>
                <a:r>
                  <a:rPr lang="zh-CN" altLang="en-US" sz="1400" b="1" dirty="0">
                    <a:solidFill>
                      <a:srgbClr val="C00000"/>
                    </a:solidFill>
                    <a:latin typeface="+mn-lt"/>
                    <a:ea typeface="+mn-ea"/>
                  </a:rPr>
                  <a:t>核心公式</a:t>
                </a:r>
                <a:r>
                  <a:rPr lang="zh-CN" altLang="en-US" dirty="0"/>
                  <a:t>：</a:t>
                </a:r>
                <a:endParaRPr lang="en-US" altLang="zh-CN" dirty="0"/>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𝑛</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/2</m:t>
                      </m:r>
                    </m:oMath>
                  </m:oMathPara>
                </a14:m>
                <a:endParaRPr lang="zh-CN" altLang="en-US" dirty="0"/>
              </a:p>
            </p:txBody>
          </p:sp>
        </mc:Choice>
        <mc:Fallback xmlns="">
          <p:sp>
            <p:nvSpPr>
              <p:cNvPr id="12" name="文本框 11">
                <a:extLst>
                  <a:ext uri="{FF2B5EF4-FFF2-40B4-BE49-F238E27FC236}">
                    <a16:creationId xmlns:a16="http://schemas.microsoft.com/office/drawing/2014/main" id="{F4C237F1-3E65-4868-8D72-29E177343959}"/>
                  </a:ext>
                </a:extLst>
              </p:cNvPr>
              <p:cNvSpPr txBox="1">
                <a:spLocks noRot="1" noChangeAspect="1" noMove="1" noResize="1" noEditPoints="1" noAdjustHandles="1" noChangeArrowheads="1" noChangeShapeType="1" noTextEdit="1"/>
              </p:cNvSpPr>
              <p:nvPr/>
            </p:nvSpPr>
            <p:spPr>
              <a:xfrm>
                <a:off x="6385637" y="4619327"/>
                <a:ext cx="2400249" cy="916982"/>
              </a:xfrm>
              <a:prstGeom prst="rect">
                <a:avLst/>
              </a:prstGeom>
              <a:blipFill>
                <a:blip r:embed="rId2"/>
                <a:stretch>
                  <a:fillRect l="-505" t="-5229" b="-3268"/>
                </a:stretch>
              </a:blipFill>
              <a:ln w="19050">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2214977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43C14-93B9-4060-99D2-AD0114DF99DB}"/>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48883" y="1351028"/>
            <a:ext cx="8229600" cy="388640"/>
          </a:xfrm>
        </p:spPr>
        <p:txBody>
          <a:bodyPr/>
          <a:lstStyle/>
          <a:p>
            <a:pPr lvl="1" eaLnBrk="1" hangingPunct="1"/>
            <a:r>
              <a:rPr lang="en-US" altLang="zh-CN" sz="2000" b="1" dirty="0"/>
              <a:t>2</a:t>
            </a:r>
            <a:r>
              <a:rPr lang="zh-CN" altLang="en-US" sz="2000" b="1" dirty="0"/>
              <a:t>、原码一位乘法的逻辑实现（教材图</a:t>
            </a:r>
            <a:r>
              <a:rPr lang="en-US" altLang="zh-CN" sz="2000" b="1" dirty="0"/>
              <a:t>3.10</a:t>
            </a:r>
            <a:r>
              <a:rPr lang="zh-CN" altLang="en-US" sz="2000" b="1" dirty="0"/>
              <a:t>）</a:t>
            </a:r>
            <a:endParaRPr lang="en-US" altLang="zh-CN" sz="2000" b="1" dirty="0"/>
          </a:p>
          <a:p>
            <a:pPr lvl="2" eaLnBrk="1" hangingPunct="1"/>
            <a:endParaRPr lang="en-US" altLang="zh-CN" sz="2000" b="1" dirty="0"/>
          </a:p>
        </p:txBody>
      </p:sp>
      <p:pic>
        <p:nvPicPr>
          <p:cNvPr id="3" name="图片 2">
            <a:extLst>
              <a:ext uri="{FF2B5EF4-FFF2-40B4-BE49-F238E27FC236}">
                <a16:creationId xmlns:a16="http://schemas.microsoft.com/office/drawing/2014/main" id="{BA0767BD-74C7-4AD6-B88E-39AC92757D82}"/>
              </a:ext>
            </a:extLst>
          </p:cNvPr>
          <p:cNvPicPr>
            <a:picLocks noChangeAspect="1"/>
          </p:cNvPicPr>
          <p:nvPr/>
        </p:nvPicPr>
        <p:blipFill>
          <a:blip r:embed="rId2"/>
          <a:stretch>
            <a:fillRect/>
          </a:stretch>
        </p:blipFill>
        <p:spPr>
          <a:xfrm>
            <a:off x="807684" y="1735667"/>
            <a:ext cx="5848651" cy="4673840"/>
          </a:xfrm>
          <a:prstGeom prst="rect">
            <a:avLst/>
          </a:prstGeom>
        </p:spPr>
      </p:pic>
      <p:sp>
        <p:nvSpPr>
          <p:cNvPr id="5" name="文本框 4">
            <a:extLst>
              <a:ext uri="{FF2B5EF4-FFF2-40B4-BE49-F238E27FC236}">
                <a16:creationId xmlns:a16="http://schemas.microsoft.com/office/drawing/2014/main" id="{DEDE6F80-D6CA-4935-AD3B-D455154AEF8C}"/>
              </a:ext>
            </a:extLst>
          </p:cNvPr>
          <p:cNvSpPr txBox="1"/>
          <p:nvPr/>
        </p:nvSpPr>
        <p:spPr>
          <a:xfrm>
            <a:off x="1691680" y="6385557"/>
            <a:ext cx="4572000" cy="307777"/>
          </a:xfrm>
          <a:prstGeom prst="rect">
            <a:avLst/>
          </a:prstGeom>
          <a:noFill/>
        </p:spPr>
        <p:txBody>
          <a:bodyPr wrap="square">
            <a:spAutoFit/>
          </a:bodyPr>
          <a:lstStyle/>
          <a:p>
            <a:r>
              <a:rPr lang="zh-CN" altLang="en-US" sz="1400" b="1" dirty="0"/>
              <a:t>图</a:t>
            </a:r>
            <a:r>
              <a:rPr lang="en-US" altLang="zh-CN" sz="1400" b="1" dirty="0"/>
              <a:t>3.10    </a:t>
            </a:r>
            <a:r>
              <a:rPr lang="zh-CN" altLang="en-US" sz="1400" b="1" dirty="0"/>
              <a:t>原码一位乘法的逻辑实现</a:t>
            </a:r>
            <a:endParaRPr lang="zh-CN" altLang="en-US" sz="1400" dirty="0"/>
          </a:p>
        </p:txBody>
      </p:sp>
      <p:sp>
        <p:nvSpPr>
          <p:cNvPr id="6" name="文本框 5">
            <a:extLst>
              <a:ext uri="{FF2B5EF4-FFF2-40B4-BE49-F238E27FC236}">
                <a16:creationId xmlns:a16="http://schemas.microsoft.com/office/drawing/2014/main" id="{05D633DC-AB0D-4946-9E06-E94FD133E432}"/>
              </a:ext>
            </a:extLst>
          </p:cNvPr>
          <p:cNvSpPr txBox="1"/>
          <p:nvPr/>
        </p:nvSpPr>
        <p:spPr>
          <a:xfrm>
            <a:off x="6664347" y="2204864"/>
            <a:ext cx="2183161" cy="369331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C00000"/>
                </a:solidFill>
              </a:rPr>
              <a:t>控制逻辑</a:t>
            </a:r>
            <a:r>
              <a:rPr lang="zh-CN" altLang="en-US" dirty="0"/>
              <a:t>受时钟时钟驱动，负责循环计数和算数移位结果的载入；</a:t>
            </a:r>
            <a:endParaRPr lang="en-US" altLang="zh-CN" dirty="0"/>
          </a:p>
          <a:p>
            <a:pPr marL="285750" indent="-285750">
              <a:buFont typeface="Arial" panose="020B0604020202020204" pitchFamily="34" charset="0"/>
              <a:buChar char="•"/>
            </a:pPr>
            <a:r>
              <a:rPr lang="zh-CN" altLang="en-US" dirty="0"/>
              <a:t>加法器和算数移位逻辑是组合逻辑，自动进行累加和逻辑右移</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err="1"/>
              <a:t>En</a:t>
            </a:r>
            <a:r>
              <a:rPr lang="en-US" altLang="zh-CN" dirty="0"/>
              <a:t>=1</a:t>
            </a:r>
            <a:r>
              <a:rPr lang="zh-CN" altLang="en-US" dirty="0"/>
              <a:t>时，时钟</a:t>
            </a:r>
            <a:r>
              <a:rPr lang="en-US" altLang="zh-CN" dirty="0"/>
              <a:t>CLK</a:t>
            </a:r>
            <a:r>
              <a:rPr lang="zh-CN" altLang="en-US" dirty="0"/>
              <a:t>到来，将数据锁入寄存器</a:t>
            </a:r>
          </a:p>
        </p:txBody>
      </p:sp>
    </p:spTree>
    <p:extLst>
      <p:ext uri="{BB962C8B-B14F-4D97-AF65-F5344CB8AC3E}">
        <p14:creationId xmlns:p14="http://schemas.microsoft.com/office/powerpoint/2010/main" val="393022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F517A8-53CE-478D-A749-1E90C9564CE1}"/>
              </a:ext>
            </a:extLst>
          </p:cNvPr>
          <p:cNvSpPr txBox="1"/>
          <p:nvPr/>
        </p:nvSpPr>
        <p:spPr>
          <a:xfrm>
            <a:off x="2272225" y="225171"/>
            <a:ext cx="3812262"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a:t>
            </a:r>
            <a:r>
              <a:rPr lang="zh-CN" altLang="en-US" b="1" dirty="0"/>
              <a:t>无符号</a:t>
            </a:r>
            <a:r>
              <a:rPr lang="zh-CN" altLang="en-US" sz="1800" b="1" dirty="0"/>
              <a:t>一位乘法器</a:t>
            </a:r>
            <a:endParaRPr lang="zh-CN" altLang="en-US" b="1" dirty="0"/>
          </a:p>
        </p:txBody>
      </p:sp>
      <p:sp>
        <p:nvSpPr>
          <p:cNvPr id="8" name="文本框 7">
            <a:extLst>
              <a:ext uri="{FF2B5EF4-FFF2-40B4-BE49-F238E27FC236}">
                <a16:creationId xmlns:a16="http://schemas.microsoft.com/office/drawing/2014/main" id="{D9733EF3-429E-C224-ABD9-47D2530969D3}"/>
              </a:ext>
            </a:extLst>
          </p:cNvPr>
          <p:cNvSpPr txBox="1"/>
          <p:nvPr/>
        </p:nvSpPr>
        <p:spPr>
          <a:xfrm>
            <a:off x="6328482" y="1380914"/>
            <a:ext cx="2342308" cy="160043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输入：</a:t>
            </a:r>
            <a:r>
              <a:rPr lang="en-US" altLang="zh-CN" sz="1400" b="1" dirty="0"/>
              <a:t>X</a:t>
            </a:r>
            <a:r>
              <a:rPr lang="zh-CN" altLang="en-US" sz="1400" b="1" dirty="0"/>
              <a:t>、</a:t>
            </a:r>
            <a:r>
              <a:rPr lang="en-US" altLang="zh-CN" sz="1400" b="1" dirty="0"/>
              <a:t>Y</a:t>
            </a:r>
            <a:r>
              <a:rPr lang="zh-CN" altLang="en-US" sz="1400" b="1" dirty="0"/>
              <a:t>，</a:t>
            </a:r>
            <a:r>
              <a:rPr lang="en-US" altLang="zh-CN" sz="1400" b="1" dirty="0"/>
              <a:t>8</a:t>
            </a:r>
            <a:r>
              <a:rPr lang="zh-CN" altLang="en-US" sz="1400" b="1" dirty="0"/>
              <a:t>位无符号数</a:t>
            </a:r>
            <a:endParaRPr lang="en-US" altLang="zh-CN" sz="1400" b="1" dirty="0"/>
          </a:p>
          <a:p>
            <a:endParaRPr lang="en-US" altLang="zh-CN" sz="1400" b="1" dirty="0"/>
          </a:p>
          <a:p>
            <a:r>
              <a:rPr lang="zh-CN" altLang="en-US" sz="1400" b="1" dirty="0"/>
              <a:t>输出：乘积，</a:t>
            </a:r>
            <a:r>
              <a:rPr lang="en-US" altLang="zh-CN" sz="1400" b="1" dirty="0"/>
              <a:t>16</a:t>
            </a:r>
            <a:r>
              <a:rPr lang="zh-CN" altLang="en-US" sz="1400" b="1" dirty="0"/>
              <a:t>位无符号数</a:t>
            </a:r>
            <a:endParaRPr lang="en-US" altLang="zh-CN" sz="1400" b="1" dirty="0"/>
          </a:p>
          <a:p>
            <a:endParaRPr lang="en-US" altLang="zh-CN" sz="1400" b="1" dirty="0"/>
          </a:p>
          <a:p>
            <a:r>
              <a:rPr lang="en-US" altLang="zh-CN" sz="1400" b="1" dirty="0"/>
              <a:t>∑</a:t>
            </a:r>
            <a:r>
              <a:rPr lang="zh-CN" altLang="en-US" sz="1400" b="1" dirty="0"/>
              <a:t>：部分积，</a:t>
            </a:r>
            <a:r>
              <a:rPr lang="en-US" altLang="zh-CN" sz="1400" b="1" dirty="0"/>
              <a:t>8</a:t>
            </a:r>
            <a:r>
              <a:rPr lang="zh-CN" altLang="en-US" sz="1400" b="1" dirty="0"/>
              <a:t>位</a:t>
            </a:r>
            <a:endParaRPr lang="en-US" altLang="zh-CN" sz="1400" b="1" dirty="0"/>
          </a:p>
          <a:p>
            <a:endParaRPr lang="en-US" altLang="zh-CN" sz="1400" b="1" dirty="0"/>
          </a:p>
          <a:p>
            <a:r>
              <a:rPr lang="en-US" altLang="zh-CN" sz="1400" b="1" dirty="0"/>
              <a:t>RST</a:t>
            </a:r>
            <a:r>
              <a:rPr lang="zh-CN" altLang="en-US" sz="1400" b="1" dirty="0"/>
              <a:t>：复位</a:t>
            </a:r>
            <a:endParaRPr lang="en-US" altLang="zh-CN" sz="1400" b="1" dirty="0"/>
          </a:p>
        </p:txBody>
      </p:sp>
      <p:grpSp>
        <p:nvGrpSpPr>
          <p:cNvPr id="30" name="组合 29">
            <a:extLst>
              <a:ext uri="{FF2B5EF4-FFF2-40B4-BE49-F238E27FC236}">
                <a16:creationId xmlns:a16="http://schemas.microsoft.com/office/drawing/2014/main" id="{BEB4DC29-9167-BABF-0B2F-FB1FA4DA0890}"/>
              </a:ext>
            </a:extLst>
          </p:cNvPr>
          <p:cNvGrpSpPr/>
          <p:nvPr/>
        </p:nvGrpSpPr>
        <p:grpSpPr>
          <a:xfrm>
            <a:off x="179512" y="1279793"/>
            <a:ext cx="6110304" cy="5389567"/>
            <a:chOff x="179512" y="1196752"/>
            <a:chExt cx="6110304" cy="5389567"/>
          </a:xfrm>
        </p:grpSpPr>
        <p:pic>
          <p:nvPicPr>
            <p:cNvPr id="7" name="图片 6">
              <a:extLst>
                <a:ext uri="{FF2B5EF4-FFF2-40B4-BE49-F238E27FC236}">
                  <a16:creationId xmlns:a16="http://schemas.microsoft.com/office/drawing/2014/main" id="{5EE39EE0-5B30-9BE3-7721-A0DC0E5B3A59}"/>
                </a:ext>
              </a:extLst>
            </p:cNvPr>
            <p:cNvPicPr>
              <a:picLocks noChangeAspect="1"/>
            </p:cNvPicPr>
            <p:nvPr/>
          </p:nvPicPr>
          <p:blipFill>
            <a:blip r:embed="rId2"/>
            <a:stretch>
              <a:fillRect/>
            </a:stretch>
          </p:blipFill>
          <p:spPr>
            <a:xfrm>
              <a:off x="1543992" y="1196752"/>
              <a:ext cx="4745824" cy="4968552"/>
            </a:xfrm>
            <a:prstGeom prst="rect">
              <a:avLst/>
            </a:prstGeom>
            <a:solidFill>
              <a:schemeClr val="bg2">
                <a:lumMod val="90000"/>
              </a:schemeClr>
            </a:solidFill>
          </p:spPr>
        </p:pic>
        <p:sp>
          <p:nvSpPr>
            <p:cNvPr id="9" name="文本框 8">
              <a:extLst>
                <a:ext uri="{FF2B5EF4-FFF2-40B4-BE49-F238E27FC236}">
                  <a16:creationId xmlns:a16="http://schemas.microsoft.com/office/drawing/2014/main" id="{47675706-C3B9-91E7-8C74-B47AE44829B3}"/>
                </a:ext>
              </a:extLst>
            </p:cNvPr>
            <p:cNvSpPr txBox="1"/>
            <p:nvPr/>
          </p:nvSpPr>
          <p:spPr>
            <a:xfrm>
              <a:off x="179512" y="4221088"/>
              <a:ext cx="1186543" cy="276999"/>
            </a:xfrm>
            <a:prstGeom prst="rect">
              <a:avLst/>
            </a:prstGeom>
            <a:solidFill>
              <a:schemeClr val="bg2">
                <a:lumMod val="90000"/>
              </a:schemeClr>
            </a:solidFill>
          </p:spPr>
          <p:txBody>
            <a:bodyPr wrap="none" rtlCol="0">
              <a:spAutoFit/>
            </a:bodyPr>
            <a:lstStyle/>
            <a:p>
              <a:r>
                <a:rPr lang="en-US" altLang="zh-CN" sz="1200" b="1" dirty="0"/>
                <a:t>8</a:t>
              </a:r>
              <a:r>
                <a:rPr lang="zh-CN" altLang="en-US" sz="1200" b="1" dirty="0"/>
                <a:t>位串行加法器</a:t>
              </a:r>
            </a:p>
          </p:txBody>
        </p:sp>
        <p:cxnSp>
          <p:nvCxnSpPr>
            <p:cNvPr id="11" name="直接箭头连接符 10">
              <a:extLst>
                <a:ext uri="{FF2B5EF4-FFF2-40B4-BE49-F238E27FC236}">
                  <a16:creationId xmlns:a16="http://schemas.microsoft.com/office/drawing/2014/main" id="{10B36ED7-1B94-1CB8-E7F9-97E00304980D}"/>
                </a:ext>
              </a:extLst>
            </p:cNvPr>
            <p:cNvCxnSpPr/>
            <p:nvPr/>
          </p:nvCxnSpPr>
          <p:spPr>
            <a:xfrm flipH="1">
              <a:off x="1366055" y="4365342"/>
              <a:ext cx="15841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F1CB885-737F-DC00-C293-220EE7E04430}"/>
                </a:ext>
              </a:extLst>
            </p:cNvPr>
            <p:cNvSpPr txBox="1"/>
            <p:nvPr/>
          </p:nvSpPr>
          <p:spPr>
            <a:xfrm>
              <a:off x="1755053" y="1346284"/>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寄存器</a:t>
              </a:r>
            </a:p>
          </p:txBody>
        </p:sp>
        <p:cxnSp>
          <p:nvCxnSpPr>
            <p:cNvPr id="14" name="直接箭头连接符 13">
              <a:extLst>
                <a:ext uri="{FF2B5EF4-FFF2-40B4-BE49-F238E27FC236}">
                  <a16:creationId xmlns:a16="http://schemas.microsoft.com/office/drawing/2014/main" id="{85F1472E-4184-2063-F60B-26F376FCD17C}"/>
                </a:ext>
              </a:extLst>
            </p:cNvPr>
            <p:cNvCxnSpPr>
              <a:cxnSpLocks/>
              <a:endCxn id="12" idx="3"/>
            </p:cNvCxnSpPr>
            <p:nvPr/>
          </p:nvCxnSpPr>
          <p:spPr>
            <a:xfrm flipH="1" flipV="1">
              <a:off x="2401384" y="1484784"/>
              <a:ext cx="1656184" cy="6924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DEDFC2-EB7D-6CF5-6A32-11A272B9ABA3}"/>
                </a:ext>
              </a:extLst>
            </p:cNvPr>
            <p:cNvCxnSpPr>
              <a:cxnSpLocks/>
            </p:cNvCxnSpPr>
            <p:nvPr/>
          </p:nvCxnSpPr>
          <p:spPr>
            <a:xfrm flipH="1" flipV="1">
              <a:off x="2123728" y="1623283"/>
              <a:ext cx="1008112" cy="5539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6A136FB-18B7-63CA-6FCE-25C6D09ABE00}"/>
                </a:ext>
              </a:extLst>
            </p:cNvPr>
            <p:cNvSpPr txBox="1"/>
            <p:nvPr/>
          </p:nvSpPr>
          <p:spPr>
            <a:xfrm>
              <a:off x="973341" y="5162708"/>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计数器</a:t>
              </a:r>
            </a:p>
          </p:txBody>
        </p:sp>
        <p:cxnSp>
          <p:nvCxnSpPr>
            <p:cNvPr id="20" name="直接箭头连接符 19">
              <a:extLst>
                <a:ext uri="{FF2B5EF4-FFF2-40B4-BE49-F238E27FC236}">
                  <a16:creationId xmlns:a16="http://schemas.microsoft.com/office/drawing/2014/main" id="{A51698C0-B412-06C6-29FB-ECBC6C1B3FB8}"/>
                </a:ext>
              </a:extLst>
            </p:cNvPr>
            <p:cNvCxnSpPr>
              <a:cxnSpLocks/>
            </p:cNvCxnSpPr>
            <p:nvPr/>
          </p:nvCxnSpPr>
          <p:spPr>
            <a:xfrm flipH="1">
              <a:off x="1651550" y="5301208"/>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796BA1F-EC24-F7D7-8AA7-8CE2CE5DA87A}"/>
                </a:ext>
              </a:extLst>
            </p:cNvPr>
            <p:cNvSpPr txBox="1"/>
            <p:nvPr/>
          </p:nvSpPr>
          <p:spPr>
            <a:xfrm>
              <a:off x="1237511" y="5734998"/>
              <a:ext cx="744114"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en-US" altLang="zh-CN" dirty="0"/>
                <a:t>D</a:t>
              </a:r>
              <a:r>
                <a:rPr lang="zh-CN" altLang="en-US" dirty="0"/>
                <a:t>触发器</a:t>
              </a:r>
            </a:p>
          </p:txBody>
        </p:sp>
        <p:cxnSp>
          <p:nvCxnSpPr>
            <p:cNvPr id="24" name="直接箭头连接符 23">
              <a:extLst>
                <a:ext uri="{FF2B5EF4-FFF2-40B4-BE49-F238E27FC236}">
                  <a16:creationId xmlns:a16="http://schemas.microsoft.com/office/drawing/2014/main" id="{5B002066-7C41-DBEF-BFDB-ACFB26293068}"/>
                </a:ext>
              </a:extLst>
            </p:cNvPr>
            <p:cNvCxnSpPr>
              <a:cxnSpLocks/>
            </p:cNvCxnSpPr>
            <p:nvPr/>
          </p:nvCxnSpPr>
          <p:spPr>
            <a:xfrm flipH="1">
              <a:off x="1981625" y="5877272"/>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23F7336-4DBD-ADD0-CBC8-20385282B4C6}"/>
                </a:ext>
              </a:extLst>
            </p:cNvPr>
            <p:cNvSpPr txBox="1"/>
            <p:nvPr/>
          </p:nvSpPr>
          <p:spPr>
            <a:xfrm>
              <a:off x="5364088" y="6309320"/>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比较器</a:t>
              </a:r>
            </a:p>
          </p:txBody>
        </p:sp>
        <p:cxnSp>
          <p:nvCxnSpPr>
            <p:cNvPr id="27" name="直接箭头连接符 26">
              <a:extLst>
                <a:ext uri="{FF2B5EF4-FFF2-40B4-BE49-F238E27FC236}">
                  <a16:creationId xmlns:a16="http://schemas.microsoft.com/office/drawing/2014/main" id="{E9BE0B01-9128-892B-CDC3-E61EA85DC8DE}"/>
                </a:ext>
              </a:extLst>
            </p:cNvPr>
            <p:cNvCxnSpPr/>
            <p:nvPr/>
          </p:nvCxnSpPr>
          <p:spPr>
            <a:xfrm>
              <a:off x="4788024" y="5517232"/>
              <a:ext cx="576064" cy="7920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4F9CC309-12C1-F3C3-8264-30D6C9D0DBB5}"/>
              </a:ext>
            </a:extLst>
          </p:cNvPr>
          <p:cNvSpPr txBox="1"/>
          <p:nvPr/>
        </p:nvSpPr>
        <p:spPr>
          <a:xfrm>
            <a:off x="6342232" y="3278882"/>
            <a:ext cx="2342308" cy="24622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利用该电路，可以实现</a:t>
            </a:r>
            <a:r>
              <a:rPr lang="en-US" altLang="zh-CN" sz="1400" b="1" dirty="0">
                <a:solidFill>
                  <a:srgbClr val="C00000"/>
                </a:solidFill>
              </a:rPr>
              <a:t>8</a:t>
            </a:r>
            <a:r>
              <a:rPr lang="zh-CN" altLang="en-US" sz="1400" b="1" dirty="0">
                <a:solidFill>
                  <a:srgbClr val="C00000"/>
                </a:solidFill>
              </a:rPr>
              <a:t>位原码一位乘法器</a:t>
            </a:r>
            <a:endParaRPr lang="en-US" altLang="zh-CN" sz="1400" b="1" dirty="0">
              <a:solidFill>
                <a:srgbClr val="C00000"/>
              </a:solidFill>
            </a:endParaRPr>
          </a:p>
          <a:p>
            <a:endParaRPr lang="en-US" altLang="zh-CN" sz="1400" b="1" dirty="0">
              <a:solidFill>
                <a:srgbClr val="C00000"/>
              </a:solidFill>
            </a:endParaRPr>
          </a:p>
          <a:p>
            <a:r>
              <a:rPr lang="zh-CN" altLang="en-US" sz="1400" b="1" dirty="0">
                <a:solidFill>
                  <a:srgbClr val="C00000"/>
                </a:solidFill>
              </a:rPr>
              <a:t>输入：</a:t>
            </a:r>
            <a:r>
              <a:rPr lang="en-US" altLang="zh-CN" sz="1400" b="1" dirty="0">
                <a:solidFill>
                  <a:srgbClr val="C00000"/>
                </a:solidFill>
              </a:rPr>
              <a:t>X</a:t>
            </a:r>
            <a:r>
              <a:rPr lang="zh-CN" altLang="en-US" sz="1400" b="1" dirty="0">
                <a:solidFill>
                  <a:srgbClr val="C00000"/>
                </a:solidFill>
              </a:rPr>
              <a:t>、</a:t>
            </a:r>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8</a:t>
            </a:r>
            <a:r>
              <a:rPr lang="zh-CN" altLang="en-US" sz="1400" b="1" dirty="0">
                <a:solidFill>
                  <a:srgbClr val="C00000"/>
                </a:solidFill>
              </a:rPr>
              <a:t>位有符号数（原码）</a:t>
            </a:r>
            <a:endParaRPr lang="en-US" altLang="zh-CN" sz="1400" b="1" dirty="0">
              <a:solidFill>
                <a:srgbClr val="C00000"/>
              </a:solidFill>
            </a:endParaRPr>
          </a:p>
          <a:p>
            <a:endParaRPr lang="en-US" altLang="zh-CN" sz="1400" b="1" dirty="0">
              <a:solidFill>
                <a:srgbClr val="C00000"/>
              </a:solidFill>
            </a:endParaRPr>
          </a:p>
          <a:p>
            <a:r>
              <a:rPr lang="zh-CN" altLang="en-US" sz="1400" b="1" dirty="0">
                <a:solidFill>
                  <a:srgbClr val="C00000"/>
                </a:solidFill>
              </a:rPr>
              <a:t>输出：乘积，</a:t>
            </a:r>
            <a:r>
              <a:rPr lang="en-US" altLang="zh-CN" sz="1400" b="1" dirty="0">
                <a:solidFill>
                  <a:srgbClr val="C00000"/>
                </a:solidFill>
              </a:rPr>
              <a:t>16</a:t>
            </a:r>
            <a:r>
              <a:rPr lang="zh-CN" altLang="en-US" sz="1400" b="1" dirty="0">
                <a:solidFill>
                  <a:srgbClr val="C00000"/>
                </a:solidFill>
              </a:rPr>
              <a:t>位有符号数（原码）</a:t>
            </a:r>
            <a:endParaRPr lang="en-US" altLang="zh-CN" sz="1400" b="1" dirty="0">
              <a:solidFill>
                <a:srgbClr val="C00000"/>
              </a:solidFill>
            </a:endParaRPr>
          </a:p>
          <a:p>
            <a:endParaRPr lang="en-US" altLang="zh-CN" sz="1400" b="1" dirty="0">
              <a:solidFill>
                <a:srgbClr val="C00000"/>
              </a:solidFill>
            </a:endParaRPr>
          </a:p>
          <a:p>
            <a:r>
              <a:rPr lang="zh-CN" altLang="en-US" sz="1400" b="1" dirty="0">
                <a:solidFill>
                  <a:srgbClr val="C00000"/>
                </a:solidFill>
              </a:rPr>
              <a:t>如何实现？请同学们思考（第二次实验的内容）</a:t>
            </a:r>
            <a:endParaRPr lang="en-US" altLang="zh-CN" sz="1400" b="1" dirty="0">
              <a:solidFill>
                <a:srgbClr val="C00000"/>
              </a:solidFill>
            </a:endParaRPr>
          </a:p>
        </p:txBody>
      </p:sp>
      <p:sp>
        <p:nvSpPr>
          <p:cNvPr id="31" name="文本框 30">
            <a:extLst>
              <a:ext uri="{FF2B5EF4-FFF2-40B4-BE49-F238E27FC236}">
                <a16:creationId xmlns:a16="http://schemas.microsoft.com/office/drawing/2014/main" id="{7942ED89-BC28-F906-D334-808E06E4B5D7}"/>
              </a:ext>
            </a:extLst>
          </p:cNvPr>
          <p:cNvSpPr txBox="1"/>
          <p:nvPr/>
        </p:nvSpPr>
        <p:spPr>
          <a:xfrm>
            <a:off x="2272226" y="753347"/>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位无符号一位乘法器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874491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01195-8A22-446E-9570-22D897ABCAD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6824E7B2-D684-4D43-BEB9-E986FE11BD1D}"/>
              </a:ext>
            </a:extLst>
          </p:cNvPr>
          <p:cNvSpPr>
            <a:spLocks noGrp="1"/>
          </p:cNvSpPr>
          <p:nvPr>
            <p:ph idx="1"/>
          </p:nvPr>
        </p:nvSpPr>
        <p:spPr/>
        <p:txBody>
          <a:bodyPr/>
          <a:lstStyle/>
          <a:p>
            <a:r>
              <a:rPr lang="zh-CN" altLang="en-US" sz="2000" b="1" dirty="0"/>
              <a:t>原码二位乘法：每次完成二位的乘法，可以减少一倍的乘法运算时间（提高一倍的乘法运算速度）</a:t>
            </a:r>
            <a:endParaRPr lang="en-US" altLang="zh-CN" sz="2000" b="1" dirty="0"/>
          </a:p>
          <a:p>
            <a:endParaRPr lang="en-US" altLang="zh-CN" sz="2000" b="1" dirty="0"/>
          </a:p>
          <a:p>
            <a:endParaRPr lang="en-US" altLang="zh-CN" sz="2000" b="1" dirty="0"/>
          </a:p>
          <a:p>
            <a:r>
              <a:rPr lang="zh-CN" altLang="en-US" sz="2000" b="1" dirty="0"/>
              <a:t>原码二位乘法如何实现？请同学们查阅相关的资料（唐朔飞计组）</a:t>
            </a:r>
          </a:p>
        </p:txBody>
      </p:sp>
    </p:spTree>
    <p:extLst>
      <p:ext uri="{BB962C8B-B14F-4D97-AF65-F5344CB8AC3E}">
        <p14:creationId xmlns:p14="http://schemas.microsoft.com/office/powerpoint/2010/main" val="1386979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5DA33-8E66-4B28-BA5A-56155530A0ED}"/>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0354" y="1417638"/>
            <a:ext cx="8229600" cy="5035698"/>
          </a:xfrm>
        </p:spPr>
        <p:txBody>
          <a:bodyPr rtlCol="0">
            <a:noAutofit/>
          </a:bodyPr>
          <a:lstStyle/>
          <a:p>
            <a:pPr lvl="1" eaLnBrk="1" hangingPunct="1"/>
            <a:r>
              <a:rPr lang="en-US" altLang="zh-CN" sz="2400" b="1" dirty="0"/>
              <a:t>1</a:t>
            </a:r>
            <a:r>
              <a:rPr lang="zh-CN" altLang="en-US" sz="2400" b="1" dirty="0"/>
              <a:t>、</a:t>
            </a:r>
            <a:r>
              <a:rPr lang="en-US" altLang="zh-CN" sz="2400" b="1" dirty="0"/>
              <a:t>Booth</a:t>
            </a:r>
            <a:r>
              <a:rPr lang="zh-CN" altLang="en-US" sz="2400" b="1" dirty="0"/>
              <a:t>算法</a:t>
            </a:r>
            <a:endParaRPr lang="en-US" altLang="zh-CN" sz="2400" b="1" dirty="0"/>
          </a:p>
          <a:p>
            <a:pPr lvl="1" eaLnBrk="1" hangingPunct="1"/>
            <a:endParaRPr lang="en-US" altLang="zh-CN" sz="2400" b="1" dirty="0"/>
          </a:p>
          <a:p>
            <a:pPr lvl="2" eaLnBrk="1" hangingPunct="1"/>
            <a:r>
              <a:rPr lang="zh-CN" altLang="en-US" sz="1600" b="1" dirty="0"/>
              <a:t>（</a:t>
            </a:r>
            <a:r>
              <a:rPr lang="en-US" altLang="zh-CN" sz="1600" b="1" dirty="0"/>
              <a:t>1</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符号为正数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 </a:t>
            </a:r>
            <a:r>
              <a:rPr lang="en-US" altLang="zh-CN" sz="1800" b="1" dirty="0"/>
              <a:t>· y</a:t>
            </a:r>
            <a:endParaRPr lang="en-US" altLang="zh-CN" sz="105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符号为负数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a:t>
            </a:r>
            <a:endParaRPr lang="en-US" altLang="zh-CN" sz="18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符号任意</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 </a:t>
            </a:r>
            <a:r>
              <a:rPr lang="en-US" altLang="zh-CN" sz="1800" b="1" dirty="0"/>
              <a:t>· y</a:t>
            </a:r>
            <a:r>
              <a:rPr lang="en-US" altLang="zh-CN" sz="1800" b="1" baseline="-25000" dirty="0"/>
              <a:t>0</a:t>
            </a:r>
            <a:endParaRPr lang="en-US" altLang="zh-CN" sz="1050" b="1" dirty="0"/>
          </a:p>
          <a:p>
            <a:pPr lvl="2" eaLnBrk="1" hangingPunct="1"/>
            <a:endParaRPr lang="en-US" altLang="zh-CN" sz="1600" b="1" dirty="0"/>
          </a:p>
        </p:txBody>
      </p:sp>
      <p:sp>
        <p:nvSpPr>
          <p:cNvPr id="5" name="文本框 4">
            <a:extLst>
              <a:ext uri="{FF2B5EF4-FFF2-40B4-BE49-F238E27FC236}">
                <a16:creationId xmlns:a16="http://schemas.microsoft.com/office/drawing/2014/main" id="{32AE9E9C-A7BC-491C-B667-12BF22C2F990}"/>
              </a:ext>
            </a:extLst>
          </p:cNvPr>
          <p:cNvSpPr txBox="1"/>
          <p:nvPr/>
        </p:nvSpPr>
        <p:spPr>
          <a:xfrm>
            <a:off x="6732240" y="2966362"/>
            <a:ext cx="1512168" cy="338554"/>
          </a:xfrm>
          <a:prstGeom prst="rect">
            <a:avLst/>
          </a:prstGeom>
          <a:solidFill>
            <a:schemeClr val="bg1"/>
          </a:solidFill>
        </p:spPr>
        <p:txBody>
          <a:bodyPr wrap="square" rtlCol="0">
            <a:spAutoFit/>
          </a:bodyPr>
          <a:lstStyle/>
          <a:p>
            <a:r>
              <a:rPr lang="zh-CN" altLang="en-US" sz="1600" b="1" dirty="0"/>
              <a:t>公式（</a:t>
            </a:r>
            <a:r>
              <a:rPr lang="en-US" altLang="zh-CN" sz="1600" b="1" dirty="0"/>
              <a:t>3-17</a:t>
            </a:r>
            <a:r>
              <a:rPr lang="zh-CN" altLang="en-US" sz="1600" b="1" dirty="0"/>
              <a:t>）</a:t>
            </a:r>
          </a:p>
        </p:txBody>
      </p:sp>
      <p:sp>
        <p:nvSpPr>
          <p:cNvPr id="15" name="文本框 14">
            <a:extLst>
              <a:ext uri="{FF2B5EF4-FFF2-40B4-BE49-F238E27FC236}">
                <a16:creationId xmlns:a16="http://schemas.microsoft.com/office/drawing/2014/main" id="{C50BBB0A-1A7A-4F00-9039-D6205DC5CD2C}"/>
              </a:ext>
            </a:extLst>
          </p:cNvPr>
          <p:cNvSpPr txBox="1"/>
          <p:nvPr/>
        </p:nvSpPr>
        <p:spPr>
          <a:xfrm>
            <a:off x="6700040" y="4194000"/>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dirty="0"/>
              <a:t>公式（</a:t>
            </a:r>
            <a:r>
              <a:rPr lang="en-US" altLang="zh-CN" dirty="0"/>
              <a:t>3-20</a:t>
            </a:r>
            <a:r>
              <a:rPr lang="zh-CN" altLang="en-US" dirty="0"/>
              <a:t>）</a:t>
            </a:r>
          </a:p>
        </p:txBody>
      </p:sp>
      <p:sp>
        <p:nvSpPr>
          <p:cNvPr id="19" name="文本框 18">
            <a:extLst>
              <a:ext uri="{FF2B5EF4-FFF2-40B4-BE49-F238E27FC236}">
                <a16:creationId xmlns:a16="http://schemas.microsoft.com/office/drawing/2014/main" id="{A4FB4950-BA79-4F12-BD2D-397CFA951FEE}"/>
              </a:ext>
            </a:extLst>
          </p:cNvPr>
          <p:cNvSpPr txBox="1"/>
          <p:nvPr/>
        </p:nvSpPr>
        <p:spPr>
          <a:xfrm>
            <a:off x="6804248" y="5421639"/>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a:t>公式（</a:t>
            </a:r>
            <a:r>
              <a:rPr lang="en-US" altLang="zh-CN" dirty="0"/>
              <a:t>3-21</a:t>
            </a:r>
            <a:r>
              <a:rPr lang="zh-CN" altLang="en-US" dirty="0"/>
              <a:t>）</a:t>
            </a:r>
          </a:p>
        </p:txBody>
      </p:sp>
    </p:spTree>
    <p:extLst>
      <p:ext uri="{BB962C8B-B14F-4D97-AF65-F5344CB8AC3E}">
        <p14:creationId xmlns:p14="http://schemas.microsoft.com/office/powerpoint/2010/main" val="1430177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5963A-36AE-4ABD-86E1-E1ACC3AAEF3E}"/>
              </a:ext>
            </a:extLst>
          </p:cNvPr>
          <p:cNvSpPr>
            <a:spLocks noGrp="1"/>
          </p:cNvSpPr>
          <p:nvPr>
            <p:ph type="title"/>
          </p:nvPr>
        </p:nvSpPr>
        <p:spPr>
          <a:xfrm>
            <a:off x="251520" y="116632"/>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306770"/>
            <a:ext cx="8229600" cy="4525963"/>
          </a:xfrm>
        </p:spPr>
        <p:txBody>
          <a:bodyPr rtlCol="0">
            <a:normAutofit/>
          </a:bodyPr>
          <a:lstStyle/>
          <a:p>
            <a:pPr lvl="1" eaLnBrk="1" hangingPunct="1"/>
            <a:r>
              <a:rPr lang="en-US" altLang="zh-CN" sz="2000" b="1" dirty="0"/>
              <a:t>2</a:t>
            </a:r>
            <a:r>
              <a:rPr lang="zh-CN" altLang="en-US" sz="2000" b="1" dirty="0"/>
              <a:t>、补码一位乘法的算法（</a:t>
            </a:r>
            <a:r>
              <a:rPr lang="en-US" altLang="zh-CN" sz="2000" b="1" dirty="0"/>
              <a:t>Booth</a:t>
            </a:r>
            <a:r>
              <a:rPr lang="zh-CN" altLang="en-US" sz="2000" b="1" dirty="0"/>
              <a:t>算法，教材图</a:t>
            </a:r>
            <a:r>
              <a:rPr lang="en-US" altLang="zh-CN" sz="2000" b="1" dirty="0"/>
              <a:t>3.11</a:t>
            </a:r>
            <a:r>
              <a:rPr lang="zh-CN" altLang="en-US" sz="2000" b="1" dirty="0"/>
              <a:t>）</a:t>
            </a:r>
            <a:endParaRPr lang="en-US" altLang="zh-CN" sz="1600" b="1" dirty="0"/>
          </a:p>
        </p:txBody>
      </p:sp>
      <p:pic>
        <p:nvPicPr>
          <p:cNvPr id="4" name="图片 3">
            <a:extLst>
              <a:ext uri="{FF2B5EF4-FFF2-40B4-BE49-F238E27FC236}">
                <a16:creationId xmlns:a16="http://schemas.microsoft.com/office/drawing/2014/main" id="{F51656DE-0B1C-4ED4-94D6-F7428E2BA506}"/>
              </a:ext>
            </a:extLst>
          </p:cNvPr>
          <p:cNvPicPr>
            <a:picLocks noChangeAspect="1"/>
          </p:cNvPicPr>
          <p:nvPr/>
        </p:nvPicPr>
        <p:blipFill>
          <a:blip r:embed="rId2"/>
          <a:stretch>
            <a:fillRect/>
          </a:stretch>
        </p:blipFill>
        <p:spPr>
          <a:xfrm>
            <a:off x="1547664" y="1720673"/>
            <a:ext cx="5184576" cy="4554912"/>
          </a:xfrm>
          <a:prstGeom prst="rect">
            <a:avLst/>
          </a:prstGeom>
        </p:spPr>
      </p:pic>
      <p:sp>
        <p:nvSpPr>
          <p:cNvPr id="5" name="文本框 4">
            <a:extLst>
              <a:ext uri="{FF2B5EF4-FFF2-40B4-BE49-F238E27FC236}">
                <a16:creationId xmlns:a16="http://schemas.microsoft.com/office/drawing/2014/main" id="{4829397A-DF00-47D4-BD4B-2866F02F93EA}"/>
              </a:ext>
            </a:extLst>
          </p:cNvPr>
          <p:cNvSpPr txBox="1"/>
          <p:nvPr/>
        </p:nvSpPr>
        <p:spPr>
          <a:xfrm>
            <a:off x="2771800" y="6275585"/>
            <a:ext cx="4572000" cy="307777"/>
          </a:xfrm>
          <a:prstGeom prst="rect">
            <a:avLst/>
          </a:prstGeom>
          <a:noFill/>
        </p:spPr>
        <p:txBody>
          <a:bodyPr wrap="square">
            <a:spAutoFit/>
          </a:bodyPr>
          <a:lstStyle/>
          <a:p>
            <a:r>
              <a:rPr lang="zh-CN" altLang="en-US" sz="1400" b="1" dirty="0"/>
              <a:t>图</a:t>
            </a:r>
            <a:r>
              <a:rPr lang="en-US" altLang="zh-CN" sz="1400" b="1" dirty="0"/>
              <a:t>3.11    </a:t>
            </a:r>
            <a:r>
              <a:rPr lang="zh-CN" altLang="en-US" sz="1400" b="1" dirty="0"/>
              <a:t>补码一位乘法算法流程图</a:t>
            </a:r>
            <a:endParaRPr lang="zh-CN" altLang="en-US" sz="1400" dirty="0"/>
          </a:p>
        </p:txBody>
      </p:sp>
    </p:spTree>
    <p:extLst>
      <p:ext uri="{BB962C8B-B14F-4D97-AF65-F5344CB8AC3E}">
        <p14:creationId xmlns:p14="http://schemas.microsoft.com/office/powerpoint/2010/main" val="1912990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75A60BEF-1A37-41ED-8AAB-CFBFDD0AA9C0}"/>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br>
              <a:rPr lang="en-US" altLang="zh-CN" sz="2800" b="1" dirty="0"/>
            </a:b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980729"/>
            <a:ext cx="3610744" cy="3240360"/>
          </a:xfrm>
        </p:spPr>
        <p:txBody>
          <a:bodyPr/>
          <a:lstStyle/>
          <a:p>
            <a:pPr lvl="1"/>
            <a:r>
              <a:rPr lang="zh-CN" altLang="en-US" sz="2000" b="1" dirty="0"/>
              <a:t>例</a:t>
            </a:r>
            <a:r>
              <a:rPr lang="en-US" altLang="zh-CN" sz="2000" b="1" dirty="0"/>
              <a:t>3.11</a:t>
            </a:r>
            <a:r>
              <a:rPr lang="zh-CN" altLang="en-US" sz="2000" b="1" dirty="0"/>
              <a:t>：</a:t>
            </a:r>
            <a:r>
              <a:rPr lang="en-US" altLang="zh-CN" sz="2000" b="1" dirty="0"/>
              <a:t>[x]</a:t>
            </a:r>
            <a:r>
              <a:rPr lang="zh-CN" altLang="en-US" sz="2000" b="1" baseline="-25000" dirty="0"/>
              <a:t>补</a:t>
            </a:r>
            <a:r>
              <a:rPr lang="en-US" altLang="zh-CN" sz="2000" b="1" dirty="0"/>
              <a:t>=1.0111</a:t>
            </a:r>
            <a:r>
              <a:rPr lang="zh-CN" altLang="en-US" sz="2000" b="1" dirty="0"/>
              <a:t>，</a:t>
            </a:r>
            <a:r>
              <a:rPr lang="en-US" altLang="zh-CN" sz="2000" b="1" dirty="0"/>
              <a:t>[y]</a:t>
            </a:r>
            <a:r>
              <a:rPr lang="zh-CN" altLang="en-US" sz="2000" b="1" baseline="-25000" dirty="0"/>
              <a:t>补</a:t>
            </a:r>
            <a:r>
              <a:rPr lang="en-US" altLang="zh-CN" sz="2000" b="1" dirty="0"/>
              <a:t>=1.0011</a:t>
            </a:r>
            <a:r>
              <a:rPr lang="zh-CN" altLang="en-US" sz="2000" b="1" dirty="0"/>
              <a:t>，用补码一位乘法求</a:t>
            </a:r>
            <a:r>
              <a:rPr lang="en-US" altLang="zh-CN" sz="2000" b="1" dirty="0"/>
              <a:t>[</a:t>
            </a:r>
            <a:r>
              <a:rPr lang="en-US" altLang="zh-CN" sz="2000" b="1" dirty="0" err="1"/>
              <a:t>x·y</a:t>
            </a:r>
            <a:r>
              <a:rPr lang="en-US" altLang="zh-CN" sz="2000" b="1" dirty="0"/>
              <a:t>]</a:t>
            </a:r>
            <a:r>
              <a:rPr lang="zh-CN" altLang="en-US" sz="2000" b="1" baseline="-25000" dirty="0"/>
              <a:t>补</a:t>
            </a:r>
            <a:endParaRPr lang="en-US" altLang="zh-CN" sz="2000" b="1" baseline="-25000" dirty="0"/>
          </a:p>
          <a:p>
            <a:pPr lvl="1"/>
            <a:r>
              <a:rPr lang="zh-CN" altLang="en-US" sz="2000" b="1" dirty="0"/>
              <a:t>解：</a:t>
            </a:r>
            <a:endParaRPr lang="en-US" altLang="zh-CN" sz="2000" b="1" dirty="0"/>
          </a:p>
          <a:p>
            <a:pPr lvl="2"/>
            <a:r>
              <a:rPr lang="en-US" altLang="zh-CN" sz="1600" b="1" dirty="0"/>
              <a:t>[-x]</a:t>
            </a:r>
            <a:r>
              <a:rPr lang="zh-CN" altLang="en-US" sz="1600" b="1" baseline="-25000" dirty="0"/>
              <a:t>补 </a:t>
            </a:r>
            <a:r>
              <a:rPr lang="en-US" altLang="zh-CN" sz="1600" b="1" dirty="0"/>
              <a:t>= 0.1000 + 0.0001 = 0.1001</a:t>
            </a:r>
            <a:r>
              <a:rPr lang="zh-CN" altLang="en-US" sz="1600" b="1" dirty="0"/>
              <a:t>（取反加</a:t>
            </a:r>
            <a:r>
              <a:rPr lang="en-US" altLang="zh-CN" sz="1600" b="1" dirty="0"/>
              <a:t>1</a:t>
            </a:r>
            <a:r>
              <a:rPr lang="zh-CN" altLang="en-US" sz="1600" b="1" dirty="0"/>
              <a:t>）</a:t>
            </a:r>
            <a:endParaRPr lang="en-US" altLang="zh-CN" sz="1600" b="1" dirty="0"/>
          </a:p>
          <a:p>
            <a:pPr lvl="2"/>
            <a:r>
              <a:rPr lang="en-US" altLang="zh-CN" sz="1600" b="1" dirty="0"/>
              <a:t> [x · y]</a:t>
            </a:r>
            <a:r>
              <a:rPr lang="zh-CN" altLang="en-US" sz="1600" b="1" baseline="-25000" dirty="0"/>
              <a:t>补 </a:t>
            </a:r>
            <a:r>
              <a:rPr lang="en-US" altLang="zh-CN" sz="1600" b="1" dirty="0"/>
              <a:t>= 0.0111 0101</a:t>
            </a:r>
            <a:r>
              <a:rPr lang="zh-CN" altLang="en-US" sz="1600" b="1" dirty="0"/>
              <a:t>（具体见下面的计算过程）</a:t>
            </a:r>
            <a:r>
              <a:rPr lang="en-US" altLang="zh-CN" sz="1600" b="1" dirty="0"/>
              <a:t>      </a:t>
            </a:r>
          </a:p>
          <a:p>
            <a:pPr lvl="2"/>
            <a:r>
              <a:rPr lang="zh-CN" altLang="en-US" sz="1600" b="1" dirty="0"/>
              <a:t>验证：</a:t>
            </a:r>
            <a:r>
              <a:rPr lang="en-US" altLang="zh-CN" sz="1600" b="1" dirty="0"/>
              <a:t>x = -0.1001</a:t>
            </a:r>
            <a:r>
              <a:rPr lang="zh-CN" altLang="en-US" sz="1600" b="1" dirty="0"/>
              <a:t>，</a:t>
            </a:r>
            <a:r>
              <a:rPr lang="en-US" altLang="zh-CN" sz="1600" b="1" dirty="0"/>
              <a:t>y = -0.1101</a:t>
            </a:r>
            <a:r>
              <a:rPr lang="zh-CN" altLang="en-US" sz="1600" b="1" dirty="0"/>
              <a:t>，</a:t>
            </a:r>
            <a:r>
              <a:rPr lang="en-US" altLang="zh-CN" sz="1600" b="1" dirty="0"/>
              <a:t>x · y = 0.0111 0101</a:t>
            </a:r>
          </a:p>
          <a:p>
            <a:pPr lvl="3"/>
            <a:endParaRPr lang="zh-CN" altLang="en-US" sz="800" b="1" dirty="0"/>
          </a:p>
        </p:txBody>
      </p:sp>
      <p:grpSp>
        <p:nvGrpSpPr>
          <p:cNvPr id="2" name="组合 1">
            <a:extLst>
              <a:ext uri="{FF2B5EF4-FFF2-40B4-BE49-F238E27FC236}">
                <a16:creationId xmlns:a16="http://schemas.microsoft.com/office/drawing/2014/main" id="{4F8CE3B3-7B0D-4862-8A17-4524B0E5B8BC}"/>
              </a:ext>
            </a:extLst>
          </p:cNvPr>
          <p:cNvGrpSpPr/>
          <p:nvPr/>
        </p:nvGrpSpPr>
        <p:grpSpPr>
          <a:xfrm>
            <a:off x="4121444" y="1372251"/>
            <a:ext cx="4896544" cy="4616648"/>
            <a:chOff x="1979712" y="1484784"/>
            <a:chExt cx="5256584" cy="4616648"/>
          </a:xfrm>
        </p:grpSpPr>
        <p:grpSp>
          <p:nvGrpSpPr>
            <p:cNvPr id="15" name="组合 14">
              <a:extLst>
                <a:ext uri="{FF2B5EF4-FFF2-40B4-BE49-F238E27FC236}">
                  <a16:creationId xmlns:a16="http://schemas.microsoft.com/office/drawing/2014/main" id="{40CC534B-D037-4A16-9B17-5AC45F85898A}"/>
                </a:ext>
              </a:extLst>
            </p:cNvPr>
            <p:cNvGrpSpPr/>
            <p:nvPr/>
          </p:nvGrpSpPr>
          <p:grpSpPr>
            <a:xfrm>
              <a:off x="1979712" y="1484784"/>
              <a:ext cx="5256584" cy="4616648"/>
              <a:chOff x="1979712" y="1484784"/>
              <a:chExt cx="4647125" cy="461664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647125" cy="4616648"/>
                <a:chOff x="1979712" y="2420888"/>
                <a:chExt cx="4647125" cy="4616648"/>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647125" cy="461664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0 0 . 0 0 0 0       1 0 0 1 </a:t>
                  </a:r>
                  <a:r>
                    <a:rPr lang="en-US" altLang="zh-CN" sz="1400" b="1" dirty="0">
                      <a:solidFill>
                        <a:srgbClr val="C00000"/>
                      </a:solidFill>
                    </a:rPr>
                    <a:t>1 0</a:t>
                  </a:r>
                  <a:r>
                    <a:rPr lang="en-US" altLang="zh-CN" sz="1400" b="1" dirty="0">
                      <a:solidFill>
                        <a:srgbClr val="FF0000"/>
                      </a:solidFill>
                    </a:rPr>
                    <a:t> </a:t>
                  </a:r>
                  <a:r>
                    <a:rPr lang="en-US" altLang="zh-CN" sz="1400" b="1" dirty="0"/>
                    <a:t>        P=0    y</a:t>
                  </a:r>
                  <a:r>
                    <a:rPr lang="en-US" altLang="zh-CN" sz="1400" b="1" baseline="-25000" dirty="0"/>
                    <a:t>n+1</a:t>
                  </a:r>
                  <a:r>
                    <a:rPr lang="en-US" altLang="zh-CN" sz="1400" b="1" dirty="0"/>
                    <a:t>=0</a:t>
                  </a:r>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endParaRPr lang="en-US" altLang="zh-CN" sz="1400" b="1" dirty="0"/>
                </a:p>
                <a:p>
                  <a:r>
                    <a:rPr lang="en-US" altLang="zh-CN" sz="1400" b="1" dirty="0"/>
                    <a:t>	0 0 . 1 0 0 1       1 0 0 1 1 0</a:t>
                  </a:r>
                </a:p>
                <a:p>
                  <a:r>
                    <a:rPr lang="en-US" altLang="zh-CN" sz="1400" b="1" dirty="0"/>
                    <a:t>    →	0 0 . 0 1 0 0       1 1 0 0 </a:t>
                  </a:r>
                  <a:r>
                    <a:rPr lang="en-US" altLang="zh-CN" sz="1400" b="1" dirty="0">
                      <a:solidFill>
                        <a:srgbClr val="C00000"/>
                      </a:solidFill>
                    </a:rPr>
                    <a:t>1 1</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=11</a:t>
                  </a:r>
                  <a:r>
                    <a:rPr lang="zh-CN" altLang="en-US" sz="1400" b="1" dirty="0"/>
                    <a:t>，</a:t>
                  </a:r>
                  <a:r>
                    <a:rPr lang="en-US" altLang="zh-CN" sz="1400" b="1" dirty="0"/>
                    <a:t>+0</a:t>
                  </a:r>
                </a:p>
                <a:p>
                  <a:endParaRPr lang="en-US" altLang="zh-CN" sz="1400" b="1" dirty="0"/>
                </a:p>
                <a:p>
                  <a:r>
                    <a:rPr lang="en-US" altLang="zh-CN" sz="1400" b="1" dirty="0"/>
                    <a:t>	0 0 . 0 1 0 0       1 1 0 0 1 1</a:t>
                  </a:r>
                </a:p>
                <a:p>
                  <a:r>
                    <a:rPr lang="en-US" altLang="zh-CN" sz="1400" b="1" dirty="0"/>
                    <a:t>    → 	0 0 . 0 0 1 0       0 1 1 0 </a:t>
                  </a:r>
                  <a:r>
                    <a:rPr lang="en-US" altLang="zh-CN" sz="1400" b="1" dirty="0">
                      <a:solidFill>
                        <a:srgbClr val="C00000"/>
                      </a:solidFill>
                    </a:rPr>
                    <a:t>0 1</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1 1 . 0 1 1 1 		            y</a:t>
                  </a:r>
                  <a:r>
                    <a:rPr lang="en-US" altLang="zh-CN" sz="1400" b="1" baseline="-25000" dirty="0"/>
                    <a:t>n</a:t>
                  </a:r>
                  <a:r>
                    <a:rPr lang="en-US" altLang="zh-CN" sz="1400" b="1" dirty="0"/>
                    <a:t>y</a:t>
                  </a:r>
                  <a:r>
                    <a:rPr lang="en-US" altLang="zh-CN" sz="1400" b="1" baseline="-25000" dirty="0"/>
                    <a:t>n+1</a:t>
                  </a:r>
                  <a:r>
                    <a:rPr lang="en-US" altLang="zh-CN" sz="1400" b="1" dirty="0"/>
                    <a:t>=01</a:t>
                  </a:r>
                  <a:r>
                    <a:rPr lang="zh-CN" altLang="en-US" sz="1400" b="1" dirty="0"/>
                    <a:t>，</a:t>
                  </a:r>
                  <a:r>
                    <a:rPr lang="en-US" altLang="zh-CN" sz="1400" b="1" dirty="0"/>
                    <a:t>+[x]</a:t>
                  </a:r>
                  <a:r>
                    <a:rPr lang="zh-CN" altLang="en-US" sz="1400" b="1" baseline="-25000" dirty="0"/>
                    <a:t>补</a:t>
                  </a:r>
                  <a:endParaRPr lang="en-US" altLang="zh-CN" sz="1400" b="1" dirty="0"/>
                </a:p>
                <a:p>
                  <a:endParaRPr lang="en-US" altLang="zh-CN" sz="1400" b="1" dirty="0"/>
                </a:p>
                <a:p>
                  <a:r>
                    <a:rPr lang="en-US" altLang="zh-CN" sz="1400" b="1" dirty="0"/>
                    <a:t>	1 1 . 1 0 0 1       0 1 1 0 0 1</a:t>
                  </a:r>
                </a:p>
                <a:p>
                  <a:r>
                    <a:rPr lang="en-US" altLang="zh-CN" sz="1400" b="1" dirty="0"/>
                    <a:t>    → 	1 1 . 1 1 0 0       1 0 1 1 </a:t>
                  </a:r>
                  <a:r>
                    <a:rPr lang="en-US" altLang="zh-CN" sz="1400" b="1" dirty="0">
                      <a:solidFill>
                        <a:srgbClr val="C00000"/>
                      </a:solidFill>
                    </a:rPr>
                    <a:t>0 0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=00</a:t>
                  </a:r>
                  <a:r>
                    <a:rPr lang="zh-CN" altLang="en-US" sz="1400" b="1" dirty="0"/>
                    <a:t>，</a:t>
                  </a:r>
                  <a:r>
                    <a:rPr lang="en-US" altLang="zh-CN" sz="1400" b="1" dirty="0"/>
                    <a:t>+0</a:t>
                  </a:r>
                </a:p>
                <a:p>
                  <a:endParaRPr lang="en-US" altLang="zh-CN" sz="1400" b="1" dirty="0"/>
                </a:p>
                <a:p>
                  <a:r>
                    <a:rPr lang="en-US" altLang="zh-CN" sz="1400" b="1" dirty="0"/>
                    <a:t>	1 1 . 1 1 0 0       1 0 1 1 0 0</a:t>
                  </a:r>
                </a:p>
                <a:p>
                  <a:r>
                    <a:rPr lang="en-US" altLang="zh-CN" sz="1400" b="1" dirty="0"/>
                    <a:t>     →  	1 1 . 1 1 1 0       0 1 0 1 </a:t>
                  </a:r>
                  <a:r>
                    <a:rPr lang="en-US" altLang="zh-CN" sz="1400" b="1" dirty="0">
                      <a:solidFill>
                        <a:srgbClr val="C00000"/>
                      </a:solidFill>
                    </a:rPr>
                    <a:t>1 0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r>
                    <a:rPr lang="en-US" altLang="zh-CN" sz="1400" b="1" dirty="0"/>
                    <a:t> </a:t>
                  </a:r>
                </a:p>
                <a:p>
                  <a:r>
                    <a:rPr lang="en-US" altLang="zh-CN" sz="1400" b="1" dirty="0"/>
                    <a:t>	</a:t>
                  </a:r>
                  <a:r>
                    <a:rPr lang="en-US" altLang="zh-CN" sz="1400" b="1" dirty="0">
                      <a:solidFill>
                        <a:srgbClr val="C00000"/>
                      </a:solidFill>
                    </a:rPr>
                    <a:t>0 0 . 0 1 1 1 	     0 1 0 1                    </a:t>
                  </a:r>
                  <a:r>
                    <a:rPr lang="zh-CN" altLang="en-US" sz="1400" b="1" dirty="0"/>
                    <a:t>最后一步不移位</a:t>
                  </a:r>
                  <a:r>
                    <a:rPr lang="en-US" altLang="zh-CN" sz="1400" b="1" dirty="0"/>
                    <a:t>	             </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407175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994432"/>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858528"/>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85028" y="5706676"/>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37A8D49D-47AE-4675-B8BC-BA3622FC82C1}"/>
              </a:ext>
            </a:extLst>
          </p:cNvPr>
          <p:cNvSpPr txBox="1"/>
          <p:nvPr/>
        </p:nvSpPr>
        <p:spPr>
          <a:xfrm>
            <a:off x="1115616" y="4253239"/>
            <a:ext cx="2448272"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乘数</a:t>
            </a:r>
            <a:r>
              <a:rPr lang="en-US" altLang="zh-CN" sz="1400" b="1" dirty="0">
                <a:solidFill>
                  <a:srgbClr val="C00000"/>
                </a:solidFill>
              </a:rPr>
              <a:t>y</a:t>
            </a:r>
            <a:r>
              <a:rPr lang="zh-CN" altLang="en-US" sz="1400" b="1" dirty="0">
                <a:solidFill>
                  <a:srgbClr val="C00000"/>
                </a:solidFill>
              </a:rPr>
              <a:t>为补码值（</a:t>
            </a:r>
            <a:r>
              <a:rPr lang="en-US" altLang="zh-CN" sz="1400" b="1" dirty="0">
                <a:solidFill>
                  <a:srgbClr val="C00000"/>
                </a:solidFill>
              </a:rPr>
              <a:t>1.0011</a:t>
            </a:r>
            <a:r>
              <a:rPr lang="zh-CN" altLang="en-US" sz="1400" b="1" dirty="0">
                <a:solidFill>
                  <a:srgbClr val="C00000"/>
                </a:solidFill>
              </a:rPr>
              <a:t>），去掉小数点（</a:t>
            </a:r>
            <a:r>
              <a:rPr lang="en-US" altLang="zh-CN" sz="1400" b="1" dirty="0">
                <a:solidFill>
                  <a:srgbClr val="C00000"/>
                </a:solidFill>
              </a:rPr>
              <a:t>10011</a:t>
            </a:r>
            <a:r>
              <a:rPr lang="zh-CN" altLang="en-US" sz="1400" b="1" dirty="0">
                <a:solidFill>
                  <a:srgbClr val="C00000"/>
                </a:solidFill>
              </a:rPr>
              <a:t>），最后增加一位</a:t>
            </a:r>
            <a:r>
              <a:rPr lang="en-US" altLang="zh-CN" sz="1400" b="1" dirty="0">
                <a:solidFill>
                  <a:srgbClr val="C00000"/>
                </a:solidFill>
              </a:rPr>
              <a:t>y</a:t>
            </a:r>
            <a:r>
              <a:rPr lang="en-US" altLang="zh-CN" sz="1400" b="1" baseline="-25000" dirty="0">
                <a:solidFill>
                  <a:srgbClr val="C00000"/>
                </a:solidFill>
              </a:rPr>
              <a:t>n+1</a:t>
            </a:r>
            <a:r>
              <a:rPr lang="en-US" altLang="zh-CN" sz="1400" b="1" dirty="0">
                <a:solidFill>
                  <a:srgbClr val="C00000"/>
                </a:solidFill>
              </a:rPr>
              <a:t>=0</a:t>
            </a:r>
            <a:r>
              <a:rPr lang="zh-CN" altLang="en-US" sz="1400" b="1" dirty="0">
                <a:solidFill>
                  <a:srgbClr val="C00000"/>
                </a:solidFill>
              </a:rPr>
              <a:t>（</a:t>
            </a:r>
            <a:r>
              <a:rPr lang="en-US" altLang="zh-CN" sz="1400" b="1" dirty="0">
                <a:solidFill>
                  <a:srgbClr val="C00000"/>
                </a:solidFill>
              </a:rPr>
              <a:t>100110</a:t>
            </a:r>
            <a:r>
              <a:rPr lang="zh-CN" altLang="en-US" sz="1400" b="1" dirty="0">
                <a:solidFill>
                  <a:srgbClr val="C00000"/>
                </a:solidFill>
              </a:rPr>
              <a:t>）；部分积为</a:t>
            </a:r>
            <a:r>
              <a:rPr lang="en-US" altLang="zh-CN" sz="1400" b="1" dirty="0">
                <a:solidFill>
                  <a:srgbClr val="C00000"/>
                </a:solidFill>
              </a:rPr>
              <a:t>0</a:t>
            </a:r>
            <a:r>
              <a:rPr lang="zh-CN" altLang="en-US" sz="1400" b="1" dirty="0">
                <a:solidFill>
                  <a:srgbClr val="C00000"/>
                </a:solidFill>
              </a:rPr>
              <a:t>（双符号位小数）</a:t>
            </a:r>
          </a:p>
        </p:txBody>
      </p:sp>
      <p:sp>
        <p:nvSpPr>
          <p:cNvPr id="13" name="文本框 12">
            <a:extLst>
              <a:ext uri="{FF2B5EF4-FFF2-40B4-BE49-F238E27FC236}">
                <a16:creationId xmlns:a16="http://schemas.microsoft.com/office/drawing/2014/main" id="{FD105B37-A612-48ED-918F-0DC2A7B3BFA4}"/>
              </a:ext>
            </a:extLst>
          </p:cNvPr>
          <p:cNvSpPr txBox="1"/>
          <p:nvPr/>
        </p:nvSpPr>
        <p:spPr>
          <a:xfrm>
            <a:off x="1100149" y="5507939"/>
            <a:ext cx="2463739"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根据</a:t>
            </a:r>
            <a:r>
              <a:rPr lang="en-US" altLang="zh-CN" sz="1400" b="1" dirty="0">
                <a:solidFill>
                  <a:srgbClr val="C00000"/>
                </a:solidFill>
              </a:rPr>
              <a:t>y</a:t>
            </a:r>
            <a:r>
              <a:rPr lang="zh-CN" altLang="en-US" sz="1400" b="1" dirty="0">
                <a:solidFill>
                  <a:srgbClr val="C00000"/>
                </a:solidFill>
              </a:rPr>
              <a:t>的最后二位是</a:t>
            </a:r>
            <a:r>
              <a:rPr lang="en-US" altLang="zh-CN" sz="1400" b="1" dirty="0">
                <a:solidFill>
                  <a:srgbClr val="C00000"/>
                </a:solidFill>
              </a:rPr>
              <a:t>01</a:t>
            </a:r>
            <a:r>
              <a:rPr lang="zh-CN" altLang="en-US" sz="1400" b="1" dirty="0">
                <a:solidFill>
                  <a:srgbClr val="C00000"/>
                </a:solidFill>
              </a:rPr>
              <a:t>、</a:t>
            </a:r>
            <a:r>
              <a:rPr lang="en-US" altLang="zh-CN" sz="1400" b="1" dirty="0">
                <a:solidFill>
                  <a:srgbClr val="C00000"/>
                </a:solidFill>
              </a:rPr>
              <a:t>10</a:t>
            </a:r>
            <a:r>
              <a:rPr lang="zh-CN" altLang="en-US" sz="1400" b="1" dirty="0">
                <a:solidFill>
                  <a:srgbClr val="C00000"/>
                </a:solidFill>
              </a:rPr>
              <a:t>、</a:t>
            </a:r>
            <a:r>
              <a:rPr lang="en-US" altLang="zh-CN" sz="1400" b="1" dirty="0">
                <a:solidFill>
                  <a:srgbClr val="C00000"/>
                </a:solidFill>
              </a:rPr>
              <a:t>00</a:t>
            </a:r>
            <a:r>
              <a:rPr lang="zh-CN" altLang="en-US" sz="1400" b="1" dirty="0">
                <a:solidFill>
                  <a:srgbClr val="C00000"/>
                </a:solidFill>
              </a:rPr>
              <a:t>或</a:t>
            </a:r>
            <a:r>
              <a:rPr lang="en-US" altLang="zh-CN" sz="1400" b="1" dirty="0">
                <a:solidFill>
                  <a:srgbClr val="C00000"/>
                </a:solidFill>
              </a:rPr>
              <a:t>11</a:t>
            </a:r>
            <a:r>
              <a:rPr lang="zh-CN" altLang="en-US" sz="1400" b="1" dirty="0">
                <a:solidFill>
                  <a:srgbClr val="C00000"/>
                </a:solidFill>
              </a:rPr>
              <a:t>，执行</a:t>
            </a:r>
            <a:r>
              <a:rPr lang="en-US" altLang="zh-CN" sz="1400" b="1" dirty="0">
                <a:solidFill>
                  <a:srgbClr val="C00000"/>
                </a:solidFill>
              </a:rPr>
              <a:t>+[x]</a:t>
            </a:r>
            <a:r>
              <a:rPr lang="zh-CN" altLang="en-US" sz="1400" b="1" baseline="-25000" dirty="0">
                <a:solidFill>
                  <a:srgbClr val="C00000"/>
                </a:solidFill>
              </a:rPr>
              <a:t>补</a:t>
            </a:r>
            <a:r>
              <a:rPr lang="zh-CN" altLang="en-US" sz="1400" b="1" dirty="0">
                <a:solidFill>
                  <a:srgbClr val="C00000"/>
                </a:solidFill>
              </a:rPr>
              <a:t>、</a:t>
            </a:r>
            <a:r>
              <a:rPr lang="en-US" altLang="zh-CN" sz="1400" b="1" dirty="0">
                <a:solidFill>
                  <a:srgbClr val="C00000"/>
                </a:solidFill>
              </a:rPr>
              <a:t>+[-x]</a:t>
            </a:r>
            <a:r>
              <a:rPr lang="zh-CN" altLang="en-US" sz="1400" b="1" baseline="-25000" dirty="0">
                <a:solidFill>
                  <a:srgbClr val="C00000"/>
                </a:solidFill>
              </a:rPr>
              <a:t>补</a:t>
            </a:r>
            <a:r>
              <a:rPr lang="zh-CN" altLang="en-US" sz="1400" b="1" dirty="0">
                <a:solidFill>
                  <a:srgbClr val="C00000"/>
                </a:solidFill>
              </a:rPr>
              <a:t>、</a:t>
            </a:r>
            <a:r>
              <a:rPr lang="en-US" altLang="zh-CN" sz="1400" b="1" dirty="0">
                <a:solidFill>
                  <a:srgbClr val="C00000"/>
                </a:solidFill>
              </a:rPr>
              <a:t>+0</a:t>
            </a:r>
            <a:r>
              <a:rPr lang="zh-CN" altLang="en-US" sz="1400" b="1" dirty="0">
                <a:solidFill>
                  <a:srgbClr val="C00000"/>
                </a:solidFill>
              </a:rPr>
              <a:t>的操作</a:t>
            </a:r>
          </a:p>
        </p:txBody>
      </p:sp>
    </p:spTree>
    <p:extLst>
      <p:ext uri="{BB962C8B-B14F-4D97-AF65-F5344CB8AC3E}">
        <p14:creationId xmlns:p14="http://schemas.microsoft.com/office/powerpoint/2010/main" val="2977217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BCDCC-AA23-421A-A395-B4F7DD442BDF}"/>
              </a:ext>
            </a:extLst>
          </p:cNvPr>
          <p:cNvSpPr>
            <a:spLocks noGrp="1"/>
          </p:cNvSpPr>
          <p:nvPr>
            <p:ph type="title"/>
          </p:nvPr>
        </p:nvSpPr>
        <p:spPr>
          <a:xfrm>
            <a:off x="395536" y="46903"/>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39096" y="1166019"/>
            <a:ext cx="8229600" cy="462782"/>
          </a:xfrm>
        </p:spPr>
        <p:txBody>
          <a:bodyPr rtlCol="0">
            <a:normAutofit/>
          </a:bodyPr>
          <a:lstStyle/>
          <a:p>
            <a:pPr lvl="1" eaLnBrk="1" hangingPunct="1"/>
            <a:r>
              <a:rPr lang="en-US" altLang="zh-CN" sz="2000" b="1" dirty="0"/>
              <a:t>3</a:t>
            </a:r>
            <a:r>
              <a:rPr lang="zh-CN" altLang="en-US" sz="2000" b="1" dirty="0"/>
              <a:t>、补码一位乘法的逻辑实现（</a:t>
            </a:r>
            <a:r>
              <a:rPr lang="en-US" altLang="zh-CN" sz="2000" b="1" dirty="0"/>
              <a:t>Booth</a:t>
            </a:r>
            <a:r>
              <a:rPr lang="zh-CN" altLang="en-US" sz="2000" b="1" dirty="0"/>
              <a:t>算法，教材图</a:t>
            </a:r>
            <a:r>
              <a:rPr lang="en-US" altLang="zh-CN" sz="2000" b="1" dirty="0"/>
              <a:t>3.12</a:t>
            </a:r>
            <a:r>
              <a:rPr lang="zh-CN" altLang="en-US" sz="2000" b="1" dirty="0"/>
              <a:t>）</a:t>
            </a:r>
            <a:endParaRPr lang="en-US" altLang="zh-CN" sz="1600" b="1" dirty="0"/>
          </a:p>
        </p:txBody>
      </p:sp>
      <p:pic>
        <p:nvPicPr>
          <p:cNvPr id="5" name="图片 4">
            <a:extLst>
              <a:ext uri="{FF2B5EF4-FFF2-40B4-BE49-F238E27FC236}">
                <a16:creationId xmlns:a16="http://schemas.microsoft.com/office/drawing/2014/main" id="{F8F413C4-AE1A-48E1-A7ED-61BC106CD917}"/>
              </a:ext>
            </a:extLst>
          </p:cNvPr>
          <p:cNvPicPr>
            <a:picLocks noChangeAspect="1"/>
          </p:cNvPicPr>
          <p:nvPr/>
        </p:nvPicPr>
        <p:blipFill>
          <a:blip r:embed="rId2"/>
          <a:stretch>
            <a:fillRect/>
          </a:stretch>
        </p:blipFill>
        <p:spPr>
          <a:xfrm>
            <a:off x="971600" y="1579076"/>
            <a:ext cx="6219023" cy="4752528"/>
          </a:xfrm>
          <a:prstGeom prst="rect">
            <a:avLst/>
          </a:prstGeom>
        </p:spPr>
      </p:pic>
      <p:sp>
        <p:nvSpPr>
          <p:cNvPr id="6" name="文本框 5">
            <a:extLst>
              <a:ext uri="{FF2B5EF4-FFF2-40B4-BE49-F238E27FC236}">
                <a16:creationId xmlns:a16="http://schemas.microsoft.com/office/drawing/2014/main" id="{56C31457-24F7-451B-A37D-80627D6080EE}"/>
              </a:ext>
            </a:extLst>
          </p:cNvPr>
          <p:cNvSpPr txBox="1"/>
          <p:nvPr/>
        </p:nvSpPr>
        <p:spPr>
          <a:xfrm>
            <a:off x="1953377" y="6291420"/>
            <a:ext cx="2736304" cy="307777"/>
          </a:xfrm>
          <a:prstGeom prst="rect">
            <a:avLst/>
          </a:prstGeom>
          <a:noFill/>
        </p:spPr>
        <p:txBody>
          <a:bodyPr wrap="square">
            <a:spAutoFit/>
          </a:bodyPr>
          <a:lstStyle/>
          <a:p>
            <a:r>
              <a:rPr lang="zh-CN" altLang="en-US" sz="1400" b="1" dirty="0"/>
              <a:t>图</a:t>
            </a:r>
            <a:r>
              <a:rPr lang="en-US" altLang="zh-CN" sz="1400" b="1" dirty="0"/>
              <a:t>3.12    </a:t>
            </a:r>
            <a:r>
              <a:rPr lang="zh-CN" altLang="en-US" sz="1400" b="1" dirty="0"/>
              <a:t>补码一位乘法逻辑实现</a:t>
            </a:r>
            <a:endParaRPr lang="zh-CN" altLang="en-US" sz="14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A7701C1-0854-4607-81F0-D3110A9F9C2D}"/>
                  </a:ext>
                </a:extLst>
              </p:cNvPr>
              <p:cNvSpPr txBox="1"/>
              <p:nvPr/>
            </p:nvSpPr>
            <p:spPr>
              <a:xfrm>
                <a:off x="5280256" y="5556921"/>
                <a:ext cx="3563888" cy="1054519"/>
              </a:xfrm>
              <a:prstGeom prst="rect">
                <a:avLst/>
              </a:prstGeom>
              <a:noFill/>
              <a:ln w="19050">
                <a:solidFill>
                  <a:schemeClr val="tx1"/>
                </a:solidFill>
              </a:ln>
            </p:spPr>
            <p:txBody>
              <a:bodyPr wrap="square" rtlCol="0">
                <a:spAutoFit/>
              </a:bodyPr>
              <a:lstStyle/>
              <a:p>
                <a:r>
                  <a:rPr lang="zh-CN" altLang="en-US" sz="1400" b="1" dirty="0">
                    <a:solidFill>
                      <a:srgbClr val="C00000"/>
                    </a:solidFill>
                    <a:latin typeface="+mn-lt"/>
                    <a:ea typeface="+mn-ea"/>
                  </a:rPr>
                  <a:t>核心公式</a:t>
                </a:r>
                <a:r>
                  <a:rPr lang="zh-CN" altLang="en-US" dirty="0"/>
                  <a:t>：</a:t>
                </a:r>
                <a:endParaRPr lang="en-US" altLang="zh-CN" dirty="0"/>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sub>
                                  <m:r>
                                    <a:rPr lang="zh-CN" altLang="en-US" i="1">
                                      <a:latin typeface="Cambria Math" panose="02040503050406030204" pitchFamily="18" charset="0"/>
                                    </a:rPr>
                                    <m:t>补</m:t>
                                  </m:r>
                                </m:sub>
                              </m:sSub>
                              <m:r>
                                <a:rPr lang="en-US" altLang="zh-CN" b="0" i="1" smtClean="0">
                                  <a:latin typeface="Cambria Math" panose="02040503050406030204" pitchFamily="18" charset="0"/>
                                </a:rPr>
                                <m:t> </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/2</m:t>
                      </m:r>
                    </m:oMath>
                  </m:oMathPara>
                </a14:m>
                <a:endParaRPr lang="zh-CN" altLang="en-US" dirty="0"/>
              </a:p>
            </p:txBody>
          </p:sp>
        </mc:Choice>
        <mc:Fallback xmlns="">
          <p:sp>
            <p:nvSpPr>
              <p:cNvPr id="7" name="文本框 6">
                <a:extLst>
                  <a:ext uri="{FF2B5EF4-FFF2-40B4-BE49-F238E27FC236}">
                    <a16:creationId xmlns:a16="http://schemas.microsoft.com/office/drawing/2014/main" id="{0A7701C1-0854-4607-81F0-D3110A9F9C2D}"/>
                  </a:ext>
                </a:extLst>
              </p:cNvPr>
              <p:cNvSpPr txBox="1">
                <a:spLocks noRot="1" noChangeAspect="1" noMove="1" noResize="1" noEditPoints="1" noAdjustHandles="1" noChangeArrowheads="1" noChangeShapeType="1" noTextEdit="1"/>
              </p:cNvSpPr>
              <p:nvPr/>
            </p:nvSpPr>
            <p:spPr>
              <a:xfrm>
                <a:off x="5280256" y="5556921"/>
                <a:ext cx="3563888" cy="1054519"/>
              </a:xfrm>
              <a:prstGeom prst="rect">
                <a:avLst/>
              </a:prstGeom>
              <a:blipFill>
                <a:blip r:embed="rId3"/>
                <a:stretch>
                  <a:fillRect l="-340" t="-4545" b="-3409"/>
                </a:stretch>
              </a:blipFill>
              <a:ln w="19050">
                <a:solidFill>
                  <a:schemeClr val="tx1"/>
                </a:solidFill>
              </a:ln>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05232BB-64B9-45C2-AC87-580FEE3A65D0}"/>
              </a:ext>
            </a:extLst>
          </p:cNvPr>
          <p:cNvSpPr txBox="1"/>
          <p:nvPr/>
        </p:nvSpPr>
        <p:spPr>
          <a:xfrm>
            <a:off x="7062200" y="1844824"/>
            <a:ext cx="1701857" cy="3139321"/>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符号位参与运算，故宽度</a:t>
            </a:r>
            <a:r>
              <a:rPr lang="en-US" altLang="zh-CN" dirty="0"/>
              <a:t>n+1</a:t>
            </a:r>
          </a:p>
          <a:p>
            <a:pPr marL="285750" indent="-285750">
              <a:buFont typeface="Arial" panose="020B0604020202020204" pitchFamily="34" charset="0"/>
              <a:buChar char="•"/>
            </a:pPr>
            <a:r>
              <a:rPr lang="zh-CN" altLang="en-US" dirty="0"/>
              <a:t>乘数末位增加</a:t>
            </a:r>
            <a:r>
              <a:rPr lang="en-US" altLang="zh-CN" dirty="0"/>
              <a:t>1</a:t>
            </a:r>
            <a:r>
              <a:rPr lang="zh-CN" altLang="en-US" dirty="0"/>
              <a:t>位附加位，故宽度</a:t>
            </a:r>
            <a:r>
              <a:rPr lang="en-US" altLang="zh-CN" dirty="0"/>
              <a:t>n+2</a:t>
            </a:r>
          </a:p>
          <a:p>
            <a:pPr marL="285750" indent="-285750">
              <a:buFont typeface="Arial" panose="020B0604020202020204" pitchFamily="34" charset="0"/>
              <a:buChar char="•"/>
            </a:pPr>
            <a:r>
              <a:rPr lang="en-US" altLang="zh-CN" dirty="0"/>
              <a:t>n+1</a:t>
            </a:r>
            <a:r>
              <a:rPr lang="zh-CN" altLang="en-US" dirty="0"/>
              <a:t>次累加移位，比实际多移动</a:t>
            </a:r>
            <a:r>
              <a:rPr lang="en-US" altLang="zh-CN" dirty="0"/>
              <a:t>1</a:t>
            </a:r>
            <a:r>
              <a:rPr lang="zh-CN" altLang="en-US" dirty="0"/>
              <a:t>位</a:t>
            </a:r>
            <a:endParaRPr lang="en-US" altLang="zh-CN" dirty="0"/>
          </a:p>
        </p:txBody>
      </p:sp>
    </p:spTree>
    <p:extLst>
      <p:ext uri="{BB962C8B-B14F-4D97-AF65-F5344CB8AC3E}">
        <p14:creationId xmlns:p14="http://schemas.microsoft.com/office/powerpoint/2010/main" val="1528269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AADD9F29-4916-4662-9D0F-0BD898E8FAB3}"/>
              </a:ext>
            </a:extLst>
          </p:cNvPr>
          <p:cNvSpPr txBox="1"/>
          <p:nvPr/>
        </p:nvSpPr>
        <p:spPr>
          <a:xfrm>
            <a:off x="2555776" y="91392"/>
            <a:ext cx="3579826"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位补码一位乘法器</a:t>
            </a:r>
            <a:endParaRPr lang="zh-CN" altLang="en-US" b="1" dirty="0"/>
          </a:p>
        </p:txBody>
      </p:sp>
      <p:pic>
        <p:nvPicPr>
          <p:cNvPr id="3" name="图片 2">
            <a:extLst>
              <a:ext uri="{FF2B5EF4-FFF2-40B4-BE49-F238E27FC236}">
                <a16:creationId xmlns:a16="http://schemas.microsoft.com/office/drawing/2014/main" id="{E4932F01-9277-FD5B-F6A9-81C8DAC05E7E}"/>
              </a:ext>
            </a:extLst>
          </p:cNvPr>
          <p:cNvPicPr>
            <a:picLocks noChangeAspect="1"/>
          </p:cNvPicPr>
          <p:nvPr/>
        </p:nvPicPr>
        <p:blipFill>
          <a:blip r:embed="rId2"/>
          <a:stretch>
            <a:fillRect/>
          </a:stretch>
        </p:blipFill>
        <p:spPr>
          <a:xfrm>
            <a:off x="1230047" y="1196752"/>
            <a:ext cx="6683905" cy="5514031"/>
          </a:xfrm>
          <a:prstGeom prst="rect">
            <a:avLst/>
          </a:prstGeom>
        </p:spPr>
      </p:pic>
      <p:sp>
        <p:nvSpPr>
          <p:cNvPr id="5" name="文本框 4">
            <a:extLst>
              <a:ext uri="{FF2B5EF4-FFF2-40B4-BE49-F238E27FC236}">
                <a16:creationId xmlns:a16="http://schemas.microsoft.com/office/drawing/2014/main" id="{90C3C08A-21DD-DEC0-336A-5FC463646405}"/>
              </a:ext>
            </a:extLst>
          </p:cNvPr>
          <p:cNvSpPr txBox="1"/>
          <p:nvPr/>
        </p:nvSpPr>
        <p:spPr>
          <a:xfrm>
            <a:off x="2339752" y="620688"/>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位补码一位乘法器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61783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2EBB5-B617-4598-8047-B3B99426F63B}"/>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grpSp>
        <p:nvGrpSpPr>
          <p:cNvPr id="10" name="组合 9">
            <a:extLst>
              <a:ext uri="{FF2B5EF4-FFF2-40B4-BE49-F238E27FC236}">
                <a16:creationId xmlns:a16="http://schemas.microsoft.com/office/drawing/2014/main" id="{A2EF6B4A-EC00-43C7-A7A8-75B58099F81F}"/>
              </a:ext>
            </a:extLst>
          </p:cNvPr>
          <p:cNvGrpSpPr/>
          <p:nvPr/>
        </p:nvGrpSpPr>
        <p:grpSpPr>
          <a:xfrm>
            <a:off x="1835239" y="2743624"/>
            <a:ext cx="6049589" cy="3839738"/>
            <a:chOff x="1835696" y="2981073"/>
            <a:chExt cx="5617541" cy="3331393"/>
          </a:xfrm>
        </p:grpSpPr>
        <p:pic>
          <p:nvPicPr>
            <p:cNvPr id="7" name="图片 6">
              <a:extLst>
                <a:ext uri="{FF2B5EF4-FFF2-40B4-BE49-F238E27FC236}">
                  <a16:creationId xmlns:a16="http://schemas.microsoft.com/office/drawing/2014/main" id="{3AA365F2-7D71-4B97-8424-B45500E35CA7}"/>
                </a:ext>
              </a:extLst>
            </p:cNvPr>
            <p:cNvPicPr>
              <a:picLocks noChangeAspect="1"/>
            </p:cNvPicPr>
            <p:nvPr/>
          </p:nvPicPr>
          <p:blipFill>
            <a:blip r:embed="rId2"/>
            <a:stretch>
              <a:fillRect/>
            </a:stretch>
          </p:blipFill>
          <p:spPr>
            <a:xfrm>
              <a:off x="2195736" y="3140968"/>
              <a:ext cx="5257501" cy="3171498"/>
            </a:xfrm>
            <a:prstGeom prst="rect">
              <a:avLst/>
            </a:prstGeom>
          </p:spPr>
        </p:pic>
        <p:pic>
          <p:nvPicPr>
            <p:cNvPr id="9" name="图片 8">
              <a:extLst>
                <a:ext uri="{FF2B5EF4-FFF2-40B4-BE49-F238E27FC236}">
                  <a16:creationId xmlns:a16="http://schemas.microsoft.com/office/drawing/2014/main" id="{0A6AE5D3-4F16-48A6-80A5-D535467D4F87}"/>
                </a:ext>
              </a:extLst>
            </p:cNvPr>
            <p:cNvPicPr>
              <a:picLocks noChangeAspect="1"/>
            </p:cNvPicPr>
            <p:nvPr/>
          </p:nvPicPr>
          <p:blipFill>
            <a:blip r:embed="rId3"/>
            <a:stretch>
              <a:fillRect/>
            </a:stretch>
          </p:blipFill>
          <p:spPr>
            <a:xfrm>
              <a:off x="1835696" y="2981073"/>
              <a:ext cx="1485976" cy="1314518"/>
            </a:xfrm>
            <a:prstGeom prst="rect">
              <a:avLst/>
            </a:prstGeom>
          </p:spPr>
        </p:pic>
      </p:gr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3954" y="980729"/>
            <a:ext cx="3830014" cy="3312368"/>
          </a:xfrm>
        </p:spPr>
        <p:txBody>
          <a:bodyPr rtlCol="0">
            <a:normAutofit/>
          </a:bodyPr>
          <a:lstStyle/>
          <a:p>
            <a:pPr lvl="1" eaLnBrk="1" fontAlgn="auto" hangingPunct="1">
              <a:spcAft>
                <a:spcPts val="0"/>
              </a:spcAft>
              <a:defRPr/>
            </a:pPr>
            <a:r>
              <a:rPr lang="zh-CN" altLang="en-US" sz="1800" b="1" dirty="0">
                <a:latin typeface="+mn-ea"/>
              </a:rPr>
              <a:t>被乘数</a:t>
            </a:r>
            <a:r>
              <a:rPr lang="en-US" altLang="zh-CN" sz="1800" b="1" dirty="0">
                <a:ea typeface="黑体" pitchFamily="49" charset="-122"/>
              </a:rPr>
              <a:t>X = X</a:t>
            </a:r>
            <a:r>
              <a:rPr lang="en-US" altLang="zh-CN" sz="1800" b="1" baseline="-25000" dirty="0">
                <a:ea typeface="黑体" pitchFamily="49" charset="-122"/>
              </a:rPr>
              <a:t>4</a:t>
            </a:r>
            <a:r>
              <a:rPr lang="en-US" altLang="zh-CN" sz="1800" b="1" dirty="0">
                <a:ea typeface="黑体" pitchFamily="49" charset="-122"/>
              </a:rPr>
              <a:t>X</a:t>
            </a:r>
            <a:r>
              <a:rPr lang="en-US" altLang="zh-CN" sz="1800" b="1" baseline="-25000" dirty="0">
                <a:ea typeface="黑体" pitchFamily="49" charset="-122"/>
              </a:rPr>
              <a:t>3</a:t>
            </a:r>
            <a:r>
              <a:rPr lang="en-US" altLang="zh-CN" sz="1800" b="1" dirty="0">
                <a:ea typeface="黑体" pitchFamily="49" charset="-122"/>
              </a:rPr>
              <a:t>X</a:t>
            </a:r>
            <a:r>
              <a:rPr lang="en-US" altLang="zh-CN" sz="1800" b="1" baseline="-25000" dirty="0">
                <a:ea typeface="黑体" pitchFamily="49" charset="-122"/>
              </a:rPr>
              <a:t>2</a:t>
            </a:r>
            <a:r>
              <a:rPr lang="en-US" altLang="zh-CN" sz="1800" b="1" dirty="0">
                <a:ea typeface="黑体" pitchFamily="49" charset="-122"/>
              </a:rPr>
              <a:t>X</a:t>
            </a:r>
            <a:r>
              <a:rPr lang="en-US" altLang="zh-CN" sz="1800" b="1" baseline="-25000" dirty="0">
                <a:ea typeface="黑体" pitchFamily="49" charset="-122"/>
              </a:rPr>
              <a:t>1</a:t>
            </a:r>
            <a:r>
              <a:rPr lang="en-US" altLang="zh-CN" sz="1800" b="1" dirty="0">
                <a:ea typeface="黑体" pitchFamily="49" charset="-122"/>
              </a:rPr>
              <a:t>X</a:t>
            </a:r>
            <a:r>
              <a:rPr lang="en-US" altLang="zh-CN" sz="1800" b="1" baseline="-25000" dirty="0">
                <a:ea typeface="黑体" pitchFamily="49" charset="-122"/>
              </a:rPr>
              <a:t>0</a:t>
            </a:r>
          </a:p>
          <a:p>
            <a:pPr lvl="1" eaLnBrk="1" fontAlgn="auto" hangingPunct="1">
              <a:spcAft>
                <a:spcPts val="0"/>
              </a:spcAft>
              <a:defRPr/>
            </a:pPr>
            <a:r>
              <a:rPr lang="zh-CN" altLang="en-US" sz="1800" b="1" dirty="0">
                <a:latin typeface="+mn-ea"/>
              </a:rPr>
              <a:t>乘数</a:t>
            </a:r>
            <a:r>
              <a:rPr lang="en-US" altLang="zh-CN" sz="1800" b="1" dirty="0">
                <a:ea typeface="黑体" pitchFamily="49" charset="-122"/>
              </a:rPr>
              <a:t>Y = Y</a:t>
            </a:r>
            <a:r>
              <a:rPr lang="en-US" altLang="zh-CN" sz="1800" b="1" baseline="-25000" dirty="0">
                <a:ea typeface="黑体" pitchFamily="49" charset="-122"/>
              </a:rPr>
              <a:t>4</a:t>
            </a:r>
            <a:r>
              <a:rPr lang="en-US" altLang="zh-CN" sz="1800" b="1" dirty="0">
                <a:ea typeface="黑体" pitchFamily="49" charset="-122"/>
              </a:rPr>
              <a:t>Y</a:t>
            </a:r>
            <a:r>
              <a:rPr lang="en-US" altLang="zh-CN" sz="1800" b="1" baseline="-25000" dirty="0">
                <a:ea typeface="黑体" pitchFamily="49" charset="-122"/>
              </a:rPr>
              <a:t>3</a:t>
            </a:r>
            <a:r>
              <a:rPr lang="en-US" altLang="zh-CN" sz="1800" b="1" dirty="0">
                <a:ea typeface="黑体" pitchFamily="49" charset="-122"/>
              </a:rPr>
              <a:t>Y</a:t>
            </a:r>
            <a:r>
              <a:rPr lang="en-US" altLang="zh-CN" sz="1800" b="1" baseline="-25000" dirty="0">
                <a:ea typeface="黑体" pitchFamily="49" charset="-122"/>
              </a:rPr>
              <a:t>2</a:t>
            </a:r>
            <a:r>
              <a:rPr lang="en-US" altLang="zh-CN" sz="1800" b="1" dirty="0">
                <a:ea typeface="黑体" pitchFamily="49" charset="-122"/>
              </a:rPr>
              <a:t>Y</a:t>
            </a:r>
            <a:r>
              <a:rPr lang="en-US" altLang="zh-CN" sz="1800" b="1" baseline="-25000" dirty="0">
                <a:ea typeface="黑体" pitchFamily="49" charset="-122"/>
              </a:rPr>
              <a:t>1</a:t>
            </a:r>
            <a:r>
              <a:rPr lang="en-US" altLang="zh-CN" sz="1800" b="1" dirty="0">
                <a:ea typeface="黑体" pitchFamily="49" charset="-122"/>
              </a:rPr>
              <a:t>Y</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latin typeface="+mn-ea"/>
              </a:rPr>
              <a:t>乘积</a:t>
            </a:r>
            <a:r>
              <a:rPr lang="en-US" altLang="zh-CN" sz="1800" b="1" dirty="0">
                <a:ea typeface="黑体" pitchFamily="49" charset="-122"/>
              </a:rPr>
              <a:t>P = P</a:t>
            </a:r>
            <a:r>
              <a:rPr lang="en-US" altLang="zh-CN" sz="1800" b="1" baseline="-25000" dirty="0">
                <a:ea typeface="黑体" pitchFamily="49" charset="-122"/>
              </a:rPr>
              <a:t>9</a:t>
            </a:r>
            <a:r>
              <a:rPr lang="en-US" altLang="zh-CN" sz="1800" b="1" dirty="0">
                <a:ea typeface="黑体" pitchFamily="49" charset="-122"/>
              </a:rPr>
              <a:t>P</a:t>
            </a:r>
            <a:r>
              <a:rPr lang="en-US" altLang="zh-CN" sz="1800" b="1" baseline="-25000" dirty="0">
                <a:ea typeface="黑体" pitchFamily="49" charset="-122"/>
              </a:rPr>
              <a:t>8</a:t>
            </a:r>
            <a:r>
              <a:rPr lang="en-US" altLang="zh-CN" sz="1800" b="1" dirty="0">
                <a:ea typeface="黑体" pitchFamily="49" charset="-122"/>
              </a:rPr>
              <a:t>P</a:t>
            </a:r>
            <a:r>
              <a:rPr lang="en-US" altLang="zh-CN" sz="1800" b="1" baseline="-25000" dirty="0">
                <a:ea typeface="黑体" pitchFamily="49" charset="-122"/>
              </a:rPr>
              <a:t>7</a:t>
            </a:r>
            <a:r>
              <a:rPr lang="en-US" altLang="zh-CN" sz="1800" b="1" dirty="0">
                <a:ea typeface="黑体" pitchFamily="49" charset="-122"/>
              </a:rPr>
              <a:t>P</a:t>
            </a:r>
            <a:r>
              <a:rPr lang="en-US" altLang="zh-CN" sz="1800" b="1" baseline="-25000" dirty="0">
                <a:ea typeface="黑体" pitchFamily="49" charset="-122"/>
              </a:rPr>
              <a:t>6</a:t>
            </a:r>
            <a:r>
              <a:rPr lang="en-US" altLang="zh-CN" sz="1800" b="1" dirty="0">
                <a:ea typeface="黑体" pitchFamily="49" charset="-122"/>
              </a:rPr>
              <a:t>P</a:t>
            </a:r>
            <a:r>
              <a:rPr lang="en-US" altLang="zh-CN" sz="1800" b="1" baseline="-25000" dirty="0">
                <a:ea typeface="黑体" pitchFamily="49" charset="-122"/>
              </a:rPr>
              <a:t>5</a:t>
            </a:r>
            <a:r>
              <a:rPr lang="en-US" altLang="zh-CN" sz="1800" b="1" dirty="0">
                <a:ea typeface="黑体" pitchFamily="49" charset="-122"/>
              </a:rPr>
              <a:t>P</a:t>
            </a:r>
            <a:r>
              <a:rPr lang="en-US" altLang="zh-CN" sz="1800" b="1" baseline="-25000" dirty="0">
                <a:ea typeface="黑体" pitchFamily="49" charset="-122"/>
              </a:rPr>
              <a:t>4</a:t>
            </a:r>
            <a:r>
              <a:rPr lang="en-US" altLang="zh-CN" sz="1800" b="1" dirty="0">
                <a:ea typeface="黑体" pitchFamily="49" charset="-122"/>
              </a:rPr>
              <a:t>P</a:t>
            </a:r>
            <a:r>
              <a:rPr lang="en-US" altLang="zh-CN" sz="1800" b="1" baseline="-25000" dirty="0">
                <a:ea typeface="黑体" pitchFamily="49" charset="-122"/>
              </a:rPr>
              <a:t>3</a:t>
            </a:r>
            <a:r>
              <a:rPr lang="en-US" altLang="zh-CN" sz="1800" b="1" dirty="0">
                <a:ea typeface="黑体" pitchFamily="49" charset="-122"/>
              </a:rPr>
              <a:t>P</a:t>
            </a:r>
            <a:r>
              <a:rPr lang="en-US" altLang="zh-CN" sz="1800" b="1" baseline="-25000" dirty="0">
                <a:ea typeface="黑体" pitchFamily="49" charset="-122"/>
              </a:rPr>
              <a:t>2</a:t>
            </a:r>
            <a:r>
              <a:rPr lang="en-US" altLang="zh-CN" sz="1800" b="1" dirty="0">
                <a:ea typeface="黑体" pitchFamily="49" charset="-122"/>
              </a:rPr>
              <a:t>P</a:t>
            </a:r>
            <a:r>
              <a:rPr lang="en-US" altLang="zh-CN" sz="1800" b="1" baseline="-25000" dirty="0">
                <a:ea typeface="黑体" pitchFamily="49" charset="-122"/>
              </a:rPr>
              <a:t>1</a:t>
            </a:r>
            <a:r>
              <a:rPr lang="en-US" altLang="zh-CN" sz="1800" b="1" dirty="0">
                <a:ea typeface="黑体" pitchFamily="49" charset="-122"/>
              </a:rPr>
              <a:t>P</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t>手工计算：</a:t>
            </a:r>
            <a:endParaRPr lang="en-US" altLang="zh-CN" sz="1800" b="1" dirty="0"/>
          </a:p>
          <a:p>
            <a:pPr lvl="1" eaLnBrk="1" fontAlgn="auto" hangingPunct="1">
              <a:spcAft>
                <a:spcPts val="0"/>
              </a:spcAft>
              <a:defRPr/>
            </a:pPr>
            <a:endParaRPr lang="en-US" altLang="zh-CN" sz="1800" b="1" dirty="0"/>
          </a:p>
          <a:p>
            <a:pPr lvl="1" eaLnBrk="1" fontAlgn="auto" hangingPunct="1">
              <a:spcAft>
                <a:spcPts val="0"/>
              </a:spcAft>
              <a:defRPr/>
            </a:pPr>
            <a:r>
              <a:rPr lang="zh-CN" altLang="en-US" sz="1800" b="1" dirty="0"/>
              <a:t>基本原理：采用手动乘法的方法，用大量与门阵列同时产生手动乘法中的各乘积项，同时将大量一位全加器构成全加器阵列。</a:t>
            </a:r>
            <a:endParaRPr lang="en-US" altLang="zh-CN" sz="1800" b="1" dirty="0"/>
          </a:p>
          <a:p>
            <a:pPr lvl="1" eaLnBrk="1" hangingPunct="1"/>
            <a:endParaRPr lang="en-US" altLang="zh-CN" sz="2000" b="1" dirty="0"/>
          </a:p>
        </p:txBody>
      </p:sp>
      <p:pic>
        <p:nvPicPr>
          <p:cNvPr id="13" name="图片 12">
            <a:extLst>
              <a:ext uri="{FF2B5EF4-FFF2-40B4-BE49-F238E27FC236}">
                <a16:creationId xmlns:a16="http://schemas.microsoft.com/office/drawing/2014/main" id="{EB13DA26-511B-4EC8-8B21-DB7D2104264F}"/>
              </a:ext>
            </a:extLst>
          </p:cNvPr>
          <p:cNvPicPr>
            <a:picLocks noChangeAspect="1"/>
          </p:cNvPicPr>
          <p:nvPr/>
        </p:nvPicPr>
        <p:blipFill>
          <a:blip r:embed="rId4"/>
          <a:stretch>
            <a:fillRect/>
          </a:stretch>
        </p:blipFill>
        <p:spPr>
          <a:xfrm>
            <a:off x="5220072" y="1124744"/>
            <a:ext cx="2385342" cy="1058987"/>
          </a:xfrm>
          <a:prstGeom prst="rect">
            <a:avLst/>
          </a:prstGeom>
        </p:spPr>
      </p:pic>
    </p:spTree>
    <p:extLst>
      <p:ext uri="{BB962C8B-B14F-4D97-AF65-F5344CB8AC3E}">
        <p14:creationId xmlns:p14="http://schemas.microsoft.com/office/powerpoint/2010/main" val="3102924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885CD-45FE-4C7E-BCE2-4B6C227A87D3}"/>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1052737"/>
            <a:ext cx="8229600" cy="1143000"/>
          </a:xfrm>
        </p:spPr>
        <p:txBody>
          <a:bodyPr/>
          <a:lstStyle/>
          <a:p>
            <a:pPr lvl="1"/>
            <a:r>
              <a:rPr lang="zh-CN" altLang="en-US" sz="1800" b="1" dirty="0"/>
              <a:t>（无符号）阵列乘法器的实现：</a:t>
            </a:r>
            <a:endParaRPr lang="en-US" altLang="zh-CN" sz="1800" b="1" dirty="0"/>
          </a:p>
          <a:p>
            <a:pPr lvl="2"/>
            <a:r>
              <a:rPr lang="zh-CN" altLang="en-US" sz="1600" b="1" dirty="0">
                <a:solidFill>
                  <a:srgbClr val="C00000"/>
                </a:solidFill>
              </a:rPr>
              <a:t>相加数产生电路</a:t>
            </a:r>
            <a:r>
              <a:rPr lang="zh-CN" altLang="en-US" sz="1600" b="1" dirty="0"/>
              <a:t>：</a:t>
            </a:r>
            <a:r>
              <a:rPr lang="en-US" altLang="zh-CN" sz="1600" b="1" dirty="0"/>
              <a:t>1</a:t>
            </a:r>
            <a:r>
              <a:rPr lang="zh-CN" altLang="en-US" sz="1600" b="1" dirty="0"/>
              <a:t>位乘法，得到</a:t>
            </a:r>
            <a:r>
              <a:rPr lang="en-US" altLang="zh-CN" sz="1600" b="1" dirty="0"/>
              <a:t>25</a:t>
            </a:r>
            <a:r>
              <a:rPr lang="zh-CN" altLang="en-US" sz="1600" b="1" dirty="0"/>
              <a:t>个乘积</a:t>
            </a:r>
            <a:r>
              <a:rPr lang="en-US" altLang="zh-CN" sz="1600" b="1" dirty="0" err="1"/>
              <a:t>X</a:t>
            </a:r>
            <a:r>
              <a:rPr lang="en-US" altLang="zh-CN" sz="1600" b="1" baseline="-25000" dirty="0" err="1"/>
              <a:t>i</a:t>
            </a:r>
            <a:r>
              <a:rPr lang="en-US" altLang="zh-CN" sz="1600" b="1" dirty="0" err="1"/>
              <a:t>·Y</a:t>
            </a:r>
            <a:r>
              <a:rPr lang="en-US" altLang="zh-CN" sz="1600" b="1" baseline="-25000" dirty="0" err="1"/>
              <a:t>j</a:t>
            </a:r>
            <a:r>
              <a:rPr lang="zh-CN" altLang="en-US" sz="1600" b="1" dirty="0"/>
              <a:t>，通过与门实现（</a:t>
            </a:r>
            <a:r>
              <a:rPr lang="en-US" altLang="zh-CN" sz="1600" b="1" dirty="0"/>
              <a:t>25</a:t>
            </a:r>
            <a:r>
              <a:rPr lang="zh-CN" altLang="en-US" sz="1600" b="1" dirty="0"/>
              <a:t>个与门）</a:t>
            </a:r>
            <a:endParaRPr lang="en-US" altLang="zh-CN" sz="1600" b="1" dirty="0"/>
          </a:p>
          <a:p>
            <a:pPr lvl="2"/>
            <a:r>
              <a:rPr lang="zh-CN" altLang="en-US" sz="1600" b="1" dirty="0"/>
              <a:t>行内并行，行间串行（进位链）</a:t>
            </a:r>
            <a:endParaRPr lang="zh-CN" altLang="en-US" sz="1400" b="1" dirty="0"/>
          </a:p>
        </p:txBody>
      </p:sp>
      <p:pic>
        <p:nvPicPr>
          <p:cNvPr id="5" name="图片 4">
            <a:extLst>
              <a:ext uri="{FF2B5EF4-FFF2-40B4-BE49-F238E27FC236}">
                <a16:creationId xmlns:a16="http://schemas.microsoft.com/office/drawing/2014/main" id="{BB171992-36DE-4348-BEF9-9E9E7F940B64}"/>
              </a:ext>
            </a:extLst>
          </p:cNvPr>
          <p:cNvPicPr>
            <a:picLocks noChangeAspect="1"/>
          </p:cNvPicPr>
          <p:nvPr/>
        </p:nvPicPr>
        <p:blipFill>
          <a:blip r:embed="rId2"/>
          <a:stretch>
            <a:fillRect/>
          </a:stretch>
        </p:blipFill>
        <p:spPr>
          <a:xfrm>
            <a:off x="2627784" y="2057001"/>
            <a:ext cx="3168352" cy="4463063"/>
          </a:xfrm>
          <a:prstGeom prst="rect">
            <a:avLst/>
          </a:prstGeom>
        </p:spPr>
      </p:pic>
      <p:sp>
        <p:nvSpPr>
          <p:cNvPr id="6" name="文本框 5">
            <a:extLst>
              <a:ext uri="{FF2B5EF4-FFF2-40B4-BE49-F238E27FC236}">
                <a16:creationId xmlns:a16="http://schemas.microsoft.com/office/drawing/2014/main" id="{49C0C5A2-534D-4E18-8425-AF31B089AB56}"/>
              </a:ext>
            </a:extLst>
          </p:cNvPr>
          <p:cNvSpPr txBox="1"/>
          <p:nvPr/>
        </p:nvSpPr>
        <p:spPr>
          <a:xfrm>
            <a:off x="3419872" y="6381328"/>
            <a:ext cx="1440160" cy="307777"/>
          </a:xfrm>
          <a:prstGeom prst="rect">
            <a:avLst/>
          </a:prstGeom>
          <a:noFill/>
        </p:spPr>
        <p:txBody>
          <a:bodyPr wrap="square">
            <a:spAutoFit/>
          </a:bodyPr>
          <a:lstStyle/>
          <a:p>
            <a:r>
              <a:rPr lang="zh-CN" altLang="en-US" sz="1400" b="1" dirty="0"/>
              <a:t>相加数产生电路</a:t>
            </a:r>
            <a:endParaRPr lang="zh-CN" altLang="en-US" sz="1400" dirty="0"/>
          </a:p>
        </p:txBody>
      </p:sp>
    </p:spTree>
    <p:extLst>
      <p:ext uri="{BB962C8B-B14F-4D97-AF65-F5344CB8AC3E}">
        <p14:creationId xmlns:p14="http://schemas.microsoft.com/office/powerpoint/2010/main" val="37396826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6C9F76C9-D239-4B2A-A420-B9B6407DB82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242794" y="1078528"/>
            <a:ext cx="8229600" cy="4525963"/>
          </a:xfrm>
        </p:spPr>
        <p:txBody>
          <a:bodyPr/>
          <a:lstStyle/>
          <a:p>
            <a:pPr lvl="2"/>
            <a:r>
              <a:rPr lang="en-US" altLang="zh-CN" sz="1600" b="1" dirty="0">
                <a:effectLst>
                  <a:outerShdw blurRad="38100" dist="38100" dir="2700000" algn="tl">
                    <a:srgbClr val="000000">
                      <a:alpha val="43137"/>
                    </a:srgbClr>
                  </a:outerShdw>
                </a:effectLst>
              </a:rPr>
              <a:t>【HDL</a:t>
            </a:r>
            <a:r>
              <a:rPr lang="zh-CN" altLang="en-US" sz="1600" b="1" dirty="0">
                <a:effectLst>
                  <a:outerShdw blurRad="38100" dist="38100" dir="2700000" algn="tl">
                    <a:srgbClr val="000000">
                      <a:alpha val="43137"/>
                    </a:srgbClr>
                  </a:outerShdw>
                </a:effectLst>
              </a:rPr>
              <a:t>系列</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乘法器</a:t>
            </a:r>
            <a:r>
              <a:rPr lang="en-US" altLang="zh-CN" sz="1600" b="1" dirty="0">
                <a:effectLst>
                  <a:outerShdw blurRad="38100" dist="38100" dir="2700000" algn="tl">
                    <a:srgbClr val="000000">
                      <a:alpha val="43137"/>
                    </a:srgbClr>
                  </a:outerShdw>
                </a:effectLst>
              </a:rPr>
              <a:t>(2)——</a:t>
            </a:r>
            <a:r>
              <a:rPr lang="zh-CN" altLang="en-US" sz="1600" b="1" dirty="0">
                <a:effectLst>
                  <a:outerShdw blurRad="38100" dist="38100" dir="2700000" algn="tl">
                    <a:srgbClr val="000000">
                      <a:alpha val="43137"/>
                    </a:srgbClr>
                  </a:outerShdw>
                </a:effectLst>
              </a:rPr>
              <a:t>阵列乘法器 </a:t>
            </a:r>
            <a:r>
              <a:rPr lang="en-US" altLang="zh-CN" sz="1600" b="1" dirty="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知乎</a:t>
            </a:r>
          </a:p>
          <a:p>
            <a:pPr lvl="2"/>
            <a:r>
              <a:rPr lang="en-US" altLang="zh-CN" sz="1600" b="1" dirty="0">
                <a:effectLst>
                  <a:outerShdw blurRad="38100" dist="38100" dir="2700000" algn="tl">
                    <a:srgbClr val="000000">
                      <a:alpha val="43137"/>
                    </a:srgbClr>
                  </a:outerShdw>
                </a:effectLst>
              </a:rPr>
              <a:t>https://zhuanlan.zhihu.com/p/119444283</a:t>
            </a:r>
          </a:p>
          <a:p>
            <a:pPr lvl="2"/>
            <a:r>
              <a:rPr lang="zh-CN" altLang="en-US" sz="1600" b="1" dirty="0"/>
              <a:t>方法一：</a:t>
            </a:r>
            <a:r>
              <a:rPr lang="zh-CN" altLang="en-US" sz="1600" b="1" dirty="0">
                <a:solidFill>
                  <a:srgbClr val="C00000"/>
                </a:solidFill>
              </a:rPr>
              <a:t>横向进位无符号阵列乘法器</a:t>
            </a:r>
            <a:endParaRPr lang="en-US" altLang="zh-CN" sz="1600" b="1" dirty="0">
              <a:solidFill>
                <a:srgbClr val="C00000"/>
              </a:solidFill>
            </a:endParaRPr>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20=n</a:t>
            </a:r>
            <a:r>
              <a:rPr lang="en-US" altLang="zh-CN" sz="1400" b="1" dirty="0">
                <a:solidFill>
                  <a:srgbClr val="333333"/>
                </a:solidFill>
                <a:latin typeface="PingFang SC"/>
              </a:rPr>
              <a:t>*(n-1)</a:t>
            </a:r>
            <a:r>
              <a:rPr lang="zh-CN" altLang="en-US" sz="1400" b="1" i="0" dirty="0">
                <a:solidFill>
                  <a:srgbClr val="333333"/>
                </a:solidFill>
                <a:effectLst/>
                <a:latin typeface="PingFang SC"/>
              </a:rPr>
              <a:t>个</a:t>
            </a:r>
            <a:endParaRPr lang="zh-CN" altLang="en-US" sz="1000" b="1" dirty="0"/>
          </a:p>
        </p:txBody>
      </p:sp>
      <p:pic>
        <p:nvPicPr>
          <p:cNvPr id="4" name="图片 3">
            <a:extLst>
              <a:ext uri="{FF2B5EF4-FFF2-40B4-BE49-F238E27FC236}">
                <a16:creationId xmlns:a16="http://schemas.microsoft.com/office/drawing/2014/main" id="{211AF949-5C53-44C7-ADC2-6AA35B61A5D0}"/>
              </a:ext>
            </a:extLst>
          </p:cNvPr>
          <p:cNvPicPr>
            <a:picLocks noChangeAspect="1"/>
          </p:cNvPicPr>
          <p:nvPr/>
        </p:nvPicPr>
        <p:blipFill>
          <a:blip r:embed="rId2"/>
          <a:stretch>
            <a:fillRect/>
          </a:stretch>
        </p:blipFill>
        <p:spPr>
          <a:xfrm>
            <a:off x="1743654" y="2307902"/>
            <a:ext cx="6537769" cy="3863674"/>
          </a:xfrm>
          <a:prstGeom prst="rect">
            <a:avLst/>
          </a:prstGeom>
        </p:spPr>
      </p:pic>
      <p:pic>
        <p:nvPicPr>
          <p:cNvPr id="5" name="图片 4">
            <a:extLst>
              <a:ext uri="{FF2B5EF4-FFF2-40B4-BE49-F238E27FC236}">
                <a16:creationId xmlns:a16="http://schemas.microsoft.com/office/drawing/2014/main" id="{9D47C7AE-109F-425E-93AE-71A5493E1B12}"/>
              </a:ext>
            </a:extLst>
          </p:cNvPr>
          <p:cNvPicPr>
            <a:picLocks noChangeAspect="1"/>
          </p:cNvPicPr>
          <p:nvPr/>
        </p:nvPicPr>
        <p:blipFill>
          <a:blip r:embed="rId3"/>
          <a:stretch>
            <a:fillRect/>
          </a:stretch>
        </p:blipFill>
        <p:spPr>
          <a:xfrm>
            <a:off x="1331640" y="2746884"/>
            <a:ext cx="1606530" cy="1189249"/>
          </a:xfrm>
          <a:prstGeom prst="rect">
            <a:avLst/>
          </a:prstGeom>
        </p:spPr>
      </p:pic>
      <p:sp>
        <p:nvSpPr>
          <p:cNvPr id="6" name="文本框 5">
            <a:extLst>
              <a:ext uri="{FF2B5EF4-FFF2-40B4-BE49-F238E27FC236}">
                <a16:creationId xmlns:a16="http://schemas.microsoft.com/office/drawing/2014/main" id="{9F3853F6-0520-47D4-9897-BA34A8306274}"/>
              </a:ext>
            </a:extLst>
          </p:cNvPr>
          <p:cNvSpPr txBox="1"/>
          <p:nvPr/>
        </p:nvSpPr>
        <p:spPr>
          <a:xfrm>
            <a:off x="3720979" y="6254492"/>
            <a:ext cx="2880320" cy="307777"/>
          </a:xfrm>
          <a:prstGeom prst="rect">
            <a:avLst/>
          </a:prstGeom>
          <a:noFill/>
        </p:spPr>
        <p:txBody>
          <a:bodyPr wrap="square">
            <a:spAutoFit/>
          </a:bodyPr>
          <a:lstStyle/>
          <a:p>
            <a:r>
              <a:rPr lang="zh-CN" altLang="en-US" sz="1400" b="1" dirty="0"/>
              <a:t>横向进位无符号阵列乘法器</a:t>
            </a:r>
            <a:endParaRPr lang="zh-CN" altLang="en-US" sz="1400" dirty="0"/>
          </a:p>
        </p:txBody>
      </p:sp>
      <p:sp>
        <p:nvSpPr>
          <p:cNvPr id="2" name="椭圆 1">
            <a:extLst>
              <a:ext uri="{FF2B5EF4-FFF2-40B4-BE49-F238E27FC236}">
                <a16:creationId xmlns:a16="http://schemas.microsoft.com/office/drawing/2014/main" id="{3941F394-63BB-42E6-903B-2256C507F248}"/>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C5D04350-B72E-41D5-BDF3-260B7D238367}"/>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CF28BA-DBD7-4126-AF32-E2CD7F8C9DDF}"/>
              </a:ext>
            </a:extLst>
          </p:cNvPr>
          <p:cNvCxnSpPr>
            <a:cxnSpLocks/>
          </p:cNvCxnSpPr>
          <p:nvPr/>
        </p:nvCxnSpPr>
        <p:spPr>
          <a:xfrm flipH="1">
            <a:off x="7517757" y="601334"/>
            <a:ext cx="279644" cy="3267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DADAC7A7-6C7B-46A8-BA6A-C90A2C4D0CD4}"/>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F805EBEF-60BA-48B3-B21D-37EDF4A52D41}"/>
              </a:ext>
            </a:extLst>
          </p:cNvPr>
          <p:cNvCxnSpPr>
            <a:cxnSpLocks/>
            <a:endCxn id="2"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906FF871-5ED9-4028-8727-4237DABCE46F}"/>
              </a:ext>
            </a:extLst>
          </p:cNvPr>
          <p:cNvCxnSpPr>
            <a:cxnSpLocks/>
          </p:cNvCxnSpPr>
          <p:nvPr/>
        </p:nvCxnSpPr>
        <p:spPr>
          <a:xfrm flipH="1">
            <a:off x="6516216" y="1189944"/>
            <a:ext cx="504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文本框 15">
            <a:extLst>
              <a:ext uri="{FF2B5EF4-FFF2-40B4-BE49-F238E27FC236}">
                <a16:creationId xmlns:a16="http://schemas.microsoft.com/office/drawing/2014/main" id="{3B881BC2-49FC-446C-B363-E4BBE38A7D05}"/>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7" name="文本框 16">
            <a:extLst>
              <a:ext uri="{FF2B5EF4-FFF2-40B4-BE49-F238E27FC236}">
                <a16:creationId xmlns:a16="http://schemas.microsoft.com/office/drawing/2014/main" id="{E9FF9374-9986-447C-9E2D-F64A5B64EA4D}"/>
              </a:ext>
            </a:extLst>
          </p:cNvPr>
          <p:cNvSpPr txBox="1"/>
          <p:nvPr/>
        </p:nvSpPr>
        <p:spPr>
          <a:xfrm>
            <a:off x="7840685" y="388343"/>
            <a:ext cx="497483" cy="369332"/>
          </a:xfrm>
          <a:prstGeom prst="rect">
            <a:avLst/>
          </a:prstGeom>
          <a:noFill/>
        </p:spPr>
        <p:txBody>
          <a:bodyPr wrap="square" rtlCol="0">
            <a:spAutoFit/>
          </a:bodyPr>
          <a:lstStyle/>
          <a:p>
            <a:r>
              <a:rPr lang="en-US" altLang="zh-CN" dirty="0"/>
              <a:t>Yi</a:t>
            </a:r>
            <a:endParaRPr lang="zh-CN" altLang="en-US" dirty="0"/>
          </a:p>
        </p:txBody>
      </p:sp>
      <p:sp>
        <p:nvSpPr>
          <p:cNvPr id="18" name="文本框 17">
            <a:extLst>
              <a:ext uri="{FF2B5EF4-FFF2-40B4-BE49-F238E27FC236}">
                <a16:creationId xmlns:a16="http://schemas.microsoft.com/office/drawing/2014/main" id="{B5807DD8-8207-4548-BA0B-C09ABAB3ACC4}"/>
              </a:ext>
            </a:extLst>
          </p:cNvPr>
          <p:cNvSpPr txBox="1"/>
          <p:nvPr/>
        </p:nvSpPr>
        <p:spPr>
          <a:xfrm>
            <a:off x="8136340" y="1005278"/>
            <a:ext cx="576065" cy="369332"/>
          </a:xfrm>
          <a:prstGeom prst="rect">
            <a:avLst/>
          </a:prstGeom>
          <a:noFill/>
        </p:spPr>
        <p:txBody>
          <a:bodyPr wrap="square" rtlCol="0">
            <a:spAutoFit/>
          </a:bodyPr>
          <a:lstStyle/>
          <a:p>
            <a:r>
              <a:rPr lang="en-US" altLang="zh-CN" dirty="0"/>
              <a:t>Ci-1</a:t>
            </a:r>
            <a:endParaRPr lang="zh-CN" altLang="en-US" dirty="0"/>
          </a:p>
        </p:txBody>
      </p:sp>
      <p:sp>
        <p:nvSpPr>
          <p:cNvPr id="19" name="文本框 18">
            <a:extLst>
              <a:ext uri="{FF2B5EF4-FFF2-40B4-BE49-F238E27FC236}">
                <a16:creationId xmlns:a16="http://schemas.microsoft.com/office/drawing/2014/main" id="{D20913D2-A0ED-42F3-8631-34E93981B407}"/>
              </a:ext>
            </a:extLst>
          </p:cNvPr>
          <p:cNvSpPr txBox="1"/>
          <p:nvPr/>
        </p:nvSpPr>
        <p:spPr>
          <a:xfrm>
            <a:off x="6143108" y="1005278"/>
            <a:ext cx="458191" cy="369332"/>
          </a:xfrm>
          <a:prstGeom prst="rect">
            <a:avLst/>
          </a:prstGeom>
          <a:noFill/>
        </p:spPr>
        <p:txBody>
          <a:bodyPr wrap="square" rtlCol="0">
            <a:spAutoFit/>
          </a:bodyPr>
          <a:lstStyle/>
          <a:p>
            <a:r>
              <a:rPr lang="en-US" altLang="zh-CN" dirty="0"/>
              <a:t>Ci</a:t>
            </a:r>
            <a:endParaRPr lang="zh-CN" altLang="en-US" dirty="0"/>
          </a:p>
        </p:txBody>
      </p:sp>
      <p:sp>
        <p:nvSpPr>
          <p:cNvPr id="20" name="文本框 19">
            <a:extLst>
              <a:ext uri="{FF2B5EF4-FFF2-40B4-BE49-F238E27FC236}">
                <a16:creationId xmlns:a16="http://schemas.microsoft.com/office/drawing/2014/main" id="{6BC6A5F6-299A-4805-9E5A-BDB4A91A9B40}"/>
              </a:ext>
            </a:extLst>
          </p:cNvPr>
          <p:cNvSpPr txBox="1"/>
          <p:nvPr/>
        </p:nvSpPr>
        <p:spPr>
          <a:xfrm>
            <a:off x="7186536" y="1740582"/>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368537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623107F0-5C16-422F-BCF5-6E06BF81824B}"/>
              </a:ext>
            </a:extLst>
          </p:cNvPr>
          <p:cNvGrpSpPr/>
          <p:nvPr/>
        </p:nvGrpSpPr>
        <p:grpSpPr>
          <a:xfrm>
            <a:off x="251521" y="1700808"/>
            <a:ext cx="8556073" cy="3746462"/>
            <a:chOff x="251521" y="1700808"/>
            <a:chExt cx="8556073" cy="3746462"/>
          </a:xfrm>
        </p:grpSpPr>
        <p:grpSp>
          <p:nvGrpSpPr>
            <p:cNvPr id="4" name="组合 3">
              <a:extLst>
                <a:ext uri="{FF2B5EF4-FFF2-40B4-BE49-F238E27FC236}">
                  <a16:creationId xmlns:a16="http://schemas.microsoft.com/office/drawing/2014/main" id="{8ACA9F4C-B4FA-44BF-A25F-172E157C96E4}"/>
                </a:ext>
              </a:extLst>
            </p:cNvPr>
            <p:cNvGrpSpPr/>
            <p:nvPr/>
          </p:nvGrpSpPr>
          <p:grpSpPr>
            <a:xfrm>
              <a:off x="323528" y="1844824"/>
              <a:ext cx="8484066" cy="3602446"/>
              <a:chOff x="1368182" y="1266714"/>
              <a:chExt cx="9455636" cy="4324572"/>
            </a:xfrm>
          </p:grpSpPr>
          <p:pic>
            <p:nvPicPr>
              <p:cNvPr id="5" name="图片 4">
                <a:extLst>
                  <a:ext uri="{FF2B5EF4-FFF2-40B4-BE49-F238E27FC236}">
                    <a16:creationId xmlns:a16="http://schemas.microsoft.com/office/drawing/2014/main" id="{50AF905B-227A-4BEF-86D6-F2E4433AD570}"/>
                  </a:ext>
                </a:extLst>
              </p:cNvPr>
              <p:cNvPicPr>
                <a:picLocks noChangeAspect="1"/>
              </p:cNvPicPr>
              <p:nvPr/>
            </p:nvPicPr>
            <p:blipFill>
              <a:blip r:embed="rId2"/>
              <a:stretch>
                <a:fillRect/>
              </a:stretch>
            </p:blipFill>
            <p:spPr>
              <a:xfrm>
                <a:off x="1368182" y="1266714"/>
                <a:ext cx="9455636" cy="4324572"/>
              </a:xfrm>
              <a:prstGeom prst="rect">
                <a:avLst/>
              </a:prstGeom>
            </p:spPr>
          </p:pic>
          <p:sp>
            <p:nvSpPr>
              <p:cNvPr id="6" name="文本框 5">
                <a:extLst>
                  <a:ext uri="{FF2B5EF4-FFF2-40B4-BE49-F238E27FC236}">
                    <a16:creationId xmlns:a16="http://schemas.microsoft.com/office/drawing/2014/main" id="{554F2938-93B0-42B6-9A6A-FCDB6D1F485D}"/>
                  </a:ext>
                </a:extLst>
              </p:cNvPr>
              <p:cNvSpPr txBox="1"/>
              <p:nvPr/>
            </p:nvSpPr>
            <p:spPr>
              <a:xfrm>
                <a:off x="1368182" y="1659792"/>
                <a:ext cx="3270859" cy="369332"/>
              </a:xfrm>
              <a:prstGeom prst="rect">
                <a:avLst/>
              </a:prstGeom>
              <a:solidFill>
                <a:srgbClr val="FFFF00"/>
              </a:solidFill>
            </p:spPr>
            <p:txBody>
              <a:bodyPr wrap="square">
                <a:spAutoFit/>
              </a:bodyPr>
              <a:lstStyle/>
              <a:p>
                <a:r>
                  <a:rPr lang="en-US" altLang="zh-CN" sz="1800" b="1" dirty="0"/>
                  <a:t>5</a:t>
                </a:r>
                <a:r>
                  <a:rPr lang="zh-CN" altLang="en-US" sz="1800" b="1" dirty="0"/>
                  <a:t>位无符号阵列乘法器（横向）</a:t>
                </a:r>
                <a:endParaRPr lang="zh-CN" altLang="en-US" dirty="0"/>
              </a:p>
            </p:txBody>
          </p:sp>
        </p:grpSp>
        <p:pic>
          <p:nvPicPr>
            <p:cNvPr id="8" name="图片 7">
              <a:extLst>
                <a:ext uri="{FF2B5EF4-FFF2-40B4-BE49-F238E27FC236}">
                  <a16:creationId xmlns:a16="http://schemas.microsoft.com/office/drawing/2014/main" id="{F32C2D68-86DB-416D-AC8F-ED1E35883BEE}"/>
                </a:ext>
              </a:extLst>
            </p:cNvPr>
            <p:cNvPicPr>
              <a:picLocks noChangeAspect="1"/>
            </p:cNvPicPr>
            <p:nvPr/>
          </p:nvPicPr>
          <p:blipFill>
            <a:blip r:embed="rId3"/>
            <a:stretch>
              <a:fillRect/>
            </a:stretch>
          </p:blipFill>
          <p:spPr>
            <a:xfrm>
              <a:off x="251521" y="1700808"/>
              <a:ext cx="3312368" cy="853430"/>
            </a:xfrm>
            <a:prstGeom prst="rect">
              <a:avLst/>
            </a:prstGeom>
          </p:spPr>
        </p:pic>
        <p:pic>
          <p:nvPicPr>
            <p:cNvPr id="9" name="图片 8">
              <a:extLst>
                <a:ext uri="{FF2B5EF4-FFF2-40B4-BE49-F238E27FC236}">
                  <a16:creationId xmlns:a16="http://schemas.microsoft.com/office/drawing/2014/main" id="{F569C0D8-E9FA-430B-B73B-8B09229413F3}"/>
                </a:ext>
              </a:extLst>
            </p:cNvPr>
            <p:cNvPicPr>
              <a:picLocks noChangeAspect="1"/>
            </p:cNvPicPr>
            <p:nvPr/>
          </p:nvPicPr>
          <p:blipFill>
            <a:blip r:embed="rId3"/>
            <a:stretch>
              <a:fillRect/>
            </a:stretch>
          </p:blipFill>
          <p:spPr>
            <a:xfrm>
              <a:off x="283321" y="2132856"/>
              <a:ext cx="1071735" cy="853430"/>
            </a:xfrm>
            <a:prstGeom prst="rect">
              <a:avLst/>
            </a:prstGeom>
          </p:spPr>
        </p:pic>
      </p:grpSp>
      <p:sp>
        <p:nvSpPr>
          <p:cNvPr id="11" name="文本框 10">
            <a:extLst>
              <a:ext uri="{FF2B5EF4-FFF2-40B4-BE49-F238E27FC236}">
                <a16:creationId xmlns:a16="http://schemas.microsoft.com/office/drawing/2014/main" id="{28FCBA5C-F9B7-4178-8AF7-A058DDE9C263}"/>
              </a:ext>
            </a:extLst>
          </p:cNvPr>
          <p:cNvSpPr txBox="1"/>
          <p:nvPr/>
        </p:nvSpPr>
        <p:spPr>
          <a:xfrm>
            <a:off x="2123728"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无符号阵列乘法器（横向进位）</a:t>
            </a:r>
            <a:endParaRPr lang="zh-CN" altLang="en-US" b="1" dirty="0"/>
          </a:p>
        </p:txBody>
      </p:sp>
      <p:sp>
        <p:nvSpPr>
          <p:cNvPr id="2" name="文本框 1">
            <a:extLst>
              <a:ext uri="{FF2B5EF4-FFF2-40B4-BE49-F238E27FC236}">
                <a16:creationId xmlns:a16="http://schemas.microsoft.com/office/drawing/2014/main" id="{0ED42370-E944-67F8-6430-1218B48797DF}"/>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35904580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C4E6E-A497-4A63-8F1E-85DA7ED82FD7}"/>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pic>
        <p:nvPicPr>
          <p:cNvPr id="5" name="图片 4">
            <a:extLst>
              <a:ext uri="{FF2B5EF4-FFF2-40B4-BE49-F238E27FC236}">
                <a16:creationId xmlns:a16="http://schemas.microsoft.com/office/drawing/2014/main" id="{C830CBEE-E0E7-43F4-B7EE-C269A1AE4638}"/>
              </a:ext>
            </a:extLst>
          </p:cNvPr>
          <p:cNvPicPr>
            <a:picLocks noChangeAspect="1"/>
          </p:cNvPicPr>
          <p:nvPr/>
        </p:nvPicPr>
        <p:blipFill>
          <a:blip r:embed="rId2"/>
          <a:stretch>
            <a:fillRect/>
          </a:stretch>
        </p:blipFill>
        <p:spPr>
          <a:xfrm>
            <a:off x="1641920" y="2362709"/>
            <a:ext cx="6602293" cy="4134102"/>
          </a:xfrm>
          <a:prstGeom prst="rect">
            <a:avLst/>
          </a:prstGeom>
        </p:spPr>
      </p:pic>
      <p:sp>
        <p:nvSpPr>
          <p:cNvPr id="6" name="文本框 5">
            <a:extLst>
              <a:ext uri="{FF2B5EF4-FFF2-40B4-BE49-F238E27FC236}">
                <a16:creationId xmlns:a16="http://schemas.microsoft.com/office/drawing/2014/main" id="{893EF90E-FA03-475F-909C-8F2D253DA507}"/>
              </a:ext>
            </a:extLst>
          </p:cNvPr>
          <p:cNvSpPr txBox="1"/>
          <p:nvPr/>
        </p:nvSpPr>
        <p:spPr>
          <a:xfrm>
            <a:off x="3581687" y="6420807"/>
            <a:ext cx="3096344" cy="307777"/>
          </a:xfrm>
          <a:prstGeom prst="rect">
            <a:avLst/>
          </a:prstGeom>
          <a:noFill/>
        </p:spPr>
        <p:txBody>
          <a:bodyPr wrap="square">
            <a:spAutoFit/>
          </a:bodyPr>
          <a:lstStyle/>
          <a:p>
            <a:r>
              <a:rPr lang="zh-CN" altLang="en-US" sz="1400" b="1" dirty="0"/>
              <a:t>图</a:t>
            </a:r>
            <a:r>
              <a:rPr lang="en-US" altLang="zh-CN" sz="1400" b="1" dirty="0"/>
              <a:t>3.13    </a:t>
            </a:r>
            <a:r>
              <a:rPr lang="zh-CN" altLang="en-US" sz="1400" b="1" dirty="0"/>
              <a:t>斜向进位无符号阵列乘法器</a:t>
            </a:r>
            <a:endParaRPr lang="zh-CN" altLang="en-US" sz="1400" dirty="0"/>
          </a:p>
        </p:txBody>
      </p:sp>
      <p:sp>
        <p:nvSpPr>
          <p:cNvPr id="7" name="椭圆 6">
            <a:extLst>
              <a:ext uri="{FF2B5EF4-FFF2-40B4-BE49-F238E27FC236}">
                <a16:creationId xmlns:a16="http://schemas.microsoft.com/office/drawing/2014/main" id="{336D0C73-4C59-4FA3-87E8-11B8131B8463}"/>
              </a:ext>
            </a:extLst>
          </p:cNvPr>
          <p:cNvSpPr/>
          <p:nvPr/>
        </p:nvSpPr>
        <p:spPr>
          <a:xfrm>
            <a:off x="1475656" y="3475055"/>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ACC3764F-5235-46FE-9402-4DE95EA5B02D}"/>
              </a:ext>
            </a:extLst>
          </p:cNvPr>
          <p:cNvCxnSpPr/>
          <p:nvPr/>
        </p:nvCxnSpPr>
        <p:spPr>
          <a:xfrm>
            <a:off x="1785441" y="3126376"/>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234D0E-CA98-4781-9E9E-F7B7385ACE5A}"/>
              </a:ext>
            </a:extLst>
          </p:cNvPr>
          <p:cNvCxnSpPr>
            <a:cxnSpLocks/>
            <a:stCxn id="15" idx="1"/>
            <a:endCxn id="7" idx="7"/>
          </p:cNvCxnSpPr>
          <p:nvPr/>
        </p:nvCxnSpPr>
        <p:spPr>
          <a:xfrm flipH="1">
            <a:off x="2028817" y="3181688"/>
            <a:ext cx="318139" cy="379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接箭头连接符 9">
            <a:extLst>
              <a:ext uri="{FF2B5EF4-FFF2-40B4-BE49-F238E27FC236}">
                <a16:creationId xmlns:a16="http://schemas.microsoft.com/office/drawing/2014/main" id="{E35AADE4-2B80-4298-87C4-969993BA9077}"/>
              </a:ext>
            </a:extLst>
          </p:cNvPr>
          <p:cNvCxnSpPr>
            <a:cxnSpLocks/>
          </p:cNvCxnSpPr>
          <p:nvPr/>
        </p:nvCxnSpPr>
        <p:spPr>
          <a:xfrm>
            <a:off x="1787957" y="4062480"/>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0962FE99-6C94-4671-B8BF-40513DB9CB56}"/>
              </a:ext>
            </a:extLst>
          </p:cNvPr>
          <p:cNvCxnSpPr>
            <a:cxnSpLocks/>
            <a:endCxn id="7" idx="6"/>
          </p:cNvCxnSpPr>
          <p:nvPr/>
        </p:nvCxnSpPr>
        <p:spPr>
          <a:xfrm flipH="1">
            <a:off x="2123724" y="3768767"/>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23A34AE8-C499-4C3D-9B77-E93441778DD2}"/>
              </a:ext>
            </a:extLst>
          </p:cNvPr>
          <p:cNvCxnSpPr>
            <a:cxnSpLocks/>
          </p:cNvCxnSpPr>
          <p:nvPr/>
        </p:nvCxnSpPr>
        <p:spPr>
          <a:xfrm flipH="1">
            <a:off x="1337554" y="3962872"/>
            <a:ext cx="223968" cy="2493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文本框 12">
            <a:extLst>
              <a:ext uri="{FF2B5EF4-FFF2-40B4-BE49-F238E27FC236}">
                <a16:creationId xmlns:a16="http://schemas.microsoft.com/office/drawing/2014/main" id="{6E3814C2-329B-4AEE-9840-C6A57F336D2A}"/>
              </a:ext>
            </a:extLst>
          </p:cNvPr>
          <p:cNvSpPr txBox="1"/>
          <p:nvPr/>
        </p:nvSpPr>
        <p:spPr>
          <a:xfrm>
            <a:off x="1602628" y="2780404"/>
            <a:ext cx="497483" cy="369332"/>
          </a:xfrm>
          <a:prstGeom prst="rect">
            <a:avLst/>
          </a:prstGeom>
          <a:noFill/>
        </p:spPr>
        <p:txBody>
          <a:bodyPr wrap="square" rtlCol="0">
            <a:spAutoFit/>
          </a:bodyPr>
          <a:lstStyle/>
          <a:p>
            <a:r>
              <a:rPr lang="en-US" altLang="zh-CN" dirty="0"/>
              <a:t>Xi</a:t>
            </a:r>
            <a:endParaRPr lang="zh-CN" altLang="en-US" dirty="0"/>
          </a:p>
        </p:txBody>
      </p:sp>
      <p:sp>
        <p:nvSpPr>
          <p:cNvPr id="14" name="文本框 13">
            <a:extLst>
              <a:ext uri="{FF2B5EF4-FFF2-40B4-BE49-F238E27FC236}">
                <a16:creationId xmlns:a16="http://schemas.microsoft.com/office/drawing/2014/main" id="{E63BEBF2-08F4-4336-B350-BC64142187B4}"/>
              </a:ext>
            </a:extLst>
          </p:cNvPr>
          <p:cNvSpPr txBox="1"/>
          <p:nvPr/>
        </p:nvSpPr>
        <p:spPr>
          <a:xfrm>
            <a:off x="2605341" y="3593540"/>
            <a:ext cx="497483" cy="369332"/>
          </a:xfrm>
          <a:prstGeom prst="rect">
            <a:avLst/>
          </a:prstGeom>
          <a:noFill/>
        </p:spPr>
        <p:txBody>
          <a:bodyPr wrap="square" rtlCol="0">
            <a:spAutoFit/>
          </a:bodyPr>
          <a:lstStyle/>
          <a:p>
            <a:r>
              <a:rPr lang="en-US" altLang="zh-CN" dirty="0"/>
              <a:t>Yi</a:t>
            </a:r>
            <a:endParaRPr lang="zh-CN" altLang="en-US" dirty="0"/>
          </a:p>
        </p:txBody>
      </p:sp>
      <p:sp>
        <p:nvSpPr>
          <p:cNvPr id="15" name="文本框 14">
            <a:extLst>
              <a:ext uri="{FF2B5EF4-FFF2-40B4-BE49-F238E27FC236}">
                <a16:creationId xmlns:a16="http://schemas.microsoft.com/office/drawing/2014/main" id="{153DA015-950E-4EBF-B527-6F8FE376EE04}"/>
              </a:ext>
            </a:extLst>
          </p:cNvPr>
          <p:cNvSpPr txBox="1"/>
          <p:nvPr/>
        </p:nvSpPr>
        <p:spPr>
          <a:xfrm>
            <a:off x="2346956" y="2997022"/>
            <a:ext cx="576065" cy="369332"/>
          </a:xfrm>
          <a:prstGeom prst="rect">
            <a:avLst/>
          </a:prstGeom>
          <a:noFill/>
        </p:spPr>
        <p:txBody>
          <a:bodyPr wrap="square" rtlCol="0">
            <a:spAutoFit/>
          </a:bodyPr>
          <a:lstStyle/>
          <a:p>
            <a:r>
              <a:rPr lang="en-US" altLang="zh-CN" dirty="0"/>
              <a:t>Ci-1</a:t>
            </a:r>
            <a:endParaRPr lang="zh-CN" altLang="en-US" dirty="0"/>
          </a:p>
        </p:txBody>
      </p:sp>
      <p:sp>
        <p:nvSpPr>
          <p:cNvPr id="16" name="文本框 15">
            <a:extLst>
              <a:ext uri="{FF2B5EF4-FFF2-40B4-BE49-F238E27FC236}">
                <a16:creationId xmlns:a16="http://schemas.microsoft.com/office/drawing/2014/main" id="{6650624C-1D38-4280-88CB-91E42E82ABBF}"/>
              </a:ext>
            </a:extLst>
          </p:cNvPr>
          <p:cNvSpPr txBox="1"/>
          <p:nvPr/>
        </p:nvSpPr>
        <p:spPr>
          <a:xfrm>
            <a:off x="1000388" y="4060428"/>
            <a:ext cx="458191" cy="369332"/>
          </a:xfrm>
          <a:prstGeom prst="rect">
            <a:avLst/>
          </a:prstGeom>
          <a:noFill/>
        </p:spPr>
        <p:txBody>
          <a:bodyPr wrap="square" rtlCol="0">
            <a:spAutoFit/>
          </a:bodyPr>
          <a:lstStyle/>
          <a:p>
            <a:r>
              <a:rPr lang="en-US" altLang="zh-CN" dirty="0"/>
              <a:t>Ci</a:t>
            </a:r>
            <a:endParaRPr lang="zh-CN" altLang="en-US" dirty="0"/>
          </a:p>
        </p:txBody>
      </p:sp>
      <p:sp>
        <p:nvSpPr>
          <p:cNvPr id="21" name="矩形 20">
            <a:extLst>
              <a:ext uri="{FF2B5EF4-FFF2-40B4-BE49-F238E27FC236}">
                <a16:creationId xmlns:a16="http://schemas.microsoft.com/office/drawing/2014/main" id="{CDEDAF98-715B-40F4-BD93-581461AA770B}"/>
              </a:ext>
            </a:extLst>
          </p:cNvPr>
          <p:cNvSpPr/>
          <p:nvPr/>
        </p:nvSpPr>
        <p:spPr>
          <a:xfrm>
            <a:off x="2638128" y="5373216"/>
            <a:ext cx="3312368" cy="4935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BF4627E-82D2-49CA-B7D9-12C8FB5E8E2C}"/>
              </a:ext>
            </a:extLst>
          </p:cNvPr>
          <p:cNvSpPr txBox="1"/>
          <p:nvPr/>
        </p:nvSpPr>
        <p:spPr>
          <a:xfrm>
            <a:off x="1641920" y="4280573"/>
            <a:ext cx="458191" cy="369332"/>
          </a:xfrm>
          <a:prstGeom prst="rect">
            <a:avLst/>
          </a:prstGeom>
          <a:noFill/>
        </p:spPr>
        <p:txBody>
          <a:bodyPr wrap="square" rtlCol="0">
            <a:spAutoFit/>
          </a:bodyPr>
          <a:lstStyle/>
          <a:p>
            <a:r>
              <a:rPr lang="en-US" altLang="zh-CN" dirty="0"/>
              <a:t>Si</a:t>
            </a: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107504" y="830855"/>
            <a:ext cx="8229600" cy="1704277"/>
          </a:xfrm>
        </p:spPr>
        <p:txBody>
          <a:bodyPr/>
          <a:lstStyle/>
          <a:p>
            <a:pPr lvl="2"/>
            <a:r>
              <a:rPr lang="zh-CN" altLang="en-US" sz="1800" b="1" dirty="0"/>
              <a:t>方法二：</a:t>
            </a:r>
            <a:r>
              <a:rPr lang="zh-CN" altLang="en-US" sz="1800" b="1" dirty="0">
                <a:solidFill>
                  <a:srgbClr val="C00000"/>
                </a:solidFill>
              </a:rPr>
              <a:t>斜向进位无符号阵列乘法器</a:t>
            </a:r>
            <a:r>
              <a:rPr lang="zh-CN" altLang="en-US" sz="1800" b="1" dirty="0"/>
              <a:t>（教材图</a:t>
            </a:r>
            <a:r>
              <a:rPr lang="en-US" altLang="zh-CN" sz="1800" b="1" dirty="0"/>
              <a:t>3.13</a:t>
            </a:r>
            <a:r>
              <a:rPr lang="zh-CN" altLang="en-US" sz="1800" b="1" dirty="0"/>
              <a:t>）</a:t>
            </a:r>
            <a:endParaRPr lang="en-US" altLang="zh-CN" sz="1800" b="1" dirty="0"/>
          </a:p>
          <a:p>
            <a:pPr lvl="3"/>
            <a:r>
              <a:rPr lang="zh-CN" altLang="en-US" sz="1600" b="1" dirty="0"/>
              <a:t>图中</a:t>
            </a:r>
            <a:r>
              <a:rPr lang="zh-CN" altLang="en-US" sz="1600" b="1" i="0" dirty="0">
                <a:solidFill>
                  <a:srgbClr val="FF0000"/>
                </a:solidFill>
                <a:effectLst/>
                <a:latin typeface="PingFang SC"/>
              </a:rPr>
              <a:t>⊕</a:t>
            </a:r>
            <a:r>
              <a:rPr lang="zh-CN" altLang="en-US" sz="1600" b="1" i="0" dirty="0">
                <a:solidFill>
                  <a:srgbClr val="333333"/>
                </a:solidFill>
                <a:effectLst/>
                <a:latin typeface="PingFang SC"/>
              </a:rPr>
              <a:t>为一位全加器，共</a:t>
            </a:r>
            <a:r>
              <a:rPr lang="en-US" altLang="zh-CN" sz="1600" b="1" i="0" dirty="0">
                <a:solidFill>
                  <a:srgbClr val="333333"/>
                </a:solidFill>
                <a:effectLst/>
                <a:latin typeface="PingFang SC"/>
              </a:rPr>
              <a:t>20=n*(n-1); n=5</a:t>
            </a:r>
          </a:p>
          <a:p>
            <a:pPr lvl="3"/>
            <a:r>
              <a:rPr lang="zh-CN" altLang="en-US" sz="1600" b="1" dirty="0">
                <a:solidFill>
                  <a:srgbClr val="333333"/>
                </a:solidFill>
                <a:latin typeface="PingFang SC"/>
              </a:rPr>
              <a:t>延迟时间</a:t>
            </a:r>
            <a:r>
              <a:rPr lang="en-US" altLang="zh-CN" sz="1600" b="1" dirty="0">
                <a:solidFill>
                  <a:srgbClr val="333333"/>
                </a:solidFill>
                <a:latin typeface="PingFang SC"/>
              </a:rPr>
              <a:t>=1T+(n-1)*6T+(2(n-1)+4)T=37T </a:t>
            </a:r>
            <a:r>
              <a:rPr lang="zh-CN" altLang="en-US" sz="1600" b="1" dirty="0">
                <a:solidFill>
                  <a:srgbClr val="333333"/>
                </a:solidFill>
                <a:latin typeface="PingFang SC"/>
              </a:rPr>
              <a:t>（</a:t>
            </a:r>
            <a:r>
              <a:rPr lang="zh-CN" altLang="en-US" sz="1600" b="1" dirty="0">
                <a:solidFill>
                  <a:srgbClr val="333333"/>
                </a:solidFill>
                <a:highlight>
                  <a:srgbClr val="FFFF00"/>
                </a:highlight>
                <a:latin typeface="PingFang SC"/>
              </a:rPr>
              <a:t>参教材</a:t>
            </a:r>
            <a:r>
              <a:rPr lang="en-US" altLang="zh-CN" sz="1600" b="1" dirty="0">
                <a:solidFill>
                  <a:srgbClr val="333333"/>
                </a:solidFill>
                <a:highlight>
                  <a:srgbClr val="FFFF00"/>
                </a:highlight>
                <a:latin typeface="PingFang SC"/>
              </a:rPr>
              <a:t>P65</a:t>
            </a:r>
            <a:r>
              <a:rPr lang="zh-CN" altLang="en-US" sz="1600" b="1" dirty="0">
                <a:solidFill>
                  <a:srgbClr val="333333"/>
                </a:solidFill>
                <a:latin typeface="PingFang SC"/>
              </a:rPr>
              <a:t>）</a:t>
            </a:r>
            <a:endParaRPr lang="en-US" altLang="zh-CN" sz="1600" b="1" dirty="0">
              <a:solidFill>
                <a:srgbClr val="333333"/>
              </a:solidFill>
              <a:latin typeface="PingFang SC"/>
            </a:endParaRPr>
          </a:p>
          <a:p>
            <a:pPr lvl="3"/>
            <a:r>
              <a:rPr lang="en-US" altLang="zh-CN" sz="1600" b="1" dirty="0">
                <a:solidFill>
                  <a:srgbClr val="333333"/>
                </a:solidFill>
                <a:latin typeface="PingFang SC"/>
              </a:rPr>
              <a:t>6T</a:t>
            </a:r>
            <a:r>
              <a:rPr lang="zh-CN" altLang="en-US" sz="1600" b="1" dirty="0">
                <a:solidFill>
                  <a:srgbClr val="333333"/>
                </a:solidFill>
                <a:latin typeface="PingFang SC"/>
              </a:rPr>
              <a:t>：前</a:t>
            </a:r>
            <a:r>
              <a:rPr lang="en-US" altLang="zh-CN" sz="1600" b="1" dirty="0">
                <a:solidFill>
                  <a:srgbClr val="333333"/>
                </a:solidFill>
                <a:latin typeface="PingFang SC"/>
              </a:rPr>
              <a:t>4</a:t>
            </a:r>
            <a:r>
              <a:rPr lang="zh-CN" altLang="en-US" sz="1600" b="1" dirty="0">
                <a:solidFill>
                  <a:srgbClr val="333333"/>
                </a:solidFill>
                <a:latin typeface="PingFang SC"/>
              </a:rPr>
              <a:t>行中每一行全加器并行操作产生</a:t>
            </a:r>
            <a:r>
              <a:rPr lang="en-US" altLang="zh-CN" sz="1600" b="1" dirty="0">
                <a:solidFill>
                  <a:srgbClr val="333333"/>
                </a:solidFill>
                <a:latin typeface="PingFang SC"/>
              </a:rPr>
              <a:t>S</a:t>
            </a:r>
            <a:r>
              <a:rPr lang="zh-CN" altLang="en-US" sz="1600" b="1" dirty="0">
                <a:solidFill>
                  <a:srgbClr val="333333"/>
                </a:solidFill>
                <a:latin typeface="PingFang SC"/>
              </a:rPr>
              <a:t>和需要的时间延迟</a:t>
            </a:r>
            <a:endParaRPr lang="en-US" altLang="zh-CN" sz="1600" b="1" dirty="0">
              <a:solidFill>
                <a:srgbClr val="333333"/>
              </a:solidFill>
              <a:latin typeface="PingFang SC"/>
            </a:endParaRPr>
          </a:p>
          <a:p>
            <a:pPr lvl="3"/>
            <a:r>
              <a:rPr lang="en-US" altLang="zh-CN" sz="1600" b="1" dirty="0">
                <a:solidFill>
                  <a:srgbClr val="333333"/>
                </a:solidFill>
                <a:latin typeface="PingFang SC"/>
              </a:rPr>
              <a:t>(2(n-1)+4)T:</a:t>
            </a:r>
            <a:r>
              <a:rPr lang="zh-CN" altLang="en-US" sz="1600" b="1" dirty="0">
                <a:solidFill>
                  <a:srgbClr val="333333"/>
                </a:solidFill>
                <a:latin typeface="PingFang SC"/>
              </a:rPr>
              <a:t>最后一行相当于</a:t>
            </a:r>
            <a:r>
              <a:rPr lang="en-US" altLang="zh-CN" sz="1600" b="1" dirty="0">
                <a:solidFill>
                  <a:srgbClr val="333333"/>
                </a:solidFill>
                <a:latin typeface="PingFang SC"/>
              </a:rPr>
              <a:t>4</a:t>
            </a:r>
            <a:r>
              <a:rPr lang="zh-CN" altLang="en-US" sz="1600" b="1" dirty="0">
                <a:solidFill>
                  <a:srgbClr val="333333"/>
                </a:solidFill>
                <a:latin typeface="PingFang SC"/>
              </a:rPr>
              <a:t>位串行加法器，产生最终和的时间延迟</a:t>
            </a:r>
            <a:endParaRPr lang="en-US" altLang="zh-CN" sz="1600" b="1" dirty="0">
              <a:solidFill>
                <a:srgbClr val="333333"/>
              </a:solidFill>
              <a:latin typeface="PingFang SC"/>
            </a:endParaRPr>
          </a:p>
          <a:p>
            <a:pPr lvl="3"/>
            <a:endParaRPr lang="en-US" altLang="zh-CN" sz="1600" b="1" dirty="0">
              <a:solidFill>
                <a:srgbClr val="333333"/>
              </a:solidFill>
              <a:latin typeface="PingFang SC"/>
            </a:endParaRPr>
          </a:p>
          <a:p>
            <a:pPr lvl="3"/>
            <a:endParaRPr lang="en-US" altLang="zh-CN" sz="1600" b="1" i="0" dirty="0">
              <a:solidFill>
                <a:srgbClr val="333333"/>
              </a:solidFill>
              <a:effectLst/>
              <a:latin typeface="PingFang SC"/>
            </a:endParaRPr>
          </a:p>
          <a:p>
            <a:pPr lvl="3"/>
            <a:endParaRPr lang="zh-CN" altLang="en-US" sz="1050" b="1" dirty="0"/>
          </a:p>
        </p:txBody>
      </p:sp>
    </p:spTree>
    <p:extLst>
      <p:ext uri="{BB962C8B-B14F-4D97-AF65-F5344CB8AC3E}">
        <p14:creationId xmlns:p14="http://schemas.microsoft.com/office/powerpoint/2010/main" val="2473141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28FCBA5C-F9B7-4178-8AF7-A058DDE9C263}"/>
              </a:ext>
            </a:extLst>
          </p:cNvPr>
          <p:cNvSpPr txBox="1"/>
          <p:nvPr/>
        </p:nvSpPr>
        <p:spPr>
          <a:xfrm>
            <a:off x="1968562"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无符号阵列乘法器（斜向进位）</a:t>
            </a:r>
            <a:endParaRPr lang="zh-CN" altLang="en-US" b="1" dirty="0"/>
          </a:p>
        </p:txBody>
      </p:sp>
      <p:grpSp>
        <p:nvGrpSpPr>
          <p:cNvPr id="7" name="组合 6">
            <a:extLst>
              <a:ext uri="{FF2B5EF4-FFF2-40B4-BE49-F238E27FC236}">
                <a16:creationId xmlns:a16="http://schemas.microsoft.com/office/drawing/2014/main" id="{0EBC880F-32CC-41B0-8A12-DD97DDDCA987}"/>
              </a:ext>
            </a:extLst>
          </p:cNvPr>
          <p:cNvGrpSpPr/>
          <p:nvPr/>
        </p:nvGrpSpPr>
        <p:grpSpPr>
          <a:xfrm>
            <a:off x="683568" y="2060848"/>
            <a:ext cx="8014581" cy="3580527"/>
            <a:chOff x="755576" y="2103906"/>
            <a:chExt cx="8014581" cy="3580527"/>
          </a:xfrm>
        </p:grpSpPr>
        <p:pic>
          <p:nvPicPr>
            <p:cNvPr id="12" name="图片 11">
              <a:extLst>
                <a:ext uri="{FF2B5EF4-FFF2-40B4-BE49-F238E27FC236}">
                  <a16:creationId xmlns:a16="http://schemas.microsoft.com/office/drawing/2014/main" id="{5CCF3513-FD2E-4E51-BF71-FDD057BF3F62}"/>
                </a:ext>
              </a:extLst>
            </p:cNvPr>
            <p:cNvPicPr>
              <a:picLocks noChangeAspect="1"/>
            </p:cNvPicPr>
            <p:nvPr/>
          </p:nvPicPr>
          <p:blipFill>
            <a:blip r:embed="rId2"/>
            <a:stretch>
              <a:fillRect/>
            </a:stretch>
          </p:blipFill>
          <p:spPr>
            <a:xfrm>
              <a:off x="755576" y="2103906"/>
              <a:ext cx="8014581" cy="3580527"/>
            </a:xfrm>
            <a:prstGeom prst="rect">
              <a:avLst/>
            </a:prstGeom>
          </p:spPr>
        </p:pic>
        <p:pic>
          <p:nvPicPr>
            <p:cNvPr id="3" name="图片 2">
              <a:extLst>
                <a:ext uri="{FF2B5EF4-FFF2-40B4-BE49-F238E27FC236}">
                  <a16:creationId xmlns:a16="http://schemas.microsoft.com/office/drawing/2014/main" id="{44880E63-63D7-4DAE-9E0C-C2FEF3E900F7}"/>
                </a:ext>
              </a:extLst>
            </p:cNvPr>
            <p:cNvPicPr>
              <a:picLocks noChangeAspect="1"/>
            </p:cNvPicPr>
            <p:nvPr/>
          </p:nvPicPr>
          <p:blipFill>
            <a:blip r:embed="rId3"/>
            <a:stretch>
              <a:fillRect/>
            </a:stretch>
          </p:blipFill>
          <p:spPr>
            <a:xfrm>
              <a:off x="827584" y="2147937"/>
              <a:ext cx="3410125" cy="488975"/>
            </a:xfrm>
            <a:prstGeom prst="rect">
              <a:avLst/>
            </a:prstGeom>
          </p:spPr>
        </p:pic>
      </p:grpSp>
      <p:sp>
        <p:nvSpPr>
          <p:cNvPr id="2" name="文本框 1">
            <a:extLst>
              <a:ext uri="{FF2B5EF4-FFF2-40B4-BE49-F238E27FC236}">
                <a16:creationId xmlns:a16="http://schemas.microsoft.com/office/drawing/2014/main" id="{CE9A17B5-92F3-CBAD-3BED-DFEB29AD1051}"/>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055735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CA979-4139-4C1F-B613-8544079E795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endParaRPr lang="zh-CN" altLang="en-US" dirty="0"/>
          </a:p>
        </p:txBody>
      </p:sp>
      <p:sp>
        <p:nvSpPr>
          <p:cNvPr id="3" name="内容占位符 2">
            <a:extLst>
              <a:ext uri="{FF2B5EF4-FFF2-40B4-BE49-F238E27FC236}">
                <a16:creationId xmlns:a16="http://schemas.microsoft.com/office/drawing/2014/main" id="{1CA807CC-9EA6-183D-25EA-DD0D10FA947E}"/>
              </a:ext>
            </a:extLst>
          </p:cNvPr>
          <p:cNvSpPr>
            <a:spLocks noGrp="1"/>
          </p:cNvSpPr>
          <p:nvPr>
            <p:ph idx="1"/>
          </p:nvPr>
        </p:nvSpPr>
        <p:spPr>
          <a:xfrm>
            <a:off x="455932" y="1484784"/>
            <a:ext cx="8229600" cy="4525963"/>
          </a:xfrm>
        </p:spPr>
        <p:txBody>
          <a:bodyPr/>
          <a:lstStyle/>
          <a:p>
            <a:pPr lvl="1"/>
            <a:r>
              <a:rPr lang="zh-CN" altLang="en-US" sz="2000" b="1" dirty="0"/>
              <a:t>利用前面的</a:t>
            </a:r>
            <a:r>
              <a:rPr lang="en-US" altLang="zh-CN" sz="2000" b="1" dirty="0"/>
              <a:t>5</a:t>
            </a:r>
            <a:r>
              <a:rPr lang="zh-CN" altLang="en-US" sz="2000" b="1" dirty="0"/>
              <a:t>位无符号阵列乘法器，可以实现</a:t>
            </a:r>
            <a:r>
              <a:rPr lang="en-US" altLang="zh-CN" sz="2000" b="1" dirty="0"/>
              <a:t>6</a:t>
            </a:r>
            <a:r>
              <a:rPr lang="zh-CN" altLang="en-US" sz="2000" b="1" dirty="0"/>
              <a:t>位</a:t>
            </a:r>
            <a:r>
              <a:rPr lang="zh-CN" altLang="en-US" sz="2000" b="1" dirty="0">
                <a:solidFill>
                  <a:srgbClr val="C00000"/>
                </a:solidFill>
              </a:rPr>
              <a:t>原码阵列乘法器</a:t>
            </a:r>
            <a:endParaRPr lang="en-US" altLang="zh-CN" sz="2000" b="1" dirty="0">
              <a:solidFill>
                <a:srgbClr val="C00000"/>
              </a:solidFill>
            </a:endParaRPr>
          </a:p>
          <a:p>
            <a:pPr lvl="1"/>
            <a:endParaRPr lang="en-US" altLang="zh-CN" sz="2000" b="1" dirty="0"/>
          </a:p>
          <a:p>
            <a:pPr lvl="2"/>
            <a:r>
              <a:rPr lang="zh-CN" altLang="en-US" sz="1800" b="1" dirty="0"/>
              <a:t>乘数、被除数的数值位（</a:t>
            </a:r>
            <a:r>
              <a:rPr lang="en-US" altLang="zh-CN" sz="1800" b="1" dirty="0"/>
              <a:t>5</a:t>
            </a:r>
            <a:r>
              <a:rPr lang="zh-CN" altLang="en-US" sz="1800" b="1" dirty="0"/>
              <a:t>位）送</a:t>
            </a:r>
            <a:r>
              <a:rPr lang="en-US" altLang="zh-CN" sz="1800" b="1" dirty="0"/>
              <a:t>5</a:t>
            </a:r>
            <a:r>
              <a:rPr lang="zh-CN" altLang="en-US" sz="1800" b="1" dirty="0"/>
              <a:t>位无符号阵列乘法器，得到乘积的数值位</a:t>
            </a:r>
            <a:endParaRPr lang="en-US" altLang="zh-CN" sz="1800" b="1" dirty="0"/>
          </a:p>
          <a:p>
            <a:pPr lvl="2"/>
            <a:endParaRPr lang="en-US" altLang="zh-CN" sz="1800" b="1" dirty="0"/>
          </a:p>
          <a:p>
            <a:pPr lvl="2"/>
            <a:r>
              <a:rPr lang="zh-CN" altLang="en-US" sz="1800" b="1" dirty="0"/>
              <a:t>乘数、被除数的符号位进行异或运算，得到乘积的符号位</a:t>
            </a:r>
            <a:endParaRPr lang="en-US" altLang="zh-CN" sz="1800" b="1" dirty="0"/>
          </a:p>
          <a:p>
            <a:pPr lvl="2"/>
            <a:endParaRPr lang="en-US" altLang="zh-CN" sz="1800" b="1" dirty="0"/>
          </a:p>
          <a:p>
            <a:pPr lvl="2"/>
            <a:r>
              <a:rPr lang="zh-CN" altLang="en-US" sz="1800" b="1" dirty="0"/>
              <a:t>请同学们自行设计该电路（实验二的内容）</a:t>
            </a:r>
            <a:endParaRPr lang="en-US" altLang="zh-CN" sz="1800" b="1" dirty="0"/>
          </a:p>
          <a:p>
            <a:pPr lvl="1"/>
            <a:endParaRPr lang="zh-CN" altLang="en-US" sz="1600" b="1" dirty="0"/>
          </a:p>
        </p:txBody>
      </p:sp>
    </p:spTree>
    <p:extLst>
      <p:ext uri="{BB962C8B-B14F-4D97-AF65-F5344CB8AC3E}">
        <p14:creationId xmlns:p14="http://schemas.microsoft.com/office/powerpoint/2010/main" val="3965921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F192E7-C2EB-4D07-B7AC-C6C271978E7C}"/>
              </a:ext>
            </a:extLst>
          </p:cNvPr>
          <p:cNvSpPr>
            <a:spLocks noGrp="1"/>
          </p:cNvSpPr>
          <p:nvPr>
            <p:ph type="title"/>
          </p:nvPr>
        </p:nvSpPr>
        <p:spPr>
          <a:xfrm>
            <a:off x="457200" y="48368"/>
            <a:ext cx="8229600" cy="1143000"/>
          </a:xfrm>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21957" y="846139"/>
            <a:ext cx="3009883" cy="494630"/>
          </a:xfrm>
        </p:spPr>
        <p:txBody>
          <a:bodyPr rtlCol="0">
            <a:normAutofit/>
          </a:bodyPr>
          <a:lstStyle/>
          <a:p>
            <a:pPr lvl="1" eaLnBrk="1" fontAlgn="auto" hangingPunct="1">
              <a:spcAft>
                <a:spcPts val="0"/>
              </a:spcAft>
              <a:defRPr/>
            </a:pPr>
            <a:r>
              <a:rPr lang="zh-CN" altLang="en-US" sz="2000" b="1" dirty="0">
                <a:latin typeface="+mn-ea"/>
              </a:rPr>
              <a:t>原码阵列乘法器：</a:t>
            </a:r>
            <a:endParaRPr lang="en-US" altLang="zh-CN" sz="2400" b="1" dirty="0"/>
          </a:p>
        </p:txBody>
      </p:sp>
      <p:pic>
        <p:nvPicPr>
          <p:cNvPr id="4" name="图片 3">
            <a:extLst>
              <a:ext uri="{FF2B5EF4-FFF2-40B4-BE49-F238E27FC236}">
                <a16:creationId xmlns:a16="http://schemas.microsoft.com/office/drawing/2014/main" id="{1D9A2E4F-F565-40C7-A00F-8403FEDFDDAD}"/>
              </a:ext>
            </a:extLst>
          </p:cNvPr>
          <p:cNvPicPr>
            <a:picLocks noChangeAspect="1"/>
          </p:cNvPicPr>
          <p:nvPr/>
        </p:nvPicPr>
        <p:blipFill>
          <a:blip r:embed="rId2"/>
          <a:stretch>
            <a:fillRect/>
          </a:stretch>
        </p:blipFill>
        <p:spPr>
          <a:xfrm>
            <a:off x="1626898" y="1452151"/>
            <a:ext cx="5093639" cy="2755505"/>
          </a:xfrm>
          <a:prstGeom prst="rect">
            <a:avLst/>
          </a:prstGeom>
        </p:spPr>
      </p:pic>
      <p:grpSp>
        <p:nvGrpSpPr>
          <p:cNvPr id="17" name="组合 16">
            <a:extLst>
              <a:ext uri="{FF2B5EF4-FFF2-40B4-BE49-F238E27FC236}">
                <a16:creationId xmlns:a16="http://schemas.microsoft.com/office/drawing/2014/main" id="{F5B30703-FB94-4372-9148-4B9B718E15D7}"/>
              </a:ext>
            </a:extLst>
          </p:cNvPr>
          <p:cNvGrpSpPr/>
          <p:nvPr/>
        </p:nvGrpSpPr>
        <p:grpSpPr>
          <a:xfrm>
            <a:off x="918858" y="4468439"/>
            <a:ext cx="1261884" cy="1938962"/>
            <a:chOff x="6948264" y="476672"/>
            <a:chExt cx="1261884" cy="1938962"/>
          </a:xfrm>
        </p:grpSpPr>
        <p:pic>
          <p:nvPicPr>
            <p:cNvPr id="11" name="图片 10">
              <a:extLst>
                <a:ext uri="{FF2B5EF4-FFF2-40B4-BE49-F238E27FC236}">
                  <a16:creationId xmlns:a16="http://schemas.microsoft.com/office/drawing/2014/main" id="{B351B74A-69BF-4A57-A0CA-7380D9CCDE80}"/>
                </a:ext>
              </a:extLst>
            </p:cNvPr>
            <p:cNvPicPr>
              <a:picLocks noChangeAspect="1"/>
            </p:cNvPicPr>
            <p:nvPr/>
          </p:nvPicPr>
          <p:blipFill>
            <a:blip r:embed="rId3"/>
            <a:stretch>
              <a:fillRect/>
            </a:stretch>
          </p:blipFill>
          <p:spPr>
            <a:xfrm>
              <a:off x="6948264" y="476672"/>
              <a:ext cx="1124615" cy="1584176"/>
            </a:xfrm>
            <a:prstGeom prst="rect">
              <a:avLst/>
            </a:prstGeom>
          </p:spPr>
        </p:pic>
        <p:sp>
          <p:nvSpPr>
            <p:cNvPr id="5" name="文本框 4">
              <a:extLst>
                <a:ext uri="{FF2B5EF4-FFF2-40B4-BE49-F238E27FC236}">
                  <a16:creationId xmlns:a16="http://schemas.microsoft.com/office/drawing/2014/main" id="{C56B9D24-CF7A-405B-A4F6-5CD0BFCD7B3A}"/>
                </a:ext>
              </a:extLst>
            </p:cNvPr>
            <p:cNvSpPr txBox="1"/>
            <p:nvPr/>
          </p:nvSpPr>
          <p:spPr>
            <a:xfrm>
              <a:off x="6948264" y="2138635"/>
              <a:ext cx="1261884" cy="276999"/>
            </a:xfrm>
            <a:prstGeom prst="rect">
              <a:avLst/>
            </a:prstGeom>
            <a:solidFill>
              <a:srgbClr val="FFFF00"/>
            </a:solidFill>
          </p:spPr>
          <p:txBody>
            <a:bodyPr wrap="none" rtlCol="0">
              <a:spAutoFit/>
            </a:bodyPr>
            <a:lstStyle/>
            <a:p>
              <a:r>
                <a:rPr lang="zh-CN" altLang="en-US" sz="1200" b="1" dirty="0"/>
                <a:t>相加数产生电路</a:t>
              </a:r>
            </a:p>
          </p:txBody>
        </p:sp>
      </p:grpSp>
      <p:grpSp>
        <p:nvGrpSpPr>
          <p:cNvPr id="6" name="组合 5">
            <a:extLst>
              <a:ext uri="{FF2B5EF4-FFF2-40B4-BE49-F238E27FC236}">
                <a16:creationId xmlns:a16="http://schemas.microsoft.com/office/drawing/2014/main" id="{558EC18C-1087-4A76-A942-920CABBD61B9}"/>
              </a:ext>
            </a:extLst>
          </p:cNvPr>
          <p:cNvGrpSpPr/>
          <p:nvPr/>
        </p:nvGrpSpPr>
        <p:grpSpPr>
          <a:xfrm>
            <a:off x="2997155" y="4507166"/>
            <a:ext cx="2383464" cy="1797365"/>
            <a:chOff x="6566066" y="2852936"/>
            <a:chExt cx="2383464" cy="1797365"/>
          </a:xfrm>
        </p:grpSpPr>
        <p:pic>
          <p:nvPicPr>
            <p:cNvPr id="14" name="图片 13">
              <a:extLst>
                <a:ext uri="{FF2B5EF4-FFF2-40B4-BE49-F238E27FC236}">
                  <a16:creationId xmlns:a16="http://schemas.microsoft.com/office/drawing/2014/main" id="{B7D79221-49F0-40EB-8A99-C345D49498AB}"/>
                </a:ext>
              </a:extLst>
            </p:cNvPr>
            <p:cNvPicPr>
              <a:picLocks noChangeAspect="1"/>
            </p:cNvPicPr>
            <p:nvPr/>
          </p:nvPicPr>
          <p:blipFill>
            <a:blip r:embed="rId4"/>
            <a:stretch>
              <a:fillRect/>
            </a:stretch>
          </p:blipFill>
          <p:spPr>
            <a:xfrm>
              <a:off x="6566066" y="2852936"/>
              <a:ext cx="2383464" cy="1448358"/>
            </a:xfrm>
            <a:prstGeom prst="rect">
              <a:avLst/>
            </a:prstGeom>
          </p:spPr>
        </p:pic>
        <p:sp>
          <p:nvSpPr>
            <p:cNvPr id="15" name="文本框 14">
              <a:extLst>
                <a:ext uri="{FF2B5EF4-FFF2-40B4-BE49-F238E27FC236}">
                  <a16:creationId xmlns:a16="http://schemas.microsoft.com/office/drawing/2014/main" id="{067178F6-16D9-4A70-B5CB-84A5C6C85232}"/>
                </a:ext>
              </a:extLst>
            </p:cNvPr>
            <p:cNvSpPr txBox="1"/>
            <p:nvPr/>
          </p:nvSpPr>
          <p:spPr>
            <a:xfrm>
              <a:off x="6804248" y="4373302"/>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乘法阵列（横向进位）</a:t>
              </a:r>
            </a:p>
          </p:txBody>
        </p:sp>
      </p:grpSp>
      <p:grpSp>
        <p:nvGrpSpPr>
          <p:cNvPr id="8" name="组合 7">
            <a:extLst>
              <a:ext uri="{FF2B5EF4-FFF2-40B4-BE49-F238E27FC236}">
                <a16:creationId xmlns:a16="http://schemas.microsoft.com/office/drawing/2014/main" id="{C6885F8C-6855-4CE2-8406-096928ABB009}"/>
              </a:ext>
            </a:extLst>
          </p:cNvPr>
          <p:cNvGrpSpPr/>
          <p:nvPr/>
        </p:nvGrpSpPr>
        <p:grpSpPr>
          <a:xfrm>
            <a:off x="6012160" y="4483602"/>
            <a:ext cx="2359862" cy="1789167"/>
            <a:chOff x="6590471" y="4941168"/>
            <a:chExt cx="2359862" cy="1789167"/>
          </a:xfrm>
        </p:grpSpPr>
        <p:pic>
          <p:nvPicPr>
            <p:cNvPr id="12" name="图片 11">
              <a:extLst>
                <a:ext uri="{FF2B5EF4-FFF2-40B4-BE49-F238E27FC236}">
                  <a16:creationId xmlns:a16="http://schemas.microsoft.com/office/drawing/2014/main" id="{37D17DBE-1D26-45E8-A002-DA7A5A0A3AD8}"/>
                </a:ext>
              </a:extLst>
            </p:cNvPr>
            <p:cNvPicPr>
              <a:picLocks noChangeAspect="1"/>
            </p:cNvPicPr>
            <p:nvPr/>
          </p:nvPicPr>
          <p:blipFill>
            <a:blip r:embed="rId5"/>
            <a:stretch>
              <a:fillRect/>
            </a:stretch>
          </p:blipFill>
          <p:spPr>
            <a:xfrm>
              <a:off x="6590471" y="4941168"/>
              <a:ext cx="2359862" cy="1477655"/>
            </a:xfrm>
            <a:prstGeom prst="rect">
              <a:avLst/>
            </a:prstGeom>
          </p:spPr>
        </p:pic>
        <p:sp>
          <p:nvSpPr>
            <p:cNvPr id="16" name="文本框 15">
              <a:extLst>
                <a:ext uri="{FF2B5EF4-FFF2-40B4-BE49-F238E27FC236}">
                  <a16:creationId xmlns:a16="http://schemas.microsoft.com/office/drawing/2014/main" id="{E274C003-ACC6-4392-A910-295A733DAD91}"/>
                </a:ext>
              </a:extLst>
            </p:cNvPr>
            <p:cNvSpPr txBox="1"/>
            <p:nvPr/>
          </p:nvSpPr>
          <p:spPr>
            <a:xfrm>
              <a:off x="6804248" y="6453336"/>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乘法阵列（斜向进位）</a:t>
              </a:r>
            </a:p>
          </p:txBody>
        </p:sp>
      </p:grpSp>
    </p:spTree>
    <p:extLst>
      <p:ext uri="{BB962C8B-B14F-4D97-AF65-F5344CB8AC3E}">
        <p14:creationId xmlns:p14="http://schemas.microsoft.com/office/powerpoint/2010/main" val="24329522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7C904-220C-44B7-A272-30BE636CAEBF}"/>
              </a:ext>
            </a:extLst>
          </p:cNvPr>
          <p:cNvSpPr>
            <a:spLocks noGrp="1"/>
          </p:cNvSpPr>
          <p:nvPr>
            <p:ph type="title"/>
          </p:nvPr>
        </p:nvSpPr>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51520" y="1268760"/>
            <a:ext cx="8229600" cy="4525963"/>
          </a:xfrm>
        </p:spPr>
        <p:txBody>
          <a:bodyPr/>
          <a:lstStyle/>
          <a:p>
            <a:pPr lvl="1"/>
            <a:r>
              <a:rPr lang="zh-CN" altLang="en-US" sz="1800" b="1" dirty="0">
                <a:latin typeface="+mn-ea"/>
              </a:rPr>
              <a:t>补码阵列乘法器：</a:t>
            </a:r>
            <a:endParaRPr lang="en-US" altLang="zh-CN" sz="1800" b="1" dirty="0">
              <a:latin typeface="+mn-ea"/>
            </a:endParaRPr>
          </a:p>
          <a:p>
            <a:pPr lvl="2"/>
            <a:r>
              <a:rPr lang="en-US" altLang="zh-CN" sz="1400" b="1" dirty="0" err="1"/>
              <a:t>a</a:t>
            </a:r>
            <a:r>
              <a:rPr lang="en-US" altLang="zh-CN" sz="1400" b="1" baseline="-25000" dirty="0" err="1"/>
              <a:t>f</a:t>
            </a:r>
            <a:r>
              <a:rPr lang="en-US" altLang="zh-CN" sz="1400" b="1" dirty="0"/>
              <a:t>=1</a:t>
            </a:r>
            <a:r>
              <a:rPr lang="zh-CN" altLang="en-US" sz="1400" b="1" dirty="0"/>
              <a:t>，启动左边的</a:t>
            </a:r>
            <a:r>
              <a:rPr lang="en-US" altLang="zh-CN" sz="1400" b="1" dirty="0"/>
              <a:t>n</a:t>
            </a:r>
            <a:r>
              <a:rPr lang="zh-CN" altLang="en-US" sz="1400" b="1" dirty="0"/>
              <a:t>位求补器，将</a:t>
            </a:r>
            <a:r>
              <a:rPr lang="en-US" altLang="zh-CN" sz="1400" b="1" dirty="0"/>
              <a:t>a</a:t>
            </a:r>
            <a:r>
              <a:rPr lang="zh-CN" altLang="en-US" sz="1400" b="1" dirty="0"/>
              <a:t>（负数）转换为绝对值</a:t>
            </a:r>
            <a:endParaRPr lang="en-US" altLang="zh-CN" sz="1400" b="1" dirty="0"/>
          </a:p>
          <a:p>
            <a:pPr lvl="2"/>
            <a:r>
              <a:rPr lang="en-US" altLang="zh-CN" sz="1400" b="1" dirty="0"/>
              <a:t>b</a:t>
            </a:r>
            <a:r>
              <a:rPr lang="en-US" altLang="zh-CN" sz="1400" b="1" baseline="-25000" dirty="0"/>
              <a:t>f</a:t>
            </a:r>
            <a:r>
              <a:rPr lang="en-US" altLang="zh-CN" sz="1400" b="1" dirty="0"/>
              <a:t>=1</a:t>
            </a:r>
            <a:r>
              <a:rPr lang="zh-CN" altLang="en-US" sz="1400" b="1" dirty="0"/>
              <a:t>，启动右边的</a:t>
            </a:r>
            <a:r>
              <a:rPr lang="en-US" altLang="zh-CN" sz="1400" b="1" dirty="0"/>
              <a:t>n</a:t>
            </a:r>
            <a:r>
              <a:rPr lang="zh-CN" altLang="en-US" sz="1400" b="1" dirty="0"/>
              <a:t>位求补器，将</a:t>
            </a:r>
            <a:r>
              <a:rPr lang="en-US" altLang="zh-CN" sz="1400" b="1" dirty="0"/>
              <a:t>b</a:t>
            </a:r>
            <a:r>
              <a:rPr lang="zh-CN" altLang="en-US" sz="1400" b="1" dirty="0"/>
              <a:t>（负数）转换为绝对值</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，两个</a:t>
            </a:r>
            <a:r>
              <a:rPr lang="en-US" altLang="zh-CN" sz="1400" b="1" dirty="0"/>
              <a:t>n</a:t>
            </a:r>
            <a:r>
              <a:rPr lang="zh-CN" altLang="en-US" sz="1400" b="1" dirty="0"/>
              <a:t>位求补器不工作，直接将</a:t>
            </a:r>
            <a:r>
              <a:rPr lang="en-US" altLang="zh-CN" sz="1400" b="1" dirty="0"/>
              <a:t>a</a:t>
            </a:r>
            <a:r>
              <a:rPr lang="zh-CN" altLang="en-US" sz="1400" b="1" dirty="0"/>
              <a:t>（正数）和</a:t>
            </a:r>
            <a:r>
              <a:rPr lang="en-US" altLang="zh-CN" sz="1400" b="1" dirty="0"/>
              <a:t>b</a:t>
            </a:r>
            <a:r>
              <a:rPr lang="zh-CN" altLang="en-US" sz="1400" b="1" dirty="0"/>
              <a:t>（正数）送到相加数产生电路</a:t>
            </a:r>
            <a:endParaRPr lang="en-US" altLang="zh-CN" sz="1400" b="1" dirty="0"/>
          </a:p>
          <a:p>
            <a:pPr lvl="2"/>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，结果为负数，启动</a:t>
            </a:r>
            <a:r>
              <a:rPr lang="en-US" altLang="zh-CN" sz="1400" b="1" dirty="0"/>
              <a:t>2n</a:t>
            </a:r>
            <a:r>
              <a:rPr lang="zh-CN" altLang="en-US" sz="1400" b="1" dirty="0"/>
              <a:t>位求补器，得到乘积的补码</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，结果为正数，</a:t>
            </a:r>
            <a:r>
              <a:rPr lang="en-US" altLang="zh-CN" sz="1400" b="1" dirty="0"/>
              <a:t>2n</a:t>
            </a:r>
            <a:r>
              <a:rPr lang="zh-CN" altLang="en-US" sz="1400" b="1" dirty="0"/>
              <a:t>位求补器不工作，乘法阵列的输出就是乘积的补码</a:t>
            </a:r>
            <a:endParaRPr lang="en-US" altLang="zh-CN" sz="1400" b="1" dirty="0"/>
          </a:p>
          <a:p>
            <a:pPr lvl="2"/>
            <a:endParaRPr lang="en-US" altLang="zh-CN" sz="1800" b="1" dirty="0">
              <a:latin typeface="+mn-ea"/>
            </a:endParaRPr>
          </a:p>
          <a:p>
            <a:pPr lvl="2"/>
            <a:endParaRPr lang="en-US" altLang="zh-CN" sz="2800" b="1" dirty="0"/>
          </a:p>
          <a:p>
            <a:endParaRPr lang="zh-CN" altLang="en-US" dirty="0"/>
          </a:p>
        </p:txBody>
      </p:sp>
      <p:pic>
        <p:nvPicPr>
          <p:cNvPr id="5" name="图片 4">
            <a:extLst>
              <a:ext uri="{FF2B5EF4-FFF2-40B4-BE49-F238E27FC236}">
                <a16:creationId xmlns:a16="http://schemas.microsoft.com/office/drawing/2014/main" id="{66A5A255-9037-4C96-BDB0-FFC50B5F3BCD}"/>
              </a:ext>
            </a:extLst>
          </p:cNvPr>
          <p:cNvPicPr>
            <a:picLocks noChangeAspect="1"/>
          </p:cNvPicPr>
          <p:nvPr/>
        </p:nvPicPr>
        <p:blipFill>
          <a:blip r:embed="rId2"/>
          <a:stretch>
            <a:fillRect/>
          </a:stretch>
        </p:blipFill>
        <p:spPr>
          <a:xfrm>
            <a:off x="2555776" y="3086466"/>
            <a:ext cx="4994301" cy="3334184"/>
          </a:xfrm>
          <a:prstGeom prst="rect">
            <a:avLst/>
          </a:prstGeom>
        </p:spPr>
      </p:pic>
      <p:sp>
        <p:nvSpPr>
          <p:cNvPr id="4" name="文本框 3">
            <a:extLst>
              <a:ext uri="{FF2B5EF4-FFF2-40B4-BE49-F238E27FC236}">
                <a16:creationId xmlns:a16="http://schemas.microsoft.com/office/drawing/2014/main" id="{A1E667E5-0D61-4B8A-B503-7778452FE238}"/>
              </a:ext>
            </a:extLst>
          </p:cNvPr>
          <p:cNvSpPr txBox="1"/>
          <p:nvPr/>
        </p:nvSpPr>
        <p:spPr>
          <a:xfrm>
            <a:off x="3851920" y="6429473"/>
            <a:ext cx="2880320" cy="307777"/>
          </a:xfrm>
          <a:prstGeom prst="rect">
            <a:avLst/>
          </a:prstGeom>
          <a:noFill/>
        </p:spPr>
        <p:txBody>
          <a:bodyPr wrap="square">
            <a:spAutoFit/>
          </a:bodyPr>
          <a:lstStyle/>
          <a:p>
            <a:r>
              <a:rPr lang="zh-CN" altLang="en-US" sz="1400" b="1" dirty="0"/>
              <a:t>图</a:t>
            </a:r>
            <a:r>
              <a:rPr lang="en-US" altLang="zh-CN" sz="1400" b="1" dirty="0"/>
              <a:t>3.14    </a:t>
            </a:r>
            <a:r>
              <a:rPr lang="zh-CN" altLang="en-US" sz="1400" b="1" dirty="0"/>
              <a:t>补码阵列乘法器</a:t>
            </a:r>
            <a:endParaRPr lang="zh-CN" altLang="en-US" sz="1400" dirty="0"/>
          </a:p>
        </p:txBody>
      </p:sp>
    </p:spTree>
    <p:extLst>
      <p:ext uri="{BB962C8B-B14F-4D97-AF65-F5344CB8AC3E}">
        <p14:creationId xmlns:p14="http://schemas.microsoft.com/office/powerpoint/2010/main" val="14554821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E76E5B-2A59-4C93-AC07-167D730C24B6}"/>
              </a:ext>
            </a:extLst>
          </p:cNvPr>
          <p:cNvSpPr>
            <a:spLocks noGrp="1"/>
          </p:cNvSpPr>
          <p:nvPr>
            <p:ph type="title"/>
          </p:nvPr>
        </p:nvSpPr>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34851"/>
            <a:ext cx="8229600" cy="4525963"/>
          </a:xfrm>
        </p:spPr>
        <p:txBody>
          <a:bodyPr rtlCol="0">
            <a:normAutofit/>
          </a:bodyPr>
          <a:lstStyle/>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原码一位乘法：利用一个</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位加法器进行</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次累加运算实现</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个位积的累加求和运算，时间复杂度为</a:t>
            </a:r>
            <a:r>
              <a:rPr lang="en-US" altLang="zh-CN" sz="1600" b="1" dirty="0">
                <a:latin typeface="Times New Roman" panose="02020603050405020304" pitchFamily="18" charset="0"/>
                <a:cs typeface="Times New Roman" panose="02020603050405020304" pitchFamily="18" charset="0"/>
              </a:rPr>
              <a:t>O(n</a:t>
            </a:r>
            <a:r>
              <a:rPr lang="en-US" altLang="zh-CN" sz="1600" b="1" baseline="30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a:t>
            </a:r>
          </a:p>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阵列乘法器：利用</a:t>
            </a:r>
            <a:r>
              <a:rPr lang="en-US" altLang="zh-CN" sz="1600" b="1" dirty="0">
                <a:latin typeface="Times New Roman" panose="02020603050405020304" pitchFamily="18" charset="0"/>
                <a:cs typeface="Times New Roman" panose="02020603050405020304" pitchFamily="18" charset="0"/>
              </a:rPr>
              <a:t>n(n-1)</a:t>
            </a:r>
            <a:r>
              <a:rPr lang="zh-CN" altLang="en-US" sz="1600" b="1" dirty="0">
                <a:latin typeface="Times New Roman" panose="02020603050405020304" pitchFamily="18" charset="0"/>
                <a:cs typeface="Times New Roman" panose="02020603050405020304" pitchFamily="18" charset="0"/>
              </a:rPr>
              <a:t>个全加器实现快速的位积累加求和运算，时间复杂度为</a:t>
            </a:r>
            <a:r>
              <a:rPr lang="en-US" altLang="zh-CN" sz="1600" b="1" dirty="0">
                <a:latin typeface="Times New Roman" panose="02020603050405020304" pitchFamily="18" charset="0"/>
                <a:cs typeface="Times New Roman" panose="02020603050405020304" pitchFamily="18" charset="0"/>
              </a:rPr>
              <a:t>O(n)</a:t>
            </a:r>
          </a:p>
          <a:p>
            <a:pPr lvl="1" eaLnBrk="1" fontAlgn="auto" hangingPunct="1">
              <a:spcAft>
                <a:spcPts val="0"/>
              </a:spcAft>
              <a:defRPr/>
            </a:pPr>
            <a:r>
              <a:rPr lang="en-US" altLang="zh-CN" sz="1600" b="1" dirty="0">
                <a:latin typeface="Times New Roman" panose="02020603050405020304" pitchFamily="18" charset="0"/>
                <a:cs typeface="Times New Roman" panose="02020603050405020304" pitchFamily="18" charset="0"/>
              </a:rPr>
              <a:t>Booth</a:t>
            </a:r>
            <a:r>
              <a:rPr lang="zh-CN" altLang="en-US" sz="1600" b="1" dirty="0">
                <a:latin typeface="Times New Roman" panose="02020603050405020304" pitchFamily="18" charset="0"/>
                <a:cs typeface="Times New Roman" panose="02020603050405020304" pitchFamily="18" charset="0"/>
              </a:rPr>
              <a:t>两位乘法（补码两位乘法）：时间复杂度为</a:t>
            </a:r>
            <a:r>
              <a:rPr lang="en-US" altLang="zh-CN" sz="1600" b="1" dirty="0">
                <a:latin typeface="Times New Roman" panose="02020603050405020304" pitchFamily="18" charset="0"/>
                <a:cs typeface="Times New Roman" panose="02020603050405020304" pitchFamily="18" charset="0"/>
              </a:rPr>
              <a:t>O(log</a:t>
            </a:r>
            <a:r>
              <a:rPr lang="en-US" altLang="zh-CN" sz="1600" b="1" baseline="-25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，具体算法请查阅相关文献</a:t>
            </a:r>
            <a:endParaRPr lang="en-US" altLang="zh-CN" sz="1600" b="1" dirty="0">
              <a:latin typeface="Times New Roman" panose="02020603050405020304" pitchFamily="18" charset="0"/>
              <a:cs typeface="Times New Roman" panose="02020603050405020304" pitchFamily="18" charset="0"/>
            </a:endParaRPr>
          </a:p>
          <a:p>
            <a:pPr lvl="1" eaLnBrk="1" fontAlgn="auto" hangingPunct="1">
              <a:spcAft>
                <a:spcPts val="0"/>
              </a:spcAft>
              <a:defRPr/>
            </a:pPr>
            <a:endParaRPr lang="en-US" altLang="zh-CN" sz="1600"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D59539D3-FEBC-4A33-A5F8-21968BFF83D5}"/>
              </a:ext>
            </a:extLst>
          </p:cNvPr>
          <p:cNvPicPr>
            <a:picLocks noChangeAspect="1"/>
          </p:cNvPicPr>
          <p:nvPr/>
        </p:nvPicPr>
        <p:blipFill>
          <a:blip r:embed="rId2"/>
          <a:stretch>
            <a:fillRect/>
          </a:stretch>
        </p:blipFill>
        <p:spPr>
          <a:xfrm>
            <a:off x="1115616" y="2992054"/>
            <a:ext cx="3292444" cy="2631095"/>
          </a:xfrm>
          <a:prstGeom prst="rect">
            <a:avLst/>
          </a:prstGeom>
        </p:spPr>
      </p:pic>
      <p:pic>
        <p:nvPicPr>
          <p:cNvPr id="11" name="图片 10">
            <a:extLst>
              <a:ext uri="{FF2B5EF4-FFF2-40B4-BE49-F238E27FC236}">
                <a16:creationId xmlns:a16="http://schemas.microsoft.com/office/drawing/2014/main" id="{A7FCA162-4C35-4E25-9D00-F02B267BBFCC}"/>
              </a:ext>
            </a:extLst>
          </p:cNvPr>
          <p:cNvPicPr>
            <a:picLocks noChangeAspect="1"/>
          </p:cNvPicPr>
          <p:nvPr/>
        </p:nvPicPr>
        <p:blipFill>
          <a:blip r:embed="rId3"/>
          <a:stretch>
            <a:fillRect/>
          </a:stretch>
        </p:blipFill>
        <p:spPr>
          <a:xfrm>
            <a:off x="4572000" y="3026756"/>
            <a:ext cx="3724492" cy="2263260"/>
          </a:xfrm>
          <a:prstGeom prst="rect">
            <a:avLst/>
          </a:prstGeom>
        </p:spPr>
      </p:pic>
      <p:sp>
        <p:nvSpPr>
          <p:cNvPr id="12" name="文本框 11">
            <a:extLst>
              <a:ext uri="{FF2B5EF4-FFF2-40B4-BE49-F238E27FC236}">
                <a16:creationId xmlns:a16="http://schemas.microsoft.com/office/drawing/2014/main" id="{30E8AA82-9F3E-46C6-A484-FC0DB714EC13}"/>
              </a:ext>
            </a:extLst>
          </p:cNvPr>
          <p:cNvSpPr txBox="1"/>
          <p:nvPr/>
        </p:nvSpPr>
        <p:spPr>
          <a:xfrm>
            <a:off x="2051720" y="5893584"/>
            <a:ext cx="1277888" cy="307777"/>
          </a:xfrm>
          <a:prstGeom prst="rect">
            <a:avLst/>
          </a:prstGeom>
          <a:solidFill>
            <a:schemeClr val="bg1"/>
          </a:solidFill>
        </p:spPr>
        <p:txBody>
          <a:bodyPr wrap="square">
            <a:spAutoFit/>
          </a:bodyPr>
          <a:lstStyle/>
          <a:p>
            <a:pPr algn="ctr"/>
            <a:r>
              <a:rPr lang="zh-CN" altLang="en-US" sz="1400" b="1" dirty="0">
                <a:latin typeface="+mn-ea"/>
              </a:rPr>
              <a:t>原码一位乘法</a:t>
            </a:r>
            <a:endParaRPr lang="zh-CN" altLang="en-US" sz="1400" dirty="0"/>
          </a:p>
        </p:txBody>
      </p:sp>
      <p:sp>
        <p:nvSpPr>
          <p:cNvPr id="14" name="文本框 13">
            <a:extLst>
              <a:ext uri="{FF2B5EF4-FFF2-40B4-BE49-F238E27FC236}">
                <a16:creationId xmlns:a16="http://schemas.microsoft.com/office/drawing/2014/main" id="{0AC6DF37-BB64-454D-91B2-BC75CC4CCDBA}"/>
              </a:ext>
            </a:extLst>
          </p:cNvPr>
          <p:cNvSpPr txBox="1"/>
          <p:nvPr/>
        </p:nvSpPr>
        <p:spPr>
          <a:xfrm>
            <a:off x="5940152" y="5893583"/>
            <a:ext cx="1277888" cy="307777"/>
          </a:xfrm>
          <a:prstGeom prst="rect">
            <a:avLst/>
          </a:prstGeom>
          <a:solidFill>
            <a:schemeClr val="bg1"/>
          </a:solidFill>
        </p:spPr>
        <p:txBody>
          <a:bodyPr wrap="square">
            <a:spAutoFit/>
          </a:bodyPr>
          <a:lstStyle/>
          <a:p>
            <a:pPr algn="ctr"/>
            <a:r>
              <a:rPr lang="zh-CN" altLang="en-US" sz="1400" b="1" dirty="0">
                <a:latin typeface="+mn-ea"/>
              </a:rPr>
              <a:t>阵列乘法器</a:t>
            </a:r>
            <a:endParaRPr lang="zh-CN" altLang="en-US" sz="1400" dirty="0"/>
          </a:p>
        </p:txBody>
      </p:sp>
    </p:spTree>
    <p:extLst>
      <p:ext uri="{BB962C8B-B14F-4D97-AF65-F5344CB8AC3E}">
        <p14:creationId xmlns:p14="http://schemas.microsoft.com/office/powerpoint/2010/main" val="1715652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1E0E5-100E-4558-9C72-BF84410DE70F}"/>
              </a:ext>
            </a:extLst>
          </p:cNvPr>
          <p:cNvSpPr>
            <a:spLocks noGrp="1"/>
          </p:cNvSpPr>
          <p:nvPr>
            <p:ph type="title"/>
          </p:nvPr>
        </p:nvSpPr>
        <p:spPr>
          <a:xfrm>
            <a:off x="484239" y="79223"/>
            <a:ext cx="8229600" cy="1143000"/>
          </a:xfrm>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3AAB8E39-D270-4430-A754-BD1572A504AF}"/>
              </a:ext>
            </a:extLst>
          </p:cNvPr>
          <p:cNvSpPr>
            <a:spLocks noGrp="1"/>
          </p:cNvSpPr>
          <p:nvPr>
            <p:ph idx="1"/>
          </p:nvPr>
        </p:nvSpPr>
        <p:spPr>
          <a:xfrm>
            <a:off x="296414" y="1060270"/>
            <a:ext cx="3915546" cy="2309439"/>
          </a:xfrm>
        </p:spPr>
        <p:txBody>
          <a:bodyPr/>
          <a:lstStyle/>
          <a:p>
            <a:pPr lvl="1"/>
            <a:r>
              <a:rPr lang="zh-CN" altLang="en-US" sz="2000" b="1" dirty="0"/>
              <a:t>流水线乘法器：</a:t>
            </a:r>
            <a:endParaRPr lang="en-US" altLang="zh-CN" sz="2000" b="1" dirty="0"/>
          </a:p>
          <a:p>
            <a:pPr lvl="2"/>
            <a:endParaRPr lang="en-US" altLang="zh-CN" sz="1100" b="1" dirty="0"/>
          </a:p>
          <a:p>
            <a:pPr lvl="2"/>
            <a:r>
              <a:rPr lang="zh-CN" altLang="en-US" sz="1400" b="1" dirty="0"/>
              <a:t>与门阵列：相加数产生电路</a:t>
            </a:r>
            <a:endParaRPr lang="en-US" altLang="zh-CN" sz="1400" b="1" dirty="0"/>
          </a:p>
          <a:p>
            <a:pPr lvl="2"/>
            <a:endParaRPr lang="en-US" altLang="zh-CN" sz="1400" b="1" dirty="0"/>
          </a:p>
          <a:p>
            <a:pPr lvl="2"/>
            <a:r>
              <a:rPr lang="en-US" altLang="zh-CN" sz="1400" b="1" dirty="0"/>
              <a:t>FA</a:t>
            </a:r>
            <a:r>
              <a:rPr lang="zh-CN" altLang="en-US" sz="1400" b="1" dirty="0"/>
              <a:t>：</a:t>
            </a:r>
            <a:r>
              <a:rPr lang="en-US" altLang="zh-CN" sz="1400" b="1" dirty="0"/>
              <a:t>1</a:t>
            </a:r>
            <a:r>
              <a:rPr lang="zh-CN" altLang="en-US" sz="1400" b="1" dirty="0"/>
              <a:t>位全加器</a:t>
            </a:r>
            <a:endParaRPr lang="en-US" altLang="zh-CN" sz="1400" b="1" dirty="0"/>
          </a:p>
          <a:p>
            <a:pPr lvl="2"/>
            <a:endParaRPr lang="en-US" altLang="zh-CN" sz="1400" b="1" dirty="0"/>
          </a:p>
          <a:p>
            <a:pPr lvl="2"/>
            <a:r>
              <a:rPr lang="en-US" altLang="zh-CN" sz="1400" b="1" dirty="0"/>
              <a:t>ADD</a:t>
            </a:r>
            <a:r>
              <a:rPr lang="zh-CN" altLang="en-US" sz="1400" b="1" dirty="0"/>
              <a:t>：</a:t>
            </a:r>
            <a:r>
              <a:rPr lang="en-US" altLang="zh-CN" sz="1400" b="1" dirty="0"/>
              <a:t>4</a:t>
            </a:r>
            <a:r>
              <a:rPr lang="zh-CN" altLang="en-US" sz="1400" b="1" dirty="0"/>
              <a:t>位串行进位加法器</a:t>
            </a:r>
            <a:endParaRPr lang="en-US" altLang="zh-CN" sz="1400" b="1" dirty="0"/>
          </a:p>
          <a:p>
            <a:pPr lvl="2"/>
            <a:endParaRPr lang="en-US" altLang="zh-CN" sz="1400" b="1" dirty="0"/>
          </a:p>
          <a:p>
            <a:pPr lvl="2"/>
            <a:r>
              <a:rPr lang="en-US" altLang="zh-CN" sz="1400" b="1" dirty="0"/>
              <a:t>CLK</a:t>
            </a:r>
            <a:r>
              <a:rPr lang="zh-CN" altLang="en-US" sz="1400" b="1" dirty="0"/>
              <a:t>：时钟信号</a:t>
            </a:r>
          </a:p>
        </p:txBody>
      </p:sp>
      <p:grpSp>
        <p:nvGrpSpPr>
          <p:cNvPr id="98" name="组合 97">
            <a:extLst>
              <a:ext uri="{FF2B5EF4-FFF2-40B4-BE49-F238E27FC236}">
                <a16:creationId xmlns:a16="http://schemas.microsoft.com/office/drawing/2014/main" id="{FD1F1340-470E-4AAA-A749-6033099E857E}"/>
              </a:ext>
            </a:extLst>
          </p:cNvPr>
          <p:cNvGrpSpPr/>
          <p:nvPr/>
        </p:nvGrpSpPr>
        <p:grpSpPr>
          <a:xfrm>
            <a:off x="484239" y="4286078"/>
            <a:ext cx="8594616" cy="2160241"/>
            <a:chOff x="230715" y="2204864"/>
            <a:chExt cx="8594616" cy="2160241"/>
          </a:xfrm>
        </p:grpSpPr>
        <p:grpSp>
          <p:nvGrpSpPr>
            <p:cNvPr id="91" name="组合 90">
              <a:extLst>
                <a:ext uri="{FF2B5EF4-FFF2-40B4-BE49-F238E27FC236}">
                  <a16:creationId xmlns:a16="http://schemas.microsoft.com/office/drawing/2014/main" id="{535B77C6-1B1A-4CFC-B10C-5EDF40ACBD3F}"/>
                </a:ext>
              </a:extLst>
            </p:cNvPr>
            <p:cNvGrpSpPr/>
            <p:nvPr/>
          </p:nvGrpSpPr>
          <p:grpSpPr>
            <a:xfrm>
              <a:off x="230715" y="2204864"/>
              <a:ext cx="8594616" cy="2160241"/>
              <a:chOff x="230715" y="2204864"/>
              <a:chExt cx="8594616" cy="2160241"/>
            </a:xfrm>
          </p:grpSpPr>
          <p:grpSp>
            <p:nvGrpSpPr>
              <p:cNvPr id="85" name="组合 84">
                <a:extLst>
                  <a:ext uri="{FF2B5EF4-FFF2-40B4-BE49-F238E27FC236}">
                    <a16:creationId xmlns:a16="http://schemas.microsoft.com/office/drawing/2014/main" id="{70833727-B126-4500-B93C-00DF3F4575A9}"/>
                  </a:ext>
                </a:extLst>
              </p:cNvPr>
              <p:cNvGrpSpPr/>
              <p:nvPr/>
            </p:nvGrpSpPr>
            <p:grpSpPr>
              <a:xfrm>
                <a:off x="230715" y="2348880"/>
                <a:ext cx="8594616" cy="2016225"/>
                <a:chOff x="230715" y="2348880"/>
                <a:chExt cx="8594616" cy="2016225"/>
              </a:xfrm>
            </p:grpSpPr>
            <p:grpSp>
              <p:nvGrpSpPr>
                <p:cNvPr id="83" name="组合 82">
                  <a:extLst>
                    <a:ext uri="{FF2B5EF4-FFF2-40B4-BE49-F238E27FC236}">
                      <a16:creationId xmlns:a16="http://schemas.microsoft.com/office/drawing/2014/main" id="{5E921629-A5D1-44A3-AFAD-37B308CFABAB}"/>
                    </a:ext>
                  </a:extLst>
                </p:cNvPr>
                <p:cNvGrpSpPr/>
                <p:nvPr/>
              </p:nvGrpSpPr>
              <p:grpSpPr>
                <a:xfrm>
                  <a:off x="230715" y="2348880"/>
                  <a:ext cx="8192610" cy="2016225"/>
                  <a:chOff x="230715" y="2348880"/>
                  <a:chExt cx="8192610" cy="2016225"/>
                </a:xfrm>
              </p:grpSpPr>
              <p:grpSp>
                <p:nvGrpSpPr>
                  <p:cNvPr id="78" name="组合 77">
                    <a:extLst>
                      <a:ext uri="{FF2B5EF4-FFF2-40B4-BE49-F238E27FC236}">
                        <a16:creationId xmlns:a16="http://schemas.microsoft.com/office/drawing/2014/main" id="{EFE9045B-AE3A-419B-9354-B3BCB2ACB97C}"/>
                      </a:ext>
                    </a:extLst>
                  </p:cNvPr>
                  <p:cNvGrpSpPr/>
                  <p:nvPr/>
                </p:nvGrpSpPr>
                <p:grpSpPr>
                  <a:xfrm>
                    <a:off x="457200" y="2348880"/>
                    <a:ext cx="7966125" cy="2016225"/>
                    <a:chOff x="457200" y="2348880"/>
                    <a:chExt cx="7966125" cy="2016225"/>
                  </a:xfrm>
                </p:grpSpPr>
                <p:grpSp>
                  <p:nvGrpSpPr>
                    <p:cNvPr id="54" name="组合 53">
                      <a:extLst>
                        <a:ext uri="{FF2B5EF4-FFF2-40B4-BE49-F238E27FC236}">
                          <a16:creationId xmlns:a16="http://schemas.microsoft.com/office/drawing/2014/main" id="{20DE14D1-0415-4A9A-974C-4A58E49611D3}"/>
                        </a:ext>
                      </a:extLst>
                    </p:cNvPr>
                    <p:cNvGrpSpPr/>
                    <p:nvPr/>
                  </p:nvGrpSpPr>
                  <p:grpSpPr>
                    <a:xfrm>
                      <a:off x="457200" y="2348880"/>
                      <a:ext cx="7755010" cy="2016225"/>
                      <a:chOff x="457200" y="2780928"/>
                      <a:chExt cx="7755010" cy="2016225"/>
                    </a:xfrm>
                  </p:grpSpPr>
                  <p:grpSp>
                    <p:nvGrpSpPr>
                      <p:cNvPr id="29" name="组合 28">
                        <a:extLst>
                          <a:ext uri="{FF2B5EF4-FFF2-40B4-BE49-F238E27FC236}">
                            <a16:creationId xmlns:a16="http://schemas.microsoft.com/office/drawing/2014/main" id="{94F8394B-2AC6-467E-AF64-96F5DD63E362}"/>
                          </a:ext>
                        </a:extLst>
                      </p:cNvPr>
                      <p:cNvGrpSpPr/>
                      <p:nvPr/>
                    </p:nvGrpSpPr>
                    <p:grpSpPr>
                      <a:xfrm>
                        <a:off x="755576" y="2780928"/>
                        <a:ext cx="7456634" cy="1384995"/>
                        <a:chOff x="755576" y="2780928"/>
                        <a:chExt cx="7456634" cy="1384995"/>
                      </a:xfrm>
                    </p:grpSpPr>
                    <p:grpSp>
                      <p:nvGrpSpPr>
                        <p:cNvPr id="21" name="组合 20">
                          <a:extLst>
                            <a:ext uri="{FF2B5EF4-FFF2-40B4-BE49-F238E27FC236}">
                              <a16:creationId xmlns:a16="http://schemas.microsoft.com/office/drawing/2014/main" id="{CC0FFEB4-9191-4CE0-B093-08E37C377E90}"/>
                            </a:ext>
                          </a:extLst>
                        </p:cNvPr>
                        <p:cNvGrpSpPr/>
                        <p:nvPr/>
                      </p:nvGrpSpPr>
                      <p:grpSpPr>
                        <a:xfrm>
                          <a:off x="755576" y="2780928"/>
                          <a:ext cx="7456634" cy="1384995"/>
                          <a:chOff x="755576" y="2780928"/>
                          <a:chExt cx="7456634" cy="1384995"/>
                        </a:xfrm>
                      </p:grpSpPr>
                      <p:grpSp>
                        <p:nvGrpSpPr>
                          <p:cNvPr id="15" name="组合 14">
                            <a:extLst>
                              <a:ext uri="{FF2B5EF4-FFF2-40B4-BE49-F238E27FC236}">
                                <a16:creationId xmlns:a16="http://schemas.microsoft.com/office/drawing/2014/main" id="{99625B3F-A0F6-4B48-836F-A6C8DF2278F3}"/>
                              </a:ext>
                            </a:extLst>
                          </p:cNvPr>
                          <p:cNvGrpSpPr/>
                          <p:nvPr/>
                        </p:nvGrpSpPr>
                        <p:grpSpPr>
                          <a:xfrm>
                            <a:off x="755576" y="2780928"/>
                            <a:ext cx="7456634" cy="1384995"/>
                            <a:chOff x="534643" y="2780928"/>
                            <a:chExt cx="7456634" cy="1384995"/>
                          </a:xfrm>
                        </p:grpSpPr>
                        <p:sp>
                          <p:nvSpPr>
                            <p:cNvPr id="4" name="文本框 3">
                              <a:extLst>
                                <a:ext uri="{FF2B5EF4-FFF2-40B4-BE49-F238E27FC236}">
                                  <a16:creationId xmlns:a16="http://schemas.microsoft.com/office/drawing/2014/main" id="{DA15C3D9-B02C-4E58-B57D-C3C25AC6592A}"/>
                                </a:ext>
                              </a:extLst>
                            </p:cNvPr>
                            <p:cNvSpPr txBox="1"/>
                            <p:nvPr/>
                          </p:nvSpPr>
                          <p:spPr>
                            <a:xfrm>
                              <a:off x="1619672"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5" name="文本框 4">
                              <a:extLst>
                                <a:ext uri="{FF2B5EF4-FFF2-40B4-BE49-F238E27FC236}">
                                  <a16:creationId xmlns:a16="http://schemas.microsoft.com/office/drawing/2014/main" id="{9B42251F-90F8-469A-85D1-7E758E050FB7}"/>
                                </a:ext>
                              </a:extLst>
                            </p:cNvPr>
                            <p:cNvSpPr txBox="1"/>
                            <p:nvPr/>
                          </p:nvSpPr>
                          <p:spPr>
                            <a:xfrm>
                              <a:off x="3624926"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6" name="文本框 5">
                              <a:extLst>
                                <a:ext uri="{FF2B5EF4-FFF2-40B4-BE49-F238E27FC236}">
                                  <a16:creationId xmlns:a16="http://schemas.microsoft.com/office/drawing/2014/main" id="{A83FE074-3C2E-4C9D-90C6-3116B0EC0ABF}"/>
                                </a:ext>
                              </a:extLst>
                            </p:cNvPr>
                            <p:cNvSpPr txBox="1"/>
                            <p:nvPr/>
                          </p:nvSpPr>
                          <p:spPr>
                            <a:xfrm>
                              <a:off x="534643" y="3356993"/>
                              <a:ext cx="720080" cy="523220"/>
                            </a:xfrm>
                            <a:prstGeom prst="rect">
                              <a:avLst/>
                            </a:prstGeom>
                            <a:solidFill>
                              <a:schemeClr val="bg2">
                                <a:lumMod val="90000"/>
                              </a:schemeClr>
                            </a:solidFill>
                            <a:ln>
                              <a:solidFill>
                                <a:schemeClr val="tx1"/>
                              </a:solidFill>
                            </a:ln>
                          </p:spPr>
                          <p:txBody>
                            <a:bodyPr wrap="square" rtlCol="0">
                              <a:spAutoFit/>
                            </a:bodyPr>
                            <a:lstStyle/>
                            <a:p>
                              <a:pPr algn="ctr"/>
                              <a:r>
                                <a:rPr lang="zh-CN" altLang="en-US" sz="1400" b="1" dirty="0"/>
                                <a:t>与门</a:t>
                              </a:r>
                              <a:endParaRPr lang="en-US" altLang="zh-CN" sz="1400" b="1" dirty="0"/>
                            </a:p>
                            <a:p>
                              <a:pPr algn="ctr"/>
                              <a:r>
                                <a:rPr lang="zh-CN" altLang="en-US" sz="1400" b="1" dirty="0"/>
                                <a:t>阵列</a:t>
                              </a:r>
                            </a:p>
                          </p:txBody>
                        </p:sp>
                        <p:sp>
                          <p:nvSpPr>
                            <p:cNvPr id="7" name="文本框 6">
                              <a:extLst>
                                <a:ext uri="{FF2B5EF4-FFF2-40B4-BE49-F238E27FC236}">
                                  <a16:creationId xmlns:a16="http://schemas.microsoft.com/office/drawing/2014/main" id="{41FC94DF-72E4-4D49-9D61-E6C85F7A30A7}"/>
                                </a:ext>
                              </a:extLst>
                            </p:cNvPr>
                            <p:cNvSpPr txBox="1"/>
                            <p:nvPr/>
                          </p:nvSpPr>
                          <p:spPr>
                            <a:xfrm>
                              <a:off x="7375403" y="3368578"/>
                              <a:ext cx="615874" cy="369332"/>
                            </a:xfrm>
                            <a:prstGeom prst="rect">
                              <a:avLst/>
                            </a:prstGeom>
                            <a:solidFill>
                              <a:schemeClr val="bg2">
                                <a:lumMod val="50000"/>
                              </a:schemeClr>
                            </a:solidFill>
                            <a:ln>
                              <a:solidFill>
                                <a:schemeClr val="tx1"/>
                              </a:solidFill>
                            </a:ln>
                          </p:spPr>
                          <p:txBody>
                            <a:bodyPr wrap="none" rtlCol="0">
                              <a:spAutoFit/>
                            </a:bodyPr>
                            <a:lstStyle/>
                            <a:p>
                              <a:r>
                                <a:rPr lang="en-US" altLang="zh-CN" b="1" dirty="0">
                                  <a:solidFill>
                                    <a:schemeClr val="bg1"/>
                                  </a:solidFill>
                                </a:rPr>
                                <a:t>ADD</a:t>
                              </a:r>
                              <a:endParaRPr lang="zh-CN" altLang="en-US" b="1" dirty="0">
                                <a:solidFill>
                                  <a:schemeClr val="bg1"/>
                                </a:solidFill>
                              </a:endParaRPr>
                            </a:p>
                          </p:txBody>
                        </p:sp>
                        <p:sp>
                          <p:nvSpPr>
                            <p:cNvPr id="8" name="文本框 7">
                              <a:extLst>
                                <a:ext uri="{FF2B5EF4-FFF2-40B4-BE49-F238E27FC236}">
                                  <a16:creationId xmlns:a16="http://schemas.microsoft.com/office/drawing/2014/main" id="{F962A4A4-E306-46FE-BA21-2569552F29C0}"/>
                                </a:ext>
                              </a:extLst>
                            </p:cNvPr>
                            <p:cNvSpPr txBox="1"/>
                            <p:nvPr/>
                          </p:nvSpPr>
                          <p:spPr>
                            <a:xfrm>
                              <a:off x="2987824"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9" name="文本框 8">
                              <a:extLst>
                                <a:ext uri="{FF2B5EF4-FFF2-40B4-BE49-F238E27FC236}">
                                  <a16:creationId xmlns:a16="http://schemas.microsoft.com/office/drawing/2014/main" id="{2557CAB4-ADC1-41B3-83B3-3C057F4D7D91}"/>
                                </a:ext>
                              </a:extLst>
                            </p:cNvPr>
                            <p:cNvSpPr txBox="1"/>
                            <p:nvPr/>
                          </p:nvSpPr>
                          <p:spPr>
                            <a:xfrm>
                              <a:off x="4211960"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0" name="文本框 9">
                              <a:extLst>
                                <a:ext uri="{FF2B5EF4-FFF2-40B4-BE49-F238E27FC236}">
                                  <a16:creationId xmlns:a16="http://schemas.microsoft.com/office/drawing/2014/main" id="{4AE8CABC-E451-4C67-9956-D45A23516874}"/>
                                </a:ext>
                              </a:extLst>
                            </p:cNvPr>
                            <p:cNvSpPr txBox="1"/>
                            <p:nvPr/>
                          </p:nvSpPr>
                          <p:spPr>
                            <a:xfrm>
                              <a:off x="5436096"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1" name="文本框 10">
                              <a:extLst>
                                <a:ext uri="{FF2B5EF4-FFF2-40B4-BE49-F238E27FC236}">
                                  <a16:creationId xmlns:a16="http://schemas.microsoft.com/office/drawing/2014/main" id="{C64472F2-76AC-42F1-91FE-3FF61044C76D}"/>
                                </a:ext>
                              </a:extLst>
                            </p:cNvPr>
                            <p:cNvSpPr txBox="1"/>
                            <p:nvPr/>
                          </p:nvSpPr>
                          <p:spPr>
                            <a:xfrm>
                              <a:off x="6804248"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2" name="文本框 11">
                              <a:extLst>
                                <a:ext uri="{FF2B5EF4-FFF2-40B4-BE49-F238E27FC236}">
                                  <a16:creationId xmlns:a16="http://schemas.microsoft.com/office/drawing/2014/main" id="{2BC44637-94E3-4F50-AE1F-F3D08AF87C7C}"/>
                                </a:ext>
                              </a:extLst>
                            </p:cNvPr>
                            <p:cNvSpPr txBox="1"/>
                            <p:nvPr/>
                          </p:nvSpPr>
                          <p:spPr>
                            <a:xfrm>
                              <a:off x="2190827"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3" name="文本框 12">
                              <a:extLst>
                                <a:ext uri="{FF2B5EF4-FFF2-40B4-BE49-F238E27FC236}">
                                  <a16:creationId xmlns:a16="http://schemas.microsoft.com/office/drawing/2014/main" id="{EB64FA88-6363-425E-9191-6727CD7A7E8F}"/>
                                </a:ext>
                              </a:extLst>
                            </p:cNvPr>
                            <p:cNvSpPr txBox="1"/>
                            <p:nvPr/>
                          </p:nvSpPr>
                          <p:spPr>
                            <a:xfrm>
                              <a:off x="4788024" y="3368579"/>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4" name="文本框 13">
                              <a:extLst>
                                <a:ext uri="{FF2B5EF4-FFF2-40B4-BE49-F238E27FC236}">
                                  <a16:creationId xmlns:a16="http://schemas.microsoft.com/office/drawing/2014/main" id="{901749BD-9CA9-4ECB-80CB-E9654D811B30}"/>
                                </a:ext>
                              </a:extLst>
                            </p:cNvPr>
                            <p:cNvSpPr txBox="1"/>
                            <p:nvPr/>
                          </p:nvSpPr>
                          <p:spPr>
                            <a:xfrm>
                              <a:off x="6007251" y="3356993"/>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grpSp>
                      <p:sp>
                        <p:nvSpPr>
                          <p:cNvPr id="16" name="等腰三角形 15">
                            <a:extLst>
                              <a:ext uri="{FF2B5EF4-FFF2-40B4-BE49-F238E27FC236}">
                                <a16:creationId xmlns:a16="http://schemas.microsoft.com/office/drawing/2014/main" id="{D7BD1A26-E982-408E-B611-E12534A1977A}"/>
                              </a:ext>
                            </a:extLst>
                          </p:cNvPr>
                          <p:cNvSpPr/>
                          <p:nvPr/>
                        </p:nvSpPr>
                        <p:spPr>
                          <a:xfrm>
                            <a:off x="19686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7" name="等腰三角形 16">
                            <a:extLst>
                              <a:ext uri="{FF2B5EF4-FFF2-40B4-BE49-F238E27FC236}">
                                <a16:creationId xmlns:a16="http://schemas.microsoft.com/office/drawing/2014/main" id="{61DEBC85-7D28-4F79-BF66-87581D6F60E7}"/>
                              </a:ext>
                            </a:extLst>
                          </p:cNvPr>
                          <p:cNvSpPr/>
                          <p:nvPr/>
                        </p:nvSpPr>
                        <p:spPr>
                          <a:xfrm>
                            <a:off x="33527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8" name="等腰三角形 17">
                            <a:extLst>
                              <a:ext uri="{FF2B5EF4-FFF2-40B4-BE49-F238E27FC236}">
                                <a16:creationId xmlns:a16="http://schemas.microsoft.com/office/drawing/2014/main" id="{3EFC2130-D72D-49D2-B230-9B92BA964C81}"/>
                              </a:ext>
                            </a:extLst>
                          </p:cNvPr>
                          <p:cNvSpPr/>
                          <p:nvPr/>
                        </p:nvSpPr>
                        <p:spPr>
                          <a:xfrm>
                            <a:off x="4576908"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9" name="等腰三角形 18">
                            <a:extLst>
                              <a:ext uri="{FF2B5EF4-FFF2-40B4-BE49-F238E27FC236}">
                                <a16:creationId xmlns:a16="http://schemas.microsoft.com/office/drawing/2014/main" id="{879E6DAF-D40D-4877-A053-D5965075E4BA}"/>
                              </a:ext>
                            </a:extLst>
                          </p:cNvPr>
                          <p:cNvSpPr/>
                          <p:nvPr/>
                        </p:nvSpPr>
                        <p:spPr>
                          <a:xfrm>
                            <a:off x="579613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20" name="等腰三角形 19">
                            <a:extLst>
                              <a:ext uri="{FF2B5EF4-FFF2-40B4-BE49-F238E27FC236}">
                                <a16:creationId xmlns:a16="http://schemas.microsoft.com/office/drawing/2014/main" id="{65109AE1-2D01-4EFE-B45D-B71D9275A95F}"/>
                              </a:ext>
                            </a:extLst>
                          </p:cNvPr>
                          <p:cNvSpPr/>
                          <p:nvPr/>
                        </p:nvSpPr>
                        <p:spPr>
                          <a:xfrm>
                            <a:off x="716919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grpSp>
                    <p:cxnSp>
                      <p:nvCxnSpPr>
                        <p:cNvPr id="23" name="直接连接符 22">
                          <a:extLst>
                            <a:ext uri="{FF2B5EF4-FFF2-40B4-BE49-F238E27FC236}">
                              <a16:creationId xmlns:a16="http://schemas.microsoft.com/office/drawing/2014/main" id="{7E5CFEC4-3642-4A33-A765-346371E5EB96}"/>
                            </a:ext>
                          </a:extLst>
                        </p:cNvPr>
                        <p:cNvCxnSpPr/>
                        <p:nvPr/>
                      </p:nvCxnSpPr>
                      <p:spPr>
                        <a:xfrm>
                          <a:off x="2200645"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6234C9D-92C0-49AA-A52E-915698BA6B4A}"/>
                            </a:ext>
                          </a:extLst>
                        </p:cNvPr>
                        <p:cNvCxnSpPr>
                          <a:cxnSpLocks/>
                        </p:cNvCxnSpPr>
                        <p:nvPr/>
                      </p:nvCxnSpPr>
                      <p:spPr>
                        <a:xfrm>
                          <a:off x="3563888"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D276B39-125D-430E-9BC3-BCBE9D4C591C}"/>
                            </a:ext>
                          </a:extLst>
                        </p:cNvPr>
                        <p:cNvCxnSpPr>
                          <a:cxnSpLocks/>
                        </p:cNvCxnSpPr>
                        <p:nvPr/>
                      </p:nvCxnSpPr>
                      <p:spPr>
                        <a:xfrm>
                          <a:off x="4788024"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233069DF-38DD-469C-90D8-E673A3DB23BA}"/>
                            </a:ext>
                          </a:extLst>
                        </p:cNvPr>
                        <p:cNvCxnSpPr/>
                        <p:nvPr/>
                      </p:nvCxnSpPr>
                      <p:spPr>
                        <a:xfrm>
                          <a:off x="6012160"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D00EA97E-83C1-4BDD-A690-67204865AEF7}"/>
                          </a:ext>
                        </a:extLst>
                      </p:cNvPr>
                      <p:cNvCxnSpPr>
                        <a:cxnSpLocks/>
                      </p:cNvCxnSpPr>
                      <p:nvPr/>
                    </p:nvCxnSpPr>
                    <p:spPr>
                      <a:xfrm>
                        <a:off x="457200" y="4725145"/>
                        <a:ext cx="6789728" cy="69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5F5AFD8-8441-4987-BE78-4C97837C7A34}"/>
                          </a:ext>
                        </a:extLst>
                      </p:cNvPr>
                      <p:cNvCxnSpPr>
                        <a:cxnSpLocks/>
                      </p:cNvCxnSpPr>
                      <p:nvPr/>
                    </p:nvCxnSpPr>
                    <p:spPr>
                      <a:xfrm>
                        <a:off x="2041088" y="4149081"/>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800E831-F7AD-4DD3-9ED8-A605AB1229D2}"/>
                          </a:ext>
                        </a:extLst>
                      </p:cNvPr>
                      <p:cNvCxnSpPr>
                        <a:cxnSpLocks/>
                      </p:cNvCxnSpPr>
                      <p:nvPr/>
                    </p:nvCxnSpPr>
                    <p:spPr>
                      <a:xfrm>
                        <a:off x="3419872" y="4165924"/>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2F6902E-75FD-4A6E-919B-8FB04451DF2E}"/>
                          </a:ext>
                        </a:extLst>
                      </p:cNvPr>
                      <p:cNvCxnSpPr>
                        <a:cxnSpLocks/>
                      </p:cNvCxnSpPr>
                      <p:nvPr/>
                    </p:nvCxnSpPr>
                    <p:spPr>
                      <a:xfrm>
                        <a:off x="4644008" y="4159713"/>
                        <a:ext cx="0" cy="592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2BAC5C3-9AD8-4342-A365-5C5F54174F52}"/>
                          </a:ext>
                        </a:extLst>
                      </p:cNvPr>
                      <p:cNvCxnSpPr>
                        <a:cxnSpLocks/>
                      </p:cNvCxnSpPr>
                      <p:nvPr/>
                    </p:nvCxnSpPr>
                    <p:spPr>
                      <a:xfrm>
                        <a:off x="5868144"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BA1BD87-A8C0-4D30-BFB0-5941AC1C6EAE}"/>
                          </a:ext>
                        </a:extLst>
                      </p:cNvPr>
                      <p:cNvCxnSpPr>
                        <a:cxnSpLocks/>
                      </p:cNvCxnSpPr>
                      <p:nvPr/>
                    </p:nvCxnSpPr>
                    <p:spPr>
                      <a:xfrm>
                        <a:off x="7246928"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AB16B999-44F6-4536-9B92-02CEE28F5F9E}"/>
                        </a:ext>
                      </a:extLst>
                    </p:cNvPr>
                    <p:cNvGrpSpPr/>
                    <p:nvPr/>
                  </p:nvGrpSpPr>
                  <p:grpSpPr>
                    <a:xfrm>
                      <a:off x="544461" y="2477498"/>
                      <a:ext cx="7878864" cy="879494"/>
                      <a:chOff x="544461" y="2477498"/>
                      <a:chExt cx="7878864" cy="879494"/>
                    </a:xfrm>
                  </p:grpSpPr>
                  <p:cxnSp>
                    <p:nvCxnSpPr>
                      <p:cNvPr id="43" name="直接连接符 42">
                        <a:extLst>
                          <a:ext uri="{FF2B5EF4-FFF2-40B4-BE49-F238E27FC236}">
                            <a16:creationId xmlns:a16="http://schemas.microsoft.com/office/drawing/2014/main" id="{389BE763-3D56-48E7-B500-9FACAF9A64CC}"/>
                          </a:ext>
                        </a:extLst>
                      </p:cNvPr>
                      <p:cNvCxnSpPr>
                        <a:cxnSpLocks/>
                      </p:cNvCxnSpPr>
                      <p:nvPr/>
                    </p:nvCxnSpPr>
                    <p:spPr>
                      <a:xfrm>
                        <a:off x="1475656" y="3140968"/>
                        <a:ext cx="370672"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8E504C4-C58E-4BBA-B118-4D48758BA86F}"/>
                          </a:ext>
                        </a:extLst>
                      </p:cNvPr>
                      <p:cNvCxnSpPr>
                        <a:cxnSpLocks/>
                      </p:cNvCxnSpPr>
                      <p:nvPr/>
                    </p:nvCxnSpPr>
                    <p:spPr>
                      <a:xfrm>
                        <a:off x="2200645"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45974EC-80F7-47BA-B605-888706964787}"/>
                          </a:ext>
                        </a:extLst>
                      </p:cNvPr>
                      <p:cNvCxnSpPr>
                        <a:cxnSpLocks/>
                      </p:cNvCxnSpPr>
                      <p:nvPr/>
                    </p:nvCxnSpPr>
                    <p:spPr>
                      <a:xfrm>
                        <a:off x="4788024"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4749A99-AAFF-43C7-9F7D-D4C555BDD694}"/>
                          </a:ext>
                        </a:extLst>
                      </p:cNvPr>
                      <p:cNvCxnSpPr>
                        <a:cxnSpLocks/>
                      </p:cNvCxnSpPr>
                      <p:nvPr/>
                    </p:nvCxnSpPr>
                    <p:spPr>
                      <a:xfrm>
                        <a:off x="6645029" y="3121196"/>
                        <a:ext cx="432048"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47839B-ABFC-4D94-B2F8-FDE74785033B}"/>
                          </a:ext>
                        </a:extLst>
                      </p:cNvPr>
                      <p:cNvCxnSpPr>
                        <a:cxnSpLocks/>
                      </p:cNvCxnSpPr>
                      <p:nvPr/>
                    </p:nvCxnSpPr>
                    <p:spPr>
                      <a:xfrm>
                        <a:off x="2809012" y="3140968"/>
                        <a:ext cx="427139"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9B54452-C888-4D16-B73E-0CD54DC9AC2E}"/>
                          </a:ext>
                        </a:extLst>
                      </p:cNvPr>
                      <p:cNvCxnSpPr>
                        <a:cxnSpLocks/>
                      </p:cNvCxnSpPr>
                      <p:nvPr/>
                    </p:nvCxnSpPr>
                    <p:spPr>
                      <a:xfrm>
                        <a:off x="4272929"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D29B54ED-66D2-4517-9325-AFF8751684F0}"/>
                          </a:ext>
                        </a:extLst>
                      </p:cNvPr>
                      <p:cNvCxnSpPr>
                        <a:cxnSpLocks/>
                      </p:cNvCxnSpPr>
                      <p:nvPr/>
                    </p:nvCxnSpPr>
                    <p:spPr>
                      <a:xfrm>
                        <a:off x="5445914" y="3143559"/>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2CEF4BB-8FDC-420F-AF79-86E2CE5853FD}"/>
                          </a:ext>
                        </a:extLst>
                      </p:cNvPr>
                      <p:cNvCxnSpPr>
                        <a:cxnSpLocks/>
                      </p:cNvCxnSpPr>
                      <p:nvPr/>
                    </p:nvCxnSpPr>
                    <p:spPr>
                      <a:xfrm>
                        <a:off x="6012160"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A2FD4E-8882-4C29-ACAB-233608B1DA38}"/>
                          </a:ext>
                        </a:extLst>
                      </p:cNvPr>
                      <p:cNvCxnSpPr>
                        <a:cxnSpLocks/>
                        <a:endCxn id="12" idx="0"/>
                      </p:cNvCxnSpPr>
                      <p:nvPr/>
                    </p:nvCxnSpPr>
                    <p:spPr>
                      <a:xfrm>
                        <a:off x="2620182" y="2518223"/>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BA7F9D7C-B321-4278-850B-4CB543374495}"/>
                          </a:ext>
                        </a:extLst>
                      </p:cNvPr>
                      <p:cNvCxnSpPr>
                        <a:cxnSpLocks/>
                      </p:cNvCxnSpPr>
                      <p:nvPr/>
                    </p:nvCxnSpPr>
                    <p:spPr>
                      <a:xfrm>
                        <a:off x="4004741" y="2484720"/>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B0FD379-BBB2-4231-91C1-1B0F00CB2F77}"/>
                          </a:ext>
                        </a:extLst>
                      </p:cNvPr>
                      <p:cNvCxnSpPr>
                        <a:cxnSpLocks/>
                      </p:cNvCxnSpPr>
                      <p:nvPr/>
                    </p:nvCxnSpPr>
                    <p:spPr>
                      <a:xfrm>
                        <a:off x="5217379" y="2490602"/>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E9E9376-E80E-46F9-9FA6-56851280628C}"/>
                          </a:ext>
                        </a:extLst>
                      </p:cNvPr>
                      <p:cNvCxnSpPr>
                        <a:cxnSpLocks/>
                      </p:cNvCxnSpPr>
                      <p:nvPr/>
                    </p:nvCxnSpPr>
                    <p:spPr>
                      <a:xfrm>
                        <a:off x="6397221" y="2477498"/>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748ACF8-4292-48C3-A7FF-CC3555B02D8C}"/>
                          </a:ext>
                        </a:extLst>
                      </p:cNvPr>
                      <p:cNvCxnSpPr>
                        <a:cxnSpLocks/>
                      </p:cNvCxnSpPr>
                      <p:nvPr/>
                    </p:nvCxnSpPr>
                    <p:spPr>
                      <a:xfrm>
                        <a:off x="7385221"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2C0A626-11F5-4D24-881F-42004CC6C5DD}"/>
                          </a:ext>
                        </a:extLst>
                      </p:cNvPr>
                      <p:cNvCxnSpPr>
                        <a:cxnSpLocks/>
                      </p:cNvCxnSpPr>
                      <p:nvPr/>
                    </p:nvCxnSpPr>
                    <p:spPr>
                      <a:xfrm>
                        <a:off x="8212210" y="310961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CE583A1-C044-46FA-B1B9-0B36CFB2E131}"/>
                          </a:ext>
                        </a:extLst>
                      </p:cNvPr>
                      <p:cNvCxnSpPr>
                        <a:cxnSpLocks/>
                      </p:cNvCxnSpPr>
                      <p:nvPr/>
                    </p:nvCxnSpPr>
                    <p:spPr>
                      <a:xfrm>
                        <a:off x="544461" y="306896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BC1FA2A-AAA3-45C9-BC25-00AFCC32517B}"/>
                          </a:ext>
                        </a:extLst>
                      </p:cNvPr>
                      <p:cNvCxnSpPr>
                        <a:cxnSpLocks/>
                      </p:cNvCxnSpPr>
                      <p:nvPr/>
                    </p:nvCxnSpPr>
                    <p:spPr>
                      <a:xfrm>
                        <a:off x="544461" y="3356992"/>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8FF2043-838D-43E8-BA23-8E0C8E5E12D5}"/>
                          </a:ext>
                        </a:extLst>
                      </p:cNvPr>
                      <p:cNvCxnSpPr>
                        <a:cxnSpLocks/>
                      </p:cNvCxnSpPr>
                      <p:nvPr/>
                    </p:nvCxnSpPr>
                    <p:spPr>
                      <a:xfrm>
                        <a:off x="3563888" y="3153715"/>
                        <a:ext cx="285577"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grpSp>
                <p:nvGrpSpPr>
                  <p:cNvPr id="82" name="组合 81">
                    <a:extLst>
                      <a:ext uri="{FF2B5EF4-FFF2-40B4-BE49-F238E27FC236}">
                        <a16:creationId xmlns:a16="http://schemas.microsoft.com/office/drawing/2014/main" id="{40A0492D-FE5C-4B51-A1DA-22B6FE56122B}"/>
                      </a:ext>
                    </a:extLst>
                  </p:cNvPr>
                  <p:cNvGrpSpPr/>
                  <p:nvPr/>
                </p:nvGrpSpPr>
                <p:grpSpPr>
                  <a:xfrm>
                    <a:off x="230715" y="2905200"/>
                    <a:ext cx="555221" cy="1384532"/>
                    <a:chOff x="230715" y="2905200"/>
                    <a:chExt cx="555221" cy="1384532"/>
                  </a:xfrm>
                </p:grpSpPr>
                <p:sp>
                  <p:nvSpPr>
                    <p:cNvPr id="79" name="文本框 78">
                      <a:extLst>
                        <a:ext uri="{FF2B5EF4-FFF2-40B4-BE49-F238E27FC236}">
                          <a16:creationId xmlns:a16="http://schemas.microsoft.com/office/drawing/2014/main" id="{023F1929-5499-450D-BD20-B82298A10A5C}"/>
                        </a:ext>
                      </a:extLst>
                    </p:cNvPr>
                    <p:cNvSpPr txBox="1"/>
                    <p:nvPr/>
                  </p:nvSpPr>
                  <p:spPr>
                    <a:xfrm>
                      <a:off x="333568" y="3981955"/>
                      <a:ext cx="452368" cy="307777"/>
                    </a:xfrm>
                    <a:prstGeom prst="rect">
                      <a:avLst/>
                    </a:prstGeom>
                    <a:noFill/>
                  </p:spPr>
                  <p:txBody>
                    <a:bodyPr wrap="none" rtlCol="0">
                      <a:spAutoFit/>
                    </a:bodyPr>
                    <a:lstStyle/>
                    <a:p>
                      <a:r>
                        <a:rPr lang="en-US" altLang="zh-CN" sz="1400" b="1" dirty="0"/>
                        <a:t>CLK</a:t>
                      </a:r>
                      <a:endParaRPr lang="zh-CN" altLang="en-US" sz="1400" b="1" dirty="0"/>
                    </a:p>
                  </p:txBody>
                </p:sp>
                <p:sp>
                  <p:nvSpPr>
                    <p:cNvPr id="80" name="文本框 79">
                      <a:extLst>
                        <a:ext uri="{FF2B5EF4-FFF2-40B4-BE49-F238E27FC236}">
                          <a16:creationId xmlns:a16="http://schemas.microsoft.com/office/drawing/2014/main" id="{D3291DF0-295B-4331-A293-2C61BB3A3DA8}"/>
                        </a:ext>
                      </a:extLst>
                    </p:cNvPr>
                    <p:cNvSpPr txBox="1"/>
                    <p:nvPr/>
                  </p:nvSpPr>
                  <p:spPr>
                    <a:xfrm>
                      <a:off x="230715" y="2905200"/>
                      <a:ext cx="272832" cy="307777"/>
                    </a:xfrm>
                    <a:prstGeom prst="rect">
                      <a:avLst/>
                    </a:prstGeom>
                    <a:noFill/>
                  </p:spPr>
                  <p:txBody>
                    <a:bodyPr wrap="none" rtlCol="0">
                      <a:spAutoFit/>
                    </a:bodyPr>
                    <a:lstStyle/>
                    <a:p>
                      <a:r>
                        <a:rPr lang="en-US" altLang="zh-CN" sz="1400" b="1" dirty="0"/>
                        <a:t>a</a:t>
                      </a:r>
                      <a:endParaRPr lang="zh-CN" altLang="en-US" sz="1400" b="1" dirty="0"/>
                    </a:p>
                  </p:txBody>
                </p:sp>
                <p:sp>
                  <p:nvSpPr>
                    <p:cNvPr id="81" name="文本框 80">
                      <a:extLst>
                        <a:ext uri="{FF2B5EF4-FFF2-40B4-BE49-F238E27FC236}">
                          <a16:creationId xmlns:a16="http://schemas.microsoft.com/office/drawing/2014/main" id="{807416A8-B3FC-4BA0-8B96-71C7138C9CEF}"/>
                        </a:ext>
                      </a:extLst>
                    </p:cNvPr>
                    <p:cNvSpPr txBox="1"/>
                    <p:nvPr/>
                  </p:nvSpPr>
                  <p:spPr>
                    <a:xfrm>
                      <a:off x="235572" y="3193231"/>
                      <a:ext cx="280846" cy="307777"/>
                    </a:xfrm>
                    <a:prstGeom prst="rect">
                      <a:avLst/>
                    </a:prstGeom>
                    <a:noFill/>
                  </p:spPr>
                  <p:txBody>
                    <a:bodyPr wrap="none" rtlCol="0">
                      <a:spAutoFit/>
                    </a:bodyPr>
                    <a:lstStyle/>
                    <a:p>
                      <a:r>
                        <a:rPr lang="en-US" altLang="zh-CN" sz="1400" b="1" dirty="0"/>
                        <a:t>b</a:t>
                      </a:r>
                      <a:endParaRPr lang="zh-CN" altLang="en-US" sz="1400" b="1" dirty="0"/>
                    </a:p>
                  </p:txBody>
                </p:sp>
              </p:grpSp>
            </p:grpSp>
            <p:sp>
              <p:nvSpPr>
                <p:cNvPr id="84" name="文本框 83">
                  <a:extLst>
                    <a:ext uri="{FF2B5EF4-FFF2-40B4-BE49-F238E27FC236}">
                      <a16:creationId xmlns:a16="http://schemas.microsoft.com/office/drawing/2014/main" id="{E38C1989-7239-46B6-8274-00D06AE98535}"/>
                    </a:ext>
                  </a:extLst>
                </p:cNvPr>
                <p:cNvSpPr txBox="1"/>
                <p:nvPr/>
              </p:nvSpPr>
              <p:spPr>
                <a:xfrm>
                  <a:off x="8408229" y="2945804"/>
                  <a:ext cx="417102" cy="307777"/>
                </a:xfrm>
                <a:prstGeom prst="rect">
                  <a:avLst/>
                </a:prstGeom>
                <a:noFill/>
              </p:spPr>
              <p:txBody>
                <a:bodyPr wrap="none" rtlCol="0">
                  <a:spAutoFit/>
                </a:bodyPr>
                <a:lstStyle/>
                <a:p>
                  <a:r>
                    <a:rPr lang="en-US" altLang="zh-CN" sz="1400" b="1" dirty="0" err="1"/>
                    <a:t>a·b</a:t>
                  </a:r>
                  <a:endParaRPr lang="zh-CN" altLang="en-US" sz="1400" b="1" dirty="0"/>
                </a:p>
              </p:txBody>
            </p:sp>
          </p:grpSp>
          <p:grpSp>
            <p:nvGrpSpPr>
              <p:cNvPr id="90" name="组合 89">
                <a:extLst>
                  <a:ext uri="{FF2B5EF4-FFF2-40B4-BE49-F238E27FC236}">
                    <a16:creationId xmlns:a16="http://schemas.microsoft.com/office/drawing/2014/main" id="{B5E627BC-D703-4586-8C6F-FAD11EC3C565}"/>
                  </a:ext>
                </a:extLst>
              </p:cNvPr>
              <p:cNvGrpSpPr/>
              <p:nvPr/>
            </p:nvGrpSpPr>
            <p:grpSpPr>
              <a:xfrm>
                <a:off x="2384640" y="2204864"/>
                <a:ext cx="4238330" cy="276522"/>
                <a:chOff x="2384640" y="2204864"/>
                <a:chExt cx="4238330" cy="276522"/>
              </a:xfrm>
            </p:grpSpPr>
            <p:sp>
              <p:nvSpPr>
                <p:cNvPr id="86" name="文本框 85">
                  <a:extLst>
                    <a:ext uri="{FF2B5EF4-FFF2-40B4-BE49-F238E27FC236}">
                      <a16:creationId xmlns:a16="http://schemas.microsoft.com/office/drawing/2014/main" id="{987541BC-6C4A-4A76-93F5-5957925E5447}"/>
                    </a:ext>
                  </a:extLst>
                </p:cNvPr>
                <p:cNvSpPr txBox="1"/>
                <p:nvPr/>
              </p:nvSpPr>
              <p:spPr>
                <a:xfrm>
                  <a:off x="2384640" y="2219776"/>
                  <a:ext cx="466794" cy="261610"/>
                </a:xfrm>
                <a:prstGeom prst="rect">
                  <a:avLst/>
                </a:prstGeom>
                <a:noFill/>
              </p:spPr>
              <p:txBody>
                <a:bodyPr wrap="none" rtlCol="0">
                  <a:spAutoFit/>
                </a:bodyPr>
                <a:lstStyle/>
                <a:p>
                  <a:r>
                    <a:rPr lang="zh-CN" altLang="en-US" sz="1100" b="1" dirty="0"/>
                    <a:t>位积</a:t>
                  </a:r>
                </a:p>
              </p:txBody>
            </p:sp>
            <p:sp>
              <p:nvSpPr>
                <p:cNvPr id="87" name="文本框 86">
                  <a:extLst>
                    <a:ext uri="{FF2B5EF4-FFF2-40B4-BE49-F238E27FC236}">
                      <a16:creationId xmlns:a16="http://schemas.microsoft.com/office/drawing/2014/main" id="{72A4FF7B-7B5A-40DB-BFE4-12F2D1E2BF63}"/>
                    </a:ext>
                  </a:extLst>
                </p:cNvPr>
                <p:cNvSpPr txBox="1"/>
                <p:nvPr/>
              </p:nvSpPr>
              <p:spPr>
                <a:xfrm>
                  <a:off x="3769280" y="2204864"/>
                  <a:ext cx="466794" cy="261610"/>
                </a:xfrm>
                <a:prstGeom prst="rect">
                  <a:avLst/>
                </a:prstGeom>
                <a:noFill/>
              </p:spPr>
              <p:txBody>
                <a:bodyPr wrap="none" rtlCol="0">
                  <a:spAutoFit/>
                </a:bodyPr>
                <a:lstStyle/>
                <a:p>
                  <a:r>
                    <a:rPr lang="zh-CN" altLang="en-US" sz="1100" b="1" dirty="0"/>
                    <a:t>位积</a:t>
                  </a:r>
                </a:p>
              </p:txBody>
            </p:sp>
            <p:sp>
              <p:nvSpPr>
                <p:cNvPr id="88" name="文本框 87">
                  <a:extLst>
                    <a:ext uri="{FF2B5EF4-FFF2-40B4-BE49-F238E27FC236}">
                      <a16:creationId xmlns:a16="http://schemas.microsoft.com/office/drawing/2014/main" id="{C5996DD3-82E9-4EB4-9211-7103570C18E8}"/>
                    </a:ext>
                  </a:extLst>
                </p:cNvPr>
                <p:cNvSpPr txBox="1"/>
                <p:nvPr/>
              </p:nvSpPr>
              <p:spPr>
                <a:xfrm>
                  <a:off x="4985250" y="2204864"/>
                  <a:ext cx="466794" cy="261610"/>
                </a:xfrm>
                <a:prstGeom prst="rect">
                  <a:avLst/>
                </a:prstGeom>
                <a:noFill/>
              </p:spPr>
              <p:txBody>
                <a:bodyPr wrap="none" rtlCol="0">
                  <a:spAutoFit/>
                </a:bodyPr>
                <a:lstStyle/>
                <a:p>
                  <a:r>
                    <a:rPr lang="zh-CN" altLang="en-US" sz="1100" b="1" dirty="0"/>
                    <a:t>位积</a:t>
                  </a:r>
                </a:p>
              </p:txBody>
            </p:sp>
            <p:sp>
              <p:nvSpPr>
                <p:cNvPr id="89" name="文本框 88">
                  <a:extLst>
                    <a:ext uri="{FF2B5EF4-FFF2-40B4-BE49-F238E27FC236}">
                      <a16:creationId xmlns:a16="http://schemas.microsoft.com/office/drawing/2014/main" id="{E4485394-EB88-4022-B01D-91C7F89AC1E1}"/>
                    </a:ext>
                  </a:extLst>
                </p:cNvPr>
                <p:cNvSpPr txBox="1"/>
                <p:nvPr/>
              </p:nvSpPr>
              <p:spPr>
                <a:xfrm>
                  <a:off x="6156176" y="2204864"/>
                  <a:ext cx="466794" cy="261610"/>
                </a:xfrm>
                <a:prstGeom prst="rect">
                  <a:avLst/>
                </a:prstGeom>
                <a:noFill/>
              </p:spPr>
              <p:txBody>
                <a:bodyPr wrap="none" rtlCol="0">
                  <a:spAutoFit/>
                </a:bodyPr>
                <a:lstStyle/>
                <a:p>
                  <a:r>
                    <a:rPr lang="zh-CN" altLang="en-US" sz="1100" b="1" dirty="0"/>
                    <a:t>位积</a:t>
                  </a:r>
                </a:p>
              </p:txBody>
            </p:sp>
          </p:grpSp>
        </p:grpSp>
        <p:sp>
          <p:nvSpPr>
            <p:cNvPr id="92" name="文本框 91">
              <a:extLst>
                <a:ext uri="{FF2B5EF4-FFF2-40B4-BE49-F238E27FC236}">
                  <a16:creationId xmlns:a16="http://schemas.microsoft.com/office/drawing/2014/main" id="{A50632F7-4FBB-4EFD-B020-9FFA0F383A4B}"/>
                </a:ext>
              </a:extLst>
            </p:cNvPr>
            <p:cNvSpPr txBox="1"/>
            <p:nvPr/>
          </p:nvSpPr>
          <p:spPr>
            <a:xfrm>
              <a:off x="1475656" y="3214137"/>
              <a:ext cx="325730" cy="430887"/>
            </a:xfrm>
            <a:prstGeom prst="rect">
              <a:avLst/>
            </a:prstGeom>
            <a:noFill/>
          </p:spPr>
          <p:txBody>
            <a:bodyPr wrap="none" rtlCol="0">
              <a:spAutoFit/>
            </a:bodyPr>
            <a:lstStyle/>
            <a:p>
              <a:r>
                <a:rPr lang="zh-CN" altLang="en-US" sz="1100" b="1" dirty="0"/>
                <a:t>位</a:t>
              </a:r>
              <a:endParaRPr lang="en-US" altLang="zh-CN" sz="1100" b="1" dirty="0"/>
            </a:p>
            <a:p>
              <a:r>
                <a:rPr lang="zh-CN" altLang="en-US" sz="1100" b="1" dirty="0"/>
                <a:t>积</a:t>
              </a:r>
            </a:p>
          </p:txBody>
        </p:sp>
        <p:sp>
          <p:nvSpPr>
            <p:cNvPr id="93" name="文本框 92">
              <a:extLst>
                <a:ext uri="{FF2B5EF4-FFF2-40B4-BE49-F238E27FC236}">
                  <a16:creationId xmlns:a16="http://schemas.microsoft.com/office/drawing/2014/main" id="{F4F0289D-1261-4C1E-B7D0-3E2D692DDAC9}"/>
                </a:ext>
              </a:extLst>
            </p:cNvPr>
            <p:cNvSpPr txBox="1"/>
            <p:nvPr/>
          </p:nvSpPr>
          <p:spPr>
            <a:xfrm>
              <a:off x="2368473" y="3438580"/>
              <a:ext cx="538930" cy="261610"/>
            </a:xfrm>
            <a:prstGeom prst="rect">
              <a:avLst/>
            </a:prstGeom>
            <a:noFill/>
          </p:spPr>
          <p:txBody>
            <a:bodyPr wrap="none" rtlCol="0">
              <a:spAutoFit/>
            </a:bodyPr>
            <a:lstStyle/>
            <a:p>
              <a:r>
                <a:rPr lang="zh-CN" altLang="en-US" sz="1100" b="1" dirty="0"/>
                <a:t>第</a:t>
              </a:r>
              <a:r>
                <a:rPr lang="en-US" altLang="zh-CN" sz="1100" b="1" dirty="0"/>
                <a:t>1</a:t>
              </a:r>
              <a:r>
                <a:rPr lang="zh-CN" altLang="en-US" sz="1100" b="1" dirty="0"/>
                <a:t>行</a:t>
              </a:r>
            </a:p>
          </p:txBody>
        </p:sp>
        <p:sp>
          <p:nvSpPr>
            <p:cNvPr id="94" name="文本框 93">
              <a:extLst>
                <a:ext uri="{FF2B5EF4-FFF2-40B4-BE49-F238E27FC236}">
                  <a16:creationId xmlns:a16="http://schemas.microsoft.com/office/drawing/2014/main" id="{1EF80AF5-954F-4FBA-B1FD-0591E32774EC}"/>
                </a:ext>
              </a:extLst>
            </p:cNvPr>
            <p:cNvSpPr txBox="1"/>
            <p:nvPr/>
          </p:nvSpPr>
          <p:spPr>
            <a:xfrm>
              <a:off x="3779912" y="3429000"/>
              <a:ext cx="538930" cy="261610"/>
            </a:xfrm>
            <a:prstGeom prst="rect">
              <a:avLst/>
            </a:prstGeom>
            <a:noFill/>
          </p:spPr>
          <p:txBody>
            <a:bodyPr wrap="none" rtlCol="0">
              <a:spAutoFit/>
            </a:bodyPr>
            <a:lstStyle/>
            <a:p>
              <a:r>
                <a:rPr lang="zh-CN" altLang="en-US" sz="1100" b="1" dirty="0"/>
                <a:t>第</a:t>
              </a:r>
              <a:r>
                <a:rPr lang="en-US" altLang="zh-CN" sz="1100" b="1" dirty="0"/>
                <a:t>2</a:t>
              </a:r>
              <a:r>
                <a:rPr lang="zh-CN" altLang="en-US" sz="1100" b="1" dirty="0"/>
                <a:t>行</a:t>
              </a:r>
            </a:p>
          </p:txBody>
        </p:sp>
        <p:sp>
          <p:nvSpPr>
            <p:cNvPr id="95" name="文本框 94">
              <a:extLst>
                <a:ext uri="{FF2B5EF4-FFF2-40B4-BE49-F238E27FC236}">
                  <a16:creationId xmlns:a16="http://schemas.microsoft.com/office/drawing/2014/main" id="{C6E31B8A-8E4D-4B38-8F3C-6B5A0B2D08B8}"/>
                </a:ext>
              </a:extLst>
            </p:cNvPr>
            <p:cNvSpPr txBox="1"/>
            <p:nvPr/>
          </p:nvSpPr>
          <p:spPr>
            <a:xfrm>
              <a:off x="4969174" y="3429000"/>
              <a:ext cx="538930" cy="261610"/>
            </a:xfrm>
            <a:prstGeom prst="rect">
              <a:avLst/>
            </a:prstGeom>
            <a:noFill/>
          </p:spPr>
          <p:txBody>
            <a:bodyPr wrap="none" rtlCol="0">
              <a:spAutoFit/>
            </a:bodyPr>
            <a:lstStyle/>
            <a:p>
              <a:r>
                <a:rPr lang="zh-CN" altLang="en-US" sz="1100" b="1" dirty="0"/>
                <a:t>第</a:t>
              </a:r>
              <a:r>
                <a:rPr lang="en-US" altLang="zh-CN" sz="1100" b="1" dirty="0"/>
                <a:t>3</a:t>
              </a:r>
              <a:r>
                <a:rPr lang="zh-CN" altLang="en-US" sz="1100" b="1" dirty="0"/>
                <a:t>行</a:t>
              </a:r>
            </a:p>
          </p:txBody>
        </p:sp>
        <p:sp>
          <p:nvSpPr>
            <p:cNvPr id="96" name="文本框 95">
              <a:extLst>
                <a:ext uri="{FF2B5EF4-FFF2-40B4-BE49-F238E27FC236}">
                  <a16:creationId xmlns:a16="http://schemas.microsoft.com/office/drawing/2014/main" id="{BA07D103-FC28-41DC-89CD-1A7D5450A96B}"/>
                </a:ext>
              </a:extLst>
            </p:cNvPr>
            <p:cNvSpPr txBox="1"/>
            <p:nvPr/>
          </p:nvSpPr>
          <p:spPr>
            <a:xfrm>
              <a:off x="6193310" y="3429000"/>
              <a:ext cx="538930" cy="261610"/>
            </a:xfrm>
            <a:prstGeom prst="rect">
              <a:avLst/>
            </a:prstGeom>
            <a:noFill/>
          </p:spPr>
          <p:txBody>
            <a:bodyPr wrap="none" rtlCol="0">
              <a:spAutoFit/>
            </a:bodyPr>
            <a:lstStyle/>
            <a:p>
              <a:r>
                <a:rPr lang="zh-CN" altLang="en-US" sz="1100" b="1" dirty="0"/>
                <a:t>第</a:t>
              </a:r>
              <a:r>
                <a:rPr lang="en-US" altLang="zh-CN" sz="1100" b="1" dirty="0"/>
                <a:t>4</a:t>
              </a:r>
              <a:r>
                <a:rPr lang="zh-CN" altLang="en-US" sz="1100" b="1" dirty="0"/>
                <a:t>行</a:t>
              </a:r>
            </a:p>
          </p:txBody>
        </p:sp>
        <p:sp>
          <p:nvSpPr>
            <p:cNvPr id="97" name="文本框 96">
              <a:extLst>
                <a:ext uri="{FF2B5EF4-FFF2-40B4-BE49-F238E27FC236}">
                  <a16:creationId xmlns:a16="http://schemas.microsoft.com/office/drawing/2014/main" id="{FD4C8562-2CC3-46BB-9D44-AC387D542D0C}"/>
                </a:ext>
              </a:extLst>
            </p:cNvPr>
            <p:cNvSpPr txBox="1"/>
            <p:nvPr/>
          </p:nvSpPr>
          <p:spPr>
            <a:xfrm>
              <a:off x="7633470" y="3429000"/>
              <a:ext cx="538930" cy="261610"/>
            </a:xfrm>
            <a:prstGeom prst="rect">
              <a:avLst/>
            </a:prstGeom>
            <a:noFill/>
          </p:spPr>
          <p:txBody>
            <a:bodyPr wrap="none" rtlCol="0">
              <a:spAutoFit/>
            </a:bodyPr>
            <a:lstStyle/>
            <a:p>
              <a:r>
                <a:rPr lang="zh-CN" altLang="en-US" sz="1100" b="1" dirty="0"/>
                <a:t>第</a:t>
              </a:r>
              <a:r>
                <a:rPr lang="en-US" altLang="zh-CN" sz="1100" b="1" dirty="0"/>
                <a:t>5</a:t>
              </a:r>
              <a:r>
                <a:rPr lang="zh-CN" altLang="en-US" sz="1100" b="1" dirty="0"/>
                <a:t>行</a:t>
              </a:r>
            </a:p>
          </p:txBody>
        </p:sp>
      </p:grpSp>
      <p:grpSp>
        <p:nvGrpSpPr>
          <p:cNvPr id="108" name="组合 107">
            <a:extLst>
              <a:ext uri="{FF2B5EF4-FFF2-40B4-BE49-F238E27FC236}">
                <a16:creationId xmlns:a16="http://schemas.microsoft.com/office/drawing/2014/main" id="{D0436B2E-BBC2-4099-B5DA-39BBC3FF3A6C}"/>
              </a:ext>
            </a:extLst>
          </p:cNvPr>
          <p:cNvGrpSpPr/>
          <p:nvPr/>
        </p:nvGrpSpPr>
        <p:grpSpPr>
          <a:xfrm>
            <a:off x="3351292" y="980728"/>
            <a:ext cx="5549483" cy="3338657"/>
            <a:chOff x="2982957" y="1069793"/>
            <a:chExt cx="5549483" cy="3338657"/>
          </a:xfrm>
        </p:grpSpPr>
        <p:pic>
          <p:nvPicPr>
            <p:cNvPr id="100" name="图片 99">
              <a:extLst>
                <a:ext uri="{FF2B5EF4-FFF2-40B4-BE49-F238E27FC236}">
                  <a16:creationId xmlns:a16="http://schemas.microsoft.com/office/drawing/2014/main" id="{8EF8A61F-CDE0-4BBC-ABE4-19CFA1C4F65B}"/>
                </a:ext>
              </a:extLst>
            </p:cNvPr>
            <p:cNvPicPr>
              <a:picLocks noChangeAspect="1"/>
            </p:cNvPicPr>
            <p:nvPr/>
          </p:nvPicPr>
          <p:blipFill>
            <a:blip r:embed="rId2"/>
            <a:stretch>
              <a:fillRect/>
            </a:stretch>
          </p:blipFill>
          <p:spPr>
            <a:xfrm>
              <a:off x="2982957" y="1093311"/>
              <a:ext cx="4598267" cy="3315139"/>
            </a:xfrm>
            <a:prstGeom prst="rect">
              <a:avLst/>
            </a:prstGeom>
          </p:spPr>
        </p:pic>
        <p:sp>
          <p:nvSpPr>
            <p:cNvPr id="102" name="文本框 101">
              <a:extLst>
                <a:ext uri="{FF2B5EF4-FFF2-40B4-BE49-F238E27FC236}">
                  <a16:creationId xmlns:a16="http://schemas.microsoft.com/office/drawing/2014/main" id="{C8BBA25D-E1B2-4A45-887C-B23EB009EF64}"/>
                </a:ext>
              </a:extLst>
            </p:cNvPr>
            <p:cNvSpPr txBox="1"/>
            <p:nvPr/>
          </p:nvSpPr>
          <p:spPr>
            <a:xfrm>
              <a:off x="7668344" y="1645857"/>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1</a:t>
              </a:r>
              <a:r>
                <a:rPr lang="zh-CN" altLang="en-US" sz="1200" b="1" dirty="0"/>
                <a:t>行</a:t>
              </a:r>
              <a:r>
                <a:rPr lang="en-US" altLang="zh-CN" sz="1200" b="1" dirty="0"/>
                <a:t>FA</a:t>
              </a:r>
              <a:endParaRPr lang="zh-CN" altLang="en-US" sz="1200" b="1" dirty="0"/>
            </a:p>
          </p:txBody>
        </p:sp>
        <p:sp>
          <p:nvSpPr>
            <p:cNvPr id="103" name="文本框 102">
              <a:extLst>
                <a:ext uri="{FF2B5EF4-FFF2-40B4-BE49-F238E27FC236}">
                  <a16:creationId xmlns:a16="http://schemas.microsoft.com/office/drawing/2014/main" id="{45FB26C9-3540-43FA-B16B-883F0DEFAF10}"/>
                </a:ext>
              </a:extLst>
            </p:cNvPr>
            <p:cNvSpPr txBox="1"/>
            <p:nvPr/>
          </p:nvSpPr>
          <p:spPr>
            <a:xfrm>
              <a:off x="7668344" y="2160946"/>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2</a:t>
              </a:r>
              <a:r>
                <a:rPr lang="zh-CN" altLang="en-US" sz="1200" b="1" dirty="0"/>
                <a:t>行</a:t>
              </a:r>
              <a:r>
                <a:rPr lang="en-US" altLang="zh-CN" sz="1200" b="1" dirty="0"/>
                <a:t>FA</a:t>
              </a:r>
              <a:endParaRPr lang="zh-CN" altLang="en-US" sz="1200" b="1" dirty="0"/>
            </a:p>
          </p:txBody>
        </p:sp>
        <p:sp>
          <p:nvSpPr>
            <p:cNvPr id="104" name="文本框 103">
              <a:extLst>
                <a:ext uri="{FF2B5EF4-FFF2-40B4-BE49-F238E27FC236}">
                  <a16:creationId xmlns:a16="http://schemas.microsoft.com/office/drawing/2014/main" id="{4D2461C4-80D0-4969-A449-40E261E149D4}"/>
                </a:ext>
              </a:extLst>
            </p:cNvPr>
            <p:cNvSpPr txBox="1"/>
            <p:nvPr/>
          </p:nvSpPr>
          <p:spPr>
            <a:xfrm>
              <a:off x="7668344" y="2665002"/>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3</a:t>
              </a:r>
              <a:r>
                <a:rPr lang="zh-CN" altLang="en-US" sz="1200" b="1" dirty="0"/>
                <a:t>行</a:t>
              </a:r>
              <a:r>
                <a:rPr lang="en-US" altLang="zh-CN" sz="1200" b="1" dirty="0"/>
                <a:t>FA</a:t>
              </a:r>
              <a:endParaRPr lang="zh-CN" altLang="en-US" sz="1200" b="1" dirty="0"/>
            </a:p>
          </p:txBody>
        </p:sp>
        <p:sp>
          <p:nvSpPr>
            <p:cNvPr id="105" name="文本框 104">
              <a:extLst>
                <a:ext uri="{FF2B5EF4-FFF2-40B4-BE49-F238E27FC236}">
                  <a16:creationId xmlns:a16="http://schemas.microsoft.com/office/drawing/2014/main" id="{E4D0BE9F-FBFE-4606-834D-7289A4BEB90F}"/>
                </a:ext>
              </a:extLst>
            </p:cNvPr>
            <p:cNvSpPr txBox="1"/>
            <p:nvPr/>
          </p:nvSpPr>
          <p:spPr>
            <a:xfrm>
              <a:off x="7668344" y="3169058"/>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4</a:t>
              </a:r>
              <a:r>
                <a:rPr lang="zh-CN" altLang="en-US" sz="1200" b="1" dirty="0"/>
                <a:t>行</a:t>
              </a:r>
              <a:r>
                <a:rPr lang="en-US" altLang="zh-CN" sz="1200" b="1" dirty="0"/>
                <a:t>FA</a:t>
              </a:r>
              <a:endParaRPr lang="zh-CN" altLang="en-US" sz="1200" b="1" dirty="0"/>
            </a:p>
          </p:txBody>
        </p:sp>
        <p:sp>
          <p:nvSpPr>
            <p:cNvPr id="106" name="文本框 105">
              <a:extLst>
                <a:ext uri="{FF2B5EF4-FFF2-40B4-BE49-F238E27FC236}">
                  <a16:creationId xmlns:a16="http://schemas.microsoft.com/office/drawing/2014/main" id="{5C72551E-0430-4207-8125-586C3A968D99}"/>
                </a:ext>
              </a:extLst>
            </p:cNvPr>
            <p:cNvSpPr txBox="1"/>
            <p:nvPr/>
          </p:nvSpPr>
          <p:spPr>
            <a:xfrm>
              <a:off x="7668344" y="3673114"/>
              <a:ext cx="864096" cy="276999"/>
            </a:xfrm>
            <a:prstGeom prst="rect">
              <a:avLst/>
            </a:prstGeom>
            <a:solidFill>
              <a:schemeClr val="bg2">
                <a:lumMod val="25000"/>
              </a:schemeClr>
            </a:solidFill>
          </p:spPr>
          <p:txBody>
            <a:bodyPr wrap="square" rtlCol="0">
              <a:spAutoFit/>
            </a:bodyPr>
            <a:lstStyle/>
            <a:p>
              <a:r>
                <a:rPr lang="zh-CN" altLang="en-US" sz="1200" b="1" dirty="0">
                  <a:solidFill>
                    <a:schemeClr val="bg1"/>
                  </a:solidFill>
                </a:rPr>
                <a:t>第</a:t>
              </a:r>
              <a:r>
                <a:rPr lang="en-US" altLang="zh-CN" sz="1200" b="1" dirty="0">
                  <a:solidFill>
                    <a:schemeClr val="bg1"/>
                  </a:solidFill>
                </a:rPr>
                <a:t>5</a:t>
              </a:r>
              <a:r>
                <a:rPr lang="zh-CN" altLang="en-US" sz="1200" b="1" dirty="0">
                  <a:solidFill>
                    <a:schemeClr val="bg1"/>
                  </a:solidFill>
                </a:rPr>
                <a:t>行</a:t>
              </a:r>
              <a:r>
                <a:rPr lang="en-US" altLang="zh-CN" sz="1200" b="1" dirty="0">
                  <a:solidFill>
                    <a:schemeClr val="bg1"/>
                  </a:solidFill>
                </a:rPr>
                <a:t>ADD</a:t>
              </a:r>
              <a:endParaRPr lang="zh-CN" altLang="en-US" sz="1200" b="1" dirty="0">
                <a:solidFill>
                  <a:schemeClr val="bg1"/>
                </a:solidFill>
              </a:endParaRPr>
            </a:p>
          </p:txBody>
        </p:sp>
        <p:sp>
          <p:nvSpPr>
            <p:cNvPr id="107" name="文本框 106">
              <a:extLst>
                <a:ext uri="{FF2B5EF4-FFF2-40B4-BE49-F238E27FC236}">
                  <a16:creationId xmlns:a16="http://schemas.microsoft.com/office/drawing/2014/main" id="{4B7E1565-C7C3-4FB7-A93F-3C55C41EC1EF}"/>
                </a:ext>
              </a:extLst>
            </p:cNvPr>
            <p:cNvSpPr txBox="1"/>
            <p:nvPr/>
          </p:nvSpPr>
          <p:spPr>
            <a:xfrm>
              <a:off x="7604720" y="1069793"/>
              <a:ext cx="847486" cy="276999"/>
            </a:xfrm>
            <a:prstGeom prst="rect">
              <a:avLst/>
            </a:prstGeom>
            <a:solidFill>
              <a:schemeClr val="bg2">
                <a:lumMod val="90000"/>
              </a:schemeClr>
            </a:solidFill>
          </p:spPr>
          <p:txBody>
            <a:bodyPr wrap="square" rtlCol="0">
              <a:spAutoFit/>
            </a:bodyPr>
            <a:lstStyle/>
            <a:p>
              <a:r>
                <a:rPr lang="zh-CN" altLang="en-US" sz="1200" b="1" dirty="0"/>
                <a:t>与门阵列</a:t>
              </a:r>
            </a:p>
          </p:txBody>
        </p:sp>
      </p:grpSp>
      <p:sp>
        <p:nvSpPr>
          <p:cNvPr id="99" name="文本框 98">
            <a:extLst>
              <a:ext uri="{FF2B5EF4-FFF2-40B4-BE49-F238E27FC236}">
                <a16:creationId xmlns:a16="http://schemas.microsoft.com/office/drawing/2014/main" id="{A9D78E3A-B400-4C22-AF57-48A8112F2067}"/>
              </a:ext>
            </a:extLst>
          </p:cNvPr>
          <p:cNvSpPr txBox="1"/>
          <p:nvPr/>
        </p:nvSpPr>
        <p:spPr>
          <a:xfrm>
            <a:off x="3491880" y="6433591"/>
            <a:ext cx="2880320" cy="307777"/>
          </a:xfrm>
          <a:prstGeom prst="rect">
            <a:avLst/>
          </a:prstGeom>
          <a:noFill/>
        </p:spPr>
        <p:txBody>
          <a:bodyPr wrap="square">
            <a:spAutoFit/>
          </a:bodyPr>
          <a:lstStyle/>
          <a:p>
            <a:r>
              <a:rPr lang="zh-CN" altLang="en-US" sz="1400" b="1" dirty="0"/>
              <a:t>图</a:t>
            </a:r>
            <a:r>
              <a:rPr lang="en-US" altLang="zh-CN" sz="1400" b="1" dirty="0"/>
              <a:t>3.15    </a:t>
            </a:r>
            <a:r>
              <a:rPr lang="zh-CN" altLang="en-US" sz="1400" b="1" dirty="0"/>
              <a:t>乘法流水线</a:t>
            </a:r>
            <a:endParaRPr lang="zh-CN" altLang="en-US" sz="1400" dirty="0"/>
          </a:p>
        </p:txBody>
      </p:sp>
    </p:spTree>
    <p:extLst>
      <p:ext uri="{BB962C8B-B14F-4D97-AF65-F5344CB8AC3E}">
        <p14:creationId xmlns:p14="http://schemas.microsoft.com/office/powerpoint/2010/main" val="3148269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3.4  </a:t>
            </a:r>
            <a:r>
              <a:rPr lang="zh-CN" altLang="en-US" b="1" dirty="0">
                <a:solidFill>
                  <a:srgbClr val="002060"/>
                </a:solidFill>
                <a:latin typeface="+mn-lt"/>
                <a:ea typeface="黑体" pitchFamily="49" charset="-122"/>
              </a:rPr>
              <a:t>定点除法运算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en-US" altLang="zh-CN" b="1" dirty="0"/>
          </a:p>
          <a:p>
            <a:pPr lvl="1" eaLnBrk="1" hangingPunct="1"/>
            <a:endParaRPr lang="en-US" altLang="zh-CN" sz="2000" b="1" dirty="0"/>
          </a:p>
          <a:p>
            <a:pPr lvl="1" eaLnBrk="1" hangingPunct="1"/>
            <a:r>
              <a:rPr lang="zh-CN" altLang="en-US" sz="1600" b="1" dirty="0"/>
              <a:t>被除数：</a:t>
            </a:r>
            <a:r>
              <a:rPr lang="en-US" altLang="zh-CN" sz="1600" b="1" dirty="0">
                <a:ea typeface="黑体" pitchFamily="49" charset="-122"/>
              </a:rPr>
              <a:t>[x]</a:t>
            </a:r>
            <a:r>
              <a:rPr lang="zh-CN" altLang="en-US" sz="1600" b="1" baseline="-25000" dirty="0">
                <a:ea typeface="黑体" pitchFamily="49" charset="-122"/>
              </a:rPr>
              <a:t>原</a:t>
            </a:r>
            <a:r>
              <a:rPr lang="en-US" altLang="zh-CN" sz="1600" b="1" dirty="0">
                <a:ea typeface="黑体" pitchFamily="49" charset="-122"/>
              </a:rPr>
              <a:t> = X</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1</a:t>
            </a:r>
            <a:r>
              <a:rPr lang="en-US" altLang="zh-CN" sz="1600" b="1" dirty="0">
                <a:ea typeface="黑体" pitchFamily="49" charset="-122"/>
              </a:rPr>
              <a:t>X</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X</a:t>
            </a:r>
            <a:r>
              <a:rPr lang="en-US" altLang="zh-CN" sz="1600" b="1" baseline="-25000" dirty="0" err="1">
                <a:ea typeface="黑体" pitchFamily="49" charset="-122"/>
              </a:rPr>
              <a:t>n</a:t>
            </a:r>
            <a:endParaRPr lang="en-US" altLang="zh-CN" sz="1600" b="1" dirty="0"/>
          </a:p>
          <a:p>
            <a:pPr lvl="1" eaLnBrk="1" hangingPunct="1"/>
            <a:r>
              <a:rPr lang="zh-CN" altLang="en-US" sz="1600" b="1" dirty="0"/>
              <a:t>除数：</a:t>
            </a:r>
            <a:r>
              <a:rPr lang="en-US" altLang="zh-CN" sz="1600" b="1" dirty="0">
                <a:ea typeface="黑体" pitchFamily="49" charset="-122"/>
              </a:rPr>
              <a:t>[y]</a:t>
            </a:r>
            <a:r>
              <a:rPr lang="zh-CN" altLang="en-US" sz="1600" b="1" baseline="-25000" dirty="0">
                <a:ea typeface="黑体" pitchFamily="49" charset="-122"/>
              </a:rPr>
              <a:t>原</a:t>
            </a:r>
            <a:r>
              <a:rPr lang="en-US" altLang="zh-CN" sz="1600" b="1" dirty="0">
                <a:ea typeface="黑体" pitchFamily="49" charset="-122"/>
              </a:rPr>
              <a:t> = y</a:t>
            </a:r>
            <a:r>
              <a:rPr lang="en-US" altLang="zh-CN" sz="1600" b="1" baseline="-25000" dirty="0">
                <a:ea typeface="黑体" pitchFamily="49" charset="-122"/>
              </a:rPr>
              <a:t>0</a:t>
            </a:r>
            <a:r>
              <a:rPr lang="en-US" altLang="zh-CN" sz="1600" b="1" dirty="0">
                <a:ea typeface="黑体" pitchFamily="49" charset="-122"/>
              </a:rPr>
              <a:t>.y</a:t>
            </a:r>
            <a:r>
              <a:rPr lang="en-US" altLang="zh-CN" sz="1600" b="1" baseline="-25000" dirty="0">
                <a:ea typeface="黑体" pitchFamily="49" charset="-122"/>
              </a:rPr>
              <a:t>1</a:t>
            </a:r>
            <a:r>
              <a:rPr lang="en-US" altLang="zh-CN" sz="1600" b="1" dirty="0">
                <a:ea typeface="黑体" pitchFamily="49" charset="-122"/>
              </a:rPr>
              <a:t>y</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y</a:t>
            </a:r>
            <a:r>
              <a:rPr lang="en-US" altLang="zh-CN" sz="1600" b="1" baseline="-25000" dirty="0" err="1">
                <a:ea typeface="黑体" pitchFamily="49" charset="-122"/>
              </a:rPr>
              <a:t>n</a:t>
            </a:r>
            <a:endParaRPr lang="en-US" altLang="zh-CN" sz="1600" b="1" dirty="0"/>
          </a:p>
          <a:p>
            <a:pPr lvl="1" eaLnBrk="1" hangingPunct="1"/>
            <a:endParaRPr lang="en-US" altLang="zh-CN" sz="1600" b="1" dirty="0"/>
          </a:p>
          <a:p>
            <a:pPr lvl="1" eaLnBrk="1" hangingPunct="1"/>
            <a:r>
              <a:rPr lang="zh-CN" altLang="en-US" sz="1600" b="1" dirty="0"/>
              <a:t>商：</a:t>
            </a:r>
            <a:r>
              <a:rPr lang="en-US" altLang="zh-CN" sz="1600" b="1" dirty="0">
                <a:ea typeface="黑体" pitchFamily="49" charset="-122"/>
              </a:rPr>
              <a:t>[Q]</a:t>
            </a:r>
            <a:r>
              <a:rPr lang="zh-CN" altLang="en-US" sz="1600" b="1" baseline="-25000" dirty="0">
                <a:ea typeface="黑体" pitchFamily="49" charset="-122"/>
              </a:rPr>
              <a:t>原</a:t>
            </a:r>
            <a:r>
              <a:rPr lang="en-US" altLang="zh-CN" sz="1600" b="1" dirty="0">
                <a:ea typeface="黑体" pitchFamily="49" charset="-122"/>
              </a:rPr>
              <a:t> = q</a:t>
            </a:r>
            <a:r>
              <a:rPr lang="en-US" altLang="zh-CN" sz="1600" b="1" baseline="-25000" dirty="0">
                <a:ea typeface="黑体" pitchFamily="49" charset="-122"/>
              </a:rPr>
              <a:t>0</a:t>
            </a:r>
            <a:r>
              <a:rPr lang="en-US" altLang="zh-CN" sz="1600" b="1" dirty="0">
                <a:ea typeface="黑体" pitchFamily="49" charset="-122"/>
              </a:rPr>
              <a:t>.q</a:t>
            </a:r>
            <a:r>
              <a:rPr lang="en-US" altLang="zh-CN" sz="1600" b="1" baseline="-25000" dirty="0">
                <a:ea typeface="黑体" pitchFamily="49" charset="-122"/>
              </a:rPr>
              <a:t>1</a:t>
            </a:r>
            <a:r>
              <a:rPr lang="en-US" altLang="zh-CN" sz="1600" b="1" dirty="0">
                <a:ea typeface="黑体" pitchFamily="49" charset="-122"/>
              </a:rPr>
              <a:t>q</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q</a:t>
            </a:r>
            <a:r>
              <a:rPr lang="en-US" altLang="zh-CN" sz="1600" b="1" baseline="-25000" dirty="0" err="1">
                <a:ea typeface="黑体" pitchFamily="49" charset="-122"/>
              </a:rPr>
              <a:t>n</a:t>
            </a:r>
            <a:endParaRPr lang="en-US" altLang="zh-CN" sz="1600" b="1" dirty="0"/>
          </a:p>
          <a:p>
            <a:pPr lvl="1" eaLnBrk="1" hangingPunct="1"/>
            <a:r>
              <a:rPr lang="zh-CN" altLang="en-US" sz="1600" b="1" dirty="0"/>
              <a:t>余数：</a:t>
            </a:r>
            <a:r>
              <a:rPr lang="en-US" altLang="zh-CN" sz="1600" b="1" dirty="0">
                <a:ea typeface="黑体" pitchFamily="49" charset="-122"/>
              </a:rPr>
              <a:t>R= 0.r</a:t>
            </a:r>
            <a:r>
              <a:rPr lang="en-US" altLang="zh-CN" sz="1600" b="1" baseline="-25000" dirty="0">
                <a:ea typeface="黑体" pitchFamily="49" charset="-122"/>
              </a:rPr>
              <a:t>1</a:t>
            </a:r>
            <a:r>
              <a:rPr lang="en-US" altLang="zh-CN" sz="1600" b="1" dirty="0">
                <a:ea typeface="黑体" pitchFamily="49" charset="-122"/>
              </a:rPr>
              <a:t>r</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r</a:t>
            </a:r>
            <a:r>
              <a:rPr lang="en-US" altLang="zh-CN" sz="1600" b="1" baseline="-25000" dirty="0" err="1">
                <a:ea typeface="黑体" pitchFamily="49" charset="-122"/>
              </a:rPr>
              <a:t>n</a:t>
            </a:r>
            <a:endParaRPr lang="en-US" altLang="zh-CN" sz="1600" b="1" baseline="-25000" dirty="0">
              <a:ea typeface="黑体" pitchFamily="49" charset="-122"/>
            </a:endParaRPr>
          </a:p>
          <a:p>
            <a:pPr lvl="1" eaLnBrk="1" hangingPunct="1"/>
            <a:endParaRPr lang="en-US" altLang="zh-CN" sz="1600" b="1" dirty="0"/>
          </a:p>
          <a:p>
            <a:pPr lvl="1" eaLnBrk="1" hangingPunct="1"/>
            <a:r>
              <a:rPr lang="zh-CN" altLang="en-US" sz="1600" b="1" dirty="0"/>
              <a:t>商的符号：</a:t>
            </a:r>
            <a:r>
              <a:rPr lang="en-US" altLang="zh-CN" sz="1600" b="1" dirty="0"/>
              <a:t>q</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0</a:t>
            </a:r>
            <a:r>
              <a:rPr lang="en-US" altLang="zh-CN" sz="1600" b="1" dirty="0">
                <a:latin typeface="等线" panose="02010600030101010101" pitchFamily="2" charset="-122"/>
                <a:ea typeface="等线" panose="02010600030101010101" pitchFamily="2" charset="-122"/>
              </a:rPr>
              <a:t>⊕</a:t>
            </a:r>
            <a:r>
              <a:rPr lang="en-US" altLang="zh-CN" sz="1600" b="1" dirty="0">
                <a:ea typeface="黑体" pitchFamily="49" charset="-122"/>
              </a:rPr>
              <a:t>y</a:t>
            </a:r>
            <a:r>
              <a:rPr lang="en-US" altLang="zh-CN" sz="1600" b="1" baseline="-25000" dirty="0">
                <a:ea typeface="黑体" pitchFamily="49" charset="-122"/>
              </a:rPr>
              <a:t>0</a:t>
            </a:r>
          </a:p>
          <a:p>
            <a:pPr lvl="1" eaLnBrk="1" hangingPunct="1"/>
            <a:r>
              <a:rPr lang="zh-CN" altLang="en-US" sz="1600" b="1" dirty="0"/>
              <a:t>商的数值：</a:t>
            </a:r>
            <a:r>
              <a:rPr lang="en-US" altLang="zh-CN" sz="1600" b="1" dirty="0"/>
              <a:t>|Q|=|x|</a:t>
            </a:r>
            <a:r>
              <a:rPr lang="en-US" altLang="zh-CN" sz="1600" b="1" i="0" dirty="0">
                <a:solidFill>
                  <a:srgbClr val="333333"/>
                </a:solidFill>
                <a:effectLst/>
                <a:latin typeface="微软雅黑" panose="020B0503020204020204" pitchFamily="34" charset="-122"/>
                <a:ea typeface="微软雅黑" panose="020B0503020204020204" pitchFamily="34" charset="-122"/>
              </a:rPr>
              <a:t>÷</a:t>
            </a:r>
            <a:r>
              <a:rPr lang="en-US" altLang="zh-CN" sz="1600" b="1" dirty="0"/>
              <a:t>|y|</a:t>
            </a:r>
          </a:p>
          <a:p>
            <a:pPr lvl="1" eaLnBrk="1" hangingPunct="1"/>
            <a:endParaRPr lang="en-US" altLang="zh-CN" sz="1600" b="1" dirty="0"/>
          </a:p>
          <a:p>
            <a:pPr lvl="1" eaLnBrk="1" hangingPunct="1"/>
            <a:r>
              <a:rPr lang="zh-CN" altLang="en-US" sz="1600" b="1" dirty="0"/>
              <a:t>要求：</a:t>
            </a:r>
            <a:r>
              <a:rPr lang="en-US" altLang="zh-CN" sz="1600" b="1" dirty="0"/>
              <a:t>|x|&lt;|y|</a:t>
            </a:r>
            <a:r>
              <a:rPr lang="zh-CN" altLang="en-US" sz="1600" b="1" dirty="0"/>
              <a:t>，这样将不会发生溢出，即商的绝对值</a:t>
            </a:r>
            <a:r>
              <a:rPr lang="en-US" altLang="zh-CN" sz="1600" b="1" dirty="0"/>
              <a:t>|Q|&lt;1</a:t>
            </a:r>
          </a:p>
          <a:p>
            <a:pPr lvl="1" eaLnBrk="1" hangingPunct="1"/>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4038427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9FFF40-E55D-413E-BA02-0B4C72B78E68}"/>
              </a:ext>
            </a:extLst>
          </p:cNvPr>
          <p:cNvSpPr>
            <a:spLocks noGrp="1"/>
          </p:cNvSpPr>
          <p:nvPr>
            <p:ph type="title"/>
          </p:nvPr>
        </p:nvSpPr>
        <p:spPr>
          <a:xfrm>
            <a:off x="457200" y="89996"/>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BE2E653A-1544-4F3F-B3B7-61C83A932704}"/>
              </a:ext>
            </a:extLst>
          </p:cNvPr>
          <p:cNvSpPr>
            <a:spLocks noGrp="1"/>
          </p:cNvSpPr>
          <p:nvPr>
            <p:ph idx="1"/>
          </p:nvPr>
        </p:nvSpPr>
        <p:spPr>
          <a:xfrm>
            <a:off x="136889" y="1166018"/>
            <a:ext cx="8229600" cy="1414835"/>
          </a:xfrm>
        </p:spPr>
        <p:txBody>
          <a:bodyPr/>
          <a:lstStyle/>
          <a:p>
            <a:pPr lvl="1"/>
            <a:r>
              <a:rPr lang="zh-CN" altLang="en-US" sz="1600" b="1" dirty="0"/>
              <a:t>手工除法运算：</a:t>
            </a:r>
            <a:endParaRPr lang="en-US" altLang="zh-CN" sz="1600" b="1" dirty="0"/>
          </a:p>
          <a:p>
            <a:pPr lvl="2"/>
            <a:r>
              <a:rPr lang="en-US" altLang="zh-CN" sz="1600" b="1" dirty="0"/>
              <a:t>x=0.1001001=73/128</a:t>
            </a:r>
            <a:r>
              <a:rPr lang="zh-CN" altLang="en-US" sz="1600" b="1" dirty="0"/>
              <a:t>，</a:t>
            </a:r>
            <a:r>
              <a:rPr lang="en-US" altLang="zh-CN" sz="1600" b="1" dirty="0"/>
              <a:t>y=0.1011=11/16</a:t>
            </a:r>
          </a:p>
          <a:p>
            <a:pPr lvl="2"/>
            <a:r>
              <a:rPr lang="zh-CN" altLang="en-US" sz="1600" b="1" dirty="0"/>
              <a:t>商</a:t>
            </a:r>
            <a:r>
              <a:rPr lang="en-US" altLang="zh-CN" sz="1600" b="1" dirty="0"/>
              <a:t>Q=0.1101=13/16</a:t>
            </a:r>
            <a:r>
              <a:rPr lang="zh-CN" altLang="en-US" sz="1600" b="1" dirty="0"/>
              <a:t>，余数</a:t>
            </a:r>
            <a:r>
              <a:rPr lang="en-US" altLang="zh-CN" sz="1600" b="1" dirty="0"/>
              <a:t>R=0.00000011=3/256</a:t>
            </a:r>
          </a:p>
          <a:p>
            <a:pPr lvl="2"/>
            <a:r>
              <a:rPr lang="zh-CN" altLang="en-US" sz="1600" b="1" dirty="0"/>
              <a:t>验证：</a:t>
            </a:r>
            <a:r>
              <a:rPr lang="en-US" altLang="zh-CN" sz="1600" b="1" dirty="0"/>
              <a:t>x=</a:t>
            </a:r>
            <a:r>
              <a:rPr lang="en-US" altLang="zh-CN" sz="1600" b="1" dirty="0" err="1"/>
              <a:t>Q·y+R</a:t>
            </a:r>
            <a:r>
              <a:rPr lang="en-US" altLang="zh-CN" sz="1600" b="1" dirty="0"/>
              <a:t>=(13/16)·(11/16)+3/256=146/256=73/128</a:t>
            </a:r>
            <a:endParaRPr lang="zh-CN" altLang="en-US" sz="1600" b="1" dirty="0"/>
          </a:p>
        </p:txBody>
      </p:sp>
      <p:grpSp>
        <p:nvGrpSpPr>
          <p:cNvPr id="42" name="组合 41">
            <a:extLst>
              <a:ext uri="{FF2B5EF4-FFF2-40B4-BE49-F238E27FC236}">
                <a16:creationId xmlns:a16="http://schemas.microsoft.com/office/drawing/2014/main" id="{0F5A6ADC-8AFE-46AC-821C-40C085E96A2E}"/>
              </a:ext>
            </a:extLst>
          </p:cNvPr>
          <p:cNvGrpSpPr/>
          <p:nvPr/>
        </p:nvGrpSpPr>
        <p:grpSpPr>
          <a:xfrm>
            <a:off x="1011329" y="2382454"/>
            <a:ext cx="6224967" cy="4200908"/>
            <a:chOff x="827584" y="1700808"/>
            <a:chExt cx="6480720" cy="4204356"/>
          </a:xfrm>
          <a:solidFill>
            <a:schemeClr val="bg1"/>
          </a:solidFill>
        </p:grpSpPr>
        <p:grpSp>
          <p:nvGrpSpPr>
            <p:cNvPr id="43" name="组合 42">
              <a:extLst>
                <a:ext uri="{FF2B5EF4-FFF2-40B4-BE49-F238E27FC236}">
                  <a16:creationId xmlns:a16="http://schemas.microsoft.com/office/drawing/2014/main" id="{40BB5EAC-4814-4DB7-80CD-56F2A0D16B30}"/>
                </a:ext>
              </a:extLst>
            </p:cNvPr>
            <p:cNvGrpSpPr/>
            <p:nvPr/>
          </p:nvGrpSpPr>
          <p:grpSpPr>
            <a:xfrm>
              <a:off x="827584" y="1700808"/>
              <a:ext cx="6480720" cy="4204356"/>
              <a:chOff x="1547664" y="2204864"/>
              <a:chExt cx="6264696" cy="4204356"/>
            </a:xfrm>
            <a:grpFill/>
          </p:grpSpPr>
          <p:grpSp>
            <p:nvGrpSpPr>
              <p:cNvPr id="45" name="组合 44">
                <a:extLst>
                  <a:ext uri="{FF2B5EF4-FFF2-40B4-BE49-F238E27FC236}">
                    <a16:creationId xmlns:a16="http://schemas.microsoft.com/office/drawing/2014/main" id="{62016A0F-466B-4529-A532-019258F9E718}"/>
                  </a:ext>
                </a:extLst>
              </p:cNvPr>
              <p:cNvGrpSpPr/>
              <p:nvPr/>
            </p:nvGrpSpPr>
            <p:grpSpPr>
              <a:xfrm>
                <a:off x="1547664" y="2204864"/>
                <a:ext cx="6264696" cy="4204356"/>
                <a:chOff x="2123728" y="1484784"/>
                <a:chExt cx="6264696" cy="4204356"/>
              </a:xfrm>
              <a:grpFill/>
            </p:grpSpPr>
            <p:grpSp>
              <p:nvGrpSpPr>
                <p:cNvPr id="47" name="组合 46">
                  <a:extLst>
                    <a:ext uri="{FF2B5EF4-FFF2-40B4-BE49-F238E27FC236}">
                      <a16:creationId xmlns:a16="http://schemas.microsoft.com/office/drawing/2014/main" id="{89D69E7F-2FD6-4803-B5F4-53273BD16F51}"/>
                    </a:ext>
                  </a:extLst>
                </p:cNvPr>
                <p:cNvGrpSpPr/>
                <p:nvPr/>
              </p:nvGrpSpPr>
              <p:grpSpPr>
                <a:xfrm>
                  <a:off x="2123728" y="1484784"/>
                  <a:ext cx="6264696" cy="4204356"/>
                  <a:chOff x="2051720" y="2420888"/>
                  <a:chExt cx="6264696" cy="4204356"/>
                </a:xfrm>
                <a:grpFill/>
              </p:grpSpPr>
              <p:sp>
                <p:nvSpPr>
                  <p:cNvPr id="50" name="文本框 49">
                    <a:extLst>
                      <a:ext uri="{FF2B5EF4-FFF2-40B4-BE49-F238E27FC236}">
                        <a16:creationId xmlns:a16="http://schemas.microsoft.com/office/drawing/2014/main" id="{E96DFC9F-DBAD-4CB7-A7F0-E1ECBD98A006}"/>
                      </a:ext>
                    </a:extLst>
                  </p:cNvPr>
                  <p:cNvSpPr txBox="1"/>
                  <p:nvPr/>
                </p:nvSpPr>
                <p:spPr>
                  <a:xfrm>
                    <a:off x="2051720" y="2420888"/>
                    <a:ext cx="6264696" cy="4204356"/>
                  </a:xfrm>
                  <a:prstGeom prst="rect">
                    <a:avLst/>
                  </a:prstGeom>
                  <a:grpFill/>
                </p:spPr>
                <p:txBody>
                  <a:bodyPr wrap="square" rtlCol="0">
                    <a:spAutoFit/>
                  </a:bodyPr>
                  <a:lstStyle/>
                  <a:p>
                    <a:pPr>
                      <a:lnSpc>
                        <a:spcPct val="150000"/>
                      </a:lnSpc>
                    </a:pPr>
                    <a:r>
                      <a:rPr lang="en-US" altLang="zh-CN" b="1" dirty="0"/>
                      <a:t>                                      0.1 1 0 1                        </a:t>
                    </a:r>
                    <a:r>
                      <a:rPr lang="zh-CN" altLang="en-US" b="1" dirty="0"/>
                      <a:t>商</a:t>
                    </a:r>
                    <a:r>
                      <a:rPr lang="en-US" altLang="zh-CN" b="1" dirty="0"/>
                      <a:t>Q           </a:t>
                    </a:r>
                    <a:r>
                      <a:rPr lang="zh-CN" altLang="en-US" b="1" dirty="0"/>
                      <a:t>操作说明</a:t>
                    </a:r>
                    <a:endParaRPr lang="en-US" altLang="zh-CN" b="1" dirty="0"/>
                  </a:p>
                  <a:p>
                    <a:pPr>
                      <a:lnSpc>
                        <a:spcPct val="150000"/>
                      </a:lnSpc>
                    </a:pPr>
                    <a:r>
                      <a:rPr lang="en-US" altLang="zh-CN" b="1" dirty="0"/>
                      <a:t>  0.1 0 1 1        0.1 0 0 1 0 0 1                           q</a:t>
                    </a:r>
                    <a:r>
                      <a:rPr lang="en-US" altLang="zh-CN" b="1" baseline="-25000" dirty="0"/>
                      <a:t>0</a:t>
                    </a:r>
                    <a:r>
                      <a:rPr lang="en-US" altLang="zh-CN" b="1" dirty="0"/>
                      <a:t>=0              x&lt;y</a:t>
                    </a:r>
                  </a:p>
                  <a:p>
                    <a:pPr>
                      <a:lnSpc>
                        <a:spcPct val="150000"/>
                      </a:lnSpc>
                    </a:pPr>
                    <a:r>
                      <a:rPr lang="en-US" altLang="zh-CN" b="1" dirty="0"/>
                      <a:t>                     -    0.0 1 0 1 1                                 q</a:t>
                    </a:r>
                    <a:r>
                      <a:rPr lang="en-US" altLang="zh-CN" b="1" baseline="-25000" dirty="0"/>
                      <a:t>1</a:t>
                    </a:r>
                    <a:r>
                      <a:rPr lang="en-US" altLang="zh-CN" b="1" dirty="0"/>
                      <a:t>=1             </a:t>
                    </a:r>
                    <a:r>
                      <a:rPr lang="zh-CN" altLang="en-US" b="1" dirty="0"/>
                      <a:t>够减</a:t>
                    </a:r>
                    <a:endParaRPr lang="en-US" altLang="zh-CN" b="1" dirty="0"/>
                  </a:p>
                  <a:p>
                    <a:pPr>
                      <a:lnSpc>
                        <a:spcPct val="150000"/>
                      </a:lnSpc>
                    </a:pPr>
                    <a:r>
                      <a:rPr lang="en-US" altLang="zh-CN" b="1" dirty="0"/>
                      <a:t> 	         0.0 0 1 1 1 0</a:t>
                    </a:r>
                  </a:p>
                  <a:p>
                    <a:pPr>
                      <a:lnSpc>
                        <a:spcPct val="150000"/>
                      </a:lnSpc>
                    </a:pPr>
                    <a:r>
                      <a:rPr lang="en-US" altLang="zh-CN" b="1" dirty="0"/>
                      <a:t> 	    -    0.0 0 1 0 1 1                              q</a:t>
                    </a:r>
                    <a:r>
                      <a:rPr lang="en-US" altLang="zh-CN" b="1" baseline="-25000" dirty="0"/>
                      <a:t>2</a:t>
                    </a:r>
                    <a:r>
                      <a:rPr lang="en-US" altLang="zh-CN" b="1" dirty="0"/>
                      <a:t>=1            </a:t>
                    </a:r>
                    <a:r>
                      <a:rPr lang="zh-CN" altLang="en-US" b="1" dirty="0"/>
                      <a:t>够减</a:t>
                    </a:r>
                    <a:endParaRPr lang="en-US" altLang="zh-CN" b="1" dirty="0"/>
                  </a:p>
                  <a:p>
                    <a:pPr>
                      <a:lnSpc>
                        <a:spcPct val="150000"/>
                      </a:lnSpc>
                    </a:pPr>
                    <a:r>
                      <a:rPr lang="en-US" altLang="zh-CN" b="1" dirty="0"/>
                      <a:t>   	         0.0 0 0 0 1 1 1</a:t>
                    </a:r>
                  </a:p>
                  <a:p>
                    <a:pPr>
                      <a:lnSpc>
                        <a:spcPct val="150000"/>
                      </a:lnSpc>
                    </a:pPr>
                    <a:r>
                      <a:rPr lang="en-US" altLang="zh-CN" b="1" dirty="0"/>
                      <a:t>	         0.0 0 0 1 0 1 1                            q</a:t>
                    </a:r>
                    <a:r>
                      <a:rPr lang="en-US" altLang="zh-CN" b="1" baseline="-25000" dirty="0"/>
                      <a:t>3</a:t>
                    </a:r>
                    <a:r>
                      <a:rPr lang="en-US" altLang="zh-CN" b="1" dirty="0"/>
                      <a:t>=0           </a:t>
                    </a:r>
                    <a:r>
                      <a:rPr lang="zh-CN" altLang="en-US" b="1" dirty="0"/>
                      <a:t>不够减</a:t>
                    </a:r>
                    <a:endParaRPr lang="en-US" altLang="zh-CN" b="1" dirty="0"/>
                  </a:p>
                  <a:p>
                    <a:pPr>
                      <a:lnSpc>
                        <a:spcPct val="150000"/>
                      </a:lnSpc>
                    </a:pPr>
                    <a:r>
                      <a:rPr lang="en-US" altLang="zh-CN" b="1" dirty="0"/>
                      <a:t>	         0.0 0 0 0 1 1 1 0</a:t>
                    </a:r>
                  </a:p>
                  <a:p>
                    <a:pPr>
                      <a:lnSpc>
                        <a:spcPct val="150000"/>
                      </a:lnSpc>
                    </a:pPr>
                    <a:r>
                      <a:rPr lang="en-US" altLang="zh-CN" b="1" dirty="0"/>
                      <a:t>    	     -   0.0 0 0 0 1 0 1 1                         q</a:t>
                    </a:r>
                    <a:r>
                      <a:rPr lang="en-US" altLang="zh-CN" b="1" baseline="-25000" dirty="0"/>
                      <a:t>4</a:t>
                    </a:r>
                    <a:r>
                      <a:rPr lang="en-US" altLang="zh-CN" b="1" dirty="0"/>
                      <a:t>=1           </a:t>
                    </a:r>
                    <a:r>
                      <a:rPr lang="zh-CN" altLang="en-US" b="1" dirty="0"/>
                      <a:t>够减</a:t>
                    </a:r>
                    <a:endParaRPr lang="en-US" altLang="zh-CN" b="1" dirty="0"/>
                  </a:p>
                  <a:p>
                    <a:pPr>
                      <a:lnSpc>
                        <a:spcPct val="150000"/>
                      </a:lnSpc>
                    </a:pPr>
                    <a:r>
                      <a:rPr lang="zh-CN" altLang="en-US" b="1" dirty="0"/>
                      <a:t>   余数</a:t>
                    </a:r>
                    <a:r>
                      <a:rPr lang="en-US" altLang="zh-CN" b="1" dirty="0"/>
                      <a:t>R	         0.0 0 0 0 0 0 1 1                         </a:t>
                    </a:r>
                  </a:p>
                </p:txBody>
              </p:sp>
              <p:cxnSp>
                <p:nvCxnSpPr>
                  <p:cNvPr id="51" name="直接连接符 50">
                    <a:extLst>
                      <a:ext uri="{FF2B5EF4-FFF2-40B4-BE49-F238E27FC236}">
                        <a16:creationId xmlns:a16="http://schemas.microsoft.com/office/drawing/2014/main" id="{D7C521BB-6AD7-4E29-A864-6A1AB39E34DE}"/>
                      </a:ext>
                    </a:extLst>
                  </p:cNvPr>
                  <p:cNvCxnSpPr>
                    <a:cxnSpLocks/>
                  </p:cNvCxnSpPr>
                  <p:nvPr/>
                </p:nvCxnSpPr>
                <p:spPr>
                  <a:xfrm>
                    <a:off x="3131840" y="371703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79562B-7ED9-44B5-85E2-E0E59B746BC9}"/>
                      </a:ext>
                    </a:extLst>
                  </p:cNvPr>
                  <p:cNvCxnSpPr>
                    <a:cxnSpLocks/>
                  </p:cNvCxnSpPr>
                  <p:nvPr/>
                </p:nvCxnSpPr>
                <p:spPr>
                  <a:xfrm>
                    <a:off x="3131840" y="4547705"/>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90364011-4CDC-453F-96C5-AE691AB8A601}"/>
                    </a:ext>
                  </a:extLst>
                </p:cNvPr>
                <p:cNvCxnSpPr>
                  <a:cxnSpLocks/>
                </p:cNvCxnSpPr>
                <p:nvPr/>
              </p:nvCxnSpPr>
              <p:spPr>
                <a:xfrm>
                  <a:off x="3203848" y="443711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3B2907A-11B3-4831-9218-8E5BF0897022}"/>
                    </a:ext>
                  </a:extLst>
                </p:cNvPr>
                <p:cNvCxnSpPr>
                  <a:cxnSpLocks/>
                </p:cNvCxnSpPr>
                <p:nvPr/>
              </p:nvCxnSpPr>
              <p:spPr>
                <a:xfrm flipV="1">
                  <a:off x="3203848" y="5285260"/>
                  <a:ext cx="2232248" cy="540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a:extLst>
                  <a:ext uri="{FF2B5EF4-FFF2-40B4-BE49-F238E27FC236}">
                    <a16:creationId xmlns:a16="http://schemas.microsoft.com/office/drawing/2014/main" id="{5789A446-DD1A-4F85-948F-F0F555D013E3}"/>
                  </a:ext>
                </a:extLst>
              </p:cNvPr>
              <p:cNvCxnSpPr>
                <a:cxnSpLocks/>
              </p:cNvCxnSpPr>
              <p:nvPr/>
            </p:nvCxnSpPr>
            <p:spPr>
              <a:xfrm>
                <a:off x="2771800" y="2708920"/>
                <a:ext cx="190821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弧形 43">
              <a:extLst>
                <a:ext uri="{FF2B5EF4-FFF2-40B4-BE49-F238E27FC236}">
                  <a16:creationId xmlns:a16="http://schemas.microsoft.com/office/drawing/2014/main" id="{D43BBC12-F942-4332-9C4B-A833DBCB6742}"/>
                </a:ext>
              </a:extLst>
            </p:cNvPr>
            <p:cNvSpPr/>
            <p:nvPr/>
          </p:nvSpPr>
          <p:spPr>
            <a:xfrm rot="5400000">
              <a:off x="1434831" y="1977811"/>
              <a:ext cx="842038" cy="476164"/>
            </a:xfrm>
            <a:prstGeom prst="arc">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extLst>
      <p:ext uri="{BB962C8B-B14F-4D97-AF65-F5344CB8AC3E}">
        <p14:creationId xmlns:p14="http://schemas.microsoft.com/office/powerpoint/2010/main" val="777577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5D6B9A-69AD-4BBE-AE4D-75353DBD5742}"/>
              </a:ext>
            </a:extLst>
          </p:cNvPr>
          <p:cNvSpPr>
            <a:spLocks noGrp="1"/>
          </p:cNvSpPr>
          <p:nvPr>
            <p:ph type="title"/>
          </p:nvPr>
        </p:nvSpPr>
        <p:spPr>
          <a:xfrm>
            <a:off x="457200" y="66517"/>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395536" y="1166018"/>
            <a:ext cx="5616624" cy="5215310"/>
          </a:xfrm>
        </p:spPr>
        <p:txBody>
          <a:bodyPr/>
          <a:lstStyle/>
          <a:p>
            <a:pPr lvl="1"/>
            <a:r>
              <a:rPr lang="en-US" altLang="zh-CN" sz="2000" b="1" dirty="0"/>
              <a:t>1</a:t>
            </a:r>
            <a:r>
              <a:rPr lang="zh-CN" altLang="en-US" sz="2000" b="1" dirty="0"/>
              <a:t>、原码恢复余数法</a:t>
            </a:r>
            <a:endParaRPr lang="zh-CN" altLang="en-US" sz="2200" b="1" dirty="0"/>
          </a:p>
          <a:p>
            <a:pPr lvl="2"/>
            <a:endParaRPr lang="en-US" altLang="zh-CN" sz="1800" b="1" dirty="0"/>
          </a:p>
          <a:p>
            <a:pPr lvl="2"/>
            <a:r>
              <a:rPr lang="zh-CN" altLang="en-US" sz="1800" b="1" dirty="0"/>
              <a:t>例</a:t>
            </a:r>
            <a:r>
              <a:rPr lang="en-US" altLang="zh-CN" sz="1800" b="1" dirty="0"/>
              <a:t>3.12</a:t>
            </a:r>
            <a:r>
              <a:rPr lang="zh-CN" altLang="en-US" sz="1800" b="1" dirty="0"/>
              <a:t>：</a:t>
            </a:r>
            <a:r>
              <a:rPr lang="en-US" altLang="zh-CN" sz="1800" b="1" dirty="0"/>
              <a:t>[x]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baseline="-25000" dirty="0"/>
          </a:p>
          <a:p>
            <a:pPr lvl="2"/>
            <a:endParaRPr lang="en-US" altLang="zh-CN" sz="1800" b="1" dirty="0"/>
          </a:p>
          <a:p>
            <a:pPr lvl="2"/>
            <a:r>
              <a:rPr lang="zh-CN" altLang="en-US" sz="1800" b="1" dirty="0"/>
              <a:t>解：</a:t>
            </a:r>
            <a:endParaRPr lang="en-US" altLang="zh-CN" sz="1800" b="1" dirty="0"/>
          </a:p>
          <a:p>
            <a:pPr lvl="3"/>
            <a:r>
              <a:rPr lang="en-US" altLang="zh-CN" sz="1600" b="1" dirty="0"/>
              <a:t>|x|=0.1001</a:t>
            </a:r>
            <a:r>
              <a:rPr lang="zh-CN" altLang="en-US" sz="1600" b="1" dirty="0"/>
              <a:t>，</a:t>
            </a:r>
            <a:r>
              <a:rPr lang="en-US" altLang="zh-CN" sz="1600" b="1" dirty="0"/>
              <a:t>|y|= 0.1011</a:t>
            </a:r>
            <a:r>
              <a:rPr lang="zh-CN" altLang="en-US" sz="1600" b="1" dirty="0"/>
              <a:t>，</a:t>
            </a:r>
            <a:r>
              <a:rPr lang="en-US" altLang="zh-CN" sz="1600" b="1" dirty="0"/>
              <a:t> [-|y|]</a:t>
            </a:r>
            <a:r>
              <a:rPr lang="zh-CN" altLang="en-US" sz="1600" b="1" baseline="-25000" dirty="0"/>
              <a:t>补 </a:t>
            </a:r>
            <a:r>
              <a:rPr lang="en-US" altLang="zh-CN" sz="1600" b="1" dirty="0"/>
              <a:t>= 1.0101</a:t>
            </a:r>
          </a:p>
          <a:p>
            <a:pPr lvl="3"/>
            <a:endParaRPr lang="en-US" altLang="zh-CN" sz="16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商的符号</a:t>
            </a:r>
            <a:r>
              <a:rPr lang="en-US" altLang="zh-CN" sz="1600" b="1" dirty="0"/>
              <a:t>=x</a:t>
            </a:r>
            <a:r>
              <a:rPr lang="zh-CN" altLang="en-US" sz="1600" b="1" dirty="0"/>
              <a:t>的符号</a:t>
            </a:r>
            <a:r>
              <a:rPr lang="zh-CN" altLang="en-US" sz="1600" b="1" dirty="0">
                <a:latin typeface="等线" panose="02010600030101010101" pitchFamily="2" charset="-122"/>
                <a:ea typeface="等线" panose="02010600030101010101" pitchFamily="2" charset="-122"/>
              </a:rPr>
              <a:t>⊕</a:t>
            </a:r>
            <a:r>
              <a:rPr lang="en-US" altLang="zh-CN" sz="1600" b="1" dirty="0"/>
              <a:t>y</a:t>
            </a:r>
            <a:r>
              <a:rPr lang="zh-CN" altLang="en-US" sz="1600" b="1" dirty="0"/>
              <a:t>的符号</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0</a:t>
            </a:r>
            <a:r>
              <a:rPr lang="en-US" altLang="zh-CN" sz="1600" b="1" dirty="0"/>
              <a:t>=1</a:t>
            </a:r>
          </a:p>
          <a:p>
            <a:pPr lvl="3"/>
            <a:endParaRPr lang="en-US" altLang="zh-CN" sz="1600" b="1" dirty="0"/>
          </a:p>
          <a:p>
            <a:pPr lvl="3"/>
            <a:r>
              <a:rPr lang="zh-CN" altLang="en-US" sz="1600" b="1" dirty="0"/>
              <a:t>余数的符号</a:t>
            </a:r>
            <a:r>
              <a:rPr lang="en-US" altLang="zh-CN" sz="1600" b="1" dirty="0"/>
              <a:t>=x</a:t>
            </a:r>
            <a:r>
              <a:rPr lang="zh-CN" altLang="en-US" sz="1600" b="1" dirty="0"/>
              <a:t>的符号</a:t>
            </a:r>
            <a:r>
              <a:rPr lang="en-US" altLang="zh-CN" sz="1600" b="1" dirty="0"/>
              <a:t>=1</a:t>
            </a:r>
          </a:p>
          <a:p>
            <a:pPr lvl="3"/>
            <a:endParaRPr lang="en-US" altLang="zh-CN" sz="1600" b="1" dirty="0"/>
          </a:p>
          <a:p>
            <a:pPr lvl="3"/>
            <a:r>
              <a:rPr lang="zh-CN" altLang="en-US" sz="1600" b="1" dirty="0"/>
              <a:t>商</a:t>
            </a:r>
            <a:r>
              <a:rPr lang="en-US" altLang="zh-CN" sz="1600" b="1" dirty="0"/>
              <a:t>|Q|=0.1101</a:t>
            </a:r>
            <a:r>
              <a:rPr lang="zh-CN" altLang="en-US" sz="1600" b="1" dirty="0"/>
              <a:t>，</a:t>
            </a:r>
            <a:r>
              <a:rPr lang="en-US" altLang="zh-CN" sz="1600" b="1" dirty="0"/>
              <a:t>[Q]</a:t>
            </a:r>
            <a:r>
              <a:rPr lang="zh-CN" altLang="en-US" sz="1600" b="1" baseline="-25000" dirty="0"/>
              <a:t>原</a:t>
            </a:r>
            <a:r>
              <a:rPr lang="en-US" altLang="zh-CN" sz="1600" b="1" dirty="0"/>
              <a:t>=1.1101</a:t>
            </a:r>
          </a:p>
          <a:p>
            <a:pPr lvl="3"/>
            <a:endParaRPr lang="en-US" altLang="zh-CN" sz="1600" b="1" dirty="0"/>
          </a:p>
          <a:p>
            <a:pPr lvl="3"/>
            <a:r>
              <a:rPr lang="zh-CN" altLang="en-US" sz="1600" b="1" dirty="0"/>
              <a:t>余数</a:t>
            </a:r>
            <a:r>
              <a:rPr lang="en-US" altLang="zh-CN" sz="1600" b="1" dirty="0"/>
              <a:t>|R|=0.0000 0001</a:t>
            </a:r>
            <a:r>
              <a:rPr lang="zh-CN" altLang="en-US" sz="1600" b="1" dirty="0"/>
              <a:t>，</a:t>
            </a:r>
            <a:r>
              <a:rPr lang="en-US" altLang="zh-CN" sz="1600" b="1" dirty="0"/>
              <a:t>[R]</a:t>
            </a:r>
            <a:r>
              <a:rPr lang="zh-CN" altLang="en-US" sz="1600" b="1" baseline="-25000" dirty="0"/>
              <a:t>原</a:t>
            </a:r>
            <a:r>
              <a:rPr lang="en-US" altLang="zh-CN" sz="1600" b="1" dirty="0"/>
              <a:t>=1.0000 0001</a:t>
            </a:r>
          </a:p>
          <a:p>
            <a:pPr lvl="3"/>
            <a:endParaRPr lang="en-US" altLang="zh-CN" sz="1400" b="1" dirty="0"/>
          </a:p>
          <a:p>
            <a:pPr lvl="3"/>
            <a:endParaRPr lang="zh-CN" altLang="en-US" sz="800" b="1" dirty="0"/>
          </a:p>
        </p:txBody>
      </p:sp>
      <p:sp>
        <p:nvSpPr>
          <p:cNvPr id="5" name="文本框 4">
            <a:extLst>
              <a:ext uri="{FF2B5EF4-FFF2-40B4-BE49-F238E27FC236}">
                <a16:creationId xmlns:a16="http://schemas.microsoft.com/office/drawing/2014/main" id="{2EB0F0E9-DF3C-45CF-8DD2-443954645E7B}"/>
              </a:ext>
            </a:extLst>
          </p:cNvPr>
          <p:cNvSpPr txBox="1"/>
          <p:nvPr/>
        </p:nvSpPr>
        <p:spPr>
          <a:xfrm>
            <a:off x="5983560" y="1185633"/>
            <a:ext cx="3096344" cy="3336747"/>
          </a:xfrm>
          <a:prstGeom prst="rect">
            <a:avLst/>
          </a:prstGeom>
          <a:noFill/>
        </p:spPr>
        <p:txBody>
          <a:bodyPr wrap="square">
            <a:spAutoFit/>
          </a:bodyPr>
          <a:lstStyle/>
          <a:p>
            <a:pPr>
              <a:lnSpc>
                <a:spcPct val="150000"/>
              </a:lnSpc>
            </a:pPr>
            <a:r>
              <a:rPr lang="zh-CN" altLang="en-US" sz="1600" b="1" dirty="0">
                <a:latin typeface="+mj-ea"/>
                <a:ea typeface="+mj-ea"/>
              </a:rPr>
              <a:t>验证：</a:t>
            </a:r>
            <a:endParaRPr lang="en-US" altLang="zh-CN" sz="1600" b="1" dirty="0">
              <a:latin typeface="+mj-ea"/>
              <a:ea typeface="+mj-ea"/>
            </a:endParaRPr>
          </a:p>
          <a:p>
            <a:pPr marL="269875">
              <a:lnSpc>
                <a:spcPct val="150000"/>
              </a:lnSpc>
            </a:pPr>
            <a:r>
              <a:rPr lang="en-US" altLang="zh-CN" sz="1600" b="1" dirty="0"/>
              <a:t>x = -9/16</a:t>
            </a:r>
            <a:r>
              <a:rPr lang="zh-CN" altLang="en-US" sz="1600" b="1" dirty="0"/>
              <a:t>，</a:t>
            </a:r>
            <a:r>
              <a:rPr lang="en-US" altLang="zh-CN" sz="1600" b="1" dirty="0"/>
              <a:t>y = 11/16</a:t>
            </a:r>
          </a:p>
          <a:p>
            <a:pPr marL="555625" indent="-285750">
              <a:lnSpc>
                <a:spcPct val="150000"/>
              </a:lnSpc>
              <a:buFont typeface="Arial" panose="020B0604020202020204" pitchFamily="34" charset="0"/>
              <a:buChar char="•"/>
            </a:pPr>
            <a:r>
              <a:rPr lang="zh-CN" altLang="en-US" sz="1600" b="1" dirty="0"/>
              <a:t>商</a:t>
            </a:r>
            <a:r>
              <a:rPr lang="en-US" altLang="zh-CN" sz="1600" b="1" dirty="0"/>
              <a:t>Q = -0.1101 = -13/16</a:t>
            </a:r>
            <a:r>
              <a:rPr lang="zh-CN" altLang="en-US" sz="1600" b="1" dirty="0"/>
              <a:t>，</a:t>
            </a:r>
            <a:endParaRPr lang="en-US" altLang="zh-CN" sz="1600" b="1" dirty="0"/>
          </a:p>
          <a:p>
            <a:pPr marL="555625" indent="-285750">
              <a:lnSpc>
                <a:spcPct val="150000"/>
              </a:lnSpc>
              <a:buFont typeface="Arial" panose="020B0604020202020204" pitchFamily="34" charset="0"/>
              <a:buChar char="•"/>
            </a:pPr>
            <a:r>
              <a:rPr lang="zh-CN" altLang="en-US" sz="1600" b="1" dirty="0"/>
              <a:t>余数</a:t>
            </a:r>
            <a:r>
              <a:rPr lang="en-US" altLang="zh-CN" sz="1600" b="1" dirty="0"/>
              <a:t>R = -0.0000 0001 = -1/256</a:t>
            </a:r>
          </a:p>
          <a:p>
            <a:pPr marL="555625" indent="-285750">
              <a:lnSpc>
                <a:spcPct val="150000"/>
              </a:lnSpc>
              <a:buFont typeface="Arial" panose="020B0604020202020204" pitchFamily="34" charset="0"/>
              <a:buChar char="•"/>
            </a:pPr>
            <a:r>
              <a:rPr lang="en-US" altLang="zh-CN" sz="1600" b="1" dirty="0"/>
              <a:t>x = </a:t>
            </a:r>
            <a:r>
              <a:rPr lang="en-US" altLang="zh-CN" sz="1600" b="1" dirty="0" err="1"/>
              <a:t>Q·y+R</a:t>
            </a:r>
            <a:r>
              <a:rPr lang="en-US" altLang="zh-CN" sz="1600" b="1" dirty="0"/>
              <a:t> =</a:t>
            </a:r>
          </a:p>
          <a:p>
            <a:pPr marL="269875">
              <a:lnSpc>
                <a:spcPct val="150000"/>
              </a:lnSpc>
            </a:pPr>
            <a:r>
              <a:rPr lang="en-US" altLang="zh-CN" sz="1600" b="1" dirty="0"/>
              <a:t> (-13/16)·(11/16)+(-1/256) = -144/256 = - 9/16</a:t>
            </a:r>
          </a:p>
          <a:p>
            <a:pPr lvl="3">
              <a:lnSpc>
                <a:spcPct val="150000"/>
              </a:lnSpc>
            </a:pPr>
            <a:endParaRPr lang="en-US" altLang="zh-CN" sz="1400" b="1" dirty="0"/>
          </a:p>
        </p:txBody>
      </p:sp>
    </p:spTree>
    <p:extLst>
      <p:ext uri="{BB962C8B-B14F-4D97-AF65-F5344CB8AC3E}">
        <p14:creationId xmlns:p14="http://schemas.microsoft.com/office/powerpoint/2010/main" val="18609523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B6E95B9-8674-4317-B6C1-B3970A721483}"/>
              </a:ext>
            </a:extLst>
          </p:cNvPr>
          <p:cNvGrpSpPr/>
          <p:nvPr/>
        </p:nvGrpSpPr>
        <p:grpSpPr>
          <a:xfrm>
            <a:off x="2040817" y="541919"/>
            <a:ext cx="5312864" cy="6143851"/>
            <a:chOff x="1853207" y="260648"/>
            <a:chExt cx="5306129" cy="7249935"/>
          </a:xfrm>
          <a:solidFill>
            <a:schemeClr val="bg1"/>
          </a:solidFill>
        </p:grpSpPr>
        <p:grpSp>
          <p:nvGrpSpPr>
            <p:cNvPr id="2" name="组合 1">
              <a:extLst>
                <a:ext uri="{FF2B5EF4-FFF2-40B4-BE49-F238E27FC236}">
                  <a16:creationId xmlns:a16="http://schemas.microsoft.com/office/drawing/2014/main" id="{4F8CE3B3-7B0D-4862-8A17-4524B0E5B8BC}"/>
                </a:ext>
              </a:extLst>
            </p:cNvPr>
            <p:cNvGrpSpPr/>
            <p:nvPr/>
          </p:nvGrpSpPr>
          <p:grpSpPr>
            <a:xfrm>
              <a:off x="1853207" y="260648"/>
              <a:ext cx="5306129" cy="7249935"/>
              <a:chOff x="1843905" y="1484784"/>
              <a:chExt cx="5696285" cy="7249935"/>
            </a:xfrm>
            <a:grpFill/>
          </p:grpSpPr>
          <p:grpSp>
            <p:nvGrpSpPr>
              <p:cNvPr id="15" name="组合 14">
                <a:extLst>
                  <a:ext uri="{FF2B5EF4-FFF2-40B4-BE49-F238E27FC236}">
                    <a16:creationId xmlns:a16="http://schemas.microsoft.com/office/drawing/2014/main" id="{40CC534B-D037-4A16-9B17-5AC45F85898A}"/>
                  </a:ext>
                </a:extLst>
              </p:cNvPr>
              <p:cNvGrpSpPr/>
              <p:nvPr/>
            </p:nvGrpSpPr>
            <p:grpSpPr>
              <a:xfrm>
                <a:off x="1843905" y="1484784"/>
                <a:ext cx="5696285" cy="7249935"/>
                <a:chOff x="1859651" y="1484784"/>
                <a:chExt cx="5035847" cy="7249935"/>
              </a:xfrm>
              <a:grpFill/>
            </p:grpSpPr>
            <p:grpSp>
              <p:nvGrpSpPr>
                <p:cNvPr id="4" name="组合 3">
                  <a:extLst>
                    <a:ext uri="{FF2B5EF4-FFF2-40B4-BE49-F238E27FC236}">
                      <a16:creationId xmlns:a16="http://schemas.microsoft.com/office/drawing/2014/main" id="{AD2D8858-9FAF-4203-8BAF-93814D61770D}"/>
                    </a:ext>
                  </a:extLst>
                </p:cNvPr>
                <p:cNvGrpSpPr/>
                <p:nvPr/>
              </p:nvGrpSpPr>
              <p:grpSpPr>
                <a:xfrm>
                  <a:off x="1935294" y="1484784"/>
                  <a:ext cx="4960204" cy="7249935"/>
                  <a:chOff x="1935294" y="2420888"/>
                  <a:chExt cx="4960204" cy="7249935"/>
                </a:xfrm>
                <a:grpFill/>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915786" cy="7249935"/>
                  </a:xfrm>
                  <a:prstGeom prst="rect">
                    <a:avLst/>
                  </a:prstGeom>
                  <a:grpFill/>
                </p:spPr>
                <p:txBody>
                  <a:bodyPr wrap="square" rtlCol="0">
                    <a:spAutoFit/>
                  </a:bodyPr>
                  <a:lstStyle/>
                  <a:p>
                    <a:r>
                      <a:rPr lang="en-US" altLang="zh-CN" sz="1400" b="1" dirty="0"/>
                      <a:t>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0 0. 1 0 0 1 		               </a:t>
                    </a:r>
                  </a:p>
                  <a:p>
                    <a:r>
                      <a:rPr lang="en-US" altLang="zh-CN" sz="1400" b="1" dirty="0"/>
                      <a:t>	0 1. 0 0 1 0         0. 0 0 0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0 0. 0 1 1 1         0. 0 0 0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0 0. 1 1 1 0         0.</a:t>
                    </a:r>
                    <a:r>
                      <a:rPr lang="zh-CN" altLang="en-US" sz="1400" b="1" dirty="0"/>
                      <a:t> </a:t>
                    </a:r>
                    <a:r>
                      <a:rPr lang="en-US" altLang="zh-CN" sz="1400" b="1" dirty="0"/>
                      <a:t>0</a:t>
                    </a:r>
                    <a:r>
                      <a:rPr lang="zh-CN" altLang="en-US" sz="1400" b="1" dirty="0"/>
                      <a:t> </a:t>
                    </a:r>
                    <a:r>
                      <a:rPr lang="en-US" altLang="zh-CN" sz="1400" b="1" dirty="0"/>
                      <a:t>0</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0 0. 0 0 1 1         0. 0 0 1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0 1. 0 1 1 0         0. 0 1 1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0 0. 0 1 1 0</a:t>
                    </a:r>
                  </a:p>
                  <a:p>
                    <a:r>
                      <a:rPr lang="en-US" altLang="zh-CN" sz="1400" b="1" dirty="0"/>
                      <a:t>          	0 0. 1 1 0 0         0. 1 1 0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35294" y="3618470"/>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2008839" y="914162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859651" y="438179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6506091"/>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98314" y="5826318"/>
                <a:ext cx="5251268"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D3383561-B33C-45C7-BFBD-7A96B9431FBC}"/>
                </a:ext>
              </a:extLst>
            </p:cNvPr>
            <p:cNvCxnSpPr>
              <a:cxnSpLocks/>
            </p:cNvCxnSpPr>
            <p:nvPr/>
          </p:nvCxnSpPr>
          <p:spPr>
            <a:xfrm>
              <a:off x="2010402" y="6046700"/>
              <a:ext cx="489159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B9536250-4C23-4463-820D-492FC528F96A}"/>
              </a:ext>
            </a:extLst>
          </p:cNvPr>
          <p:cNvCxnSpPr/>
          <p:nvPr/>
        </p:nvCxnSpPr>
        <p:spPr>
          <a:xfrm flipH="1">
            <a:off x="1910180" y="19888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EAB8F3-417F-4BB0-BBC7-F3723862F525}"/>
              </a:ext>
            </a:extLst>
          </p:cNvPr>
          <p:cNvCxnSpPr/>
          <p:nvPr/>
        </p:nvCxnSpPr>
        <p:spPr>
          <a:xfrm flipH="1">
            <a:off x="1835696" y="27809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F0F4758-E85E-4E6F-AA89-5382A51779FC}"/>
              </a:ext>
            </a:extLst>
          </p:cNvPr>
          <p:cNvCxnSpPr/>
          <p:nvPr/>
        </p:nvCxnSpPr>
        <p:spPr>
          <a:xfrm flipH="1">
            <a:off x="1896801" y="3668197"/>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3CCAE01F-FD19-4A79-8BF6-03459190E0A9}"/>
              </a:ext>
            </a:extLst>
          </p:cNvPr>
          <p:cNvCxnSpPr/>
          <p:nvPr/>
        </p:nvCxnSpPr>
        <p:spPr>
          <a:xfrm flipH="1">
            <a:off x="1896801" y="45811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90C9FC5-C08D-4E5C-8CFA-561009A1DF66}"/>
              </a:ext>
            </a:extLst>
          </p:cNvPr>
          <p:cNvSpPr txBox="1"/>
          <p:nvPr/>
        </p:nvSpPr>
        <p:spPr>
          <a:xfrm>
            <a:off x="7233820" y="1068399"/>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23" name="文本框 22">
            <a:extLst>
              <a:ext uri="{FF2B5EF4-FFF2-40B4-BE49-F238E27FC236}">
                <a16:creationId xmlns:a16="http://schemas.microsoft.com/office/drawing/2014/main" id="{83FD7866-48A0-4D48-842B-72485A9F11B2}"/>
              </a:ext>
            </a:extLst>
          </p:cNvPr>
          <p:cNvSpPr txBox="1"/>
          <p:nvPr/>
        </p:nvSpPr>
        <p:spPr>
          <a:xfrm>
            <a:off x="7279197" y="2228850"/>
            <a:ext cx="1584176"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，加</a:t>
            </a:r>
            <a:r>
              <a:rPr lang="en-US" altLang="zh-CN" sz="1400" b="1" dirty="0">
                <a:solidFill>
                  <a:srgbClr val="C00000"/>
                </a:solidFill>
              </a:rPr>
              <a:t>|y|</a:t>
            </a:r>
            <a:r>
              <a:rPr lang="zh-CN" altLang="en-US" sz="1400" b="1" dirty="0">
                <a:solidFill>
                  <a:srgbClr val="C00000"/>
                </a:solidFill>
              </a:rPr>
              <a:t>恢复余数，左移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endParaRPr lang="zh-CN" altLang="en-US" sz="1400" b="1" dirty="0">
              <a:solidFill>
                <a:srgbClr val="C00000"/>
              </a:solidFill>
            </a:endParaRPr>
          </a:p>
        </p:txBody>
      </p:sp>
      <p:sp>
        <p:nvSpPr>
          <p:cNvPr id="24" name="文本框 23">
            <a:extLst>
              <a:ext uri="{FF2B5EF4-FFF2-40B4-BE49-F238E27FC236}">
                <a16:creationId xmlns:a16="http://schemas.microsoft.com/office/drawing/2014/main" id="{E2C16939-3D72-484A-BC08-95EC549338E3}"/>
              </a:ext>
            </a:extLst>
          </p:cNvPr>
          <p:cNvSpPr txBox="1"/>
          <p:nvPr/>
        </p:nvSpPr>
        <p:spPr>
          <a:xfrm>
            <a:off x="326004" y="914510"/>
            <a:ext cx="1451116" cy="307777"/>
          </a:xfrm>
          <a:prstGeom prst="rect">
            <a:avLst/>
          </a:prstGeom>
          <a:solidFill>
            <a:schemeClr val="bg1"/>
          </a:solidFill>
        </p:spPr>
        <p:txBody>
          <a:bodyPr wrap="square">
            <a:spAutoFit/>
          </a:bodyPr>
          <a:lstStyle/>
          <a:p>
            <a:r>
              <a:rPr lang="zh-CN" altLang="en-US" sz="1400" b="1" dirty="0"/>
              <a:t>原码恢复余数法</a:t>
            </a:r>
            <a:endParaRPr lang="zh-CN" altLang="en-US" sz="1400" dirty="0"/>
          </a:p>
        </p:txBody>
      </p:sp>
      <p:sp>
        <p:nvSpPr>
          <p:cNvPr id="3" name="标题 2">
            <a:extLst>
              <a:ext uri="{FF2B5EF4-FFF2-40B4-BE49-F238E27FC236}">
                <a16:creationId xmlns:a16="http://schemas.microsoft.com/office/drawing/2014/main" id="{7CA7BE88-EEE6-4663-B3CE-37BBD3B27116}"/>
              </a:ext>
            </a:extLst>
          </p:cNvPr>
          <p:cNvSpPr>
            <a:spLocks noGrp="1"/>
          </p:cNvSpPr>
          <p:nvPr>
            <p:ph type="title"/>
          </p:nvPr>
        </p:nvSpPr>
        <p:spPr>
          <a:xfrm>
            <a:off x="537118" y="39675"/>
            <a:ext cx="8069762" cy="723946"/>
          </a:xfrm>
        </p:spPr>
        <p:txBody>
          <a:bodyPr/>
          <a:lstStyle/>
          <a:p>
            <a:r>
              <a:rPr lang="en-US" altLang="zh-CN" sz="4000" b="1" dirty="0">
                <a:ea typeface="黑体" panose="02010609060101010101" pitchFamily="49" charset="-122"/>
              </a:rPr>
              <a:t>3.4.1  </a:t>
            </a:r>
            <a:r>
              <a:rPr lang="zh-CN" altLang="en-US" sz="4000" b="1" dirty="0">
                <a:ea typeface="黑体" panose="02010609060101010101" pitchFamily="49" charset="-122"/>
              </a:rPr>
              <a:t>原码一位除法</a:t>
            </a:r>
            <a:endParaRPr lang="zh-CN" altLang="en-US" sz="4000" dirty="0"/>
          </a:p>
        </p:txBody>
      </p:sp>
    </p:spTree>
    <p:extLst>
      <p:ext uri="{BB962C8B-B14F-4D97-AF65-F5344CB8AC3E}">
        <p14:creationId xmlns:p14="http://schemas.microsoft.com/office/powerpoint/2010/main" val="18506299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A8E625-9398-49F5-BBFA-8F531061B6DB}"/>
              </a:ext>
            </a:extLst>
          </p:cNvPr>
          <p:cNvSpPr>
            <a:spLocks noGrp="1"/>
          </p:cNvSpPr>
          <p:nvPr>
            <p:ph type="title"/>
          </p:nvPr>
        </p:nvSpPr>
        <p:spPr>
          <a:xfrm>
            <a:off x="423731" y="160337"/>
            <a:ext cx="8229600" cy="1143000"/>
          </a:xfrm>
        </p:spPr>
        <p:txBody>
          <a:bodyPr/>
          <a:lstStyle/>
          <a:p>
            <a:r>
              <a:rPr lang="en-US" altLang="zh-CN" b="1">
                <a:ea typeface="黑体" panose="02010609060101010101" pitchFamily="49" charset="-122"/>
              </a:rPr>
              <a:t>3.4.1  </a:t>
            </a:r>
            <a:r>
              <a:rPr lang="zh-CN" altLang="en-US" b="1">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23731" y="1166018"/>
            <a:ext cx="8229600" cy="5287318"/>
          </a:xfrm>
        </p:spPr>
        <p:txBody>
          <a:bodyPr/>
          <a:lstStyle/>
          <a:p>
            <a:pPr lvl="1"/>
            <a:r>
              <a:rPr lang="en-US" altLang="zh-CN" sz="2000" b="1" dirty="0"/>
              <a:t>2</a:t>
            </a:r>
            <a:r>
              <a:rPr lang="zh-CN" altLang="en-US" sz="2000" b="1" dirty="0"/>
              <a:t>、原码不恢复余数法</a:t>
            </a:r>
            <a:endParaRPr lang="zh-CN" altLang="en-US" sz="2200" b="1" dirty="0"/>
          </a:p>
          <a:p>
            <a:pPr lvl="2"/>
            <a:endParaRPr lang="en-US" altLang="zh-CN" sz="1800" b="1" dirty="0"/>
          </a:p>
          <a:p>
            <a:pPr lvl="2"/>
            <a:r>
              <a:rPr lang="zh-CN" altLang="en-US" sz="1800" b="1" dirty="0"/>
              <a:t>例</a:t>
            </a:r>
            <a:r>
              <a:rPr lang="en-US" altLang="zh-CN" sz="1800" b="1" dirty="0"/>
              <a:t>3.13</a:t>
            </a:r>
            <a:r>
              <a:rPr lang="zh-CN" altLang="en-US" sz="1800" b="1" dirty="0"/>
              <a:t>：</a:t>
            </a:r>
            <a:r>
              <a:rPr lang="en-US" altLang="zh-CN" sz="1800" b="1" dirty="0"/>
              <a:t> [x]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dirty="0"/>
          </a:p>
          <a:p>
            <a:pPr lvl="3"/>
            <a:endParaRPr lang="en-US" altLang="zh-CN" sz="14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运算结果中的</a:t>
            </a:r>
            <a:r>
              <a:rPr lang="en-US" altLang="zh-CN" sz="1600" b="1" dirty="0"/>
              <a:t>C</a:t>
            </a:r>
            <a:r>
              <a:rPr lang="zh-CN" altLang="en-US" sz="1600" b="1" dirty="0"/>
              <a:t>为进位标志，并且商位与进位相同，</a:t>
            </a:r>
            <a:r>
              <a:rPr lang="en-US" altLang="zh-CN" sz="1600" b="1" dirty="0"/>
              <a:t>q=C</a:t>
            </a:r>
          </a:p>
          <a:p>
            <a:pPr lvl="3"/>
            <a:endParaRPr lang="en-US" altLang="zh-CN" sz="1600" b="1" dirty="0"/>
          </a:p>
          <a:p>
            <a:pPr lvl="3"/>
            <a:r>
              <a:rPr lang="zh-CN" altLang="en-US" sz="1600" b="1" dirty="0"/>
              <a:t>运算结果同例</a:t>
            </a:r>
            <a:r>
              <a:rPr lang="en-US" altLang="zh-CN" sz="1600" b="1" dirty="0"/>
              <a:t>3.12</a:t>
            </a:r>
          </a:p>
          <a:p>
            <a:pPr lvl="3"/>
            <a:endParaRPr lang="en-US" altLang="zh-CN" sz="1400" b="1" dirty="0"/>
          </a:p>
          <a:p>
            <a:pPr lvl="3"/>
            <a:endParaRPr lang="en-US" altLang="zh-CN" sz="1400" b="1" dirty="0"/>
          </a:p>
          <a:p>
            <a:pPr lvl="2"/>
            <a:r>
              <a:rPr lang="zh-CN" altLang="en-US" sz="1800" b="1" dirty="0"/>
              <a:t>不恢复余数法的规则：</a:t>
            </a:r>
            <a:endParaRPr lang="en-US" altLang="zh-CN" sz="1800" b="1" dirty="0"/>
          </a:p>
          <a:p>
            <a:pPr lvl="3"/>
            <a:r>
              <a:rPr lang="zh-CN" altLang="en-US" sz="1400" b="1" dirty="0"/>
              <a:t>余数为正，商</a:t>
            </a:r>
            <a:r>
              <a:rPr lang="en-US" altLang="zh-CN" sz="1400" b="1" dirty="0"/>
              <a:t>1</a:t>
            </a:r>
            <a:r>
              <a:rPr lang="zh-CN" altLang="en-US" sz="1400" b="1" dirty="0"/>
              <a:t>，余数左移</a:t>
            </a:r>
            <a:r>
              <a:rPr lang="en-US" altLang="zh-CN" sz="1400" b="1" dirty="0"/>
              <a:t>1</a:t>
            </a:r>
            <a:r>
              <a:rPr lang="zh-CN" altLang="en-US" sz="1400" b="1" dirty="0"/>
              <a:t>位，减去除数</a:t>
            </a:r>
            <a:endParaRPr lang="en-US" altLang="zh-CN" sz="1400" b="1" dirty="0"/>
          </a:p>
          <a:p>
            <a:pPr lvl="3"/>
            <a:r>
              <a:rPr lang="zh-CN" altLang="en-US" sz="1400" b="1" dirty="0"/>
              <a:t>余数为负，商</a:t>
            </a:r>
            <a:r>
              <a:rPr lang="en-US" altLang="zh-CN" sz="1400" b="1" dirty="0"/>
              <a:t>0</a:t>
            </a:r>
            <a:r>
              <a:rPr lang="zh-CN" altLang="en-US" sz="1400" b="1" dirty="0"/>
              <a:t>，余数左移</a:t>
            </a:r>
            <a:r>
              <a:rPr lang="en-US" altLang="zh-CN" sz="1400" b="1" dirty="0"/>
              <a:t>1</a:t>
            </a:r>
            <a:r>
              <a:rPr lang="zh-CN" altLang="en-US" sz="1400" b="1" dirty="0"/>
              <a:t>位，加上除数</a:t>
            </a:r>
            <a:endParaRPr lang="en-US" altLang="zh-CN" sz="1400" b="1" dirty="0"/>
          </a:p>
          <a:p>
            <a:pPr lvl="3"/>
            <a:endParaRPr lang="en-US" altLang="zh-CN" sz="1200" b="1" dirty="0"/>
          </a:p>
          <a:p>
            <a:pPr lvl="2"/>
            <a:endParaRPr lang="en-US" altLang="zh-CN" sz="1800" b="1" dirty="0"/>
          </a:p>
          <a:p>
            <a:pPr lvl="2"/>
            <a:r>
              <a:rPr lang="zh-CN" altLang="en-US" sz="1800" b="1" dirty="0"/>
              <a:t>一会儿做加法运算，一会儿做减法运算，也称为</a:t>
            </a:r>
            <a:r>
              <a:rPr lang="zh-CN" altLang="en-US" sz="1800" b="1" dirty="0">
                <a:solidFill>
                  <a:srgbClr val="C00000"/>
                </a:solidFill>
              </a:rPr>
              <a:t>加减交替法</a:t>
            </a:r>
            <a:endParaRPr lang="en-US" altLang="zh-CN" sz="1800" b="1" dirty="0">
              <a:solidFill>
                <a:srgbClr val="C00000"/>
              </a:solidFill>
            </a:endParaRPr>
          </a:p>
          <a:p>
            <a:pPr lvl="2"/>
            <a:endParaRPr lang="en-US" altLang="zh-CN" sz="1800" b="1" dirty="0">
              <a:solidFill>
                <a:srgbClr val="C00000"/>
              </a:solidFill>
            </a:endParaRPr>
          </a:p>
          <a:p>
            <a:pPr lvl="3"/>
            <a:endParaRPr lang="zh-CN" altLang="en-US" sz="400" b="1" dirty="0"/>
          </a:p>
        </p:txBody>
      </p:sp>
    </p:spTree>
    <p:extLst>
      <p:ext uri="{BB962C8B-B14F-4D97-AF65-F5344CB8AC3E}">
        <p14:creationId xmlns:p14="http://schemas.microsoft.com/office/powerpoint/2010/main" val="394941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3BBF82A-3806-4D54-881E-B4A57D11E42C}"/>
              </a:ext>
            </a:extLst>
          </p:cNvPr>
          <p:cNvGrpSpPr/>
          <p:nvPr/>
        </p:nvGrpSpPr>
        <p:grpSpPr>
          <a:xfrm>
            <a:off x="1688670" y="1535826"/>
            <a:ext cx="5323640" cy="5047536"/>
            <a:chOff x="1475656" y="258901"/>
            <a:chExt cx="5323640" cy="5047536"/>
          </a:xfrm>
        </p:grpSpPr>
        <p:grpSp>
          <p:nvGrpSpPr>
            <p:cNvPr id="5" name="组合 4">
              <a:extLst>
                <a:ext uri="{FF2B5EF4-FFF2-40B4-BE49-F238E27FC236}">
                  <a16:creationId xmlns:a16="http://schemas.microsoft.com/office/drawing/2014/main" id="{92F3C8FF-06C9-4C71-A093-AC4B1B7FCFC3}"/>
                </a:ext>
              </a:extLst>
            </p:cNvPr>
            <p:cNvGrpSpPr/>
            <p:nvPr/>
          </p:nvGrpSpPr>
          <p:grpSpPr>
            <a:xfrm>
              <a:off x="1475656" y="258901"/>
              <a:ext cx="5323640" cy="5047536"/>
              <a:chOff x="1979712" y="1484784"/>
              <a:chExt cx="5560479" cy="5047536"/>
            </a:xfrm>
          </p:grpSpPr>
          <p:grpSp>
            <p:nvGrpSpPr>
              <p:cNvPr id="10" name="组合 9">
                <a:extLst>
                  <a:ext uri="{FF2B5EF4-FFF2-40B4-BE49-F238E27FC236}">
                    <a16:creationId xmlns:a16="http://schemas.microsoft.com/office/drawing/2014/main" id="{FF3D7900-C71A-41A4-9A41-03D15D4276BE}"/>
                  </a:ext>
                </a:extLst>
              </p:cNvPr>
              <p:cNvGrpSpPr/>
              <p:nvPr/>
            </p:nvGrpSpPr>
            <p:grpSpPr>
              <a:xfrm>
                <a:off x="1979712" y="1484784"/>
                <a:ext cx="5560479" cy="5047536"/>
                <a:chOff x="1979712" y="1484784"/>
                <a:chExt cx="4915786" cy="5047536"/>
              </a:xfrm>
            </p:grpSpPr>
            <p:grpSp>
              <p:nvGrpSpPr>
                <p:cNvPr id="12" name="组合 11">
                  <a:extLst>
                    <a:ext uri="{FF2B5EF4-FFF2-40B4-BE49-F238E27FC236}">
                      <a16:creationId xmlns:a16="http://schemas.microsoft.com/office/drawing/2014/main" id="{0F43D655-C644-4DDA-9549-A46D611D4033}"/>
                    </a:ext>
                  </a:extLst>
                </p:cNvPr>
                <p:cNvGrpSpPr/>
                <p:nvPr/>
              </p:nvGrpSpPr>
              <p:grpSpPr>
                <a:xfrm>
                  <a:off x="1979712" y="1484784"/>
                  <a:ext cx="4915786" cy="5047536"/>
                  <a:chOff x="1979712" y="2420888"/>
                  <a:chExt cx="4915786" cy="5047536"/>
                </a:xfrm>
              </p:grpSpPr>
              <p:sp>
                <p:nvSpPr>
                  <p:cNvPr id="15" name="文本框 14">
                    <a:extLst>
                      <a:ext uri="{FF2B5EF4-FFF2-40B4-BE49-F238E27FC236}">
                        <a16:creationId xmlns:a16="http://schemas.microsoft.com/office/drawing/2014/main" id="{71AAA9B8-1944-4699-8BA5-3A75BFD22028}"/>
                      </a:ext>
                    </a:extLst>
                  </p:cNvPr>
                  <p:cNvSpPr txBox="1"/>
                  <p:nvPr/>
                </p:nvSpPr>
                <p:spPr>
                  <a:xfrm>
                    <a:off x="1979712" y="2420888"/>
                    <a:ext cx="4915786" cy="5047536"/>
                  </a:xfrm>
                  <a:prstGeom prst="rect">
                    <a:avLst/>
                  </a:prstGeom>
                  <a:solidFill>
                    <a:schemeClr val="bg1"/>
                  </a:solidFill>
                </p:spPr>
                <p:txBody>
                  <a:bodyPr wrap="square" rtlCol="0">
                    <a:spAutoFit/>
                  </a:bodyPr>
                  <a:lstStyle/>
                  <a:p>
                    <a:r>
                      <a:rPr lang="en-US" altLang="zh-CN" sz="1400" b="1" dirty="0"/>
                      <a:t>                 C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a:t>
                    </a:r>
                    <a:r>
                      <a:rPr lang="en-US" altLang="zh-CN" sz="1400" b="1" dirty="0">
                        <a:solidFill>
                          <a:srgbClr val="FF0000"/>
                        </a:solidFill>
                      </a:rPr>
                      <a:t>0</a:t>
                    </a:r>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1 1. 1 1 0 0         0. 0 0 0 </a:t>
                    </a:r>
                    <a:r>
                      <a:rPr lang="en-US" altLang="zh-CN" sz="1400" b="1" dirty="0">
                        <a:solidFill>
                          <a:srgbClr val="FF0000"/>
                        </a:solidFill>
                      </a:rPr>
                      <a:t> </a:t>
                    </a:r>
                    <a:r>
                      <a:rPr lang="en-US" altLang="zh-CN" sz="1400" b="1" dirty="0"/>
                      <a:t>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1 1 1 	     0. 0 0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0 0. 1 1 1 0         0. 0 0 1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0 0. 0 0 1 1         0. 0 0 1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0 0. 0 1 1 0         0.</a:t>
                    </a:r>
                    <a:r>
                      <a:rPr lang="zh-CN" altLang="en-US" sz="1400" b="1" dirty="0"/>
                      <a:t> </a:t>
                    </a:r>
                    <a:r>
                      <a:rPr lang="en-US" altLang="zh-CN" sz="1400" b="1" dirty="0"/>
                      <a:t>0</a:t>
                    </a:r>
                    <a:r>
                      <a:rPr lang="zh-CN" altLang="en-US" sz="1400" b="1" dirty="0"/>
                      <a:t> </a:t>
                    </a:r>
                    <a:r>
                      <a:rPr lang="en-US" altLang="zh-CN" sz="1400" b="1" dirty="0"/>
                      <a:t>1</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0 </a:t>
                    </a:r>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1 1. 0 1 1 0         0. 1 1 0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              </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endParaRPr lang="en-US" altLang="zh-CN" sz="1400" b="1" dirty="0"/>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16" name="直接连接符 15">
                    <a:extLst>
                      <a:ext uri="{FF2B5EF4-FFF2-40B4-BE49-F238E27FC236}">
                        <a16:creationId xmlns:a16="http://schemas.microsoft.com/office/drawing/2014/main" id="{D6AF1507-3035-498D-8324-AB4291A0FE07}"/>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4E79ABC-267A-4E8A-AEF0-7D20F92A36B6}"/>
                      </a:ext>
                    </a:extLst>
                  </p:cNvPr>
                  <p:cNvCxnSpPr>
                    <a:cxnSpLocks/>
                  </p:cNvCxnSpPr>
                  <p:nvPr/>
                </p:nvCxnSpPr>
                <p:spPr>
                  <a:xfrm>
                    <a:off x="1979712" y="4078819"/>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471026CF-C00B-47DB-9482-EEDB9E3D0DD2}"/>
                    </a:ext>
                  </a:extLst>
                </p:cNvPr>
                <p:cNvCxnSpPr>
                  <a:cxnSpLocks/>
                </p:cNvCxnSpPr>
                <p:nvPr/>
              </p:nvCxnSpPr>
              <p:spPr>
                <a:xfrm>
                  <a:off x="1979712" y="4006811"/>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8305C1E-0553-4CF9-86A5-F52F52D08DB1}"/>
                    </a:ext>
                  </a:extLst>
                </p:cNvPr>
                <p:cNvCxnSpPr>
                  <a:cxnSpLocks/>
                </p:cNvCxnSpPr>
                <p:nvPr/>
              </p:nvCxnSpPr>
              <p:spPr>
                <a:xfrm>
                  <a:off x="1979712" y="4860275"/>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C50B7B4D-387A-402C-A92B-534CE01650ED}"/>
                  </a:ext>
                </a:extLst>
              </p:cNvPr>
              <p:cNvCxnSpPr>
                <a:cxnSpLocks/>
              </p:cNvCxnSpPr>
              <p:nvPr/>
            </p:nvCxnSpPr>
            <p:spPr>
              <a:xfrm>
                <a:off x="1985028" y="5713739"/>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2E84F649-A154-4F7C-8E75-46F168757DC8}"/>
                </a:ext>
              </a:extLst>
            </p:cNvPr>
            <p:cNvCxnSpPr/>
            <p:nvPr/>
          </p:nvCxnSpPr>
          <p:spPr>
            <a:xfrm flipH="1">
              <a:off x="1691680" y="1484784"/>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BB0090D-73F7-41A7-8734-A31EEFF3005D}"/>
                </a:ext>
              </a:extLst>
            </p:cNvPr>
            <p:cNvCxnSpPr/>
            <p:nvPr/>
          </p:nvCxnSpPr>
          <p:spPr>
            <a:xfrm flipH="1">
              <a:off x="1691680" y="234888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A150849-6CC7-42BC-B5FB-0032A9A38E1A}"/>
                </a:ext>
              </a:extLst>
            </p:cNvPr>
            <p:cNvCxnSpPr/>
            <p:nvPr/>
          </p:nvCxnSpPr>
          <p:spPr>
            <a:xfrm flipH="1">
              <a:off x="1691680" y="3212976"/>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FE62B3B-FFC0-4851-997E-F47332A108EF}"/>
                </a:ext>
              </a:extLst>
            </p:cNvPr>
            <p:cNvCxnSpPr/>
            <p:nvPr/>
          </p:nvCxnSpPr>
          <p:spPr>
            <a:xfrm flipH="1">
              <a:off x="1691680" y="40664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C4784361-4F76-4567-8511-89F29DA79DD9}"/>
              </a:ext>
            </a:extLst>
          </p:cNvPr>
          <p:cNvSpPr txBox="1"/>
          <p:nvPr/>
        </p:nvSpPr>
        <p:spPr>
          <a:xfrm>
            <a:off x="7164288" y="1874810"/>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19" name="文本框 18">
            <a:extLst>
              <a:ext uri="{FF2B5EF4-FFF2-40B4-BE49-F238E27FC236}">
                <a16:creationId xmlns:a16="http://schemas.microsoft.com/office/drawing/2014/main" id="{77307972-52D3-44C4-BD32-66EC950F3A58}"/>
              </a:ext>
            </a:extLst>
          </p:cNvPr>
          <p:cNvSpPr txBox="1"/>
          <p:nvPr/>
        </p:nvSpPr>
        <p:spPr>
          <a:xfrm>
            <a:off x="7164288" y="2896326"/>
            <a:ext cx="1584176"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位，加</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商值与</a:t>
            </a:r>
            <a:r>
              <a:rPr lang="en-US" altLang="zh-CN" sz="1400" b="1" dirty="0" err="1">
                <a:solidFill>
                  <a:srgbClr val="C00000"/>
                </a:solidFill>
              </a:rPr>
              <a:t>Cout</a:t>
            </a:r>
            <a:r>
              <a:rPr lang="zh-CN" altLang="en-US" sz="1400" b="1" dirty="0">
                <a:solidFill>
                  <a:srgbClr val="C00000"/>
                </a:solidFill>
              </a:rPr>
              <a:t>恰好一致</a:t>
            </a:r>
          </a:p>
        </p:txBody>
      </p:sp>
      <p:sp>
        <p:nvSpPr>
          <p:cNvPr id="2" name="标题 1">
            <a:extLst>
              <a:ext uri="{FF2B5EF4-FFF2-40B4-BE49-F238E27FC236}">
                <a16:creationId xmlns:a16="http://schemas.microsoft.com/office/drawing/2014/main" id="{3B2F8E1D-04D8-4FF5-9418-BF4F8B087E11}"/>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Tree>
    <p:extLst>
      <p:ext uri="{BB962C8B-B14F-4D97-AF65-F5344CB8AC3E}">
        <p14:creationId xmlns:p14="http://schemas.microsoft.com/office/powerpoint/2010/main" val="15498436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BB8B2-E769-42A9-A0E1-A0E82C5D4377}"/>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DBA5A9D2-5A3A-49A9-8D32-CA2C891CFD85}"/>
              </a:ext>
            </a:extLst>
          </p:cNvPr>
          <p:cNvSpPr>
            <a:spLocks noGrp="1"/>
          </p:cNvSpPr>
          <p:nvPr>
            <p:ph idx="1"/>
          </p:nvPr>
        </p:nvSpPr>
        <p:spPr/>
        <p:txBody>
          <a:bodyPr/>
          <a:lstStyle/>
          <a:p>
            <a:pPr lvl="1"/>
            <a:r>
              <a:rPr lang="en-US" altLang="zh-CN" sz="2000" b="1" dirty="0"/>
              <a:t>3</a:t>
            </a:r>
            <a:r>
              <a:rPr lang="zh-CN" altLang="en-US" sz="2000" b="1" dirty="0"/>
              <a:t>、原码不恢复余数法的逻辑实现（教材图</a:t>
            </a:r>
            <a:r>
              <a:rPr lang="en-US" altLang="zh-CN" sz="2000" b="1" dirty="0"/>
              <a:t>3.16</a:t>
            </a:r>
            <a:r>
              <a:rPr lang="zh-CN" altLang="en-US" sz="2000" b="1" dirty="0"/>
              <a:t>）</a:t>
            </a:r>
            <a:endParaRPr lang="en-US" altLang="zh-CN" sz="2200" b="1" dirty="0"/>
          </a:p>
          <a:p>
            <a:endParaRPr lang="zh-CN" altLang="en-US" sz="2000" b="1" dirty="0"/>
          </a:p>
        </p:txBody>
      </p:sp>
      <p:pic>
        <p:nvPicPr>
          <p:cNvPr id="5" name="图片 4">
            <a:extLst>
              <a:ext uri="{FF2B5EF4-FFF2-40B4-BE49-F238E27FC236}">
                <a16:creationId xmlns:a16="http://schemas.microsoft.com/office/drawing/2014/main" id="{ADD2D876-FB86-45EF-AEDB-220B585A9924}"/>
              </a:ext>
            </a:extLst>
          </p:cNvPr>
          <p:cNvPicPr>
            <a:picLocks noChangeAspect="1"/>
          </p:cNvPicPr>
          <p:nvPr/>
        </p:nvPicPr>
        <p:blipFill>
          <a:blip r:embed="rId2"/>
          <a:stretch>
            <a:fillRect/>
          </a:stretch>
        </p:blipFill>
        <p:spPr>
          <a:xfrm>
            <a:off x="1929756" y="2000489"/>
            <a:ext cx="5284487" cy="3938249"/>
          </a:xfrm>
          <a:prstGeom prst="rect">
            <a:avLst/>
          </a:prstGeom>
        </p:spPr>
      </p:pic>
      <p:sp>
        <p:nvSpPr>
          <p:cNvPr id="4" name="文本框 3">
            <a:extLst>
              <a:ext uri="{FF2B5EF4-FFF2-40B4-BE49-F238E27FC236}">
                <a16:creationId xmlns:a16="http://schemas.microsoft.com/office/drawing/2014/main" id="{A65345FE-8EE2-4727-9846-3DE6EA581DE8}"/>
              </a:ext>
            </a:extLst>
          </p:cNvPr>
          <p:cNvSpPr txBox="1"/>
          <p:nvPr/>
        </p:nvSpPr>
        <p:spPr>
          <a:xfrm>
            <a:off x="3203848" y="6142948"/>
            <a:ext cx="3168352" cy="307777"/>
          </a:xfrm>
          <a:prstGeom prst="rect">
            <a:avLst/>
          </a:prstGeom>
          <a:noFill/>
        </p:spPr>
        <p:txBody>
          <a:bodyPr wrap="square">
            <a:spAutoFit/>
          </a:bodyPr>
          <a:lstStyle/>
          <a:p>
            <a:r>
              <a:rPr lang="zh-CN" altLang="en-US" sz="1400" b="1" dirty="0"/>
              <a:t>图</a:t>
            </a:r>
            <a:r>
              <a:rPr lang="en-US" altLang="zh-CN" sz="1400" b="1" dirty="0"/>
              <a:t>3.16    </a:t>
            </a:r>
            <a:r>
              <a:rPr lang="zh-CN" altLang="en-US" sz="1400" b="1" dirty="0"/>
              <a:t>原码不恢复余数法的逻辑实现</a:t>
            </a:r>
            <a:endParaRPr lang="zh-CN" altLang="en-US" sz="1400" dirty="0"/>
          </a:p>
        </p:txBody>
      </p:sp>
    </p:spTree>
    <p:extLst>
      <p:ext uri="{BB962C8B-B14F-4D97-AF65-F5344CB8AC3E}">
        <p14:creationId xmlns:p14="http://schemas.microsoft.com/office/powerpoint/2010/main" val="15098370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ECDA21B-02D9-492E-9086-A61ED7FC5FC6}"/>
              </a:ext>
            </a:extLst>
          </p:cNvPr>
          <p:cNvSpPr>
            <a:spLocks noGrp="1"/>
          </p:cNvSpPr>
          <p:nvPr>
            <p:ph type="title"/>
          </p:nvPr>
        </p:nvSpPr>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92837" y="1287080"/>
            <a:ext cx="8229600" cy="3303441"/>
          </a:xfrm>
        </p:spPr>
        <p:txBody>
          <a:bodyPr/>
          <a:lstStyle/>
          <a:p>
            <a:pPr lvl="1" eaLnBrk="1" hangingPunct="1"/>
            <a:r>
              <a:rPr lang="en-US" altLang="zh-CN" sz="2000" b="1" dirty="0"/>
              <a:t>1</a:t>
            </a:r>
            <a:r>
              <a:rPr lang="zh-CN" altLang="en-US" sz="2000" b="1" dirty="0"/>
              <a:t>、</a:t>
            </a:r>
            <a:r>
              <a:rPr lang="en-US" altLang="zh-CN" sz="2000" b="1" dirty="0"/>
              <a:t>CAS</a:t>
            </a:r>
            <a:r>
              <a:rPr lang="zh-CN" altLang="en-US" sz="2000" b="1" dirty="0"/>
              <a:t>的结构及其工作原理</a:t>
            </a:r>
            <a:endParaRPr lang="en-US" altLang="zh-CN" sz="2000" b="1" dirty="0"/>
          </a:p>
          <a:p>
            <a:pPr lvl="2" eaLnBrk="1" hangingPunct="1"/>
            <a:endParaRPr lang="en-US" altLang="zh-CN" sz="1200" b="1" dirty="0"/>
          </a:p>
          <a:p>
            <a:pPr lvl="2" eaLnBrk="1" hangingPunct="1"/>
            <a:r>
              <a:rPr lang="en-US" altLang="zh-CN" sz="1600" b="1" dirty="0"/>
              <a:t>CAS</a:t>
            </a:r>
            <a:r>
              <a:rPr lang="zh-CN" altLang="en-US" sz="1600" b="1" dirty="0"/>
              <a:t>：</a:t>
            </a:r>
            <a:r>
              <a:rPr lang="en-US" altLang="zh-CN" sz="1600" b="1" dirty="0"/>
              <a:t>Controlled Adder Subtracter</a:t>
            </a:r>
          </a:p>
          <a:p>
            <a:pPr lvl="2" eaLnBrk="1" hangingPunct="1"/>
            <a:endParaRPr lang="en-US" altLang="zh-CN" sz="1600" b="1" dirty="0"/>
          </a:p>
          <a:p>
            <a:pPr lvl="2" eaLnBrk="1" hangingPunct="1"/>
            <a:r>
              <a:rPr lang="zh-CN" altLang="en-US" sz="1600" b="1" dirty="0"/>
              <a:t>输入：</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C</a:t>
            </a:r>
            <a:r>
              <a:rPr lang="en-US" altLang="zh-CN" sz="1600" b="1" baseline="-25000" dirty="0"/>
              <a:t>i</a:t>
            </a:r>
            <a:r>
              <a:rPr lang="zh-CN" altLang="en-US" sz="1600" b="1" dirty="0"/>
              <a:t>、</a:t>
            </a:r>
            <a:r>
              <a:rPr lang="en-US" altLang="zh-CN" sz="1600" b="1" dirty="0"/>
              <a:t>P</a:t>
            </a:r>
          </a:p>
          <a:p>
            <a:pPr lvl="2" eaLnBrk="1" hangingPunct="1"/>
            <a:r>
              <a:rPr lang="zh-CN" altLang="en-US" sz="1600" b="1" dirty="0"/>
              <a:t>输出：</a:t>
            </a:r>
            <a:r>
              <a:rPr lang="en-US" altLang="zh-CN" sz="1600" b="1" dirty="0"/>
              <a:t>S</a:t>
            </a:r>
            <a:r>
              <a:rPr lang="en-US" altLang="zh-CN" sz="1600" b="1" baseline="-25000" dirty="0"/>
              <a:t>i</a:t>
            </a:r>
            <a:r>
              <a:rPr lang="zh-CN" altLang="en-US" sz="1600" b="1" dirty="0"/>
              <a:t>、</a:t>
            </a:r>
            <a:r>
              <a:rPr lang="en-US" altLang="zh-CN" sz="1600" b="1" dirty="0"/>
              <a:t>C</a:t>
            </a:r>
            <a:r>
              <a:rPr lang="en-US" altLang="zh-CN" sz="1600" b="1" baseline="-25000" dirty="0"/>
              <a:t>i+1</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P</a:t>
            </a:r>
          </a:p>
          <a:p>
            <a:pPr lvl="2" eaLnBrk="1" hangingPunct="1"/>
            <a:endParaRPr lang="en-US" altLang="zh-CN" sz="1600" b="1" dirty="0"/>
          </a:p>
          <a:p>
            <a:pPr lvl="2" eaLnBrk="1" hangingPunct="1"/>
            <a:r>
              <a:rPr lang="en-US" altLang="zh-CN" sz="1600" b="1" dirty="0"/>
              <a:t>P=0</a:t>
            </a:r>
            <a:r>
              <a:rPr lang="zh-CN" altLang="en-US" sz="1600" b="1" dirty="0"/>
              <a:t>，</a:t>
            </a:r>
            <a:r>
              <a:rPr lang="en-US" altLang="zh-CN" sz="1600" b="1" dirty="0"/>
              <a:t>CAS</a:t>
            </a:r>
            <a:r>
              <a:rPr lang="zh-CN" altLang="en-US" sz="1600" b="1" dirty="0"/>
              <a:t>做加法运算；</a:t>
            </a:r>
            <a:r>
              <a:rPr lang="en-US" altLang="zh-CN" sz="1600" b="1" dirty="0"/>
              <a:t>P=1</a:t>
            </a:r>
            <a:r>
              <a:rPr lang="zh-CN" altLang="en-US" sz="1600" b="1" dirty="0"/>
              <a:t>，</a:t>
            </a:r>
            <a:r>
              <a:rPr lang="en-US" altLang="zh-CN" sz="1600" b="1" dirty="0"/>
              <a:t>CAS</a:t>
            </a:r>
            <a:r>
              <a:rPr lang="zh-CN" altLang="en-US" sz="1600" b="1" dirty="0"/>
              <a:t>做减法运算</a:t>
            </a:r>
            <a:endParaRPr lang="en-US" altLang="zh-CN" sz="1600" b="1" dirty="0"/>
          </a:p>
          <a:p>
            <a:pPr lvl="2" eaLnBrk="1" hangingPunct="1"/>
            <a:endParaRPr lang="en-US" altLang="zh-CN" sz="1600" b="1" dirty="0"/>
          </a:p>
          <a:p>
            <a:pPr lvl="2" eaLnBrk="1" hangingPunct="1"/>
            <a:r>
              <a:rPr lang="en-US" altLang="zh-CN" sz="1600" b="1" dirty="0"/>
              <a:t>S</a:t>
            </a:r>
            <a:r>
              <a:rPr lang="en-US" altLang="zh-CN" sz="1600" b="1" baseline="-25000" dirty="0"/>
              <a:t>i </a:t>
            </a:r>
            <a:r>
              <a:rPr lang="en-US" altLang="zh-CN" sz="1600" b="1" dirty="0"/>
              <a:t>= X</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i</a:t>
            </a:r>
            <a:endParaRPr lang="en-US" altLang="zh-CN" sz="1600" b="1" dirty="0"/>
          </a:p>
          <a:p>
            <a:pPr lvl="2" eaLnBrk="1" hangingPunct="1"/>
            <a:r>
              <a:rPr lang="en-US" altLang="zh-CN" sz="1600" b="1" dirty="0"/>
              <a:t>C</a:t>
            </a:r>
            <a:r>
              <a:rPr lang="en-US" altLang="zh-CN" sz="1600" b="1" baseline="-25000" dirty="0"/>
              <a:t>i+1</a:t>
            </a:r>
            <a:r>
              <a:rPr lang="en-US" altLang="zh-CN" sz="1600" b="1" dirty="0"/>
              <a:t>=(</a:t>
            </a:r>
            <a:r>
              <a:rPr lang="en-US" altLang="zh-CN" sz="1600" b="1" dirty="0" err="1"/>
              <a:t>X</a:t>
            </a:r>
            <a:r>
              <a:rPr lang="en-US" altLang="zh-CN" sz="1600" b="1" baseline="-25000" dirty="0" err="1"/>
              <a:t>i</a:t>
            </a:r>
            <a:r>
              <a:rPr lang="en-US" altLang="zh-CN" sz="1600" b="1" dirty="0" err="1"/>
              <a:t>+C</a:t>
            </a:r>
            <a:r>
              <a:rPr lang="en-US" altLang="zh-CN" sz="1600" b="1" baseline="-25000" dirty="0" err="1"/>
              <a:t>i</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 + </a:t>
            </a:r>
            <a:r>
              <a:rPr lang="en-US" altLang="zh-CN" sz="1600" b="1" dirty="0" err="1"/>
              <a:t>X</a:t>
            </a:r>
            <a:r>
              <a:rPr lang="en-US" altLang="zh-CN" sz="1600" b="1" baseline="-25000" dirty="0" err="1"/>
              <a:t>i</a:t>
            </a:r>
            <a:r>
              <a:rPr lang="en-US" altLang="zh-CN" sz="1600" b="1" dirty="0" err="1"/>
              <a:t>C</a:t>
            </a:r>
            <a:r>
              <a:rPr lang="en-US" altLang="zh-CN" sz="1600" b="1" baseline="-25000" dirty="0" err="1"/>
              <a:t>i</a:t>
            </a:r>
            <a:endParaRPr lang="en-US" altLang="zh-CN" sz="16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p:txBody>
      </p:sp>
      <p:grpSp>
        <p:nvGrpSpPr>
          <p:cNvPr id="20" name="组合 19">
            <a:extLst>
              <a:ext uri="{FF2B5EF4-FFF2-40B4-BE49-F238E27FC236}">
                <a16:creationId xmlns:a16="http://schemas.microsoft.com/office/drawing/2014/main" id="{DA8664AF-CBF7-45FE-9AF0-9527CE800918}"/>
              </a:ext>
            </a:extLst>
          </p:cNvPr>
          <p:cNvGrpSpPr/>
          <p:nvPr/>
        </p:nvGrpSpPr>
        <p:grpSpPr>
          <a:xfrm>
            <a:off x="5780458" y="4661021"/>
            <a:ext cx="2088232" cy="1743266"/>
            <a:chOff x="5220072" y="3677738"/>
            <a:chExt cx="2595693" cy="2194999"/>
          </a:xfrm>
        </p:grpSpPr>
        <p:grpSp>
          <p:nvGrpSpPr>
            <p:cNvPr id="18" name="组合 17">
              <a:extLst>
                <a:ext uri="{FF2B5EF4-FFF2-40B4-BE49-F238E27FC236}">
                  <a16:creationId xmlns:a16="http://schemas.microsoft.com/office/drawing/2014/main" id="{5F913A57-022E-4FEC-8263-29F283C790FD}"/>
                </a:ext>
              </a:extLst>
            </p:cNvPr>
            <p:cNvGrpSpPr/>
            <p:nvPr/>
          </p:nvGrpSpPr>
          <p:grpSpPr>
            <a:xfrm>
              <a:off x="5220072" y="3677738"/>
              <a:ext cx="2595693" cy="2194999"/>
              <a:chOff x="5220072" y="3677738"/>
              <a:chExt cx="2595693" cy="2194999"/>
            </a:xfrm>
          </p:grpSpPr>
          <p:grpSp>
            <p:nvGrpSpPr>
              <p:cNvPr id="14" name="组合 13">
                <a:extLst>
                  <a:ext uri="{FF2B5EF4-FFF2-40B4-BE49-F238E27FC236}">
                    <a16:creationId xmlns:a16="http://schemas.microsoft.com/office/drawing/2014/main" id="{F661943D-ECF7-4EEC-8AE1-0F00D0DD291F}"/>
                  </a:ext>
                </a:extLst>
              </p:cNvPr>
              <p:cNvGrpSpPr/>
              <p:nvPr/>
            </p:nvGrpSpPr>
            <p:grpSpPr>
              <a:xfrm>
                <a:off x="5220072" y="3677738"/>
                <a:ext cx="2595693" cy="2194999"/>
                <a:chOff x="5220072" y="3677738"/>
                <a:chExt cx="2595693" cy="2194999"/>
              </a:xfrm>
            </p:grpSpPr>
            <p:grpSp>
              <p:nvGrpSpPr>
                <p:cNvPr id="11" name="组合 10">
                  <a:extLst>
                    <a:ext uri="{FF2B5EF4-FFF2-40B4-BE49-F238E27FC236}">
                      <a16:creationId xmlns:a16="http://schemas.microsoft.com/office/drawing/2014/main" id="{44A41D66-6EC7-47DC-92D5-AA5FEA3BF80E}"/>
                    </a:ext>
                  </a:extLst>
                </p:cNvPr>
                <p:cNvGrpSpPr/>
                <p:nvPr/>
              </p:nvGrpSpPr>
              <p:grpSpPr>
                <a:xfrm>
                  <a:off x="5220072" y="3677738"/>
                  <a:ext cx="2595693" cy="2019449"/>
                  <a:chOff x="5220072" y="3677738"/>
                  <a:chExt cx="2595693" cy="2019449"/>
                </a:xfrm>
              </p:grpSpPr>
              <p:pic>
                <p:nvPicPr>
                  <p:cNvPr id="9" name="图片 8">
                    <a:extLst>
                      <a:ext uri="{FF2B5EF4-FFF2-40B4-BE49-F238E27FC236}">
                        <a16:creationId xmlns:a16="http://schemas.microsoft.com/office/drawing/2014/main" id="{A7412438-88E3-4A07-9BF5-669231B62CCC}"/>
                      </a:ext>
                    </a:extLst>
                  </p:cNvPr>
                  <p:cNvPicPr>
                    <a:picLocks noChangeAspect="1"/>
                  </p:cNvPicPr>
                  <p:nvPr/>
                </p:nvPicPr>
                <p:blipFill>
                  <a:blip r:embed="rId2"/>
                  <a:stretch>
                    <a:fillRect/>
                  </a:stretch>
                </p:blipFill>
                <p:spPr>
                  <a:xfrm>
                    <a:off x="5220072" y="3677738"/>
                    <a:ext cx="2595693" cy="2019449"/>
                  </a:xfrm>
                  <a:prstGeom prst="rect">
                    <a:avLst/>
                  </a:prstGeom>
                </p:spPr>
              </p:pic>
              <p:sp>
                <p:nvSpPr>
                  <p:cNvPr id="10" name="文本框 9">
                    <a:extLst>
                      <a:ext uri="{FF2B5EF4-FFF2-40B4-BE49-F238E27FC236}">
                        <a16:creationId xmlns:a16="http://schemas.microsoft.com/office/drawing/2014/main" id="{8CC8135A-89EB-4E33-9FCB-DCE5CCDC4DBE}"/>
                      </a:ext>
                    </a:extLst>
                  </p:cNvPr>
                  <p:cNvSpPr txBox="1"/>
                  <p:nvPr/>
                </p:nvSpPr>
                <p:spPr>
                  <a:xfrm>
                    <a:off x="7066936" y="4295376"/>
                    <a:ext cx="382969" cy="465037"/>
                  </a:xfrm>
                  <a:prstGeom prst="rect">
                    <a:avLst/>
                  </a:prstGeom>
                  <a:noFill/>
                </p:spPr>
                <p:txBody>
                  <a:bodyPr wrap="none" rtlCol="0">
                    <a:spAutoFit/>
                  </a:bodyPr>
                  <a:lstStyle/>
                  <a:p>
                    <a:r>
                      <a:rPr lang="en-US" altLang="zh-CN" b="1" dirty="0"/>
                      <a:t>P</a:t>
                    </a:r>
                    <a:endParaRPr lang="zh-CN" altLang="en-US" b="1" dirty="0"/>
                  </a:p>
                </p:txBody>
              </p:sp>
            </p:grpSp>
            <p:pic>
              <p:nvPicPr>
                <p:cNvPr id="13" name="图片 12">
                  <a:extLst>
                    <a:ext uri="{FF2B5EF4-FFF2-40B4-BE49-F238E27FC236}">
                      <a16:creationId xmlns:a16="http://schemas.microsoft.com/office/drawing/2014/main" id="{95B3847A-42F1-4F88-AB1A-73B423DE3CEE}"/>
                    </a:ext>
                  </a:extLst>
                </p:cNvPr>
                <p:cNvPicPr>
                  <a:picLocks noChangeAspect="1"/>
                </p:cNvPicPr>
                <p:nvPr/>
              </p:nvPicPr>
              <p:blipFill>
                <a:blip r:embed="rId3"/>
                <a:stretch>
                  <a:fillRect/>
                </a:stretch>
              </p:blipFill>
              <p:spPr>
                <a:xfrm>
                  <a:off x="6663690" y="5301208"/>
                  <a:ext cx="806491" cy="571529"/>
                </a:xfrm>
                <a:prstGeom prst="rect">
                  <a:avLst/>
                </a:prstGeom>
              </p:spPr>
            </p:pic>
          </p:grpSp>
          <p:cxnSp>
            <p:nvCxnSpPr>
              <p:cNvPr id="16" name="直接连接符 15">
                <a:extLst>
                  <a:ext uri="{FF2B5EF4-FFF2-40B4-BE49-F238E27FC236}">
                    <a16:creationId xmlns:a16="http://schemas.microsoft.com/office/drawing/2014/main" id="{0AF5923B-681F-4740-8E45-82F975BCA5B2}"/>
                  </a:ext>
                </a:extLst>
              </p:cNvPr>
              <p:cNvCxnSpPr>
                <a:cxnSpLocks/>
              </p:cNvCxnSpPr>
              <p:nvPr/>
            </p:nvCxnSpPr>
            <p:spPr>
              <a:xfrm>
                <a:off x="6588224" y="4927636"/>
                <a:ext cx="0" cy="229556"/>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00E7C8B6-BA67-45AB-BE3E-18BA1D4B3EDA}"/>
                </a:ext>
              </a:extLst>
            </p:cNvPr>
            <p:cNvSpPr txBox="1"/>
            <p:nvPr/>
          </p:nvSpPr>
          <p:spPr>
            <a:xfrm>
              <a:off x="6417463" y="5026369"/>
              <a:ext cx="401060" cy="426284"/>
            </a:xfrm>
            <a:prstGeom prst="rect">
              <a:avLst/>
            </a:prstGeom>
            <a:noFill/>
          </p:spPr>
          <p:txBody>
            <a:bodyPr wrap="none" rtlCol="0">
              <a:spAutoFit/>
            </a:bodyPr>
            <a:lstStyle/>
            <a:p>
              <a:r>
                <a:rPr lang="en-US" altLang="zh-CN" sz="1600" b="1" dirty="0"/>
                <a:t>Y</a:t>
              </a:r>
              <a:r>
                <a:rPr lang="en-US" altLang="zh-CN" sz="1600" b="1" baseline="-25000" dirty="0"/>
                <a:t>i</a:t>
              </a:r>
              <a:endParaRPr lang="zh-CN" altLang="en-US" sz="1600" b="1" baseline="-25000" dirty="0"/>
            </a:p>
          </p:txBody>
        </p:sp>
      </p:grpSp>
      <p:grpSp>
        <p:nvGrpSpPr>
          <p:cNvPr id="40" name="组合 39">
            <a:extLst>
              <a:ext uri="{FF2B5EF4-FFF2-40B4-BE49-F238E27FC236}">
                <a16:creationId xmlns:a16="http://schemas.microsoft.com/office/drawing/2014/main" id="{A8122A7C-286B-453E-8ECC-5852154BE680}"/>
              </a:ext>
            </a:extLst>
          </p:cNvPr>
          <p:cNvGrpSpPr/>
          <p:nvPr/>
        </p:nvGrpSpPr>
        <p:grpSpPr>
          <a:xfrm>
            <a:off x="2072312" y="4604087"/>
            <a:ext cx="2088232" cy="1800200"/>
            <a:chOff x="1293586" y="3591020"/>
            <a:chExt cx="2559633" cy="2228894"/>
          </a:xfrm>
        </p:grpSpPr>
        <p:grpSp>
          <p:nvGrpSpPr>
            <p:cNvPr id="41" name="组合 40">
              <a:extLst>
                <a:ext uri="{FF2B5EF4-FFF2-40B4-BE49-F238E27FC236}">
                  <a16:creationId xmlns:a16="http://schemas.microsoft.com/office/drawing/2014/main" id="{619778A6-2A11-4541-82C9-B57CF2718DF6}"/>
                </a:ext>
              </a:extLst>
            </p:cNvPr>
            <p:cNvGrpSpPr/>
            <p:nvPr/>
          </p:nvGrpSpPr>
          <p:grpSpPr>
            <a:xfrm>
              <a:off x="1293586" y="3591020"/>
              <a:ext cx="2559633" cy="2228894"/>
              <a:chOff x="1293586" y="3591020"/>
              <a:chExt cx="2559633" cy="2228894"/>
            </a:xfrm>
          </p:grpSpPr>
          <p:grpSp>
            <p:nvGrpSpPr>
              <p:cNvPr id="43" name="组合 42">
                <a:extLst>
                  <a:ext uri="{FF2B5EF4-FFF2-40B4-BE49-F238E27FC236}">
                    <a16:creationId xmlns:a16="http://schemas.microsoft.com/office/drawing/2014/main" id="{A036CE30-78DB-4AA0-A376-A6BAA61AB1B5}"/>
                  </a:ext>
                </a:extLst>
              </p:cNvPr>
              <p:cNvGrpSpPr/>
              <p:nvPr/>
            </p:nvGrpSpPr>
            <p:grpSpPr>
              <a:xfrm>
                <a:off x="1293586" y="3591020"/>
                <a:ext cx="2559633" cy="2228894"/>
                <a:chOff x="1285934" y="3573015"/>
                <a:chExt cx="2559633" cy="2228894"/>
              </a:xfrm>
            </p:grpSpPr>
            <p:pic>
              <p:nvPicPr>
                <p:cNvPr id="45" name="图片 44">
                  <a:extLst>
                    <a:ext uri="{FF2B5EF4-FFF2-40B4-BE49-F238E27FC236}">
                      <a16:creationId xmlns:a16="http://schemas.microsoft.com/office/drawing/2014/main" id="{32B456C6-7455-4541-BB44-926E724E1506}"/>
                    </a:ext>
                  </a:extLst>
                </p:cNvPr>
                <p:cNvPicPr>
                  <a:picLocks noChangeAspect="1"/>
                </p:cNvPicPr>
                <p:nvPr/>
              </p:nvPicPr>
              <p:blipFill>
                <a:blip r:embed="rId4"/>
                <a:stretch>
                  <a:fillRect/>
                </a:stretch>
              </p:blipFill>
              <p:spPr>
                <a:xfrm>
                  <a:off x="1285934" y="3573015"/>
                  <a:ext cx="2559633" cy="2228894"/>
                </a:xfrm>
                <a:prstGeom prst="rect">
                  <a:avLst/>
                </a:prstGeom>
              </p:spPr>
            </p:pic>
            <p:cxnSp>
              <p:nvCxnSpPr>
                <p:cNvPr id="46" name="直接连接符 45">
                  <a:extLst>
                    <a:ext uri="{FF2B5EF4-FFF2-40B4-BE49-F238E27FC236}">
                      <a16:creationId xmlns:a16="http://schemas.microsoft.com/office/drawing/2014/main" id="{58C81CF5-17B2-40F7-986B-28EEDC9F3BFA}"/>
                    </a:ext>
                  </a:extLst>
                </p:cNvPr>
                <p:cNvCxnSpPr/>
                <p:nvPr/>
              </p:nvCxnSpPr>
              <p:spPr>
                <a:xfrm>
                  <a:off x="2350106" y="4263478"/>
                  <a:ext cx="576064"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48C5BA4-6A7B-427B-BC1D-49C9088DFB42}"/>
                    </a:ext>
                  </a:extLst>
                </p:cNvPr>
                <p:cNvCxnSpPr/>
                <p:nvPr/>
              </p:nvCxnSpPr>
              <p:spPr>
                <a:xfrm>
                  <a:off x="2926170" y="4263478"/>
                  <a:ext cx="0" cy="1176387"/>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44" name="文本框 43">
                <a:extLst>
                  <a:ext uri="{FF2B5EF4-FFF2-40B4-BE49-F238E27FC236}">
                    <a16:creationId xmlns:a16="http://schemas.microsoft.com/office/drawing/2014/main" id="{5BBD20A0-F595-4FB8-B4E7-BAEFF87E96FC}"/>
                  </a:ext>
                </a:extLst>
              </p:cNvPr>
              <p:cNvSpPr txBox="1"/>
              <p:nvPr/>
            </p:nvSpPr>
            <p:spPr>
              <a:xfrm>
                <a:off x="2773379" y="5345835"/>
                <a:ext cx="416631" cy="457284"/>
              </a:xfrm>
              <a:prstGeom prst="rect">
                <a:avLst/>
              </a:prstGeom>
              <a:noFill/>
            </p:spPr>
            <p:txBody>
              <a:bodyPr wrap="none" rtlCol="0">
                <a:spAutoFit/>
              </a:bodyPr>
              <a:lstStyle/>
              <a:p>
                <a:r>
                  <a:rPr lang="en-US" altLang="zh-CN" b="1" dirty="0"/>
                  <a:t>Y</a:t>
                </a:r>
                <a:r>
                  <a:rPr lang="en-US" altLang="zh-CN" b="1" baseline="-25000" dirty="0"/>
                  <a:t>i</a:t>
                </a:r>
                <a:endParaRPr lang="zh-CN" altLang="en-US" b="1" baseline="-25000" dirty="0"/>
              </a:p>
            </p:txBody>
          </p:sp>
        </p:grpSp>
        <p:sp>
          <p:nvSpPr>
            <p:cNvPr id="42" name="文本框 41">
              <a:extLst>
                <a:ext uri="{FF2B5EF4-FFF2-40B4-BE49-F238E27FC236}">
                  <a16:creationId xmlns:a16="http://schemas.microsoft.com/office/drawing/2014/main" id="{1C2224FC-B336-4E80-9F62-FD43710249F4}"/>
                </a:ext>
              </a:extLst>
            </p:cNvPr>
            <p:cNvSpPr txBox="1"/>
            <p:nvPr/>
          </p:nvSpPr>
          <p:spPr>
            <a:xfrm>
              <a:off x="3215716" y="3975447"/>
              <a:ext cx="393367" cy="495391"/>
            </a:xfrm>
            <a:prstGeom prst="rect">
              <a:avLst/>
            </a:prstGeom>
            <a:noFill/>
          </p:spPr>
          <p:txBody>
            <a:bodyPr wrap="none" rtlCol="0">
              <a:spAutoFit/>
            </a:bodyPr>
            <a:lstStyle/>
            <a:p>
              <a:r>
                <a:rPr lang="en-US" altLang="zh-CN" sz="2000" b="1" dirty="0"/>
                <a:t>P</a:t>
              </a:r>
              <a:endParaRPr lang="zh-CN" altLang="en-US" sz="2000" b="1" dirty="0"/>
            </a:p>
          </p:txBody>
        </p:sp>
      </p:grpSp>
      <p:grpSp>
        <p:nvGrpSpPr>
          <p:cNvPr id="49" name="组合 48">
            <a:extLst>
              <a:ext uri="{FF2B5EF4-FFF2-40B4-BE49-F238E27FC236}">
                <a16:creationId xmlns:a16="http://schemas.microsoft.com/office/drawing/2014/main" id="{DC94A7B0-EE09-4653-B283-C786A5B00E16}"/>
              </a:ext>
            </a:extLst>
          </p:cNvPr>
          <p:cNvGrpSpPr/>
          <p:nvPr/>
        </p:nvGrpSpPr>
        <p:grpSpPr>
          <a:xfrm>
            <a:off x="5384824" y="1370075"/>
            <a:ext cx="3554140" cy="1744857"/>
            <a:chOff x="4943380" y="693519"/>
            <a:chExt cx="3770164" cy="1744857"/>
          </a:xfrm>
        </p:grpSpPr>
        <p:pic>
          <p:nvPicPr>
            <p:cNvPr id="48" name="图片 47">
              <a:extLst>
                <a:ext uri="{FF2B5EF4-FFF2-40B4-BE49-F238E27FC236}">
                  <a16:creationId xmlns:a16="http://schemas.microsoft.com/office/drawing/2014/main" id="{FB6577DE-638F-4246-A37A-96CF9B8A7B32}"/>
                </a:ext>
              </a:extLst>
            </p:cNvPr>
            <p:cNvPicPr>
              <a:picLocks noChangeAspect="1"/>
            </p:cNvPicPr>
            <p:nvPr/>
          </p:nvPicPr>
          <p:blipFill>
            <a:blip r:embed="rId5"/>
            <a:stretch>
              <a:fillRect/>
            </a:stretch>
          </p:blipFill>
          <p:spPr>
            <a:xfrm>
              <a:off x="4943380" y="693519"/>
              <a:ext cx="3770164" cy="1260232"/>
            </a:xfrm>
            <a:prstGeom prst="rect">
              <a:avLst/>
            </a:prstGeom>
          </p:spPr>
        </p:pic>
        <p:sp>
          <p:nvSpPr>
            <p:cNvPr id="50" name="圆角矩形 77">
              <a:extLst>
                <a:ext uri="{FF2B5EF4-FFF2-40B4-BE49-F238E27FC236}">
                  <a16:creationId xmlns:a16="http://schemas.microsoft.com/office/drawing/2014/main" id="{1363A259-286B-4A3A-A7D3-02EC4A5925FA}"/>
                </a:ext>
              </a:extLst>
            </p:cNvPr>
            <p:cNvSpPr/>
            <p:nvPr/>
          </p:nvSpPr>
          <p:spPr>
            <a:xfrm>
              <a:off x="5004048" y="1938096"/>
              <a:ext cx="1824414" cy="500280"/>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i+1</a:t>
              </a:r>
              <a:r>
                <a:rPr lang="en-US" altLang="zh-CN" sz="1050" b="1" i="1" dirty="0">
                  <a:solidFill>
                    <a:schemeClr val="tx1"/>
                  </a:solidFill>
                  <a:latin typeface="Times New Roman" panose="02020603050405020304" pitchFamily="18" charset="0"/>
                  <a:cs typeface="Times New Roman" panose="02020603050405020304" pitchFamily="18" charset="0"/>
                </a:rPr>
                <a:t>  =  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i="1" dirty="0">
                  <a:solidFill>
                    <a:schemeClr val="tx1"/>
                  </a:solidFill>
                  <a:latin typeface="Times New Roman" panose="02020603050405020304" pitchFamily="18" charset="0"/>
                  <a:cs typeface="Times New Roman" panose="02020603050405020304" pitchFamily="18" charset="0"/>
                </a:rPr>
                <a:t> </a:t>
              </a:r>
            </a:p>
            <a:p>
              <a:r>
                <a:rPr lang="en-US" altLang="zh-CN" sz="1050" b="1" i="1" dirty="0">
                  <a:solidFill>
                    <a:schemeClr val="tx1"/>
                  </a:solidFill>
                  <a:latin typeface="Times New Roman" panose="02020603050405020304" pitchFamily="18" charset="0"/>
                  <a:cs typeface="Times New Roman" panose="02020603050405020304" pitchFamily="18" charset="0"/>
                </a:rPr>
                <a:t>         =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endParaRPr lang="zh-CN" altLang="en-US" sz="1050" b="1" i="1" baseline="-25000" dirty="0">
                <a:solidFill>
                  <a:schemeClr val="tx1"/>
                </a:solidFill>
                <a:latin typeface="Times New Roman" panose="02020603050405020304" pitchFamily="18" charset="0"/>
                <a:cs typeface="Times New Roman" panose="02020603050405020304" pitchFamily="18" charset="0"/>
              </a:endParaRPr>
            </a:p>
          </p:txBody>
        </p:sp>
      </p:grpSp>
      <p:sp>
        <p:nvSpPr>
          <p:cNvPr id="2" name="文本框 1">
            <a:extLst>
              <a:ext uri="{FF2B5EF4-FFF2-40B4-BE49-F238E27FC236}">
                <a16:creationId xmlns:a16="http://schemas.microsoft.com/office/drawing/2014/main" id="{2143EB5B-2F12-4800-8A11-CABFEC799B3B}"/>
              </a:ext>
            </a:extLst>
          </p:cNvPr>
          <p:cNvSpPr txBox="1"/>
          <p:nvPr/>
        </p:nvSpPr>
        <p:spPr>
          <a:xfrm>
            <a:off x="2470813" y="6345443"/>
            <a:ext cx="1291230" cy="369332"/>
          </a:xfrm>
          <a:prstGeom prst="rect">
            <a:avLst/>
          </a:prstGeom>
          <a:noFill/>
        </p:spPr>
        <p:txBody>
          <a:bodyPr wrap="square" rtlCol="0">
            <a:spAutoFit/>
          </a:bodyPr>
          <a:lstStyle/>
          <a:p>
            <a:pPr algn="ctr"/>
            <a:r>
              <a:rPr lang="en-US" altLang="zh-CN" b="1" dirty="0"/>
              <a:t>CAS</a:t>
            </a:r>
            <a:r>
              <a:rPr lang="zh-CN" altLang="en-US" b="1" dirty="0"/>
              <a:t>的结构</a:t>
            </a:r>
          </a:p>
        </p:txBody>
      </p:sp>
      <p:sp>
        <p:nvSpPr>
          <p:cNvPr id="24" name="文本框 23">
            <a:extLst>
              <a:ext uri="{FF2B5EF4-FFF2-40B4-BE49-F238E27FC236}">
                <a16:creationId xmlns:a16="http://schemas.microsoft.com/office/drawing/2014/main" id="{6668E0FE-1DF9-432D-901C-F013E97B7D48}"/>
              </a:ext>
            </a:extLst>
          </p:cNvPr>
          <p:cNvSpPr txBox="1"/>
          <p:nvPr/>
        </p:nvSpPr>
        <p:spPr>
          <a:xfrm>
            <a:off x="6259469" y="6218011"/>
            <a:ext cx="1291230" cy="369332"/>
          </a:xfrm>
          <a:prstGeom prst="rect">
            <a:avLst/>
          </a:prstGeom>
          <a:noFill/>
        </p:spPr>
        <p:txBody>
          <a:bodyPr wrap="square" rtlCol="0">
            <a:spAutoFit/>
          </a:bodyPr>
          <a:lstStyle/>
          <a:p>
            <a:pPr algn="ctr"/>
            <a:r>
              <a:rPr lang="en-US" altLang="zh-CN" b="1" dirty="0"/>
              <a:t>CAS</a:t>
            </a:r>
            <a:r>
              <a:rPr lang="zh-CN" altLang="en-US" b="1" dirty="0"/>
              <a:t>的符号</a:t>
            </a:r>
          </a:p>
        </p:txBody>
      </p:sp>
      <p:sp>
        <p:nvSpPr>
          <p:cNvPr id="25" name="文本框 24">
            <a:extLst>
              <a:ext uri="{FF2B5EF4-FFF2-40B4-BE49-F238E27FC236}">
                <a16:creationId xmlns:a16="http://schemas.microsoft.com/office/drawing/2014/main" id="{9DEA15E0-5BA0-4291-911A-A3DA37C10C09}"/>
              </a:ext>
            </a:extLst>
          </p:cNvPr>
          <p:cNvSpPr txBox="1"/>
          <p:nvPr/>
        </p:nvSpPr>
        <p:spPr>
          <a:xfrm>
            <a:off x="7647734" y="2676239"/>
            <a:ext cx="1291230" cy="307777"/>
          </a:xfrm>
          <a:prstGeom prst="rect">
            <a:avLst/>
          </a:prstGeom>
          <a:noFill/>
        </p:spPr>
        <p:txBody>
          <a:bodyPr wrap="square" rtlCol="0">
            <a:spAutoFit/>
          </a:bodyPr>
          <a:lstStyle/>
          <a:p>
            <a:pPr algn="ctr"/>
            <a:r>
              <a:rPr lang="zh-CN" altLang="en-US" sz="1400" b="1" dirty="0"/>
              <a:t>全加器（</a:t>
            </a:r>
            <a:r>
              <a:rPr lang="en-US" altLang="zh-CN" sz="1400" b="1" dirty="0"/>
              <a:t>FA</a:t>
            </a:r>
            <a:r>
              <a:rPr lang="zh-CN" altLang="en-US" sz="1400" b="1" dirty="0"/>
              <a:t>）</a:t>
            </a:r>
          </a:p>
        </p:txBody>
      </p:sp>
    </p:spTree>
    <p:extLst>
      <p:ext uri="{BB962C8B-B14F-4D97-AF65-F5344CB8AC3E}">
        <p14:creationId xmlns:p14="http://schemas.microsoft.com/office/powerpoint/2010/main" val="38715770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63494" y="90666"/>
                <a:ext cx="7654073" cy="4525963"/>
              </a:xfrm>
            </p:spPr>
            <p:txBody>
              <a:bodyPr/>
              <a:lstStyle/>
              <a:p>
                <a:pPr lvl="1" eaLnBrk="1" hangingPunct="1"/>
                <a:r>
                  <a:rPr lang="en-US" altLang="zh-CN" sz="2000" b="1" dirty="0"/>
                  <a:t>2</a:t>
                </a:r>
                <a:r>
                  <a:rPr lang="zh-CN" altLang="en-US" sz="2000" b="1" dirty="0"/>
                  <a:t>、阵列除法器的连接与运算</a:t>
                </a:r>
                <a:endParaRPr lang="en-US" altLang="zh-CN" sz="1600" b="1" dirty="0"/>
              </a:p>
              <a:p>
                <a:pPr lvl="2"/>
                <a:r>
                  <a:rPr lang="zh-CN" altLang="en-US" sz="1400" b="1" dirty="0">
                    <a:highlight>
                      <a:srgbClr val="FFFF00"/>
                    </a:highlight>
                  </a:rPr>
                  <a:t>小数定点除的约束</a:t>
                </a:r>
                <a:r>
                  <a:rPr lang="en-US" altLang="zh-CN" sz="1400" b="1" dirty="0">
                    <a:highlight>
                      <a:srgbClr val="FFFF00"/>
                    </a:highlight>
                  </a:rPr>
                  <a:t> </a:t>
                </a:r>
                <a14:m>
                  <m:oMath xmlns:m="http://schemas.openxmlformats.org/officeDocument/2006/math">
                    <m:r>
                      <a:rPr lang="en-US" altLang="zh-CN" sz="1400" b="1" i="1" smtClean="0">
                        <a:highlight>
                          <a:srgbClr val="FFFF00"/>
                        </a:highlight>
                        <a:latin typeface="Cambria Math" panose="02040503050406030204" pitchFamily="18" charset="0"/>
                      </a:rPr>
                      <m:t>𝟎</m:t>
                    </m:r>
                    <m:r>
                      <a:rPr lang="en-US" altLang="zh-CN" sz="1400" b="1" i="1" smtClean="0">
                        <a:highlight>
                          <a:srgbClr val="FFFF00"/>
                        </a:highlight>
                        <a:latin typeface="Cambria Math" panose="02040503050406030204" pitchFamily="18" charset="0"/>
                      </a:rPr>
                      <m:t>&lt;</m:t>
                    </m:r>
                    <m:d>
                      <m:dPr>
                        <m:begChr m:val="|"/>
                        <m:endChr m:val="|"/>
                        <m:ctrlPr>
                          <a:rPr lang="en-US" altLang="zh-CN" sz="1400" b="1" i="1" smtClean="0">
                            <a:highlight>
                              <a:srgbClr val="FFFF00"/>
                            </a:highlight>
                            <a:latin typeface="Cambria Math" panose="02040503050406030204" pitchFamily="18" charset="0"/>
                          </a:rPr>
                        </m:ctrlPr>
                      </m:dPr>
                      <m:e>
                        <m:r>
                          <a:rPr lang="en-US" altLang="zh-CN" sz="1400" b="1" i="1" smtClean="0">
                            <a:highlight>
                              <a:srgbClr val="FFFF00"/>
                            </a:highlight>
                            <a:latin typeface="Cambria Math" panose="02040503050406030204" pitchFamily="18" charset="0"/>
                          </a:rPr>
                          <m:t>𝒙</m:t>
                        </m:r>
                      </m:e>
                    </m:d>
                    <m:r>
                      <a:rPr lang="en-US" altLang="zh-CN" sz="1400" b="1" i="1" smtClean="0">
                        <a:highlight>
                          <a:srgbClr val="FFFF00"/>
                        </a:highlight>
                        <a:latin typeface="Cambria Math" panose="02040503050406030204" pitchFamily="18" charset="0"/>
                        <a:ea typeface="Cambria Math" panose="02040503050406030204" pitchFamily="18" charset="0"/>
                      </a:rPr>
                      <m:t>≤</m:t>
                    </m:r>
                    <m:d>
                      <m:dPr>
                        <m:begChr m:val="|"/>
                        <m:endChr m:val="|"/>
                        <m:ctrlPr>
                          <a:rPr lang="en-US" altLang="zh-CN" sz="1400" b="1" i="1" smtClean="0">
                            <a:highlight>
                              <a:srgbClr val="FFFF00"/>
                            </a:highlight>
                            <a:latin typeface="Cambria Math" panose="02040503050406030204" pitchFamily="18" charset="0"/>
                            <a:ea typeface="Cambria Math" panose="02040503050406030204" pitchFamily="18" charset="0"/>
                          </a:rPr>
                        </m:ctrlPr>
                      </m:dPr>
                      <m:e>
                        <m:r>
                          <a:rPr lang="en-US" altLang="zh-CN" sz="1400" b="1" i="1" smtClean="0">
                            <a:highlight>
                              <a:srgbClr val="FFFF00"/>
                            </a:highlight>
                            <a:latin typeface="Cambria Math" panose="02040503050406030204" pitchFamily="18" charset="0"/>
                            <a:ea typeface="Cambria Math" panose="02040503050406030204" pitchFamily="18" charset="0"/>
                          </a:rPr>
                          <m:t>𝒚</m:t>
                        </m:r>
                      </m:e>
                    </m:d>
                  </m:oMath>
                </a14:m>
                <a:endParaRPr lang="en-US" altLang="zh-CN" sz="1400" b="1" dirty="0">
                  <a:highlight>
                    <a:srgbClr val="FFFF00"/>
                  </a:highlight>
                </a:endParaRPr>
              </a:p>
              <a:p>
                <a:pPr lvl="2"/>
                <a:r>
                  <a:rPr lang="zh-CN" altLang="en-US" sz="1400" b="1" dirty="0"/>
                  <a:t>被除数</a:t>
                </a:r>
                <a:r>
                  <a:rPr lang="en-US" altLang="zh-CN" sz="1400" b="1" dirty="0"/>
                  <a:t>X=0.X</a:t>
                </a:r>
                <a:r>
                  <a:rPr lang="en-US" altLang="zh-CN" sz="1400" b="1" baseline="-25000" dirty="0"/>
                  <a:t>1</a:t>
                </a:r>
                <a:r>
                  <a:rPr lang="en-US" altLang="zh-CN" sz="1400" b="1" dirty="0"/>
                  <a:t>X</a:t>
                </a:r>
                <a:r>
                  <a:rPr lang="en-US" altLang="zh-CN" sz="1400" b="1" baseline="-25000" dirty="0"/>
                  <a:t>2</a:t>
                </a:r>
                <a:r>
                  <a:rPr lang="en-US" altLang="zh-CN" sz="1400" b="1" dirty="0"/>
                  <a:t>X</a:t>
                </a:r>
                <a:r>
                  <a:rPr lang="en-US" altLang="zh-CN" sz="1400" b="1" baseline="-25000" dirty="0"/>
                  <a:t>3</a:t>
                </a:r>
                <a:r>
                  <a:rPr lang="en-US" altLang="zh-CN" sz="1400" b="1" dirty="0"/>
                  <a:t>X</a:t>
                </a:r>
                <a:r>
                  <a:rPr lang="en-US" altLang="zh-CN" sz="1400" b="1" baseline="-25000" dirty="0"/>
                  <a:t>4</a:t>
                </a:r>
                <a:r>
                  <a:rPr lang="en-US" altLang="zh-CN" sz="1400" b="1" dirty="0"/>
                  <a:t>X</a:t>
                </a:r>
                <a:r>
                  <a:rPr lang="en-US" altLang="zh-CN" sz="1400" b="1" baseline="-25000" dirty="0"/>
                  <a:t>5</a:t>
                </a:r>
                <a:r>
                  <a:rPr lang="en-US" altLang="zh-CN" sz="1400" b="1" dirty="0"/>
                  <a:t>X</a:t>
                </a:r>
                <a:r>
                  <a:rPr lang="en-US" altLang="zh-CN" sz="1400" b="1" baseline="-25000" dirty="0"/>
                  <a:t>6</a:t>
                </a:r>
                <a:r>
                  <a:rPr lang="en-US" altLang="zh-CN" sz="1400" b="1" dirty="0"/>
                  <a:t>X</a:t>
                </a:r>
                <a:r>
                  <a:rPr lang="en-US" altLang="zh-CN" sz="1400" b="1" baseline="-25000" dirty="0"/>
                  <a:t>7</a:t>
                </a:r>
                <a:r>
                  <a:rPr lang="en-US" altLang="zh-CN" sz="1400" b="1" dirty="0"/>
                  <a:t>X</a:t>
                </a:r>
                <a:r>
                  <a:rPr lang="en-US" altLang="zh-CN" sz="1400" b="1" baseline="-25000" dirty="0"/>
                  <a:t>8</a:t>
                </a:r>
                <a:endParaRPr lang="en-US" altLang="zh-CN" sz="1400" b="1" dirty="0"/>
              </a:p>
              <a:p>
                <a:pPr lvl="2"/>
                <a:r>
                  <a:rPr lang="zh-CN" altLang="en-US" sz="1400" b="1" dirty="0"/>
                  <a:t>除数</a:t>
                </a:r>
                <a:r>
                  <a:rPr lang="en-US" altLang="zh-CN" sz="1400" b="1" dirty="0"/>
                  <a:t>Y=0.Y</a:t>
                </a:r>
                <a:r>
                  <a:rPr lang="en-US" altLang="zh-CN" sz="1400" b="1" baseline="-25000" dirty="0"/>
                  <a:t>1</a:t>
                </a:r>
                <a:r>
                  <a:rPr lang="en-US" altLang="zh-CN" sz="1400" b="1" dirty="0"/>
                  <a:t>Y</a:t>
                </a:r>
                <a:r>
                  <a:rPr lang="en-US" altLang="zh-CN" sz="1400" b="1" baseline="-25000" dirty="0"/>
                  <a:t>2</a:t>
                </a:r>
                <a:r>
                  <a:rPr lang="en-US" altLang="zh-CN" sz="1400" b="1" dirty="0"/>
                  <a:t>Y</a:t>
                </a:r>
                <a:r>
                  <a:rPr lang="en-US" altLang="zh-CN" sz="1400" b="1" baseline="-25000" dirty="0"/>
                  <a:t>3</a:t>
                </a:r>
                <a:r>
                  <a:rPr lang="en-US" altLang="zh-CN" sz="1400" b="1" dirty="0"/>
                  <a:t>Y</a:t>
                </a:r>
                <a:r>
                  <a:rPr lang="en-US" altLang="zh-CN" sz="1400" b="1" baseline="-25000" dirty="0"/>
                  <a:t>4</a:t>
                </a:r>
                <a:endParaRPr lang="en-US" altLang="zh-CN" sz="1400" b="1" dirty="0"/>
              </a:p>
              <a:p>
                <a:pPr lvl="2"/>
                <a:r>
                  <a:rPr lang="zh-CN" altLang="en-US" sz="1400" b="1" dirty="0"/>
                  <a:t>商</a:t>
                </a:r>
                <a:r>
                  <a:rPr lang="en-US" altLang="zh-CN" sz="1400" b="1" dirty="0"/>
                  <a:t>Q=0.Q</a:t>
                </a:r>
                <a:r>
                  <a:rPr lang="en-US" altLang="zh-CN" sz="1400" b="1" baseline="-25000" dirty="0"/>
                  <a:t>1</a:t>
                </a:r>
                <a:r>
                  <a:rPr lang="en-US" altLang="zh-CN" sz="1400" b="1" dirty="0"/>
                  <a:t>Q</a:t>
                </a:r>
                <a:r>
                  <a:rPr lang="en-US" altLang="zh-CN" sz="1400" b="1" baseline="-25000" dirty="0"/>
                  <a:t>2</a:t>
                </a:r>
                <a:r>
                  <a:rPr lang="en-US" altLang="zh-CN" sz="1400" b="1" dirty="0"/>
                  <a:t>Q</a:t>
                </a:r>
                <a:r>
                  <a:rPr lang="en-US" altLang="zh-CN" sz="1400" b="1" baseline="-25000" dirty="0"/>
                  <a:t>3</a:t>
                </a:r>
                <a:r>
                  <a:rPr lang="en-US" altLang="zh-CN" sz="1400" b="1" dirty="0"/>
                  <a:t>Q</a:t>
                </a:r>
                <a:r>
                  <a:rPr lang="en-US" altLang="zh-CN" sz="1400" b="1" baseline="-25000" dirty="0"/>
                  <a:t>4</a:t>
                </a:r>
                <a:endParaRPr lang="en-US" altLang="zh-CN" sz="1400" b="1" dirty="0"/>
              </a:p>
              <a:p>
                <a:pPr lvl="2"/>
                <a:r>
                  <a:rPr lang="zh-CN" altLang="en-US" sz="1400" b="1" dirty="0"/>
                  <a:t>余数</a:t>
                </a:r>
                <a:r>
                  <a:rPr lang="en-US" altLang="zh-CN" sz="1400" b="1" dirty="0"/>
                  <a:t>=0.000R</a:t>
                </a:r>
                <a:r>
                  <a:rPr lang="en-US" altLang="zh-CN" sz="1400" b="1" baseline="-25000" dirty="0"/>
                  <a:t>4</a:t>
                </a:r>
                <a:r>
                  <a:rPr lang="en-US" altLang="zh-CN" sz="1400" b="1" dirty="0"/>
                  <a:t>R</a:t>
                </a:r>
                <a:r>
                  <a:rPr lang="en-US" altLang="zh-CN" sz="1400" b="1" baseline="-25000" dirty="0"/>
                  <a:t>5</a:t>
                </a:r>
                <a:r>
                  <a:rPr lang="en-US" altLang="zh-CN" sz="1400" b="1" dirty="0"/>
                  <a:t>R</a:t>
                </a:r>
                <a:r>
                  <a:rPr lang="en-US" altLang="zh-CN" sz="1400" b="1" baseline="-25000" dirty="0"/>
                  <a:t>6</a:t>
                </a:r>
                <a:r>
                  <a:rPr lang="en-US" altLang="zh-CN" sz="1400" b="1" dirty="0"/>
                  <a:t>R</a:t>
                </a:r>
                <a:r>
                  <a:rPr lang="en-US" altLang="zh-CN" sz="1400" b="1" baseline="-25000" dirty="0"/>
                  <a:t>7</a:t>
                </a:r>
                <a:r>
                  <a:rPr lang="en-US" altLang="zh-CN" sz="1400" b="1" dirty="0"/>
                  <a:t>R</a:t>
                </a:r>
                <a:r>
                  <a:rPr lang="en-US" altLang="zh-CN" sz="1400" b="1" baseline="-25000" dirty="0"/>
                  <a:t>8</a:t>
                </a:r>
              </a:p>
              <a:p>
                <a:pPr lvl="2"/>
                <a:r>
                  <a:rPr lang="en-US" altLang="zh-CN" sz="1400" b="1" dirty="0">
                    <a:highlight>
                      <a:srgbClr val="FFFF00"/>
                    </a:highlight>
                  </a:rPr>
                  <a:t>P=1</a:t>
                </a:r>
                <a:r>
                  <a:rPr lang="zh-CN" altLang="en-US" sz="1400" b="1" dirty="0">
                    <a:highlight>
                      <a:srgbClr val="FFFF00"/>
                    </a:highlight>
                  </a:rPr>
                  <a:t>（</a:t>
                </a:r>
                <a:r>
                  <a:rPr lang="en-US" altLang="zh-CN" sz="1400" b="1" dirty="0">
                    <a:highlight>
                      <a:srgbClr val="FFFF00"/>
                    </a:highlight>
                  </a:rPr>
                  <a:t>CAS</a:t>
                </a:r>
                <a:r>
                  <a:rPr lang="zh-CN" altLang="en-US" sz="1400" b="1" dirty="0">
                    <a:highlight>
                      <a:srgbClr val="FFFF00"/>
                    </a:highlight>
                  </a:rPr>
                  <a:t>做减法运算，</a:t>
                </a:r>
                <a:r>
                  <a:rPr lang="en-US" altLang="zh-CN" sz="1400" b="1" dirty="0">
                    <a:highlight>
                      <a:srgbClr val="FFFF00"/>
                    </a:highlight>
                  </a:rPr>
                  <a:t>Y</a:t>
                </a:r>
                <a:r>
                  <a:rPr lang="zh-CN" altLang="en-US" sz="1400" b="1" dirty="0">
                    <a:highlight>
                      <a:srgbClr val="FFFF00"/>
                    </a:highlight>
                  </a:rPr>
                  <a:t>取反</a:t>
                </a:r>
                <a:r>
                  <a:rPr lang="en-US" altLang="zh-CN" sz="1400" b="1" dirty="0">
                    <a:highlight>
                      <a:srgbClr val="FFFF00"/>
                    </a:highlight>
                  </a:rPr>
                  <a:t>+1</a:t>
                </a:r>
                <a:r>
                  <a:rPr lang="zh-CN" altLang="en-US" sz="1400" b="1" dirty="0">
                    <a:highlight>
                      <a:srgbClr val="FFFF00"/>
                    </a:highlight>
                  </a:rPr>
                  <a:t>）；初始</a:t>
                </a:r>
                <a:r>
                  <a:rPr lang="en-US" altLang="zh-CN" sz="1400" b="1" dirty="0">
                    <a:highlight>
                      <a:srgbClr val="FFFF00"/>
                    </a:highlight>
                  </a:rPr>
                  <a:t>=1</a:t>
                </a:r>
                <a:r>
                  <a:rPr lang="zh-CN" altLang="en-US" sz="1400" b="1" dirty="0">
                    <a:highlight>
                      <a:srgbClr val="FFFF00"/>
                    </a:highlight>
                  </a:rPr>
                  <a:t>，第一次进行比较，判断溢出</a:t>
                </a:r>
                <a:endParaRPr lang="en-US" altLang="zh-CN" sz="1400" b="1" dirty="0">
                  <a:highlight>
                    <a:srgbClr val="FFFF00"/>
                  </a:highlight>
                </a:endParaRPr>
              </a:p>
              <a:p>
                <a:pPr lvl="2"/>
                <a:r>
                  <a:rPr lang="en-US" altLang="zh-CN" sz="1400" b="1" dirty="0">
                    <a:highlight>
                      <a:srgbClr val="FFFF00"/>
                    </a:highlight>
                  </a:rPr>
                  <a:t>Ci+1=Qi, </a:t>
                </a:r>
                <a:r>
                  <a:rPr lang="zh-CN" altLang="en-US" sz="1400" b="1" dirty="0">
                    <a:highlight>
                      <a:srgbClr val="FFFF00"/>
                    </a:highlight>
                  </a:rPr>
                  <a:t>即进位</a:t>
                </a:r>
                <a:r>
                  <a:rPr lang="en-US" altLang="zh-CN" sz="1400" b="1" dirty="0" err="1">
                    <a:highlight>
                      <a:srgbClr val="FFFF00"/>
                    </a:highlight>
                  </a:rPr>
                  <a:t>Cout</a:t>
                </a:r>
                <a:r>
                  <a:rPr lang="zh-CN" altLang="en-US" sz="1400" b="1" dirty="0">
                    <a:highlight>
                      <a:srgbClr val="FFFF00"/>
                    </a:highlight>
                  </a:rPr>
                  <a:t>为上商位，作为下一行的</a:t>
                </a:r>
                <a:r>
                  <a:rPr lang="en-US" altLang="zh-CN" sz="1400" b="1" dirty="0">
                    <a:highlight>
                      <a:srgbClr val="FFFF00"/>
                    </a:highlight>
                  </a:rPr>
                  <a:t>P</a:t>
                </a:r>
                <a:r>
                  <a:rPr lang="zh-CN" altLang="en-US" sz="1400" b="1" dirty="0">
                    <a:highlight>
                      <a:srgbClr val="FFFF00"/>
                    </a:highlight>
                  </a:rPr>
                  <a:t>，控制每一行的加减运算</a:t>
                </a:r>
                <a:endParaRPr lang="en-US" altLang="zh-CN" sz="1400" b="1" dirty="0">
                  <a:highlight>
                    <a:srgbClr val="FFFF00"/>
                  </a:highlight>
                </a:endParaRPr>
              </a:p>
              <a:p>
                <a:pPr lvl="2"/>
                <a:r>
                  <a:rPr lang="en-US" altLang="zh-CN" sz="1400" b="1" dirty="0">
                    <a:highlight>
                      <a:srgbClr val="FFFF00"/>
                    </a:highlight>
                  </a:rPr>
                  <a:t>Yi</a:t>
                </a:r>
                <a:r>
                  <a:rPr lang="zh-CN" altLang="en-US" sz="1400" b="1" dirty="0">
                    <a:highlight>
                      <a:srgbClr val="FFFF00"/>
                    </a:highlight>
                  </a:rPr>
                  <a:t>的斜向运算相当于手动的右移</a:t>
                </a:r>
                <a:r>
                  <a:rPr lang="en-US" altLang="zh-CN" sz="1400" b="1" dirty="0">
                    <a:highlight>
                      <a:srgbClr val="FFFF00"/>
                    </a:highlight>
                  </a:rPr>
                  <a:t>;</a:t>
                </a:r>
                <a:r>
                  <a:rPr lang="zh-CN" altLang="en-US" sz="1400" b="1" dirty="0">
                    <a:highlight>
                      <a:srgbClr val="FFFF00"/>
                    </a:highlight>
                  </a:rPr>
                  <a:t>每一行的</a:t>
                </a:r>
                <a:r>
                  <a:rPr lang="en-US" altLang="zh-CN" sz="1400" b="1" dirty="0">
                    <a:highlight>
                      <a:srgbClr val="FFFF00"/>
                    </a:highlight>
                  </a:rPr>
                  <a:t>CAS</a:t>
                </a:r>
                <a:r>
                  <a:rPr lang="zh-CN" altLang="en-US" sz="1400" b="1" dirty="0">
                    <a:highlight>
                      <a:srgbClr val="FFFF00"/>
                    </a:highlight>
                  </a:rPr>
                  <a:t>构成串行加法</a:t>
                </a:r>
                <a:r>
                  <a:rPr lang="en-US" altLang="zh-CN" sz="1400" b="1" dirty="0">
                    <a:highlight>
                      <a:srgbClr val="FFFF00"/>
                    </a:highlight>
                  </a:rPr>
                  <a:t>/</a:t>
                </a:r>
                <a:r>
                  <a:rPr lang="zh-CN" altLang="en-US" sz="1400" b="1" dirty="0">
                    <a:highlight>
                      <a:srgbClr val="FFFF00"/>
                    </a:highlight>
                  </a:rPr>
                  <a:t>减法器</a:t>
                </a:r>
                <a:endParaRPr lang="zh-CN" altLang="en-US" sz="1800" b="1" dirty="0">
                  <a:highlight>
                    <a:srgbClr val="FFFF00"/>
                  </a:highlight>
                </a:endParaRPr>
              </a:p>
            </p:txBody>
          </p:sp>
        </mc:Choice>
        <mc:Fallback xmlns="">
          <p:sp>
            <p:nvSpPr>
              <p:cNvPr id="3" name="内容占位符 2">
                <a:extLst>
                  <a:ext uri="{FF2B5EF4-FFF2-40B4-BE49-F238E27FC236}">
                    <a16:creationId xmlns:a16="http://schemas.microsoft.com/office/drawing/2014/main" id="{9F6EFD7C-C8A2-4589-A35A-36DEEC670673}"/>
                  </a:ext>
                </a:extLst>
              </p:cNvPr>
              <p:cNvSpPr>
                <a:spLocks noGrp="1" noRot="1" noChangeAspect="1" noMove="1" noResize="1" noEditPoints="1" noAdjustHandles="1" noChangeArrowheads="1" noChangeShapeType="1" noTextEdit="1"/>
              </p:cNvSpPr>
              <p:nvPr>
                <p:ph idx="1"/>
              </p:nvPr>
            </p:nvSpPr>
            <p:spPr>
              <a:xfrm>
                <a:off x="63494" y="90666"/>
                <a:ext cx="7654073" cy="4525963"/>
              </a:xfrm>
              <a:blipFill>
                <a:blip r:embed="rId2"/>
                <a:stretch>
                  <a:fillRect t="-1213"/>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A896C5C7-B6F1-4569-9ACD-6141856243B6}"/>
              </a:ext>
            </a:extLst>
          </p:cNvPr>
          <p:cNvGrpSpPr/>
          <p:nvPr/>
        </p:nvGrpSpPr>
        <p:grpSpPr>
          <a:xfrm>
            <a:off x="1190722" y="2564846"/>
            <a:ext cx="6545140" cy="4126608"/>
            <a:chOff x="1403648" y="2351903"/>
            <a:chExt cx="6545140" cy="4126608"/>
          </a:xfrm>
        </p:grpSpPr>
        <p:pic>
          <p:nvPicPr>
            <p:cNvPr id="5" name="图片 4">
              <a:extLst>
                <a:ext uri="{FF2B5EF4-FFF2-40B4-BE49-F238E27FC236}">
                  <a16:creationId xmlns:a16="http://schemas.microsoft.com/office/drawing/2014/main" id="{0AAEF3FE-1D32-4310-8146-A832F2A08860}"/>
                </a:ext>
              </a:extLst>
            </p:cNvPr>
            <p:cNvPicPr>
              <a:picLocks noChangeAspect="1"/>
            </p:cNvPicPr>
            <p:nvPr/>
          </p:nvPicPr>
          <p:blipFill>
            <a:blip r:embed="rId3"/>
            <a:stretch>
              <a:fillRect/>
            </a:stretch>
          </p:blipFill>
          <p:spPr>
            <a:xfrm>
              <a:off x="1403648" y="2351903"/>
              <a:ext cx="6545140" cy="3957417"/>
            </a:xfrm>
            <a:prstGeom prst="rect">
              <a:avLst/>
            </a:prstGeom>
          </p:spPr>
        </p:pic>
        <p:pic>
          <p:nvPicPr>
            <p:cNvPr id="7" name="图片 6">
              <a:extLst>
                <a:ext uri="{FF2B5EF4-FFF2-40B4-BE49-F238E27FC236}">
                  <a16:creationId xmlns:a16="http://schemas.microsoft.com/office/drawing/2014/main" id="{8ABD53CD-B7B4-4C2D-B18B-116340B310EE}"/>
                </a:ext>
              </a:extLst>
            </p:cNvPr>
            <p:cNvPicPr>
              <a:picLocks noChangeAspect="1"/>
            </p:cNvPicPr>
            <p:nvPr/>
          </p:nvPicPr>
          <p:blipFill>
            <a:blip r:embed="rId4"/>
            <a:stretch>
              <a:fillRect/>
            </a:stretch>
          </p:blipFill>
          <p:spPr>
            <a:xfrm>
              <a:off x="1475656" y="6021288"/>
              <a:ext cx="1728192" cy="457223"/>
            </a:xfrm>
            <a:prstGeom prst="rect">
              <a:avLst/>
            </a:prstGeom>
          </p:spPr>
        </p:pic>
      </p:grpSp>
      <p:sp>
        <p:nvSpPr>
          <p:cNvPr id="18" name="文本框 17">
            <a:extLst>
              <a:ext uri="{FF2B5EF4-FFF2-40B4-BE49-F238E27FC236}">
                <a16:creationId xmlns:a16="http://schemas.microsoft.com/office/drawing/2014/main" id="{DA1902CE-1F86-4CE4-AF51-621ED7E90DC5}"/>
              </a:ext>
            </a:extLst>
          </p:cNvPr>
          <p:cNvSpPr txBox="1"/>
          <p:nvPr/>
        </p:nvSpPr>
        <p:spPr>
          <a:xfrm>
            <a:off x="3635896" y="6443463"/>
            <a:ext cx="3168352" cy="307777"/>
          </a:xfrm>
          <a:prstGeom prst="rect">
            <a:avLst/>
          </a:prstGeom>
          <a:noFill/>
        </p:spPr>
        <p:txBody>
          <a:bodyPr wrap="square">
            <a:spAutoFit/>
          </a:bodyPr>
          <a:lstStyle/>
          <a:p>
            <a:r>
              <a:rPr lang="zh-CN" altLang="en-US" sz="1400" b="1" dirty="0"/>
              <a:t>图</a:t>
            </a:r>
            <a:r>
              <a:rPr lang="en-US" altLang="zh-CN" sz="1400" b="1" dirty="0"/>
              <a:t>3.18    </a:t>
            </a:r>
            <a:r>
              <a:rPr lang="zh-CN" altLang="en-US" sz="1400" b="1" dirty="0"/>
              <a:t>阵列除法器</a:t>
            </a:r>
            <a:endParaRPr lang="zh-CN" altLang="en-US" sz="1400" dirty="0"/>
          </a:p>
        </p:txBody>
      </p:sp>
      <p:sp>
        <p:nvSpPr>
          <p:cNvPr id="32" name="文本框 31">
            <a:extLst>
              <a:ext uri="{FF2B5EF4-FFF2-40B4-BE49-F238E27FC236}">
                <a16:creationId xmlns:a16="http://schemas.microsoft.com/office/drawing/2014/main" id="{75FC644F-D4D1-4244-9317-412B144124F7}"/>
              </a:ext>
            </a:extLst>
          </p:cNvPr>
          <p:cNvSpPr txBox="1"/>
          <p:nvPr/>
        </p:nvSpPr>
        <p:spPr>
          <a:xfrm>
            <a:off x="7376232" y="59809"/>
            <a:ext cx="432048" cy="369332"/>
          </a:xfrm>
          <a:prstGeom prst="rect">
            <a:avLst/>
          </a:prstGeom>
          <a:noFill/>
        </p:spPr>
        <p:txBody>
          <a:bodyPr wrap="square" rtlCol="0">
            <a:spAutoFit/>
          </a:bodyPr>
          <a:lstStyle/>
          <a:p>
            <a:r>
              <a:rPr lang="en-US" altLang="zh-CN" dirty="0"/>
              <a:t>xi</a:t>
            </a:r>
            <a:endParaRPr lang="zh-CN" altLang="en-US" dirty="0"/>
          </a:p>
        </p:txBody>
      </p:sp>
      <p:grpSp>
        <p:nvGrpSpPr>
          <p:cNvPr id="40" name="组合 39">
            <a:extLst>
              <a:ext uri="{FF2B5EF4-FFF2-40B4-BE49-F238E27FC236}">
                <a16:creationId xmlns:a16="http://schemas.microsoft.com/office/drawing/2014/main" id="{B6D42772-1DC0-4BAD-A558-247256444738}"/>
              </a:ext>
            </a:extLst>
          </p:cNvPr>
          <p:cNvGrpSpPr/>
          <p:nvPr/>
        </p:nvGrpSpPr>
        <p:grpSpPr>
          <a:xfrm>
            <a:off x="5968263" y="134379"/>
            <a:ext cx="2947389" cy="1869969"/>
            <a:chOff x="4824873" y="211450"/>
            <a:chExt cx="2947389" cy="1869969"/>
          </a:xfrm>
        </p:grpSpPr>
        <p:sp>
          <p:nvSpPr>
            <p:cNvPr id="2" name="矩形 1">
              <a:extLst>
                <a:ext uri="{FF2B5EF4-FFF2-40B4-BE49-F238E27FC236}">
                  <a16:creationId xmlns:a16="http://schemas.microsoft.com/office/drawing/2014/main" id="{DC287F27-9903-45F4-A8E4-8E6B1333D992}"/>
                </a:ext>
              </a:extLst>
            </p:cNvPr>
            <p:cNvSpPr/>
            <p:nvPr/>
          </p:nvSpPr>
          <p:spPr>
            <a:xfrm>
              <a:off x="5944810" y="907607"/>
              <a:ext cx="720080" cy="496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CASi</a:t>
              </a:r>
              <a:endParaRPr lang="zh-CN" altLang="en-US" dirty="0"/>
            </a:p>
          </p:txBody>
        </p:sp>
        <p:cxnSp>
          <p:nvCxnSpPr>
            <p:cNvPr id="17" name="直接箭头连接符 16">
              <a:extLst>
                <a:ext uri="{FF2B5EF4-FFF2-40B4-BE49-F238E27FC236}">
                  <a16:creationId xmlns:a16="http://schemas.microsoft.com/office/drawing/2014/main" id="{217F92A2-F7EE-433D-96DA-8CA3A1843124}"/>
                </a:ext>
              </a:extLst>
            </p:cNvPr>
            <p:cNvCxnSpPr/>
            <p:nvPr/>
          </p:nvCxnSpPr>
          <p:spPr>
            <a:xfrm>
              <a:off x="5596115" y="565307"/>
              <a:ext cx="432000" cy="3608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DCE6433A-FD4E-4CDD-8BFE-94ED8A8F13F3}"/>
                </a:ext>
              </a:extLst>
            </p:cNvPr>
            <p:cNvCxnSpPr>
              <a:cxnSpLocks/>
            </p:cNvCxnSpPr>
            <p:nvPr/>
          </p:nvCxnSpPr>
          <p:spPr>
            <a:xfrm>
              <a:off x="6614711" y="1429934"/>
              <a:ext cx="288000" cy="252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BE260E3E-5E5A-4B79-BD25-05C09EBD1DEC}"/>
                </a:ext>
              </a:extLst>
            </p:cNvPr>
            <p:cNvCxnSpPr>
              <a:cxnSpLocks/>
            </p:cNvCxnSpPr>
            <p:nvPr/>
          </p:nvCxnSpPr>
          <p:spPr>
            <a:xfrm>
              <a:off x="6372200" y="431428"/>
              <a:ext cx="0" cy="46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接箭头连接符 23">
              <a:extLst>
                <a:ext uri="{FF2B5EF4-FFF2-40B4-BE49-F238E27FC236}">
                  <a16:creationId xmlns:a16="http://schemas.microsoft.com/office/drawing/2014/main" id="{A5704250-7780-4AC6-B7E2-4D069B0776EE}"/>
                </a:ext>
              </a:extLst>
            </p:cNvPr>
            <p:cNvCxnSpPr>
              <a:cxnSpLocks/>
            </p:cNvCxnSpPr>
            <p:nvPr/>
          </p:nvCxnSpPr>
          <p:spPr>
            <a:xfrm>
              <a:off x="6323663" y="1422311"/>
              <a:ext cx="0"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A9DC2727-F63D-41F4-AEE1-1C5296E62600}"/>
                </a:ext>
              </a:extLst>
            </p:cNvPr>
            <p:cNvCxnSpPr>
              <a:cxnSpLocks/>
              <a:endCxn id="2" idx="1"/>
            </p:cNvCxnSpPr>
            <p:nvPr/>
          </p:nvCxnSpPr>
          <p:spPr>
            <a:xfrm>
              <a:off x="5352791" y="1060007"/>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9277FA30-23EA-44BF-9085-7677E638CB1B}"/>
                </a:ext>
              </a:extLst>
            </p:cNvPr>
            <p:cNvCxnSpPr>
              <a:cxnSpLocks/>
            </p:cNvCxnSpPr>
            <p:nvPr/>
          </p:nvCxnSpPr>
          <p:spPr>
            <a:xfrm>
              <a:off x="6667684" y="1078561"/>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9F803C5-48C6-489F-9D35-3AEEF598CDFE}"/>
                </a:ext>
              </a:extLst>
            </p:cNvPr>
            <p:cNvCxnSpPr>
              <a:cxnSpLocks/>
            </p:cNvCxnSpPr>
            <p:nvPr/>
          </p:nvCxnSpPr>
          <p:spPr>
            <a:xfrm flipH="1">
              <a:off x="5364824" y="1280344"/>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9ABE87AC-3725-4629-AD80-0C5751840D2E}"/>
                </a:ext>
              </a:extLst>
            </p:cNvPr>
            <p:cNvCxnSpPr>
              <a:cxnSpLocks/>
            </p:cNvCxnSpPr>
            <p:nvPr/>
          </p:nvCxnSpPr>
          <p:spPr>
            <a:xfrm flipH="1">
              <a:off x="6683703" y="1268760"/>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文本框 32">
              <a:extLst>
                <a:ext uri="{FF2B5EF4-FFF2-40B4-BE49-F238E27FC236}">
                  <a16:creationId xmlns:a16="http://schemas.microsoft.com/office/drawing/2014/main" id="{3D969356-B42F-4E75-8740-A85E56CE8A95}"/>
                </a:ext>
              </a:extLst>
            </p:cNvPr>
            <p:cNvSpPr txBox="1"/>
            <p:nvPr/>
          </p:nvSpPr>
          <p:spPr>
            <a:xfrm>
              <a:off x="5374138" y="211450"/>
              <a:ext cx="432048" cy="369332"/>
            </a:xfrm>
            <a:prstGeom prst="rect">
              <a:avLst/>
            </a:prstGeom>
            <a:noFill/>
          </p:spPr>
          <p:txBody>
            <a:bodyPr wrap="square" rtlCol="0">
              <a:spAutoFit/>
            </a:bodyPr>
            <a:lstStyle/>
            <a:p>
              <a:r>
                <a:rPr lang="en-US" altLang="zh-CN" dirty="0"/>
                <a:t> </a:t>
              </a:r>
              <a:r>
                <a:rPr lang="en-US" altLang="zh-CN" dirty="0" err="1"/>
                <a:t>yi</a:t>
              </a:r>
              <a:endParaRPr lang="zh-CN" altLang="en-US" dirty="0"/>
            </a:p>
          </p:txBody>
        </p:sp>
        <p:sp>
          <p:nvSpPr>
            <p:cNvPr id="34" name="文本框 33">
              <a:extLst>
                <a:ext uri="{FF2B5EF4-FFF2-40B4-BE49-F238E27FC236}">
                  <a16:creationId xmlns:a16="http://schemas.microsoft.com/office/drawing/2014/main" id="{46DE91C9-0C19-486E-A0BF-384BFADF2647}"/>
                </a:ext>
              </a:extLst>
            </p:cNvPr>
            <p:cNvSpPr txBox="1"/>
            <p:nvPr/>
          </p:nvSpPr>
          <p:spPr>
            <a:xfrm>
              <a:off x="6899363" y="1458959"/>
              <a:ext cx="432048" cy="369332"/>
            </a:xfrm>
            <a:prstGeom prst="rect">
              <a:avLst/>
            </a:prstGeom>
            <a:noFill/>
          </p:spPr>
          <p:txBody>
            <a:bodyPr wrap="square" rtlCol="0">
              <a:spAutoFit/>
            </a:bodyPr>
            <a:lstStyle/>
            <a:p>
              <a:r>
                <a:rPr lang="en-US" altLang="zh-CN" dirty="0" err="1"/>
                <a:t>yi</a:t>
              </a:r>
              <a:endParaRPr lang="zh-CN" altLang="en-US" dirty="0"/>
            </a:p>
          </p:txBody>
        </p:sp>
        <p:sp>
          <p:nvSpPr>
            <p:cNvPr id="35" name="文本框 34">
              <a:extLst>
                <a:ext uri="{FF2B5EF4-FFF2-40B4-BE49-F238E27FC236}">
                  <a16:creationId xmlns:a16="http://schemas.microsoft.com/office/drawing/2014/main" id="{89A1EA83-02CB-470F-8C6F-53A605D286AA}"/>
                </a:ext>
              </a:extLst>
            </p:cNvPr>
            <p:cNvSpPr txBox="1"/>
            <p:nvPr/>
          </p:nvSpPr>
          <p:spPr>
            <a:xfrm>
              <a:off x="7340214" y="858788"/>
              <a:ext cx="432048" cy="369332"/>
            </a:xfrm>
            <a:prstGeom prst="rect">
              <a:avLst/>
            </a:prstGeom>
            <a:noFill/>
          </p:spPr>
          <p:txBody>
            <a:bodyPr wrap="square" rtlCol="0">
              <a:spAutoFit/>
            </a:bodyPr>
            <a:lstStyle/>
            <a:p>
              <a:r>
                <a:rPr lang="en-US" altLang="zh-CN" dirty="0"/>
                <a:t>P</a:t>
              </a:r>
              <a:endParaRPr lang="zh-CN" altLang="en-US" dirty="0"/>
            </a:p>
          </p:txBody>
        </p:sp>
        <p:sp>
          <p:nvSpPr>
            <p:cNvPr id="36" name="文本框 35">
              <a:extLst>
                <a:ext uri="{FF2B5EF4-FFF2-40B4-BE49-F238E27FC236}">
                  <a16:creationId xmlns:a16="http://schemas.microsoft.com/office/drawing/2014/main" id="{80E965D2-D308-4F24-A321-B12CABF4F476}"/>
                </a:ext>
              </a:extLst>
            </p:cNvPr>
            <p:cNvSpPr txBox="1"/>
            <p:nvPr/>
          </p:nvSpPr>
          <p:spPr>
            <a:xfrm>
              <a:off x="5148800" y="899428"/>
              <a:ext cx="432048" cy="369332"/>
            </a:xfrm>
            <a:prstGeom prst="rect">
              <a:avLst/>
            </a:prstGeom>
            <a:noFill/>
          </p:spPr>
          <p:txBody>
            <a:bodyPr wrap="square" rtlCol="0">
              <a:spAutoFit/>
            </a:bodyPr>
            <a:lstStyle/>
            <a:p>
              <a:r>
                <a:rPr lang="en-US" altLang="zh-CN" dirty="0"/>
                <a:t>P</a:t>
              </a:r>
              <a:endParaRPr lang="zh-CN" altLang="en-US" dirty="0"/>
            </a:p>
          </p:txBody>
        </p:sp>
        <p:sp>
          <p:nvSpPr>
            <p:cNvPr id="37" name="文本框 36">
              <a:extLst>
                <a:ext uri="{FF2B5EF4-FFF2-40B4-BE49-F238E27FC236}">
                  <a16:creationId xmlns:a16="http://schemas.microsoft.com/office/drawing/2014/main" id="{F13C6B8E-42CD-440F-B770-4B6F46D0F04F}"/>
                </a:ext>
              </a:extLst>
            </p:cNvPr>
            <p:cNvSpPr txBox="1"/>
            <p:nvPr/>
          </p:nvSpPr>
          <p:spPr>
            <a:xfrm>
              <a:off x="7334625" y="1166216"/>
              <a:ext cx="432048" cy="369332"/>
            </a:xfrm>
            <a:prstGeom prst="rect">
              <a:avLst/>
            </a:prstGeom>
            <a:noFill/>
          </p:spPr>
          <p:txBody>
            <a:bodyPr wrap="square" rtlCol="0">
              <a:spAutoFit/>
            </a:bodyPr>
            <a:lstStyle/>
            <a:p>
              <a:r>
                <a:rPr lang="en-US" altLang="zh-CN" dirty="0"/>
                <a:t>ci</a:t>
              </a:r>
              <a:endParaRPr lang="zh-CN" altLang="en-US" dirty="0"/>
            </a:p>
          </p:txBody>
        </p:sp>
        <p:sp>
          <p:nvSpPr>
            <p:cNvPr id="38" name="文本框 37">
              <a:extLst>
                <a:ext uri="{FF2B5EF4-FFF2-40B4-BE49-F238E27FC236}">
                  <a16:creationId xmlns:a16="http://schemas.microsoft.com/office/drawing/2014/main" id="{910099A8-277B-417E-905F-E6DC8B463D7B}"/>
                </a:ext>
              </a:extLst>
            </p:cNvPr>
            <p:cNvSpPr txBox="1"/>
            <p:nvPr/>
          </p:nvSpPr>
          <p:spPr>
            <a:xfrm>
              <a:off x="4824873" y="1116820"/>
              <a:ext cx="720080" cy="369332"/>
            </a:xfrm>
            <a:prstGeom prst="rect">
              <a:avLst/>
            </a:prstGeom>
            <a:noFill/>
          </p:spPr>
          <p:txBody>
            <a:bodyPr wrap="square" rtlCol="0">
              <a:spAutoFit/>
            </a:bodyPr>
            <a:lstStyle/>
            <a:p>
              <a:r>
                <a:rPr lang="en-US" altLang="zh-CN" dirty="0">
                  <a:solidFill>
                    <a:srgbClr val="C00000"/>
                  </a:solidFill>
                </a:rPr>
                <a:t>Ci+1</a:t>
              </a:r>
              <a:endParaRPr lang="zh-CN" altLang="en-US" dirty="0">
                <a:solidFill>
                  <a:srgbClr val="C00000"/>
                </a:solidFill>
              </a:endParaRPr>
            </a:p>
          </p:txBody>
        </p:sp>
        <p:sp>
          <p:nvSpPr>
            <p:cNvPr id="39" name="文本框 38">
              <a:extLst>
                <a:ext uri="{FF2B5EF4-FFF2-40B4-BE49-F238E27FC236}">
                  <a16:creationId xmlns:a16="http://schemas.microsoft.com/office/drawing/2014/main" id="{EA0213EE-AFF7-4827-92FA-871A6A8E7CC8}"/>
                </a:ext>
              </a:extLst>
            </p:cNvPr>
            <p:cNvSpPr txBox="1"/>
            <p:nvPr/>
          </p:nvSpPr>
          <p:spPr>
            <a:xfrm>
              <a:off x="6182663" y="1712087"/>
              <a:ext cx="432048" cy="369332"/>
            </a:xfrm>
            <a:prstGeom prst="rect">
              <a:avLst/>
            </a:prstGeom>
            <a:noFill/>
          </p:spPr>
          <p:txBody>
            <a:bodyPr wrap="square" rtlCol="0">
              <a:spAutoFit/>
            </a:bodyPr>
            <a:lstStyle/>
            <a:p>
              <a:r>
                <a:rPr lang="en-US" altLang="zh-CN" dirty="0"/>
                <a:t>Si</a:t>
              </a:r>
              <a:endParaRPr lang="zh-CN" altLang="en-US" dirty="0"/>
            </a:p>
          </p:txBody>
        </p:sp>
      </p:grpSp>
      <p:cxnSp>
        <p:nvCxnSpPr>
          <p:cNvPr id="42" name="直接箭头连接符 41">
            <a:extLst>
              <a:ext uri="{FF2B5EF4-FFF2-40B4-BE49-F238E27FC236}">
                <a16:creationId xmlns:a16="http://schemas.microsoft.com/office/drawing/2014/main" id="{F9CFCEB4-7C64-42B9-853F-DFD278EEC96D}"/>
              </a:ext>
            </a:extLst>
          </p:cNvPr>
          <p:cNvCxnSpPr/>
          <p:nvPr/>
        </p:nvCxnSpPr>
        <p:spPr>
          <a:xfrm>
            <a:off x="3890530" y="668663"/>
            <a:ext cx="825486" cy="936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51683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F741600-EE3F-4711-AF1F-177258B8CD6F}"/>
              </a:ext>
            </a:extLst>
          </p:cNvPr>
          <p:cNvSpPr>
            <a:spLocks noGrp="1"/>
          </p:cNvSpPr>
          <p:nvPr>
            <p:ph type="title"/>
          </p:nvPr>
        </p:nvSpPr>
        <p:spPr>
          <a:xfrm>
            <a:off x="493204" y="83393"/>
            <a:ext cx="8229600" cy="1143000"/>
          </a:xfrm>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457200" y="1226393"/>
            <a:ext cx="8229600" cy="2490639"/>
          </a:xfrm>
        </p:spPr>
        <p:txBody>
          <a:bodyPr/>
          <a:lstStyle/>
          <a:p>
            <a:pPr lvl="1" eaLnBrk="1" hangingPunct="1"/>
            <a:r>
              <a:rPr lang="en-US" altLang="zh-CN" sz="2000" b="1" dirty="0"/>
              <a:t>3</a:t>
            </a:r>
            <a:r>
              <a:rPr lang="zh-CN" altLang="en-US" sz="2000" b="1" dirty="0"/>
              <a:t>、阵列除法器时间延迟分析</a:t>
            </a:r>
            <a:endParaRPr lang="en-US" altLang="zh-CN" sz="1600" b="1" dirty="0"/>
          </a:p>
          <a:p>
            <a:pPr lvl="2"/>
            <a:r>
              <a:rPr lang="en-US" altLang="zh-CN" sz="1400" b="1" dirty="0"/>
              <a:t>n</a:t>
            </a:r>
            <a:r>
              <a:rPr lang="zh-CN" altLang="en-US" sz="1400" b="1" dirty="0"/>
              <a:t>位串行可控加减法电路的时间延迟为（教材图</a:t>
            </a:r>
            <a:r>
              <a:rPr lang="en-US" altLang="zh-CN" sz="1400" b="1" dirty="0"/>
              <a:t>3.4</a:t>
            </a:r>
            <a:r>
              <a:rPr lang="zh-CN" altLang="en-US" sz="1400" b="1" dirty="0"/>
              <a:t>，见下图）：</a:t>
            </a:r>
            <a:r>
              <a:rPr lang="en-US" altLang="zh-CN" sz="1400" b="1" dirty="0"/>
              <a:t>(2n+7)T</a:t>
            </a:r>
          </a:p>
          <a:p>
            <a:pPr lvl="2"/>
            <a:endParaRPr lang="en-US" altLang="zh-CN" sz="1400" b="1" dirty="0"/>
          </a:p>
          <a:p>
            <a:pPr lvl="2"/>
            <a:r>
              <a:rPr lang="en-US" altLang="zh-CN" sz="1400" b="1" dirty="0"/>
              <a:t>n</a:t>
            </a:r>
            <a:r>
              <a:rPr lang="zh-CN" altLang="en-US" sz="1400" b="1" dirty="0"/>
              <a:t>位</a:t>
            </a:r>
            <a:r>
              <a:rPr lang="en-US" altLang="zh-CN" sz="1400" b="1" dirty="0"/>
              <a:t>CAS</a:t>
            </a:r>
            <a:r>
              <a:rPr lang="zh-CN" altLang="en-US" sz="1400" b="1" dirty="0"/>
              <a:t>阵列除法器需要</a:t>
            </a:r>
            <a:r>
              <a:rPr lang="en-US" altLang="zh-CN" sz="1400" b="1" dirty="0"/>
              <a:t>(n+1)</a:t>
            </a:r>
            <a:r>
              <a:rPr lang="en-US" altLang="zh-CN" sz="1400" b="1" baseline="30000" dirty="0"/>
              <a:t>2</a:t>
            </a:r>
            <a:r>
              <a:rPr lang="zh-CN" altLang="en-US" sz="1400" b="1" dirty="0"/>
              <a:t>个</a:t>
            </a:r>
            <a:r>
              <a:rPr lang="en-US" altLang="zh-CN" sz="1400" b="1" dirty="0"/>
              <a:t>CAS</a:t>
            </a:r>
            <a:r>
              <a:rPr lang="zh-CN" altLang="en-US" sz="1400" b="1" dirty="0"/>
              <a:t>，其时间延迟为： </a:t>
            </a:r>
            <a:r>
              <a:rPr lang="en-US" altLang="zh-CN" sz="1400" b="1" dirty="0"/>
              <a:t>[2(n+1)+7]T*(n+1)</a:t>
            </a:r>
          </a:p>
          <a:p>
            <a:pPr lvl="2"/>
            <a:endParaRPr lang="en-US" altLang="zh-CN" sz="1400" b="1" dirty="0"/>
          </a:p>
          <a:p>
            <a:pPr lvl="2"/>
            <a:r>
              <a:rPr lang="zh-CN" altLang="en-US" sz="1400" b="1" dirty="0"/>
              <a:t>阵列除法器的时间复杂度为：</a:t>
            </a:r>
            <a:r>
              <a:rPr lang="en-US" altLang="zh-CN" sz="1400" b="1" dirty="0"/>
              <a:t>O(n</a:t>
            </a:r>
            <a:r>
              <a:rPr lang="en-US" altLang="zh-CN" sz="1400" b="1" baseline="30000" dirty="0"/>
              <a:t>2</a:t>
            </a:r>
            <a:r>
              <a:rPr lang="en-US" altLang="zh-CN" sz="1400" b="1" dirty="0"/>
              <a:t>)</a:t>
            </a:r>
          </a:p>
          <a:p>
            <a:pPr lvl="2"/>
            <a:endParaRPr lang="en-US" altLang="zh-CN" sz="1400" b="1" dirty="0"/>
          </a:p>
          <a:p>
            <a:pPr lvl="2"/>
            <a:r>
              <a:rPr lang="zh-CN" altLang="en-US" sz="1400" b="1" dirty="0"/>
              <a:t>阵列乘法器的时间复杂度为：</a:t>
            </a:r>
            <a:r>
              <a:rPr lang="en-US" altLang="zh-CN" sz="1400" b="1" dirty="0"/>
              <a:t>O(n)</a:t>
            </a:r>
          </a:p>
          <a:p>
            <a:pPr lvl="2"/>
            <a:endParaRPr lang="en-US" altLang="zh-CN" sz="1400" b="1" dirty="0"/>
          </a:p>
          <a:p>
            <a:pPr lvl="2"/>
            <a:endParaRPr lang="zh-CN" altLang="en-US" sz="1800" b="1" dirty="0"/>
          </a:p>
        </p:txBody>
      </p:sp>
      <p:grpSp>
        <p:nvGrpSpPr>
          <p:cNvPr id="13" name="组合 12">
            <a:extLst>
              <a:ext uri="{FF2B5EF4-FFF2-40B4-BE49-F238E27FC236}">
                <a16:creationId xmlns:a16="http://schemas.microsoft.com/office/drawing/2014/main" id="{CB7C91C5-226E-48C1-A28E-DE68E1877BC1}"/>
              </a:ext>
            </a:extLst>
          </p:cNvPr>
          <p:cNvGrpSpPr/>
          <p:nvPr/>
        </p:nvGrpSpPr>
        <p:grpSpPr>
          <a:xfrm>
            <a:off x="1547664" y="3573016"/>
            <a:ext cx="6922442" cy="3096344"/>
            <a:chOff x="1043608" y="3436236"/>
            <a:chExt cx="6922442" cy="3096344"/>
          </a:xfrm>
        </p:grpSpPr>
        <p:grpSp>
          <p:nvGrpSpPr>
            <p:cNvPr id="4" name="组合 3">
              <a:extLst>
                <a:ext uri="{FF2B5EF4-FFF2-40B4-BE49-F238E27FC236}">
                  <a16:creationId xmlns:a16="http://schemas.microsoft.com/office/drawing/2014/main" id="{F1BDD87F-361D-4206-A4AE-BD81E186BCF8}"/>
                </a:ext>
              </a:extLst>
            </p:cNvPr>
            <p:cNvGrpSpPr/>
            <p:nvPr/>
          </p:nvGrpSpPr>
          <p:grpSpPr>
            <a:xfrm>
              <a:off x="1043608" y="3436236"/>
              <a:ext cx="6922442" cy="2592288"/>
              <a:chOff x="1043608" y="3436236"/>
              <a:chExt cx="6922442" cy="2592288"/>
            </a:xfrm>
          </p:grpSpPr>
          <p:grpSp>
            <p:nvGrpSpPr>
              <p:cNvPr id="6" name="组合 5">
                <a:extLst>
                  <a:ext uri="{FF2B5EF4-FFF2-40B4-BE49-F238E27FC236}">
                    <a16:creationId xmlns:a16="http://schemas.microsoft.com/office/drawing/2014/main" id="{A4E057D1-E17F-4ADA-92A4-7397E740DB83}"/>
                  </a:ext>
                </a:extLst>
              </p:cNvPr>
              <p:cNvGrpSpPr/>
              <p:nvPr/>
            </p:nvGrpSpPr>
            <p:grpSpPr>
              <a:xfrm>
                <a:off x="1043608" y="3436236"/>
                <a:ext cx="6922442" cy="2592288"/>
                <a:chOff x="827584" y="2636912"/>
                <a:chExt cx="7714530" cy="3275706"/>
              </a:xfrm>
            </p:grpSpPr>
            <p:pic>
              <p:nvPicPr>
                <p:cNvPr id="9" name="图片 8">
                  <a:extLst>
                    <a:ext uri="{FF2B5EF4-FFF2-40B4-BE49-F238E27FC236}">
                      <a16:creationId xmlns:a16="http://schemas.microsoft.com/office/drawing/2014/main" id="{0B9B283E-DD4F-4663-B04A-D48C44A227F5}"/>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10" name="图片 9">
                  <a:extLst>
                    <a:ext uri="{FF2B5EF4-FFF2-40B4-BE49-F238E27FC236}">
                      <a16:creationId xmlns:a16="http://schemas.microsoft.com/office/drawing/2014/main" id="{1A0F8E16-059A-467F-A4DD-56B6760588A7}"/>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2" name="文本框 1">
                <a:extLst>
                  <a:ext uri="{FF2B5EF4-FFF2-40B4-BE49-F238E27FC236}">
                    <a16:creationId xmlns:a16="http://schemas.microsoft.com/office/drawing/2014/main" id="{B70E27F8-7DE6-48FA-9D86-FFF38961E335}"/>
                  </a:ext>
                </a:extLst>
              </p:cNvPr>
              <p:cNvSpPr txBox="1"/>
              <p:nvPr/>
            </p:nvSpPr>
            <p:spPr>
              <a:xfrm>
                <a:off x="2555776" y="4005064"/>
                <a:ext cx="3847528" cy="276999"/>
              </a:xfrm>
              <a:prstGeom prst="rect">
                <a:avLst/>
              </a:prstGeom>
              <a:noFill/>
            </p:spPr>
            <p:txBody>
              <a:bodyPr wrap="none" rtlCol="0">
                <a:spAutoFit/>
              </a:bodyPr>
              <a:lstStyle/>
              <a:p>
                <a:r>
                  <a:rPr lang="en-US" altLang="zh-CN" sz="1200" b="1" dirty="0"/>
                  <a:t>(2n+7)T               (2n+5)T                           11T                       9T</a:t>
                </a:r>
                <a:endParaRPr lang="zh-CN" altLang="en-US" sz="1200" b="1" dirty="0"/>
              </a:p>
            </p:txBody>
          </p:sp>
        </p:grpSp>
        <p:sp>
          <p:nvSpPr>
            <p:cNvPr id="12" name="文本框 11">
              <a:extLst>
                <a:ext uri="{FF2B5EF4-FFF2-40B4-BE49-F238E27FC236}">
                  <a16:creationId xmlns:a16="http://schemas.microsoft.com/office/drawing/2014/main" id="{0251EF55-53AF-4437-8ADC-A4BBEF812608}"/>
                </a:ext>
              </a:extLst>
            </p:cNvPr>
            <p:cNvSpPr txBox="1"/>
            <p:nvPr/>
          </p:nvSpPr>
          <p:spPr>
            <a:xfrm>
              <a:off x="2771800" y="6224803"/>
              <a:ext cx="2664296" cy="307777"/>
            </a:xfrm>
            <a:prstGeom prst="rect">
              <a:avLst/>
            </a:prstGeom>
            <a:noFill/>
          </p:spPr>
          <p:txBody>
            <a:bodyPr wrap="square">
              <a:spAutoFit/>
            </a:bodyPr>
            <a:lstStyle/>
            <a:p>
              <a:pPr algn="ctr"/>
              <a:r>
                <a:rPr lang="zh-CN" altLang="en-US" sz="1400" b="1" dirty="0"/>
                <a:t>图</a:t>
              </a:r>
              <a:r>
                <a:rPr lang="en-US" altLang="zh-CN" sz="1400" b="1" dirty="0"/>
                <a:t>3.4    n</a:t>
              </a:r>
              <a:r>
                <a:rPr lang="zh-CN" altLang="en-US" sz="1400" b="1" dirty="0"/>
                <a:t>位串行可控加减法电路</a:t>
              </a:r>
              <a:endParaRPr lang="zh-CN" altLang="en-US" sz="1400" dirty="0"/>
            </a:p>
          </p:txBody>
        </p:sp>
      </p:grpSp>
    </p:spTree>
    <p:extLst>
      <p:ext uri="{BB962C8B-B14F-4D97-AF65-F5344CB8AC3E}">
        <p14:creationId xmlns:p14="http://schemas.microsoft.com/office/powerpoint/2010/main" val="23215535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3.5  </a:t>
            </a:r>
            <a:r>
              <a:rPr lang="zh-CN" altLang="en-US" b="1" dirty="0">
                <a:solidFill>
                  <a:srgbClr val="002060"/>
                </a:solidFill>
                <a:latin typeface="+mn-lt"/>
                <a:ea typeface="黑体" pitchFamily="49" charset="-122"/>
              </a:rPr>
              <a:t>浮点运算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5030019"/>
          </a:xfrm>
        </p:spPr>
        <p:txBody>
          <a:bodyPr/>
          <a:lstStyle/>
          <a:p>
            <a:pPr eaLnBrk="1" hangingPunct="1"/>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、阶码和尾数采用补码表示的浮点加减运算</a:t>
            </a:r>
            <a:endParaRPr lang="en-US" altLang="zh-CN" sz="2000" b="1" dirty="0"/>
          </a:p>
          <a:p>
            <a:pPr lvl="1" eaLnBrk="1" hangingPunct="1"/>
            <a:endParaRPr lang="en-US" altLang="zh-CN" sz="2000" b="1" dirty="0"/>
          </a:p>
          <a:p>
            <a:pPr lvl="2" eaLnBrk="1" hangingPunct="1"/>
            <a:r>
              <a:rPr lang="zh-CN" altLang="en-US" sz="1600" b="1" dirty="0"/>
              <a:t>（</a:t>
            </a:r>
            <a:r>
              <a:rPr lang="en-US" altLang="zh-CN" sz="1600" b="1" dirty="0"/>
              <a:t>1</a:t>
            </a:r>
            <a:r>
              <a:rPr lang="zh-CN" altLang="en-US" sz="1600" b="1" dirty="0"/>
              <a:t>）对阶：小阶向大阶对齐</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）尾数运算：定点数的补码加减运算</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）结果规格化：尾数的绝对值大于</a:t>
            </a:r>
            <a:r>
              <a:rPr lang="en-US" altLang="zh-CN" sz="1600" b="1" dirty="0"/>
              <a:t>1</a:t>
            </a:r>
            <a:r>
              <a:rPr lang="zh-CN" altLang="en-US" sz="1600" b="1" dirty="0"/>
              <a:t>，需要进行右规，尾数只需要右移</a:t>
            </a:r>
            <a:r>
              <a:rPr lang="en-US" altLang="zh-CN" sz="1600" b="1" dirty="0"/>
              <a:t>1</a:t>
            </a:r>
            <a:r>
              <a:rPr lang="zh-CN" altLang="en-US" sz="1600" b="1" dirty="0"/>
              <a:t>次，阶码加</a:t>
            </a:r>
            <a:r>
              <a:rPr lang="en-US" altLang="zh-CN" sz="1600" b="1" dirty="0"/>
              <a:t>1</a:t>
            </a:r>
            <a:r>
              <a:rPr lang="zh-CN" altLang="en-US" sz="1600" b="1" dirty="0"/>
              <a:t>；尾数的绝对值小于</a:t>
            </a:r>
            <a:r>
              <a:rPr lang="en-US" altLang="zh-CN" sz="1600" b="1" dirty="0"/>
              <a:t>0.5</a:t>
            </a:r>
            <a:r>
              <a:rPr lang="zh-CN" altLang="en-US" sz="1600" b="1" dirty="0"/>
              <a:t>，需要进行左规，尾数需要左移若干次，直到尾数的绝对值大于</a:t>
            </a:r>
            <a:r>
              <a:rPr lang="en-US" altLang="zh-CN" sz="1600" b="1" dirty="0"/>
              <a:t>0.5</a:t>
            </a:r>
            <a:r>
              <a:rPr lang="zh-CN" altLang="en-US" sz="1600" b="1" dirty="0"/>
              <a:t>（尾数每左移</a:t>
            </a:r>
            <a:r>
              <a:rPr lang="en-US" altLang="zh-CN" sz="1600" b="1" dirty="0"/>
              <a:t>1</a:t>
            </a:r>
            <a:r>
              <a:rPr lang="zh-CN" altLang="en-US" sz="1600" b="1" dirty="0"/>
              <a:t>次，阶码减</a:t>
            </a:r>
            <a:r>
              <a:rPr lang="en-US" altLang="zh-CN" sz="1600" b="1" dirty="0"/>
              <a:t>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4</a:t>
            </a:r>
            <a:r>
              <a:rPr lang="zh-CN" altLang="en-US" sz="1600" b="1" dirty="0"/>
              <a:t>）舍入：尾数进行右规时（尾数右移），尾数的末尾会被丢掉，从而产生误差。舍入方法：末位恒置</a:t>
            </a:r>
            <a:r>
              <a:rPr lang="en-US" altLang="zh-CN" sz="1600" b="1" dirty="0"/>
              <a:t>1</a:t>
            </a:r>
            <a:r>
              <a:rPr lang="zh-CN" altLang="en-US" sz="1600" b="1" dirty="0"/>
              <a:t>法；</a:t>
            </a:r>
            <a:r>
              <a:rPr lang="en-US" altLang="zh-CN" sz="1600" b="1" dirty="0"/>
              <a:t>0</a:t>
            </a:r>
            <a:r>
              <a:rPr lang="zh-CN" altLang="en-US" sz="1600" b="1" dirty="0"/>
              <a:t>舍</a:t>
            </a:r>
            <a:r>
              <a:rPr lang="en-US" altLang="zh-CN" sz="1600" b="1" dirty="0"/>
              <a:t>1</a:t>
            </a:r>
            <a:r>
              <a:rPr lang="zh-CN" altLang="en-US" sz="1600" b="1" dirty="0"/>
              <a:t>入法</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5</a:t>
            </a:r>
            <a:r>
              <a:rPr lang="zh-CN" altLang="en-US" sz="1600" b="1" dirty="0"/>
              <a:t>）溢出判断：</a:t>
            </a:r>
            <a:r>
              <a:rPr lang="zh-CN" altLang="en-US" sz="1600" b="1" dirty="0">
                <a:solidFill>
                  <a:srgbClr val="C00000"/>
                </a:solidFill>
              </a:rPr>
              <a:t>阶码</a:t>
            </a:r>
            <a:r>
              <a:rPr lang="zh-CN" altLang="en-US" sz="1600" b="1" dirty="0"/>
              <a:t>的符号位为</a:t>
            </a:r>
            <a:r>
              <a:rPr lang="en-US" altLang="zh-CN" sz="1600" b="1" dirty="0"/>
              <a:t>01</a:t>
            </a:r>
            <a:r>
              <a:rPr lang="zh-CN" altLang="en-US" sz="1600" b="1" dirty="0"/>
              <a:t>或</a:t>
            </a:r>
            <a:r>
              <a:rPr lang="en-US" altLang="zh-CN" sz="1600" b="1" dirty="0"/>
              <a:t>10</a:t>
            </a:r>
            <a:r>
              <a:rPr lang="zh-CN" altLang="en-US" sz="1600" b="1" dirty="0"/>
              <a:t>时，表示浮点数溢出了</a:t>
            </a:r>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F9CF5-8062-47B9-90F2-72D2E1C9F7FB}"/>
              </a:ext>
            </a:extLst>
          </p:cNvPr>
          <p:cNvSpPr>
            <a:spLocks noGrp="1"/>
          </p:cNvSpPr>
          <p:nvPr>
            <p:ph type="title"/>
          </p:nvPr>
        </p:nvSpPr>
        <p:spPr>
          <a:xfrm>
            <a:off x="466023" y="112880"/>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66023" y="1166018"/>
            <a:ext cx="8229600" cy="5691982"/>
          </a:xfrm>
        </p:spPr>
        <p:txBody>
          <a:bodyPr/>
          <a:lstStyle/>
          <a:p>
            <a:r>
              <a:rPr lang="zh-CN" altLang="en-US" sz="1800" b="1" dirty="0"/>
              <a:t>例</a:t>
            </a:r>
            <a:r>
              <a:rPr lang="en-US" altLang="zh-CN" sz="1800" b="1" dirty="0"/>
              <a:t>3.14</a:t>
            </a:r>
            <a:r>
              <a:rPr lang="zh-CN" altLang="en-US" sz="1800" b="1" dirty="0"/>
              <a:t>：设</a:t>
            </a:r>
            <a:r>
              <a:rPr lang="en-US" altLang="zh-CN" sz="1800" b="1" dirty="0"/>
              <a:t>x=2</a:t>
            </a:r>
            <a:r>
              <a:rPr lang="en-US" altLang="zh-CN" sz="1800" b="1" baseline="30000" dirty="0"/>
              <a:t>-101</a:t>
            </a:r>
            <a:r>
              <a:rPr lang="en-US" altLang="zh-CN" sz="1800" b="1" dirty="0"/>
              <a:t>·(-0.101011)</a:t>
            </a:r>
            <a:r>
              <a:rPr lang="zh-CN" altLang="en-US" sz="1800" b="1" dirty="0"/>
              <a:t>，</a:t>
            </a:r>
            <a:r>
              <a:rPr lang="en-US" altLang="zh-CN" sz="1800" b="1" dirty="0"/>
              <a:t>y= 2</a:t>
            </a:r>
            <a:r>
              <a:rPr lang="en-US" altLang="zh-CN" sz="1800" b="1" baseline="30000" dirty="0"/>
              <a:t>-010</a:t>
            </a:r>
            <a:r>
              <a:rPr lang="en-US" altLang="zh-CN" sz="1800" b="1" dirty="0"/>
              <a:t>·(0.001110) </a:t>
            </a:r>
            <a:r>
              <a:rPr lang="zh-CN" altLang="en-US" sz="1800" b="1" dirty="0"/>
              <a:t>，数的阶码为</a:t>
            </a:r>
            <a:r>
              <a:rPr lang="en-US" altLang="zh-CN" sz="1800" b="1" dirty="0"/>
              <a:t>3</a:t>
            </a:r>
            <a:r>
              <a:rPr lang="zh-CN" altLang="en-US" sz="1800" b="1" dirty="0"/>
              <a:t>位，尾数为</a:t>
            </a:r>
            <a:r>
              <a:rPr lang="en-US" altLang="zh-CN" sz="1800" b="1" dirty="0"/>
              <a:t>6</a:t>
            </a:r>
            <a:r>
              <a:rPr lang="zh-CN" altLang="en-US" sz="1800" b="1" dirty="0"/>
              <a:t>位（均不含符号位），且都用补码表示，按照补码浮点数运算步骤计算</a:t>
            </a:r>
            <a:r>
              <a:rPr lang="en-US" altLang="zh-CN" sz="1800" b="1" dirty="0" err="1"/>
              <a:t>x+y</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a:t>
            </a:r>
            <a:r>
              <a:rPr lang="zh-CN" altLang="en-US" sz="1400" b="1" baseline="-25000" dirty="0"/>
              <a:t>补</a:t>
            </a:r>
            <a:r>
              <a:rPr lang="en-US" altLang="zh-CN" sz="1400" b="1" dirty="0"/>
              <a:t>=11 011 ,  11.010101                    [y]</a:t>
            </a:r>
            <a:r>
              <a:rPr lang="zh-CN" altLang="en-US" sz="1400" b="1" baseline="-25000" dirty="0"/>
              <a:t>补</a:t>
            </a:r>
            <a:r>
              <a:rPr lang="en-US" altLang="zh-CN" sz="1400" b="1" dirty="0"/>
              <a:t>=11 110 ,  00.001110</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x</a:t>
            </a:r>
            <a:r>
              <a:rPr lang="zh-CN" altLang="en-US" sz="1400" b="1" dirty="0"/>
              <a:t>（阶码</a:t>
            </a:r>
            <a:r>
              <a:rPr lang="en-US" altLang="zh-CN" sz="1400" b="1" dirty="0"/>
              <a:t>=-5</a:t>
            </a:r>
            <a:r>
              <a:rPr lang="zh-CN" altLang="en-US" sz="1400" b="1" dirty="0"/>
              <a:t>）向</a:t>
            </a:r>
            <a:r>
              <a:rPr lang="en-US" altLang="zh-CN" sz="1400" b="1" dirty="0"/>
              <a:t>y</a:t>
            </a:r>
            <a:r>
              <a:rPr lang="zh-CN" altLang="en-US" sz="1400" b="1" dirty="0"/>
              <a:t>（阶码</a:t>
            </a:r>
            <a:r>
              <a:rPr lang="en-US" altLang="zh-CN" sz="1400" b="1" dirty="0"/>
              <a:t>=-2</a:t>
            </a:r>
            <a:r>
              <a:rPr lang="zh-CN" altLang="en-US" sz="1400" b="1" dirty="0"/>
              <a:t>）对齐，</a:t>
            </a:r>
            <a:r>
              <a:rPr lang="en-US" altLang="zh-CN" sz="1400" b="1" dirty="0"/>
              <a:t>x</a:t>
            </a:r>
            <a:r>
              <a:rPr lang="zh-CN" altLang="en-US" sz="1400" b="1" dirty="0"/>
              <a:t>的尾数右移</a:t>
            </a:r>
            <a:r>
              <a:rPr lang="en-US" altLang="zh-CN" sz="1400" b="1" dirty="0"/>
              <a:t>3</a:t>
            </a:r>
            <a:r>
              <a:rPr lang="zh-CN" altLang="en-US" sz="1400" b="1" dirty="0"/>
              <a:t>位</a:t>
            </a:r>
            <a:endParaRPr lang="en-US" altLang="zh-CN" sz="1400" b="1" dirty="0"/>
          </a:p>
          <a:p>
            <a:pPr lvl="2"/>
            <a:r>
              <a:rPr lang="zh-CN" altLang="en-US" sz="1400" b="1" dirty="0"/>
              <a:t>对阶后的</a:t>
            </a:r>
            <a:r>
              <a:rPr lang="en-US" altLang="zh-CN" sz="1400" b="1" dirty="0"/>
              <a:t>[X]</a:t>
            </a:r>
            <a:r>
              <a:rPr lang="zh-CN" altLang="en-US" sz="1400" b="1" baseline="-25000" dirty="0"/>
              <a:t>补</a:t>
            </a:r>
            <a:r>
              <a:rPr lang="en-US" altLang="zh-CN" sz="1400" b="1" dirty="0"/>
              <a:t>=11 110 ,  11.</a:t>
            </a:r>
            <a:r>
              <a:rPr lang="en-US" altLang="zh-CN" sz="1400" b="1" dirty="0">
                <a:solidFill>
                  <a:srgbClr val="C00000"/>
                </a:solidFill>
              </a:rPr>
              <a:t>111</a:t>
            </a:r>
            <a:r>
              <a:rPr lang="en-US" altLang="zh-CN" sz="1400" b="1" dirty="0"/>
              <a:t>010(</a:t>
            </a:r>
            <a:r>
              <a:rPr lang="en-US" altLang="zh-CN" sz="1400" b="1" dirty="0">
                <a:solidFill>
                  <a:srgbClr val="C00000"/>
                </a:solidFill>
              </a:rPr>
              <a:t>101</a:t>
            </a:r>
            <a:r>
              <a:rPr lang="en-US" altLang="zh-CN" sz="1400" b="1" dirty="0"/>
              <a:t>)</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=00.001000(101)</a:t>
            </a:r>
            <a:r>
              <a:rPr lang="zh-CN" altLang="en-US" sz="1400" b="1" dirty="0"/>
              <a:t>，为非规格化数（尾数的绝对值太小），需要左规，左移</a:t>
            </a:r>
            <a:r>
              <a:rPr lang="en-US" altLang="zh-CN" sz="1400" b="1" dirty="0"/>
              <a:t>2</a:t>
            </a:r>
            <a:r>
              <a:rPr lang="zh-CN" altLang="en-US" sz="1400" b="1" dirty="0"/>
              <a:t>次，变为规格化数</a:t>
            </a:r>
            <a:r>
              <a:rPr lang="en-US" altLang="zh-CN" sz="1400" b="1" dirty="0"/>
              <a:t>00.100010(1)</a:t>
            </a:r>
            <a:r>
              <a:rPr lang="zh-CN" altLang="en-US" sz="1400" b="1" dirty="0"/>
              <a:t>，阶码减</a:t>
            </a:r>
            <a:r>
              <a:rPr lang="en-US" altLang="zh-CN" sz="1400" b="1" dirty="0"/>
              <a:t>2</a:t>
            </a:r>
            <a:r>
              <a:rPr lang="zh-CN" altLang="en-US" sz="1400" b="1" dirty="0"/>
              <a:t>，阶码变为</a:t>
            </a:r>
            <a:r>
              <a:rPr lang="en-US" altLang="zh-CN" sz="1400" b="1" dirty="0"/>
              <a:t>11 100</a:t>
            </a:r>
          </a:p>
          <a:p>
            <a:pPr lvl="1"/>
            <a:r>
              <a:rPr lang="zh-CN" altLang="en-US" sz="1500" b="1" dirty="0"/>
              <a:t>（</a:t>
            </a:r>
            <a:r>
              <a:rPr lang="en-US" altLang="zh-CN" sz="1500" b="1" dirty="0"/>
              <a:t>4</a:t>
            </a:r>
            <a:r>
              <a:rPr lang="zh-CN" altLang="en-US" sz="1500" b="1" dirty="0"/>
              <a:t>）舍入处理：舍入处理后的尾数为：</a:t>
            </a:r>
            <a:r>
              <a:rPr lang="en-US" altLang="zh-CN" sz="1600" b="1" dirty="0"/>
              <a:t> 00.</a:t>
            </a:r>
            <a:r>
              <a:rPr lang="en-US" altLang="zh-CN" sz="1600" b="1" dirty="0">
                <a:highlight>
                  <a:srgbClr val="FFFF00"/>
                </a:highlight>
              </a:rPr>
              <a:t>100011</a:t>
            </a:r>
            <a:r>
              <a:rPr lang="zh-CN" altLang="en-US" sz="1600" b="1" dirty="0"/>
              <a:t>（</a:t>
            </a:r>
            <a:r>
              <a:rPr lang="en-US" altLang="zh-CN" sz="1600" b="1" dirty="0"/>
              <a:t>0</a:t>
            </a:r>
            <a:r>
              <a:rPr lang="zh-CN" altLang="en-US" sz="1600" b="1" dirty="0"/>
              <a:t>舍</a:t>
            </a:r>
            <a:r>
              <a:rPr lang="en-US" altLang="zh-CN" sz="1600" b="1" dirty="0"/>
              <a:t>1</a:t>
            </a:r>
            <a:r>
              <a:rPr lang="zh-CN" altLang="en-US" sz="1600" b="1" dirty="0"/>
              <a:t>入法，末位恒置</a:t>
            </a:r>
            <a:r>
              <a:rPr lang="en-US" altLang="zh-CN" sz="1600" b="1" dirty="0"/>
              <a:t>1</a:t>
            </a:r>
            <a:r>
              <a:rPr lang="zh-CN" altLang="en-US" sz="1600" b="1" dirty="0"/>
              <a:t>法）</a:t>
            </a:r>
            <a:endParaRPr lang="en-US" altLang="zh-CN" sz="1600" b="1" dirty="0"/>
          </a:p>
          <a:p>
            <a:pPr lvl="1"/>
            <a:r>
              <a:rPr lang="zh-CN" altLang="en-US" sz="1600" b="1" dirty="0"/>
              <a:t>（</a:t>
            </a:r>
            <a:r>
              <a:rPr lang="en-US" altLang="zh-CN" sz="1600" b="1" dirty="0"/>
              <a:t>5</a:t>
            </a:r>
            <a:r>
              <a:rPr lang="zh-CN" altLang="en-US" sz="1600" b="1" dirty="0"/>
              <a:t>）溢出判断：阶码的双符号位相同（</a:t>
            </a:r>
            <a:r>
              <a:rPr lang="en-US" altLang="zh-CN" sz="1600" b="1" dirty="0"/>
              <a:t>11</a:t>
            </a:r>
            <a:r>
              <a:rPr lang="zh-CN" altLang="en-US" sz="1600" b="1" dirty="0"/>
              <a:t>），没有溢出</a:t>
            </a:r>
            <a:endParaRPr lang="en-US" altLang="zh-CN" sz="1600" b="1" dirty="0"/>
          </a:p>
          <a:p>
            <a:pPr lvl="1"/>
            <a:r>
              <a:rPr lang="zh-CN" altLang="en-US" sz="1600" b="1" dirty="0"/>
              <a:t>运算结果：</a:t>
            </a:r>
            <a:r>
              <a:rPr lang="en-US" altLang="zh-CN" sz="1600" b="1" dirty="0"/>
              <a:t>[</a:t>
            </a:r>
            <a:r>
              <a:rPr lang="en-US" altLang="zh-CN" sz="1600" b="1" dirty="0" err="1"/>
              <a:t>x+y</a:t>
            </a:r>
            <a:r>
              <a:rPr lang="en-US" altLang="zh-CN" sz="1600" b="1" dirty="0"/>
              <a:t>]</a:t>
            </a:r>
            <a:r>
              <a:rPr lang="zh-CN" altLang="en-US" sz="1600" b="1" baseline="-25000" dirty="0"/>
              <a:t>补 </a:t>
            </a:r>
            <a:r>
              <a:rPr lang="en-US" altLang="zh-CN" sz="1600" b="1" dirty="0"/>
              <a:t>=11 100 ,   00.100011</a:t>
            </a:r>
            <a:r>
              <a:rPr lang="zh-CN" altLang="en-US" sz="1600" b="1" dirty="0"/>
              <a:t>，</a:t>
            </a:r>
            <a:r>
              <a:rPr lang="en-US" altLang="zh-CN" sz="1600" b="1" dirty="0" err="1"/>
              <a:t>x+y</a:t>
            </a:r>
            <a:r>
              <a:rPr lang="en-US" altLang="zh-CN" sz="1600" b="1" dirty="0"/>
              <a:t>= 2</a:t>
            </a:r>
            <a:r>
              <a:rPr lang="en-US" altLang="zh-CN" sz="1600" b="1" baseline="30000" dirty="0"/>
              <a:t>-100</a:t>
            </a:r>
            <a:r>
              <a:rPr lang="en-US" altLang="zh-CN" sz="1600" b="1" dirty="0"/>
              <a:t>·(0.100011)</a:t>
            </a:r>
          </a:p>
          <a:p>
            <a:pPr lvl="1"/>
            <a:r>
              <a:rPr lang="zh-CN" altLang="en-US" sz="1600" b="1" dirty="0"/>
              <a:t>验证：</a:t>
            </a:r>
            <a:endParaRPr lang="en-US" altLang="zh-CN" sz="1600" b="1" dirty="0"/>
          </a:p>
          <a:p>
            <a:pPr lvl="2"/>
            <a:r>
              <a:rPr lang="en-US" altLang="zh-CN" sz="1200" b="1" dirty="0"/>
              <a:t>x=(1/32)*(-43/64)</a:t>
            </a:r>
            <a:r>
              <a:rPr lang="zh-CN" altLang="en-US" sz="1200" b="1" dirty="0"/>
              <a:t>，</a:t>
            </a:r>
            <a:r>
              <a:rPr lang="en-US" altLang="zh-CN" sz="1200" b="1" dirty="0"/>
              <a:t>y=(1/4)*(14/64)</a:t>
            </a:r>
            <a:r>
              <a:rPr lang="zh-CN" altLang="en-US" sz="1200" b="1" dirty="0"/>
              <a:t>，</a:t>
            </a:r>
            <a:r>
              <a:rPr lang="en-US" altLang="zh-CN" sz="1200" b="1" dirty="0" err="1"/>
              <a:t>x+y</a:t>
            </a:r>
            <a:r>
              <a:rPr lang="en-US" altLang="zh-CN" sz="1200" b="1" dirty="0"/>
              <a:t>=(-43/2048)+(112/2048)=</a:t>
            </a:r>
            <a:r>
              <a:rPr lang="en-US" altLang="zh-CN" sz="1200" b="1" dirty="0">
                <a:highlight>
                  <a:srgbClr val="FFFF00"/>
                </a:highlight>
              </a:rPr>
              <a:t>69/2048</a:t>
            </a:r>
          </a:p>
          <a:p>
            <a:pPr lvl="2"/>
            <a:r>
              <a:rPr lang="zh-CN" altLang="en-US" sz="1200" b="1" dirty="0"/>
              <a:t>浮点运算结果：</a:t>
            </a:r>
            <a:r>
              <a:rPr lang="en-US" altLang="zh-CN" sz="1200" b="1" dirty="0" err="1"/>
              <a:t>x+y</a:t>
            </a:r>
            <a:r>
              <a:rPr lang="en-US" altLang="zh-CN" sz="1200" b="1" dirty="0"/>
              <a:t>= 2</a:t>
            </a:r>
            <a:r>
              <a:rPr lang="en-US" altLang="zh-CN" sz="1200" b="1" baseline="30000" dirty="0"/>
              <a:t>-100</a:t>
            </a:r>
            <a:r>
              <a:rPr lang="en-US" altLang="zh-CN" sz="1200" b="1" dirty="0"/>
              <a:t>·(0.100011)=(1/16)*(35/64)=</a:t>
            </a:r>
            <a:r>
              <a:rPr lang="en-US" altLang="zh-CN" sz="1200" b="1" dirty="0">
                <a:highlight>
                  <a:srgbClr val="FFFF00"/>
                </a:highlight>
              </a:rPr>
              <a:t>70/2048</a:t>
            </a:r>
            <a:r>
              <a:rPr lang="zh-CN" altLang="en-US" sz="1200" b="1" dirty="0"/>
              <a:t>，相差</a:t>
            </a:r>
            <a:r>
              <a:rPr lang="en-US" altLang="zh-CN" sz="1200" b="1" dirty="0"/>
              <a:t>1/2048</a:t>
            </a:r>
            <a:r>
              <a:rPr lang="zh-CN" altLang="en-US" sz="1200" b="1" dirty="0"/>
              <a:t>，原因是舍入处理引起的误差</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04048" y="3212976"/>
            <a:ext cx="2808312"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chemeClr val="bg1"/>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11 110 ,  11.111010 (101)</a:t>
              </a:r>
            </a:p>
            <a:p>
              <a:r>
                <a:rPr lang="en-US" altLang="zh-CN" sz="1400" b="1" dirty="0"/>
                <a:t> + [y]</a:t>
              </a:r>
              <a:r>
                <a:rPr lang="zh-CN" altLang="en-US" sz="1400" b="1" baseline="-25000" dirty="0"/>
                <a:t>补</a:t>
              </a:r>
              <a:r>
                <a:rPr lang="en-US" altLang="zh-CN" sz="1400" b="1" baseline="-25000" dirty="0"/>
                <a:t>    </a:t>
              </a:r>
              <a:r>
                <a:rPr lang="en-US" altLang="zh-CN" sz="1400" b="1" dirty="0"/>
                <a:t>11 110 ,   00.001110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11 110 ,   00.001000 (101)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6470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188640"/>
            <a:ext cx="8229600" cy="6408712"/>
          </a:xfrm>
        </p:spPr>
        <p:txBody>
          <a:bodyPr/>
          <a:lstStyle/>
          <a:p>
            <a:r>
              <a:rPr lang="zh-CN" altLang="en-US" sz="1800" b="1" dirty="0"/>
              <a:t>例</a:t>
            </a:r>
            <a:r>
              <a:rPr lang="en-US" altLang="zh-CN" sz="1800" b="1" dirty="0"/>
              <a:t>3.15</a:t>
            </a:r>
            <a:r>
              <a:rPr lang="zh-CN" altLang="en-US" sz="1800" b="1" dirty="0"/>
              <a:t>：设</a:t>
            </a:r>
            <a:r>
              <a:rPr lang="en-US" altLang="zh-CN" sz="1800" b="1" dirty="0"/>
              <a:t>x=2</a:t>
            </a:r>
            <a:r>
              <a:rPr lang="en-US" altLang="zh-CN" sz="1800" b="1" baseline="30000" dirty="0"/>
              <a:t>7</a:t>
            </a:r>
            <a:r>
              <a:rPr lang="en-US" altLang="zh-CN" sz="1800" b="1" dirty="0"/>
              <a:t>·(25/32)</a:t>
            </a:r>
            <a:r>
              <a:rPr lang="zh-CN" altLang="en-US" sz="1800" b="1" dirty="0"/>
              <a:t>，</a:t>
            </a:r>
            <a:r>
              <a:rPr lang="en-US" altLang="zh-CN" sz="1800" b="1" dirty="0"/>
              <a:t>y= 2</a:t>
            </a:r>
            <a:r>
              <a:rPr lang="en-US" altLang="zh-CN" sz="1800" b="1" baseline="30000" dirty="0"/>
              <a:t>6</a:t>
            </a:r>
            <a:r>
              <a:rPr lang="en-US" altLang="zh-CN" sz="1800" b="1" dirty="0"/>
              <a:t>·(-23/32) </a:t>
            </a:r>
            <a:r>
              <a:rPr lang="zh-CN" altLang="en-US" sz="1800" b="1" dirty="0"/>
              <a:t>，数的阶码为</a:t>
            </a:r>
            <a:r>
              <a:rPr lang="en-US" altLang="zh-CN" sz="1800" b="1" dirty="0"/>
              <a:t>5</a:t>
            </a:r>
            <a:r>
              <a:rPr lang="zh-CN" altLang="en-US" sz="1800" b="1" dirty="0"/>
              <a:t>位，尾数为</a:t>
            </a:r>
            <a:r>
              <a:rPr lang="en-US" altLang="zh-CN" sz="1800" b="1" dirty="0"/>
              <a:t>7</a:t>
            </a:r>
            <a:r>
              <a:rPr lang="zh-CN" altLang="en-US" sz="1800" b="1" dirty="0"/>
              <a:t>位（均含</a:t>
            </a:r>
            <a:r>
              <a:rPr lang="en-US" altLang="zh-CN" sz="1800" b="1" dirty="0"/>
              <a:t>2</a:t>
            </a:r>
            <a:r>
              <a:rPr lang="zh-CN" altLang="en-US" sz="1800" b="1" dirty="0"/>
              <a:t>位符号位），按照补码浮点数运算步骤计算</a:t>
            </a:r>
            <a:r>
              <a:rPr lang="en-US" altLang="zh-CN" sz="1800" b="1" dirty="0"/>
              <a:t>x-y</a:t>
            </a:r>
            <a:r>
              <a:rPr lang="zh-CN" altLang="en-US" sz="1800" b="1" dirty="0"/>
              <a:t>（采用</a:t>
            </a:r>
            <a:r>
              <a:rPr lang="en-US" altLang="zh-CN" sz="1800" b="1" dirty="0"/>
              <a:t>0</a:t>
            </a:r>
            <a:r>
              <a:rPr lang="zh-CN" altLang="en-US" sz="1800" b="1" dirty="0"/>
              <a:t>舍</a:t>
            </a:r>
            <a:r>
              <a:rPr lang="en-US" altLang="zh-CN" sz="1800" b="1" dirty="0"/>
              <a:t>1</a:t>
            </a:r>
            <a:r>
              <a:rPr lang="zh-CN" altLang="en-US" sz="1800" b="1" dirty="0"/>
              <a:t>入法）</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 2</a:t>
            </a:r>
            <a:r>
              <a:rPr lang="en-US" altLang="zh-CN" sz="1400" b="1" baseline="30000" dirty="0"/>
              <a:t>111</a:t>
            </a:r>
            <a:r>
              <a:rPr lang="en-US" altLang="zh-CN" sz="1400" b="1" dirty="0"/>
              <a:t>·(0.11001)       		[x]</a:t>
            </a:r>
            <a:r>
              <a:rPr lang="zh-CN" altLang="en-US" sz="1400" b="1" baseline="-25000" dirty="0"/>
              <a:t>补 </a:t>
            </a:r>
            <a:r>
              <a:rPr lang="en-US" altLang="zh-CN" sz="1400" b="1" dirty="0"/>
              <a:t>=00 111 ,  00.11001                    </a:t>
            </a:r>
          </a:p>
          <a:p>
            <a:pPr lvl="2"/>
            <a:r>
              <a:rPr lang="en-US" altLang="zh-CN" sz="1400" b="1" dirty="0"/>
              <a:t>y= 2</a:t>
            </a:r>
            <a:r>
              <a:rPr lang="en-US" altLang="zh-CN" sz="1400" b="1" baseline="30000" dirty="0"/>
              <a:t>110</a:t>
            </a:r>
            <a:r>
              <a:rPr lang="en-US" altLang="zh-CN" sz="1400" b="1" dirty="0"/>
              <a:t>·(-0.10111)        	[-y]</a:t>
            </a:r>
            <a:r>
              <a:rPr lang="zh-CN" altLang="en-US" sz="1400" b="1" baseline="-25000" dirty="0"/>
              <a:t>补</a:t>
            </a:r>
            <a:r>
              <a:rPr lang="en-US" altLang="zh-CN" sz="1400" b="1" dirty="0"/>
              <a:t>=00 110 ,  00.10111</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y</a:t>
            </a:r>
            <a:r>
              <a:rPr lang="zh-CN" altLang="en-US" sz="1400" b="1" dirty="0"/>
              <a:t>（阶码</a:t>
            </a:r>
            <a:r>
              <a:rPr lang="en-US" altLang="zh-CN" sz="1400" b="1" dirty="0"/>
              <a:t>=6</a:t>
            </a:r>
            <a:r>
              <a:rPr lang="zh-CN" altLang="en-US" sz="1400" b="1" dirty="0"/>
              <a:t>）向</a:t>
            </a:r>
            <a:r>
              <a:rPr lang="en-US" altLang="zh-CN" sz="1400" b="1" dirty="0"/>
              <a:t>x</a:t>
            </a:r>
            <a:r>
              <a:rPr lang="zh-CN" altLang="en-US" sz="1400" b="1" dirty="0"/>
              <a:t>（阶码</a:t>
            </a:r>
            <a:r>
              <a:rPr lang="en-US" altLang="zh-CN" sz="1400" b="1" dirty="0"/>
              <a:t>=7</a:t>
            </a:r>
            <a:r>
              <a:rPr lang="zh-CN" altLang="en-US" sz="1400" b="1" dirty="0"/>
              <a:t>）对齐，</a:t>
            </a:r>
            <a:r>
              <a:rPr lang="en-US" altLang="zh-CN" sz="1400" b="1" dirty="0"/>
              <a:t>y</a:t>
            </a:r>
            <a:r>
              <a:rPr lang="zh-CN" altLang="en-US" sz="1400" b="1" dirty="0"/>
              <a:t>的尾数右移</a:t>
            </a:r>
            <a:r>
              <a:rPr lang="en-US" altLang="zh-CN" sz="1400" b="1" dirty="0"/>
              <a:t>1</a:t>
            </a:r>
            <a:r>
              <a:rPr lang="zh-CN" altLang="en-US" sz="1400" b="1" dirty="0"/>
              <a:t>位</a:t>
            </a:r>
            <a:endParaRPr lang="en-US" altLang="zh-CN" sz="1400" b="1" dirty="0"/>
          </a:p>
          <a:p>
            <a:pPr lvl="2"/>
            <a:r>
              <a:rPr lang="zh-CN" altLang="en-US" sz="1400" b="1" dirty="0"/>
              <a:t>对阶后的</a:t>
            </a:r>
            <a:r>
              <a:rPr lang="en-US" altLang="zh-CN" sz="1400" b="1" dirty="0"/>
              <a:t>[-y]</a:t>
            </a:r>
            <a:r>
              <a:rPr lang="zh-CN" altLang="en-US" sz="1400" b="1" baseline="-25000" dirty="0"/>
              <a:t>补</a:t>
            </a:r>
            <a:r>
              <a:rPr lang="en-US" altLang="zh-CN" sz="1400" b="1" dirty="0"/>
              <a:t>=00 111 ,  00.01011(1)</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=01.00100(1)</a:t>
            </a:r>
            <a:r>
              <a:rPr lang="zh-CN" altLang="en-US" sz="1400" b="1" dirty="0"/>
              <a:t>，为非规格化数（尾数的绝对值太大），需要右规，右移</a:t>
            </a:r>
            <a:r>
              <a:rPr lang="en-US" altLang="zh-CN" sz="1400" b="1" dirty="0"/>
              <a:t>1</a:t>
            </a:r>
            <a:r>
              <a:rPr lang="zh-CN" altLang="en-US" sz="1400" b="1" dirty="0"/>
              <a:t>次，变为</a:t>
            </a:r>
            <a:r>
              <a:rPr lang="zh-CN" altLang="en-US" sz="1400" b="1" dirty="0">
                <a:solidFill>
                  <a:srgbClr val="C00000"/>
                </a:solidFill>
              </a:rPr>
              <a:t>规格化数</a:t>
            </a:r>
            <a:r>
              <a:rPr lang="en-US" altLang="zh-CN" sz="1400" b="1" dirty="0">
                <a:solidFill>
                  <a:srgbClr val="C00000"/>
                </a:solidFill>
              </a:rPr>
              <a:t>00.10010(01)</a:t>
            </a:r>
            <a:r>
              <a:rPr lang="zh-CN" altLang="en-US" sz="1400" b="1" dirty="0"/>
              <a:t>，阶码加</a:t>
            </a:r>
            <a:r>
              <a:rPr lang="en-US" altLang="zh-CN" sz="1400" b="1" dirty="0"/>
              <a:t>1</a:t>
            </a:r>
            <a:r>
              <a:rPr lang="zh-CN" altLang="en-US" sz="1400" b="1" dirty="0"/>
              <a:t>，阶码变为</a:t>
            </a:r>
            <a:r>
              <a:rPr lang="en-US" altLang="zh-CN" sz="1400" b="1" dirty="0"/>
              <a:t>01 000</a:t>
            </a:r>
          </a:p>
          <a:p>
            <a:pPr lvl="1"/>
            <a:endParaRPr lang="en-US" altLang="zh-CN" sz="1400" b="1" dirty="0"/>
          </a:p>
          <a:p>
            <a:pPr lvl="1"/>
            <a:r>
              <a:rPr lang="zh-CN" altLang="en-US" sz="1400" b="1" dirty="0"/>
              <a:t>（</a:t>
            </a:r>
            <a:r>
              <a:rPr lang="en-US" altLang="zh-CN" sz="1400" b="1" dirty="0"/>
              <a:t>4</a:t>
            </a:r>
            <a:r>
              <a:rPr lang="zh-CN" altLang="en-US" sz="1400" b="1" dirty="0"/>
              <a:t>）舍入处理：舍入处理后的尾数为：</a:t>
            </a:r>
            <a:r>
              <a:rPr lang="en-US" altLang="zh-CN" sz="1400" b="1" dirty="0"/>
              <a:t>00.10010</a:t>
            </a:r>
            <a:r>
              <a:rPr lang="zh-CN" altLang="en-US" sz="1400" b="1" dirty="0"/>
              <a:t>（</a:t>
            </a:r>
            <a:r>
              <a:rPr lang="en-US" altLang="zh-CN" sz="1400" b="1" dirty="0"/>
              <a:t>0</a:t>
            </a:r>
            <a:r>
              <a:rPr lang="zh-CN" altLang="en-US" sz="1400" b="1" dirty="0"/>
              <a:t>舍</a:t>
            </a:r>
            <a:r>
              <a:rPr lang="en-US" altLang="zh-CN" sz="1400" b="1" dirty="0"/>
              <a:t>1</a:t>
            </a:r>
            <a:r>
              <a:rPr lang="zh-CN" altLang="en-US" sz="1400" b="1" dirty="0"/>
              <a:t>入法）</a:t>
            </a:r>
            <a:endParaRPr lang="en-US" altLang="zh-CN" sz="1400" b="1" dirty="0"/>
          </a:p>
          <a:p>
            <a:pPr lvl="2"/>
            <a:endParaRPr lang="en-US" altLang="zh-CN" sz="1400" b="1" dirty="0"/>
          </a:p>
          <a:p>
            <a:pPr lvl="1"/>
            <a:r>
              <a:rPr lang="zh-CN" altLang="en-US" sz="1400" b="1" dirty="0"/>
              <a:t>（</a:t>
            </a:r>
            <a:r>
              <a:rPr lang="en-US" altLang="zh-CN" sz="1400" b="1" dirty="0"/>
              <a:t>5</a:t>
            </a:r>
            <a:r>
              <a:rPr lang="zh-CN" altLang="en-US" sz="1400" b="1" dirty="0"/>
              <a:t>）溢出判断：阶码的双符号位为</a:t>
            </a:r>
            <a:r>
              <a:rPr lang="en-US" altLang="zh-CN" sz="1400" b="1" dirty="0"/>
              <a:t>01</a:t>
            </a:r>
            <a:r>
              <a:rPr lang="zh-CN" altLang="en-US" sz="1400" b="1" dirty="0"/>
              <a:t>，故发生溢出</a:t>
            </a:r>
            <a:endParaRPr lang="en-US" altLang="zh-CN" sz="1400" b="1" dirty="0"/>
          </a:p>
          <a:p>
            <a:pPr lvl="1"/>
            <a:endParaRPr lang="en-US" altLang="zh-CN" sz="1600" b="1" dirty="0"/>
          </a:p>
          <a:p>
            <a:pPr lvl="1"/>
            <a:r>
              <a:rPr lang="zh-CN" altLang="en-US" sz="1400" b="1" dirty="0"/>
              <a:t>运算结果：</a:t>
            </a:r>
            <a:r>
              <a:rPr lang="en-US" altLang="zh-CN" sz="1400" b="1" dirty="0"/>
              <a:t>[x-y]</a:t>
            </a:r>
            <a:r>
              <a:rPr lang="zh-CN" altLang="en-US" sz="1400" b="1" baseline="-25000" dirty="0"/>
              <a:t>补 </a:t>
            </a:r>
            <a:r>
              <a:rPr lang="en-US" altLang="zh-CN" sz="1400" b="1" dirty="0"/>
              <a:t>=01 000 ,   00.10010</a:t>
            </a:r>
          </a:p>
          <a:p>
            <a:pPr lvl="1"/>
            <a:r>
              <a:rPr lang="zh-CN" altLang="en-US" sz="1400" b="1" dirty="0"/>
              <a:t>验证：</a:t>
            </a:r>
            <a:endParaRPr lang="en-US" altLang="zh-CN" sz="1400" b="1" dirty="0"/>
          </a:p>
          <a:p>
            <a:pPr lvl="2"/>
            <a:r>
              <a:rPr lang="en-US" altLang="zh-CN" sz="1200" b="1" dirty="0"/>
              <a:t>x=(128)*(25/32)=100</a:t>
            </a:r>
            <a:r>
              <a:rPr lang="zh-CN" altLang="en-US" sz="1200" b="1" dirty="0"/>
              <a:t>，</a:t>
            </a:r>
            <a:r>
              <a:rPr lang="en-US" altLang="zh-CN" sz="1200" b="1" dirty="0"/>
              <a:t>y=(64)*(-23/32)=-46</a:t>
            </a:r>
            <a:r>
              <a:rPr lang="zh-CN" altLang="en-US" sz="1200" b="1" dirty="0"/>
              <a:t>，</a:t>
            </a:r>
            <a:r>
              <a:rPr lang="en-US" altLang="zh-CN" sz="1200" b="1" dirty="0"/>
              <a:t>x-y=100-(-46)=</a:t>
            </a:r>
            <a:r>
              <a:rPr lang="en-US" altLang="zh-CN" sz="1200" b="1" dirty="0">
                <a:highlight>
                  <a:srgbClr val="FFFF00"/>
                </a:highlight>
              </a:rPr>
              <a:t>146</a:t>
            </a:r>
            <a:r>
              <a:rPr lang="zh-CN" altLang="en-US" sz="1200" b="1" dirty="0"/>
              <a:t>（超出</a:t>
            </a:r>
            <a:r>
              <a:rPr lang="en-US" altLang="zh-CN" sz="1200" b="1" dirty="0"/>
              <a:t>-128</a:t>
            </a:r>
            <a:r>
              <a:rPr lang="zh-CN" altLang="en-US" sz="1200" b="1" dirty="0">
                <a:latin typeface="等线" panose="02010600030101010101" pitchFamily="2" charset="-122"/>
                <a:ea typeface="等线" panose="02010600030101010101" pitchFamily="2" charset="-122"/>
              </a:rPr>
              <a:t>～</a:t>
            </a:r>
            <a:r>
              <a:rPr lang="en-US" altLang="zh-CN" sz="1200" b="1" dirty="0">
                <a:latin typeface="等线" panose="02010600030101010101" pitchFamily="2" charset="-122"/>
                <a:ea typeface="等线" panose="02010600030101010101" pitchFamily="2" charset="-122"/>
              </a:rPr>
              <a:t>+</a:t>
            </a:r>
            <a:r>
              <a:rPr lang="en-US" altLang="zh-CN" sz="1200" b="1" dirty="0"/>
              <a:t>127</a:t>
            </a:r>
            <a:r>
              <a:rPr lang="zh-CN" altLang="en-US" sz="1200" b="1" dirty="0"/>
              <a:t>范围）</a:t>
            </a:r>
            <a:endParaRPr lang="en-US" altLang="zh-CN" sz="1200" b="1" dirty="0"/>
          </a:p>
          <a:p>
            <a:pPr lvl="2"/>
            <a:r>
              <a:rPr lang="zh-CN" altLang="en-US" sz="1200" b="1" dirty="0"/>
              <a:t>浮点运算得到的结果：</a:t>
            </a:r>
            <a:r>
              <a:rPr lang="en-US" altLang="zh-CN" sz="1200" b="1" dirty="0"/>
              <a:t>x-y= 2</a:t>
            </a:r>
            <a:r>
              <a:rPr lang="en-US" altLang="zh-CN" sz="1200" b="1" baseline="30000" dirty="0"/>
              <a:t>8</a:t>
            </a:r>
            <a:r>
              <a:rPr lang="en-US" altLang="zh-CN" sz="1200" b="1" dirty="0"/>
              <a:t>·(18/32)=</a:t>
            </a:r>
            <a:r>
              <a:rPr lang="en-US" altLang="zh-CN" sz="1200" b="1" dirty="0">
                <a:highlight>
                  <a:srgbClr val="FFFF00"/>
                </a:highlight>
              </a:rPr>
              <a:t>144</a:t>
            </a:r>
            <a:r>
              <a:rPr lang="zh-CN" altLang="en-US" sz="1200" b="1" dirty="0"/>
              <a:t>，</a:t>
            </a:r>
            <a:r>
              <a:rPr lang="zh-CN" altLang="en-US" sz="1200" b="1" dirty="0">
                <a:solidFill>
                  <a:srgbClr val="C00000"/>
                </a:solidFill>
              </a:rPr>
              <a:t>误差为</a:t>
            </a:r>
            <a:r>
              <a:rPr lang="en-US" altLang="zh-CN" sz="1200" b="1" dirty="0">
                <a:solidFill>
                  <a:srgbClr val="C00000"/>
                </a:solidFill>
              </a:rPr>
              <a:t>2</a:t>
            </a:r>
            <a:r>
              <a:rPr lang="zh-CN" altLang="en-US" sz="1200" b="1" dirty="0"/>
              <a:t>，是舍入处理导致的，误差为</a:t>
            </a:r>
            <a:r>
              <a:rPr lang="en-US" altLang="zh-CN" sz="1200" b="1" dirty="0"/>
              <a:t>2</a:t>
            </a:r>
            <a:r>
              <a:rPr lang="en-US" altLang="zh-CN" sz="1200" b="1" baseline="30000" dirty="0"/>
              <a:t>8</a:t>
            </a:r>
            <a:r>
              <a:rPr lang="en-US" altLang="zh-CN" sz="1200" b="1" dirty="0"/>
              <a:t>*(</a:t>
            </a:r>
            <a:r>
              <a:rPr lang="en-US" altLang="zh-CN" sz="1200" b="1" dirty="0">
                <a:solidFill>
                  <a:srgbClr val="C00000"/>
                </a:solidFill>
              </a:rPr>
              <a:t>0.0000001</a:t>
            </a:r>
            <a:r>
              <a:rPr lang="en-US" altLang="zh-CN" sz="1200" b="1" dirty="0"/>
              <a:t>)=2</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76056" y="2618909"/>
            <a:ext cx="2520280"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00 111 ,  00.11001</a:t>
              </a:r>
            </a:p>
            <a:p>
              <a:r>
                <a:rPr lang="en-US" altLang="zh-CN" sz="1400" b="1" dirty="0"/>
                <a:t> + [-y]</a:t>
              </a:r>
              <a:r>
                <a:rPr lang="zh-CN" altLang="en-US" sz="1400" b="1" baseline="-25000" dirty="0"/>
                <a:t>补</a:t>
              </a:r>
              <a:r>
                <a:rPr lang="en-US" altLang="zh-CN" sz="1400" b="1" baseline="-25000" dirty="0"/>
                <a:t>    </a:t>
              </a:r>
              <a:r>
                <a:rPr lang="en-US" altLang="zh-CN" sz="1400" b="1" dirty="0"/>
                <a:t>00 111 ,  00.01011(1)</a:t>
              </a:r>
            </a:p>
            <a:p>
              <a:endParaRPr lang="en-US" altLang="zh-CN" sz="1400" b="1" dirty="0"/>
            </a:p>
            <a:p>
              <a:r>
                <a:rPr lang="en-US" altLang="zh-CN" sz="1400" b="1" dirty="0"/>
                <a:t>   [x-y]</a:t>
              </a:r>
              <a:r>
                <a:rPr lang="zh-CN" altLang="en-US" sz="1400" b="1" baseline="-25000" dirty="0"/>
                <a:t>补   </a:t>
              </a:r>
              <a:r>
                <a:rPr lang="en-US" altLang="zh-CN" sz="1400" b="1" dirty="0"/>
                <a:t>00 111 ,  01.00100(1)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直接箭头连接符 6">
            <a:extLst>
              <a:ext uri="{FF2B5EF4-FFF2-40B4-BE49-F238E27FC236}">
                <a16:creationId xmlns:a16="http://schemas.microsoft.com/office/drawing/2014/main" id="{34C29B34-D34E-4821-B621-6EF1435DDC0C}"/>
              </a:ext>
            </a:extLst>
          </p:cNvPr>
          <p:cNvCxnSpPr>
            <a:cxnSpLocks/>
          </p:cNvCxnSpPr>
          <p:nvPr/>
        </p:nvCxnSpPr>
        <p:spPr>
          <a:xfrm>
            <a:off x="5076056" y="4167083"/>
            <a:ext cx="2736304" cy="20702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02566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C5412-F33F-4390-ACC7-A339568BAFC4}"/>
              </a:ext>
            </a:extLst>
          </p:cNvPr>
          <p:cNvSpPr>
            <a:spLocks noGrp="1"/>
          </p:cNvSpPr>
          <p:nvPr>
            <p:ph type="title"/>
          </p:nvPr>
        </p:nvSpPr>
        <p:spPr>
          <a:xfrm>
            <a:off x="457200" y="23901"/>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980728"/>
            <a:ext cx="8229600" cy="5760640"/>
          </a:xfrm>
        </p:spPr>
        <p:txBody>
          <a:bodyPr/>
          <a:lstStyle/>
          <a:p>
            <a:pPr lvl="1" eaLnBrk="1" hangingPunct="1"/>
            <a:r>
              <a:rPr lang="en-US" altLang="zh-CN" sz="2000" b="1" dirty="0"/>
              <a:t>2</a:t>
            </a:r>
            <a:r>
              <a:rPr lang="zh-CN" altLang="en-US" sz="2000" b="1" dirty="0"/>
              <a:t>、</a:t>
            </a:r>
            <a:r>
              <a:rPr lang="en-US" altLang="zh-CN" sz="2000" b="1" dirty="0"/>
              <a:t>IEEE754</a:t>
            </a:r>
            <a:r>
              <a:rPr lang="zh-CN" altLang="en-US" sz="2000" b="1" dirty="0"/>
              <a:t>浮点数的加减运算</a:t>
            </a:r>
            <a:endParaRPr lang="en-US" altLang="zh-CN" sz="2000" b="1" dirty="0"/>
          </a:p>
          <a:p>
            <a:pPr lvl="2" eaLnBrk="1" hangingPunct="1"/>
            <a:endParaRPr lang="en-US" altLang="zh-CN" sz="1600" b="1" dirty="0"/>
          </a:p>
          <a:p>
            <a:pPr lvl="2" eaLnBrk="1" hangingPunct="1"/>
            <a:r>
              <a:rPr lang="en-US" altLang="zh-CN" sz="1600" b="1" dirty="0"/>
              <a:t>IEEE754</a:t>
            </a:r>
            <a:r>
              <a:rPr lang="zh-CN" altLang="en-US" sz="1600" b="1" dirty="0"/>
              <a:t>浮点数：阶码用</a:t>
            </a:r>
            <a:r>
              <a:rPr lang="zh-CN" altLang="en-US" sz="1600" b="1" dirty="0">
                <a:solidFill>
                  <a:srgbClr val="C00000"/>
                </a:solidFill>
              </a:rPr>
              <a:t>移码</a:t>
            </a:r>
            <a:r>
              <a:rPr lang="zh-CN" altLang="en-US" sz="1600" b="1" dirty="0"/>
              <a:t>表示；尾数用</a:t>
            </a:r>
            <a:r>
              <a:rPr lang="zh-CN" altLang="en-US" sz="1600" b="1" dirty="0">
                <a:solidFill>
                  <a:srgbClr val="C00000"/>
                </a:solidFill>
              </a:rPr>
              <a:t>原码</a:t>
            </a:r>
            <a:r>
              <a:rPr lang="zh-CN" altLang="en-US" sz="1600" b="1" dirty="0"/>
              <a:t>表示，且尾数的最高位隐藏（尾数</a:t>
            </a:r>
            <a:r>
              <a:rPr lang="en-US" altLang="zh-CN" sz="1600" b="1" dirty="0"/>
              <a:t>=</a:t>
            </a:r>
            <a:r>
              <a:rPr lang="en-US" altLang="zh-CN" sz="1600" b="1" dirty="0">
                <a:solidFill>
                  <a:srgbClr val="C00000"/>
                </a:solidFill>
              </a:rPr>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结果规格化：</a:t>
            </a:r>
            <a:endParaRPr lang="en-US" altLang="zh-CN" sz="1600" b="1" dirty="0"/>
          </a:p>
          <a:p>
            <a:pPr lvl="3" eaLnBrk="1" hangingPunct="1"/>
            <a:r>
              <a:rPr lang="zh-CN" altLang="en-US" sz="1400" b="1" dirty="0"/>
              <a:t>若尾数</a:t>
            </a:r>
            <a:r>
              <a:rPr lang="en-US" altLang="zh-CN" sz="1400" b="1" dirty="0"/>
              <a:t>=1.xx…x</a:t>
            </a:r>
            <a:r>
              <a:rPr lang="zh-CN" altLang="en-US" sz="1400" b="1" dirty="0"/>
              <a:t>，则为规格化尾数</a:t>
            </a:r>
            <a:endParaRPr lang="en-US" altLang="zh-CN" sz="1400" b="1" dirty="0"/>
          </a:p>
          <a:p>
            <a:pPr lvl="3" eaLnBrk="1" hangingPunct="1"/>
            <a:r>
              <a:rPr lang="zh-CN" altLang="en-US" sz="1400" b="1" dirty="0"/>
              <a:t>若尾数</a:t>
            </a:r>
            <a:r>
              <a:rPr lang="en-US" altLang="zh-CN" sz="1400" b="1" dirty="0"/>
              <a:t>=1x.xx…x</a:t>
            </a:r>
            <a:r>
              <a:rPr lang="zh-CN" altLang="en-US" sz="1400" b="1" dirty="0"/>
              <a:t>，则表示尾数的绝对值大于</a:t>
            </a:r>
            <a:r>
              <a:rPr lang="en-US" altLang="zh-CN" sz="1400" b="1" dirty="0"/>
              <a:t>2</a:t>
            </a:r>
            <a:r>
              <a:rPr lang="zh-CN" altLang="en-US" sz="1400" b="1" dirty="0"/>
              <a:t>，需要进行</a:t>
            </a:r>
            <a:r>
              <a:rPr lang="en-US" altLang="zh-CN" sz="1400" b="1" dirty="0"/>
              <a:t>1</a:t>
            </a:r>
            <a:r>
              <a:rPr lang="zh-CN" altLang="en-US" sz="1400" b="1" dirty="0"/>
              <a:t>次右规，将尾数右移</a:t>
            </a:r>
            <a:r>
              <a:rPr lang="en-US" altLang="zh-CN" sz="1400" b="1" dirty="0"/>
              <a:t>1</a:t>
            </a:r>
            <a:r>
              <a:rPr lang="zh-CN" altLang="en-US" sz="1400" b="1" dirty="0"/>
              <a:t>次，阶码加</a:t>
            </a:r>
            <a:r>
              <a:rPr lang="en-US" altLang="zh-CN" sz="1400" b="1" dirty="0"/>
              <a:t>1</a:t>
            </a:r>
          </a:p>
          <a:p>
            <a:pPr lvl="3" eaLnBrk="1" hangingPunct="1"/>
            <a:r>
              <a:rPr lang="zh-CN" altLang="en-US" sz="1400" b="1" dirty="0"/>
              <a:t>若尾数</a:t>
            </a:r>
            <a:r>
              <a:rPr lang="en-US" altLang="zh-CN" sz="1400" b="1" dirty="0"/>
              <a:t>=0.xx…x</a:t>
            </a:r>
            <a:r>
              <a:rPr lang="zh-CN" altLang="en-US" sz="1400" b="1" dirty="0"/>
              <a:t>，则表示尾数的绝对值小于</a:t>
            </a:r>
            <a:r>
              <a:rPr lang="en-US" altLang="zh-CN" sz="1400" b="1" dirty="0"/>
              <a:t>1</a:t>
            </a:r>
            <a:r>
              <a:rPr lang="zh-CN" altLang="en-US" sz="1400" b="1" dirty="0"/>
              <a:t>，需要进行左规，将尾数左移若干次，直到尾数</a:t>
            </a:r>
            <a:r>
              <a:rPr lang="en-US" altLang="zh-CN" sz="1400" b="1" dirty="0"/>
              <a:t>=1.xx…x</a:t>
            </a:r>
            <a:r>
              <a:rPr lang="zh-CN" altLang="en-US" sz="1400" b="1" dirty="0"/>
              <a:t>（即尾数的绝对值大于</a:t>
            </a:r>
            <a:r>
              <a:rPr lang="en-US" altLang="zh-CN" sz="1400" b="1" dirty="0"/>
              <a:t>1</a:t>
            </a:r>
            <a:r>
              <a:rPr lang="zh-CN" altLang="en-US" sz="1400" b="1" dirty="0"/>
              <a:t>），每左移</a:t>
            </a:r>
            <a:r>
              <a:rPr lang="en-US" altLang="zh-CN" sz="1400" b="1" dirty="0"/>
              <a:t>1</a:t>
            </a:r>
            <a:r>
              <a:rPr lang="zh-CN" altLang="en-US" sz="1400" b="1" dirty="0"/>
              <a:t>次，阶码减</a:t>
            </a:r>
            <a:r>
              <a:rPr lang="en-US" altLang="zh-CN" sz="1400" b="1" dirty="0"/>
              <a:t>1</a:t>
            </a:r>
          </a:p>
          <a:p>
            <a:pPr lvl="2" eaLnBrk="1" hangingPunct="1"/>
            <a:endParaRPr lang="en-US" altLang="zh-CN" sz="1600" b="1" dirty="0"/>
          </a:p>
          <a:p>
            <a:pPr lvl="2" eaLnBrk="1" hangingPunct="1"/>
            <a:r>
              <a:rPr lang="zh-CN" altLang="en-US" sz="1600" b="1" dirty="0"/>
              <a:t>舍入处理：</a:t>
            </a:r>
            <a:endParaRPr lang="en-US" altLang="zh-CN" sz="1600" b="1" dirty="0"/>
          </a:p>
          <a:p>
            <a:pPr lvl="3" eaLnBrk="1" hangingPunct="1"/>
            <a:r>
              <a:rPr lang="zh-CN" altLang="en-US" sz="1400" b="1" dirty="0"/>
              <a:t>就近舍入：舍入为最近可表示的数，若处于两数中间则向偶数舍入</a:t>
            </a:r>
            <a:endParaRPr lang="en-US" altLang="zh-CN" sz="1400" b="1" dirty="0"/>
          </a:p>
          <a:p>
            <a:pPr lvl="3" eaLnBrk="1" hangingPunct="1"/>
            <a:r>
              <a:rPr lang="zh-CN" altLang="en-US" sz="1400" b="1" dirty="0"/>
              <a:t>朝</a:t>
            </a:r>
            <a:r>
              <a:rPr lang="en-US" altLang="zh-CN" sz="1400" b="1" dirty="0"/>
              <a:t>+∞</a:t>
            </a:r>
            <a:r>
              <a:rPr lang="zh-CN" altLang="en-US" sz="1400" b="1" dirty="0"/>
              <a:t>方向舍入：总是取右侧最近的可表示的数</a:t>
            </a:r>
            <a:endParaRPr lang="en-US" altLang="zh-CN" sz="1400" b="1" dirty="0"/>
          </a:p>
          <a:p>
            <a:pPr lvl="3" eaLnBrk="1" hangingPunct="1"/>
            <a:r>
              <a:rPr lang="zh-CN" altLang="en-US" sz="1400" b="1" dirty="0"/>
              <a:t>朝</a:t>
            </a:r>
            <a:r>
              <a:rPr lang="en-US" altLang="zh-CN" sz="1400" b="1" dirty="0"/>
              <a:t>-∞</a:t>
            </a:r>
            <a:r>
              <a:rPr lang="zh-CN" altLang="en-US" sz="1400" b="1" dirty="0"/>
              <a:t>方向舍入：总是取左侧最近的可表示的数</a:t>
            </a:r>
            <a:endParaRPr lang="en-US" altLang="zh-CN" sz="1400" b="1" dirty="0"/>
          </a:p>
          <a:p>
            <a:pPr lvl="3" eaLnBrk="1" hangingPunct="1"/>
            <a:r>
              <a:rPr lang="zh-CN" altLang="en-US" sz="1400" b="1" dirty="0"/>
              <a:t>朝</a:t>
            </a:r>
            <a:r>
              <a:rPr lang="en-US" altLang="zh-CN" sz="1400" b="1" dirty="0"/>
              <a:t>0</a:t>
            </a:r>
            <a:r>
              <a:rPr lang="zh-CN" altLang="en-US" sz="1400" b="1" dirty="0"/>
              <a:t>方向舍入：直接丢弃多余位，也称为截去法</a:t>
            </a:r>
            <a:endParaRPr lang="en-US" altLang="zh-CN" sz="1400" b="1" dirty="0"/>
          </a:p>
          <a:p>
            <a:pPr lvl="3" eaLnBrk="1" hangingPunct="1"/>
            <a:endParaRPr lang="en-US" altLang="zh-CN" sz="1400" b="1" dirty="0"/>
          </a:p>
          <a:p>
            <a:pPr lvl="2" eaLnBrk="1" hangingPunct="1"/>
            <a:r>
              <a:rPr lang="zh-CN" altLang="en-US" sz="1600" b="1" dirty="0"/>
              <a:t>溢出判断：</a:t>
            </a:r>
            <a:endParaRPr lang="en-US" altLang="zh-CN" sz="1600" b="1" dirty="0"/>
          </a:p>
          <a:p>
            <a:pPr lvl="3" eaLnBrk="1" hangingPunct="1"/>
            <a:r>
              <a:rPr lang="zh-CN" altLang="en-US" sz="1400" b="1" dirty="0"/>
              <a:t>右规时，若阶码为全</a:t>
            </a:r>
            <a:r>
              <a:rPr lang="en-US" altLang="zh-CN" sz="1400" b="1" dirty="0"/>
              <a:t>1</a:t>
            </a:r>
            <a:r>
              <a:rPr lang="zh-CN" altLang="en-US" sz="1400" b="1" dirty="0"/>
              <a:t>（移码全</a:t>
            </a:r>
            <a:r>
              <a:rPr lang="en-US" altLang="zh-CN" sz="1400" b="1" dirty="0"/>
              <a:t>1</a:t>
            </a:r>
            <a:r>
              <a:rPr lang="zh-CN" altLang="en-US" sz="1400" b="1" dirty="0"/>
              <a:t>时为最大正数，</a:t>
            </a:r>
            <a:r>
              <a:rPr lang="en-US" altLang="zh-CN" sz="1400" b="1" dirty="0"/>
              <a:t>128</a:t>
            </a:r>
            <a:r>
              <a:rPr lang="zh-CN" altLang="en-US" sz="1400" b="1" dirty="0"/>
              <a:t>），则表示规格化上溢</a:t>
            </a:r>
            <a:endParaRPr lang="en-US" altLang="zh-CN" sz="1400" b="1" dirty="0"/>
          </a:p>
          <a:p>
            <a:pPr lvl="3" eaLnBrk="1" hangingPunct="1"/>
            <a:r>
              <a:rPr lang="zh-CN" altLang="en-US" sz="1400" b="1" dirty="0"/>
              <a:t>左规时，若阶码为全</a:t>
            </a:r>
            <a:r>
              <a:rPr lang="en-US" altLang="zh-CN" sz="1400" b="1" dirty="0"/>
              <a:t>0</a:t>
            </a:r>
            <a:r>
              <a:rPr lang="zh-CN" altLang="en-US" sz="1400" b="1" dirty="0"/>
              <a:t>（移码全</a:t>
            </a:r>
            <a:r>
              <a:rPr lang="en-US" altLang="zh-CN" sz="1400" b="1" dirty="0"/>
              <a:t>0</a:t>
            </a:r>
            <a:r>
              <a:rPr lang="zh-CN" altLang="en-US" sz="1400" b="1" dirty="0"/>
              <a:t>时为最小负数），则表示规格化下溢</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4127272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ED904-8D32-44B7-A25A-BF210218FA24}"/>
              </a:ext>
            </a:extLst>
          </p:cNvPr>
          <p:cNvSpPr>
            <a:spLocks noGrp="1"/>
          </p:cNvSpPr>
          <p:nvPr>
            <p:ph type="title"/>
          </p:nvPr>
        </p:nvSpPr>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513944" y="1268760"/>
            <a:ext cx="8229600" cy="5589240"/>
          </a:xfrm>
        </p:spPr>
        <p:txBody>
          <a:bodyPr/>
          <a:lstStyle/>
          <a:p>
            <a:r>
              <a:rPr lang="zh-CN" altLang="en-US" sz="1800" b="1" dirty="0"/>
              <a:t>例</a:t>
            </a:r>
            <a:r>
              <a:rPr lang="en-US" altLang="zh-CN" sz="1800" b="1" dirty="0"/>
              <a:t>3.16</a:t>
            </a:r>
            <a:r>
              <a:rPr lang="zh-CN" altLang="en-US" sz="1800" b="1" dirty="0"/>
              <a:t>：两个</a:t>
            </a:r>
            <a:r>
              <a:rPr lang="en-US" altLang="zh-CN" sz="1800" b="1" dirty="0"/>
              <a:t>IEEE754</a:t>
            </a:r>
            <a:r>
              <a:rPr lang="zh-CN" altLang="en-US" sz="1800" b="1" dirty="0"/>
              <a:t>单精度浮点数机器码</a:t>
            </a:r>
            <a:r>
              <a:rPr lang="en-US" altLang="zh-CN" sz="1800" b="1" dirty="0"/>
              <a:t>X=00C0 0000H</a:t>
            </a:r>
            <a:r>
              <a:rPr lang="zh-CN" altLang="en-US" sz="1800" b="1" dirty="0"/>
              <a:t>，</a:t>
            </a:r>
            <a:r>
              <a:rPr lang="en-US" altLang="zh-CN" sz="1800" b="1" dirty="0"/>
              <a:t>Y=0080 0000H</a:t>
            </a:r>
            <a:r>
              <a:rPr lang="zh-CN" altLang="en-US" sz="1800" b="1" dirty="0"/>
              <a:t>，求</a:t>
            </a:r>
            <a:r>
              <a:rPr lang="en-US" altLang="zh-CN" sz="1800" b="1" dirty="0"/>
              <a:t>X-Y</a:t>
            </a:r>
          </a:p>
          <a:p>
            <a:r>
              <a:rPr lang="zh-CN" altLang="en-US" sz="1800" b="1" dirty="0"/>
              <a:t>解：</a:t>
            </a:r>
            <a:r>
              <a:rPr lang="en-US" altLang="zh-CN" sz="1800" b="1" dirty="0"/>
              <a:t> </a:t>
            </a:r>
          </a:p>
          <a:p>
            <a:pPr lvl="1"/>
            <a:r>
              <a:rPr lang="en-US" altLang="zh-CN" sz="1600" b="1" dirty="0"/>
              <a:t>IEEE754</a:t>
            </a:r>
            <a:r>
              <a:rPr lang="zh-CN" altLang="en-US" sz="1600" b="1" dirty="0"/>
              <a:t>单精度浮点数：</a:t>
            </a:r>
            <a:r>
              <a:rPr lang="en-US" altLang="zh-CN" sz="1600" b="1" dirty="0"/>
              <a:t>32</a:t>
            </a:r>
            <a:r>
              <a:rPr lang="zh-CN" altLang="en-US" sz="1600" b="1" dirty="0"/>
              <a:t>位</a:t>
            </a:r>
            <a:endParaRPr lang="en-US" altLang="zh-CN" sz="1600" b="1" dirty="0"/>
          </a:p>
          <a:p>
            <a:pPr lvl="1"/>
            <a:r>
              <a:rPr lang="en-US" altLang="zh-CN" sz="1600" b="1" dirty="0"/>
              <a:t>X=0000 0000 1100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10000000000000000000000</a:t>
            </a:r>
            <a:r>
              <a:rPr lang="en-US" altLang="zh-CN" sz="1600" b="1" dirty="0"/>
              <a:t>=1.1*2</a:t>
            </a:r>
            <a:r>
              <a:rPr lang="en-US" altLang="zh-CN" sz="1600" b="1" baseline="30000" dirty="0">
                <a:highlight>
                  <a:srgbClr val="FFFF00"/>
                </a:highlight>
              </a:rPr>
              <a:t>-126</a:t>
            </a:r>
            <a:r>
              <a:rPr lang="zh-CN" altLang="en-US" sz="1600" b="1" dirty="0"/>
              <a:t> </a:t>
            </a:r>
            <a:endParaRPr lang="en-US" altLang="zh-CN" sz="1600" b="1" baseline="30000" dirty="0"/>
          </a:p>
          <a:p>
            <a:pPr lvl="1"/>
            <a:r>
              <a:rPr lang="en-US" altLang="zh-CN" sz="1600" b="1" dirty="0"/>
              <a:t>Y=0000 0000 1000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00000000000000000000000</a:t>
            </a:r>
            <a:r>
              <a:rPr lang="en-US" altLang="zh-CN" sz="1600" b="1" dirty="0"/>
              <a:t>=1.0*2</a:t>
            </a:r>
            <a:r>
              <a:rPr lang="en-US" altLang="zh-CN" sz="1600" b="1" baseline="30000" dirty="0">
                <a:highlight>
                  <a:srgbClr val="FFFF00"/>
                </a:highlight>
              </a:rPr>
              <a:t>-126</a:t>
            </a:r>
          </a:p>
          <a:p>
            <a:pPr lvl="1"/>
            <a:endParaRPr lang="en-US" altLang="zh-CN" sz="1600" b="1" baseline="30000" dirty="0"/>
          </a:p>
          <a:p>
            <a:pPr lvl="1"/>
            <a:r>
              <a:rPr lang="en-US" altLang="zh-CN" sz="1600" b="1" dirty="0"/>
              <a:t>E=</a:t>
            </a:r>
            <a:r>
              <a:rPr lang="zh-CN" altLang="en-US" sz="1600" b="1" dirty="0"/>
              <a:t>阶码的真值</a:t>
            </a:r>
            <a:r>
              <a:rPr lang="en-US" altLang="zh-CN" sz="1600" b="1" dirty="0"/>
              <a:t>+127</a:t>
            </a:r>
            <a:r>
              <a:rPr lang="zh-CN" altLang="en-US" sz="1600" b="1" dirty="0"/>
              <a:t>，阶码的真值</a:t>
            </a:r>
            <a:r>
              <a:rPr lang="en-US" altLang="zh-CN" sz="1600" b="1" dirty="0"/>
              <a:t>=E-127=1-127</a:t>
            </a:r>
            <a:r>
              <a:rPr lang="en-US" altLang="zh-CN" sz="1600" b="1" dirty="0">
                <a:highlight>
                  <a:srgbClr val="FFFF00"/>
                </a:highlight>
              </a:rPr>
              <a:t>=-126</a:t>
            </a:r>
            <a:r>
              <a:rPr lang="zh-CN" altLang="en-US" sz="1600" b="1" dirty="0"/>
              <a:t>；尾数</a:t>
            </a:r>
            <a:r>
              <a:rPr lang="en-US" altLang="zh-CN" sz="1600" b="1" dirty="0"/>
              <a:t>=1.M</a:t>
            </a:r>
          </a:p>
          <a:p>
            <a:pPr lvl="1"/>
            <a:r>
              <a:rPr lang="zh-CN" altLang="en-US" sz="1600" b="1" dirty="0"/>
              <a:t>（</a:t>
            </a:r>
            <a:r>
              <a:rPr lang="en-US" altLang="zh-CN" sz="1600" b="1" dirty="0"/>
              <a:t>1</a:t>
            </a:r>
            <a:r>
              <a:rPr lang="zh-CN" altLang="en-US" sz="1600" b="1" dirty="0"/>
              <a:t>）对阶：</a:t>
            </a:r>
            <a:r>
              <a:rPr lang="en-US" altLang="zh-CN" sz="1600" b="1" dirty="0"/>
              <a:t>X</a:t>
            </a:r>
            <a:r>
              <a:rPr lang="zh-CN" altLang="en-US" sz="1600" b="1" dirty="0"/>
              <a:t>、</a:t>
            </a:r>
            <a:r>
              <a:rPr lang="en-US" altLang="zh-CN" sz="1600" b="1" dirty="0"/>
              <a:t>Y</a:t>
            </a:r>
            <a:r>
              <a:rPr lang="zh-CN" altLang="en-US" sz="1600" b="1" dirty="0"/>
              <a:t>的阶码相同，不需要对阶</a:t>
            </a:r>
            <a:endParaRPr lang="en-US" altLang="zh-CN" sz="1600" b="1" dirty="0"/>
          </a:p>
          <a:p>
            <a:pPr lvl="1"/>
            <a:r>
              <a:rPr lang="zh-CN" altLang="en-US" sz="1600" b="1" dirty="0"/>
              <a:t>（</a:t>
            </a:r>
            <a:r>
              <a:rPr lang="en-US" altLang="zh-CN" sz="1600" b="1" dirty="0"/>
              <a:t>2</a:t>
            </a:r>
            <a:r>
              <a:rPr lang="zh-CN" altLang="en-US" sz="1600" b="1" dirty="0"/>
              <a:t>）尾数相减：</a:t>
            </a:r>
            <a:r>
              <a:rPr lang="en-US" altLang="zh-CN" sz="1600" b="1" dirty="0"/>
              <a:t>1.1-1.0=0.1</a:t>
            </a:r>
          </a:p>
          <a:p>
            <a:pPr lvl="1"/>
            <a:r>
              <a:rPr lang="zh-CN" altLang="en-US" sz="1600" b="1" dirty="0"/>
              <a:t>（</a:t>
            </a:r>
            <a:r>
              <a:rPr lang="en-US" altLang="zh-CN" sz="1600" b="1" dirty="0"/>
              <a:t>3</a:t>
            </a:r>
            <a:r>
              <a:rPr lang="zh-CN" altLang="en-US" sz="1600" b="1" dirty="0"/>
              <a:t>）结果规格化：尾数相减后的</a:t>
            </a:r>
            <a:r>
              <a:rPr lang="en-US" altLang="zh-CN" sz="1600" b="1" dirty="0"/>
              <a:t>0.1</a:t>
            </a:r>
            <a:r>
              <a:rPr lang="zh-CN" altLang="en-US" sz="1600" b="1" dirty="0"/>
              <a:t>为非规格化数，需要左移</a:t>
            </a:r>
            <a:r>
              <a:rPr lang="en-US" altLang="zh-CN" sz="1600" b="1" dirty="0"/>
              <a:t>1</a:t>
            </a:r>
            <a:r>
              <a:rPr lang="zh-CN" altLang="en-US" sz="1600" b="1" dirty="0"/>
              <a:t>次，尾数变为</a:t>
            </a:r>
            <a:r>
              <a:rPr lang="en-US" altLang="zh-CN" sz="1600" b="1" dirty="0"/>
              <a:t>1.0</a:t>
            </a:r>
            <a:r>
              <a:rPr lang="zh-CN" altLang="en-US" sz="1600" b="1" dirty="0"/>
              <a:t>，阶码减</a:t>
            </a:r>
            <a:r>
              <a:rPr lang="en-US" altLang="zh-CN" sz="1600" b="1" dirty="0"/>
              <a:t>1</a:t>
            </a:r>
            <a:r>
              <a:rPr lang="zh-CN" altLang="en-US" sz="1600" b="1" dirty="0"/>
              <a:t>，阶码变为</a:t>
            </a:r>
            <a:r>
              <a:rPr lang="en-US" altLang="zh-CN" sz="1600" b="1" dirty="0"/>
              <a:t>00000000</a:t>
            </a:r>
            <a:r>
              <a:rPr lang="zh-CN" altLang="en-US" sz="1600" b="1" dirty="0"/>
              <a:t>（全</a:t>
            </a:r>
            <a:r>
              <a:rPr lang="en-US" altLang="zh-CN" sz="1600" b="1" dirty="0"/>
              <a:t>0</a:t>
            </a:r>
            <a:r>
              <a:rPr lang="zh-CN" altLang="en-US" sz="1600" b="1" dirty="0"/>
              <a:t>）</a:t>
            </a:r>
            <a:endParaRPr lang="en-US" altLang="zh-CN" sz="1600" b="1" dirty="0"/>
          </a:p>
          <a:p>
            <a:pPr lvl="1"/>
            <a:r>
              <a:rPr lang="zh-CN" altLang="en-US" sz="1600" b="1" dirty="0"/>
              <a:t>（</a:t>
            </a:r>
            <a:r>
              <a:rPr lang="en-US" altLang="zh-CN" sz="1600" b="1" dirty="0"/>
              <a:t>4</a:t>
            </a:r>
            <a:r>
              <a:rPr lang="zh-CN" altLang="en-US" sz="1600" b="1" dirty="0"/>
              <a:t>）舍入处理：没有舍入处理</a:t>
            </a:r>
            <a:endParaRPr lang="en-US" altLang="zh-CN" sz="1600" b="1" dirty="0"/>
          </a:p>
          <a:p>
            <a:pPr lvl="1"/>
            <a:r>
              <a:rPr lang="zh-CN" altLang="en-US" sz="1600" b="1" dirty="0"/>
              <a:t>（</a:t>
            </a:r>
            <a:r>
              <a:rPr lang="en-US" altLang="zh-CN" sz="1600" b="1" dirty="0"/>
              <a:t>5</a:t>
            </a:r>
            <a:r>
              <a:rPr lang="zh-CN" altLang="en-US" sz="1600" b="1" dirty="0"/>
              <a:t>）溢出判断：</a:t>
            </a:r>
            <a:r>
              <a:rPr lang="zh-CN" altLang="en-US" sz="1600" b="1" dirty="0">
                <a:highlight>
                  <a:srgbClr val="FFFF00"/>
                </a:highlight>
              </a:rPr>
              <a:t>阶码全</a:t>
            </a:r>
            <a:r>
              <a:rPr lang="en-US" altLang="zh-CN" sz="1600" b="1" dirty="0">
                <a:highlight>
                  <a:srgbClr val="FFFF00"/>
                </a:highlight>
              </a:rPr>
              <a:t>0</a:t>
            </a:r>
            <a:r>
              <a:rPr lang="zh-CN" altLang="en-US" sz="1600" b="1" dirty="0">
                <a:highlight>
                  <a:srgbClr val="FFFF00"/>
                </a:highlight>
              </a:rPr>
              <a:t>时</a:t>
            </a:r>
            <a:r>
              <a:rPr lang="zh-CN" altLang="en-US" sz="1600" b="1" dirty="0"/>
              <a:t>为非规格化数据，表示发生了规格化</a:t>
            </a:r>
            <a:r>
              <a:rPr lang="zh-CN" altLang="en-US" sz="1600" b="1" dirty="0">
                <a:highlight>
                  <a:srgbClr val="FFFF00"/>
                </a:highlight>
              </a:rPr>
              <a:t>下溢</a:t>
            </a:r>
            <a:endParaRPr lang="en-US" altLang="zh-CN" sz="1600" b="1" dirty="0">
              <a:highlight>
                <a:srgbClr val="FFFF00"/>
              </a:highlight>
            </a:endParaRPr>
          </a:p>
          <a:p>
            <a:pPr lvl="1"/>
            <a:endParaRPr lang="en-US" altLang="zh-CN" sz="1600" b="1" dirty="0"/>
          </a:p>
          <a:p>
            <a:pPr lvl="1"/>
            <a:r>
              <a:rPr lang="en-US" altLang="zh-CN" sz="1600" b="1" dirty="0"/>
              <a:t>IEEE754</a:t>
            </a:r>
            <a:r>
              <a:rPr lang="zh-CN" altLang="en-US" sz="1600" b="1" dirty="0"/>
              <a:t>单精度非规格化浮点数：</a:t>
            </a:r>
            <a:r>
              <a:rPr lang="en-US" altLang="zh-CN" sz="1600" b="1" dirty="0"/>
              <a:t>(-1)</a:t>
            </a:r>
            <a:r>
              <a:rPr lang="en-US" altLang="zh-CN" sz="1600" b="1" baseline="30000" dirty="0"/>
              <a:t>S</a:t>
            </a:r>
            <a:r>
              <a:rPr lang="en-US" altLang="zh-CN" sz="1600" b="1" dirty="0"/>
              <a:t>*0.M*2</a:t>
            </a:r>
            <a:r>
              <a:rPr lang="en-US" altLang="zh-CN" sz="1600" b="1" baseline="30000" dirty="0"/>
              <a:t>-126</a:t>
            </a:r>
            <a:r>
              <a:rPr lang="zh-CN" altLang="en-US" sz="1600" b="1" dirty="0"/>
              <a:t>，这里：</a:t>
            </a:r>
            <a:r>
              <a:rPr lang="en-US" altLang="zh-CN" sz="1600" b="1" dirty="0"/>
              <a:t>S=0</a:t>
            </a:r>
            <a:r>
              <a:rPr lang="zh-CN" altLang="en-US" sz="1600" b="1" dirty="0"/>
              <a:t>，</a:t>
            </a:r>
            <a:r>
              <a:rPr lang="en-US" altLang="zh-CN" sz="1600" b="1" dirty="0"/>
              <a:t>E=0</a:t>
            </a:r>
            <a:r>
              <a:rPr lang="zh-CN" altLang="en-US" sz="1600" b="1" dirty="0"/>
              <a:t>，</a:t>
            </a:r>
            <a:r>
              <a:rPr lang="en-US" altLang="zh-CN" sz="1600" b="1" dirty="0"/>
              <a:t>M=1</a:t>
            </a:r>
          </a:p>
          <a:p>
            <a:pPr lvl="1"/>
            <a:r>
              <a:rPr lang="en-US" altLang="zh-CN" sz="1600" b="1" dirty="0"/>
              <a:t>X-Y=0.1*2</a:t>
            </a:r>
            <a:r>
              <a:rPr lang="en-US" altLang="zh-CN" sz="1600" b="1" baseline="30000" dirty="0"/>
              <a:t>-126</a:t>
            </a:r>
            <a:r>
              <a:rPr lang="en-US" altLang="zh-CN" sz="1600" b="1" dirty="0"/>
              <a:t>=2</a:t>
            </a:r>
            <a:r>
              <a:rPr lang="en-US" altLang="zh-CN" sz="1600" b="1" baseline="30000" dirty="0"/>
              <a:t>-127</a:t>
            </a:r>
            <a:r>
              <a:rPr lang="en-US" altLang="zh-CN" sz="1600" b="1" dirty="0"/>
              <a:t>=</a:t>
            </a:r>
            <a:r>
              <a:rPr lang="en-US" altLang="zh-CN" sz="1600" b="1" dirty="0">
                <a:solidFill>
                  <a:srgbClr val="FF0000"/>
                </a:solidFill>
              </a:rPr>
              <a:t>0</a:t>
            </a:r>
            <a:r>
              <a:rPr lang="en-US" altLang="zh-CN" sz="1600" b="1" dirty="0"/>
              <a:t> </a:t>
            </a:r>
            <a:r>
              <a:rPr lang="en-US" altLang="zh-CN" sz="1600" b="1" dirty="0">
                <a:solidFill>
                  <a:srgbClr val="7030A0"/>
                </a:solidFill>
              </a:rPr>
              <a:t>00000000</a:t>
            </a:r>
            <a:r>
              <a:rPr lang="en-US" altLang="zh-CN" sz="1600" b="1" dirty="0"/>
              <a:t> </a:t>
            </a:r>
            <a:r>
              <a:rPr lang="en-US" altLang="zh-CN" sz="1600" b="1" dirty="0">
                <a:solidFill>
                  <a:srgbClr val="0070C0"/>
                </a:solidFill>
              </a:rPr>
              <a:t>10000000000000000000000</a:t>
            </a:r>
            <a:r>
              <a:rPr lang="en-US" altLang="zh-CN" sz="1600" b="1" dirty="0"/>
              <a:t>=0040 0000H</a:t>
            </a:r>
            <a:endParaRPr lang="en-US" altLang="zh-CN" sz="2000" b="1" dirty="0"/>
          </a:p>
          <a:p>
            <a:pPr lvl="1"/>
            <a:endParaRPr lang="en-US" altLang="zh-CN" sz="1600" b="1" baseline="30000" dirty="0"/>
          </a:p>
          <a:p>
            <a:endParaRPr lang="en-US" altLang="zh-CN" sz="2000" b="1" dirty="0">
              <a:solidFill>
                <a:srgbClr val="0070C0"/>
              </a:solidFill>
            </a:endParaRPr>
          </a:p>
          <a:p>
            <a:endParaRPr lang="zh-CN" altLang="en-US" sz="2000" b="1" dirty="0"/>
          </a:p>
        </p:txBody>
      </p:sp>
      <p:pic>
        <p:nvPicPr>
          <p:cNvPr id="4" name="图片 3">
            <a:extLst>
              <a:ext uri="{FF2B5EF4-FFF2-40B4-BE49-F238E27FC236}">
                <a16:creationId xmlns:a16="http://schemas.microsoft.com/office/drawing/2014/main" id="{479718A3-F62E-47C6-B678-41604F03B680}"/>
              </a:ext>
            </a:extLst>
          </p:cNvPr>
          <p:cNvPicPr>
            <a:picLocks noChangeAspect="1"/>
          </p:cNvPicPr>
          <p:nvPr/>
        </p:nvPicPr>
        <p:blipFill>
          <a:blip r:embed="rId2"/>
          <a:stretch>
            <a:fillRect/>
          </a:stretch>
        </p:blipFill>
        <p:spPr>
          <a:xfrm>
            <a:off x="4382258" y="1700808"/>
            <a:ext cx="4247798" cy="549810"/>
          </a:xfrm>
          <a:prstGeom prst="rect">
            <a:avLst/>
          </a:prstGeom>
        </p:spPr>
      </p:pic>
    </p:spTree>
    <p:extLst>
      <p:ext uri="{BB962C8B-B14F-4D97-AF65-F5344CB8AC3E}">
        <p14:creationId xmlns:p14="http://schemas.microsoft.com/office/powerpoint/2010/main" val="40016462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67711-9C6A-4EC9-92AA-8AFBC5F2001A}"/>
              </a:ext>
            </a:extLst>
          </p:cNvPr>
          <p:cNvSpPr>
            <a:spLocks noGrp="1"/>
          </p:cNvSpPr>
          <p:nvPr>
            <p:ph type="title"/>
          </p:nvPr>
        </p:nvSpPr>
        <p:spPr/>
        <p:txBody>
          <a:bodyPr/>
          <a:lstStyle/>
          <a:p>
            <a:r>
              <a:rPr lang="en-US" altLang="zh-CN" b="1" dirty="0">
                <a:ea typeface="黑体" panose="02010609060101010101" pitchFamily="49" charset="-122"/>
              </a:rPr>
              <a:t>3.5.2  </a:t>
            </a:r>
            <a:r>
              <a:rPr lang="zh-CN" altLang="en-US" b="1" dirty="0">
                <a:ea typeface="黑体" panose="02010609060101010101" pitchFamily="49" charset="-122"/>
              </a:rPr>
              <a:t>浮点乘法运算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2554" y="1268760"/>
            <a:ext cx="8229600" cy="4525963"/>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）阶码相加：</a:t>
            </a:r>
            <a:r>
              <a:rPr lang="en-US" altLang="zh-CN" sz="1600" b="1" dirty="0" err="1">
                <a:cs typeface="Segoe UI Semibold" panose="020B0702040204020203" pitchFamily="34" charset="0"/>
              </a:rPr>
              <a:t>m+n</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）尾数相乘：</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）规格化舍入：尾数相乘后的绝对值太小，需要通过左规（尾数左移），将尾数变为规格化的数</a:t>
            </a:r>
            <a:endParaRPr lang="en-US" altLang="zh-CN" sz="1600" b="1" dirty="0">
              <a:cs typeface="Segoe UI Semibold" panose="020B0702040204020203" pitchFamily="34" charset="0"/>
            </a:endParaRPr>
          </a:p>
        </p:txBody>
      </p:sp>
    </p:spTree>
    <p:extLst>
      <p:ext uri="{BB962C8B-B14F-4D97-AF65-F5344CB8AC3E}">
        <p14:creationId xmlns:p14="http://schemas.microsoft.com/office/powerpoint/2010/main" val="40436365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20D19-2EE1-4C31-BD1C-EFF1433DF269}"/>
              </a:ext>
            </a:extLst>
          </p:cNvPr>
          <p:cNvSpPr>
            <a:spLocks noGrp="1"/>
          </p:cNvSpPr>
          <p:nvPr>
            <p:ph type="title"/>
          </p:nvPr>
        </p:nvSpPr>
        <p:spPr/>
        <p:txBody>
          <a:bodyPr/>
          <a:lstStyle/>
          <a:p>
            <a:r>
              <a:rPr lang="en-US" altLang="zh-CN" b="1" dirty="0">
                <a:ea typeface="黑体" panose="02010609060101010101" pitchFamily="49" charset="-122"/>
              </a:rPr>
              <a:t>3.5.3  </a:t>
            </a:r>
            <a:r>
              <a:rPr lang="zh-CN" altLang="en-US" b="1" dirty="0">
                <a:ea typeface="黑体" panose="02010609060101010101" pitchFamily="49" charset="-122"/>
              </a:rPr>
              <a:t>浮点除法运算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386610"/>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）尾数调整：检查被除数（</a:t>
            </a:r>
            <a:r>
              <a:rPr lang="en-US" altLang="zh-CN" sz="1600" b="1" dirty="0">
                <a:cs typeface="Segoe UI Semibold" panose="020B0702040204020203" pitchFamily="34" charset="0"/>
              </a:rPr>
              <a:t>X</a:t>
            </a:r>
            <a:r>
              <a:rPr lang="zh-CN" altLang="en-US" sz="1600" b="1" dirty="0">
                <a:cs typeface="Segoe UI Semibold" panose="020B0702040204020203" pitchFamily="34" charset="0"/>
              </a:rPr>
              <a:t>）的尾数是否小于除数（</a:t>
            </a:r>
            <a:r>
              <a:rPr lang="en-US" altLang="zh-CN" sz="1600" b="1" dirty="0">
                <a:cs typeface="Segoe UI Semibold" panose="020B0702040204020203" pitchFamily="34" charset="0"/>
              </a:rPr>
              <a:t>Y</a:t>
            </a:r>
            <a:r>
              <a:rPr lang="zh-CN" altLang="en-US" sz="1600" b="1" dirty="0">
                <a:cs typeface="Segoe UI Semibold" panose="020B0702040204020203" pitchFamily="34" charset="0"/>
              </a:rPr>
              <a:t>）的尾数（绝对值大小比较）；如果大于，则将被除数的尾数右移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次，并将被除数的阶码加</a:t>
            </a:r>
            <a:r>
              <a:rPr lang="en-US" altLang="zh-CN" sz="1600" b="1" dirty="0">
                <a:cs typeface="Segoe UI Semibold" panose="020B0702040204020203" pitchFamily="34" charset="0"/>
              </a:rPr>
              <a:t>1</a:t>
            </a:r>
            <a:r>
              <a:rPr lang="zh-CN" altLang="en-US" sz="1600" b="1" dirty="0">
                <a:cs typeface="Segoe UI Semibold" panose="020B0702040204020203" pitchFamily="34" charset="0"/>
              </a:rPr>
              <a:t>（由于</a:t>
            </a:r>
            <a:r>
              <a:rPr lang="en-US" altLang="zh-CN" sz="1600" b="1" dirty="0">
                <a:cs typeface="Segoe UI Semibold" panose="020B0702040204020203" pitchFamily="34" charset="0"/>
              </a:rPr>
              <a:t>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a:t>
            </a:r>
            <a:r>
              <a:rPr lang="zh-CN" altLang="en-US" sz="1600" b="1" dirty="0">
                <a:cs typeface="Segoe UI Semibold" panose="020B0702040204020203" pitchFamily="34" charset="0"/>
              </a:rPr>
              <a:t>都是规格化的浮点数，因此只需要右移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次，就能实现被除数的尾数小于除数的尾数）</a:t>
            </a:r>
            <a:endParaRPr lang="en-US" altLang="zh-CN" sz="1600" b="1" dirty="0">
              <a:cs typeface="Segoe UI Semibold" panose="020B0702040204020203" pitchFamily="34" charset="0"/>
            </a:endParaRP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en-US" altLang="zh-CN" sz="1600" b="1" dirty="0">
                <a:cs typeface="Segoe UI Semibold" panose="020B0702040204020203" pitchFamily="34" charset="0"/>
              </a:rPr>
              <a:t> </a:t>
            </a:r>
            <a:r>
              <a:rPr lang="zh-CN" altLang="en-US" sz="1600" b="1" dirty="0">
                <a:cs typeface="Segoe UI Semibold" panose="020B0702040204020203" pitchFamily="34" charset="0"/>
              </a:rPr>
              <a:t>；调整后，</a:t>
            </a:r>
            <a:r>
              <a:rPr lang="en-US" altLang="zh-CN" sz="1600" b="1" dirty="0">
                <a:cs typeface="Segoe UI Semibold" panose="020B0702040204020203" pitchFamily="34" charset="0"/>
              </a:rPr>
              <a:t>X=0.75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xx…x+1</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X=1.2</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，不需要调整</a:t>
            </a:r>
            <a:endParaRPr lang="en-US" altLang="zh-CN" sz="1600" b="1" baseline="30000"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）阶码求差：</a:t>
            </a:r>
            <a:r>
              <a:rPr lang="en-US" altLang="zh-CN" sz="1600" b="1" dirty="0">
                <a:cs typeface="Segoe UI Semibold" panose="020B0702040204020203" pitchFamily="34" charset="0"/>
              </a:rPr>
              <a:t>m-n</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）尾数相除：</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4</a:t>
            </a:r>
            <a:r>
              <a:rPr lang="zh-CN" altLang="en-US" sz="1600" b="1" dirty="0">
                <a:cs typeface="Segoe UI Semibold" panose="020B0702040204020203" pitchFamily="34" charset="0"/>
              </a:rPr>
              <a:t>）规格化舍入：如果尾数相除后的商的绝对值太小，需要通过左规（尾数左移），将尾数变为规格化的数</a:t>
            </a:r>
            <a:endParaRPr lang="en-US" altLang="zh-CN" sz="1600" b="1" dirty="0">
              <a:cs typeface="Segoe UI Semibold" panose="020B0702040204020203" pitchFamily="34" charset="0"/>
            </a:endParaRPr>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0929526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3.6    </a:t>
            </a:r>
            <a:r>
              <a:rPr lang="zh-CN" altLang="en-US" b="1" dirty="0">
                <a:solidFill>
                  <a:srgbClr val="002060"/>
                </a:solidFill>
                <a:latin typeface="+mn-lt"/>
                <a:ea typeface="黑体" pitchFamily="49" charset="-122"/>
              </a:rPr>
              <a:t>运算器</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544616"/>
          </a:xfrm>
        </p:spPr>
        <p:txBody>
          <a:bodyPr/>
          <a:lstStyle/>
          <a:p>
            <a:pPr eaLnBrk="1" hangingPunct="1"/>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en-US" altLang="zh-CN" b="1" dirty="0"/>
          </a:p>
          <a:p>
            <a:pPr lvl="1" eaLnBrk="1" hangingPunct="1"/>
            <a:r>
              <a:rPr lang="en-US" altLang="zh-CN" sz="2000" b="1" dirty="0"/>
              <a:t>1</a:t>
            </a:r>
            <a:r>
              <a:rPr lang="zh-CN" altLang="en-US" sz="2000" b="1" dirty="0"/>
              <a:t>、运算器组成</a:t>
            </a:r>
            <a:endParaRPr lang="en-US" altLang="zh-CN" sz="2000" b="1" dirty="0"/>
          </a:p>
          <a:p>
            <a:pPr lvl="2" eaLnBrk="1" hangingPunct="1"/>
            <a:r>
              <a:rPr lang="zh-CN" altLang="en-US" sz="1800" b="1" dirty="0"/>
              <a:t>（</a:t>
            </a:r>
            <a:r>
              <a:rPr lang="en-US" altLang="zh-CN" sz="1800" b="1" dirty="0"/>
              <a:t>1</a:t>
            </a:r>
            <a:r>
              <a:rPr lang="zh-CN" altLang="en-US" sz="1800" b="1" dirty="0"/>
              <a:t>）算术逻辑运算单元（</a:t>
            </a:r>
            <a:r>
              <a:rPr lang="en-US" altLang="zh-CN" sz="1800" b="1" dirty="0"/>
              <a:t>ALU</a:t>
            </a:r>
            <a:r>
              <a:rPr lang="zh-CN" altLang="en-US" sz="1800" b="1" dirty="0"/>
              <a:t>）</a:t>
            </a:r>
            <a:endParaRPr lang="en-US" altLang="zh-CN" sz="1800" b="1" dirty="0"/>
          </a:p>
          <a:p>
            <a:pPr lvl="3" eaLnBrk="1" hangingPunct="1"/>
            <a:endParaRPr lang="en-US" altLang="zh-CN" sz="1000" b="1" dirty="0"/>
          </a:p>
          <a:p>
            <a:pPr lvl="3" eaLnBrk="1" hangingPunct="1"/>
            <a:r>
              <a:rPr lang="en-US" altLang="zh-CN" sz="1400" b="1" dirty="0"/>
              <a:t>ALU</a:t>
            </a:r>
            <a:r>
              <a:rPr lang="zh-CN" altLang="en-US" sz="1400" b="1" dirty="0"/>
              <a:t>：</a:t>
            </a:r>
            <a:r>
              <a:rPr lang="en-US" altLang="zh-CN" sz="1400" b="1" dirty="0"/>
              <a:t>Arithmetic and Logic Unit</a:t>
            </a:r>
            <a:r>
              <a:rPr lang="zh-CN" altLang="en-US" sz="1400" b="1" dirty="0"/>
              <a:t>，算术逻辑单元；算术逻辑运算单元是对定点数据进行加工处理的纯组合逻辑电路</a:t>
            </a:r>
            <a:endParaRPr lang="en-US" altLang="zh-CN" sz="1400" b="1" dirty="0"/>
          </a:p>
          <a:p>
            <a:pPr lvl="3" eaLnBrk="1" hangingPunct="1"/>
            <a:endParaRPr lang="en-US" altLang="zh-CN" sz="1400" b="1" dirty="0"/>
          </a:p>
          <a:p>
            <a:pPr lvl="3" eaLnBrk="1" hangingPunct="1"/>
            <a:r>
              <a:rPr lang="en-US" altLang="zh-CN" sz="1400" b="1" dirty="0"/>
              <a:t>a</a:t>
            </a:r>
            <a:r>
              <a:rPr lang="zh-CN" altLang="en-US" sz="1400" b="1" dirty="0"/>
              <a:t>、</a:t>
            </a:r>
            <a:r>
              <a:rPr lang="en-US" altLang="zh-CN" sz="1400" b="1" dirty="0"/>
              <a:t>b</a:t>
            </a:r>
            <a:r>
              <a:rPr lang="zh-CN" altLang="en-US" sz="1400" b="1" dirty="0"/>
              <a:t>：参与运算的两个操作数</a:t>
            </a:r>
            <a:endParaRPr lang="en-US" altLang="zh-CN" sz="1400" b="1" dirty="0"/>
          </a:p>
          <a:p>
            <a:pPr lvl="3" eaLnBrk="1" hangingPunct="1"/>
            <a:r>
              <a:rPr lang="en-US" altLang="zh-CN" sz="1400" b="1" dirty="0" err="1"/>
              <a:t>Cin</a:t>
            </a:r>
            <a:r>
              <a:rPr lang="zh-CN" altLang="en-US" sz="1400" b="1" dirty="0"/>
              <a:t>：进位输入</a:t>
            </a:r>
            <a:endParaRPr lang="en-US" altLang="zh-CN" sz="1400" b="1" dirty="0"/>
          </a:p>
          <a:p>
            <a:pPr lvl="3" eaLnBrk="1" hangingPunct="1"/>
            <a:r>
              <a:rPr lang="en-US" altLang="zh-CN" sz="1400" b="1" dirty="0"/>
              <a:t>result</a:t>
            </a:r>
            <a:r>
              <a:rPr lang="zh-CN" altLang="en-US" sz="1400" b="1" dirty="0"/>
              <a:t>：运算结果</a:t>
            </a:r>
            <a:endParaRPr lang="en-US" altLang="zh-CN" sz="1400" b="1" dirty="0"/>
          </a:p>
          <a:p>
            <a:pPr lvl="3" eaLnBrk="1" hangingPunct="1"/>
            <a:r>
              <a:rPr lang="en-US" altLang="zh-CN" sz="1400" b="1" dirty="0" err="1"/>
              <a:t>Cout</a:t>
            </a:r>
            <a:r>
              <a:rPr lang="zh-CN" altLang="en-US" sz="1400" b="1" dirty="0"/>
              <a:t>：进位输出</a:t>
            </a:r>
            <a:endParaRPr lang="en-US" altLang="zh-CN" sz="1400" b="1" dirty="0"/>
          </a:p>
          <a:p>
            <a:pPr lvl="3" eaLnBrk="1" hangingPunct="1"/>
            <a:r>
              <a:rPr lang="en-US" altLang="zh-CN" sz="1400" b="1" dirty="0"/>
              <a:t>operation</a:t>
            </a:r>
            <a:r>
              <a:rPr lang="zh-CN" altLang="en-US" sz="1400" b="1" dirty="0"/>
              <a:t>：决定做什么运算</a:t>
            </a:r>
            <a:endParaRPr lang="en-US" altLang="zh-CN" sz="1400" b="1" dirty="0"/>
          </a:p>
          <a:p>
            <a:pPr lvl="3" eaLnBrk="1" hangingPunct="1"/>
            <a:endParaRPr lang="en-US" altLang="zh-CN" sz="1200" b="1" dirty="0"/>
          </a:p>
          <a:p>
            <a:pPr lvl="3" eaLnBrk="1" hangingPunct="1"/>
            <a:endParaRPr lang="en-US" altLang="zh-CN" sz="1200" b="1" dirty="0"/>
          </a:p>
          <a:p>
            <a:pPr lvl="3" eaLnBrk="1" hangingPunct="1"/>
            <a:r>
              <a:rPr lang="en-US" altLang="zh-CN" sz="1400" b="1" dirty="0"/>
              <a:t>CF</a:t>
            </a:r>
            <a:r>
              <a:rPr lang="zh-CN" altLang="en-US" sz="1400" b="1" dirty="0"/>
              <a:t>：</a:t>
            </a:r>
            <a:r>
              <a:rPr lang="en-US" altLang="zh-CN" sz="1400" b="1" dirty="0"/>
              <a:t>Carry Out Flag</a:t>
            </a:r>
            <a:r>
              <a:rPr lang="zh-CN" altLang="en-US" sz="1400" b="1" dirty="0"/>
              <a:t>，加法进位输出，或减法借位输出，或左移操作的溢出位</a:t>
            </a:r>
            <a:endParaRPr lang="en-US" altLang="zh-CN" sz="1400" b="1" dirty="0"/>
          </a:p>
          <a:p>
            <a:pPr lvl="3" eaLnBrk="1" hangingPunct="1"/>
            <a:r>
              <a:rPr lang="en-US" altLang="zh-CN" sz="1400" b="1" dirty="0"/>
              <a:t>ZF</a:t>
            </a:r>
            <a:r>
              <a:rPr lang="zh-CN" altLang="en-US" sz="1400" b="1" dirty="0"/>
              <a:t>：</a:t>
            </a:r>
            <a:r>
              <a:rPr lang="en-US" altLang="zh-CN" sz="1400" b="1" dirty="0"/>
              <a:t>Zero Flag</a:t>
            </a:r>
            <a:r>
              <a:rPr lang="zh-CN" altLang="en-US" sz="1400" b="1" dirty="0"/>
              <a:t>，运算结果为</a:t>
            </a:r>
            <a:r>
              <a:rPr lang="en-US" altLang="zh-CN" sz="1400" b="1" dirty="0"/>
              <a:t>0</a:t>
            </a:r>
            <a:r>
              <a:rPr lang="zh-CN" altLang="en-US" sz="1400" b="1" dirty="0"/>
              <a:t>，则</a:t>
            </a:r>
            <a:r>
              <a:rPr lang="en-US" altLang="zh-CN" sz="1400" b="1" dirty="0"/>
              <a:t>ZF=1</a:t>
            </a:r>
            <a:r>
              <a:rPr lang="zh-CN" altLang="en-US" sz="1400" b="1" dirty="0"/>
              <a:t>；运算结果不为</a:t>
            </a:r>
            <a:r>
              <a:rPr lang="en-US" altLang="zh-CN" sz="1400" b="1" dirty="0"/>
              <a:t>0</a:t>
            </a:r>
            <a:r>
              <a:rPr lang="zh-CN" altLang="en-US" sz="1400" b="1" dirty="0"/>
              <a:t>，则</a:t>
            </a:r>
            <a:r>
              <a:rPr lang="en-US" altLang="zh-CN" sz="1400" b="1" dirty="0"/>
              <a:t>ZF=0</a:t>
            </a:r>
          </a:p>
          <a:p>
            <a:pPr lvl="3" eaLnBrk="1" hangingPunct="1"/>
            <a:r>
              <a:rPr lang="en-US" altLang="zh-CN" sz="1400" b="1" dirty="0"/>
              <a:t>OF</a:t>
            </a:r>
            <a:r>
              <a:rPr lang="zh-CN" altLang="en-US" sz="1400" b="1" dirty="0"/>
              <a:t>：</a:t>
            </a:r>
            <a:r>
              <a:rPr lang="en-US" altLang="zh-CN" sz="1400" b="1" dirty="0"/>
              <a:t>Overflow Flag</a:t>
            </a:r>
            <a:r>
              <a:rPr lang="zh-CN" altLang="en-US" sz="1400" b="1" dirty="0"/>
              <a:t>，有符号数运算溢出，则</a:t>
            </a:r>
            <a:r>
              <a:rPr lang="en-US" altLang="zh-CN" sz="1400" b="1" dirty="0"/>
              <a:t>OF=1</a:t>
            </a:r>
            <a:r>
              <a:rPr lang="zh-CN" altLang="en-US" sz="1400" b="1" dirty="0"/>
              <a:t>；不溢出，则</a:t>
            </a:r>
            <a:r>
              <a:rPr lang="en-US" altLang="zh-CN" sz="1400" b="1" dirty="0"/>
              <a:t>OF=0</a:t>
            </a:r>
          </a:p>
          <a:p>
            <a:pPr lvl="3" eaLnBrk="1" hangingPunct="1"/>
            <a:r>
              <a:rPr lang="en-US" altLang="zh-CN" sz="1400" b="1" dirty="0"/>
              <a:t>SF</a:t>
            </a:r>
            <a:r>
              <a:rPr lang="zh-CN" altLang="en-US" sz="1400" b="1" dirty="0"/>
              <a:t>：</a:t>
            </a:r>
            <a:r>
              <a:rPr lang="en-US" altLang="zh-CN" sz="1400" b="1" dirty="0"/>
              <a:t>Sign Flag</a:t>
            </a:r>
            <a:r>
              <a:rPr lang="zh-CN" altLang="en-US" sz="1400" b="1" dirty="0"/>
              <a:t>，运算结果为负数，则</a:t>
            </a:r>
            <a:r>
              <a:rPr lang="en-US" altLang="zh-CN" sz="1400" b="1" dirty="0"/>
              <a:t>SF=1</a:t>
            </a:r>
            <a:r>
              <a:rPr lang="zh-CN" altLang="en-US" sz="1400" b="1" dirty="0"/>
              <a:t>；为正数，则</a:t>
            </a:r>
            <a:r>
              <a:rPr lang="en-US" altLang="zh-CN" sz="1400" b="1" dirty="0"/>
              <a:t>SF=0</a:t>
            </a:r>
          </a:p>
          <a:p>
            <a:pPr lvl="1" eaLnBrk="1" hangingPunct="1"/>
            <a:endParaRPr lang="en-US" altLang="zh-CN" sz="1600" b="1" dirty="0"/>
          </a:p>
        </p:txBody>
      </p:sp>
      <p:grpSp>
        <p:nvGrpSpPr>
          <p:cNvPr id="31" name="组合 30">
            <a:extLst>
              <a:ext uri="{FF2B5EF4-FFF2-40B4-BE49-F238E27FC236}">
                <a16:creationId xmlns:a16="http://schemas.microsoft.com/office/drawing/2014/main" id="{6E05FFF5-B963-408D-9BED-F47AEF4CCAB3}"/>
              </a:ext>
            </a:extLst>
          </p:cNvPr>
          <p:cNvGrpSpPr/>
          <p:nvPr/>
        </p:nvGrpSpPr>
        <p:grpSpPr>
          <a:xfrm>
            <a:off x="4788024" y="3501008"/>
            <a:ext cx="1944216" cy="1656184"/>
            <a:chOff x="3707904" y="4550138"/>
            <a:chExt cx="2246995" cy="2191230"/>
          </a:xfrm>
        </p:grpSpPr>
        <p:grpSp>
          <p:nvGrpSpPr>
            <p:cNvPr id="29" name="组合 28">
              <a:extLst>
                <a:ext uri="{FF2B5EF4-FFF2-40B4-BE49-F238E27FC236}">
                  <a16:creationId xmlns:a16="http://schemas.microsoft.com/office/drawing/2014/main" id="{F58C5229-BE39-49F6-BDB4-563E6CEA2B53}"/>
                </a:ext>
              </a:extLst>
            </p:cNvPr>
            <p:cNvGrpSpPr/>
            <p:nvPr/>
          </p:nvGrpSpPr>
          <p:grpSpPr>
            <a:xfrm>
              <a:off x="3707904" y="4550138"/>
              <a:ext cx="2246995" cy="2191230"/>
              <a:chOff x="3707904" y="4550138"/>
              <a:chExt cx="2246995" cy="2191230"/>
            </a:xfrm>
          </p:grpSpPr>
          <p:grpSp>
            <p:nvGrpSpPr>
              <p:cNvPr id="13" name="组合 12">
                <a:extLst>
                  <a:ext uri="{FF2B5EF4-FFF2-40B4-BE49-F238E27FC236}">
                    <a16:creationId xmlns:a16="http://schemas.microsoft.com/office/drawing/2014/main" id="{903FCA3F-EEE4-495B-87DB-8BD3BAD1D4B5}"/>
                  </a:ext>
                </a:extLst>
              </p:cNvPr>
              <p:cNvGrpSpPr/>
              <p:nvPr/>
            </p:nvGrpSpPr>
            <p:grpSpPr>
              <a:xfrm>
                <a:off x="3707904" y="4550138"/>
                <a:ext cx="2246995" cy="2191230"/>
                <a:chOff x="3981189" y="4509120"/>
                <a:chExt cx="2246995" cy="2191230"/>
              </a:xfrm>
            </p:grpSpPr>
            <p:grpSp>
              <p:nvGrpSpPr>
                <p:cNvPr id="10" name="组合 9">
                  <a:extLst>
                    <a:ext uri="{FF2B5EF4-FFF2-40B4-BE49-F238E27FC236}">
                      <a16:creationId xmlns:a16="http://schemas.microsoft.com/office/drawing/2014/main" id="{1CBC9771-0DC3-4282-A118-AF35ACED754D}"/>
                    </a:ext>
                  </a:extLst>
                </p:cNvPr>
                <p:cNvGrpSpPr/>
                <p:nvPr/>
              </p:nvGrpSpPr>
              <p:grpSpPr>
                <a:xfrm>
                  <a:off x="3981189" y="4509120"/>
                  <a:ext cx="2246995" cy="2191230"/>
                  <a:chOff x="3981189" y="4509120"/>
                  <a:chExt cx="2246995" cy="2191230"/>
                </a:xfrm>
              </p:grpSpPr>
              <p:pic>
                <p:nvPicPr>
                  <p:cNvPr id="4" name="图片 3">
                    <a:extLst>
                      <a:ext uri="{FF2B5EF4-FFF2-40B4-BE49-F238E27FC236}">
                        <a16:creationId xmlns:a16="http://schemas.microsoft.com/office/drawing/2014/main" id="{A62C0AD6-AD6F-49E6-B890-FB8609DA03FC}"/>
                      </a:ext>
                    </a:extLst>
                  </p:cNvPr>
                  <p:cNvPicPr>
                    <a:picLocks noChangeAspect="1"/>
                  </p:cNvPicPr>
                  <p:nvPr/>
                </p:nvPicPr>
                <p:blipFill>
                  <a:blip r:embed="rId2"/>
                  <a:stretch>
                    <a:fillRect/>
                  </a:stretch>
                </p:blipFill>
                <p:spPr>
                  <a:xfrm>
                    <a:off x="3981189" y="4509120"/>
                    <a:ext cx="2246995" cy="2191230"/>
                  </a:xfrm>
                  <a:prstGeom prst="rect">
                    <a:avLst/>
                  </a:prstGeom>
                </p:spPr>
              </p:pic>
              <p:cxnSp>
                <p:nvCxnSpPr>
                  <p:cNvPr id="9" name="直接箭头连接符 8">
                    <a:extLst>
                      <a:ext uri="{FF2B5EF4-FFF2-40B4-BE49-F238E27FC236}">
                        <a16:creationId xmlns:a16="http://schemas.microsoft.com/office/drawing/2014/main" id="{ED67D858-02D7-4278-97C7-0CA9CA68F47D}"/>
                      </a:ext>
                    </a:extLst>
                  </p:cNvPr>
                  <p:cNvCxnSpPr>
                    <a:cxnSpLocks/>
                  </p:cNvCxnSpPr>
                  <p:nvPr/>
                </p:nvCxnSpPr>
                <p:spPr>
                  <a:xfrm>
                    <a:off x="5171212" y="5357910"/>
                    <a:ext cx="322145"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4B9B830-3F79-4758-B1CF-5870D5D82391}"/>
                      </a:ext>
                    </a:extLst>
                  </p:cNvPr>
                  <p:cNvCxnSpPr>
                    <a:cxnSpLocks/>
                  </p:cNvCxnSpPr>
                  <p:nvPr/>
                </p:nvCxnSpPr>
                <p:spPr>
                  <a:xfrm flipV="1">
                    <a:off x="5171212" y="5897721"/>
                    <a:ext cx="322145" cy="10541"/>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C58DBB97-2C98-4DD6-B3B7-13FFD0A4C275}"/>
                    </a:ext>
                  </a:extLst>
                </p:cNvPr>
                <p:cNvSpPr txBox="1"/>
                <p:nvPr/>
              </p:nvSpPr>
              <p:spPr>
                <a:xfrm>
                  <a:off x="5159606" y="5102036"/>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CF</a:t>
                  </a:r>
                  <a:endParaRPr lang="zh-CN" altLang="en-US" sz="1400" b="1" dirty="0">
                    <a:solidFill>
                      <a:schemeClr val="tx2">
                        <a:lumMod val="60000"/>
                        <a:lumOff val="40000"/>
                      </a:schemeClr>
                    </a:solidFill>
                  </a:endParaRPr>
                </a:p>
              </p:txBody>
            </p:sp>
            <p:sp>
              <p:nvSpPr>
                <p:cNvPr id="14" name="文本框 13">
                  <a:extLst>
                    <a:ext uri="{FF2B5EF4-FFF2-40B4-BE49-F238E27FC236}">
                      <a16:creationId xmlns:a16="http://schemas.microsoft.com/office/drawing/2014/main" id="{B2FCFACF-A2BA-45A7-9257-0EFE92D0B608}"/>
                    </a:ext>
                  </a:extLst>
                </p:cNvPr>
                <p:cNvSpPr txBox="1"/>
                <p:nvPr/>
              </p:nvSpPr>
              <p:spPr>
                <a:xfrm>
                  <a:off x="5165393" y="5865369"/>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SF</a:t>
                  </a:r>
                  <a:endParaRPr lang="zh-CN" altLang="en-US" sz="1400" b="1" dirty="0">
                    <a:solidFill>
                      <a:schemeClr val="tx2">
                        <a:lumMod val="60000"/>
                        <a:lumOff val="40000"/>
                      </a:schemeClr>
                    </a:solidFill>
                  </a:endParaRPr>
                </a:p>
              </p:txBody>
            </p:sp>
          </p:grpSp>
          <p:cxnSp>
            <p:nvCxnSpPr>
              <p:cNvPr id="18" name="直接箭头连接符 17">
                <a:extLst>
                  <a:ext uri="{FF2B5EF4-FFF2-40B4-BE49-F238E27FC236}">
                    <a16:creationId xmlns:a16="http://schemas.microsoft.com/office/drawing/2014/main" id="{753B1DAE-20A8-4359-BF26-77E8DFA5DE9A}"/>
                  </a:ext>
                </a:extLst>
              </p:cNvPr>
              <p:cNvCxnSpPr/>
              <p:nvPr/>
            </p:nvCxnSpPr>
            <p:spPr>
              <a:xfrm>
                <a:off x="4802470" y="4936902"/>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B1D7C85F-315D-447D-8F30-9EB15FFC2A15}"/>
                </a:ext>
              </a:extLst>
            </p:cNvPr>
            <p:cNvSpPr txBox="1"/>
            <p:nvPr/>
          </p:nvSpPr>
          <p:spPr>
            <a:xfrm>
              <a:off x="4754443" y="4753792"/>
              <a:ext cx="397866" cy="338554"/>
            </a:xfrm>
            <a:prstGeom prst="rect">
              <a:avLst/>
            </a:prstGeom>
            <a:noFill/>
          </p:spPr>
          <p:txBody>
            <a:bodyPr wrap="none" rtlCol="0">
              <a:spAutoFit/>
            </a:bodyPr>
            <a:lstStyle/>
            <a:p>
              <a:r>
                <a:rPr lang="en-US" altLang="zh-CN" sz="1600" b="1" dirty="0" err="1"/>
                <a:t>C</a:t>
              </a:r>
              <a:r>
                <a:rPr lang="en-US" altLang="zh-CN" sz="1600" b="1" baseline="-25000" dirty="0" err="1"/>
                <a:t>in</a:t>
              </a:r>
              <a:endParaRPr lang="zh-CN" altLang="en-US" sz="1600" b="1" baseline="-25000" dirty="0"/>
            </a:p>
          </p:txBody>
        </p:sp>
      </p:grpSp>
    </p:spTree>
    <p:extLst>
      <p:ext uri="{BB962C8B-B14F-4D97-AF65-F5344CB8AC3E}">
        <p14:creationId xmlns:p14="http://schemas.microsoft.com/office/powerpoint/2010/main" val="5210587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018FA-0118-4486-B9AD-3217AB273947}"/>
              </a:ext>
            </a:extLst>
          </p:cNvPr>
          <p:cNvSpPr>
            <a:spLocks noGrp="1"/>
          </p:cNvSpPr>
          <p:nvPr>
            <p:ph type="title"/>
          </p:nvPr>
        </p:nvSpPr>
        <p:spPr>
          <a:xfrm>
            <a:off x="107504" y="110292"/>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285395" y="1417638"/>
            <a:ext cx="4685827" cy="4525963"/>
          </a:xfrm>
        </p:spPr>
        <p:txBody>
          <a:bodyPr/>
          <a:lstStyle/>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（右上角图）：</a:t>
            </a:r>
            <a:endParaRPr lang="en-US" altLang="zh-CN" sz="2000" b="1" dirty="0"/>
          </a:p>
          <a:p>
            <a:pPr lvl="2"/>
            <a:r>
              <a:rPr lang="en-US" altLang="zh-CN" sz="1600" b="1" dirty="0"/>
              <a:t>operation=0</a:t>
            </a:r>
            <a:r>
              <a:rPr lang="zh-CN" altLang="en-US" sz="1600" b="1" dirty="0"/>
              <a:t>，</a:t>
            </a:r>
            <a:r>
              <a:rPr lang="en-US" altLang="zh-CN" sz="1600" b="1" dirty="0"/>
              <a:t>result=a &amp;</a:t>
            </a:r>
            <a:r>
              <a:rPr lang="zh-CN" altLang="en-US" sz="1600" b="1" dirty="0"/>
              <a:t> </a:t>
            </a:r>
            <a:r>
              <a:rPr lang="en-US" altLang="zh-CN" sz="1600" b="1" dirty="0"/>
              <a:t>b</a:t>
            </a:r>
          </a:p>
          <a:p>
            <a:pPr lvl="2"/>
            <a:r>
              <a:rPr lang="en-US" altLang="zh-CN" sz="1600" b="1" dirty="0"/>
              <a:t>operation=1</a:t>
            </a:r>
            <a:r>
              <a:rPr lang="zh-CN" altLang="en-US" sz="1600" b="1" dirty="0"/>
              <a:t>，</a:t>
            </a:r>
            <a:r>
              <a:rPr lang="en-US" altLang="zh-CN" sz="1600" b="1" dirty="0"/>
              <a:t>result=a |</a:t>
            </a:r>
            <a:r>
              <a:rPr lang="zh-CN" altLang="en-US" sz="1600" b="1" dirty="0"/>
              <a:t> </a:t>
            </a:r>
            <a:r>
              <a:rPr lang="en-US" altLang="zh-CN" sz="1600" b="1" dirty="0"/>
              <a:t>b</a:t>
            </a:r>
          </a:p>
          <a:p>
            <a:pPr lvl="2"/>
            <a:r>
              <a:rPr lang="en-US" altLang="zh-CN" sz="1600" b="1" dirty="0"/>
              <a:t>operation=2</a:t>
            </a:r>
            <a:r>
              <a:rPr lang="zh-CN" altLang="en-US" sz="1600" b="1" dirty="0"/>
              <a:t>，</a:t>
            </a:r>
            <a:r>
              <a:rPr lang="en-US" altLang="zh-CN" sz="1600" b="1" dirty="0"/>
              <a:t>result=a + b + </a:t>
            </a:r>
            <a:r>
              <a:rPr lang="en-US" altLang="zh-CN" sz="1600" b="1" dirty="0" err="1"/>
              <a:t>C</a:t>
            </a:r>
            <a:r>
              <a:rPr lang="en-US" altLang="zh-CN" sz="1600" b="1" baseline="-25000" dirty="0" err="1"/>
              <a:t>in</a:t>
            </a:r>
            <a:endParaRPr lang="en-US" altLang="zh-CN" sz="1600" b="1" baseline="-25000" dirty="0"/>
          </a:p>
          <a:p>
            <a:pPr lvl="1"/>
            <a:endParaRPr lang="en-US" altLang="zh-CN" sz="1800" b="1" dirty="0"/>
          </a:p>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（右下角图）：</a:t>
            </a:r>
            <a:endParaRPr lang="en-US" altLang="zh-CN" sz="2000" b="1" dirty="0"/>
          </a:p>
          <a:p>
            <a:pPr lvl="2"/>
            <a:r>
              <a:rPr lang="en-US" altLang="zh-CN" sz="1800" b="1" dirty="0"/>
              <a:t>Sub=0</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a:t>
            </a:r>
          </a:p>
          <a:p>
            <a:pPr lvl="2"/>
            <a:r>
              <a:rPr lang="en-US" altLang="zh-CN" sz="1800" b="1" dirty="0"/>
              <a:t>Sub=1</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 + 1 = a - b</a:t>
            </a:r>
            <a:endParaRPr lang="zh-CN" altLang="en-US" sz="1200" b="1" dirty="0"/>
          </a:p>
        </p:txBody>
      </p:sp>
      <p:pic>
        <p:nvPicPr>
          <p:cNvPr id="5" name="图片 4">
            <a:extLst>
              <a:ext uri="{FF2B5EF4-FFF2-40B4-BE49-F238E27FC236}">
                <a16:creationId xmlns:a16="http://schemas.microsoft.com/office/drawing/2014/main" id="{72DE5A03-250C-4EF7-A594-961E79D03B53}"/>
              </a:ext>
            </a:extLst>
          </p:cNvPr>
          <p:cNvPicPr>
            <a:picLocks noChangeAspect="1"/>
          </p:cNvPicPr>
          <p:nvPr/>
        </p:nvPicPr>
        <p:blipFill>
          <a:blip r:embed="rId2"/>
          <a:stretch>
            <a:fillRect/>
          </a:stretch>
        </p:blipFill>
        <p:spPr>
          <a:xfrm>
            <a:off x="5334941" y="1058068"/>
            <a:ext cx="2935097" cy="2971288"/>
          </a:xfrm>
          <a:prstGeom prst="rect">
            <a:avLst/>
          </a:prstGeom>
        </p:spPr>
      </p:pic>
      <p:grpSp>
        <p:nvGrpSpPr>
          <p:cNvPr id="16" name="组合 15">
            <a:extLst>
              <a:ext uri="{FF2B5EF4-FFF2-40B4-BE49-F238E27FC236}">
                <a16:creationId xmlns:a16="http://schemas.microsoft.com/office/drawing/2014/main" id="{93F627FA-AC66-42A9-800C-F3A2895AEB6D}"/>
              </a:ext>
            </a:extLst>
          </p:cNvPr>
          <p:cNvGrpSpPr/>
          <p:nvPr/>
        </p:nvGrpSpPr>
        <p:grpSpPr>
          <a:xfrm>
            <a:off x="5220072" y="3789040"/>
            <a:ext cx="3456384" cy="2827272"/>
            <a:chOff x="4860032" y="3842088"/>
            <a:chExt cx="3456384" cy="2827272"/>
          </a:xfrm>
        </p:grpSpPr>
        <p:grpSp>
          <p:nvGrpSpPr>
            <p:cNvPr id="14" name="组合 13">
              <a:extLst>
                <a:ext uri="{FF2B5EF4-FFF2-40B4-BE49-F238E27FC236}">
                  <a16:creationId xmlns:a16="http://schemas.microsoft.com/office/drawing/2014/main" id="{A40863EE-6B3E-4361-B06B-604151DDB643}"/>
                </a:ext>
              </a:extLst>
            </p:cNvPr>
            <p:cNvGrpSpPr/>
            <p:nvPr/>
          </p:nvGrpSpPr>
          <p:grpSpPr>
            <a:xfrm>
              <a:off x="4860032" y="3842088"/>
              <a:ext cx="3456384" cy="2827272"/>
              <a:chOff x="4860032" y="3842088"/>
              <a:chExt cx="3456384" cy="2827272"/>
            </a:xfrm>
          </p:grpSpPr>
          <p:grpSp>
            <p:nvGrpSpPr>
              <p:cNvPr id="11" name="组合 10">
                <a:extLst>
                  <a:ext uri="{FF2B5EF4-FFF2-40B4-BE49-F238E27FC236}">
                    <a16:creationId xmlns:a16="http://schemas.microsoft.com/office/drawing/2014/main" id="{080A7533-D484-4CA0-8748-1ADE9160965D}"/>
                  </a:ext>
                </a:extLst>
              </p:cNvPr>
              <p:cNvGrpSpPr/>
              <p:nvPr/>
            </p:nvGrpSpPr>
            <p:grpSpPr>
              <a:xfrm>
                <a:off x="4860032" y="3842088"/>
                <a:ext cx="3456384" cy="2827272"/>
                <a:chOff x="4283968" y="3026943"/>
                <a:chExt cx="4421976" cy="3642418"/>
              </a:xfrm>
            </p:grpSpPr>
            <p:pic>
              <p:nvPicPr>
                <p:cNvPr id="7" name="图片 6">
                  <a:extLst>
                    <a:ext uri="{FF2B5EF4-FFF2-40B4-BE49-F238E27FC236}">
                      <a16:creationId xmlns:a16="http://schemas.microsoft.com/office/drawing/2014/main" id="{5D29A05A-26D3-49D8-9B0A-3182B4DF7F59}"/>
                    </a:ext>
                  </a:extLst>
                </p:cNvPr>
                <p:cNvPicPr>
                  <a:picLocks noChangeAspect="1"/>
                </p:cNvPicPr>
                <p:nvPr/>
              </p:nvPicPr>
              <p:blipFill>
                <a:blip r:embed="rId3"/>
                <a:stretch>
                  <a:fillRect/>
                </a:stretch>
              </p:blipFill>
              <p:spPr>
                <a:xfrm>
                  <a:off x="4283968" y="3026943"/>
                  <a:ext cx="4421976" cy="3642418"/>
                </a:xfrm>
                <a:prstGeom prst="rect">
                  <a:avLst/>
                </a:prstGeom>
              </p:spPr>
            </p:pic>
            <p:pic>
              <p:nvPicPr>
                <p:cNvPr id="9" name="图片 8">
                  <a:extLst>
                    <a:ext uri="{FF2B5EF4-FFF2-40B4-BE49-F238E27FC236}">
                      <a16:creationId xmlns:a16="http://schemas.microsoft.com/office/drawing/2014/main" id="{C4D21F44-7F9F-4A02-9DD9-CDFDA18D579A}"/>
                    </a:ext>
                  </a:extLst>
                </p:cNvPr>
                <p:cNvPicPr>
                  <a:picLocks noChangeAspect="1"/>
                </p:cNvPicPr>
                <p:nvPr/>
              </p:nvPicPr>
              <p:blipFill>
                <a:blip r:embed="rId4"/>
                <a:stretch>
                  <a:fillRect/>
                </a:stretch>
              </p:blipFill>
              <p:spPr>
                <a:xfrm>
                  <a:off x="6985550" y="3368017"/>
                  <a:ext cx="466770" cy="317516"/>
                </a:xfrm>
                <a:prstGeom prst="rect">
                  <a:avLst/>
                </a:prstGeom>
              </p:spPr>
            </p:pic>
            <p:sp>
              <p:nvSpPr>
                <p:cNvPr id="10" name="文本框 9">
                  <a:extLst>
                    <a:ext uri="{FF2B5EF4-FFF2-40B4-BE49-F238E27FC236}">
                      <a16:creationId xmlns:a16="http://schemas.microsoft.com/office/drawing/2014/main" id="{B497B36C-C579-4BB5-8B19-88037D8C0ED3}"/>
                    </a:ext>
                  </a:extLst>
                </p:cNvPr>
                <p:cNvSpPr txBox="1"/>
                <p:nvPr/>
              </p:nvSpPr>
              <p:spPr>
                <a:xfrm>
                  <a:off x="6777267" y="3181416"/>
                  <a:ext cx="295274" cy="584775"/>
                </a:xfrm>
                <a:prstGeom prst="rect">
                  <a:avLst/>
                </a:prstGeom>
                <a:noFill/>
              </p:spPr>
              <p:txBody>
                <a:bodyPr wrap="none" rtlCol="0">
                  <a:spAutoFit/>
                </a:bodyPr>
                <a:lstStyle/>
                <a:p>
                  <a:r>
                    <a:rPr lang="en-US" altLang="zh-CN" sz="3200" b="1" dirty="0"/>
                    <a:t>·</a:t>
                  </a:r>
                  <a:endParaRPr lang="zh-CN" altLang="en-US" sz="3200" b="1" dirty="0"/>
                </a:p>
              </p:txBody>
            </p:sp>
          </p:grpSp>
          <p:pic>
            <p:nvPicPr>
              <p:cNvPr id="13" name="图片 12">
                <a:extLst>
                  <a:ext uri="{FF2B5EF4-FFF2-40B4-BE49-F238E27FC236}">
                    <a16:creationId xmlns:a16="http://schemas.microsoft.com/office/drawing/2014/main" id="{F37763D3-17E9-4CFD-90D3-215331E4569E}"/>
                  </a:ext>
                </a:extLst>
              </p:cNvPr>
              <p:cNvPicPr>
                <a:picLocks noChangeAspect="1"/>
              </p:cNvPicPr>
              <p:nvPr/>
            </p:nvPicPr>
            <p:blipFill>
              <a:blip r:embed="rId5"/>
              <a:stretch>
                <a:fillRect/>
              </a:stretch>
            </p:blipFill>
            <p:spPr>
              <a:xfrm>
                <a:off x="6728442" y="3939923"/>
                <a:ext cx="323696" cy="294269"/>
              </a:xfrm>
              <a:prstGeom prst="rect">
                <a:avLst/>
              </a:prstGeom>
            </p:spPr>
          </p:pic>
        </p:grpSp>
        <p:sp>
          <p:nvSpPr>
            <p:cNvPr id="15" name="文本框 14">
              <a:extLst>
                <a:ext uri="{FF2B5EF4-FFF2-40B4-BE49-F238E27FC236}">
                  <a16:creationId xmlns:a16="http://schemas.microsoft.com/office/drawing/2014/main" id="{1A1C2657-76CD-4C3F-B024-7E88A79E21C6}"/>
                </a:ext>
              </a:extLst>
            </p:cNvPr>
            <p:cNvSpPr txBox="1"/>
            <p:nvPr/>
          </p:nvSpPr>
          <p:spPr>
            <a:xfrm>
              <a:off x="6290514" y="5301208"/>
              <a:ext cx="346570" cy="276999"/>
            </a:xfrm>
            <a:prstGeom prst="rect">
              <a:avLst/>
            </a:prstGeom>
            <a:noFill/>
          </p:spPr>
          <p:txBody>
            <a:bodyPr wrap="none" rtlCol="0">
              <a:spAutoFit/>
            </a:bodyPr>
            <a:lstStyle/>
            <a:p>
              <a:r>
                <a:rPr lang="en-US" altLang="zh-CN" sz="1200" b="1" dirty="0" err="1"/>
                <a:t>C</a:t>
              </a:r>
              <a:r>
                <a:rPr lang="en-US" altLang="zh-CN" sz="1200" b="1" baseline="-25000" dirty="0" err="1"/>
                <a:t>in</a:t>
              </a:r>
              <a:endParaRPr lang="zh-CN" altLang="en-US" sz="1200" b="1" baseline="-25000" dirty="0"/>
            </a:p>
          </p:txBody>
        </p:sp>
      </p:grpSp>
    </p:spTree>
    <p:extLst>
      <p:ext uri="{BB962C8B-B14F-4D97-AF65-F5344CB8AC3E}">
        <p14:creationId xmlns:p14="http://schemas.microsoft.com/office/powerpoint/2010/main" val="14621191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0E50A-7E6D-4498-B26C-123803C0B97C}"/>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b="1"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539552" y="1438074"/>
            <a:ext cx="8229600" cy="4525963"/>
          </a:xfrm>
        </p:spPr>
        <p:txBody>
          <a:bodyPr/>
          <a:lstStyle/>
          <a:p>
            <a:pPr lvl="2" eaLnBrk="1" hangingPunct="1"/>
            <a:r>
              <a:rPr lang="zh-CN" altLang="en-US" b="1" dirty="0"/>
              <a:t>（</a:t>
            </a:r>
            <a:r>
              <a:rPr lang="en-US" altLang="zh-CN" b="1" dirty="0"/>
              <a:t>2</a:t>
            </a:r>
            <a:r>
              <a:rPr lang="zh-CN" altLang="en-US" b="1" dirty="0"/>
              <a:t>）通用寄存器组</a:t>
            </a:r>
            <a:endParaRPr lang="en-US" altLang="zh-CN" b="1" dirty="0"/>
          </a:p>
          <a:p>
            <a:pPr lvl="3" eaLnBrk="1" hangingPunct="1"/>
            <a:endParaRPr lang="en-US" altLang="zh-CN" sz="1800" b="1" dirty="0"/>
          </a:p>
          <a:p>
            <a:pPr lvl="3" eaLnBrk="1" hangingPunct="1"/>
            <a:r>
              <a:rPr lang="zh-CN" altLang="en-US" sz="1800" b="1" dirty="0"/>
              <a:t>也称为通用寄存器堆</a:t>
            </a:r>
            <a:endParaRPr lang="en-US" altLang="zh-CN" sz="1800" b="1" dirty="0"/>
          </a:p>
          <a:p>
            <a:pPr lvl="2" eaLnBrk="1" hangingPunct="1"/>
            <a:endParaRPr lang="en-US" altLang="zh-CN" b="1" dirty="0"/>
          </a:p>
          <a:p>
            <a:pPr lvl="2" eaLnBrk="1" hangingPunct="1"/>
            <a:r>
              <a:rPr lang="zh-CN" altLang="en-US" b="1" dirty="0"/>
              <a:t>（</a:t>
            </a:r>
            <a:r>
              <a:rPr lang="en-US" altLang="zh-CN" b="1" dirty="0"/>
              <a:t>3</a:t>
            </a:r>
            <a:r>
              <a:rPr lang="zh-CN" altLang="en-US" b="1" dirty="0"/>
              <a:t>）输入、输出数据选择控制</a:t>
            </a:r>
            <a:endParaRPr lang="en-US" altLang="zh-CN" b="1" dirty="0"/>
          </a:p>
          <a:p>
            <a:pPr lvl="3" eaLnBrk="1" hangingPunct="1"/>
            <a:endParaRPr lang="en-US" altLang="zh-CN" sz="1800" b="1" dirty="0"/>
          </a:p>
          <a:p>
            <a:pPr lvl="3" eaLnBrk="1" hangingPunct="1"/>
            <a:r>
              <a:rPr lang="zh-CN" altLang="en-US" sz="1800" b="1" dirty="0"/>
              <a:t>多路选择器（</a:t>
            </a:r>
            <a:r>
              <a:rPr lang="en-US" altLang="zh-CN" sz="1800" b="1" dirty="0"/>
              <a:t>MUX</a:t>
            </a:r>
            <a:r>
              <a:rPr lang="zh-CN" altLang="en-US" sz="1800" b="1" dirty="0"/>
              <a:t>）</a:t>
            </a:r>
            <a:endParaRPr lang="en-US" altLang="zh-CN" sz="1800" b="1" dirty="0"/>
          </a:p>
          <a:p>
            <a:pPr lvl="3" eaLnBrk="1" hangingPunct="1"/>
            <a:endParaRPr lang="en-US" altLang="zh-CN" sz="1800" b="1" dirty="0"/>
          </a:p>
          <a:p>
            <a:pPr lvl="2" eaLnBrk="1" hangingPunct="1"/>
            <a:r>
              <a:rPr lang="zh-CN" altLang="en-US" b="1" dirty="0"/>
              <a:t>（</a:t>
            </a:r>
            <a:r>
              <a:rPr lang="en-US" altLang="zh-CN" b="1" dirty="0"/>
              <a:t>4</a:t>
            </a:r>
            <a:r>
              <a:rPr lang="zh-CN" altLang="en-US" b="1" dirty="0"/>
              <a:t>）内部总线</a:t>
            </a:r>
            <a:endParaRPr lang="en-US" altLang="zh-CN" b="1" dirty="0"/>
          </a:p>
          <a:p>
            <a:pPr lvl="3" eaLnBrk="1" hangingPunct="1"/>
            <a:endParaRPr lang="en-US" altLang="zh-CN" sz="1800" b="1" dirty="0"/>
          </a:p>
          <a:p>
            <a:pPr lvl="3" eaLnBrk="1" hangingPunct="1"/>
            <a:r>
              <a:rPr lang="en-US" altLang="zh-CN" sz="1800" b="1" dirty="0"/>
              <a:t>IB</a:t>
            </a:r>
            <a:r>
              <a:rPr lang="zh-CN" altLang="en-US" sz="1800" b="1" dirty="0"/>
              <a:t>：</a:t>
            </a:r>
            <a:r>
              <a:rPr lang="en-US" altLang="zh-CN" sz="1800" b="1" dirty="0"/>
              <a:t>Internal Bus</a:t>
            </a:r>
            <a:endParaRPr lang="zh-CN" altLang="en-US" sz="1800" b="1" dirty="0"/>
          </a:p>
        </p:txBody>
      </p:sp>
    </p:spTree>
    <p:extLst>
      <p:ext uri="{BB962C8B-B14F-4D97-AF65-F5344CB8AC3E}">
        <p14:creationId xmlns:p14="http://schemas.microsoft.com/office/powerpoint/2010/main" val="29516182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06EA213D-3567-47FB-987A-D8F8F46D5AD9}"/>
              </a:ext>
            </a:extLst>
          </p:cNvPr>
          <p:cNvGrpSpPr/>
          <p:nvPr/>
        </p:nvGrpSpPr>
        <p:grpSpPr>
          <a:xfrm>
            <a:off x="4432903" y="4174088"/>
            <a:ext cx="4248472" cy="2245185"/>
            <a:chOff x="3851920" y="4059694"/>
            <a:chExt cx="5148064" cy="2520341"/>
          </a:xfrm>
        </p:grpSpPr>
        <p:grpSp>
          <p:nvGrpSpPr>
            <p:cNvPr id="20" name="组合 19">
              <a:extLst>
                <a:ext uri="{FF2B5EF4-FFF2-40B4-BE49-F238E27FC236}">
                  <a16:creationId xmlns:a16="http://schemas.microsoft.com/office/drawing/2014/main" id="{390F574A-143A-4303-ADFB-695CC139606C}"/>
                </a:ext>
              </a:extLst>
            </p:cNvPr>
            <p:cNvGrpSpPr/>
            <p:nvPr/>
          </p:nvGrpSpPr>
          <p:grpSpPr>
            <a:xfrm>
              <a:off x="3851920" y="4059694"/>
              <a:ext cx="5148064" cy="2520341"/>
              <a:chOff x="3851920" y="4059694"/>
              <a:chExt cx="5148064" cy="2520341"/>
            </a:xfrm>
          </p:grpSpPr>
          <p:grpSp>
            <p:nvGrpSpPr>
              <p:cNvPr id="17" name="组合 16">
                <a:extLst>
                  <a:ext uri="{FF2B5EF4-FFF2-40B4-BE49-F238E27FC236}">
                    <a16:creationId xmlns:a16="http://schemas.microsoft.com/office/drawing/2014/main" id="{F190714B-D1F4-4054-A866-3B39E005DBD0}"/>
                  </a:ext>
                </a:extLst>
              </p:cNvPr>
              <p:cNvGrpSpPr/>
              <p:nvPr/>
            </p:nvGrpSpPr>
            <p:grpSpPr>
              <a:xfrm>
                <a:off x="3851920" y="4059694"/>
                <a:ext cx="5148064" cy="2520341"/>
                <a:chOff x="3707904" y="4059694"/>
                <a:chExt cx="5148064" cy="2520341"/>
              </a:xfrm>
            </p:grpSpPr>
            <p:grpSp>
              <p:nvGrpSpPr>
                <p:cNvPr id="9" name="组合 8">
                  <a:extLst>
                    <a:ext uri="{FF2B5EF4-FFF2-40B4-BE49-F238E27FC236}">
                      <a16:creationId xmlns:a16="http://schemas.microsoft.com/office/drawing/2014/main" id="{FA556924-A401-496B-8EF6-DA0F22122C3A}"/>
                    </a:ext>
                  </a:extLst>
                </p:cNvPr>
                <p:cNvGrpSpPr/>
                <p:nvPr/>
              </p:nvGrpSpPr>
              <p:grpSpPr>
                <a:xfrm>
                  <a:off x="3707904" y="4059694"/>
                  <a:ext cx="5148064" cy="2520341"/>
                  <a:chOff x="1835696" y="3717032"/>
                  <a:chExt cx="5148064" cy="2520341"/>
                </a:xfrm>
              </p:grpSpPr>
              <p:pic>
                <p:nvPicPr>
                  <p:cNvPr id="6" name="图片 5">
                    <a:extLst>
                      <a:ext uri="{FF2B5EF4-FFF2-40B4-BE49-F238E27FC236}">
                        <a16:creationId xmlns:a16="http://schemas.microsoft.com/office/drawing/2014/main" id="{C7CE50AA-CF3F-4C64-83ED-81BE9FD957DD}"/>
                      </a:ext>
                    </a:extLst>
                  </p:cNvPr>
                  <p:cNvPicPr>
                    <a:picLocks noChangeAspect="1"/>
                  </p:cNvPicPr>
                  <p:nvPr/>
                </p:nvPicPr>
                <p:blipFill>
                  <a:blip r:embed="rId2"/>
                  <a:stretch>
                    <a:fillRect/>
                  </a:stretch>
                </p:blipFill>
                <p:spPr>
                  <a:xfrm>
                    <a:off x="2123728" y="3822963"/>
                    <a:ext cx="4860032" cy="2414410"/>
                  </a:xfrm>
                  <a:prstGeom prst="rect">
                    <a:avLst/>
                  </a:prstGeom>
                </p:spPr>
              </p:pic>
              <p:pic>
                <p:nvPicPr>
                  <p:cNvPr id="8" name="图片 7">
                    <a:extLst>
                      <a:ext uri="{FF2B5EF4-FFF2-40B4-BE49-F238E27FC236}">
                        <a16:creationId xmlns:a16="http://schemas.microsoft.com/office/drawing/2014/main" id="{C79F3160-4D89-4F0D-B555-02F28549D62C}"/>
                      </a:ext>
                    </a:extLst>
                  </p:cNvPr>
                  <p:cNvPicPr>
                    <a:picLocks noChangeAspect="1"/>
                  </p:cNvPicPr>
                  <p:nvPr/>
                </p:nvPicPr>
                <p:blipFill>
                  <a:blip r:embed="rId3"/>
                  <a:stretch>
                    <a:fillRect/>
                  </a:stretch>
                </p:blipFill>
                <p:spPr>
                  <a:xfrm>
                    <a:off x="1835696" y="3717032"/>
                    <a:ext cx="2304256" cy="457223"/>
                  </a:xfrm>
                  <a:prstGeom prst="rect">
                    <a:avLst/>
                  </a:prstGeom>
                </p:spPr>
              </p:pic>
            </p:grpSp>
            <p:sp>
              <p:nvSpPr>
                <p:cNvPr id="11" name="等腰三角形 10">
                  <a:extLst>
                    <a:ext uri="{FF2B5EF4-FFF2-40B4-BE49-F238E27FC236}">
                      <a16:creationId xmlns:a16="http://schemas.microsoft.com/office/drawing/2014/main" id="{0AC705B0-042A-4241-81CA-7C8098EEC2E8}"/>
                    </a:ext>
                  </a:extLst>
                </p:cNvPr>
                <p:cNvSpPr/>
                <p:nvPr/>
              </p:nvSpPr>
              <p:spPr>
                <a:xfrm rot="10800000">
                  <a:off x="7901729" y="5085184"/>
                  <a:ext cx="72008" cy="7200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A0C9986-5FD9-433F-A169-77FE2D052BE4}"/>
                  </a:ext>
                </a:extLst>
              </p:cNvPr>
              <p:cNvPicPr>
                <a:picLocks noChangeAspect="1"/>
              </p:cNvPicPr>
              <p:nvPr/>
            </p:nvPicPr>
            <p:blipFill>
              <a:blip r:embed="rId4"/>
              <a:stretch>
                <a:fillRect/>
              </a:stretch>
            </p:blipFill>
            <p:spPr>
              <a:xfrm>
                <a:off x="5502317" y="5418247"/>
                <a:ext cx="137820" cy="188354"/>
              </a:xfrm>
              <a:prstGeom prst="rect">
                <a:avLst/>
              </a:prstGeom>
            </p:spPr>
          </p:pic>
        </p:grpSp>
        <p:pic>
          <p:nvPicPr>
            <p:cNvPr id="22" name="图片 21">
              <a:extLst>
                <a:ext uri="{FF2B5EF4-FFF2-40B4-BE49-F238E27FC236}">
                  <a16:creationId xmlns:a16="http://schemas.microsoft.com/office/drawing/2014/main" id="{3AF43779-5172-42E4-87D3-CAB309589B2D}"/>
                </a:ext>
              </a:extLst>
            </p:cNvPr>
            <p:cNvPicPr>
              <a:picLocks noChangeAspect="1"/>
            </p:cNvPicPr>
            <p:nvPr/>
          </p:nvPicPr>
          <p:blipFill>
            <a:blip r:embed="rId5"/>
            <a:stretch>
              <a:fillRect/>
            </a:stretch>
          </p:blipFill>
          <p:spPr>
            <a:xfrm>
              <a:off x="6563133" y="5427863"/>
              <a:ext cx="163320" cy="168124"/>
            </a:xfrm>
            <a:prstGeom prst="rect">
              <a:avLst/>
            </a:prstGeom>
          </p:spPr>
        </p:pic>
      </p:grpSp>
      <p:sp>
        <p:nvSpPr>
          <p:cNvPr id="2" name="标题 1">
            <a:extLst>
              <a:ext uri="{FF2B5EF4-FFF2-40B4-BE49-F238E27FC236}">
                <a16:creationId xmlns:a16="http://schemas.microsoft.com/office/drawing/2014/main" id="{FEF84AA2-3AC1-4EA4-9001-C101BBD19452}"/>
              </a:ext>
            </a:extLst>
          </p:cNvPr>
          <p:cNvSpPr>
            <a:spLocks noGrp="1"/>
          </p:cNvSpPr>
          <p:nvPr>
            <p:ph type="title"/>
          </p:nvPr>
        </p:nvSpPr>
        <p:spPr>
          <a:xfrm>
            <a:off x="451775" y="92827"/>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272006" y="1009442"/>
            <a:ext cx="8435279" cy="3239281"/>
          </a:xfrm>
        </p:spPr>
        <p:txBody>
          <a:bodyPr/>
          <a:lstStyle/>
          <a:p>
            <a:pPr lvl="1" eaLnBrk="1" hangingPunct="1"/>
            <a:r>
              <a:rPr lang="en-US" altLang="zh-CN" sz="2000" b="1" dirty="0"/>
              <a:t>2</a:t>
            </a:r>
            <a:r>
              <a:rPr lang="zh-CN" altLang="en-US" sz="2000" b="1" dirty="0"/>
              <a:t>、运算器的基本结构</a:t>
            </a:r>
            <a:endParaRPr lang="en-US" altLang="zh-CN" sz="2000" b="1" dirty="0"/>
          </a:p>
          <a:p>
            <a:pPr lvl="2" eaLnBrk="1" hangingPunct="1"/>
            <a:r>
              <a:rPr lang="zh-CN" altLang="en-US" sz="1800" b="1" dirty="0"/>
              <a:t>（</a:t>
            </a:r>
            <a:r>
              <a:rPr lang="en-US" altLang="zh-CN" sz="1800" b="1" dirty="0"/>
              <a:t>1</a:t>
            </a:r>
            <a:r>
              <a:rPr lang="zh-CN" altLang="en-US" sz="1800" b="1" dirty="0"/>
              <a:t>）单总线结构运算器</a:t>
            </a:r>
            <a:endParaRPr lang="en-US" altLang="zh-CN" sz="1800" b="1" dirty="0"/>
          </a:p>
          <a:p>
            <a:pPr lvl="3" eaLnBrk="1" hangingPunct="1"/>
            <a:r>
              <a:rPr lang="en-US" altLang="zh-CN" sz="1400" b="1" dirty="0"/>
              <a:t>LA</a:t>
            </a:r>
            <a:r>
              <a:rPr lang="zh-CN" altLang="en-US" sz="1400" b="1" dirty="0"/>
              <a:t>、</a:t>
            </a:r>
            <a:r>
              <a:rPr lang="en-US" altLang="zh-CN" sz="1400" b="1" dirty="0"/>
              <a:t>LB</a:t>
            </a:r>
            <a:r>
              <a:rPr lang="zh-CN" altLang="en-US" sz="1400" b="1" dirty="0"/>
              <a:t>：缓冲寄存器（缓冲器）</a:t>
            </a:r>
            <a:endParaRPr lang="en-US" altLang="zh-CN" sz="1400" b="1" dirty="0"/>
          </a:p>
          <a:p>
            <a:pPr lvl="3" eaLnBrk="1" hangingPunct="1"/>
            <a:r>
              <a:rPr lang="en-US" altLang="zh-CN" sz="1400" b="1" dirty="0"/>
              <a:t>IB</a:t>
            </a:r>
            <a:r>
              <a:rPr lang="zh-CN" altLang="en-US" sz="1400" b="1" dirty="0"/>
              <a:t>：内部总线</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zh-CN" altLang="en-US" sz="1400" b="1" dirty="0">
                <a:solidFill>
                  <a:srgbClr val="C00000"/>
                </a:solidFill>
              </a:rPr>
              <a:t>①</a:t>
            </a:r>
            <a:r>
              <a:rPr lang="zh-CN" altLang="en-US" sz="1400" b="1" dirty="0"/>
              <a:t>：</a:t>
            </a:r>
            <a:r>
              <a:rPr lang="en-US" altLang="zh-CN" sz="1400" b="1" dirty="0"/>
              <a:t>R</a:t>
            </a:r>
            <a:r>
              <a:rPr lang="en-US" altLang="zh-CN" sz="1400" b="1" baseline="-25000" dirty="0"/>
              <a:t>0</a:t>
            </a:r>
            <a:r>
              <a:rPr lang="zh-CN" altLang="en-US" sz="1400" b="1" dirty="0"/>
              <a:t>从通用寄存器经过内部总线</a:t>
            </a:r>
            <a:r>
              <a:rPr lang="en-US" altLang="zh-CN" sz="1400" b="1" dirty="0"/>
              <a:t>IB</a:t>
            </a:r>
            <a:r>
              <a:rPr lang="zh-CN" altLang="en-US" sz="1400" b="1" dirty="0"/>
              <a:t>送</a:t>
            </a:r>
            <a:r>
              <a:rPr lang="en-US" altLang="zh-CN" sz="1400" b="1" dirty="0"/>
              <a:t>LA</a:t>
            </a:r>
            <a:r>
              <a:rPr lang="zh-CN" altLang="en-US" sz="1400" b="1" dirty="0"/>
              <a:t>，再送</a:t>
            </a:r>
            <a:r>
              <a:rPr lang="en-US" altLang="zh-CN" sz="1400" b="1" dirty="0"/>
              <a:t>A</a:t>
            </a:r>
          </a:p>
          <a:p>
            <a:pPr lvl="4" eaLnBrk="1" hangingPunct="1"/>
            <a:r>
              <a:rPr lang="en-US" altLang="zh-CN" sz="1400" b="1" dirty="0"/>
              <a:t>R</a:t>
            </a:r>
            <a:r>
              <a:rPr lang="en-US" altLang="zh-CN" sz="1400" b="1" baseline="-25000" dirty="0"/>
              <a:t>0</a:t>
            </a:r>
            <a:r>
              <a:rPr lang="en-US" altLang="zh-CN" sz="1400" b="1" dirty="0"/>
              <a:t>-&gt;IB</a:t>
            </a:r>
            <a:r>
              <a:rPr lang="zh-CN" altLang="en-US" sz="1400" b="1" dirty="0"/>
              <a:t>，</a:t>
            </a:r>
            <a:r>
              <a:rPr lang="en-US" altLang="zh-CN" sz="1400" b="1" dirty="0"/>
              <a:t>IB-&gt;LA</a:t>
            </a:r>
          </a:p>
          <a:p>
            <a:pPr lvl="3" eaLnBrk="1" hangingPunct="1"/>
            <a:r>
              <a:rPr lang="zh-CN" altLang="en-US" sz="1400" b="1" dirty="0"/>
              <a:t>第</a:t>
            </a:r>
            <a:r>
              <a:rPr lang="en-US" altLang="zh-CN" sz="1400" b="1" dirty="0"/>
              <a:t>2</a:t>
            </a:r>
            <a:r>
              <a:rPr lang="zh-CN" altLang="en-US" sz="1400" b="1" dirty="0"/>
              <a:t>个时钟周期</a:t>
            </a:r>
            <a:r>
              <a:rPr lang="zh-CN" altLang="en-US" sz="1400" b="1" dirty="0">
                <a:solidFill>
                  <a:srgbClr val="C00000"/>
                </a:solidFill>
              </a:rPr>
              <a:t>②</a:t>
            </a:r>
            <a:r>
              <a:rPr lang="zh-CN" altLang="en-US" sz="1400" b="1" dirty="0"/>
              <a:t>：</a:t>
            </a:r>
            <a:r>
              <a:rPr lang="en-US" altLang="zh-CN" sz="1400" b="1" dirty="0"/>
              <a:t>R</a:t>
            </a:r>
            <a:r>
              <a:rPr lang="en-US" altLang="zh-CN" sz="1400" b="1" baseline="-25000" dirty="0"/>
              <a:t>1</a:t>
            </a:r>
            <a:r>
              <a:rPr lang="zh-CN" altLang="en-US" sz="1400" b="1" dirty="0"/>
              <a:t>从通用寄存器经过内部总线</a:t>
            </a:r>
            <a:r>
              <a:rPr lang="en-US" altLang="zh-CN" sz="1400" b="1" dirty="0"/>
              <a:t>IB</a:t>
            </a:r>
            <a:r>
              <a:rPr lang="zh-CN" altLang="en-US" sz="1400" b="1" dirty="0"/>
              <a:t>送</a:t>
            </a:r>
            <a:r>
              <a:rPr lang="en-US" altLang="zh-CN" sz="1400" b="1" dirty="0"/>
              <a:t>LB</a:t>
            </a:r>
            <a:r>
              <a:rPr lang="zh-CN" altLang="en-US" sz="1400" b="1" dirty="0"/>
              <a:t>，再送</a:t>
            </a:r>
            <a:r>
              <a:rPr lang="en-US" altLang="zh-CN" sz="1400" b="1" dirty="0"/>
              <a:t>B</a:t>
            </a:r>
          </a:p>
          <a:p>
            <a:pPr lvl="4" eaLnBrk="1" hangingPunct="1"/>
            <a:r>
              <a:rPr lang="en-US" altLang="zh-CN" sz="1400" b="1" dirty="0"/>
              <a:t>R</a:t>
            </a:r>
            <a:r>
              <a:rPr lang="en-US" altLang="zh-CN" sz="1400" b="1" baseline="-25000" dirty="0"/>
              <a:t>1</a:t>
            </a:r>
            <a:r>
              <a:rPr lang="en-US" altLang="zh-CN" sz="1400" b="1" dirty="0"/>
              <a:t>-&gt;IB</a:t>
            </a:r>
            <a:r>
              <a:rPr lang="zh-CN" altLang="en-US" sz="1400" b="1" dirty="0"/>
              <a:t>，</a:t>
            </a:r>
            <a:r>
              <a:rPr lang="en-US" altLang="zh-CN" sz="1400" b="1" dirty="0"/>
              <a:t>IB-&gt;LB</a:t>
            </a:r>
          </a:p>
          <a:p>
            <a:pPr lvl="3" eaLnBrk="1" hangingPunct="1"/>
            <a:r>
              <a:rPr lang="zh-CN" altLang="en-US" sz="1400" b="1" dirty="0"/>
              <a:t>第</a:t>
            </a:r>
            <a:r>
              <a:rPr lang="en-US" altLang="zh-CN" sz="1400" b="1" dirty="0"/>
              <a:t>3</a:t>
            </a:r>
            <a:r>
              <a:rPr lang="zh-CN" altLang="en-US" sz="1400" b="1" dirty="0"/>
              <a:t>个时钟周期</a:t>
            </a:r>
            <a:r>
              <a:rPr lang="zh-CN" altLang="en-US" sz="1400" b="1" dirty="0">
                <a:solidFill>
                  <a:srgbClr val="C00000"/>
                </a:solidFill>
              </a:rPr>
              <a:t>③</a:t>
            </a:r>
            <a:r>
              <a:rPr lang="zh-CN" altLang="en-US" sz="1400" b="1" dirty="0"/>
              <a:t>：计算</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a:t>
            </a:r>
            <a:r>
              <a:rPr lang="zh-CN" altLang="en-US" sz="1400" b="1" dirty="0"/>
              <a:t>，并将运算结果经过内部总线</a:t>
            </a:r>
            <a:r>
              <a:rPr lang="en-US" altLang="zh-CN" sz="1400" b="1" dirty="0"/>
              <a:t>IB</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 </a:t>
            </a:r>
            <a:r>
              <a:rPr lang="en-US" altLang="zh-CN" sz="1400" b="1" dirty="0" err="1"/>
              <a:t>AluOP</a:t>
            </a:r>
            <a:r>
              <a:rPr lang="en-US" altLang="zh-CN" sz="1400" b="1" dirty="0"/>
              <a:t>=ADD</a:t>
            </a:r>
            <a:r>
              <a:rPr lang="zh-CN" altLang="en-US" sz="1400" b="1" dirty="0"/>
              <a:t>，</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 -&gt; IB</a:t>
            </a:r>
            <a:r>
              <a:rPr lang="zh-CN" altLang="en-US" sz="1400" b="1" dirty="0"/>
              <a:t>，</a:t>
            </a:r>
            <a:r>
              <a:rPr lang="en-US" altLang="zh-CN" sz="1400" b="1" dirty="0"/>
              <a:t>IB -&gt; R</a:t>
            </a:r>
            <a:r>
              <a:rPr lang="en-US" altLang="zh-CN" sz="1400" b="1" baseline="-25000" dirty="0"/>
              <a:t>0</a:t>
            </a:r>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p:txBody>
      </p:sp>
      <p:pic>
        <p:nvPicPr>
          <p:cNvPr id="10" name="图片 9">
            <a:extLst>
              <a:ext uri="{FF2B5EF4-FFF2-40B4-BE49-F238E27FC236}">
                <a16:creationId xmlns:a16="http://schemas.microsoft.com/office/drawing/2014/main" id="{84DABE9D-3AFC-482C-85DE-545AA3E59C4D}"/>
              </a:ext>
            </a:extLst>
          </p:cNvPr>
          <p:cNvPicPr>
            <a:picLocks noChangeAspect="1"/>
          </p:cNvPicPr>
          <p:nvPr/>
        </p:nvPicPr>
        <p:blipFill>
          <a:blip r:embed="rId6"/>
          <a:stretch>
            <a:fillRect/>
          </a:stretch>
        </p:blipFill>
        <p:spPr>
          <a:xfrm>
            <a:off x="636298" y="4549255"/>
            <a:ext cx="3957304" cy="1832134"/>
          </a:xfrm>
          <a:prstGeom prst="rect">
            <a:avLst/>
          </a:prstGeom>
        </p:spPr>
      </p:pic>
      <p:sp>
        <p:nvSpPr>
          <p:cNvPr id="13" name="文本框 12">
            <a:extLst>
              <a:ext uri="{FF2B5EF4-FFF2-40B4-BE49-F238E27FC236}">
                <a16:creationId xmlns:a16="http://schemas.microsoft.com/office/drawing/2014/main" id="{484F839F-BFB8-4BAF-88C2-5D84DEEBA1A2}"/>
              </a:ext>
            </a:extLst>
          </p:cNvPr>
          <p:cNvSpPr txBox="1"/>
          <p:nvPr/>
        </p:nvSpPr>
        <p:spPr>
          <a:xfrm>
            <a:off x="2987824" y="6525344"/>
            <a:ext cx="3168352" cy="307777"/>
          </a:xfrm>
          <a:prstGeom prst="rect">
            <a:avLst/>
          </a:prstGeom>
          <a:noFill/>
        </p:spPr>
        <p:txBody>
          <a:bodyPr wrap="square">
            <a:spAutoFit/>
          </a:bodyPr>
          <a:lstStyle/>
          <a:p>
            <a:r>
              <a:rPr lang="zh-CN" altLang="en-US" sz="1400" b="1" dirty="0"/>
              <a:t>图</a:t>
            </a:r>
            <a:r>
              <a:rPr lang="en-US" altLang="zh-CN" sz="1400" b="1" dirty="0"/>
              <a:t>3.20    </a:t>
            </a:r>
            <a:r>
              <a:rPr lang="zh-CN" altLang="en-US" sz="1400" b="1" dirty="0"/>
              <a:t>单总线结构运算器</a:t>
            </a:r>
            <a:endParaRPr lang="zh-CN" altLang="en-US" sz="1400" dirty="0"/>
          </a:p>
        </p:txBody>
      </p:sp>
    </p:spTree>
    <p:extLst>
      <p:ext uri="{BB962C8B-B14F-4D97-AF65-F5344CB8AC3E}">
        <p14:creationId xmlns:p14="http://schemas.microsoft.com/office/powerpoint/2010/main" val="42842737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C24DA-53C1-4B9B-841C-5D5D75D12779}"/>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196075" y="1268760"/>
            <a:ext cx="4447934" cy="5112568"/>
          </a:xfrm>
        </p:spPr>
        <p:txBody>
          <a:bodyPr/>
          <a:lstStyle/>
          <a:p>
            <a:pPr eaLnBrk="1" hangingPunct="1"/>
            <a:r>
              <a:rPr lang="zh-CN" altLang="en-US" sz="1800" b="1" dirty="0"/>
              <a:t>（</a:t>
            </a:r>
            <a:r>
              <a:rPr lang="en-US" altLang="zh-CN" sz="1800" b="1" dirty="0"/>
              <a:t>2</a:t>
            </a:r>
            <a:r>
              <a:rPr lang="zh-CN" altLang="en-US" sz="1800" b="1" dirty="0"/>
              <a:t>）双总线结构运算器</a:t>
            </a:r>
            <a:endParaRPr lang="en-US" altLang="zh-CN" sz="1800" b="1" dirty="0"/>
          </a:p>
          <a:p>
            <a:pPr lvl="1" eaLnBrk="1" hangingPunct="1"/>
            <a:r>
              <a:rPr lang="en-US" altLang="zh-CN" sz="1600" b="1" dirty="0"/>
              <a:t>L</a:t>
            </a:r>
            <a:r>
              <a:rPr lang="zh-CN" altLang="en-US" sz="1600" b="1" dirty="0"/>
              <a:t>：缓冲寄存器（缓冲器）</a:t>
            </a:r>
            <a:endParaRPr lang="en-US" altLang="zh-CN" sz="1600" b="1" dirty="0"/>
          </a:p>
          <a:p>
            <a:pPr lvl="1" eaLnBrk="1" hangingPunct="1"/>
            <a:r>
              <a:rPr lang="en-US" altLang="zh-CN" sz="1600" b="1" dirty="0"/>
              <a:t>IB1</a:t>
            </a:r>
            <a:r>
              <a:rPr lang="zh-CN" altLang="en-US" sz="1600" b="1" dirty="0"/>
              <a:t>：内部总线</a:t>
            </a:r>
            <a:r>
              <a:rPr lang="en-US" altLang="zh-CN" sz="1600" b="1" dirty="0"/>
              <a:t>1</a:t>
            </a:r>
          </a:p>
          <a:p>
            <a:pPr lvl="1" eaLnBrk="1" hangingPunct="1"/>
            <a:r>
              <a:rPr lang="en-US" altLang="zh-CN" sz="1600" b="1" dirty="0"/>
              <a:t>IB2</a:t>
            </a:r>
            <a:r>
              <a:rPr lang="zh-CN" altLang="en-US" sz="1600" b="1" dirty="0"/>
              <a:t>：内部总线</a:t>
            </a:r>
            <a:r>
              <a:rPr lang="en-US" altLang="zh-CN" sz="1600" b="1" dirty="0"/>
              <a:t>2</a:t>
            </a:r>
          </a:p>
          <a:p>
            <a:pPr lvl="1" eaLnBrk="1" hangingPunct="1"/>
            <a:r>
              <a:rPr lang="zh-CN" altLang="en-US" sz="1600" b="1" dirty="0"/>
              <a:t>通用寄存器堆有</a:t>
            </a:r>
            <a:r>
              <a:rPr lang="en-US" altLang="zh-CN" sz="1600" b="1" dirty="0"/>
              <a:t>2</a:t>
            </a:r>
            <a:r>
              <a:rPr lang="zh-CN" altLang="en-US" sz="1600" b="1" dirty="0"/>
              <a:t>个输出端、</a:t>
            </a:r>
            <a:r>
              <a:rPr lang="en-US" altLang="zh-CN" sz="1600" b="1" dirty="0"/>
              <a:t>1</a:t>
            </a:r>
            <a:r>
              <a:rPr lang="zh-CN" altLang="en-US" sz="1600" b="1" dirty="0"/>
              <a:t>个输入端</a:t>
            </a:r>
            <a:endParaRPr lang="en-US" altLang="zh-CN" sz="1600" b="1" dirty="0"/>
          </a:p>
          <a:p>
            <a:pPr lvl="1" eaLnBrk="1" hangingPunct="1"/>
            <a:endParaRPr lang="en-US" altLang="zh-CN" sz="1600" b="1" dirty="0"/>
          </a:p>
          <a:p>
            <a:pPr lvl="1" eaLnBrk="1" hangingPunct="1"/>
            <a:r>
              <a:rPr lang="zh-CN" altLang="en-US" sz="1600" b="1" dirty="0"/>
              <a:t>例如：</a:t>
            </a:r>
            <a:r>
              <a:rPr lang="en-US" altLang="zh-CN" sz="1600" b="1" dirty="0"/>
              <a:t>ADD R</a:t>
            </a:r>
            <a:r>
              <a:rPr lang="en-US" altLang="zh-CN" sz="1600" b="1" baseline="-25000" dirty="0"/>
              <a:t>0 </a:t>
            </a:r>
            <a:r>
              <a:rPr lang="en-US" altLang="zh-CN" sz="1600" b="1" dirty="0"/>
              <a:t>, R</a:t>
            </a:r>
            <a:r>
              <a:rPr lang="en-US" altLang="zh-CN" sz="1600" b="1" baseline="-25000" dirty="0"/>
              <a:t>1</a:t>
            </a:r>
            <a:r>
              <a:rPr lang="en-US" altLang="zh-CN" sz="1600" b="1" dirty="0"/>
              <a:t>         ;(R</a:t>
            </a:r>
            <a:r>
              <a:rPr lang="en-US" altLang="zh-CN" sz="1600" b="1" baseline="-25000" dirty="0"/>
              <a:t>0</a:t>
            </a:r>
            <a:r>
              <a:rPr lang="en-US" altLang="zh-CN" sz="1600" b="1" dirty="0"/>
              <a:t>) + (R</a:t>
            </a:r>
            <a:r>
              <a:rPr lang="en-US" altLang="zh-CN" sz="1600" b="1" baseline="-25000" dirty="0"/>
              <a:t>1</a:t>
            </a:r>
            <a:r>
              <a:rPr lang="en-US" altLang="zh-CN" sz="1600" b="1" dirty="0"/>
              <a:t>) -&gt; R</a:t>
            </a:r>
            <a:r>
              <a:rPr lang="en-US" altLang="zh-CN" sz="1600" b="1" baseline="-25000" dirty="0"/>
              <a:t>0</a:t>
            </a:r>
          </a:p>
          <a:p>
            <a:pPr lvl="1" eaLnBrk="1" hangingPunct="1"/>
            <a:r>
              <a:rPr lang="zh-CN" altLang="en-US" sz="1600" b="1" dirty="0"/>
              <a:t>第</a:t>
            </a:r>
            <a:r>
              <a:rPr lang="en-US" altLang="zh-CN" sz="1600" b="1" dirty="0"/>
              <a:t>1</a:t>
            </a:r>
            <a:r>
              <a:rPr lang="zh-CN" altLang="en-US" sz="1600" b="1" dirty="0"/>
              <a:t>个时钟周期</a:t>
            </a:r>
            <a:r>
              <a:rPr lang="zh-CN" altLang="en-US" sz="1400" b="1" dirty="0">
                <a:solidFill>
                  <a:srgbClr val="C00000"/>
                </a:solidFill>
              </a:rPr>
              <a:t>①</a:t>
            </a:r>
            <a:r>
              <a:rPr lang="zh-CN" altLang="en-US" sz="1600" b="1" dirty="0"/>
              <a:t>：</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从通用寄存器结果内部总线</a:t>
            </a:r>
            <a:r>
              <a:rPr lang="en-US" altLang="zh-CN" sz="1600" b="1" dirty="0"/>
              <a:t>IB2</a:t>
            </a:r>
            <a:r>
              <a:rPr lang="zh-CN" altLang="en-US" sz="1600" b="1" dirty="0"/>
              <a:t>送</a:t>
            </a:r>
            <a:r>
              <a:rPr lang="en-US" altLang="zh-CN" sz="1600" b="1" dirty="0"/>
              <a:t>B</a:t>
            </a:r>
            <a:r>
              <a:rPr lang="zh-CN" altLang="en-US" sz="1600" b="1" dirty="0"/>
              <a:t>，完成加法运算，并将结果送</a:t>
            </a:r>
            <a:r>
              <a:rPr lang="en-US" altLang="zh-CN" sz="1600" b="1" dirty="0"/>
              <a:t>L</a:t>
            </a:r>
          </a:p>
          <a:p>
            <a:pPr lvl="2" eaLnBrk="1" hangingPunct="1"/>
            <a:r>
              <a:rPr lang="en-US" altLang="zh-CN" sz="1400" b="1" dirty="0"/>
              <a:t>R</a:t>
            </a:r>
            <a:r>
              <a:rPr lang="en-US" altLang="zh-CN" sz="1400" b="1" baseline="-25000" dirty="0"/>
              <a:t>0</a:t>
            </a:r>
            <a:r>
              <a:rPr lang="en-US" altLang="zh-CN" sz="1400" b="1" dirty="0"/>
              <a:t>-&gt;IB1</a:t>
            </a:r>
            <a:r>
              <a:rPr lang="zh-CN" altLang="en-US" sz="1400" b="1" dirty="0"/>
              <a:t>，</a:t>
            </a:r>
            <a:r>
              <a:rPr lang="en-US" altLang="zh-CN" sz="1400" b="1" dirty="0"/>
              <a:t>R</a:t>
            </a:r>
            <a:r>
              <a:rPr lang="en-US" altLang="zh-CN" sz="1400" b="1" baseline="-25000" dirty="0"/>
              <a:t>1</a:t>
            </a:r>
            <a:r>
              <a:rPr lang="en-US" altLang="zh-CN" sz="1400" b="1" dirty="0"/>
              <a:t>-&gt;IB2</a:t>
            </a:r>
            <a:r>
              <a:rPr lang="zh-CN" altLang="en-US" sz="1400" b="1" dirty="0"/>
              <a:t>，</a:t>
            </a:r>
            <a:r>
              <a:rPr lang="en-US" altLang="zh-CN" sz="1400" b="1" dirty="0" err="1"/>
              <a:t>AluOP</a:t>
            </a:r>
            <a:r>
              <a:rPr lang="en-US" altLang="zh-CN" sz="1400" b="1" dirty="0"/>
              <a:t>=ADD</a:t>
            </a:r>
          </a:p>
          <a:p>
            <a:pPr lvl="1" eaLnBrk="1" hangingPunct="1"/>
            <a:r>
              <a:rPr lang="zh-CN" altLang="en-US" sz="1600" b="1" dirty="0"/>
              <a:t>第</a:t>
            </a:r>
            <a:r>
              <a:rPr lang="en-US" altLang="zh-CN" sz="1600" b="1" dirty="0"/>
              <a:t>2</a:t>
            </a:r>
            <a:r>
              <a:rPr lang="zh-CN" altLang="en-US" sz="1600" b="1" dirty="0"/>
              <a:t>个时钟周期</a:t>
            </a:r>
            <a:r>
              <a:rPr lang="zh-CN" altLang="en-US" sz="1400" b="1" dirty="0">
                <a:solidFill>
                  <a:srgbClr val="C00000"/>
                </a:solidFill>
                <a:latin typeface="等线" panose="02010600030101010101" pitchFamily="2" charset="-122"/>
                <a:ea typeface="等线" panose="02010600030101010101" pitchFamily="2" charset="-122"/>
              </a:rPr>
              <a:t>②</a:t>
            </a:r>
            <a:r>
              <a:rPr lang="zh-CN" altLang="en-US" sz="1600" b="1" dirty="0"/>
              <a:t>：运算结果从</a:t>
            </a:r>
            <a:r>
              <a:rPr lang="en-US" altLang="zh-CN" sz="1600" b="1" dirty="0"/>
              <a:t>L</a:t>
            </a:r>
            <a:r>
              <a:rPr lang="zh-CN" altLang="en-US" sz="1600" b="1" dirty="0"/>
              <a:t>经过内部总线</a:t>
            </a:r>
            <a:r>
              <a:rPr lang="en-US" altLang="zh-CN" sz="1600" b="1" dirty="0"/>
              <a:t>IB1</a:t>
            </a:r>
            <a:r>
              <a:rPr lang="zh-CN" altLang="en-US" sz="1600" b="1" dirty="0"/>
              <a:t>送通用寄存器的</a:t>
            </a:r>
            <a:r>
              <a:rPr lang="en-US" altLang="zh-CN" sz="1600" b="1" dirty="0"/>
              <a:t>R</a:t>
            </a:r>
            <a:r>
              <a:rPr lang="en-US" altLang="zh-CN" sz="1600" b="1" baseline="-25000" dirty="0"/>
              <a:t>0</a:t>
            </a:r>
          </a:p>
          <a:p>
            <a:pPr lvl="2" eaLnBrk="1" hangingPunct="1"/>
            <a:r>
              <a:rPr lang="en-US" altLang="zh-CN" sz="1400" b="1" dirty="0"/>
              <a:t>L-&gt;IB1</a:t>
            </a:r>
            <a:r>
              <a:rPr lang="zh-CN" altLang="en-US" sz="1400" b="1" dirty="0"/>
              <a:t>，</a:t>
            </a:r>
            <a:r>
              <a:rPr lang="en-US" altLang="zh-CN" sz="1400" b="1" dirty="0"/>
              <a:t>IB1-&gt;R</a:t>
            </a:r>
            <a:r>
              <a:rPr lang="en-US" altLang="zh-CN" sz="1400" b="1" baseline="-25000" dirty="0"/>
              <a:t>0</a:t>
            </a:r>
          </a:p>
          <a:p>
            <a:pPr lvl="2" eaLnBrk="1" hangingPunct="1"/>
            <a:endParaRPr lang="en-US" altLang="zh-CN" sz="1200" b="1" dirty="0"/>
          </a:p>
          <a:p>
            <a:pPr lvl="1" eaLnBrk="1" hangingPunct="1"/>
            <a:r>
              <a:rPr lang="zh-CN" altLang="en-US" sz="1600" b="1" dirty="0"/>
              <a:t>只需要</a:t>
            </a:r>
            <a:r>
              <a:rPr lang="en-US" altLang="zh-CN" sz="1600" b="1" dirty="0"/>
              <a:t>2</a:t>
            </a:r>
            <a:r>
              <a:rPr lang="zh-CN" altLang="en-US" sz="1600" b="1" dirty="0"/>
              <a:t>个时钟周期，而单总线结构的运算器需要</a:t>
            </a:r>
            <a:r>
              <a:rPr lang="en-US" altLang="zh-CN" sz="1600" b="1" dirty="0"/>
              <a:t>3</a:t>
            </a:r>
            <a:r>
              <a:rPr lang="zh-CN" altLang="en-US" sz="1600" b="1" dirty="0"/>
              <a:t>个时钟周期</a:t>
            </a:r>
          </a:p>
        </p:txBody>
      </p:sp>
      <p:grpSp>
        <p:nvGrpSpPr>
          <p:cNvPr id="15" name="组合 14">
            <a:extLst>
              <a:ext uri="{FF2B5EF4-FFF2-40B4-BE49-F238E27FC236}">
                <a16:creationId xmlns:a16="http://schemas.microsoft.com/office/drawing/2014/main" id="{15577ABD-7B2C-4C6D-BAB1-7DCD22099061}"/>
              </a:ext>
            </a:extLst>
          </p:cNvPr>
          <p:cNvGrpSpPr/>
          <p:nvPr/>
        </p:nvGrpSpPr>
        <p:grpSpPr>
          <a:xfrm>
            <a:off x="4636149" y="1916832"/>
            <a:ext cx="4447935" cy="2335876"/>
            <a:chOff x="2267744" y="4333484"/>
            <a:chExt cx="4864801" cy="2335876"/>
          </a:xfrm>
        </p:grpSpPr>
        <p:grpSp>
          <p:nvGrpSpPr>
            <p:cNvPr id="12" name="组合 11">
              <a:extLst>
                <a:ext uri="{FF2B5EF4-FFF2-40B4-BE49-F238E27FC236}">
                  <a16:creationId xmlns:a16="http://schemas.microsoft.com/office/drawing/2014/main" id="{BF3A56F7-C9E6-4CE4-BFD4-EA9E8B18F72C}"/>
                </a:ext>
              </a:extLst>
            </p:cNvPr>
            <p:cNvGrpSpPr/>
            <p:nvPr/>
          </p:nvGrpSpPr>
          <p:grpSpPr>
            <a:xfrm>
              <a:off x="2267744" y="4333484"/>
              <a:ext cx="4864801" cy="2335876"/>
              <a:chOff x="2267744" y="4333484"/>
              <a:chExt cx="4864801" cy="2335876"/>
            </a:xfrm>
          </p:grpSpPr>
          <p:pic>
            <p:nvPicPr>
              <p:cNvPr id="5" name="图片 4">
                <a:extLst>
                  <a:ext uri="{FF2B5EF4-FFF2-40B4-BE49-F238E27FC236}">
                    <a16:creationId xmlns:a16="http://schemas.microsoft.com/office/drawing/2014/main" id="{CB88CEDE-AE49-42ED-99F9-A943C3017E91}"/>
                  </a:ext>
                </a:extLst>
              </p:cNvPr>
              <p:cNvPicPr>
                <a:picLocks noChangeAspect="1"/>
              </p:cNvPicPr>
              <p:nvPr/>
            </p:nvPicPr>
            <p:blipFill>
              <a:blip r:embed="rId2"/>
              <a:stretch>
                <a:fillRect/>
              </a:stretch>
            </p:blipFill>
            <p:spPr>
              <a:xfrm>
                <a:off x="2267744" y="4333484"/>
                <a:ext cx="4864801" cy="2335876"/>
              </a:xfrm>
              <a:prstGeom prst="rect">
                <a:avLst/>
              </a:prstGeom>
            </p:spPr>
          </p:pic>
          <p:sp>
            <p:nvSpPr>
              <p:cNvPr id="7" name="文本框 6">
                <a:extLst>
                  <a:ext uri="{FF2B5EF4-FFF2-40B4-BE49-F238E27FC236}">
                    <a16:creationId xmlns:a16="http://schemas.microsoft.com/office/drawing/2014/main" id="{06383A5A-F6B1-406B-8762-44A2593293F9}"/>
                  </a:ext>
                </a:extLst>
              </p:cNvPr>
              <p:cNvSpPr txBox="1"/>
              <p:nvPr/>
            </p:nvSpPr>
            <p:spPr>
              <a:xfrm>
                <a:off x="3487718"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8" name="文本框 7">
                <a:extLst>
                  <a:ext uri="{FF2B5EF4-FFF2-40B4-BE49-F238E27FC236}">
                    <a16:creationId xmlns:a16="http://schemas.microsoft.com/office/drawing/2014/main" id="{72E136CF-7C46-413D-BE0D-95D32B8CBA0C}"/>
                  </a:ext>
                </a:extLst>
              </p:cNvPr>
              <p:cNvSpPr txBox="1"/>
              <p:nvPr/>
            </p:nvSpPr>
            <p:spPr>
              <a:xfrm>
                <a:off x="2983662" y="5733256"/>
                <a:ext cx="364202" cy="307777"/>
              </a:xfrm>
              <a:prstGeom prst="rect">
                <a:avLst/>
              </a:prstGeom>
              <a:noFill/>
            </p:spPr>
            <p:txBody>
              <a:bodyPr wrap="none" rtlCol="0">
                <a:spAutoFit/>
              </a:bodyPr>
              <a:lstStyle/>
              <a:p>
                <a:r>
                  <a:rPr lang="zh-CN" altLang="en-US" sz="1400" b="1" dirty="0">
                    <a:solidFill>
                      <a:srgbClr val="7030A0"/>
                    </a:solidFill>
                    <a:latin typeface="等线" panose="02010600030101010101" pitchFamily="2" charset="-122"/>
                    <a:ea typeface="等线" panose="02010600030101010101" pitchFamily="2" charset="-122"/>
                  </a:rPr>
                  <a:t>②</a:t>
                </a:r>
                <a:endParaRPr lang="zh-CN" altLang="en-US" sz="1400" b="1" dirty="0">
                  <a:solidFill>
                    <a:srgbClr val="7030A0"/>
                  </a:solidFill>
                </a:endParaRPr>
              </a:p>
            </p:txBody>
          </p:sp>
          <p:sp>
            <p:nvSpPr>
              <p:cNvPr id="11" name="文本框 10">
                <a:extLst>
                  <a:ext uri="{FF2B5EF4-FFF2-40B4-BE49-F238E27FC236}">
                    <a16:creationId xmlns:a16="http://schemas.microsoft.com/office/drawing/2014/main" id="{E3ABF30B-8EE2-4A63-AB80-102A0855B27D}"/>
                  </a:ext>
                </a:extLst>
              </p:cNvPr>
              <p:cNvSpPr txBox="1"/>
              <p:nvPr/>
            </p:nvSpPr>
            <p:spPr>
              <a:xfrm>
                <a:off x="4423822"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grpSp>
        <p:pic>
          <p:nvPicPr>
            <p:cNvPr id="14" name="图片 13">
              <a:extLst>
                <a:ext uri="{FF2B5EF4-FFF2-40B4-BE49-F238E27FC236}">
                  <a16:creationId xmlns:a16="http://schemas.microsoft.com/office/drawing/2014/main" id="{8A0B1D2C-63BC-4D3B-A510-025817930533}"/>
                </a:ext>
              </a:extLst>
            </p:cNvPr>
            <p:cNvPicPr>
              <a:picLocks noChangeAspect="1"/>
            </p:cNvPicPr>
            <p:nvPr/>
          </p:nvPicPr>
          <p:blipFill>
            <a:blip r:embed="rId3"/>
            <a:stretch>
              <a:fillRect/>
            </a:stretch>
          </p:blipFill>
          <p:spPr>
            <a:xfrm>
              <a:off x="2678031" y="5322526"/>
              <a:ext cx="183138" cy="266714"/>
            </a:xfrm>
            <a:prstGeom prst="rect">
              <a:avLst/>
            </a:prstGeom>
          </p:spPr>
        </p:pic>
      </p:grpSp>
      <p:sp>
        <p:nvSpPr>
          <p:cNvPr id="10" name="文本框 9">
            <a:extLst>
              <a:ext uri="{FF2B5EF4-FFF2-40B4-BE49-F238E27FC236}">
                <a16:creationId xmlns:a16="http://schemas.microsoft.com/office/drawing/2014/main" id="{A75298FF-452B-4230-A30F-E2F8A145CDFC}"/>
              </a:ext>
            </a:extLst>
          </p:cNvPr>
          <p:cNvSpPr txBox="1"/>
          <p:nvPr/>
        </p:nvSpPr>
        <p:spPr>
          <a:xfrm>
            <a:off x="5623713" y="4556763"/>
            <a:ext cx="3168352" cy="307777"/>
          </a:xfrm>
          <a:prstGeom prst="rect">
            <a:avLst/>
          </a:prstGeom>
          <a:noFill/>
        </p:spPr>
        <p:txBody>
          <a:bodyPr wrap="square">
            <a:spAutoFit/>
          </a:bodyPr>
          <a:lstStyle/>
          <a:p>
            <a:r>
              <a:rPr lang="zh-CN" altLang="en-US" sz="1400" b="1" dirty="0"/>
              <a:t>图</a:t>
            </a:r>
            <a:r>
              <a:rPr lang="en-US" altLang="zh-CN" sz="1400" b="1" dirty="0"/>
              <a:t>3.21    </a:t>
            </a:r>
            <a:r>
              <a:rPr lang="zh-CN" altLang="en-US" sz="1400" b="1" dirty="0"/>
              <a:t>双总线结构运算器</a:t>
            </a:r>
            <a:endParaRPr lang="zh-CN" altLang="en-US" sz="1400" dirty="0"/>
          </a:p>
        </p:txBody>
      </p:sp>
    </p:spTree>
    <p:extLst>
      <p:ext uri="{BB962C8B-B14F-4D97-AF65-F5344CB8AC3E}">
        <p14:creationId xmlns:p14="http://schemas.microsoft.com/office/powerpoint/2010/main" val="37448658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65564-CBDA-45C0-A7ED-D884F032171B}"/>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323528" y="1166018"/>
            <a:ext cx="4392488" cy="5575350"/>
          </a:xfrm>
        </p:spPr>
        <p:txBody>
          <a:bodyPr/>
          <a:lstStyle/>
          <a:p>
            <a:pPr eaLnBrk="1" hangingPunct="1"/>
            <a:r>
              <a:rPr lang="zh-CN" altLang="en-US" sz="2000" b="1" dirty="0"/>
              <a:t>（</a:t>
            </a:r>
            <a:r>
              <a:rPr lang="en-US" altLang="zh-CN" sz="2000" b="1" dirty="0"/>
              <a:t>3</a:t>
            </a:r>
            <a:r>
              <a:rPr lang="zh-CN" altLang="en-US" sz="2000" b="1" dirty="0"/>
              <a:t>）三总线结构运算器</a:t>
            </a:r>
            <a:endParaRPr lang="en-US" altLang="zh-CN" sz="2000" b="1" dirty="0"/>
          </a:p>
          <a:p>
            <a:pPr lvl="1" eaLnBrk="1" hangingPunct="1"/>
            <a:r>
              <a:rPr lang="en-US" altLang="zh-CN" sz="1800" b="1" dirty="0"/>
              <a:t>IB1</a:t>
            </a:r>
            <a:r>
              <a:rPr lang="zh-CN" altLang="en-US" sz="1800" b="1" dirty="0"/>
              <a:t>：内部总线</a:t>
            </a:r>
            <a:r>
              <a:rPr lang="en-US" altLang="zh-CN" sz="1800" b="1" dirty="0"/>
              <a:t>1</a:t>
            </a:r>
          </a:p>
          <a:p>
            <a:pPr lvl="1" eaLnBrk="1" hangingPunct="1"/>
            <a:r>
              <a:rPr lang="en-US" altLang="zh-CN" sz="1800" b="1" dirty="0"/>
              <a:t>IB2</a:t>
            </a:r>
            <a:r>
              <a:rPr lang="zh-CN" altLang="en-US" sz="1800" b="1" dirty="0"/>
              <a:t>：内部总线</a:t>
            </a:r>
            <a:r>
              <a:rPr lang="en-US" altLang="zh-CN" sz="1800" b="1" dirty="0"/>
              <a:t>2</a:t>
            </a:r>
          </a:p>
          <a:p>
            <a:pPr lvl="1" eaLnBrk="1" hangingPunct="1"/>
            <a:r>
              <a:rPr lang="en-US" altLang="zh-CN" sz="1800" b="1" dirty="0"/>
              <a:t>IB3</a:t>
            </a:r>
            <a:r>
              <a:rPr lang="zh-CN" altLang="en-US" sz="1800" b="1" dirty="0"/>
              <a:t>：内部总线</a:t>
            </a:r>
            <a:r>
              <a:rPr lang="en-US" altLang="zh-CN" sz="1800" b="1" dirty="0"/>
              <a:t>3</a:t>
            </a:r>
          </a:p>
          <a:p>
            <a:pPr lvl="1" eaLnBrk="1" hangingPunct="1"/>
            <a:r>
              <a:rPr lang="zh-CN" altLang="en-US" sz="1600" b="1" dirty="0"/>
              <a:t>通用寄存器堆有</a:t>
            </a:r>
            <a:r>
              <a:rPr lang="en-US" altLang="zh-CN" sz="1600" b="1" dirty="0"/>
              <a:t>2</a:t>
            </a:r>
            <a:r>
              <a:rPr lang="zh-CN" altLang="en-US" sz="1600" b="1" dirty="0"/>
              <a:t>个输出端、</a:t>
            </a:r>
            <a:r>
              <a:rPr lang="en-US" altLang="zh-CN" sz="1600" b="1" dirty="0"/>
              <a:t>1</a:t>
            </a:r>
            <a:r>
              <a:rPr lang="zh-CN" altLang="en-US" sz="1600" b="1" dirty="0"/>
              <a:t>个输入端</a:t>
            </a:r>
            <a:endParaRPr lang="en-US" altLang="zh-CN" sz="1600" b="1" dirty="0"/>
          </a:p>
          <a:p>
            <a:pPr lvl="1" eaLnBrk="1" hangingPunct="1"/>
            <a:r>
              <a:rPr lang="zh-CN" altLang="en-US" sz="1600" b="1" dirty="0"/>
              <a:t>无需设置缓冲寄存器</a:t>
            </a:r>
            <a:endParaRPr lang="en-US" altLang="zh-CN" sz="1600" b="1" dirty="0"/>
          </a:p>
          <a:p>
            <a:pPr lvl="1" eaLnBrk="1" hangingPunct="1"/>
            <a:endParaRPr lang="en-US" altLang="zh-CN" sz="1800" b="1" dirty="0"/>
          </a:p>
          <a:p>
            <a:pPr lvl="1" eaLnBrk="1" hangingPunct="1"/>
            <a:r>
              <a:rPr lang="zh-CN" altLang="en-US" sz="1800" b="1" dirty="0"/>
              <a:t>例如：</a:t>
            </a:r>
            <a:r>
              <a:rPr lang="en-US" altLang="zh-CN" sz="1800" b="1" dirty="0"/>
              <a:t>ADD R</a:t>
            </a:r>
            <a:r>
              <a:rPr lang="en-US" altLang="zh-CN" sz="1800" b="1" baseline="-25000" dirty="0"/>
              <a:t>0 </a:t>
            </a:r>
            <a:r>
              <a:rPr lang="en-US" altLang="zh-CN" sz="1800" b="1" dirty="0"/>
              <a:t>, R</a:t>
            </a:r>
            <a:r>
              <a:rPr lang="en-US" altLang="zh-CN" sz="1800" b="1" baseline="-25000" dirty="0"/>
              <a:t>1</a:t>
            </a:r>
            <a:r>
              <a:rPr lang="en-US" altLang="zh-CN" sz="1800" b="1" dirty="0"/>
              <a:t>    ;(R</a:t>
            </a:r>
            <a:r>
              <a:rPr lang="en-US" altLang="zh-CN" sz="1800" b="1" baseline="-25000" dirty="0"/>
              <a:t>0</a:t>
            </a:r>
            <a:r>
              <a:rPr lang="en-US" altLang="zh-CN" sz="1800" b="1" dirty="0"/>
              <a:t>) + (R</a:t>
            </a:r>
            <a:r>
              <a:rPr lang="en-US" altLang="zh-CN" sz="1800" b="1" baseline="-25000" dirty="0"/>
              <a:t>1</a:t>
            </a:r>
            <a:r>
              <a:rPr lang="en-US" altLang="zh-CN" sz="1800" b="1" dirty="0"/>
              <a:t>) -&gt; R</a:t>
            </a:r>
            <a:r>
              <a:rPr lang="en-US" altLang="zh-CN" sz="1800" b="1" baseline="-25000" dirty="0"/>
              <a:t>0</a:t>
            </a:r>
          </a:p>
          <a:p>
            <a:pPr lvl="1" eaLnBrk="1" hangingPunct="1"/>
            <a:r>
              <a:rPr lang="zh-CN" altLang="en-US" sz="1600" b="1" dirty="0"/>
              <a:t>第</a:t>
            </a:r>
            <a:r>
              <a:rPr lang="en-US" altLang="zh-CN" sz="1600" b="1" dirty="0"/>
              <a:t>1</a:t>
            </a:r>
            <a:r>
              <a:rPr lang="zh-CN" altLang="en-US" sz="1600" b="1" dirty="0"/>
              <a:t>个时钟周期：</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从通用寄存器经过内部总线</a:t>
            </a:r>
            <a:r>
              <a:rPr lang="en-US" altLang="zh-CN" sz="1600" b="1" dirty="0"/>
              <a:t>IB2</a:t>
            </a:r>
            <a:r>
              <a:rPr lang="zh-CN" altLang="en-US" sz="1600" b="1" dirty="0"/>
              <a:t>送</a:t>
            </a:r>
            <a:r>
              <a:rPr lang="en-US" altLang="zh-CN" sz="1600" b="1" dirty="0"/>
              <a:t>B</a:t>
            </a:r>
            <a:r>
              <a:rPr lang="zh-CN" altLang="en-US" sz="1600" b="1" dirty="0"/>
              <a:t>，完成加法运算，并将结果经过内部总线</a:t>
            </a:r>
            <a:r>
              <a:rPr lang="en-US" altLang="zh-CN" sz="1600" b="1" dirty="0"/>
              <a:t>IB3</a:t>
            </a:r>
            <a:r>
              <a:rPr lang="zh-CN" altLang="en-US" sz="1600" b="1" dirty="0"/>
              <a:t>送通用寄存器的</a:t>
            </a:r>
            <a:r>
              <a:rPr lang="en-US" altLang="zh-CN" sz="1600" b="1" dirty="0"/>
              <a:t>R</a:t>
            </a:r>
            <a:r>
              <a:rPr lang="en-US" altLang="zh-CN" sz="1600" b="1" baseline="-25000" dirty="0"/>
              <a:t>0</a:t>
            </a:r>
          </a:p>
          <a:p>
            <a:pPr lvl="2" eaLnBrk="1" hangingPunct="1"/>
            <a:r>
              <a:rPr lang="en-US" altLang="zh-CN" sz="1400" b="1" dirty="0"/>
              <a:t>R</a:t>
            </a:r>
            <a:r>
              <a:rPr lang="en-US" altLang="zh-CN" sz="1400" b="1" baseline="-25000" dirty="0"/>
              <a:t>0</a:t>
            </a:r>
            <a:r>
              <a:rPr lang="en-US" altLang="zh-CN" sz="1400" b="1" dirty="0"/>
              <a:t>-&gt;IB1</a:t>
            </a:r>
            <a:r>
              <a:rPr lang="zh-CN" altLang="en-US" sz="1400" b="1" dirty="0"/>
              <a:t>，</a:t>
            </a:r>
            <a:r>
              <a:rPr lang="en-US" altLang="zh-CN" sz="1400" b="1" dirty="0"/>
              <a:t>R</a:t>
            </a:r>
            <a:r>
              <a:rPr lang="en-US" altLang="zh-CN" sz="1400" b="1" baseline="-25000" dirty="0"/>
              <a:t>1</a:t>
            </a:r>
            <a:r>
              <a:rPr lang="en-US" altLang="zh-CN" sz="1400" b="1" dirty="0"/>
              <a:t>-&gt;IB2</a:t>
            </a:r>
            <a:r>
              <a:rPr lang="zh-CN" altLang="en-US" sz="1400" b="1" dirty="0"/>
              <a:t>，</a:t>
            </a:r>
            <a:r>
              <a:rPr lang="en-US" altLang="zh-CN" sz="1400" b="1" dirty="0" err="1"/>
              <a:t>AluOP</a:t>
            </a:r>
            <a:r>
              <a:rPr lang="en-US" altLang="zh-CN" sz="1400" b="1" dirty="0"/>
              <a:t>=ADD</a:t>
            </a:r>
            <a:r>
              <a:rPr lang="zh-CN" altLang="en-US" sz="1400" b="1" dirty="0"/>
              <a:t>，</a:t>
            </a:r>
            <a:r>
              <a:rPr lang="en-US" altLang="zh-CN" sz="1400" b="1" dirty="0"/>
              <a:t>IB3-&gt;R</a:t>
            </a:r>
            <a:r>
              <a:rPr lang="en-US" altLang="zh-CN" sz="1400" b="1" baseline="-25000" dirty="0"/>
              <a:t>0</a:t>
            </a:r>
          </a:p>
          <a:p>
            <a:pPr lvl="2" eaLnBrk="1" hangingPunct="1"/>
            <a:endParaRPr lang="en-US" altLang="zh-CN" sz="1200" b="1" dirty="0"/>
          </a:p>
          <a:p>
            <a:pPr lvl="1" eaLnBrk="1" hangingPunct="1"/>
            <a:r>
              <a:rPr lang="zh-CN" altLang="en-US" sz="1600" b="1" dirty="0"/>
              <a:t>只需要</a:t>
            </a:r>
            <a:r>
              <a:rPr lang="en-US" altLang="zh-CN" sz="1600" b="1" dirty="0"/>
              <a:t>1</a:t>
            </a:r>
            <a:r>
              <a:rPr lang="zh-CN" altLang="en-US" sz="1600" b="1" dirty="0"/>
              <a:t>个时钟周期，而单总线结构的运算器需要</a:t>
            </a:r>
            <a:r>
              <a:rPr lang="en-US" altLang="zh-CN" sz="1600" b="1" dirty="0"/>
              <a:t>3</a:t>
            </a:r>
            <a:r>
              <a:rPr lang="zh-CN" altLang="en-US" sz="1600" b="1" dirty="0"/>
              <a:t>个时钟周期、双总线结构的运算器需要</a:t>
            </a:r>
            <a:r>
              <a:rPr lang="en-US" altLang="zh-CN" sz="1600" b="1" dirty="0"/>
              <a:t>2</a:t>
            </a:r>
            <a:r>
              <a:rPr lang="zh-CN" altLang="en-US" sz="1600" b="1" dirty="0"/>
              <a:t>个时钟周期</a:t>
            </a:r>
          </a:p>
        </p:txBody>
      </p:sp>
      <p:grpSp>
        <p:nvGrpSpPr>
          <p:cNvPr id="7" name="组合 6">
            <a:extLst>
              <a:ext uri="{FF2B5EF4-FFF2-40B4-BE49-F238E27FC236}">
                <a16:creationId xmlns:a16="http://schemas.microsoft.com/office/drawing/2014/main" id="{59A94768-E7DD-402F-9C83-B25D12273BF6}"/>
              </a:ext>
            </a:extLst>
          </p:cNvPr>
          <p:cNvGrpSpPr/>
          <p:nvPr/>
        </p:nvGrpSpPr>
        <p:grpSpPr>
          <a:xfrm>
            <a:off x="4716016" y="2162649"/>
            <a:ext cx="4284577" cy="2142837"/>
            <a:chOff x="1626018" y="4077072"/>
            <a:chExt cx="5891964" cy="2657434"/>
          </a:xfrm>
        </p:grpSpPr>
        <p:pic>
          <p:nvPicPr>
            <p:cNvPr id="4" name="图片 3">
              <a:extLst>
                <a:ext uri="{FF2B5EF4-FFF2-40B4-BE49-F238E27FC236}">
                  <a16:creationId xmlns:a16="http://schemas.microsoft.com/office/drawing/2014/main" id="{A6DB7B87-1AEA-4B9D-8CC2-DD9A63F3851D}"/>
                </a:ext>
              </a:extLst>
            </p:cNvPr>
            <p:cNvPicPr>
              <a:picLocks noChangeAspect="1"/>
            </p:cNvPicPr>
            <p:nvPr/>
          </p:nvPicPr>
          <p:blipFill>
            <a:blip r:embed="rId2"/>
            <a:stretch>
              <a:fillRect/>
            </a:stretch>
          </p:blipFill>
          <p:spPr>
            <a:xfrm>
              <a:off x="1626018" y="4077072"/>
              <a:ext cx="5891964" cy="2657434"/>
            </a:xfrm>
            <a:prstGeom prst="rect">
              <a:avLst/>
            </a:prstGeom>
          </p:spPr>
        </p:pic>
        <p:pic>
          <p:nvPicPr>
            <p:cNvPr id="6" name="图片 5">
              <a:extLst>
                <a:ext uri="{FF2B5EF4-FFF2-40B4-BE49-F238E27FC236}">
                  <a16:creationId xmlns:a16="http://schemas.microsoft.com/office/drawing/2014/main" id="{81C3C4D9-1A2F-4A43-ABA1-FAAA2F330D09}"/>
                </a:ext>
              </a:extLst>
            </p:cNvPr>
            <p:cNvPicPr>
              <a:picLocks noChangeAspect="1"/>
            </p:cNvPicPr>
            <p:nvPr/>
          </p:nvPicPr>
          <p:blipFill>
            <a:blip r:embed="rId3"/>
            <a:stretch>
              <a:fillRect/>
            </a:stretch>
          </p:blipFill>
          <p:spPr>
            <a:xfrm>
              <a:off x="5813497" y="5649674"/>
              <a:ext cx="214890" cy="361969"/>
            </a:xfrm>
            <a:prstGeom prst="rect">
              <a:avLst/>
            </a:prstGeom>
          </p:spPr>
        </p:pic>
      </p:grpSp>
      <p:sp>
        <p:nvSpPr>
          <p:cNvPr id="8" name="文本框 7">
            <a:extLst>
              <a:ext uri="{FF2B5EF4-FFF2-40B4-BE49-F238E27FC236}">
                <a16:creationId xmlns:a16="http://schemas.microsoft.com/office/drawing/2014/main" id="{17DEB7FA-DA7D-403D-8126-08A6A59BACED}"/>
              </a:ext>
            </a:extLst>
          </p:cNvPr>
          <p:cNvSpPr txBox="1"/>
          <p:nvPr/>
        </p:nvSpPr>
        <p:spPr>
          <a:xfrm>
            <a:off x="5724128" y="4722126"/>
            <a:ext cx="3168352" cy="307777"/>
          </a:xfrm>
          <a:prstGeom prst="rect">
            <a:avLst/>
          </a:prstGeom>
          <a:noFill/>
        </p:spPr>
        <p:txBody>
          <a:bodyPr wrap="square">
            <a:spAutoFit/>
          </a:bodyPr>
          <a:lstStyle/>
          <a:p>
            <a:r>
              <a:rPr lang="zh-CN" altLang="en-US" sz="1400" b="1" dirty="0"/>
              <a:t>图</a:t>
            </a:r>
            <a:r>
              <a:rPr lang="en-US" altLang="zh-CN" sz="1400" b="1" dirty="0"/>
              <a:t>3.22    </a:t>
            </a:r>
            <a:r>
              <a:rPr lang="zh-CN" altLang="en-US" sz="1400" b="1" dirty="0"/>
              <a:t>三总线结构运算器</a:t>
            </a:r>
            <a:endParaRPr lang="zh-CN" altLang="en-US" sz="1400" dirty="0"/>
          </a:p>
        </p:txBody>
      </p:sp>
    </p:spTree>
    <p:extLst>
      <p:ext uri="{BB962C8B-B14F-4D97-AF65-F5344CB8AC3E}">
        <p14:creationId xmlns:p14="http://schemas.microsoft.com/office/powerpoint/2010/main" val="40518934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33DC15-C325-43F2-9BA0-CC29F55281A0}"/>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p:txBody>
          <a:bodyPr/>
          <a:lstStyle/>
          <a:p>
            <a:pPr lvl="1" eaLnBrk="1" hangingPunct="1"/>
            <a:r>
              <a:rPr lang="en-US" altLang="zh-CN" sz="2000" b="1" dirty="0"/>
              <a:t>3</a:t>
            </a:r>
            <a:r>
              <a:rPr lang="zh-CN" altLang="en-US" sz="2000" b="1" dirty="0"/>
              <a:t>、</a:t>
            </a:r>
            <a:r>
              <a:rPr lang="en-US" altLang="zh-CN" sz="2000" b="1" dirty="0"/>
              <a:t>ALU</a:t>
            </a:r>
            <a:r>
              <a:rPr lang="zh-CN" altLang="en-US" sz="2000" b="1" dirty="0"/>
              <a:t>设计</a:t>
            </a:r>
            <a:endParaRPr lang="en-US" altLang="zh-CN" sz="2000" b="1" dirty="0"/>
          </a:p>
          <a:p>
            <a:pPr lvl="2" eaLnBrk="1" hangingPunct="1"/>
            <a:endParaRPr lang="en-US" altLang="zh-CN" sz="1800" b="1" dirty="0"/>
          </a:p>
          <a:p>
            <a:pPr lvl="2" eaLnBrk="1" hangingPunct="1"/>
            <a:r>
              <a:rPr lang="zh-CN" altLang="en-US" sz="1800" b="1" dirty="0"/>
              <a:t>基本算术逻辑运算单元（</a:t>
            </a:r>
            <a:r>
              <a:rPr lang="en-US" altLang="zh-CN" sz="1800" b="1" dirty="0"/>
              <a:t>1</a:t>
            </a:r>
            <a:r>
              <a:rPr lang="zh-CN" altLang="en-US" sz="1800" b="1" dirty="0"/>
              <a:t>位</a:t>
            </a:r>
            <a:r>
              <a:rPr lang="en-US" altLang="zh-CN" sz="1800" b="1" dirty="0"/>
              <a:t>ALU</a:t>
            </a:r>
            <a:r>
              <a:rPr lang="zh-CN" altLang="en-US" sz="1800" b="1" dirty="0"/>
              <a:t>）</a:t>
            </a:r>
            <a:endParaRPr lang="en-US" altLang="zh-CN" sz="1800" b="1" dirty="0"/>
          </a:p>
          <a:p>
            <a:pPr lvl="2" eaLnBrk="1" hangingPunct="1"/>
            <a:endParaRPr lang="en-US" altLang="zh-CN" sz="1800" b="1" dirty="0"/>
          </a:p>
          <a:p>
            <a:pPr lvl="2" eaLnBrk="1" hangingPunct="1"/>
            <a:endParaRPr lang="en-US" altLang="zh-CN" sz="1800" b="1" dirty="0"/>
          </a:p>
          <a:p>
            <a:pPr lvl="2" eaLnBrk="1" hangingPunct="1"/>
            <a:r>
              <a:rPr lang="zh-CN" altLang="en-US" sz="1800" b="1" dirty="0"/>
              <a:t>由</a:t>
            </a:r>
            <a:r>
              <a:rPr lang="en-US" altLang="zh-CN" sz="1800" b="1" dirty="0"/>
              <a:t>n</a:t>
            </a:r>
            <a:r>
              <a:rPr lang="zh-CN" altLang="en-US" sz="1800" b="1" dirty="0"/>
              <a:t>个</a:t>
            </a:r>
            <a:r>
              <a:rPr lang="en-US" altLang="zh-CN" sz="1800" b="1" dirty="0"/>
              <a:t>1</a:t>
            </a:r>
            <a:r>
              <a:rPr lang="zh-CN" altLang="en-US" sz="1800" b="1" dirty="0"/>
              <a:t>位</a:t>
            </a:r>
            <a:r>
              <a:rPr lang="en-US" altLang="zh-CN" sz="1800" b="1" dirty="0"/>
              <a:t>ALU</a:t>
            </a:r>
            <a:r>
              <a:rPr lang="zh-CN" altLang="en-US" sz="1800" b="1" dirty="0"/>
              <a:t>构成</a:t>
            </a:r>
            <a:r>
              <a:rPr lang="en-US" altLang="zh-CN" sz="1800" b="1" dirty="0"/>
              <a:t>n</a:t>
            </a:r>
            <a:r>
              <a:rPr lang="zh-CN" altLang="en-US" sz="1800" b="1" dirty="0"/>
              <a:t>位</a:t>
            </a:r>
            <a:r>
              <a:rPr lang="en-US" altLang="zh-CN" sz="1800" b="1" dirty="0"/>
              <a:t>ALU</a:t>
            </a:r>
            <a:endParaRPr lang="en-US" altLang="zh-CN" sz="1400" b="1" dirty="0"/>
          </a:p>
        </p:txBody>
      </p:sp>
      <p:pic>
        <p:nvPicPr>
          <p:cNvPr id="4" name="图片 3">
            <a:extLst>
              <a:ext uri="{FF2B5EF4-FFF2-40B4-BE49-F238E27FC236}">
                <a16:creationId xmlns:a16="http://schemas.microsoft.com/office/drawing/2014/main" id="{91E7429B-20D1-4590-8A0D-041FBB3370D5}"/>
              </a:ext>
            </a:extLst>
          </p:cNvPr>
          <p:cNvPicPr>
            <a:picLocks noChangeAspect="1"/>
          </p:cNvPicPr>
          <p:nvPr/>
        </p:nvPicPr>
        <p:blipFill>
          <a:blip r:embed="rId2"/>
          <a:stretch>
            <a:fillRect/>
          </a:stretch>
        </p:blipFill>
        <p:spPr>
          <a:xfrm>
            <a:off x="1979712" y="3881201"/>
            <a:ext cx="5453453" cy="2702161"/>
          </a:xfrm>
          <a:prstGeom prst="rect">
            <a:avLst/>
          </a:prstGeom>
        </p:spPr>
      </p:pic>
      <p:pic>
        <p:nvPicPr>
          <p:cNvPr id="7" name="图片 6">
            <a:extLst>
              <a:ext uri="{FF2B5EF4-FFF2-40B4-BE49-F238E27FC236}">
                <a16:creationId xmlns:a16="http://schemas.microsoft.com/office/drawing/2014/main" id="{5FE62BFE-32F7-474D-B744-768717741FC1}"/>
              </a:ext>
            </a:extLst>
          </p:cNvPr>
          <p:cNvPicPr>
            <a:picLocks noChangeAspect="1"/>
          </p:cNvPicPr>
          <p:nvPr/>
        </p:nvPicPr>
        <p:blipFill>
          <a:blip r:embed="rId3"/>
          <a:stretch>
            <a:fillRect/>
          </a:stretch>
        </p:blipFill>
        <p:spPr>
          <a:xfrm>
            <a:off x="5220072" y="1554961"/>
            <a:ext cx="2789265" cy="2234959"/>
          </a:xfrm>
          <a:prstGeom prst="rect">
            <a:avLst/>
          </a:prstGeom>
        </p:spPr>
      </p:pic>
    </p:spTree>
    <p:extLst>
      <p:ext uri="{BB962C8B-B14F-4D97-AF65-F5344CB8AC3E}">
        <p14:creationId xmlns:p14="http://schemas.microsoft.com/office/powerpoint/2010/main" val="22609258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C5F5D-962F-4185-B6A1-EAE35C7F2DCC}"/>
              </a:ext>
            </a:extLst>
          </p:cNvPr>
          <p:cNvSpPr>
            <a:spLocks noGrp="1"/>
          </p:cNvSpPr>
          <p:nvPr>
            <p:ph type="title"/>
          </p:nvPr>
        </p:nvSpPr>
        <p:spPr/>
        <p:txBody>
          <a:bodyPr/>
          <a:lstStyle/>
          <a:p>
            <a:r>
              <a:rPr lang="en-US" altLang="zh-CN" b="1" dirty="0">
                <a:ea typeface="黑体" panose="02010609060101010101" pitchFamily="49" charset="-122"/>
              </a:rPr>
              <a:t>3.6.2  </a:t>
            </a:r>
            <a:r>
              <a:rPr lang="zh-CN" altLang="en-US" b="1" dirty="0">
                <a:ea typeface="黑体" panose="02010609060101010101" pitchFamily="49" charset="-122"/>
              </a:rPr>
              <a:t>浮点运算</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268761"/>
            <a:ext cx="8229600" cy="1800200"/>
          </a:xfrm>
        </p:spPr>
        <p:txBody>
          <a:bodyPr/>
          <a:lstStyle/>
          <a:p>
            <a:pPr lvl="1" eaLnBrk="1" hangingPunct="1"/>
            <a:r>
              <a:rPr lang="zh-CN" altLang="en-US" sz="1800" b="1" dirty="0"/>
              <a:t>以浮点加减法为例，计算过程包括：对阶、尾数运算（尾数加减）、结果规格化、舍入处理、溢出判断</a:t>
            </a:r>
            <a:endParaRPr lang="en-US" altLang="zh-CN" sz="1800" b="1" dirty="0"/>
          </a:p>
          <a:p>
            <a:pPr lvl="1" eaLnBrk="1" hangingPunct="1"/>
            <a:endParaRPr lang="en-US" altLang="zh-CN" sz="1800" b="1" dirty="0"/>
          </a:p>
          <a:p>
            <a:pPr lvl="1" eaLnBrk="1" hangingPunct="1"/>
            <a:r>
              <a:rPr lang="zh-CN" altLang="en-US" sz="1800" b="1" dirty="0"/>
              <a:t>可以采用流水线的方式实现浮点加减法运算</a:t>
            </a:r>
            <a:endParaRPr lang="en-US" altLang="zh-CN" sz="1800" b="1" dirty="0"/>
          </a:p>
          <a:p>
            <a:pPr lvl="1" eaLnBrk="1" hangingPunct="1"/>
            <a:endParaRPr lang="en-US" altLang="zh-CN" sz="1800" b="1" dirty="0"/>
          </a:p>
          <a:p>
            <a:pPr lvl="1" eaLnBrk="1" hangingPunct="1"/>
            <a:r>
              <a:rPr lang="zh-CN" altLang="en-US" sz="1800" b="1" dirty="0"/>
              <a:t>浮点加减法流水线框图：</a:t>
            </a:r>
            <a:endParaRPr lang="en-US" altLang="zh-CN" sz="1800" b="1" dirty="0"/>
          </a:p>
          <a:p>
            <a:pPr lvl="2" eaLnBrk="1" hangingPunct="1"/>
            <a:endParaRPr lang="en-US" altLang="zh-CN" sz="1800" b="1" dirty="0"/>
          </a:p>
        </p:txBody>
      </p:sp>
      <p:pic>
        <p:nvPicPr>
          <p:cNvPr id="3" name="图片 2">
            <a:extLst>
              <a:ext uri="{FF2B5EF4-FFF2-40B4-BE49-F238E27FC236}">
                <a16:creationId xmlns:a16="http://schemas.microsoft.com/office/drawing/2014/main" id="{087B8E36-D804-4165-87A9-7E92924F7B2B}"/>
              </a:ext>
            </a:extLst>
          </p:cNvPr>
          <p:cNvPicPr>
            <a:picLocks noChangeAspect="1"/>
          </p:cNvPicPr>
          <p:nvPr/>
        </p:nvPicPr>
        <p:blipFill>
          <a:blip r:embed="rId2"/>
          <a:stretch>
            <a:fillRect/>
          </a:stretch>
        </p:blipFill>
        <p:spPr>
          <a:xfrm>
            <a:off x="812776" y="3395684"/>
            <a:ext cx="7956376" cy="2128868"/>
          </a:xfrm>
          <a:prstGeom prst="rect">
            <a:avLst/>
          </a:prstGeom>
        </p:spPr>
      </p:pic>
      <p:sp>
        <p:nvSpPr>
          <p:cNvPr id="4" name="文本框 3">
            <a:extLst>
              <a:ext uri="{FF2B5EF4-FFF2-40B4-BE49-F238E27FC236}">
                <a16:creationId xmlns:a16="http://schemas.microsoft.com/office/drawing/2014/main" id="{5DADB5B7-3535-4AC6-B6E3-781A8701A10F}"/>
              </a:ext>
            </a:extLst>
          </p:cNvPr>
          <p:cNvSpPr txBox="1"/>
          <p:nvPr/>
        </p:nvSpPr>
        <p:spPr>
          <a:xfrm>
            <a:off x="3206788" y="5524552"/>
            <a:ext cx="3168352" cy="307777"/>
          </a:xfrm>
          <a:prstGeom prst="rect">
            <a:avLst/>
          </a:prstGeom>
          <a:noFill/>
        </p:spPr>
        <p:txBody>
          <a:bodyPr wrap="square">
            <a:spAutoFit/>
          </a:bodyPr>
          <a:lstStyle/>
          <a:p>
            <a:r>
              <a:rPr lang="zh-CN" altLang="en-US" sz="1400" b="1" dirty="0"/>
              <a:t>图</a:t>
            </a:r>
            <a:r>
              <a:rPr lang="en-US" altLang="zh-CN" sz="1400" b="1" dirty="0"/>
              <a:t>3.26    </a:t>
            </a:r>
            <a:r>
              <a:rPr lang="zh-CN" altLang="en-US" sz="1400" b="1" dirty="0"/>
              <a:t>浮点加减法流水线</a:t>
            </a:r>
            <a:endParaRPr lang="zh-CN" altLang="en-US" sz="1400" dirty="0"/>
          </a:p>
        </p:txBody>
      </p:sp>
    </p:spTree>
    <p:extLst>
      <p:ext uri="{BB962C8B-B14F-4D97-AF65-F5344CB8AC3E}">
        <p14:creationId xmlns:p14="http://schemas.microsoft.com/office/powerpoint/2010/main" val="1424990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p:txBody>
          <a:bodyPr rtlCol="0">
            <a:normAutofit/>
          </a:bodyPr>
          <a:lstStyle/>
          <a:p>
            <a:pPr eaLnBrk="1" fontAlgn="auto" hangingPunct="1">
              <a:spcAft>
                <a:spcPts val="0"/>
              </a:spcAft>
              <a:defRPr/>
            </a:pPr>
            <a:r>
              <a:rPr lang="en-US" altLang="zh-CN" sz="2000" b="1" dirty="0"/>
              <a:t>C</a:t>
            </a:r>
            <a:r>
              <a:rPr lang="zh-CN" altLang="en-US" sz="2000" b="1" dirty="0"/>
              <a:t>语言中的位运算、逻辑运算、移位运算、算术运算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补码加法、补码减法</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溢出的概念：两个数相加（相减）的结果超出了补码的表示范围</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溢出检测方法：</a:t>
            </a:r>
            <a:endParaRPr lang="en-US" altLang="zh-CN" sz="2000" b="1" dirty="0"/>
          </a:p>
          <a:p>
            <a:pPr lvl="1" eaLnBrk="1" fontAlgn="auto" hangingPunct="1">
              <a:spcAft>
                <a:spcPts val="0"/>
              </a:spcAft>
              <a:defRPr/>
            </a:pPr>
            <a:r>
              <a:rPr lang="zh-CN" altLang="en-US" sz="1600" b="1" dirty="0"/>
              <a:t>方法一：根据操作数和运算结果的符号位是否一致</a:t>
            </a:r>
            <a:endParaRPr lang="en-US" altLang="zh-CN" sz="1600" b="1" dirty="0"/>
          </a:p>
          <a:p>
            <a:pPr lvl="1" eaLnBrk="1" fontAlgn="auto" hangingPunct="1">
              <a:spcAft>
                <a:spcPts val="0"/>
              </a:spcAft>
              <a:defRPr/>
            </a:pPr>
            <a:r>
              <a:rPr lang="zh-CN" altLang="en-US" sz="1600" b="1" dirty="0"/>
              <a:t>方法二：根据最高数据位的进位和符号位的进位是否一致</a:t>
            </a:r>
            <a:endParaRPr lang="en-US" altLang="zh-CN" sz="1600" b="1" dirty="0"/>
          </a:p>
          <a:p>
            <a:pPr lvl="1" eaLnBrk="1" fontAlgn="auto" hangingPunct="1">
              <a:spcAft>
                <a:spcPts val="0"/>
              </a:spcAft>
              <a:defRPr/>
            </a:pPr>
            <a:r>
              <a:rPr lang="zh-CN" altLang="en-US" sz="1600" b="1" dirty="0"/>
              <a:t>方法三：双符号位（变形补码）</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全加器（</a:t>
            </a:r>
            <a:r>
              <a:rPr lang="en-US" altLang="zh-CN" sz="2000" b="1" dirty="0"/>
              <a:t>FA</a:t>
            </a:r>
            <a:r>
              <a:rPr lang="zh-CN" altLang="en-US" sz="2000" b="1" dirty="0"/>
              <a:t>）、半加器（</a:t>
            </a:r>
            <a:r>
              <a:rPr lang="en-US" altLang="zh-CN" sz="2000" b="1" dirty="0"/>
              <a:t>HA</a:t>
            </a:r>
            <a:r>
              <a:rPr lang="zh-CN" altLang="en-US" sz="2000" b="1" dirty="0"/>
              <a:t>）</a:t>
            </a:r>
            <a:endParaRPr lang="zh-CN" alt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串行加法器：也称行波进位加法器（</a:t>
            </a:r>
            <a:r>
              <a:rPr lang="en-US" altLang="zh-CN" sz="2000" b="1" dirty="0"/>
              <a:t>Ripple Carry Adder</a:t>
            </a:r>
            <a:r>
              <a:rPr lang="zh-CN" altLang="en-US" sz="2000" b="1" dirty="0"/>
              <a:t>）</a:t>
            </a:r>
            <a:endParaRPr lang="en-US" altLang="zh-CN" sz="2000" b="1" dirty="0"/>
          </a:p>
          <a:p>
            <a:pPr lvl="1" eaLnBrk="1" fontAlgn="auto" hangingPunct="1">
              <a:spcAft>
                <a:spcPts val="0"/>
              </a:spcAft>
              <a:defRPr/>
            </a:pPr>
            <a:r>
              <a:rPr lang="zh-CN" altLang="en-US" sz="1600" b="1" dirty="0"/>
              <a:t>由</a:t>
            </a:r>
            <a:r>
              <a:rPr lang="en-US" altLang="zh-CN" sz="1600" b="1" dirty="0"/>
              <a:t>n</a:t>
            </a:r>
            <a:r>
              <a:rPr lang="zh-CN" altLang="en-US" sz="1600" b="1" dirty="0"/>
              <a:t>个</a:t>
            </a:r>
            <a:r>
              <a:rPr lang="en-US" altLang="zh-CN" sz="1600" b="1" dirty="0"/>
              <a:t>FA</a:t>
            </a:r>
            <a:r>
              <a:rPr lang="zh-CN" altLang="en-US" sz="1600" b="1" dirty="0"/>
              <a:t>构成</a:t>
            </a:r>
            <a:r>
              <a:rPr lang="en-US" altLang="zh-CN" sz="1600" b="1" dirty="0"/>
              <a:t>n</a:t>
            </a:r>
            <a:r>
              <a:rPr lang="zh-CN" altLang="en-US" sz="1600" b="1" dirty="0"/>
              <a:t>位串行加法器</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可控加减法电路：</a:t>
            </a:r>
            <a:r>
              <a:rPr lang="en-US" altLang="zh-CN" sz="2000" b="1" dirty="0"/>
              <a:t>X-Y = X + /Y + 1</a:t>
            </a:r>
          </a:p>
          <a:p>
            <a:pPr eaLnBrk="1" fontAlgn="auto" hangingPunct="1">
              <a:spcAft>
                <a:spcPts val="0"/>
              </a:spcAft>
              <a:defRPr/>
            </a:pPr>
            <a:endParaRPr lang="en-US" altLang="zh-CN" sz="2000" b="1" dirty="0"/>
          </a:p>
          <a:p>
            <a:pPr eaLnBrk="1" fontAlgn="auto" hangingPunct="1">
              <a:spcAft>
                <a:spcPts val="0"/>
              </a:spcAft>
              <a:defRPr/>
            </a:pPr>
            <a:r>
              <a:rPr lang="zh-CN" altLang="en-US" sz="2000" b="1" dirty="0"/>
              <a:t>先行进位加法器（</a:t>
            </a:r>
            <a:r>
              <a:rPr lang="en-US" altLang="zh-CN" sz="2000" b="1" dirty="0"/>
              <a:t>Carry Look-Ahead Adder</a:t>
            </a:r>
            <a:r>
              <a:rPr lang="zh-CN" altLang="en-US" sz="2000" b="1" dirty="0"/>
              <a:t>）：也称并行加法器、快速加法器</a:t>
            </a:r>
            <a:endParaRPr lang="en-US" altLang="zh-CN" sz="2000" b="1" dirty="0"/>
          </a:p>
          <a:p>
            <a:pPr lvl="1" eaLnBrk="1" fontAlgn="auto" hangingPunct="1">
              <a:spcAft>
                <a:spcPts val="0"/>
              </a:spcAft>
              <a:defRPr/>
            </a:pPr>
            <a:r>
              <a:rPr lang="zh-CN" altLang="en-US" sz="1600" b="1" dirty="0"/>
              <a:t>进位生成函数</a:t>
            </a:r>
            <a:r>
              <a:rPr lang="en-US" altLang="zh-CN" sz="1600" b="1" dirty="0"/>
              <a:t>G</a:t>
            </a:r>
            <a:r>
              <a:rPr lang="zh-CN" altLang="en-US" sz="1600" b="1" dirty="0"/>
              <a:t>、进位传递函数</a:t>
            </a:r>
            <a:r>
              <a:rPr lang="en-US" altLang="zh-CN" sz="1600" b="1" dirty="0"/>
              <a:t>P</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与门异或门电路：由</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，得到</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先行进位电路：由</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r>
              <a:rPr lang="zh-CN" altLang="en-US" sz="1600" b="1" dirty="0"/>
              <a:t>以及</a:t>
            </a:r>
            <a:r>
              <a:rPr lang="en-US" altLang="zh-CN" sz="1600" b="1" dirty="0"/>
              <a:t>C</a:t>
            </a:r>
            <a:r>
              <a:rPr lang="en-US" altLang="zh-CN" sz="1600" b="1" baseline="-25000" dirty="0"/>
              <a:t>o</a:t>
            </a:r>
            <a:r>
              <a:rPr lang="zh-CN" altLang="en-US" sz="1600" b="1" dirty="0"/>
              <a:t>，得到</a:t>
            </a:r>
            <a:r>
              <a:rPr lang="en-US" altLang="zh-CN" sz="1600" b="1" dirty="0"/>
              <a:t>C</a:t>
            </a:r>
            <a:r>
              <a:rPr lang="en-US" altLang="zh-CN" sz="1600" b="1" baseline="-25000" dirty="0"/>
              <a:t>n</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先行进位加法器（并行加法器、快速加法器）：与门异或门电路 </a:t>
            </a:r>
            <a:r>
              <a:rPr lang="en-US" altLang="zh-CN" sz="1600" b="1" dirty="0"/>
              <a:t>+ </a:t>
            </a:r>
            <a:r>
              <a:rPr lang="zh-CN" altLang="en-US" sz="1600" b="1" dirty="0"/>
              <a:t>先行进位电路</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16</a:t>
            </a:r>
            <a:r>
              <a:rPr lang="zh-CN" altLang="en-US" sz="2000" b="1" dirty="0"/>
              <a:t>位并行加法器：</a:t>
            </a:r>
            <a:endParaRPr lang="en-US" altLang="zh-CN" sz="2000" b="1" dirty="0"/>
          </a:p>
          <a:p>
            <a:pPr lvl="1" eaLnBrk="1" fontAlgn="auto" hangingPunct="1">
              <a:spcAft>
                <a:spcPts val="0"/>
              </a:spcAft>
              <a:defRPr/>
            </a:pPr>
            <a:r>
              <a:rPr lang="zh-CN" altLang="en-US" sz="1600" b="1" dirty="0"/>
              <a:t>方法一：</a:t>
            </a:r>
            <a:r>
              <a:rPr lang="en-US" altLang="zh-CN" sz="1600" b="1" dirty="0"/>
              <a:t>4</a:t>
            </a:r>
            <a:r>
              <a:rPr lang="zh-CN" altLang="en-US" sz="1600" b="1" dirty="0"/>
              <a:t>个</a:t>
            </a:r>
            <a:r>
              <a:rPr lang="en-US" altLang="zh-CN" sz="1600" b="1" dirty="0"/>
              <a:t>4</a:t>
            </a:r>
            <a:r>
              <a:rPr lang="zh-CN" altLang="en-US" sz="1600" b="1" dirty="0"/>
              <a:t>位并行加法器串联而成（组内并行、组间串行）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方法二：</a:t>
            </a:r>
            <a:r>
              <a:rPr lang="en-US" altLang="zh-CN" sz="1600" b="1" dirty="0"/>
              <a:t>4</a:t>
            </a:r>
            <a:r>
              <a:rPr lang="zh-CN" altLang="en-US" sz="1600" b="1" dirty="0"/>
              <a:t>个</a:t>
            </a:r>
            <a:r>
              <a:rPr lang="en-US" altLang="zh-CN" sz="1600" b="1" dirty="0"/>
              <a:t>4</a:t>
            </a:r>
            <a:r>
              <a:rPr lang="zh-CN" altLang="en-US" sz="1600" b="1" dirty="0"/>
              <a:t>位并行加法器并联而成（组内并行、组间并行）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7124165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原码一位乘法</a:t>
            </a:r>
            <a:endParaRPr lang="en-US" altLang="zh-CN" sz="2000" b="1" dirty="0"/>
          </a:p>
          <a:p>
            <a:pPr lvl="1" eaLnBrk="1" fontAlgn="auto" hangingPunct="1">
              <a:spcAft>
                <a:spcPts val="0"/>
              </a:spcAft>
              <a:defRPr/>
            </a:pPr>
            <a:r>
              <a:rPr lang="zh-CN" altLang="en-US" sz="1600" b="1" dirty="0"/>
              <a:t>原码二位乘法：感兴趣的同学自己去查阅相关资料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补码一位乘法（</a:t>
            </a:r>
            <a:r>
              <a:rPr lang="en-US" altLang="zh-CN" sz="2000" b="1" dirty="0"/>
              <a:t>Booth</a:t>
            </a:r>
            <a:r>
              <a:rPr lang="zh-CN" altLang="en-US" sz="2000" b="1" dirty="0"/>
              <a:t>算法）</a:t>
            </a:r>
            <a:endParaRPr lang="en-US" altLang="zh-CN" sz="2000" b="1" dirty="0"/>
          </a:p>
          <a:p>
            <a:pPr lvl="1" eaLnBrk="1" fontAlgn="auto" hangingPunct="1">
              <a:spcAft>
                <a:spcPts val="0"/>
              </a:spcAft>
              <a:defRPr/>
            </a:pPr>
            <a:r>
              <a:rPr lang="zh-CN" altLang="en-US" sz="1600" b="1" dirty="0"/>
              <a:t>补码二位乘法：感兴趣的同学自己去查阅相关资料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（无符号）阵列乘法器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流水线乘法器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原码一位除法</a:t>
            </a:r>
            <a:endParaRPr lang="en-US" altLang="zh-CN" sz="2000" b="1" dirty="0"/>
          </a:p>
          <a:p>
            <a:pPr lvl="1" eaLnBrk="1" fontAlgn="auto" hangingPunct="1">
              <a:spcAft>
                <a:spcPts val="0"/>
              </a:spcAft>
              <a:defRPr/>
            </a:pPr>
            <a:r>
              <a:rPr lang="zh-CN" altLang="en-US" sz="1600" b="1" dirty="0"/>
              <a:t>恢复余数法</a:t>
            </a:r>
            <a:endParaRPr lang="en-US" altLang="zh-CN" sz="1600" b="1" dirty="0"/>
          </a:p>
          <a:p>
            <a:pPr lvl="1" eaLnBrk="1" fontAlgn="auto" hangingPunct="1">
              <a:spcAft>
                <a:spcPts val="0"/>
              </a:spcAft>
              <a:defRPr/>
            </a:pPr>
            <a:r>
              <a:rPr lang="zh-CN" altLang="en-US" sz="1600" b="1" dirty="0"/>
              <a:t>不恢复余数法（也称加减交替法）</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阵列除法器</a:t>
            </a:r>
            <a:endParaRPr lang="en-US" altLang="zh-CN" sz="2000" b="1" dirty="0"/>
          </a:p>
          <a:p>
            <a:pPr lvl="1" eaLnBrk="1" fontAlgn="auto" hangingPunct="1">
              <a:spcAft>
                <a:spcPts val="0"/>
              </a:spcAft>
              <a:defRPr/>
            </a:pPr>
            <a:r>
              <a:rPr lang="en-US" altLang="zh-CN" sz="1600" b="1" dirty="0"/>
              <a:t>CAS</a:t>
            </a:r>
            <a:r>
              <a:rPr lang="zh-CN" altLang="en-US" sz="1600" b="1" dirty="0"/>
              <a:t>：可控加减法单元</a:t>
            </a: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274279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浮点加减法运算</a:t>
            </a:r>
            <a:endParaRPr lang="en-US" altLang="zh-CN" sz="2000" b="1" dirty="0"/>
          </a:p>
          <a:p>
            <a:pPr marL="800100" lvl="1" indent="-342900" eaLnBrk="1" fontAlgn="auto" hangingPunct="1">
              <a:spcAft>
                <a:spcPts val="0"/>
              </a:spcAft>
              <a:buFont typeface="+mj-ea"/>
              <a:buAutoNum type="circleNumDbPlain"/>
              <a:defRPr/>
            </a:pPr>
            <a:r>
              <a:rPr lang="zh-CN" altLang="en-US" sz="1500" b="1" dirty="0"/>
              <a:t>对阶</a:t>
            </a:r>
            <a:endParaRPr lang="en-US" altLang="zh-CN" sz="1500" b="1" dirty="0"/>
          </a:p>
          <a:p>
            <a:pPr marL="800100" lvl="1" indent="-342900" eaLnBrk="1" fontAlgn="auto" hangingPunct="1">
              <a:spcAft>
                <a:spcPts val="0"/>
              </a:spcAft>
              <a:buFont typeface="+mj-ea"/>
              <a:buAutoNum type="circleNumDbPlain"/>
              <a:defRPr/>
            </a:pPr>
            <a:r>
              <a:rPr lang="zh-CN" altLang="en-US" sz="1500" b="1" dirty="0"/>
              <a:t>尾数运算（尾数求和）</a:t>
            </a:r>
            <a:endParaRPr lang="en-US" altLang="zh-CN" sz="1500" b="1" dirty="0"/>
          </a:p>
          <a:p>
            <a:pPr marL="800100" lvl="1" indent="-342900" eaLnBrk="1" fontAlgn="auto" hangingPunct="1">
              <a:spcAft>
                <a:spcPts val="0"/>
              </a:spcAft>
              <a:buFont typeface="+mj-ea"/>
              <a:buAutoNum type="circleNumDbPlain"/>
              <a:defRPr/>
            </a:pPr>
            <a:r>
              <a:rPr lang="zh-CN" altLang="en-US" sz="1500" b="1" dirty="0"/>
              <a:t>结果规格化</a:t>
            </a:r>
            <a:endParaRPr lang="en-US" altLang="zh-CN" sz="1500" b="1" dirty="0"/>
          </a:p>
          <a:p>
            <a:pPr marL="800100" lvl="1" indent="-342900" eaLnBrk="1" fontAlgn="auto" hangingPunct="1">
              <a:spcAft>
                <a:spcPts val="0"/>
              </a:spcAft>
              <a:buFont typeface="+mj-ea"/>
              <a:buAutoNum type="circleNumDbPlain"/>
              <a:defRPr/>
            </a:pPr>
            <a:r>
              <a:rPr lang="zh-CN" altLang="en-US" sz="1500" b="1" dirty="0"/>
              <a:t>舍入（</a:t>
            </a:r>
            <a:r>
              <a:rPr lang="en-US" altLang="zh-CN" sz="1500" b="1" dirty="0"/>
              <a:t>0</a:t>
            </a:r>
            <a:r>
              <a:rPr lang="zh-CN" altLang="en-US" sz="1500" b="1" dirty="0"/>
              <a:t>舍</a:t>
            </a:r>
            <a:r>
              <a:rPr lang="en-US" altLang="zh-CN" sz="1500" b="1" dirty="0"/>
              <a:t>1</a:t>
            </a:r>
            <a:r>
              <a:rPr lang="zh-CN" altLang="en-US" sz="1500" b="1" dirty="0"/>
              <a:t>入法，末位恒置</a:t>
            </a:r>
            <a:r>
              <a:rPr lang="en-US" altLang="zh-CN" sz="1500" b="1" dirty="0"/>
              <a:t>1</a:t>
            </a:r>
            <a:r>
              <a:rPr lang="zh-CN" altLang="en-US" sz="1500" b="1" dirty="0"/>
              <a:t>法）</a:t>
            </a:r>
            <a:endParaRPr lang="en-US" altLang="zh-CN" sz="1500" b="1" dirty="0"/>
          </a:p>
          <a:p>
            <a:pPr marL="800100" lvl="1" indent="-342900" eaLnBrk="1" fontAlgn="auto" hangingPunct="1">
              <a:spcAft>
                <a:spcPts val="0"/>
              </a:spcAft>
              <a:buFont typeface="+mj-ea"/>
              <a:buAutoNum type="circleNumDbPlain"/>
              <a:defRPr/>
            </a:pPr>
            <a:r>
              <a:rPr lang="zh-CN" altLang="en-US" sz="1500" b="1" dirty="0"/>
              <a:t>溢出判断</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IEEE754</a:t>
            </a:r>
            <a:r>
              <a:rPr lang="zh-CN" altLang="en-US" sz="2000" b="1" dirty="0"/>
              <a:t>浮点数的加减运算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浮点乘法运算：阶码相加、尾数相乘、规格化舍入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浮点除法运算：阶码相减、尾数相除、规格化舍入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定点运算器</a:t>
            </a:r>
            <a:endParaRPr lang="en-US" altLang="zh-CN" sz="2000" b="1" dirty="0"/>
          </a:p>
          <a:p>
            <a:pPr lvl="1" eaLnBrk="1" fontAlgn="auto" hangingPunct="1">
              <a:spcAft>
                <a:spcPts val="0"/>
              </a:spcAft>
              <a:defRPr/>
            </a:pPr>
            <a:r>
              <a:rPr lang="zh-CN" altLang="en-US" sz="1500" b="1" dirty="0"/>
              <a:t>状态标志：</a:t>
            </a:r>
            <a:r>
              <a:rPr lang="en-US" altLang="zh-CN" sz="1500" b="1" dirty="0"/>
              <a:t>CF</a:t>
            </a:r>
            <a:r>
              <a:rPr lang="zh-CN" altLang="en-US" sz="1500" b="1" dirty="0"/>
              <a:t>、</a:t>
            </a:r>
            <a:r>
              <a:rPr lang="en-US" altLang="zh-CN" sz="1500" b="1" dirty="0"/>
              <a:t>ZF</a:t>
            </a:r>
            <a:r>
              <a:rPr lang="zh-CN" altLang="en-US" sz="1500" b="1" dirty="0"/>
              <a:t>、</a:t>
            </a:r>
            <a:r>
              <a:rPr lang="en-US" altLang="zh-CN" sz="1500" b="1" dirty="0"/>
              <a:t>SF</a:t>
            </a:r>
            <a:r>
              <a:rPr lang="zh-CN" altLang="en-US" sz="1500" b="1" dirty="0"/>
              <a:t>、</a:t>
            </a:r>
            <a:r>
              <a:rPr lang="en-US" altLang="zh-CN" sz="1500" b="1" dirty="0"/>
              <a:t>OF</a:t>
            </a:r>
          </a:p>
          <a:p>
            <a:pPr lvl="1" eaLnBrk="1" fontAlgn="auto" hangingPunct="1">
              <a:spcAft>
                <a:spcPts val="0"/>
              </a:spcAft>
              <a:defRPr/>
            </a:pPr>
            <a:endParaRPr lang="en-US" altLang="zh-CN" sz="1500" b="1" dirty="0"/>
          </a:p>
          <a:p>
            <a:pPr lvl="1" eaLnBrk="1" fontAlgn="auto" hangingPunct="1">
              <a:spcAft>
                <a:spcPts val="0"/>
              </a:spcAft>
              <a:defRPr/>
            </a:pPr>
            <a:r>
              <a:rPr lang="zh-CN" altLang="en-US" sz="1500" b="1" dirty="0"/>
              <a:t>单总线结构运算器、双总线结构运算器、三总线结构运算器</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浮点运算器</a:t>
            </a:r>
            <a:endParaRPr lang="en-US" altLang="zh-CN" sz="2000" b="1" dirty="0"/>
          </a:p>
          <a:p>
            <a:pPr lvl="1" eaLnBrk="1" fontAlgn="auto" hangingPunct="1">
              <a:spcAft>
                <a:spcPts val="0"/>
              </a:spcAft>
              <a:defRPr/>
            </a:pPr>
            <a:r>
              <a:rPr lang="zh-CN" altLang="en-US" sz="1500" b="1" dirty="0"/>
              <a:t>浮点加减法流水线</a:t>
            </a:r>
            <a:endParaRPr lang="en-US" altLang="zh-CN" sz="15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8091253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2</a:t>
            </a:r>
            <a:r>
              <a:rPr lang="zh-CN" altLang="en-US" b="1">
                <a:solidFill>
                  <a:srgbClr val="002060"/>
                </a:solidFill>
                <a:latin typeface="黑体" panose="02010609060101010101" pitchFamily="49" charset="-122"/>
                <a:ea typeface="黑体" panose="02010609060101010101" pitchFamily="49" charset="-122"/>
              </a:rPr>
              <a:t>）</a:t>
            </a:r>
            <a:endParaRPr lang="zh-CN" altLang="en-US" b="1" dirty="0">
              <a:solidFill>
                <a:srgbClr val="002060"/>
              </a:solidFill>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2000" b="1" dirty="0"/>
              <a:t>在</a:t>
            </a:r>
            <a:r>
              <a:rPr lang="en-US" altLang="zh-CN" sz="2000" b="1" dirty="0"/>
              <a:t>Logisim</a:t>
            </a:r>
            <a:r>
              <a:rPr lang="zh-CN" altLang="en-US" sz="2000" b="1" dirty="0"/>
              <a:t>中构建</a:t>
            </a:r>
            <a:r>
              <a:rPr lang="en-US" altLang="zh-CN" sz="2000" b="1" dirty="0"/>
              <a:t>8</a:t>
            </a:r>
            <a:r>
              <a:rPr lang="zh-CN" altLang="en-US" sz="2000" b="1" dirty="0"/>
              <a:t>位可控加减法电路、</a:t>
            </a:r>
            <a:r>
              <a:rPr lang="en-US" altLang="zh-CN" sz="2000" b="1" dirty="0"/>
              <a:t>4</a:t>
            </a:r>
            <a:r>
              <a:rPr lang="zh-CN" altLang="en-US" sz="2000" b="1" dirty="0"/>
              <a:t>位先行进位电路、</a:t>
            </a:r>
            <a:r>
              <a:rPr lang="en-US" altLang="zh-CN" sz="2000" b="1" dirty="0"/>
              <a:t>4</a:t>
            </a:r>
            <a:r>
              <a:rPr lang="zh-CN" altLang="en-US" sz="2000" b="1" dirty="0"/>
              <a:t>位快速加法器、</a:t>
            </a:r>
            <a:r>
              <a:rPr lang="en-US" altLang="zh-CN" sz="2000" b="1" dirty="0"/>
              <a:t>16</a:t>
            </a:r>
            <a:r>
              <a:rPr lang="zh-CN" altLang="en-US" sz="2000" b="1" dirty="0"/>
              <a:t>位组内并行</a:t>
            </a:r>
            <a:r>
              <a:rPr lang="en-US" altLang="zh-CN" sz="2000" b="1" dirty="0"/>
              <a:t>/</a:t>
            </a:r>
            <a:r>
              <a:rPr lang="zh-CN" altLang="en-US" sz="2000" b="1" dirty="0"/>
              <a:t>组间并行加法器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5</a:t>
            </a:r>
            <a:r>
              <a:rPr lang="zh-CN" altLang="en-US" sz="2000" b="1" dirty="0"/>
              <a:t>位无符号阵列乘法器，并利用该乘法器构造补码乘法器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8</a:t>
            </a:r>
            <a:r>
              <a:rPr lang="zh-CN" altLang="en-US" sz="2000" b="1" dirty="0"/>
              <a:t>位原码一位乘法器和补码一位乘法器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中设计能满足</a:t>
            </a:r>
            <a:r>
              <a:rPr lang="en-US" altLang="zh-CN" sz="2000" b="1" dirty="0"/>
              <a:t>MIPS</a:t>
            </a:r>
            <a:r>
              <a:rPr lang="zh-CN" altLang="en-US" sz="2000" b="1" dirty="0"/>
              <a:t>指令系统功能的</a:t>
            </a:r>
            <a:r>
              <a:rPr lang="en-US" altLang="zh-CN" sz="2000" b="1" dirty="0"/>
              <a:t>32</a:t>
            </a:r>
            <a:r>
              <a:rPr lang="zh-CN" altLang="en-US" sz="2000" b="1" dirty="0"/>
              <a:t>位多功能运算器</a:t>
            </a:r>
          </a:p>
        </p:txBody>
      </p:sp>
    </p:spTree>
    <p:extLst>
      <p:ext uri="{BB962C8B-B14F-4D97-AF65-F5344CB8AC3E}">
        <p14:creationId xmlns:p14="http://schemas.microsoft.com/office/powerpoint/2010/main" val="21538980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55124</TotalTime>
  <Words>11897</Words>
  <Application>Microsoft Office PowerPoint</Application>
  <PresentationFormat>全屏显示(4:3)</PresentationFormat>
  <Paragraphs>1524</Paragraphs>
  <Slides>96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96</vt:i4>
      </vt:variant>
    </vt:vector>
  </HeadingPairs>
  <TitlesOfParts>
    <vt:vector size="111" baseType="lpstr">
      <vt:lpstr>Avenir</vt:lpstr>
      <vt:lpstr>PingFang SC</vt:lpstr>
      <vt:lpstr>等线</vt:lpstr>
      <vt:lpstr>黑体</vt:lpstr>
      <vt:lpstr>宋体</vt:lpstr>
      <vt:lpstr>微软雅黑</vt:lpstr>
      <vt:lpstr>Arial</vt:lpstr>
      <vt:lpstr>Arial Rounded MT Bold</vt:lpstr>
      <vt:lpstr>Calibri</vt:lpstr>
      <vt:lpstr>Cambria Math</vt:lpstr>
      <vt:lpstr>Courier New</vt:lpstr>
      <vt:lpstr>Segoe UI Black</vt:lpstr>
      <vt:lpstr>Times New Roman</vt:lpstr>
      <vt:lpstr>Wingdings</vt:lpstr>
      <vt:lpstr>Office 主题</vt:lpstr>
      <vt:lpstr>《计算机组成原理》 （第三讲）</vt:lpstr>
      <vt:lpstr>目录</vt:lpstr>
      <vt:lpstr>第3章    运算方法与运算器</vt:lpstr>
      <vt:lpstr>3.1  计算机中的运算</vt:lpstr>
      <vt:lpstr>3.1.1  C语言中的位运算 </vt:lpstr>
      <vt:lpstr>3.1.2  C语言中的逻辑运算 </vt:lpstr>
      <vt:lpstr>3.1.3  C语言中的移位运算</vt:lpstr>
      <vt:lpstr>3.1.3  C语言中的移位运算</vt:lpstr>
      <vt:lpstr>PowerPoint 演示文稿</vt:lpstr>
      <vt:lpstr>3.1.4  C语言中的算术运算</vt:lpstr>
      <vt:lpstr>3.1.4  C语言中的算术运算</vt:lpstr>
      <vt:lpstr>3.1.4  C语言中的算术运算</vt:lpstr>
      <vt:lpstr>3.2  定点加减法运算</vt:lpstr>
      <vt:lpstr>3.2.1  补码加减法运算方法</vt:lpstr>
      <vt:lpstr>3.2.1  补码加减法运算方法</vt:lpstr>
      <vt:lpstr>3.2.2  溢出及检测</vt:lpstr>
      <vt:lpstr>3.2.2  溢出及检测</vt:lpstr>
      <vt:lpstr>3.2.2  溢出及检测</vt:lpstr>
      <vt:lpstr>3.2.2  溢出及检测</vt:lpstr>
      <vt:lpstr>3.2.2  溢出及检测</vt:lpstr>
      <vt:lpstr>3.2.2  溢出及检测</vt:lpstr>
      <vt:lpstr>3.2.3  加减法的逻辑实现</vt:lpstr>
      <vt:lpstr>3.2.3  加减法的逻辑实现</vt:lpstr>
      <vt:lpstr>逻辑门（1）</vt:lpstr>
      <vt:lpstr>逻辑门（2）</vt:lpstr>
      <vt:lpstr>PowerPoint 演示文稿</vt:lpstr>
      <vt:lpstr>3.2.3  加减法的逻辑实现</vt:lpstr>
      <vt:lpstr>3.2.3  加减法的逻辑实现</vt:lpstr>
      <vt:lpstr>PowerPoint 演示文稿</vt:lpstr>
      <vt:lpstr>3.2.3  加减法的逻辑实现</vt:lpstr>
      <vt:lpstr>3.2.3  加减法的逻辑实现</vt:lpstr>
      <vt:lpstr>PowerPoint 演示文稿</vt:lpstr>
      <vt:lpstr>3.2.3  加减法的逻辑实现</vt:lpstr>
      <vt:lpstr>先行进位加法器</vt:lpstr>
      <vt:lpstr>先行进位加法器</vt:lpstr>
      <vt:lpstr>先行进位加法器</vt:lpstr>
      <vt:lpstr>先行进位加法器</vt:lpstr>
      <vt:lpstr>PowerPoint 演示文稿</vt:lpstr>
      <vt:lpstr>PowerPoint 演示文稿</vt:lpstr>
      <vt:lpstr>PowerPoint 演示文稿</vt:lpstr>
      <vt:lpstr>PowerPoint 演示文稿</vt:lpstr>
      <vt:lpstr>PowerPoint 演示文稿</vt:lpstr>
      <vt:lpstr>PowerPoint 演示文稿</vt:lpstr>
      <vt:lpstr>先行进位加法器</vt:lpstr>
      <vt:lpstr>3.3  定点乘法运算</vt:lpstr>
      <vt:lpstr>3.2.1  原码一位乘法</vt:lpstr>
      <vt:lpstr>3.2.1  原码一位乘法</vt:lpstr>
      <vt:lpstr>3.2.1  原码一位乘法</vt:lpstr>
      <vt:lpstr>PowerPoint 演示文稿</vt:lpstr>
      <vt:lpstr>3.2.1  原码一位乘法</vt:lpstr>
      <vt:lpstr>3.3.2  补码一位乘法</vt:lpstr>
      <vt:lpstr>3.3.2  补码一位乘法</vt:lpstr>
      <vt:lpstr>3.3.2  补码一位乘法 </vt:lpstr>
      <vt:lpstr>3.3.2  补码一位乘法</vt:lpstr>
      <vt:lpstr>PowerPoint 演示文稿</vt:lpstr>
      <vt:lpstr>3.3.3  阵列乘法器 </vt:lpstr>
      <vt:lpstr>3.3.3  阵列乘法器 </vt:lpstr>
      <vt:lpstr>3.3.3  阵列乘法器 </vt:lpstr>
      <vt:lpstr>PowerPoint 演示文稿</vt:lpstr>
      <vt:lpstr>3.3.3  阵列乘法器 </vt:lpstr>
      <vt:lpstr>PowerPoint 演示文稿</vt:lpstr>
      <vt:lpstr>3.3.3  阵列乘法器</vt:lpstr>
      <vt:lpstr>3.3.4  补码阵列乘法器</vt:lpstr>
      <vt:lpstr>3.3.4  补码阵列乘法器</vt:lpstr>
      <vt:lpstr>3.3.5  乘法器性能优化</vt:lpstr>
      <vt:lpstr>3.3.5  乘法器性能优化</vt:lpstr>
      <vt:lpstr>3.4  定点除法运算</vt:lpstr>
      <vt:lpstr>3.4.1  原码一位除法</vt:lpstr>
      <vt:lpstr>3.4.1  原码一位除法</vt:lpstr>
      <vt:lpstr>3.4.1  原码一位除法</vt:lpstr>
      <vt:lpstr>3.4.1  原码一位除法</vt:lpstr>
      <vt:lpstr>3.4.1  原码一位除法</vt:lpstr>
      <vt:lpstr>3.4.1  原码一位除法</vt:lpstr>
      <vt:lpstr>3.4.2  阵列除法器</vt:lpstr>
      <vt:lpstr>PowerPoint 演示文稿</vt:lpstr>
      <vt:lpstr>3.4.2  阵列除法器</vt:lpstr>
      <vt:lpstr>3.5  浮点运算</vt:lpstr>
      <vt:lpstr>3.5.1  浮点加减法运算</vt:lpstr>
      <vt:lpstr>PowerPoint 演示文稿</vt:lpstr>
      <vt:lpstr>3.5.1  浮点加减法运算</vt:lpstr>
      <vt:lpstr>3.5.1  浮点加减法运算</vt:lpstr>
      <vt:lpstr>3.5.2  浮点乘法运算</vt:lpstr>
      <vt:lpstr>3.5.3  浮点除法运算</vt:lpstr>
      <vt:lpstr>3.6    运算器</vt:lpstr>
      <vt:lpstr>3.6.1  定点运算器</vt:lpstr>
      <vt:lpstr>3.6.1  定点运算器</vt:lpstr>
      <vt:lpstr>3.6.1  定点运算器</vt:lpstr>
      <vt:lpstr>3.6.1  定点运算器</vt:lpstr>
      <vt:lpstr>3.6.1  定点运算器</vt:lpstr>
      <vt:lpstr>3.6.1  定点运算器</vt:lpstr>
      <vt:lpstr>3.6.2  浮点运算</vt:lpstr>
      <vt:lpstr>本章小结</vt:lpstr>
      <vt:lpstr>PowerPoint 演示文稿</vt:lpstr>
      <vt:lpstr>PowerPoint 演示文稿</vt:lpstr>
      <vt:lpstr>PowerPoint 演示文稿</vt:lpstr>
      <vt:lpstr>实践训练（实验2）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599</cp:revision>
  <dcterms:created xsi:type="dcterms:W3CDTF">2018-06-12T02:23:51Z</dcterms:created>
  <dcterms:modified xsi:type="dcterms:W3CDTF">2026-03-30T08:55:39Z</dcterms:modified>
</cp:coreProperties>
</file>