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97"/>
  </p:notesMasterIdLst>
  <p:sldIdLst>
    <p:sldId id="256" r:id="rId2"/>
    <p:sldId id="620" r:id="rId3"/>
    <p:sldId id="509" r:id="rId4"/>
    <p:sldId id="1111" r:id="rId5"/>
    <p:sldId id="1093" r:id="rId6"/>
    <p:sldId id="1114" r:id="rId7"/>
    <p:sldId id="1120" r:id="rId8"/>
    <p:sldId id="1121" r:id="rId9"/>
    <p:sldId id="1122" r:id="rId10"/>
    <p:sldId id="1212" r:id="rId11"/>
    <p:sldId id="1213" r:id="rId12"/>
    <p:sldId id="1200" r:id="rId13"/>
    <p:sldId id="1123" r:id="rId14"/>
    <p:sldId id="1124" r:id="rId15"/>
    <p:sldId id="1117" r:id="rId16"/>
    <p:sldId id="1125" r:id="rId17"/>
    <p:sldId id="1126" r:id="rId18"/>
    <p:sldId id="1094" r:id="rId19"/>
    <p:sldId id="1128" r:id="rId20"/>
    <p:sldId id="1201" r:id="rId21"/>
    <p:sldId id="1095" r:id="rId22"/>
    <p:sldId id="1129" r:id="rId23"/>
    <p:sldId id="1156" r:id="rId24"/>
    <p:sldId id="1130" r:id="rId25"/>
    <p:sldId id="1157" r:id="rId26"/>
    <p:sldId id="1118" r:id="rId27"/>
    <p:sldId id="1202" r:id="rId28"/>
    <p:sldId id="1131" r:id="rId29"/>
    <p:sldId id="1135" r:id="rId30"/>
    <p:sldId id="1132" r:id="rId31"/>
    <p:sldId id="1158" r:id="rId32"/>
    <p:sldId id="1133" r:id="rId33"/>
    <p:sldId id="1136" r:id="rId34"/>
    <p:sldId id="1203" r:id="rId35"/>
    <p:sldId id="1096" r:id="rId36"/>
    <p:sldId id="1137" r:id="rId37"/>
    <p:sldId id="1138" r:id="rId38"/>
    <p:sldId id="1139" r:id="rId39"/>
    <p:sldId id="1159" r:id="rId40"/>
    <p:sldId id="1112" r:id="rId41"/>
    <p:sldId id="1140" r:id="rId42"/>
    <p:sldId id="1161" r:id="rId43"/>
    <p:sldId id="1119" r:id="rId44"/>
    <p:sldId id="1142" r:id="rId45"/>
    <p:sldId id="1141" r:id="rId46"/>
    <p:sldId id="1143" r:id="rId47"/>
    <p:sldId id="1145" r:id="rId48"/>
    <p:sldId id="1147" r:id="rId49"/>
    <p:sldId id="1144" r:id="rId50"/>
    <p:sldId id="1148" r:id="rId51"/>
    <p:sldId id="1149" r:id="rId52"/>
    <p:sldId id="1162" r:id="rId53"/>
    <p:sldId id="1163" r:id="rId54"/>
    <p:sldId id="1164" r:id="rId55"/>
    <p:sldId id="1165" r:id="rId56"/>
    <p:sldId id="1166" r:id="rId57"/>
    <p:sldId id="1097" r:id="rId58"/>
    <p:sldId id="1167" r:id="rId59"/>
    <p:sldId id="1168" r:id="rId60"/>
    <p:sldId id="1098" r:id="rId61"/>
    <p:sldId id="1169" r:id="rId62"/>
    <p:sldId id="1099" r:id="rId63"/>
    <p:sldId id="1170" r:id="rId64"/>
    <p:sldId id="1172" r:id="rId65"/>
    <p:sldId id="1171" r:id="rId66"/>
    <p:sldId id="1100" r:id="rId67"/>
    <p:sldId id="1174" r:id="rId68"/>
    <p:sldId id="1198" r:id="rId69"/>
    <p:sldId id="1173" r:id="rId70"/>
    <p:sldId id="1199" r:id="rId71"/>
    <p:sldId id="1101" r:id="rId72"/>
    <p:sldId id="1205" r:id="rId73"/>
    <p:sldId id="1175" r:id="rId74"/>
    <p:sldId id="1176" r:id="rId75"/>
    <p:sldId id="1177" r:id="rId76"/>
    <p:sldId id="1179" r:id="rId77"/>
    <p:sldId id="1178" r:id="rId78"/>
    <p:sldId id="1206" r:id="rId79"/>
    <p:sldId id="1181" r:id="rId80"/>
    <p:sldId id="1183" r:id="rId81"/>
    <p:sldId id="1184" r:id="rId82"/>
    <p:sldId id="1182" r:id="rId83"/>
    <p:sldId id="1185" r:id="rId84"/>
    <p:sldId id="1186" r:id="rId85"/>
    <p:sldId id="1113" r:id="rId86"/>
    <p:sldId id="1187" r:id="rId87"/>
    <p:sldId id="1188" r:id="rId88"/>
    <p:sldId id="1211" r:id="rId89"/>
    <p:sldId id="1189" r:id="rId90"/>
    <p:sldId id="1208" r:id="rId91"/>
    <p:sldId id="1209" r:id="rId92"/>
    <p:sldId id="1210" r:id="rId93"/>
    <p:sldId id="1190" r:id="rId94"/>
    <p:sldId id="1191" r:id="rId95"/>
    <p:sldId id="1106" r:id="rId9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40" autoAdjust="0"/>
  </p:normalViewPr>
  <p:slideViewPr>
    <p:cSldViewPr>
      <p:cViewPr>
        <p:scale>
          <a:sx n="94" d="100"/>
          <a:sy n="94" d="100"/>
        </p:scale>
        <p:origin x="1066" y="-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227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406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14617335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2060"/>
                </a:solidFill>
              </a:rPr>
              <a:t>《</a:t>
            </a:r>
            <a:r>
              <a:rPr lang="zh-CN" altLang="en-US" sz="7200" b="1" dirty="0">
                <a:solidFill>
                  <a:srgbClr val="00206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2060"/>
                </a:solidFill>
              </a:rPr>
              <a:t>》</a:t>
            </a:r>
            <a:br>
              <a:rPr lang="en-US" altLang="zh-CN" sz="6000" b="1" dirty="0">
                <a:solidFill>
                  <a:srgbClr val="002060"/>
                </a:solidFill>
              </a:rPr>
            </a:br>
            <a:r>
              <a:rPr lang="zh-CN" altLang="en-US" sz="4000" b="1" dirty="0">
                <a:solidFill>
                  <a:srgbClr val="002060"/>
                </a:solidFill>
              </a:rPr>
              <a:t>（第二讲）</a:t>
            </a:r>
            <a:endParaRPr lang="zh-CN" altLang="en-US" sz="6000" b="1" dirty="0">
              <a:solidFill>
                <a:srgbClr val="00206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108520" y="3836640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张海英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3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章　数据信息的表示</a:t>
            </a:r>
            <a:r>
              <a:rPr lang="zh-CN" altLang="en-US" b="1" dirty="0"/>
              <a:t>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章　存储系统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章　总线系统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89887"/>
            <a:ext cx="8229600" cy="1143000"/>
          </a:xfrm>
        </p:spPr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数据信息的表示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5375" y="1916832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2.1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数据表示的作用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2.2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数值数据的表示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2.3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非数值数据的表示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2.4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数据信息的校验　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2.1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数据表示的作用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413581"/>
            <a:ext cx="8229600" cy="51117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b="1" dirty="0"/>
              <a:t>在设计和选择计算机内的</a:t>
            </a:r>
            <a:r>
              <a:rPr lang="zh-CN" altLang="en-US" sz="2000" b="1" dirty="0">
                <a:solidFill>
                  <a:srgbClr val="C00000"/>
                </a:solidFill>
              </a:rPr>
              <a:t>数据表示方式</a:t>
            </a:r>
            <a:r>
              <a:rPr lang="zh-CN" altLang="en-US" sz="2000" b="1" dirty="0"/>
              <a:t>时，一般需要综合考虑以下几方面的因素：</a:t>
            </a:r>
            <a:endParaRPr lang="en-US" altLang="zh-CN" sz="20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数据的类型</a:t>
            </a:r>
            <a:r>
              <a:rPr lang="zh-CN" altLang="en-US" sz="1800" b="1" dirty="0"/>
              <a:t>：数值数据（小数、整数、实数（浮点数）等）、非数值数据（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码、汉字等）。</a:t>
            </a:r>
            <a:endParaRPr lang="en-US" altLang="zh-CN" sz="18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表示的范围和精度</a:t>
            </a:r>
            <a:r>
              <a:rPr lang="zh-CN" altLang="en-US" sz="1800" b="1" dirty="0"/>
              <a:t>：通过选择适当的数据类型和字长来实现。</a:t>
            </a:r>
            <a:endParaRPr lang="en-US" altLang="zh-CN" sz="18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存储和处理的代价</a:t>
            </a:r>
            <a:r>
              <a:rPr lang="zh-CN" altLang="en-US" sz="1800" b="1" dirty="0"/>
              <a:t>：数据格式易于表示、存储和处理。</a:t>
            </a:r>
            <a:endParaRPr lang="en-US" altLang="zh-CN" sz="1800" b="1" dirty="0"/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endParaRPr lang="en-US" altLang="zh-CN" sz="1800" b="1" dirty="0">
              <a:solidFill>
                <a:srgbClr val="C00000"/>
              </a:solidFill>
            </a:endParaRP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>
                <a:solidFill>
                  <a:srgbClr val="C00000"/>
                </a:solidFill>
              </a:rPr>
              <a:t>软件的可移植性</a:t>
            </a:r>
            <a:r>
              <a:rPr lang="zh-CN" altLang="en-US" sz="1800" b="1" dirty="0"/>
              <a:t>：数据格式符合相应的规范，方便软件在不同计算机之间的移植。</a:t>
            </a:r>
            <a:endParaRPr lang="en-US" altLang="zh-CN" sz="18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8638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2.2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数值数据的表示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zh-CN" altLang="en-US" sz="2000" b="1" dirty="0"/>
              <a:t>真值（二进制数）：</a:t>
            </a:r>
            <a:endParaRPr lang="en-US" altLang="zh-CN" sz="2000" b="1" dirty="0"/>
          </a:p>
          <a:p>
            <a:pPr lvl="2" eaLnBrk="1" hangingPunct="1"/>
            <a:r>
              <a:rPr lang="en-US" altLang="zh-CN" sz="1600" b="1" dirty="0"/>
              <a:t>+1011</a:t>
            </a:r>
            <a:r>
              <a:rPr lang="zh-CN" altLang="en-US" sz="1600" b="1" dirty="0"/>
              <a:t>（十进制：</a:t>
            </a:r>
            <a:r>
              <a:rPr lang="en-US" altLang="zh-CN" sz="1600" b="1" dirty="0"/>
              <a:t>+11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-1100</a:t>
            </a:r>
            <a:r>
              <a:rPr lang="zh-CN" altLang="en-US" sz="1600" b="1" dirty="0"/>
              <a:t>（十进制：</a:t>
            </a:r>
            <a:r>
              <a:rPr lang="en-US" altLang="zh-CN" sz="1600" b="1" dirty="0"/>
              <a:t>-12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+0.1011</a:t>
            </a:r>
            <a:r>
              <a:rPr lang="zh-CN" altLang="en-US" sz="1600" b="1" dirty="0"/>
              <a:t>（十进制：</a:t>
            </a:r>
            <a:r>
              <a:rPr lang="en-US" altLang="zh-CN" sz="1600" b="1" dirty="0"/>
              <a:t>+0.6875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-0.1100</a:t>
            </a:r>
            <a:r>
              <a:rPr lang="zh-CN" altLang="en-US" sz="1600" b="1" dirty="0"/>
              <a:t>（十进制：</a:t>
            </a:r>
            <a:r>
              <a:rPr lang="en-US" altLang="zh-CN" sz="1600" b="1" dirty="0"/>
              <a:t>-0.75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r>
              <a:rPr lang="zh-CN" altLang="en-US" sz="2000" b="1" dirty="0"/>
              <a:t>机器数（机器码）：</a:t>
            </a:r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原码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反码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补码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移码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206337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B3F6B-4EF5-47B5-B75A-727E0AAA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229600" cy="5314602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、原码</a:t>
            </a:r>
            <a:endParaRPr lang="en-US" altLang="zh-CN" sz="2400" b="1" dirty="0"/>
          </a:p>
          <a:p>
            <a:pPr lvl="2" eaLnBrk="1" hangingPunct="1"/>
            <a:r>
              <a:rPr lang="zh-CN" altLang="en-US" sz="1800" b="1" dirty="0"/>
              <a:t>正小数：</a:t>
            </a:r>
            <a:r>
              <a:rPr lang="en-US" altLang="zh-CN" sz="1800" b="1" dirty="0"/>
              <a:t>x=+0.1101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=0.1101</a:t>
            </a:r>
          </a:p>
          <a:p>
            <a:pPr lvl="2" eaLnBrk="1" hangingPunct="1"/>
            <a:r>
              <a:rPr lang="zh-CN" altLang="en-US" sz="1800" b="1" dirty="0"/>
              <a:t>正整数：</a:t>
            </a:r>
            <a:r>
              <a:rPr lang="en-US" altLang="zh-CN" sz="1800" b="1" dirty="0"/>
              <a:t>x=+1101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=0,1101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负小数：</a:t>
            </a:r>
            <a:r>
              <a:rPr lang="en-US" altLang="zh-CN" sz="1800" b="1" dirty="0"/>
              <a:t>x=-0.1111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=1.1111</a:t>
            </a:r>
          </a:p>
          <a:p>
            <a:pPr lvl="2" eaLnBrk="1" hangingPunct="1"/>
            <a:r>
              <a:rPr lang="zh-CN" altLang="en-US" sz="1800" b="1" dirty="0"/>
              <a:t>负整数：</a:t>
            </a:r>
            <a:r>
              <a:rPr lang="en-US" altLang="zh-CN" sz="1800" b="1" dirty="0"/>
              <a:t>x=-1111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=1,1111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0</a:t>
            </a:r>
            <a:r>
              <a:rPr lang="zh-CN" altLang="en-US" sz="1800" b="1" dirty="0"/>
              <a:t>的原码（小数）：</a:t>
            </a:r>
            <a:r>
              <a:rPr lang="en-US" altLang="zh-CN" sz="1800" b="1" dirty="0"/>
              <a:t>[+0]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=0.0000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[-0]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=1.0000</a:t>
            </a:r>
          </a:p>
          <a:p>
            <a:pPr lvl="2" eaLnBrk="1" hangingPunct="1"/>
            <a:r>
              <a:rPr lang="en-US" altLang="zh-CN" sz="1800" b="1" dirty="0"/>
              <a:t>0</a:t>
            </a:r>
            <a:r>
              <a:rPr lang="zh-CN" altLang="en-US" sz="1800" b="1" dirty="0"/>
              <a:t>的原码（整数）：</a:t>
            </a:r>
            <a:r>
              <a:rPr lang="en-US" altLang="zh-CN" sz="1800" b="1" dirty="0"/>
              <a:t>[+0]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=0,0000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[-0]</a:t>
            </a:r>
            <a:r>
              <a:rPr lang="zh-CN" altLang="en-US" sz="1800" b="1" baseline="-25000" dirty="0"/>
              <a:t>原</a:t>
            </a:r>
            <a:r>
              <a:rPr lang="en-US" altLang="zh-CN" sz="1800" b="1" dirty="0"/>
              <a:t>=1,0000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正数的原码数值位为本身，符号位为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；负数的原码数值位为本身，符号位为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2000" b="1" dirty="0">
                <a:highlight>
                  <a:srgbClr val="FFFF00"/>
                </a:highlight>
              </a:rPr>
              <a:t>注：</a:t>
            </a:r>
            <a:r>
              <a:rPr lang="en-US" altLang="zh-CN" sz="2000" b="1" dirty="0">
                <a:highlight>
                  <a:srgbClr val="FFFF00"/>
                </a:highlight>
              </a:rPr>
              <a:t>+0</a:t>
            </a:r>
            <a:r>
              <a:rPr lang="zh-CN" altLang="en-US" sz="2000" b="1" dirty="0">
                <a:highlight>
                  <a:srgbClr val="FFFF00"/>
                </a:highlight>
              </a:rPr>
              <a:t>的原码和</a:t>
            </a:r>
            <a:r>
              <a:rPr lang="en-US" altLang="zh-CN" sz="2000" b="1" dirty="0">
                <a:highlight>
                  <a:srgbClr val="FFFF00"/>
                </a:highlight>
              </a:rPr>
              <a:t>-0</a:t>
            </a:r>
            <a:r>
              <a:rPr lang="zh-CN" altLang="en-US" sz="2000" b="1" dirty="0">
                <a:highlight>
                  <a:srgbClr val="FFFF00"/>
                </a:highlight>
              </a:rPr>
              <a:t>的原码是不一样的</a:t>
            </a:r>
            <a:r>
              <a:rPr lang="zh-CN" altLang="en-US" sz="2000" b="1" dirty="0"/>
              <a:t>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48432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52B41-D1A8-4C5D-B50E-43111DC6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229600" cy="511256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2</a:t>
            </a:r>
            <a:r>
              <a:rPr lang="zh-CN" altLang="en-US" sz="2400" b="1" dirty="0"/>
              <a:t>、反码</a:t>
            </a:r>
          </a:p>
          <a:p>
            <a:pPr lvl="2" eaLnBrk="1" hangingPunct="1"/>
            <a:r>
              <a:rPr lang="zh-CN" altLang="en-US" sz="1800" b="1" dirty="0"/>
              <a:t>正小数：</a:t>
            </a:r>
            <a:r>
              <a:rPr lang="en-US" altLang="zh-CN" sz="1800" b="1" dirty="0"/>
              <a:t>x=+0.1101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=0.1101</a:t>
            </a:r>
          </a:p>
          <a:p>
            <a:pPr lvl="2" eaLnBrk="1" hangingPunct="1"/>
            <a:r>
              <a:rPr lang="zh-CN" altLang="en-US" sz="1800" b="1" dirty="0"/>
              <a:t>正整数：</a:t>
            </a:r>
            <a:r>
              <a:rPr lang="en-US" altLang="zh-CN" sz="1800" b="1" dirty="0"/>
              <a:t>x=+1101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=0,1101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负小数：</a:t>
            </a:r>
            <a:r>
              <a:rPr lang="en-US" altLang="zh-CN" sz="1800" b="1" dirty="0"/>
              <a:t>x=-0.1111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=1.0000</a:t>
            </a:r>
          </a:p>
          <a:p>
            <a:pPr lvl="2" eaLnBrk="1" hangingPunct="1"/>
            <a:r>
              <a:rPr lang="zh-CN" altLang="en-US" sz="1800" b="1" dirty="0"/>
              <a:t>负整数：</a:t>
            </a:r>
            <a:r>
              <a:rPr lang="en-US" altLang="zh-CN" sz="1800" b="1" dirty="0"/>
              <a:t>x=-1111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=1,0000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0</a:t>
            </a:r>
            <a:r>
              <a:rPr lang="zh-CN" altLang="en-US" sz="1800" b="1" dirty="0"/>
              <a:t>的反码（小数）：</a:t>
            </a:r>
            <a:r>
              <a:rPr lang="en-US" altLang="zh-CN" sz="1800" b="1" dirty="0"/>
              <a:t>[+0]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=0.0000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[-0]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=1.1111</a:t>
            </a:r>
          </a:p>
          <a:p>
            <a:pPr lvl="2" eaLnBrk="1" hangingPunct="1"/>
            <a:r>
              <a:rPr lang="en-US" altLang="zh-CN" sz="1800" b="1" dirty="0"/>
              <a:t>0</a:t>
            </a:r>
            <a:r>
              <a:rPr lang="zh-CN" altLang="en-US" sz="1800" b="1" dirty="0"/>
              <a:t>的反码（整数）：</a:t>
            </a:r>
            <a:r>
              <a:rPr lang="en-US" altLang="zh-CN" sz="1800" b="1" dirty="0"/>
              <a:t>[+0]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=0,0000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[-0]</a:t>
            </a:r>
            <a:r>
              <a:rPr lang="zh-CN" altLang="en-US" sz="1800" b="1" baseline="-25000" dirty="0"/>
              <a:t>反</a:t>
            </a:r>
            <a:r>
              <a:rPr lang="en-US" altLang="zh-CN" sz="1800" b="1" dirty="0"/>
              <a:t>=1,1111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正数的反码数值位为本身，符号位为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；负数的反码数值位为本身</a:t>
            </a:r>
            <a:r>
              <a:rPr lang="zh-CN" altLang="en-US" sz="1800" b="1" dirty="0">
                <a:solidFill>
                  <a:srgbClr val="C00000"/>
                </a:solidFill>
              </a:rPr>
              <a:t>取反</a:t>
            </a:r>
            <a:r>
              <a:rPr lang="zh-CN" altLang="en-US" sz="1800" b="1" dirty="0"/>
              <a:t>，符号位为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1800" b="1" dirty="0">
                <a:highlight>
                  <a:srgbClr val="FFFF00"/>
                </a:highlight>
              </a:rPr>
              <a:t>注：</a:t>
            </a:r>
            <a:r>
              <a:rPr lang="en-US" altLang="zh-CN" sz="1800" b="1" dirty="0">
                <a:highlight>
                  <a:srgbClr val="FFFF00"/>
                </a:highlight>
              </a:rPr>
              <a:t>+0</a:t>
            </a:r>
            <a:r>
              <a:rPr lang="zh-CN" altLang="en-US" sz="1800" b="1" dirty="0">
                <a:highlight>
                  <a:srgbClr val="FFFF00"/>
                </a:highlight>
              </a:rPr>
              <a:t>的反码和</a:t>
            </a:r>
            <a:r>
              <a:rPr lang="en-US" altLang="zh-CN" sz="1800" b="1" dirty="0">
                <a:highlight>
                  <a:srgbClr val="FFFF00"/>
                </a:highlight>
              </a:rPr>
              <a:t>-0</a:t>
            </a:r>
            <a:r>
              <a:rPr lang="zh-CN" altLang="en-US" sz="1800" b="1" dirty="0">
                <a:highlight>
                  <a:srgbClr val="FFFF00"/>
                </a:highlight>
              </a:rPr>
              <a:t>的反码是不一样的</a:t>
            </a:r>
            <a:r>
              <a:rPr lang="zh-CN" altLang="en-US" sz="1800" b="1" dirty="0"/>
              <a:t>。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68742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B5F5B-C63B-4629-B079-A8D49FB5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5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6395" y="1034734"/>
            <a:ext cx="8229600" cy="533133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、补码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800" b="1" dirty="0"/>
              <a:t>模的概念</a:t>
            </a:r>
            <a:endParaRPr lang="en-US" altLang="zh-CN" sz="18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600" b="1" dirty="0"/>
              <a:t>时钟：模（模数）为</a:t>
            </a:r>
            <a:r>
              <a:rPr lang="en-US" altLang="zh-CN" sz="1600" b="1" dirty="0"/>
              <a:t>12</a:t>
            </a: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en-US" altLang="zh-CN" sz="1600" b="1" dirty="0"/>
              <a:t>15</a:t>
            </a:r>
            <a:r>
              <a:rPr lang="zh-CN" altLang="en-US" sz="1600" b="1" dirty="0"/>
              <a:t>点，即下午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点，因此有：</a:t>
            </a:r>
            <a:r>
              <a:rPr lang="en-US" altLang="zh-CN" sz="1600" b="1" dirty="0"/>
              <a:t>15 ≡ 12+3 ≡ 3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mod 12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800" b="1" dirty="0"/>
              <a:t>例：假设时钟的刻度为</a:t>
            </a:r>
            <a:r>
              <a:rPr lang="en-US" altLang="zh-CN" sz="1800" b="1" dirty="0"/>
              <a:t>11</a:t>
            </a:r>
            <a:r>
              <a:rPr lang="zh-CN" altLang="en-US" sz="1800" b="1" dirty="0"/>
              <a:t>点，为了将时钟调到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点，有二种方法：</a:t>
            </a:r>
            <a:endParaRPr lang="en-US" altLang="zh-CN" sz="1800" b="1" dirty="0"/>
          </a:p>
          <a:p>
            <a:pPr lvl="4" eaLnBrk="1" hangingPunct="1"/>
            <a:r>
              <a:rPr lang="zh-CN" altLang="en-US" sz="1800" b="1" dirty="0"/>
              <a:t>沿着顺时针拨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小时，或者沿着逆时针拨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小时。</a:t>
            </a:r>
            <a:endParaRPr lang="en-US" altLang="zh-CN" sz="18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即：</a:t>
            </a:r>
            <a:r>
              <a:rPr lang="en-US" altLang="zh-CN" sz="1600" b="1" dirty="0"/>
              <a:t>11 </a:t>
            </a:r>
            <a:r>
              <a:rPr lang="en-US" altLang="zh-CN" sz="1600" b="1" dirty="0">
                <a:solidFill>
                  <a:srgbClr val="C00000"/>
                </a:solidFill>
              </a:rPr>
              <a:t>+ 4 </a:t>
            </a:r>
            <a:r>
              <a:rPr lang="en-US" altLang="zh-CN" sz="1600" b="1" dirty="0"/>
              <a:t>≡ 3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mod 12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11 </a:t>
            </a:r>
            <a:r>
              <a:rPr lang="en-US" altLang="zh-CN" sz="1600" b="1" dirty="0">
                <a:solidFill>
                  <a:srgbClr val="C00000"/>
                </a:solidFill>
              </a:rPr>
              <a:t>- 8 </a:t>
            </a:r>
            <a:r>
              <a:rPr lang="en-US" altLang="zh-CN" sz="1600" b="1" dirty="0"/>
              <a:t>≡ 3 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mod 12</a:t>
            </a:r>
            <a:r>
              <a:rPr lang="zh-CN" altLang="en-US" sz="1600" b="1" dirty="0"/>
              <a:t>），或者：</a:t>
            </a:r>
            <a:r>
              <a:rPr lang="en-US" altLang="zh-CN" sz="1600" b="1" dirty="0">
                <a:solidFill>
                  <a:srgbClr val="C00000"/>
                </a:solidFill>
              </a:rPr>
              <a:t>-8 ≡ 12-8 ≡ +4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mod 12</a:t>
            </a:r>
            <a:r>
              <a:rPr lang="zh-CN" altLang="en-US" sz="1600" b="1" dirty="0">
                <a:solidFill>
                  <a:srgbClr val="C00000"/>
                </a:solidFill>
              </a:rPr>
              <a:t>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r>
              <a:rPr lang="en-US" altLang="zh-CN" sz="1600" b="1" dirty="0">
                <a:solidFill>
                  <a:srgbClr val="C00000"/>
                </a:solidFill>
              </a:rPr>
              <a:t>-8</a:t>
            </a:r>
            <a:r>
              <a:rPr lang="zh-CN" altLang="en-US" sz="1600" b="1" dirty="0">
                <a:solidFill>
                  <a:srgbClr val="C00000"/>
                </a:solidFill>
              </a:rPr>
              <a:t>与</a:t>
            </a:r>
            <a:r>
              <a:rPr lang="en-US" altLang="zh-CN" sz="1600" b="1" dirty="0">
                <a:solidFill>
                  <a:srgbClr val="C00000"/>
                </a:solidFill>
              </a:rPr>
              <a:t>+4</a:t>
            </a:r>
            <a:r>
              <a:rPr lang="zh-CN" altLang="en-US" sz="1600" b="1" dirty="0"/>
              <a:t>对模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是互补的，或者说以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为模时，</a:t>
            </a:r>
            <a:r>
              <a:rPr lang="en-US" altLang="zh-CN" sz="1600" b="1" dirty="0">
                <a:solidFill>
                  <a:srgbClr val="C00000"/>
                </a:solidFill>
              </a:rPr>
              <a:t>-8</a:t>
            </a:r>
            <a:r>
              <a:rPr lang="zh-CN" altLang="en-US" sz="1600" b="1" dirty="0"/>
              <a:t>的补码是</a:t>
            </a:r>
            <a:r>
              <a:rPr lang="en-US" altLang="zh-CN" sz="1600" b="1" dirty="0">
                <a:solidFill>
                  <a:srgbClr val="C00000"/>
                </a:solidFill>
              </a:rPr>
              <a:t>+4</a:t>
            </a: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以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为模时，</a:t>
            </a:r>
            <a:r>
              <a:rPr lang="en-US" altLang="zh-CN" sz="1600" b="1" dirty="0"/>
              <a:t>-2</a:t>
            </a:r>
            <a:r>
              <a:rPr lang="zh-CN" altLang="en-US" sz="1600" b="1" dirty="0"/>
              <a:t>的补码是</a:t>
            </a:r>
            <a:r>
              <a:rPr lang="en-US" altLang="zh-CN" sz="1600" b="1" dirty="0"/>
              <a:t>+10</a:t>
            </a:r>
            <a:r>
              <a:rPr lang="zh-CN" altLang="en-US" sz="1600" b="1" dirty="0"/>
              <a:t>；以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为模时，</a:t>
            </a:r>
            <a:r>
              <a:rPr lang="en-US" altLang="zh-CN" sz="1600" b="1" dirty="0"/>
              <a:t>-5</a:t>
            </a:r>
            <a:r>
              <a:rPr lang="zh-CN" altLang="en-US" sz="1600" b="1" dirty="0"/>
              <a:t>的补码是</a:t>
            </a:r>
            <a:r>
              <a:rPr lang="en-US" altLang="zh-CN" sz="1600" b="1" dirty="0"/>
              <a:t>+7</a:t>
            </a: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highlight>
                  <a:srgbClr val="FFFF00"/>
                </a:highlight>
              </a:rPr>
              <a:t>一个负数在某个模的前提下，可以找到其对应的一个正数（补码）</a:t>
            </a:r>
            <a:endParaRPr lang="en-US" altLang="zh-CN" sz="1800" b="1" dirty="0">
              <a:highlight>
                <a:srgbClr val="FFFF00"/>
              </a:highligh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E72D66-6DAB-4CB1-A6EB-777641720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5" y="4907095"/>
            <a:ext cx="1440160" cy="144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E58E64-2C35-4497-B12D-5A9A7F4BC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92" y="2996952"/>
            <a:ext cx="1559386" cy="155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5451B6D8-FDC7-453A-846B-838FC19AA837}"/>
              </a:ext>
            </a:extLst>
          </p:cNvPr>
          <p:cNvSpPr/>
          <p:nvPr/>
        </p:nvSpPr>
        <p:spPr>
          <a:xfrm>
            <a:off x="899592" y="4541206"/>
            <a:ext cx="267551" cy="3658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75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B1709-1CEC-449D-8DCB-D83448A0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229600" cy="5616624"/>
          </a:xfrm>
        </p:spPr>
        <p:txBody>
          <a:bodyPr/>
          <a:lstStyle/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）补码的定义（</a:t>
            </a:r>
            <a:r>
              <a:rPr lang="en-US" altLang="zh-CN" sz="1800" b="1" dirty="0"/>
              <a:t>P21-</a:t>
            </a:r>
            <a:r>
              <a:rPr lang="zh-CN" altLang="en-US" sz="1800" b="1" dirty="0"/>
              <a:t>公式</a:t>
            </a:r>
            <a:r>
              <a:rPr lang="en-US" altLang="zh-CN" sz="1800" b="1" dirty="0"/>
              <a:t>2-5,2-6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定点小数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的补码形式为</a:t>
            </a:r>
            <a:r>
              <a:rPr lang="en-US" altLang="zh-CN" sz="1800" b="1" dirty="0">
                <a:solidFill>
                  <a:srgbClr val="C00000"/>
                </a:solidFill>
              </a:rPr>
              <a:t>x0.</a:t>
            </a:r>
            <a:r>
              <a:rPr lang="en-US" altLang="zh-CN" sz="1800" b="1" dirty="0"/>
              <a:t>x1x2…</a:t>
            </a:r>
            <a:r>
              <a:rPr lang="en-US" altLang="zh-CN" sz="1800" b="1" dirty="0" err="1"/>
              <a:t>xn</a:t>
            </a:r>
            <a:r>
              <a:rPr lang="en-US" altLang="zh-CN" sz="1800" b="1" dirty="0"/>
              <a:t>, x0</a:t>
            </a:r>
            <a:r>
              <a:rPr lang="zh-CN" altLang="en-US" sz="1800" b="1" dirty="0"/>
              <a:t>为符号位，模为最高进位的权值，故其模为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dirty="0"/>
              <a:t>补表示定点小数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的补码，即机器数，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为真值，则补码公式为</a:t>
            </a:r>
            <a:r>
              <a:rPr lang="en-US" altLang="zh-CN" sz="1800" b="1" dirty="0"/>
              <a:t>2-5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定点整数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的补码形式为</a:t>
            </a:r>
            <a:r>
              <a:rPr lang="en-US" altLang="zh-CN" sz="1800" b="1" dirty="0">
                <a:solidFill>
                  <a:srgbClr val="C00000"/>
                </a:solidFill>
              </a:rPr>
              <a:t>x0</a:t>
            </a:r>
            <a:r>
              <a:rPr lang="en-US" altLang="zh-CN" sz="1800" b="1" dirty="0"/>
              <a:t>x1x2…</a:t>
            </a:r>
            <a:r>
              <a:rPr lang="en-US" altLang="zh-CN" sz="1800" b="1" dirty="0" err="1"/>
              <a:t>xn</a:t>
            </a:r>
            <a:r>
              <a:rPr lang="en-US" altLang="zh-CN" sz="1800" b="1" dirty="0"/>
              <a:t>, x0</a:t>
            </a:r>
            <a:r>
              <a:rPr lang="zh-CN" altLang="en-US" sz="1800" b="1" dirty="0"/>
              <a:t>为符号位，共</a:t>
            </a:r>
            <a:r>
              <a:rPr lang="en-US" altLang="zh-CN" sz="1800" b="1" dirty="0"/>
              <a:t>n+1</a:t>
            </a:r>
            <a:r>
              <a:rPr lang="zh-CN" altLang="en-US" sz="1800" b="1" dirty="0"/>
              <a:t>位，则模为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n+1</a:t>
            </a:r>
            <a:r>
              <a:rPr lang="en-US" altLang="zh-CN" sz="1800" b="1" dirty="0"/>
              <a:t>.[x]</a:t>
            </a:r>
            <a:r>
              <a:rPr lang="zh-CN" altLang="en-US" sz="1800" b="1" dirty="0"/>
              <a:t>补为公式</a:t>
            </a:r>
            <a:r>
              <a:rPr lang="en-US" altLang="zh-CN" sz="1800" b="1" dirty="0"/>
              <a:t>2-6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800" b="1" dirty="0"/>
          </a:p>
          <a:p>
            <a:pPr marL="1255713" lvl="2" defTabSz="777875" eaLnBrk="1" hangingPunct="1">
              <a:lnSpc>
                <a:spcPct val="150000"/>
              </a:lnSpc>
              <a:tabLst>
                <a:tab pos="1882775" algn="l"/>
                <a:tab pos="1971675" algn="l"/>
                <a:tab pos="2062163" algn="l"/>
                <a:tab pos="2330450" algn="l"/>
                <a:tab pos="2509838" algn="l"/>
              </a:tabLst>
            </a:pP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3DA6CA-0B54-4038-9F80-DF311E676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010" y="5157192"/>
            <a:ext cx="6345438" cy="914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F31131-EA66-4456-B049-785D4B783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852" y="3138204"/>
            <a:ext cx="5977061" cy="7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9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9D799-ED36-4529-9B56-424C34D1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EADF2-EEDC-4B9A-9F16-1F16D5557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579296" cy="5760640"/>
          </a:xfrm>
        </p:spPr>
        <p:txBody>
          <a:bodyPr/>
          <a:lstStyle/>
          <a:p>
            <a:pPr marL="627063" lvl="2"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2.1</a:t>
            </a:r>
            <a:r>
              <a:rPr lang="zh-CN" altLang="en-US" sz="2000" b="1" dirty="0"/>
              <a:t>：求补码</a:t>
            </a:r>
            <a:endParaRPr lang="en-US" altLang="zh-CN" sz="1800" b="1" dirty="0"/>
          </a:p>
          <a:p>
            <a:pPr marL="627063" lvl="3" eaLnBrk="1" hangingPunct="1"/>
            <a:r>
              <a:rPr lang="en-US" altLang="zh-CN" sz="1800" b="1" dirty="0"/>
              <a:t>x=+0.0101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=0.0101</a:t>
            </a:r>
          </a:p>
          <a:p>
            <a:pPr marL="627063" lvl="3" eaLnBrk="1" hangingPunct="1"/>
            <a:r>
              <a:rPr lang="en-US" altLang="zh-CN" sz="1800" b="1" dirty="0"/>
              <a:t>x=-0.0101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=2+x=2-0.0101=1.1011</a:t>
            </a:r>
          </a:p>
          <a:p>
            <a:pPr marL="627063" lvl="3" eaLnBrk="1" hangingPunct="1"/>
            <a:r>
              <a:rPr lang="en-US" altLang="zh-CN" sz="1800" b="1" dirty="0">
                <a:solidFill>
                  <a:srgbClr val="C00000"/>
                </a:solidFill>
              </a:rPr>
              <a:t>x=-0.0000</a:t>
            </a:r>
            <a:r>
              <a:rPr lang="zh-CN" altLang="en-US" sz="1800" b="1" dirty="0"/>
              <a:t>，</a:t>
            </a:r>
            <a:r>
              <a:rPr lang="en-US" altLang="zh-CN" sz="1800" b="1" dirty="0">
                <a:highlight>
                  <a:srgbClr val="FFFF00"/>
                </a:highlight>
              </a:rPr>
              <a:t>[x]</a:t>
            </a:r>
            <a:r>
              <a:rPr lang="zh-CN" altLang="en-US" sz="1800" b="1" baseline="-25000" dirty="0">
                <a:highlight>
                  <a:srgbClr val="FFFF00"/>
                </a:highlight>
              </a:rPr>
              <a:t>补</a:t>
            </a:r>
            <a:r>
              <a:rPr lang="en-US" altLang="zh-CN" sz="1800" b="1" dirty="0">
                <a:highlight>
                  <a:srgbClr val="FFFF00"/>
                </a:highlight>
              </a:rPr>
              <a:t>=2+x=2-0.0000=0.0000    </a:t>
            </a:r>
            <a:r>
              <a:rPr lang="zh-CN" altLang="en-US" sz="1800" b="1" dirty="0">
                <a:highlight>
                  <a:srgbClr val="FFFF00"/>
                </a:highlight>
              </a:rPr>
              <a:t>注：满模</a:t>
            </a:r>
            <a:r>
              <a:rPr lang="en-US" altLang="zh-CN" sz="1800" b="1" dirty="0">
                <a:highlight>
                  <a:srgbClr val="FFFF00"/>
                </a:highlight>
              </a:rPr>
              <a:t>2</a:t>
            </a:r>
            <a:r>
              <a:rPr lang="zh-CN" altLang="en-US" sz="1800" b="1" dirty="0">
                <a:highlight>
                  <a:srgbClr val="FFFF00"/>
                </a:highlight>
              </a:rPr>
              <a:t>溢出，本位归零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627063" lvl="3" eaLnBrk="1" hangingPunct="1"/>
            <a:r>
              <a:rPr lang="en-US" altLang="zh-CN" sz="1800" b="1" dirty="0">
                <a:solidFill>
                  <a:srgbClr val="C00000"/>
                </a:solidFill>
              </a:rPr>
              <a:t>x=-1.0000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=2+x=2-1.0000=1.0000</a:t>
            </a:r>
          </a:p>
          <a:p>
            <a:pPr marL="627063" lvl="2" eaLnBrk="1" hangingPunct="1"/>
            <a:endParaRPr lang="en-US" altLang="zh-CN" sz="1800" b="1" dirty="0"/>
          </a:p>
          <a:p>
            <a:pPr marL="627063" lvl="2"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2.2</a:t>
            </a:r>
            <a:r>
              <a:rPr lang="zh-CN" altLang="en-US" sz="2000" b="1" dirty="0"/>
              <a:t>：设某计算机的字长为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位，分别求真值</a:t>
            </a:r>
            <a:r>
              <a:rPr lang="en-US" altLang="zh-CN" sz="2000" b="1" dirty="0"/>
              <a:t>x=(-10101)</a:t>
            </a:r>
            <a:r>
              <a:rPr lang="en-US" altLang="zh-CN" sz="2000" b="1" baseline="-25000" dirty="0"/>
              <a:t>2</a:t>
            </a:r>
            <a:r>
              <a:rPr lang="zh-CN" altLang="en-US" sz="2000" b="1" dirty="0"/>
              <a:t>，真值</a:t>
            </a:r>
            <a:r>
              <a:rPr lang="en-US" altLang="zh-CN" sz="2000" b="1" dirty="0"/>
              <a:t>x=-128</a:t>
            </a:r>
            <a:r>
              <a:rPr lang="zh-CN" altLang="en-US" sz="2000" b="1" dirty="0"/>
              <a:t>的补码。</a:t>
            </a:r>
            <a:endParaRPr lang="en-US" altLang="zh-CN" sz="1800" b="1" dirty="0"/>
          </a:p>
          <a:p>
            <a:pPr marL="627063" lvl="3" eaLnBrk="1" hangingPunct="1"/>
            <a:r>
              <a:rPr lang="en-US" altLang="zh-CN" sz="1800" b="1" dirty="0"/>
              <a:t>x=(-10101)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=1 0000 0000+x=1 0000 0000-10101= </a:t>
            </a:r>
            <a:r>
              <a:rPr lang="en-US" altLang="zh-CN" sz="1800" b="1" dirty="0">
                <a:solidFill>
                  <a:srgbClr val="C00000"/>
                </a:solidFill>
              </a:rPr>
              <a:t>1110 1011</a:t>
            </a:r>
          </a:p>
          <a:p>
            <a:pPr marL="627063" lvl="3" eaLnBrk="1" hangingPunct="1"/>
            <a:r>
              <a:rPr lang="en-US" altLang="zh-CN" sz="1800" b="1" dirty="0">
                <a:solidFill>
                  <a:srgbClr val="C00000"/>
                </a:solidFill>
              </a:rPr>
              <a:t>x=-128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=256+x=256-128=128= </a:t>
            </a:r>
            <a:r>
              <a:rPr lang="en-US" altLang="zh-CN" sz="1800" b="1" dirty="0">
                <a:solidFill>
                  <a:srgbClr val="C00000"/>
                </a:solidFill>
              </a:rPr>
              <a:t>1000 0000</a:t>
            </a:r>
          </a:p>
          <a:p>
            <a:pPr marL="627063" lvl="2" eaLnBrk="1" hangingPunct="1"/>
            <a:endParaRPr lang="en-US" altLang="zh-CN" sz="1800" b="1" dirty="0"/>
          </a:p>
          <a:p>
            <a:pPr marL="627063" lvl="2"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2.3</a:t>
            </a:r>
            <a:r>
              <a:rPr lang="zh-CN" altLang="en-US" sz="2000" b="1" dirty="0"/>
              <a:t>：求补码</a:t>
            </a:r>
            <a:endParaRPr lang="en-US" altLang="zh-CN" sz="1800" b="1" dirty="0"/>
          </a:p>
          <a:p>
            <a:pPr marL="627063" lvl="3" eaLnBrk="1" hangingPunct="1"/>
            <a:r>
              <a:rPr lang="zh-CN" altLang="en-US" sz="1800" b="1" dirty="0"/>
              <a:t>整数（负数）：</a:t>
            </a:r>
            <a:r>
              <a:rPr lang="en-US" altLang="zh-CN" sz="1800" b="1" dirty="0"/>
              <a:t>x=-1000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=1 0000+x=1 0000-1000=1,1000</a:t>
            </a:r>
          </a:p>
          <a:p>
            <a:pPr marL="627063" lvl="3" eaLnBrk="1" hangingPunct="1"/>
            <a:r>
              <a:rPr lang="zh-CN" altLang="en-US" sz="1800" b="1" dirty="0"/>
              <a:t>整数（负数）：</a:t>
            </a:r>
            <a:r>
              <a:rPr lang="en-US" altLang="zh-CN" sz="1800" b="1" dirty="0"/>
              <a:t>x=-0001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=1 0000+x=1 0000-0001=1,1111</a:t>
            </a:r>
          </a:p>
          <a:p>
            <a:pPr marL="627063" lvl="3" eaLnBrk="1" hangingPunct="1"/>
            <a:r>
              <a:rPr lang="zh-CN" altLang="en-US" sz="1800" b="1" dirty="0"/>
              <a:t>小数（负数）：</a:t>
            </a:r>
            <a:r>
              <a:rPr lang="en-US" altLang="zh-CN" sz="1800" b="1" dirty="0"/>
              <a:t>x=-0.0001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[x]</a:t>
            </a:r>
            <a:r>
              <a:rPr lang="zh-CN" altLang="en-US" sz="1800" b="1" baseline="-25000" dirty="0"/>
              <a:t>补</a:t>
            </a:r>
            <a:r>
              <a:rPr lang="en-US" altLang="zh-CN" sz="1800" b="1" dirty="0"/>
              <a:t>=2+x=2-0.0001=1.1111</a:t>
            </a:r>
          </a:p>
          <a:p>
            <a:pPr marL="627063" lvl="3" eaLnBrk="1" hangingPunct="1"/>
            <a:endParaRPr lang="en-US" altLang="zh-CN" sz="1800" b="1" dirty="0"/>
          </a:p>
          <a:p>
            <a:pPr marL="398463" lvl="3" indent="0" eaLnBrk="1" hangingPunct="1"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注：某些机器码转换可依据经验公式（扫描法），但特殊形式需依据公式变换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402030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F4E62-FB57-4726-BB2B-724A8A1C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FFA76-94D1-489D-80B2-119F4A7F6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6642"/>
            <a:ext cx="8229600" cy="5186720"/>
          </a:xfrm>
        </p:spPr>
        <p:txBody>
          <a:bodyPr/>
          <a:lstStyle/>
          <a:p>
            <a:pPr marL="627063" lvl="2" eaLnBrk="1" hangingPunct="1"/>
            <a:r>
              <a:rPr lang="zh-CN" altLang="en-US" sz="1800" b="1" dirty="0"/>
              <a:t>例</a:t>
            </a:r>
            <a:r>
              <a:rPr lang="en-US" altLang="zh-CN" sz="1800" b="1" dirty="0"/>
              <a:t>2.4</a:t>
            </a:r>
            <a:r>
              <a:rPr lang="zh-CN" altLang="en-US" sz="1800" b="1" dirty="0"/>
              <a:t>：根据补码求真值</a:t>
            </a:r>
            <a:endParaRPr lang="en-US" altLang="zh-CN" sz="1600" b="1" dirty="0"/>
          </a:p>
          <a:p>
            <a:pPr marL="627063" lvl="3" eaLnBrk="1" hangingPunct="1"/>
            <a:r>
              <a:rPr lang="zh-CN" altLang="en-US" sz="1600" b="1" dirty="0"/>
              <a:t>已知： 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=1,1000 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=1,1111 </a:t>
            </a:r>
            <a:r>
              <a:rPr lang="zh-CN" altLang="en-US" sz="1600" b="1" dirty="0"/>
              <a:t>求其对应真值</a:t>
            </a:r>
            <a:endParaRPr lang="en-US" altLang="zh-CN" sz="1600" b="1" dirty="0"/>
          </a:p>
          <a:p>
            <a:pPr marL="627063" lvl="2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marL="627063"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方法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：依据公式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1084263" lvl="3" eaLnBrk="1" hangingPunct="1"/>
            <a:r>
              <a:rPr lang="en-US" altLang="zh-CN" sz="1600" b="1" dirty="0"/>
              <a:t>x=1 0000-[x]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 0000-1 1000=-1000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1084263" lvl="3" eaLnBrk="1" hangingPunct="1"/>
            <a:r>
              <a:rPr lang="en-US" altLang="zh-CN" sz="1600" b="1" dirty="0"/>
              <a:t>x=1 0000-[x]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 0000-1 1111=-0001</a:t>
            </a:r>
          </a:p>
          <a:p>
            <a:pPr marL="627063" lvl="2" eaLnBrk="1" hangingPunct="1"/>
            <a:r>
              <a:rPr lang="zh-CN" altLang="en-US" sz="1800" b="1" dirty="0">
                <a:solidFill>
                  <a:srgbClr val="C00000"/>
                </a:solidFill>
              </a:rPr>
              <a:t>方法</a:t>
            </a: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</a:rPr>
              <a:t>：扫描法：对真值数据位从右往左顺序扫描，遇到第一个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以及右侧的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保持不变，左侧全部取反，适合手动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627063" lvl="2" eaLnBrk="1" hangingPunct="1"/>
            <a:endParaRPr lang="en-US" altLang="zh-CN" sz="1800" b="1" dirty="0">
              <a:solidFill>
                <a:srgbClr val="C00000"/>
              </a:solidFill>
            </a:endParaRPr>
          </a:p>
          <a:p>
            <a:pPr marL="627063" lvl="2" eaLnBrk="1" hangingPunct="1"/>
            <a:r>
              <a:rPr lang="zh-CN" altLang="en-US" sz="1800" b="1" dirty="0">
                <a:solidFill>
                  <a:srgbClr val="C00000"/>
                </a:solidFill>
              </a:rPr>
              <a:t>方法</a:t>
            </a:r>
            <a:r>
              <a:rPr lang="en-US" altLang="zh-CN" sz="1800" b="1" dirty="0">
                <a:solidFill>
                  <a:srgbClr val="C00000"/>
                </a:solidFill>
              </a:rPr>
              <a:t>3</a:t>
            </a:r>
            <a:r>
              <a:rPr lang="zh-CN" altLang="en-US" sz="1800" b="1" dirty="0">
                <a:solidFill>
                  <a:srgbClr val="C00000"/>
                </a:solidFill>
              </a:rPr>
              <a:t>：反码法：真值数据位逐个取反，末位</a:t>
            </a:r>
            <a:r>
              <a:rPr lang="en-US" altLang="zh-CN" sz="1800" b="1" dirty="0">
                <a:solidFill>
                  <a:srgbClr val="C00000"/>
                </a:solidFill>
              </a:rPr>
              <a:t>+1</a:t>
            </a:r>
            <a:r>
              <a:rPr lang="zh-CN" altLang="en-US" sz="1800" b="1" dirty="0">
                <a:solidFill>
                  <a:srgbClr val="C00000"/>
                </a:solidFill>
              </a:rPr>
              <a:t>，适合硬件求补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627063" lvl="2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marL="627063" lvl="2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marL="627063"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的补码（小数）：</a:t>
            </a:r>
            <a:r>
              <a:rPr lang="en-US" altLang="zh-CN" sz="1600" b="1" dirty="0">
                <a:solidFill>
                  <a:srgbClr val="C00000"/>
                </a:solidFill>
              </a:rPr>
              <a:t>[+0]</a:t>
            </a:r>
            <a:r>
              <a:rPr lang="zh-CN" altLang="en-US" sz="1600" b="1" baseline="-25000" dirty="0">
                <a:solidFill>
                  <a:srgbClr val="C00000"/>
                </a:solidFill>
              </a:rPr>
              <a:t>补</a:t>
            </a:r>
            <a:r>
              <a:rPr lang="en-US" altLang="zh-CN" sz="1600" b="1" dirty="0">
                <a:solidFill>
                  <a:srgbClr val="C00000"/>
                </a:solidFill>
              </a:rPr>
              <a:t>=0.0000</a:t>
            </a:r>
            <a:r>
              <a:rPr lang="zh-CN" altLang="en-US" sz="1600" b="1" dirty="0">
                <a:solidFill>
                  <a:srgbClr val="C000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[-0]</a:t>
            </a:r>
            <a:r>
              <a:rPr lang="zh-CN" altLang="en-US" sz="1600" b="1" baseline="-25000" dirty="0">
                <a:solidFill>
                  <a:srgbClr val="C00000"/>
                </a:solidFill>
              </a:rPr>
              <a:t>补</a:t>
            </a:r>
            <a:r>
              <a:rPr lang="en-US" altLang="zh-CN" sz="1600" b="1" dirty="0">
                <a:solidFill>
                  <a:srgbClr val="C00000"/>
                </a:solidFill>
              </a:rPr>
              <a:t>=0.0000</a:t>
            </a:r>
          </a:p>
          <a:p>
            <a:pPr marL="627063"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的补码（整数）：</a:t>
            </a:r>
            <a:r>
              <a:rPr lang="en-US" altLang="zh-CN" sz="1600" b="1" dirty="0">
                <a:solidFill>
                  <a:srgbClr val="C00000"/>
                </a:solidFill>
              </a:rPr>
              <a:t>[+0]</a:t>
            </a:r>
            <a:r>
              <a:rPr lang="zh-CN" altLang="en-US" sz="1600" b="1" baseline="-25000" dirty="0">
                <a:solidFill>
                  <a:srgbClr val="C00000"/>
                </a:solidFill>
              </a:rPr>
              <a:t>补</a:t>
            </a:r>
            <a:r>
              <a:rPr lang="en-US" altLang="zh-CN" sz="1600" b="1" dirty="0">
                <a:solidFill>
                  <a:srgbClr val="C00000"/>
                </a:solidFill>
              </a:rPr>
              <a:t>=0,0000</a:t>
            </a:r>
            <a:r>
              <a:rPr lang="zh-CN" altLang="en-US" sz="1600" b="1" dirty="0">
                <a:solidFill>
                  <a:srgbClr val="C00000"/>
                </a:solidFill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[-0]</a:t>
            </a:r>
            <a:r>
              <a:rPr lang="zh-CN" altLang="en-US" sz="1600" b="1" baseline="-25000" dirty="0">
                <a:solidFill>
                  <a:srgbClr val="C00000"/>
                </a:solidFill>
              </a:rPr>
              <a:t>补</a:t>
            </a:r>
            <a:r>
              <a:rPr lang="en-US" altLang="zh-CN" sz="1600" b="1" dirty="0">
                <a:solidFill>
                  <a:srgbClr val="C00000"/>
                </a:solidFill>
              </a:rPr>
              <a:t>=0,0000</a:t>
            </a:r>
          </a:p>
          <a:p>
            <a:pPr marL="627063" lvl="2" eaLnBrk="1" hangingPunct="1"/>
            <a:r>
              <a:rPr lang="zh-CN" altLang="en-US" sz="1600" b="1" dirty="0"/>
              <a:t>正数的补码数值位为本身，符号位为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；</a:t>
            </a:r>
            <a:endParaRPr lang="en-US" altLang="zh-CN" sz="1600" b="1" dirty="0"/>
          </a:p>
          <a:p>
            <a:pPr marL="627063" lvl="2" eaLnBrk="1" hangingPunct="1"/>
            <a:r>
              <a:rPr lang="zh-CN" altLang="en-US" sz="1600" b="1" dirty="0"/>
              <a:t>负数的补码数值位为本身</a:t>
            </a:r>
            <a:r>
              <a:rPr lang="zh-CN" altLang="en-US" sz="1600" b="1" dirty="0">
                <a:solidFill>
                  <a:srgbClr val="C00000"/>
                </a:solidFill>
              </a:rPr>
              <a:t>取反加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/>
              <a:t>，符号位为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marL="627063" lvl="2" eaLnBrk="1" hangingPunct="1"/>
            <a:r>
              <a:rPr lang="zh-CN" altLang="en-US" sz="1600" b="1" dirty="0">
                <a:highlight>
                  <a:srgbClr val="FFFF00"/>
                </a:highlight>
              </a:rPr>
              <a:t>注：</a:t>
            </a:r>
            <a:r>
              <a:rPr lang="en-US" altLang="zh-CN" sz="1600" b="1" dirty="0">
                <a:highlight>
                  <a:srgbClr val="FFFF00"/>
                </a:highlight>
              </a:rPr>
              <a:t>+0</a:t>
            </a:r>
            <a:r>
              <a:rPr lang="zh-CN" altLang="en-US" sz="1600" b="1" dirty="0">
                <a:highlight>
                  <a:srgbClr val="FFFF00"/>
                </a:highlight>
              </a:rPr>
              <a:t>的补码和</a:t>
            </a:r>
            <a:r>
              <a:rPr lang="en-US" altLang="zh-CN" sz="1600" b="1" dirty="0">
                <a:highlight>
                  <a:srgbClr val="FFFF00"/>
                </a:highlight>
              </a:rPr>
              <a:t>-0</a:t>
            </a:r>
            <a:r>
              <a:rPr lang="zh-CN" altLang="en-US" sz="1600" b="1" dirty="0">
                <a:highlight>
                  <a:srgbClr val="FFFF00"/>
                </a:highlight>
              </a:rPr>
              <a:t>的补码是一样的。</a:t>
            </a:r>
            <a:endParaRPr lang="zh-CN" altLang="en-US" sz="2800" dirty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59320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84A414-CFB2-4F05-A606-8F542C00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79933-C56A-4D6F-941F-52B1355EE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0768"/>
            <a:ext cx="7906072" cy="5242594"/>
          </a:xfrm>
        </p:spPr>
        <p:txBody>
          <a:bodyPr/>
          <a:lstStyle/>
          <a:p>
            <a:pPr marL="457200" lvl="1" indent="0">
              <a:buNone/>
            </a:pPr>
            <a:r>
              <a:rPr lang="zh-CN" altLang="en-US" sz="1800" b="1" dirty="0"/>
              <a:t>补码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负数的真值求补码时，数值位为本身</a:t>
            </a:r>
            <a:r>
              <a:rPr lang="zh-CN" altLang="en-US" sz="1800" b="1" dirty="0">
                <a:solidFill>
                  <a:srgbClr val="C00000"/>
                </a:solidFill>
              </a:rPr>
              <a:t>取反加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400" b="1" dirty="0"/>
              <a:t>x=-0.0101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=0101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1=1010+1=1011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=1.1011</a:t>
            </a:r>
          </a:p>
          <a:p>
            <a:pPr lvl="2" eaLnBrk="1" hangingPunct="1"/>
            <a:r>
              <a:rPr lang="en-US" altLang="zh-CN" sz="1400" b="1" dirty="0"/>
              <a:t>x=-0.0000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=0000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1=1111+1=0000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=0.0000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-0</a:t>
            </a:r>
            <a:r>
              <a:rPr lang="zh-CN" altLang="en-US" sz="1400" b="1" dirty="0"/>
              <a:t>的补码与</a:t>
            </a:r>
            <a:r>
              <a:rPr lang="en-US" altLang="zh-CN" sz="1400" b="1" dirty="0"/>
              <a:t>+0</a:t>
            </a:r>
            <a:r>
              <a:rPr lang="zh-CN" altLang="en-US" sz="1400" b="1" dirty="0"/>
              <a:t>的补码是一样的）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x=-1.0000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=0000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1=1111+1=0000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=1.0000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x=(-10101)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=10101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1=01010+1=01011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111</a:t>
            </a:r>
            <a:r>
              <a:rPr lang="en-US" altLang="zh-CN" sz="1400" b="1" dirty="0"/>
              <a:t>0 1011</a:t>
            </a:r>
          </a:p>
          <a:p>
            <a:pPr lvl="2" eaLnBrk="1" hangingPunct="1"/>
            <a:r>
              <a:rPr lang="en-US" altLang="zh-CN" sz="1400" b="1" dirty="0"/>
              <a:t>x=-128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=128=1000 0000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1=0111 1111 +1=1000 0000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=1000 0000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x=-1000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=1000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1=0111+1=1000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=1,1000</a:t>
            </a:r>
          </a:p>
          <a:p>
            <a:pPr lvl="2" eaLnBrk="1" hangingPunct="1"/>
            <a:r>
              <a:rPr lang="en-US" altLang="zh-CN" sz="1400" b="1" dirty="0"/>
              <a:t>x=-0001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=0001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1=1110+1=1111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=1,1111</a:t>
            </a:r>
          </a:p>
          <a:p>
            <a:pPr lvl="2" eaLnBrk="1" hangingPunct="1"/>
            <a:r>
              <a:rPr lang="en-US" altLang="zh-CN" sz="1400" b="1" dirty="0"/>
              <a:t>x=-0.0001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=0001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1=1110+1=1111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=1.1111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负数的补码求真值时，数值位也是</a:t>
            </a:r>
            <a:r>
              <a:rPr lang="zh-CN" altLang="en-US" sz="1800" b="1" dirty="0">
                <a:solidFill>
                  <a:srgbClr val="C00000"/>
                </a:solidFill>
              </a:rPr>
              <a:t>取反加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</a:p>
          <a:p>
            <a:pPr lvl="2" eaLnBrk="1" hangingPunct="1"/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=1,1000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=1000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1=0111+1=1000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x=-1000</a:t>
            </a:r>
          </a:p>
          <a:p>
            <a:pPr lvl="2" eaLnBrk="1" hangingPunct="1"/>
            <a:r>
              <a:rPr lang="en-US" altLang="zh-CN" sz="1400" b="1" dirty="0"/>
              <a:t>[x]</a:t>
            </a:r>
            <a:r>
              <a:rPr lang="zh-CN" altLang="en-US" sz="1400" b="1" baseline="-25000" dirty="0"/>
              <a:t>补</a:t>
            </a:r>
            <a:r>
              <a:rPr lang="en-US" altLang="zh-CN" sz="1400" b="1" dirty="0"/>
              <a:t>=1,1111</a:t>
            </a:r>
            <a:r>
              <a:rPr lang="zh-CN" altLang="en-US" sz="1400" b="1" dirty="0"/>
              <a:t>，数值位</a:t>
            </a:r>
            <a:r>
              <a:rPr lang="en-US" altLang="zh-CN" sz="1400" b="1" dirty="0"/>
              <a:t>=1111</a:t>
            </a:r>
            <a:r>
              <a:rPr lang="zh-CN" altLang="en-US" sz="1400" b="1" dirty="0"/>
              <a:t>，取反加</a:t>
            </a:r>
            <a:r>
              <a:rPr lang="en-US" altLang="zh-CN" sz="1400" b="1" dirty="0"/>
              <a:t>1=0000+1=0001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x=-0001</a:t>
            </a:r>
            <a:endParaRPr lang="en-US" altLang="zh-CN" sz="16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EB261F-D6E7-4529-AB7E-507DA9A6EC28}"/>
              </a:ext>
            </a:extLst>
          </p:cNvPr>
          <p:cNvSpPr txBox="1"/>
          <p:nvPr/>
        </p:nvSpPr>
        <p:spPr>
          <a:xfrm>
            <a:off x="611560" y="1587569"/>
            <a:ext cx="595035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例</a:t>
            </a:r>
            <a:r>
              <a:rPr lang="en-US" altLang="zh-CN" sz="1400" b="1" dirty="0"/>
              <a:t>2.1</a:t>
            </a:r>
            <a:endParaRPr lang="zh-CN" altLang="en-US" sz="1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3A6CFB-9EF7-4B97-9CCC-EBCF07B041BC}"/>
              </a:ext>
            </a:extLst>
          </p:cNvPr>
          <p:cNvSpPr txBox="1"/>
          <p:nvPr/>
        </p:nvSpPr>
        <p:spPr>
          <a:xfrm>
            <a:off x="611560" y="2329135"/>
            <a:ext cx="595035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例</a:t>
            </a:r>
            <a:r>
              <a:rPr lang="en-US" altLang="zh-CN" sz="1400" b="1" dirty="0"/>
              <a:t>2.2</a:t>
            </a:r>
            <a:endParaRPr lang="zh-CN" altLang="en-US" sz="1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915454-C690-435F-980E-A7BC4267A223}"/>
              </a:ext>
            </a:extLst>
          </p:cNvPr>
          <p:cNvSpPr txBox="1"/>
          <p:nvPr/>
        </p:nvSpPr>
        <p:spPr>
          <a:xfrm>
            <a:off x="611560" y="3121223"/>
            <a:ext cx="595035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例</a:t>
            </a:r>
            <a:r>
              <a:rPr lang="en-US" altLang="zh-CN" sz="1400" b="1" dirty="0"/>
              <a:t>2.3</a:t>
            </a:r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577B10-E7DE-44AE-AFAE-586811903D4F}"/>
              </a:ext>
            </a:extLst>
          </p:cNvPr>
          <p:cNvSpPr txBox="1"/>
          <p:nvPr/>
        </p:nvSpPr>
        <p:spPr>
          <a:xfrm>
            <a:off x="611560" y="4633391"/>
            <a:ext cx="595035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例</a:t>
            </a:r>
            <a:r>
              <a:rPr lang="en-US" altLang="zh-CN" sz="1400" b="1" dirty="0"/>
              <a:t>2.4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4067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80822-E595-4A26-B1B6-0A410AD8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516" y="908720"/>
            <a:ext cx="8712968" cy="5805264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）变形补码（</a:t>
            </a:r>
            <a:r>
              <a:rPr lang="zh-CN" altLang="en-US" sz="2000" b="1" dirty="0">
                <a:highlight>
                  <a:srgbClr val="FFFF00"/>
                </a:highlight>
              </a:rPr>
              <a:t>双符号补码</a:t>
            </a:r>
            <a:r>
              <a:rPr lang="zh-CN" altLang="en-US" sz="2000" b="1" dirty="0"/>
              <a:t>，模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补码）</a:t>
            </a:r>
            <a:endParaRPr lang="en-US" altLang="zh-CN" sz="2000" b="1" dirty="0"/>
          </a:p>
          <a:p>
            <a:pPr lvl="1"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2.5</a:t>
            </a:r>
            <a:r>
              <a:rPr lang="zh-CN" altLang="en-US" sz="2000" b="1" dirty="0"/>
              <a:t>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小数：</a:t>
            </a:r>
            <a:r>
              <a:rPr lang="en-US" altLang="zh-CN" sz="1600" b="1" dirty="0"/>
              <a:t>x=-0.0101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=4+x=4-0.0101=</a:t>
            </a:r>
            <a:r>
              <a:rPr lang="en-US" altLang="zh-CN" sz="1600" b="1" dirty="0">
                <a:solidFill>
                  <a:srgbClr val="C00000"/>
                </a:solidFill>
              </a:rPr>
              <a:t>11</a:t>
            </a:r>
            <a:r>
              <a:rPr lang="en-US" altLang="zh-CN" sz="1600" b="1" dirty="0"/>
              <a:t>.1011</a:t>
            </a:r>
          </a:p>
          <a:p>
            <a:pPr lvl="2" eaLnBrk="1" hangingPunct="1"/>
            <a:r>
              <a:rPr lang="zh-CN" altLang="en-US" sz="1600" b="1" dirty="0"/>
              <a:t>（取反加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0101</a:t>
            </a:r>
            <a:r>
              <a:rPr lang="zh-CN" altLang="en-US" sz="1600" b="1" dirty="0"/>
              <a:t>取反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，加</a:t>
            </a:r>
            <a:r>
              <a:rPr lang="en-US" altLang="zh-CN" sz="1600" b="1" dirty="0"/>
              <a:t>1=1011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11</a:t>
            </a:r>
            <a:r>
              <a:rPr lang="en-US" altLang="zh-CN" sz="1600" b="1" dirty="0"/>
              <a:t>.1011</a:t>
            </a:r>
            <a:r>
              <a:rPr lang="zh-CN" altLang="en-US" sz="1600" b="1" dirty="0"/>
              <a:t>）</a:t>
            </a:r>
            <a:endParaRPr lang="en-US" altLang="zh-CN" sz="1200" b="1" dirty="0"/>
          </a:p>
          <a:p>
            <a:pPr lvl="1" eaLnBrk="1" hangingPunct="1"/>
            <a:r>
              <a:rPr lang="zh-CN" altLang="en-US" sz="2000" b="1" dirty="0"/>
              <a:t>设某计算机的字长为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位，求真值</a:t>
            </a:r>
            <a:r>
              <a:rPr lang="en-US" altLang="zh-CN" sz="2000" b="1" dirty="0"/>
              <a:t>x=-10101</a:t>
            </a:r>
            <a:r>
              <a:rPr lang="zh-CN" altLang="en-US" sz="2000" b="1" dirty="0"/>
              <a:t>的变形补码：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整数：</a:t>
            </a:r>
            <a:r>
              <a:rPr lang="en-US" altLang="zh-CN" sz="1600" b="1" dirty="0"/>
              <a:t>x=-10101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 0000 0000+x=1 0000 0000-10101=</a:t>
            </a:r>
            <a:r>
              <a:rPr lang="en-US" altLang="zh-CN" sz="1600" b="1" dirty="0">
                <a:solidFill>
                  <a:srgbClr val="C00000"/>
                </a:solidFill>
              </a:rPr>
              <a:t>11</a:t>
            </a:r>
            <a:r>
              <a:rPr lang="en-US" altLang="zh-CN" sz="1600" b="1" dirty="0"/>
              <a:t>10 1011</a:t>
            </a:r>
          </a:p>
          <a:p>
            <a:pPr lvl="2" eaLnBrk="1" hangingPunct="1"/>
            <a:r>
              <a:rPr lang="zh-CN" altLang="en-US" sz="1600" b="1" dirty="0"/>
              <a:t>（取反加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10101</a:t>
            </a:r>
            <a:r>
              <a:rPr lang="zh-CN" altLang="en-US" sz="1600" b="1" dirty="0"/>
              <a:t>取反</a:t>
            </a:r>
            <a:r>
              <a:rPr lang="en-US" altLang="zh-CN" sz="1600" b="1" dirty="0"/>
              <a:t>=01010</a:t>
            </a:r>
            <a:r>
              <a:rPr lang="zh-CN" altLang="en-US" sz="1600" b="1" dirty="0"/>
              <a:t>，加</a:t>
            </a:r>
            <a:r>
              <a:rPr lang="en-US" altLang="zh-CN" sz="1600" b="1" dirty="0"/>
              <a:t>1=01011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 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111</a:t>
            </a:r>
            <a:r>
              <a:rPr lang="en-US" altLang="zh-CN" sz="1600" b="1" dirty="0"/>
              <a:t>0 1011</a:t>
            </a:r>
            <a:r>
              <a:rPr lang="zh-CN" altLang="en-US" sz="1600" b="1" dirty="0"/>
              <a:t>）</a:t>
            </a:r>
            <a:endParaRPr lang="en-US" altLang="zh-CN" sz="1200" b="1" dirty="0"/>
          </a:p>
          <a:p>
            <a:pPr lvl="2" eaLnBrk="1" hangingPunct="1"/>
            <a:endParaRPr lang="en-US" altLang="zh-CN" sz="12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采用变形补码时，如果运算结果的符号位为</a:t>
            </a:r>
            <a:r>
              <a:rPr lang="en-US" altLang="zh-CN" sz="1600" b="1" dirty="0"/>
              <a:t>00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，表示运算结果没有溢出；如果运算结果的符号位为</a:t>
            </a:r>
            <a:r>
              <a:rPr lang="en-US" altLang="zh-CN" sz="1600" b="1" dirty="0"/>
              <a:t>01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时，表示有溢出，其中</a:t>
            </a:r>
            <a:r>
              <a:rPr lang="en-US" altLang="zh-CN" sz="1600" b="1" dirty="0">
                <a:solidFill>
                  <a:srgbClr val="C00000"/>
                </a:solidFill>
              </a:rPr>
              <a:t>01</a:t>
            </a:r>
            <a:r>
              <a:rPr lang="zh-CN" altLang="en-US" sz="1600" b="1" dirty="0">
                <a:solidFill>
                  <a:srgbClr val="C00000"/>
                </a:solidFill>
              </a:rPr>
              <a:t>表示正溢出</a:t>
            </a:r>
            <a:r>
              <a:rPr lang="zh-CN" altLang="en-US" sz="1600" b="1" dirty="0"/>
              <a:t>，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</a:rPr>
              <a:t>表示负溢出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注：</a:t>
            </a:r>
            <a:r>
              <a:rPr lang="zh-CN" altLang="en-US" sz="1600" b="1" dirty="0">
                <a:highlight>
                  <a:srgbClr val="FFFF00"/>
                </a:highlight>
              </a:rPr>
              <a:t>变形补码双符号位，最高位代表真实符号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1" eaLnBrk="1" hangingPunct="1"/>
            <a:r>
              <a:rPr lang="zh-CN" altLang="en-US" sz="1800" b="1" dirty="0"/>
              <a:t>例如：</a:t>
            </a:r>
            <a:endParaRPr lang="en-US" altLang="zh-CN" sz="1800" b="1" dirty="0"/>
          </a:p>
          <a:p>
            <a:pPr lvl="2" eaLnBrk="1" hangingPunct="1"/>
            <a:r>
              <a:rPr lang="en-US" altLang="zh-CN" sz="1600" b="1" dirty="0"/>
              <a:t>9</a:t>
            </a:r>
            <a:r>
              <a:rPr lang="zh-CN" altLang="en-US" sz="1600" b="1" dirty="0"/>
              <a:t>位二进制整数，双符号位补码的表示范围是：</a:t>
            </a:r>
            <a:r>
              <a:rPr lang="en-US" altLang="zh-CN" sz="1600" b="1" dirty="0"/>
              <a:t>-128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+127</a:t>
            </a:r>
            <a:r>
              <a:rPr lang="zh-CN" altLang="en-US" sz="1600" b="1" dirty="0"/>
              <a:t>，即</a:t>
            </a:r>
            <a:r>
              <a:rPr lang="en-US" altLang="zh-CN" sz="1600" b="1" dirty="0">
                <a:solidFill>
                  <a:srgbClr val="C00000"/>
                </a:solidFill>
              </a:rPr>
              <a:t>11</a:t>
            </a:r>
            <a:r>
              <a:rPr lang="en-US" altLang="zh-CN" sz="1600" b="1" dirty="0"/>
              <a:t>,000 0000 </a:t>
            </a:r>
            <a:r>
              <a:rPr lang="zh-CN" altLang="en-US" sz="1600" b="1" dirty="0"/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00</a:t>
            </a:r>
            <a:r>
              <a:rPr lang="en-US" altLang="zh-CN" sz="1600" b="1" dirty="0"/>
              <a:t>,111 1111</a:t>
            </a:r>
          </a:p>
          <a:p>
            <a:pPr lvl="2" eaLnBrk="1" hangingPunct="1"/>
            <a:r>
              <a:rPr lang="en-US" altLang="zh-CN" sz="1600" b="1" dirty="0"/>
              <a:t>27+45=00,001 1011+00,010 1101=</a:t>
            </a:r>
            <a:r>
              <a:rPr lang="en-US" altLang="zh-CN" sz="1600" b="1" dirty="0">
                <a:solidFill>
                  <a:srgbClr val="C00000"/>
                </a:solidFill>
              </a:rPr>
              <a:t>00</a:t>
            </a:r>
            <a:r>
              <a:rPr lang="en-US" altLang="zh-CN" sz="1600" b="1" dirty="0"/>
              <a:t>,100 1000=72</a:t>
            </a:r>
            <a:r>
              <a:rPr lang="zh-CN" altLang="en-US" sz="1600" b="1" dirty="0"/>
              <a:t>，没有溢出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27-45=27+(-45)=00,001 1011+11,101 0011=</a:t>
            </a:r>
            <a:r>
              <a:rPr lang="en-US" altLang="zh-CN" sz="1600" b="1" dirty="0">
                <a:solidFill>
                  <a:srgbClr val="C00000"/>
                </a:solidFill>
              </a:rPr>
              <a:t>11</a:t>
            </a:r>
            <a:r>
              <a:rPr lang="en-US" altLang="zh-CN" sz="1600" b="1" dirty="0"/>
              <a:t>,110 1110=-18</a:t>
            </a:r>
            <a:r>
              <a:rPr lang="zh-CN" altLang="en-US" sz="1600" b="1" dirty="0"/>
              <a:t>，没有溢出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80+90=00,101 0000+00,101 1010=</a:t>
            </a:r>
            <a:r>
              <a:rPr lang="en-US" altLang="zh-CN" sz="1600" b="1" dirty="0">
                <a:solidFill>
                  <a:srgbClr val="C00000"/>
                </a:solidFill>
              </a:rPr>
              <a:t>01</a:t>
            </a:r>
            <a:r>
              <a:rPr lang="en-US" altLang="zh-CN" sz="1600" b="1" dirty="0"/>
              <a:t>,010 1010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80+90=170</a:t>
            </a:r>
            <a:r>
              <a:rPr lang="zh-CN" altLang="en-US" sz="1600" b="1" dirty="0"/>
              <a:t>），正溢出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-80-90=-80+(-90)=11,011 0000+11,010 0110=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en-US" altLang="zh-CN" sz="1600" b="1" dirty="0"/>
              <a:t>,101 0110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-80-90=-170</a:t>
            </a:r>
            <a:r>
              <a:rPr lang="zh-CN" altLang="en-US" sz="1600" b="1" dirty="0"/>
              <a:t>），负溢出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10177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473E1-FF0E-41AA-9283-85026718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8339"/>
            <a:ext cx="8229600" cy="850106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48702"/>
            <a:ext cx="8229600" cy="576064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、移码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2.6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3" eaLnBrk="1" hangingPunct="1"/>
            <a:r>
              <a:rPr lang="en-US" altLang="zh-CN" sz="1600" b="1" dirty="0"/>
              <a:t>x=+1010110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=0,1010110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 [x]</a:t>
            </a:r>
            <a:r>
              <a:rPr lang="zh-CN" altLang="en-US" sz="1600" b="1" baseline="-25000" dirty="0"/>
              <a:t>移</a:t>
            </a:r>
            <a:r>
              <a:rPr lang="en-US" altLang="zh-CN" sz="1600" b="1" dirty="0"/>
              <a:t>=1,1010110</a:t>
            </a:r>
          </a:p>
          <a:p>
            <a:pPr lvl="3" eaLnBrk="1" hangingPunct="1"/>
            <a:r>
              <a:rPr lang="en-US" altLang="zh-CN" sz="1600" b="1" dirty="0"/>
              <a:t>x=-1010110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[x]</a:t>
            </a:r>
            <a:r>
              <a:rPr lang="zh-CN" altLang="en-US" sz="1600" b="1" baseline="-25000" dirty="0"/>
              <a:t>补</a:t>
            </a:r>
            <a:r>
              <a:rPr lang="en-US" altLang="zh-CN" sz="1600" b="1" dirty="0"/>
              <a:t>=1,0101010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 [x]</a:t>
            </a:r>
            <a:r>
              <a:rPr lang="zh-CN" altLang="en-US" sz="1600" b="1" baseline="-25000" dirty="0"/>
              <a:t>移</a:t>
            </a:r>
            <a:r>
              <a:rPr lang="en-US" altLang="zh-CN" sz="1600" b="1" dirty="0"/>
              <a:t>=1,0101010</a:t>
            </a:r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en-US" altLang="zh-CN" sz="1600" b="1" dirty="0"/>
              <a:t>0</a:t>
            </a:r>
            <a:r>
              <a:rPr lang="zh-CN" altLang="en-US" sz="1600" b="1" dirty="0"/>
              <a:t>的移码（整数）：</a:t>
            </a:r>
            <a:r>
              <a:rPr lang="en-US" altLang="zh-CN" sz="1600" b="1" dirty="0"/>
              <a:t>[+0]</a:t>
            </a:r>
            <a:r>
              <a:rPr lang="zh-CN" altLang="en-US" sz="1600" b="1" baseline="-25000" dirty="0"/>
              <a:t>移</a:t>
            </a:r>
            <a:r>
              <a:rPr lang="en-US" altLang="zh-CN" sz="1600" b="1" dirty="0"/>
              <a:t>=1,0000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[-0]</a:t>
            </a:r>
            <a:r>
              <a:rPr lang="zh-CN" altLang="en-US" sz="1600" b="1" baseline="-25000" dirty="0"/>
              <a:t>移</a:t>
            </a:r>
            <a:r>
              <a:rPr lang="en-US" altLang="zh-CN" sz="1600" b="1" dirty="0"/>
              <a:t>=1,0000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+0</a:t>
            </a:r>
            <a:r>
              <a:rPr lang="zh-CN" altLang="en-US" sz="1600" b="1" dirty="0"/>
              <a:t>的移码和</a:t>
            </a:r>
            <a:r>
              <a:rPr lang="en-US" altLang="zh-CN" sz="1600" b="1" dirty="0"/>
              <a:t>-0</a:t>
            </a:r>
            <a:r>
              <a:rPr lang="zh-CN" altLang="en-US" sz="1600" b="1" dirty="0"/>
              <a:t>的移码是一样的。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整数：移码为</a:t>
            </a:r>
            <a:r>
              <a:rPr lang="zh-CN" altLang="en-US" sz="1600" b="1" dirty="0">
                <a:solidFill>
                  <a:srgbClr val="C00000"/>
                </a:solidFill>
              </a:rPr>
              <a:t>补码的符号位取反</a:t>
            </a:r>
            <a:r>
              <a:rPr lang="zh-CN" altLang="en-US" sz="1600" b="1" dirty="0"/>
              <a:t>，移码的符号位为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时表示负数，移码的符号位为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时表示正数。小数：没有移码。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移码通常用于表示</a:t>
            </a:r>
            <a:r>
              <a:rPr lang="zh-CN" altLang="en-US" sz="1600" b="1" dirty="0">
                <a:solidFill>
                  <a:srgbClr val="C00000"/>
                </a:solidFill>
              </a:rPr>
              <a:t>浮点数的阶码</a:t>
            </a:r>
            <a:r>
              <a:rPr lang="zh-CN" altLang="en-US" sz="1600" b="1" dirty="0"/>
              <a:t>，浮点数的阶码用移码表示时具有以下的优点：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>
                <a:highlight>
                  <a:srgbClr val="FFFF00"/>
                </a:highlight>
              </a:rPr>
              <a:t>可以直接用无符号数规则比较两个浮点数阶码的大小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4" eaLnBrk="1" hangingPunct="1"/>
            <a:r>
              <a:rPr lang="zh-CN" altLang="en-US" sz="1400" b="1" dirty="0"/>
              <a:t>例如，字长为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位时，</a:t>
            </a:r>
            <a:r>
              <a:rPr lang="en-US" altLang="zh-CN" sz="1400" b="1" dirty="0"/>
              <a:t>-6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+5</a:t>
            </a:r>
            <a:r>
              <a:rPr lang="zh-CN" altLang="en-US" sz="1400" b="1" dirty="0"/>
              <a:t>的补码分别是</a:t>
            </a:r>
            <a:r>
              <a:rPr lang="en-US" altLang="zh-CN" sz="1400" b="1" dirty="0"/>
              <a:t>1111 1010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0000 0101</a:t>
            </a:r>
            <a:r>
              <a:rPr lang="zh-CN" altLang="en-US" sz="1400" b="1" dirty="0"/>
              <a:t>，如果看成是无符号数，则</a:t>
            </a:r>
            <a:r>
              <a:rPr lang="en-US" altLang="zh-CN" sz="1400" b="1" dirty="0"/>
              <a:t>1111 1010</a:t>
            </a:r>
            <a:r>
              <a:rPr lang="zh-CN" altLang="en-US" sz="1400" b="1" dirty="0"/>
              <a:t>大于</a:t>
            </a:r>
            <a:r>
              <a:rPr lang="en-US" altLang="zh-CN" sz="1400" b="1" dirty="0"/>
              <a:t>0000 0101</a:t>
            </a:r>
            <a:r>
              <a:rPr lang="zh-CN" altLang="en-US" sz="1400" b="1" dirty="0"/>
              <a:t>，得到错误的结果。</a:t>
            </a:r>
            <a:endParaRPr lang="en-US" altLang="zh-CN" sz="1400" b="1" dirty="0"/>
          </a:p>
          <a:p>
            <a:pPr lvl="4" eaLnBrk="1" hangingPunct="1"/>
            <a:r>
              <a:rPr lang="zh-CN" altLang="en-US" sz="1400" b="1" dirty="0"/>
              <a:t>如果采用移码，</a:t>
            </a:r>
            <a:r>
              <a:rPr lang="en-US" altLang="zh-CN" sz="1400" b="1" dirty="0"/>
              <a:t> -6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+5</a:t>
            </a:r>
            <a:r>
              <a:rPr lang="zh-CN" altLang="en-US" sz="1400" b="1" dirty="0"/>
              <a:t>的移码分别是</a:t>
            </a:r>
            <a:r>
              <a:rPr lang="en-US" altLang="zh-CN" sz="1400" b="1" dirty="0"/>
              <a:t>0111 1010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1000 0101</a:t>
            </a:r>
            <a:r>
              <a:rPr lang="zh-CN" altLang="en-US" sz="1400" b="1" dirty="0"/>
              <a:t>，显然无符号数</a:t>
            </a:r>
            <a:r>
              <a:rPr lang="en-US" altLang="zh-CN" sz="1400" b="1" dirty="0"/>
              <a:t>1000 0101</a:t>
            </a:r>
            <a:r>
              <a:rPr lang="zh-CN" altLang="en-US" sz="1400" b="1" dirty="0"/>
              <a:t>大于</a:t>
            </a:r>
            <a:r>
              <a:rPr lang="en-US" altLang="zh-CN" sz="1400" b="1" dirty="0"/>
              <a:t>0111 1010</a:t>
            </a:r>
            <a:r>
              <a:rPr lang="zh-CN" altLang="en-US" sz="1400" b="1" dirty="0"/>
              <a:t>，得到正确的结果。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>
                <a:highlight>
                  <a:srgbClr val="FFFF00"/>
                </a:highlight>
              </a:rPr>
              <a:t>有利于“浮点机器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”的判断，当移码的各位均为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，对应的阶码最小，此时，当尾数为全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，对应的就是“浮点机器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/>
              <a:t>”。</a:t>
            </a:r>
            <a:endParaRPr lang="en-US" altLang="zh-CN" sz="1400" b="1" dirty="0"/>
          </a:p>
          <a:p>
            <a:pPr lvl="4" eaLnBrk="1" hangingPunct="1"/>
            <a:r>
              <a:rPr lang="zh-CN" altLang="en-US" sz="1400" b="1" dirty="0"/>
              <a:t>字长为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位时，移码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0000 0000</a:t>
            </a:r>
            <a:r>
              <a:rPr lang="zh-CN" altLang="en-US" sz="1400" b="1" dirty="0"/>
              <a:t>，对应的补码</a:t>
            </a:r>
            <a:r>
              <a:rPr lang="en-US" altLang="zh-CN" sz="1400" b="1" dirty="0"/>
              <a:t>=1000 0000</a:t>
            </a:r>
            <a:r>
              <a:rPr lang="zh-CN" altLang="en-US" sz="1400" b="1" dirty="0"/>
              <a:t>，真值</a:t>
            </a:r>
            <a:r>
              <a:rPr lang="en-US" altLang="zh-CN" sz="1400" b="1" dirty="0">
                <a:solidFill>
                  <a:srgbClr val="C00000"/>
                </a:solidFill>
              </a:rPr>
              <a:t>=-128</a:t>
            </a:r>
            <a:r>
              <a:rPr lang="zh-CN" altLang="en-US" sz="1400" b="1" dirty="0"/>
              <a:t>，为最小的阶码。</a:t>
            </a: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116640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518FEFB-0F09-4427-BEEC-3FF6B46AFB5E}"/>
              </a:ext>
            </a:extLst>
          </p:cNvPr>
          <p:cNvSpPr txBox="1"/>
          <p:nvPr/>
        </p:nvSpPr>
        <p:spPr>
          <a:xfrm>
            <a:off x="2018256" y="1470928"/>
            <a:ext cx="510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表</a:t>
            </a:r>
            <a:r>
              <a:rPr lang="en-US" altLang="zh-CN" b="1" dirty="0"/>
              <a:t>2.3    </a:t>
            </a:r>
            <a:r>
              <a:rPr lang="zh-CN" altLang="en-US" b="1" dirty="0"/>
              <a:t>真值的补码和移码表示对照表（见教材）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711055FC-D45B-4856-A0C6-C52675BC1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81330"/>
              </p:ext>
            </p:extLst>
          </p:nvPr>
        </p:nvGraphicFramePr>
        <p:xfrm>
          <a:off x="1115616" y="1906879"/>
          <a:ext cx="691276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79726488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45361319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4362201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66168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真值（十进制）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二进制表示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补码表示（</a:t>
                      </a:r>
                      <a:r>
                        <a:rPr lang="en-US" altLang="zh-CN" sz="1600" b="1" dirty="0"/>
                        <a:t>8</a:t>
                      </a:r>
                      <a:r>
                        <a:rPr lang="zh-CN" altLang="en-US" sz="1600" b="1" dirty="0"/>
                        <a:t>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移码表示（</a:t>
                      </a:r>
                      <a:r>
                        <a:rPr lang="en-US" altLang="zh-CN" sz="1600" b="1" dirty="0"/>
                        <a:t>8</a:t>
                      </a:r>
                      <a:r>
                        <a:rPr lang="zh-CN" altLang="en-US" sz="1600" b="1" dirty="0"/>
                        <a:t>位）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74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highlight>
                            <a:srgbClr val="FFFF00"/>
                          </a:highlight>
                        </a:rPr>
                        <a:t>-128</a:t>
                      </a:r>
                      <a:endParaRPr lang="zh-CN" altLang="en-US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-1000 0000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1,000 0000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0,000 0000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50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-127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-0111 1111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1,000 0001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0,000 0001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48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5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highlight>
                            <a:srgbClr val="FFFF00"/>
                          </a:highlight>
                        </a:rPr>
                        <a:t>-1</a:t>
                      </a:r>
                      <a:endParaRPr lang="zh-CN" altLang="en-US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-0000 0001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CN" b="1" dirty="0"/>
                        <a:t>,111 1111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highlight>
                            <a:srgbClr val="FFFF00"/>
                          </a:highlight>
                        </a:rPr>
                        <a:t>0</a:t>
                      </a:r>
                      <a:r>
                        <a:rPr lang="en-US" altLang="zh-CN" b="1" dirty="0"/>
                        <a:t>,111 1111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6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0000 0000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0,000 0000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1,000 0000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04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0000 0001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0,000 0001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1,000 0001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166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………………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24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126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0111 1110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0,111 1110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1,111 1110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9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127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0111 1111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0,111 1111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1,111 1111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154240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F917D45-F5FB-4F3A-85D5-3AAC1604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2.2.1  </a:t>
            </a:r>
            <a:r>
              <a:rPr lang="zh-CN" altLang="en-US" b="1" dirty="0">
                <a:ea typeface="黑体" panose="02010609060101010101" pitchFamily="49" charset="-122"/>
              </a:rPr>
              <a:t>数的机器码表示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9260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9812213-4E36-44A1-A094-434BA5BB5FF6}"/>
              </a:ext>
            </a:extLst>
          </p:cNvPr>
          <p:cNvGrpSpPr/>
          <p:nvPr/>
        </p:nvGrpSpPr>
        <p:grpSpPr>
          <a:xfrm>
            <a:off x="251520" y="332656"/>
            <a:ext cx="8640960" cy="4443010"/>
            <a:chOff x="251520" y="404664"/>
            <a:chExt cx="8640960" cy="444301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518FEFB-0F09-4427-BEEC-3FF6B46AFB5E}"/>
                </a:ext>
              </a:extLst>
            </p:cNvPr>
            <p:cNvSpPr txBox="1"/>
            <p:nvPr/>
          </p:nvSpPr>
          <p:spPr>
            <a:xfrm>
              <a:off x="2411760" y="4509120"/>
              <a:ext cx="46666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图</a:t>
              </a:r>
              <a:r>
                <a:rPr lang="en-US" altLang="zh-CN" sz="1600" b="1" dirty="0"/>
                <a:t>2.2    4</a:t>
              </a:r>
              <a:r>
                <a:rPr lang="zh-CN" altLang="en-US" sz="1600" b="1" dirty="0"/>
                <a:t>位不同机器码在数轴上的表示（见教材）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22AAF16-AF5D-4D65-9CD5-1165A3BCC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404664"/>
              <a:ext cx="8640960" cy="3948263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48A727B-F501-4F96-AEBA-FD25BC20887F}"/>
              </a:ext>
            </a:extLst>
          </p:cNvPr>
          <p:cNvSpPr txBox="1"/>
          <p:nvPr/>
        </p:nvSpPr>
        <p:spPr>
          <a:xfrm>
            <a:off x="2429164" y="4914804"/>
            <a:ext cx="4536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lt"/>
                <a:ea typeface="+mn-ea"/>
              </a:rPr>
              <a:t>4</a:t>
            </a:r>
            <a:r>
              <a:rPr lang="zh-CN" altLang="en-US" sz="1600" b="1" dirty="0">
                <a:latin typeface="+mn-lt"/>
                <a:ea typeface="+mn-ea"/>
              </a:rPr>
              <a:t>位二进制数整数</a:t>
            </a:r>
            <a:endParaRPr lang="en-US" altLang="zh-CN" sz="1600" b="1" dirty="0">
              <a:latin typeface="+mn-lt"/>
              <a:ea typeface="+mn-ea"/>
            </a:endParaRPr>
          </a:p>
          <a:p>
            <a:endParaRPr lang="en-US" altLang="zh-CN" sz="1600" b="1" dirty="0">
              <a:latin typeface="+mn-lt"/>
              <a:ea typeface="+mn-ea"/>
            </a:endParaRPr>
          </a:p>
          <a:p>
            <a:r>
              <a:rPr lang="zh-CN" altLang="en-US" sz="1600" b="1" dirty="0">
                <a:latin typeface="+mn-lt"/>
                <a:ea typeface="+mn-ea"/>
              </a:rPr>
              <a:t>原码表示范围：</a:t>
            </a:r>
            <a:r>
              <a:rPr lang="en-US" altLang="zh-CN" sz="1600" b="1" dirty="0">
                <a:latin typeface="+mn-lt"/>
                <a:ea typeface="+mn-ea"/>
              </a:rPr>
              <a:t>-7</a:t>
            </a:r>
            <a:r>
              <a:rPr lang="zh-CN" altLang="en-US" sz="1600" b="1" dirty="0">
                <a:latin typeface="+mn-lt"/>
                <a:ea typeface="+mn-ea"/>
              </a:rPr>
              <a:t>～</a:t>
            </a:r>
            <a:r>
              <a:rPr lang="en-US" altLang="zh-CN" sz="1600" b="1" dirty="0">
                <a:latin typeface="+mn-lt"/>
                <a:ea typeface="+mn-ea"/>
              </a:rPr>
              <a:t>+7</a:t>
            </a:r>
            <a:r>
              <a:rPr lang="zh-CN" altLang="en-US" sz="1600" b="1" dirty="0">
                <a:latin typeface="+mn-lt"/>
                <a:ea typeface="+mn-ea"/>
              </a:rPr>
              <a:t>；反码表示范围：</a:t>
            </a:r>
            <a:r>
              <a:rPr lang="en-US" altLang="zh-CN" sz="1600" b="1" dirty="0">
                <a:latin typeface="+mn-lt"/>
                <a:ea typeface="+mn-ea"/>
              </a:rPr>
              <a:t>-7</a:t>
            </a:r>
            <a:r>
              <a:rPr lang="zh-CN" altLang="en-US" sz="1600" b="1" dirty="0">
                <a:latin typeface="+mn-lt"/>
                <a:ea typeface="+mn-ea"/>
              </a:rPr>
              <a:t>～</a:t>
            </a:r>
            <a:r>
              <a:rPr lang="en-US" altLang="zh-CN" sz="1600" b="1" dirty="0">
                <a:latin typeface="+mn-lt"/>
                <a:ea typeface="+mn-ea"/>
              </a:rPr>
              <a:t>+7</a:t>
            </a:r>
          </a:p>
          <a:p>
            <a:endParaRPr lang="en-US" altLang="zh-CN" sz="1600" b="1" dirty="0">
              <a:latin typeface="+mn-lt"/>
              <a:ea typeface="+mn-ea"/>
            </a:endParaRPr>
          </a:p>
          <a:p>
            <a:r>
              <a:rPr lang="zh-CN" altLang="en-US" sz="1600" b="1" dirty="0">
                <a:latin typeface="+mn-lt"/>
                <a:ea typeface="+mn-ea"/>
              </a:rPr>
              <a:t>补码表示范围：</a:t>
            </a:r>
            <a:r>
              <a:rPr lang="en-US" altLang="zh-CN" sz="1600" b="1" dirty="0">
                <a:latin typeface="+mn-lt"/>
                <a:ea typeface="+mn-ea"/>
              </a:rPr>
              <a:t>-8</a:t>
            </a:r>
            <a:r>
              <a:rPr lang="zh-CN" altLang="en-US" sz="1600" b="1" dirty="0">
                <a:latin typeface="+mn-lt"/>
                <a:ea typeface="+mn-ea"/>
              </a:rPr>
              <a:t>～</a:t>
            </a:r>
            <a:r>
              <a:rPr lang="en-US" altLang="zh-CN" sz="1600" b="1" dirty="0">
                <a:latin typeface="+mn-lt"/>
                <a:ea typeface="+mn-ea"/>
              </a:rPr>
              <a:t>+7</a:t>
            </a:r>
            <a:r>
              <a:rPr lang="zh-CN" altLang="en-US" sz="1600" b="1" dirty="0">
                <a:latin typeface="+mn-lt"/>
                <a:ea typeface="+mn-ea"/>
              </a:rPr>
              <a:t>；移码表示范围：</a:t>
            </a:r>
            <a:r>
              <a:rPr lang="en-US" altLang="zh-CN" sz="1600" b="1" dirty="0">
                <a:latin typeface="+mn-lt"/>
                <a:ea typeface="+mn-ea"/>
              </a:rPr>
              <a:t>-8</a:t>
            </a:r>
            <a:r>
              <a:rPr lang="zh-CN" altLang="en-US" sz="1600" b="1" dirty="0">
                <a:latin typeface="+mn-lt"/>
                <a:ea typeface="+mn-ea"/>
              </a:rPr>
              <a:t>～</a:t>
            </a:r>
            <a:r>
              <a:rPr lang="en-US" altLang="zh-CN" sz="1600" b="1" dirty="0">
                <a:latin typeface="+mn-lt"/>
                <a:ea typeface="+mn-ea"/>
              </a:rPr>
              <a:t>+7</a:t>
            </a:r>
            <a:endParaRPr lang="zh-CN" altLang="en-US" sz="1600" b="1" dirty="0">
              <a:latin typeface="+mn-lt"/>
              <a:ea typeface="+mn-ea"/>
            </a:endParaRPr>
          </a:p>
        </p:txBody>
      </p:sp>
      <p:sp>
        <p:nvSpPr>
          <p:cNvPr id="6" name="箭头: 上弧形 5">
            <a:extLst>
              <a:ext uri="{FF2B5EF4-FFF2-40B4-BE49-F238E27FC236}">
                <a16:creationId xmlns:a16="http://schemas.microsoft.com/office/drawing/2014/main" id="{BDB9D2FF-3B7D-49A9-81F5-7E9338331970}"/>
              </a:ext>
            </a:extLst>
          </p:cNvPr>
          <p:cNvSpPr/>
          <p:nvPr/>
        </p:nvSpPr>
        <p:spPr>
          <a:xfrm>
            <a:off x="971600" y="3212976"/>
            <a:ext cx="3960440" cy="288032"/>
          </a:xfrm>
          <a:prstGeom prst="curved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833310-526C-49A6-AD3D-16D8DA6973E4}"/>
              </a:ext>
            </a:extLst>
          </p:cNvPr>
          <p:cNvSpPr txBox="1"/>
          <p:nvPr/>
        </p:nvSpPr>
        <p:spPr>
          <a:xfrm>
            <a:off x="2627784" y="317232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+2^n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424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DF777-ABD8-408E-B7C6-8928B811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94122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2.2.2  </a:t>
            </a:r>
            <a:r>
              <a:rPr lang="zh-CN" altLang="en-US" b="1" dirty="0">
                <a:ea typeface="黑体" pitchFamily="49" charset="-122"/>
              </a:rPr>
              <a:t>定点数表示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02892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、定点小数（纯小数）</a:t>
            </a:r>
            <a:endParaRPr lang="en-US" altLang="zh-CN" sz="2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x=x</a:t>
            </a:r>
            <a:r>
              <a:rPr lang="en-US" altLang="zh-CN" sz="1800" b="1" baseline="-25000" dirty="0"/>
              <a:t>0</a:t>
            </a:r>
            <a:r>
              <a:rPr lang="en-US" altLang="zh-CN" sz="1800" b="1" dirty="0"/>
              <a:t>.x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…</a:t>
            </a:r>
            <a:r>
              <a:rPr lang="en-US" altLang="zh-CN" sz="1800" b="1" dirty="0" err="1"/>
              <a:t>x</a:t>
            </a:r>
            <a:r>
              <a:rPr lang="en-US" altLang="zh-CN" sz="1800" b="1" baseline="-25000" dirty="0" err="1"/>
              <a:t>n</a:t>
            </a:r>
            <a:endParaRPr lang="en-US" altLang="zh-CN" sz="1800" b="1" baseline="-25000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baseline="-25000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例如：</a:t>
            </a:r>
            <a:r>
              <a:rPr lang="en-US" altLang="zh-CN" sz="1800" b="1" dirty="0"/>
              <a:t>x=0.1101</a:t>
            </a:r>
            <a:r>
              <a:rPr lang="zh-CN" altLang="en-US" sz="1800" b="1" dirty="0"/>
              <a:t>（正数），</a:t>
            </a:r>
            <a:r>
              <a:rPr lang="en-US" altLang="zh-CN" sz="1800" b="1" dirty="0"/>
              <a:t>x=1.1001</a:t>
            </a:r>
            <a:r>
              <a:rPr lang="zh-CN" altLang="en-US" sz="1800" b="1" dirty="0"/>
              <a:t>（负数）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x</a:t>
            </a:r>
            <a:r>
              <a:rPr lang="en-US" altLang="zh-CN" sz="1800" b="1" baseline="-25000" dirty="0"/>
              <a:t>0</a:t>
            </a:r>
            <a:r>
              <a:rPr lang="zh-CN" altLang="en-US" sz="1800" b="1" dirty="0"/>
              <a:t>表示数的符号位；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～</a:t>
            </a:r>
            <a:r>
              <a:rPr lang="en-US" altLang="zh-CN" sz="1800" b="1" dirty="0" err="1"/>
              <a:t>x</a:t>
            </a:r>
            <a:r>
              <a:rPr lang="en-US" altLang="zh-CN" sz="1800" b="1" baseline="-25000" dirty="0" err="1"/>
              <a:t>n</a:t>
            </a:r>
            <a:r>
              <a:rPr lang="zh-CN" altLang="en-US" sz="1800" b="1" dirty="0"/>
              <a:t>是数值的有效部分，也称为尾数；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为最高有效位。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、定点整数（纯整数）</a:t>
            </a:r>
            <a:endParaRPr lang="en-US" altLang="zh-CN" sz="2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x=x</a:t>
            </a:r>
            <a:r>
              <a:rPr lang="en-US" altLang="zh-CN" sz="1800" b="1" baseline="-25000" dirty="0"/>
              <a:t>0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…</a:t>
            </a:r>
            <a:r>
              <a:rPr lang="en-US" altLang="zh-CN" sz="1800" b="1" dirty="0" err="1"/>
              <a:t>x</a:t>
            </a:r>
            <a:r>
              <a:rPr lang="en-US" altLang="zh-CN" sz="1800" b="1" baseline="-25000" dirty="0" err="1"/>
              <a:t>n</a:t>
            </a:r>
            <a:endParaRPr lang="en-US" altLang="zh-CN" sz="1800" b="1" baseline="-25000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例如：</a:t>
            </a:r>
            <a:r>
              <a:rPr lang="en-US" altLang="zh-CN" sz="1800" b="1" dirty="0"/>
              <a:t>x=0,1101</a:t>
            </a:r>
            <a:r>
              <a:rPr lang="zh-CN" altLang="en-US" sz="1800" b="1" dirty="0"/>
              <a:t>（正数），</a:t>
            </a:r>
            <a:r>
              <a:rPr lang="en-US" altLang="zh-CN" sz="1800" b="1" dirty="0"/>
              <a:t>x=1,1001</a:t>
            </a:r>
            <a:r>
              <a:rPr lang="zh-CN" altLang="en-US" sz="1800" b="1" dirty="0"/>
              <a:t>（负数）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x</a:t>
            </a:r>
            <a:r>
              <a:rPr lang="en-US" altLang="zh-CN" sz="1800" b="1" baseline="-25000" dirty="0"/>
              <a:t>0</a:t>
            </a:r>
            <a:r>
              <a:rPr lang="zh-CN" altLang="en-US" sz="1800" b="1" dirty="0"/>
              <a:t>表示数的符号位；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～</a:t>
            </a:r>
            <a:r>
              <a:rPr lang="en-US" altLang="zh-CN" sz="1800" b="1" dirty="0" err="1"/>
              <a:t>x</a:t>
            </a:r>
            <a:r>
              <a:rPr lang="en-US" altLang="zh-CN" sz="1800" b="1" baseline="-25000" dirty="0" err="1"/>
              <a:t>n</a:t>
            </a:r>
            <a:r>
              <a:rPr lang="zh-CN" altLang="en-US" sz="1800" b="1" dirty="0"/>
              <a:t>是数值的有效部分。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>
                <a:highlight>
                  <a:srgbClr val="FFFF00"/>
                </a:highlight>
              </a:rPr>
              <a:t>C</a:t>
            </a:r>
            <a:r>
              <a:rPr lang="zh-CN" altLang="en-US" sz="1800" b="1" dirty="0">
                <a:highlight>
                  <a:srgbClr val="FFFF00"/>
                </a:highlight>
              </a:rPr>
              <a:t>语言中的</a:t>
            </a:r>
            <a:r>
              <a:rPr lang="en-US" altLang="zh-CN" sz="1800" b="1" dirty="0">
                <a:highlight>
                  <a:srgbClr val="FFFF00"/>
                </a:highlight>
              </a:rPr>
              <a:t>char</a:t>
            </a:r>
            <a:r>
              <a:rPr lang="zh-CN" altLang="en-US" sz="1800" b="1" dirty="0">
                <a:highlight>
                  <a:srgbClr val="FFFF00"/>
                </a:highlight>
              </a:rPr>
              <a:t>、</a:t>
            </a:r>
            <a:r>
              <a:rPr lang="en-US" altLang="zh-CN" sz="1800" b="1" dirty="0">
                <a:highlight>
                  <a:srgbClr val="FFFF00"/>
                </a:highlight>
              </a:rPr>
              <a:t>short</a:t>
            </a:r>
            <a:r>
              <a:rPr lang="zh-CN" altLang="en-US" sz="1800" b="1" dirty="0">
                <a:highlight>
                  <a:srgbClr val="FFFF00"/>
                </a:highlight>
              </a:rPr>
              <a:t>、</a:t>
            </a:r>
            <a:r>
              <a:rPr lang="en-US" altLang="zh-CN" sz="1800" b="1" dirty="0">
                <a:highlight>
                  <a:srgbClr val="FFFF00"/>
                </a:highlight>
              </a:rPr>
              <a:t>int</a:t>
            </a:r>
            <a:r>
              <a:rPr lang="zh-CN" altLang="en-US" sz="1800" b="1" dirty="0">
                <a:highlight>
                  <a:srgbClr val="FFFF00"/>
                </a:highlight>
              </a:rPr>
              <a:t>、</a:t>
            </a:r>
            <a:r>
              <a:rPr lang="en-US" altLang="zh-CN" sz="1800" b="1" dirty="0">
                <a:highlight>
                  <a:srgbClr val="FFFF00"/>
                </a:highlight>
              </a:rPr>
              <a:t>long</a:t>
            </a:r>
            <a:r>
              <a:rPr lang="zh-CN" altLang="en-US" sz="1800" b="1" dirty="0">
                <a:highlight>
                  <a:srgbClr val="FFFF00"/>
                </a:highlight>
              </a:rPr>
              <a:t>都属于定点整数</a:t>
            </a:r>
            <a:r>
              <a:rPr lang="zh-CN" altLang="en-US" sz="1800" b="1" dirty="0"/>
              <a:t>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628212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A2042-3458-492A-95F4-7552F1F9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7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2.2.2 </a:t>
            </a:r>
            <a:r>
              <a:rPr lang="zh-CN" altLang="en-US" b="1" dirty="0">
                <a:ea typeface="黑体" panose="02010609060101010101" pitchFamily="49" charset="-122"/>
              </a:rPr>
              <a:t>定点数表示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28319"/>
            <a:ext cx="8229600" cy="2143275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800" b="1" dirty="0"/>
              <a:t>3</a:t>
            </a:r>
            <a:r>
              <a:rPr lang="zh-CN" altLang="en-US" sz="1800" b="1" dirty="0"/>
              <a:t>、定点数表示范围</a:t>
            </a:r>
            <a:endParaRPr lang="en-US" altLang="zh-CN" sz="18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定点数的表示范围与机器字长以及机器码（机器数的表示方法：原码、反码、补码、移码）有关。</a:t>
            </a:r>
            <a:endParaRPr lang="en-US" altLang="zh-CN" sz="16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若</a:t>
            </a:r>
            <a:r>
              <a:rPr lang="zh-CN" altLang="en-US" sz="1600" b="1" dirty="0">
                <a:highlight>
                  <a:srgbClr val="FFFF00"/>
                </a:highlight>
              </a:rPr>
              <a:t>计算机字长为</a:t>
            </a:r>
            <a:r>
              <a:rPr lang="en-US" altLang="zh-CN" sz="1600" b="1" dirty="0">
                <a:highlight>
                  <a:srgbClr val="FFFF00"/>
                </a:highlight>
              </a:rPr>
              <a:t>n+1</a:t>
            </a:r>
            <a:r>
              <a:rPr lang="zh-CN" altLang="en-US" sz="1600" b="1" dirty="0">
                <a:highlight>
                  <a:srgbClr val="FFFF00"/>
                </a:highlight>
              </a:rPr>
              <a:t>（含</a:t>
            </a:r>
            <a:r>
              <a:rPr lang="en-US" altLang="zh-CN" sz="1600" b="1" dirty="0">
                <a:highlight>
                  <a:srgbClr val="FFFF00"/>
                </a:highlight>
              </a:rPr>
              <a:t>1</a:t>
            </a:r>
            <a:r>
              <a:rPr lang="zh-CN" altLang="en-US" sz="1600" b="1" dirty="0">
                <a:highlight>
                  <a:srgbClr val="FFFF00"/>
                </a:highlight>
              </a:rPr>
              <a:t>位符号位），</a:t>
            </a:r>
            <a:r>
              <a:rPr lang="zh-CN" altLang="en-US" sz="1600" b="1" dirty="0"/>
              <a:t>则它可以表示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n+1</a:t>
            </a:r>
            <a:r>
              <a:rPr lang="zh-CN" altLang="en-US" sz="1600" b="1" dirty="0"/>
              <a:t>个数据状态。采用不同机器码（原码、反码、补码、移码）的定点数表示范围如表</a:t>
            </a:r>
            <a:r>
              <a:rPr lang="en-US" altLang="zh-CN" sz="1600" b="1" dirty="0"/>
              <a:t>2.4</a:t>
            </a:r>
            <a:r>
              <a:rPr lang="zh-CN" altLang="en-US" sz="1600" b="1" dirty="0"/>
              <a:t>所示。</a:t>
            </a:r>
            <a:endParaRPr lang="en-US" altLang="zh-CN" sz="1600" b="1" dirty="0"/>
          </a:p>
          <a:p>
            <a:pPr marL="914400" lvl="2" indent="0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altLang="zh-CN" sz="14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240529-51E3-480C-AB58-073BCB2C4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7" y="3240871"/>
            <a:ext cx="5460302" cy="343622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1C5427F-3E82-4662-9F7A-BBDA7BF28693}"/>
              </a:ext>
            </a:extLst>
          </p:cNvPr>
          <p:cNvSpPr txBox="1"/>
          <p:nvPr/>
        </p:nvSpPr>
        <p:spPr>
          <a:xfrm>
            <a:off x="3419872" y="2902317"/>
            <a:ext cx="2808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2.4 </a:t>
            </a:r>
            <a:r>
              <a:rPr lang="zh-CN" altLang="en-US" sz="1600" b="1" dirty="0"/>
              <a:t>定点数表示范围</a:t>
            </a:r>
          </a:p>
        </p:txBody>
      </p:sp>
    </p:spTree>
    <p:extLst>
      <p:ext uri="{BB962C8B-B14F-4D97-AF65-F5344CB8AC3E}">
        <p14:creationId xmlns:p14="http://schemas.microsoft.com/office/powerpoint/2010/main" val="1202708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B1CE7-01F4-4029-853C-4FAF7F20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81" y="11916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2.2.2 </a:t>
            </a:r>
            <a:r>
              <a:rPr lang="zh-CN" altLang="en-US" b="1" dirty="0">
                <a:ea typeface="黑体" panose="02010609060101010101" pitchFamily="49" charset="-122"/>
              </a:rPr>
              <a:t>定点数表示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24" y="1196752"/>
            <a:ext cx="8229600" cy="5472608"/>
          </a:xfrm>
        </p:spPr>
        <p:txBody>
          <a:bodyPr rtlCol="0">
            <a:noAutofit/>
          </a:bodyPr>
          <a:lstStyle/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数轴上的定点数的表示范围：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对于定点整数，数轴上每个刻度间隔为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对于定点小数，数轴上每个刻度间隔为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en-US" altLang="zh-CN" sz="1600" b="1" baseline="30000" dirty="0">
                <a:solidFill>
                  <a:srgbClr val="C00000"/>
                </a:solidFill>
              </a:rPr>
              <a:t>-n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溢出</a:t>
            </a:r>
            <a:r>
              <a:rPr lang="zh-CN" altLang="en-US" sz="1600" b="1" dirty="0"/>
              <a:t>：当数据超出计算机所能表示的数据范围时称为溢出，数据大于最大正数时，称为</a:t>
            </a:r>
            <a:r>
              <a:rPr lang="zh-CN" altLang="en-US" sz="1600" b="1" dirty="0">
                <a:solidFill>
                  <a:srgbClr val="C00000"/>
                </a:solidFill>
              </a:rPr>
              <a:t>正上溢</a:t>
            </a:r>
            <a:r>
              <a:rPr lang="zh-CN" altLang="en-US" sz="1600" b="1" dirty="0"/>
              <a:t>；数据小于最小负数时，称为</a:t>
            </a:r>
            <a:r>
              <a:rPr lang="zh-CN" altLang="en-US" sz="1600" b="1" dirty="0">
                <a:solidFill>
                  <a:srgbClr val="C00000"/>
                </a:solidFill>
              </a:rPr>
              <a:t>负上溢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3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例如：假设</a:t>
            </a:r>
            <a:r>
              <a:rPr lang="en-US" altLang="zh-CN" sz="1600" b="1" dirty="0"/>
              <a:t>n=7</a:t>
            </a:r>
            <a:r>
              <a:rPr lang="zh-CN" altLang="en-US" sz="1600" b="1" dirty="0"/>
              <a:t>（包括符号位共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位），整数补码的表示范围为：</a:t>
            </a:r>
            <a:r>
              <a:rPr lang="en-US" altLang="zh-CN" sz="1600" b="1" dirty="0"/>
              <a:t>-128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+127</a:t>
            </a:r>
            <a:r>
              <a:rPr lang="zh-CN" altLang="en-US" sz="1600" b="1" dirty="0"/>
              <a:t>；如果数据</a:t>
            </a:r>
            <a:r>
              <a:rPr lang="en-US" altLang="zh-CN" sz="1600" b="1" dirty="0"/>
              <a:t>=130</a:t>
            </a:r>
            <a:r>
              <a:rPr lang="zh-CN" altLang="en-US" sz="1600" b="1" dirty="0"/>
              <a:t>，则发生正上溢；如果数据</a:t>
            </a:r>
            <a:r>
              <a:rPr lang="en-US" altLang="zh-CN" sz="1600" b="1" dirty="0"/>
              <a:t>=-130</a:t>
            </a:r>
            <a:r>
              <a:rPr lang="zh-CN" altLang="en-US" sz="1600" b="1" dirty="0"/>
              <a:t>，则发生负上溢。</a:t>
            </a:r>
            <a:endParaRPr lang="en-US" altLang="zh-CN" sz="1600" b="1" dirty="0"/>
          </a:p>
          <a:p>
            <a:pPr lvl="3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例如：假设</a:t>
            </a:r>
            <a:r>
              <a:rPr lang="en-US" altLang="zh-CN" sz="1600" b="1" dirty="0"/>
              <a:t>n=7</a:t>
            </a:r>
            <a:r>
              <a:rPr lang="zh-CN" altLang="en-US" sz="1600" b="1" dirty="0"/>
              <a:t>（包括符号位共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位），小数补码的表示范围为：</a:t>
            </a:r>
            <a:r>
              <a:rPr lang="en-US" altLang="zh-CN" sz="1600" b="1" dirty="0"/>
              <a:t>-1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+(1-2</a:t>
            </a:r>
            <a:r>
              <a:rPr lang="en-US" altLang="zh-CN" sz="1600" b="1" baseline="30000" dirty="0"/>
              <a:t>-7</a:t>
            </a:r>
            <a:r>
              <a:rPr lang="en-US" altLang="zh-CN" sz="1600" b="1" dirty="0"/>
              <a:t>)</a:t>
            </a:r>
            <a:r>
              <a:rPr lang="zh-CN" altLang="en-US" sz="1600" b="1" dirty="0"/>
              <a:t>；如果数据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，则发生正上溢；如果数据</a:t>
            </a:r>
            <a:r>
              <a:rPr lang="en-US" altLang="zh-CN" sz="1600" b="1" dirty="0"/>
              <a:t>=-2</a:t>
            </a:r>
            <a:r>
              <a:rPr lang="zh-CN" altLang="en-US" sz="1600" b="1" dirty="0"/>
              <a:t>，则发生负上溢。</a:t>
            </a:r>
            <a:endParaRPr lang="en-US" altLang="zh-CN" sz="500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837B3FD-370A-4C5E-B4E4-4CC2156D75AC}"/>
              </a:ext>
            </a:extLst>
          </p:cNvPr>
          <p:cNvGrpSpPr/>
          <p:nvPr/>
        </p:nvGrpSpPr>
        <p:grpSpPr>
          <a:xfrm>
            <a:off x="1691680" y="1784027"/>
            <a:ext cx="6133240" cy="1203797"/>
            <a:chOff x="1679120" y="1223934"/>
            <a:chExt cx="6133240" cy="1203797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8CCEECF8-BB67-49BF-AF05-16DCF38BFAEF}"/>
                </a:ext>
              </a:extLst>
            </p:cNvPr>
            <p:cNvGrpSpPr/>
            <p:nvPr/>
          </p:nvGrpSpPr>
          <p:grpSpPr>
            <a:xfrm>
              <a:off x="1679120" y="1223934"/>
              <a:ext cx="6133240" cy="908922"/>
              <a:chOff x="1679120" y="1135376"/>
              <a:chExt cx="6133240" cy="908922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E23D9B3-52CC-407F-AE16-94F4D15283C0}"/>
                  </a:ext>
                </a:extLst>
              </p:cNvPr>
              <p:cNvCxnSpPr/>
              <p:nvPr/>
            </p:nvCxnSpPr>
            <p:spPr>
              <a:xfrm>
                <a:off x="7020272" y="1196752"/>
                <a:ext cx="0" cy="3600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810AEAEA-D469-4FA5-95E8-66830DE90E65}"/>
                  </a:ext>
                </a:extLst>
              </p:cNvPr>
              <p:cNvGrpSpPr/>
              <p:nvPr/>
            </p:nvGrpSpPr>
            <p:grpSpPr>
              <a:xfrm>
                <a:off x="1679120" y="1135376"/>
                <a:ext cx="6133240" cy="908922"/>
                <a:chOff x="1679120" y="1135376"/>
                <a:chExt cx="6133240" cy="908922"/>
              </a:xfrm>
            </p:grpSpPr>
            <p:cxnSp>
              <p:nvCxnSpPr>
                <p:cNvPr id="7" name="直接连接符 6">
                  <a:extLst>
                    <a:ext uri="{FF2B5EF4-FFF2-40B4-BE49-F238E27FC236}">
                      <a16:creationId xmlns:a16="http://schemas.microsoft.com/office/drawing/2014/main" id="{AB6A61A6-D970-4807-A55A-0F2A14613C53}"/>
                    </a:ext>
                  </a:extLst>
                </p:cNvPr>
                <p:cNvCxnSpPr/>
                <p:nvPr/>
              </p:nvCxnSpPr>
              <p:spPr>
                <a:xfrm>
                  <a:off x="4572000" y="1196752"/>
                  <a:ext cx="0" cy="3600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CFCED41-FB0B-4A2C-B97C-78DF858E4E6E}"/>
                    </a:ext>
                  </a:extLst>
                </p:cNvPr>
                <p:cNvSpPr txBox="1"/>
                <p:nvPr/>
              </p:nvSpPr>
              <p:spPr>
                <a:xfrm>
                  <a:off x="1679120" y="1268760"/>
                  <a:ext cx="588624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050" b="1" dirty="0">
                      <a:highlight>
                        <a:srgbClr val="FFFF00"/>
                      </a:highlight>
                    </a:rPr>
                    <a:t>负上溢</a:t>
                  </a:r>
                  <a:endParaRPr lang="en-US" altLang="zh-CN" sz="1050" b="1" dirty="0">
                    <a:highlight>
                      <a:srgbClr val="FFFF00"/>
                    </a:highlight>
                  </a:endParaRPr>
                </a:p>
              </p:txBody>
            </p: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16608913-85C6-4126-82BE-C5A238AA9825}"/>
                    </a:ext>
                  </a:extLst>
                </p:cNvPr>
                <p:cNvGrpSpPr/>
                <p:nvPr/>
              </p:nvGrpSpPr>
              <p:grpSpPr>
                <a:xfrm>
                  <a:off x="1907704" y="1135376"/>
                  <a:ext cx="5904656" cy="908922"/>
                  <a:chOff x="1907704" y="1135376"/>
                  <a:chExt cx="5904656" cy="908922"/>
                </a:xfrm>
              </p:grpSpPr>
              <p:cxnSp>
                <p:nvCxnSpPr>
                  <p:cNvPr id="23" name="直接连接符 22">
                    <a:extLst>
                      <a:ext uri="{FF2B5EF4-FFF2-40B4-BE49-F238E27FC236}">
                        <a16:creationId xmlns:a16="http://schemas.microsoft.com/office/drawing/2014/main" id="{27EEB393-4E93-482C-9F35-1E874E50A2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601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A1E7B3C0-42C5-4670-991C-3DC3D7A7F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6841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>
                    <a:extLst>
                      <a:ext uri="{FF2B5EF4-FFF2-40B4-BE49-F238E27FC236}">
                        <a16:creationId xmlns:a16="http://schemas.microsoft.com/office/drawing/2014/main" id="{C3B2FBBB-4C3E-4B86-8042-A56AB4D541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9566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728D8254-FA43-4A18-A9EB-5EEBF2CCB3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806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8342B272-64CB-4F73-9A25-C14DEC4B76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92080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5A8C5092-7B74-4338-BB06-E15F723461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44480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60B3463F-F0AE-4AEE-B277-33B43EACBA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172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FC2EAC2D-7410-4291-B27E-4ECDC1C9EB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2412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D1862427-6BA4-424D-91AA-22025D901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86814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ABF07D34-7684-4A9A-A9D7-E274991696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2054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>
                    <a:extLst>
                      <a:ext uri="{FF2B5EF4-FFF2-40B4-BE49-F238E27FC236}">
                        <a16:creationId xmlns:a16="http://schemas.microsoft.com/office/drawing/2014/main" id="{4CB41AF5-9C9A-4CB2-B411-3C34C4D0E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7792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C19D44AA-5087-4C92-BAB3-F3A42B502B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00192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>
                    <a:extLst>
                      <a:ext uri="{FF2B5EF4-FFF2-40B4-BE49-F238E27FC236}">
                        <a16:creationId xmlns:a16="http://schemas.microsoft.com/office/drawing/2014/main" id="{4E57E171-707F-4A7A-B28D-11EF7DF759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4420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E7AD1EE3-96E7-4AF2-8950-31661A4109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9660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>
                    <a:extLst>
                      <a:ext uri="{FF2B5EF4-FFF2-40B4-BE49-F238E27FC236}">
                        <a16:creationId xmlns:a16="http://schemas.microsoft.com/office/drawing/2014/main" id="{D9BAAFAE-41A0-4150-B187-E1B51FF72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2385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>
                    <a:extLst>
                      <a:ext uri="{FF2B5EF4-FFF2-40B4-BE49-F238E27FC236}">
                        <a16:creationId xmlns:a16="http://schemas.microsoft.com/office/drawing/2014/main" id="{F9EEA262-788B-4485-9026-E795ACE18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7625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2" name="组合 61">
                    <a:extLst>
                      <a:ext uri="{FF2B5EF4-FFF2-40B4-BE49-F238E27FC236}">
                        <a16:creationId xmlns:a16="http://schemas.microsoft.com/office/drawing/2014/main" id="{965F1236-31A2-449D-A53D-1C840C49EA78}"/>
                      </a:ext>
                    </a:extLst>
                  </p:cNvPr>
                  <p:cNvGrpSpPr/>
                  <p:nvPr/>
                </p:nvGrpSpPr>
                <p:grpSpPr>
                  <a:xfrm>
                    <a:off x="1907704" y="1135376"/>
                    <a:ext cx="5904656" cy="908922"/>
                    <a:chOff x="1907704" y="1135376"/>
                    <a:chExt cx="5904656" cy="908922"/>
                  </a:xfrm>
                </p:grpSpPr>
                <p:cxnSp>
                  <p:nvCxnSpPr>
                    <p:cNvPr id="5" name="直接箭头连接符 4">
                      <a:extLst>
                        <a:ext uri="{FF2B5EF4-FFF2-40B4-BE49-F238E27FC236}">
                          <a16:creationId xmlns:a16="http://schemas.microsoft.com/office/drawing/2014/main" id="{7CDDF449-4CF4-44D7-8373-EB9FB758867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07704" y="1556792"/>
                      <a:ext cx="5904656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直接连接符 8">
                      <a:extLst>
                        <a:ext uri="{FF2B5EF4-FFF2-40B4-BE49-F238E27FC236}">
                          <a16:creationId xmlns:a16="http://schemas.microsoft.com/office/drawing/2014/main" id="{02058C21-09A5-4C01-B877-014E276809B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267744" y="1196752"/>
                      <a:ext cx="0" cy="36004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直接连接符 9">
                      <a:extLst>
                        <a:ext uri="{FF2B5EF4-FFF2-40B4-BE49-F238E27FC236}">
                          <a16:creationId xmlns:a16="http://schemas.microsoft.com/office/drawing/2014/main" id="{7AE4AD9B-1A9A-4974-9C1D-A92E096E40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1176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" name="直接连接符 11">
                      <a:extLst>
                        <a:ext uri="{FF2B5EF4-FFF2-40B4-BE49-F238E27FC236}">
                          <a16:creationId xmlns:a16="http://schemas.microsoft.com/office/drawing/2014/main" id="{DC7B8C59-3CEA-4708-9EE6-08331BAC40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6416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直接连接符 12">
                      <a:extLst>
                        <a:ext uri="{FF2B5EF4-FFF2-40B4-BE49-F238E27FC236}">
                          <a16:creationId xmlns:a16="http://schemas.microsoft.com/office/drawing/2014/main" id="{BE5FB9C2-8497-406E-8D25-93C31726FB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9140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" name="直接连接符 13">
                      <a:extLst>
                        <a:ext uri="{FF2B5EF4-FFF2-40B4-BE49-F238E27FC236}">
                          <a16:creationId xmlns:a16="http://schemas.microsoft.com/office/drawing/2014/main" id="{BB2061A7-163B-4EBD-8667-1EBADCC0D1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4380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直接连接符 14">
                      <a:extLst>
                        <a:ext uri="{FF2B5EF4-FFF2-40B4-BE49-F238E27FC236}">
                          <a16:creationId xmlns:a16="http://schemas.microsoft.com/office/drawing/2014/main" id="{C5E2D2CE-592F-446D-B3F4-676E8F4BD1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87824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直接连接符 15">
                      <a:extLst>
                        <a:ext uri="{FF2B5EF4-FFF2-40B4-BE49-F238E27FC236}">
                          <a16:creationId xmlns:a16="http://schemas.microsoft.com/office/drawing/2014/main" id="{B58242D5-102D-41E5-B186-E7BD6E7E1C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40224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直接连接符 16">
                      <a:extLst>
                        <a:ext uri="{FF2B5EF4-FFF2-40B4-BE49-F238E27FC236}">
                          <a16:creationId xmlns:a16="http://schemas.microsoft.com/office/drawing/2014/main" id="{B63951E2-C873-44EE-B37D-00652FA54A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6747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直接连接符 17">
                      <a:extLst>
                        <a:ext uri="{FF2B5EF4-FFF2-40B4-BE49-F238E27FC236}">
                          <a16:creationId xmlns:a16="http://schemas.microsoft.com/office/drawing/2014/main" id="{A6043103-FBB4-4D82-B9D6-0D2F3083DC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1987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直接连接符 18">
                      <a:extLst>
                        <a:ext uri="{FF2B5EF4-FFF2-40B4-BE49-F238E27FC236}">
                          <a16:creationId xmlns:a16="http://schemas.microsoft.com/office/drawing/2014/main" id="{2F4810AA-D1BE-4A23-8CD7-2B4E55B96C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6388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直接连接符 19">
                      <a:extLst>
                        <a:ext uri="{FF2B5EF4-FFF2-40B4-BE49-F238E27FC236}">
                          <a16:creationId xmlns:a16="http://schemas.microsoft.com/office/drawing/2014/main" id="{72D98CE8-00D3-43A3-B2F5-E42A1F95C1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1628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接连接符 20">
                      <a:extLst>
                        <a:ext uri="{FF2B5EF4-FFF2-40B4-BE49-F238E27FC236}">
                          <a16:creationId xmlns:a16="http://schemas.microsoft.com/office/drawing/2014/main" id="{587C0831-9F7D-4A98-9A2A-DC4462E012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43536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直接连接符 21">
                      <a:extLst>
                        <a:ext uri="{FF2B5EF4-FFF2-40B4-BE49-F238E27FC236}">
                          <a16:creationId xmlns:a16="http://schemas.microsoft.com/office/drawing/2014/main" id="{920F79EB-827B-4865-9B55-79FEA94569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5936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直接连接符 38">
                      <a:extLst>
                        <a:ext uri="{FF2B5EF4-FFF2-40B4-BE49-F238E27FC236}">
                          <a16:creationId xmlns:a16="http://schemas.microsoft.com/office/drawing/2014/main" id="{C20E9BD5-55E8-47A3-AD49-B47C081781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3995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接连接符 39">
                      <a:extLst>
                        <a:ext uri="{FF2B5EF4-FFF2-40B4-BE49-F238E27FC236}">
                          <a16:creationId xmlns:a16="http://schemas.microsoft.com/office/drawing/2014/main" id="{80A9BAE8-0D8A-47D2-AE97-5E2FDF15F9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9235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接连接符 40">
                      <a:extLst>
                        <a:ext uri="{FF2B5EF4-FFF2-40B4-BE49-F238E27FC236}">
                          <a16:creationId xmlns:a16="http://schemas.microsoft.com/office/drawing/2014/main" id="{478B844B-D4CF-4426-8265-7DDC7AFCE1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1960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连接符 41">
                      <a:extLst>
                        <a:ext uri="{FF2B5EF4-FFF2-40B4-BE49-F238E27FC236}">
                          <a16:creationId xmlns:a16="http://schemas.microsoft.com/office/drawing/2014/main" id="{3C64C55B-C2DB-4866-8AAB-16403FA247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57200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9" name="组合 58">
                      <a:extLst>
                        <a:ext uri="{FF2B5EF4-FFF2-40B4-BE49-F238E27FC236}">
                          <a16:creationId xmlns:a16="http://schemas.microsoft.com/office/drawing/2014/main" id="{4ACB20CC-9932-4DEA-B3ED-FDD253F830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29798" y="1135376"/>
                      <a:ext cx="5566538" cy="908922"/>
                      <a:chOff x="2029798" y="1135376"/>
                      <a:chExt cx="5566538" cy="908922"/>
                    </a:xfrm>
                  </p:grpSpPr>
                  <p:sp>
                    <p:nvSpPr>
                      <p:cNvPr id="43" name="文本框 42">
                        <a:extLst>
                          <a:ext uri="{FF2B5EF4-FFF2-40B4-BE49-F238E27FC236}">
                            <a16:creationId xmlns:a16="http://schemas.microsoft.com/office/drawing/2014/main" id="{2102242F-545C-43BF-8C82-0E387C2FCC0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29798" y="1628800"/>
                        <a:ext cx="453970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最小</a:t>
                        </a:r>
                        <a:endParaRPr lang="en-US" altLang="zh-CN" sz="1050" b="1" dirty="0"/>
                      </a:p>
                      <a:p>
                        <a:pPr algn="ctr"/>
                        <a:r>
                          <a:rPr lang="zh-CN" altLang="en-US" sz="1050" b="1" dirty="0"/>
                          <a:t>负数</a:t>
                        </a:r>
                      </a:p>
                    </p:txBody>
                  </p:sp>
                  <p:sp>
                    <p:nvSpPr>
                      <p:cNvPr id="44" name="文本框 43">
                        <a:extLst>
                          <a:ext uri="{FF2B5EF4-FFF2-40B4-BE49-F238E27FC236}">
                            <a16:creationId xmlns:a16="http://schemas.microsoft.com/office/drawing/2014/main" id="{903C75DB-5F4D-4D94-9BF6-4581F48BF2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4248" y="1628800"/>
                        <a:ext cx="453970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最大</a:t>
                        </a:r>
                        <a:endParaRPr lang="en-US" altLang="zh-CN" sz="1050" b="1" dirty="0"/>
                      </a:p>
                      <a:p>
                        <a:pPr algn="ctr"/>
                        <a:r>
                          <a:rPr lang="zh-CN" altLang="en-US" sz="1050" b="1" dirty="0"/>
                          <a:t>正数</a:t>
                        </a:r>
                      </a:p>
                    </p:txBody>
                  </p:sp>
                  <p:sp>
                    <p:nvSpPr>
                      <p:cNvPr id="45" name="文本框 44">
                        <a:extLst>
                          <a:ext uri="{FF2B5EF4-FFF2-40B4-BE49-F238E27FC236}">
                            <a16:creationId xmlns:a16="http://schemas.microsoft.com/office/drawing/2014/main" id="{E0DDC8A3-01FE-4F86-84D2-BFA358603BC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54564" y="1671328"/>
                        <a:ext cx="253596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50" b="1" dirty="0"/>
                          <a:t>0</a:t>
                        </a:r>
                      </a:p>
                    </p:txBody>
                  </p:sp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AD6D0109-4ABA-471D-B466-0F79BF24FE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07712" y="1268760"/>
                        <a:ext cx="588624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>
                            <a:highlight>
                              <a:srgbClr val="FFFF00"/>
                            </a:highlight>
                          </a:rPr>
                          <a:t>正上溢</a:t>
                        </a:r>
                        <a:endParaRPr lang="en-US" altLang="zh-CN" sz="1050" b="1" dirty="0">
                          <a:highlight>
                            <a:srgbClr val="FFFF00"/>
                          </a:highlight>
                        </a:endParaRPr>
                      </a:p>
                    </p:txBody>
                  </p:sp>
                  <p:sp>
                    <p:nvSpPr>
                      <p:cNvPr id="48" name="文本框 47">
                        <a:extLst>
                          <a:ext uri="{FF2B5EF4-FFF2-40B4-BE49-F238E27FC236}">
                            <a16:creationId xmlns:a16="http://schemas.microsoft.com/office/drawing/2014/main" id="{195B30CC-648E-4039-A668-90F5A4FC7E5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55224" y="1135376"/>
                        <a:ext cx="723276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负数区域</a:t>
                        </a:r>
                        <a:endParaRPr lang="en-US" altLang="zh-CN" sz="105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1A99E255-AB3A-4E1F-BF45-019EF8563F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67992" y="1142912"/>
                        <a:ext cx="723275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正数区域</a:t>
                        </a:r>
                        <a:endParaRPr lang="en-US" altLang="zh-CN" sz="1050" b="1" dirty="0"/>
                      </a:p>
                    </p:txBody>
                  </p:sp>
                  <p:cxnSp>
                    <p:nvCxnSpPr>
                      <p:cNvPr id="51" name="直接箭头连接符 50">
                        <a:extLst>
                          <a:ext uri="{FF2B5EF4-FFF2-40B4-BE49-F238E27FC236}">
                            <a16:creationId xmlns:a16="http://schemas.microsoft.com/office/drawing/2014/main" id="{E0072DC1-2F4D-40AD-816A-0B87E96AB52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169056" y="1268760"/>
                        <a:ext cx="859920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直接箭头连接符 51">
                        <a:extLst>
                          <a:ext uri="{FF2B5EF4-FFF2-40B4-BE49-F238E27FC236}">
                            <a16:creationId xmlns:a16="http://schemas.microsoft.com/office/drawing/2014/main" id="{860CFDBD-5D97-4931-98E3-6179F80C1C1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43536" y="1268760"/>
                        <a:ext cx="724288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直接箭头连接符 52">
                        <a:extLst>
                          <a:ext uri="{FF2B5EF4-FFF2-40B4-BE49-F238E27FC236}">
                            <a16:creationId xmlns:a16="http://schemas.microsoft.com/office/drawing/2014/main" id="{7D950C6A-587D-42D5-BD54-A57A0A79EC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572000" y="1268760"/>
                        <a:ext cx="932908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直接箭头连接符 55">
                        <a:extLst>
                          <a:ext uri="{FF2B5EF4-FFF2-40B4-BE49-F238E27FC236}">
                            <a16:creationId xmlns:a16="http://schemas.microsoft.com/office/drawing/2014/main" id="{4EF9D312-DCC6-4F67-92F3-8FEB894162D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267744" y="1268760"/>
                        <a:ext cx="936104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</p:grp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C349526-3478-41D6-8E3A-07BD87F8CC96}"/>
                </a:ext>
              </a:extLst>
            </p:cNvPr>
            <p:cNvSpPr txBox="1"/>
            <p:nvPr/>
          </p:nvSpPr>
          <p:spPr>
            <a:xfrm>
              <a:off x="3347864" y="2119954"/>
              <a:ext cx="30893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2.5    </a:t>
              </a:r>
              <a:r>
                <a:rPr lang="zh-CN" altLang="en-US" sz="1400" b="1" dirty="0"/>
                <a:t>定点数的表示范围（见教材）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46170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D8E84-AC9B-4B26-98F4-85B0DDAE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84" y="29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2.2.2 </a:t>
            </a:r>
            <a:r>
              <a:rPr lang="zh-CN" altLang="en-US" b="1" dirty="0">
                <a:ea typeface="黑体" panose="02010609060101010101" pitchFamily="49" charset="-122"/>
              </a:rPr>
              <a:t>定点数表示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40582"/>
            <a:ext cx="8229600" cy="3764108"/>
          </a:xfrm>
        </p:spPr>
        <p:txBody>
          <a:bodyPr rtlCol="0">
            <a:norm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精度溢出</a:t>
            </a:r>
            <a:r>
              <a:rPr lang="zh-CN" altLang="en-US" sz="1800" b="1" dirty="0"/>
              <a:t>：对于小数还存在精度的问题，所有不在数轴上的小数都超出了定点小数所能表示的精度，无法表示，此时定点小数发生精度溢出，只能采用舍入的方法近似表示。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例如：假设</a:t>
            </a:r>
            <a:r>
              <a:rPr lang="en-US" altLang="zh-CN" sz="1600" b="1" dirty="0"/>
              <a:t>n=3</a:t>
            </a:r>
            <a:r>
              <a:rPr lang="zh-CN" altLang="en-US" sz="1600" b="1" dirty="0"/>
              <a:t>（包括符号位共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位），小数补码的表示范围为：</a:t>
            </a:r>
            <a:r>
              <a:rPr lang="en-US" altLang="zh-CN" sz="1600" b="1" dirty="0"/>
              <a:t>-1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+(1-2</a:t>
            </a:r>
            <a:r>
              <a:rPr lang="en-US" altLang="zh-CN" sz="1600" b="1" baseline="30000" dirty="0"/>
              <a:t>-3</a:t>
            </a:r>
            <a:r>
              <a:rPr lang="en-US" altLang="zh-CN" sz="1600" b="1" dirty="0"/>
              <a:t>)</a:t>
            </a:r>
            <a:r>
              <a:rPr lang="zh-CN" altLang="en-US" sz="1600" b="1" dirty="0"/>
              <a:t>；数轴上</a:t>
            </a:r>
            <a:r>
              <a:rPr lang="zh-CN" altLang="en-US" sz="1600" b="1" dirty="0">
                <a:highlight>
                  <a:srgbClr val="FFFF00"/>
                </a:highlight>
              </a:rPr>
              <a:t>每个刻度间隔为</a:t>
            </a:r>
            <a:r>
              <a:rPr lang="en-US" altLang="zh-CN" sz="1600" b="1" dirty="0">
                <a:highlight>
                  <a:srgbClr val="FFFF00"/>
                </a:highlight>
              </a:rPr>
              <a:t>2</a:t>
            </a:r>
            <a:r>
              <a:rPr lang="en-US" altLang="zh-CN" sz="1600" b="1" baseline="30000" dirty="0">
                <a:highlight>
                  <a:srgbClr val="FFFF00"/>
                </a:highlight>
              </a:rPr>
              <a:t>-3</a:t>
            </a:r>
            <a:r>
              <a:rPr lang="zh-CN" altLang="en-US" sz="1600" b="1" dirty="0"/>
              <a:t>。数轴上的数值为：</a:t>
            </a:r>
            <a:r>
              <a:rPr lang="en-US" altLang="zh-CN" sz="1600" b="1" dirty="0"/>
              <a:t>-1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-7/8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-6/8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-5/8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-4/8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-3/8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-2/8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-1/8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1/8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2/8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3/8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4/8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5/8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6/8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7/8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对于</a:t>
            </a:r>
            <a:r>
              <a:rPr lang="en-US" altLang="zh-CN" sz="1600" b="1" dirty="0"/>
              <a:t>x=5/16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x=2.5/8</a:t>
            </a:r>
            <a:r>
              <a:rPr lang="zh-CN" altLang="en-US" sz="1600" b="1" dirty="0"/>
              <a:t>），在数轴上无法表示，发生精度溢出。因为</a:t>
            </a:r>
            <a:r>
              <a:rPr lang="en-US" altLang="zh-CN" sz="1600" b="1" dirty="0"/>
              <a:t>x=5/16=0.0101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highlight>
                  <a:srgbClr val="FFFF00"/>
                </a:highlight>
              </a:rPr>
              <a:t>小数点后面有</a:t>
            </a:r>
            <a:r>
              <a:rPr lang="en-US" altLang="zh-CN" sz="1600" b="1" dirty="0">
                <a:highlight>
                  <a:srgbClr val="FFFF00"/>
                </a:highlight>
              </a:rPr>
              <a:t>4</a:t>
            </a:r>
            <a:r>
              <a:rPr lang="zh-CN" altLang="en-US" sz="1600" b="1" dirty="0">
                <a:highlight>
                  <a:srgbClr val="FFFF00"/>
                </a:highlight>
              </a:rPr>
              <a:t>位，超出最大精度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n=3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此时，可以采用舍入的方法近似表示；或者是</a:t>
            </a:r>
            <a:r>
              <a:rPr lang="en-US" altLang="zh-CN" sz="1600" b="1" dirty="0"/>
              <a:t>x=</a:t>
            </a:r>
            <a:r>
              <a:rPr lang="en-US" altLang="zh-CN" sz="1600" b="1" dirty="0">
                <a:solidFill>
                  <a:srgbClr val="C00000"/>
                </a:solidFill>
              </a:rPr>
              <a:t>0.010</a:t>
            </a:r>
            <a:r>
              <a:rPr lang="en-US" altLang="zh-CN" sz="1600" b="1" dirty="0"/>
              <a:t>=2/8=4/16</a:t>
            </a:r>
            <a:r>
              <a:rPr lang="zh-CN" altLang="en-US" sz="1600" b="1" dirty="0"/>
              <a:t>；或者是</a:t>
            </a:r>
            <a:r>
              <a:rPr lang="en-US" altLang="zh-CN" sz="1600" b="1" dirty="0"/>
              <a:t>x=</a:t>
            </a:r>
            <a:r>
              <a:rPr lang="en-US" altLang="zh-CN" sz="1600" b="1" dirty="0">
                <a:solidFill>
                  <a:srgbClr val="C00000"/>
                </a:solidFill>
              </a:rPr>
              <a:t>0.011</a:t>
            </a:r>
            <a:r>
              <a:rPr lang="en-US" altLang="zh-CN" sz="1600" b="1" dirty="0"/>
              <a:t>=3/8=6/16</a:t>
            </a:r>
            <a:r>
              <a:rPr lang="zh-CN" altLang="en-US" sz="1600" b="1" dirty="0"/>
              <a:t>。</a:t>
            </a:r>
            <a:endParaRPr lang="en-US" altLang="zh-CN" sz="1400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837B3FD-370A-4C5E-B4E4-4CC2156D75AC}"/>
              </a:ext>
            </a:extLst>
          </p:cNvPr>
          <p:cNvGrpSpPr/>
          <p:nvPr/>
        </p:nvGrpSpPr>
        <p:grpSpPr>
          <a:xfrm>
            <a:off x="1547664" y="5085184"/>
            <a:ext cx="6133240" cy="1203797"/>
            <a:chOff x="1679120" y="1223934"/>
            <a:chExt cx="6133240" cy="1203797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8CCEECF8-BB67-49BF-AF05-16DCF38BFAEF}"/>
                </a:ext>
              </a:extLst>
            </p:cNvPr>
            <p:cNvGrpSpPr/>
            <p:nvPr/>
          </p:nvGrpSpPr>
          <p:grpSpPr>
            <a:xfrm>
              <a:off x="1679120" y="1223934"/>
              <a:ext cx="6133240" cy="908922"/>
              <a:chOff x="1679120" y="1135376"/>
              <a:chExt cx="6133240" cy="908922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E23D9B3-52CC-407F-AE16-94F4D15283C0}"/>
                  </a:ext>
                </a:extLst>
              </p:cNvPr>
              <p:cNvCxnSpPr/>
              <p:nvPr/>
            </p:nvCxnSpPr>
            <p:spPr>
              <a:xfrm>
                <a:off x="7020272" y="1196752"/>
                <a:ext cx="0" cy="36004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810AEAEA-D469-4FA5-95E8-66830DE90E65}"/>
                  </a:ext>
                </a:extLst>
              </p:cNvPr>
              <p:cNvGrpSpPr/>
              <p:nvPr/>
            </p:nvGrpSpPr>
            <p:grpSpPr>
              <a:xfrm>
                <a:off x="1679120" y="1135376"/>
                <a:ext cx="6133240" cy="908922"/>
                <a:chOff x="1679120" y="1135376"/>
                <a:chExt cx="6133240" cy="908922"/>
              </a:xfrm>
            </p:grpSpPr>
            <p:cxnSp>
              <p:nvCxnSpPr>
                <p:cNvPr id="7" name="直接连接符 6">
                  <a:extLst>
                    <a:ext uri="{FF2B5EF4-FFF2-40B4-BE49-F238E27FC236}">
                      <a16:creationId xmlns:a16="http://schemas.microsoft.com/office/drawing/2014/main" id="{AB6A61A6-D970-4807-A55A-0F2A14613C53}"/>
                    </a:ext>
                  </a:extLst>
                </p:cNvPr>
                <p:cNvCxnSpPr/>
                <p:nvPr/>
              </p:nvCxnSpPr>
              <p:spPr>
                <a:xfrm>
                  <a:off x="4572000" y="1196752"/>
                  <a:ext cx="0" cy="3600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CFCED41-FB0B-4A2C-B97C-78DF858E4E6E}"/>
                    </a:ext>
                  </a:extLst>
                </p:cNvPr>
                <p:cNvSpPr txBox="1"/>
                <p:nvPr/>
              </p:nvSpPr>
              <p:spPr>
                <a:xfrm>
                  <a:off x="1679120" y="1268760"/>
                  <a:ext cx="588624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050" b="1" dirty="0"/>
                    <a:t>负上溢</a:t>
                  </a:r>
                  <a:endParaRPr lang="en-US" altLang="zh-CN" sz="1050" b="1" dirty="0"/>
                </a:p>
              </p:txBody>
            </p: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16608913-85C6-4126-82BE-C5A238AA9825}"/>
                    </a:ext>
                  </a:extLst>
                </p:cNvPr>
                <p:cNvGrpSpPr/>
                <p:nvPr/>
              </p:nvGrpSpPr>
              <p:grpSpPr>
                <a:xfrm>
                  <a:off x="1907704" y="1135376"/>
                  <a:ext cx="5904656" cy="908922"/>
                  <a:chOff x="1907704" y="1135376"/>
                  <a:chExt cx="5904656" cy="908922"/>
                </a:xfrm>
              </p:grpSpPr>
              <p:cxnSp>
                <p:nvCxnSpPr>
                  <p:cNvPr id="23" name="直接连接符 22">
                    <a:extLst>
                      <a:ext uri="{FF2B5EF4-FFF2-40B4-BE49-F238E27FC236}">
                        <a16:creationId xmlns:a16="http://schemas.microsoft.com/office/drawing/2014/main" id="{27EEB393-4E93-482C-9F35-1E874E50A2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1601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A1E7B3C0-42C5-4670-991C-3DC3D7A7F5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6841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>
                    <a:extLst>
                      <a:ext uri="{FF2B5EF4-FFF2-40B4-BE49-F238E27FC236}">
                        <a16:creationId xmlns:a16="http://schemas.microsoft.com/office/drawing/2014/main" id="{C3B2FBBB-4C3E-4B86-8042-A56AB4D541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9566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728D8254-FA43-4A18-A9EB-5EEBF2CCB3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806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8342B272-64CB-4F73-9A25-C14DEC4B76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92080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5A8C5092-7B74-4338-BB06-E15F723461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44480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60B3463F-F0AE-4AEE-B277-33B43EACBA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172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>
                    <a:extLst>
                      <a:ext uri="{FF2B5EF4-FFF2-40B4-BE49-F238E27FC236}">
                        <a16:creationId xmlns:a16="http://schemas.microsoft.com/office/drawing/2014/main" id="{FC2EAC2D-7410-4291-B27E-4ECDC1C9EB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2412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D1862427-6BA4-424D-91AA-22025D901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86814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ABF07D34-7684-4A9A-A9D7-E274991696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20544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>
                    <a:extLst>
                      <a:ext uri="{FF2B5EF4-FFF2-40B4-BE49-F238E27FC236}">
                        <a16:creationId xmlns:a16="http://schemas.microsoft.com/office/drawing/2014/main" id="{4CB41AF5-9C9A-4CB2-B411-3C34C4D0E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7792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C19D44AA-5087-4C92-BAB3-F3A42B502B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00192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>
                    <a:extLst>
                      <a:ext uri="{FF2B5EF4-FFF2-40B4-BE49-F238E27FC236}">
                        <a16:creationId xmlns:a16="http://schemas.microsoft.com/office/drawing/2014/main" id="{4E57E171-707F-4A7A-B28D-11EF7DF759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44420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E7AD1EE3-96E7-4AF2-8950-31661A4109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96608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>
                    <a:extLst>
                      <a:ext uri="{FF2B5EF4-FFF2-40B4-BE49-F238E27FC236}">
                        <a16:creationId xmlns:a16="http://schemas.microsoft.com/office/drawing/2014/main" id="{D9BAAFAE-41A0-4150-B187-E1B51FF727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2385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>
                    <a:extLst>
                      <a:ext uri="{FF2B5EF4-FFF2-40B4-BE49-F238E27FC236}">
                        <a16:creationId xmlns:a16="http://schemas.microsoft.com/office/drawing/2014/main" id="{F9EEA262-788B-4485-9026-E795ACE18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76256" y="1412776"/>
                    <a:ext cx="0" cy="15240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2" name="组合 61">
                    <a:extLst>
                      <a:ext uri="{FF2B5EF4-FFF2-40B4-BE49-F238E27FC236}">
                        <a16:creationId xmlns:a16="http://schemas.microsoft.com/office/drawing/2014/main" id="{965F1236-31A2-449D-A53D-1C840C49EA78}"/>
                      </a:ext>
                    </a:extLst>
                  </p:cNvPr>
                  <p:cNvGrpSpPr/>
                  <p:nvPr/>
                </p:nvGrpSpPr>
                <p:grpSpPr>
                  <a:xfrm>
                    <a:off x="1907704" y="1135376"/>
                    <a:ext cx="5904656" cy="908922"/>
                    <a:chOff x="1907704" y="1135376"/>
                    <a:chExt cx="5904656" cy="908922"/>
                  </a:xfrm>
                </p:grpSpPr>
                <p:cxnSp>
                  <p:nvCxnSpPr>
                    <p:cNvPr id="5" name="直接箭头连接符 4">
                      <a:extLst>
                        <a:ext uri="{FF2B5EF4-FFF2-40B4-BE49-F238E27FC236}">
                          <a16:creationId xmlns:a16="http://schemas.microsoft.com/office/drawing/2014/main" id="{7CDDF449-4CF4-44D7-8373-EB9FB758867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07704" y="1556792"/>
                      <a:ext cx="5904656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直接连接符 8">
                      <a:extLst>
                        <a:ext uri="{FF2B5EF4-FFF2-40B4-BE49-F238E27FC236}">
                          <a16:creationId xmlns:a16="http://schemas.microsoft.com/office/drawing/2014/main" id="{02058C21-09A5-4C01-B877-014E276809B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267744" y="1196752"/>
                      <a:ext cx="0" cy="36004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直接连接符 9">
                      <a:extLst>
                        <a:ext uri="{FF2B5EF4-FFF2-40B4-BE49-F238E27FC236}">
                          <a16:creationId xmlns:a16="http://schemas.microsoft.com/office/drawing/2014/main" id="{7AE4AD9B-1A9A-4974-9C1D-A92E096E40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41176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" name="直接连接符 11">
                      <a:extLst>
                        <a:ext uri="{FF2B5EF4-FFF2-40B4-BE49-F238E27FC236}">
                          <a16:creationId xmlns:a16="http://schemas.microsoft.com/office/drawing/2014/main" id="{DC7B8C59-3CEA-4708-9EE6-08331BAC40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6416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直接连接符 12">
                      <a:extLst>
                        <a:ext uri="{FF2B5EF4-FFF2-40B4-BE49-F238E27FC236}">
                          <a16:creationId xmlns:a16="http://schemas.microsoft.com/office/drawing/2014/main" id="{BE5FB9C2-8497-406E-8D25-93C31726FB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69140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" name="直接连接符 13">
                      <a:extLst>
                        <a:ext uri="{FF2B5EF4-FFF2-40B4-BE49-F238E27FC236}">
                          <a16:creationId xmlns:a16="http://schemas.microsoft.com/office/drawing/2014/main" id="{BB2061A7-163B-4EBD-8667-1EBADCC0D1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84380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直接连接符 14">
                      <a:extLst>
                        <a:ext uri="{FF2B5EF4-FFF2-40B4-BE49-F238E27FC236}">
                          <a16:creationId xmlns:a16="http://schemas.microsoft.com/office/drawing/2014/main" id="{C5E2D2CE-592F-446D-B3F4-676E8F4BD1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87824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直接连接符 15">
                      <a:extLst>
                        <a:ext uri="{FF2B5EF4-FFF2-40B4-BE49-F238E27FC236}">
                          <a16:creationId xmlns:a16="http://schemas.microsoft.com/office/drawing/2014/main" id="{B58242D5-102D-41E5-B186-E7BD6E7E1C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40224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直接连接符 16">
                      <a:extLst>
                        <a:ext uri="{FF2B5EF4-FFF2-40B4-BE49-F238E27FC236}">
                          <a16:creationId xmlns:a16="http://schemas.microsoft.com/office/drawing/2014/main" id="{B63951E2-C873-44EE-B37D-00652FA54A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6747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直接连接符 17">
                      <a:extLst>
                        <a:ext uri="{FF2B5EF4-FFF2-40B4-BE49-F238E27FC236}">
                          <a16:creationId xmlns:a16="http://schemas.microsoft.com/office/drawing/2014/main" id="{A6043103-FBB4-4D82-B9D6-0D2F3083DC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1987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直接连接符 18">
                      <a:extLst>
                        <a:ext uri="{FF2B5EF4-FFF2-40B4-BE49-F238E27FC236}">
                          <a16:creationId xmlns:a16="http://schemas.microsoft.com/office/drawing/2014/main" id="{2F4810AA-D1BE-4A23-8CD7-2B4E55B96C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6388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直接连接符 19">
                      <a:extLst>
                        <a:ext uri="{FF2B5EF4-FFF2-40B4-BE49-F238E27FC236}">
                          <a16:creationId xmlns:a16="http://schemas.microsoft.com/office/drawing/2014/main" id="{72D98CE8-00D3-43A3-B2F5-E42A1F95C1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16288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接连接符 20">
                      <a:extLst>
                        <a:ext uri="{FF2B5EF4-FFF2-40B4-BE49-F238E27FC236}">
                          <a16:creationId xmlns:a16="http://schemas.microsoft.com/office/drawing/2014/main" id="{587C0831-9F7D-4A98-9A2A-DC4462E012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43536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直接连接符 21">
                      <a:extLst>
                        <a:ext uri="{FF2B5EF4-FFF2-40B4-BE49-F238E27FC236}">
                          <a16:creationId xmlns:a16="http://schemas.microsoft.com/office/drawing/2014/main" id="{920F79EB-827B-4865-9B55-79FEA94569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5936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直接连接符 38">
                      <a:extLst>
                        <a:ext uri="{FF2B5EF4-FFF2-40B4-BE49-F238E27FC236}">
                          <a16:creationId xmlns:a16="http://schemas.microsoft.com/office/drawing/2014/main" id="{C20E9BD5-55E8-47A3-AD49-B47C081781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3995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接连接符 39">
                      <a:extLst>
                        <a:ext uri="{FF2B5EF4-FFF2-40B4-BE49-F238E27FC236}">
                          <a16:creationId xmlns:a16="http://schemas.microsoft.com/office/drawing/2014/main" id="{80A9BAE8-0D8A-47D2-AE97-5E2FDF15F9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92352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接连接符 40">
                      <a:extLst>
                        <a:ext uri="{FF2B5EF4-FFF2-40B4-BE49-F238E27FC236}">
                          <a16:creationId xmlns:a16="http://schemas.microsoft.com/office/drawing/2014/main" id="{478B844B-D4CF-4426-8265-7DDC7AFCE1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1960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连接符 41">
                      <a:extLst>
                        <a:ext uri="{FF2B5EF4-FFF2-40B4-BE49-F238E27FC236}">
                          <a16:creationId xmlns:a16="http://schemas.microsoft.com/office/drawing/2014/main" id="{3C64C55B-C2DB-4866-8AAB-16403FA247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572000" y="1412776"/>
                      <a:ext cx="0" cy="1524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9" name="组合 58">
                      <a:extLst>
                        <a:ext uri="{FF2B5EF4-FFF2-40B4-BE49-F238E27FC236}">
                          <a16:creationId xmlns:a16="http://schemas.microsoft.com/office/drawing/2014/main" id="{4ACB20CC-9932-4DEA-B3ED-FDD253F830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29798" y="1135376"/>
                      <a:ext cx="5566538" cy="908922"/>
                      <a:chOff x="2029798" y="1135376"/>
                      <a:chExt cx="5566538" cy="908922"/>
                    </a:xfrm>
                  </p:grpSpPr>
                  <p:sp>
                    <p:nvSpPr>
                      <p:cNvPr id="43" name="文本框 42">
                        <a:extLst>
                          <a:ext uri="{FF2B5EF4-FFF2-40B4-BE49-F238E27FC236}">
                            <a16:creationId xmlns:a16="http://schemas.microsoft.com/office/drawing/2014/main" id="{2102242F-545C-43BF-8C82-0E387C2FCC0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29798" y="1628800"/>
                        <a:ext cx="453970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最小</a:t>
                        </a:r>
                        <a:endParaRPr lang="en-US" altLang="zh-CN" sz="1050" b="1" dirty="0"/>
                      </a:p>
                      <a:p>
                        <a:pPr algn="ctr"/>
                        <a:r>
                          <a:rPr lang="zh-CN" altLang="en-US" sz="1050" b="1" dirty="0"/>
                          <a:t>负数</a:t>
                        </a:r>
                      </a:p>
                    </p:txBody>
                  </p:sp>
                  <p:sp>
                    <p:nvSpPr>
                      <p:cNvPr id="44" name="文本框 43">
                        <a:extLst>
                          <a:ext uri="{FF2B5EF4-FFF2-40B4-BE49-F238E27FC236}">
                            <a16:creationId xmlns:a16="http://schemas.microsoft.com/office/drawing/2014/main" id="{903C75DB-5F4D-4D94-9BF6-4581F48BF2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4248" y="1628800"/>
                        <a:ext cx="453970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最大</a:t>
                        </a:r>
                        <a:endParaRPr lang="en-US" altLang="zh-CN" sz="1050" b="1" dirty="0"/>
                      </a:p>
                      <a:p>
                        <a:pPr algn="ctr"/>
                        <a:r>
                          <a:rPr lang="zh-CN" altLang="en-US" sz="1050" b="1" dirty="0"/>
                          <a:t>正数</a:t>
                        </a:r>
                      </a:p>
                    </p:txBody>
                  </p:sp>
                  <p:sp>
                    <p:nvSpPr>
                      <p:cNvPr id="45" name="文本框 44">
                        <a:extLst>
                          <a:ext uri="{FF2B5EF4-FFF2-40B4-BE49-F238E27FC236}">
                            <a16:creationId xmlns:a16="http://schemas.microsoft.com/office/drawing/2014/main" id="{E0DDC8A3-01FE-4F86-84D2-BFA358603BC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54564" y="1671328"/>
                        <a:ext cx="253596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50" b="1" dirty="0"/>
                          <a:t>0</a:t>
                        </a:r>
                      </a:p>
                    </p:txBody>
                  </p:sp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AD6D0109-4ABA-471D-B466-0F79BF24FE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07712" y="1268760"/>
                        <a:ext cx="588624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正上溢</a:t>
                        </a:r>
                        <a:endParaRPr lang="en-US" altLang="zh-CN" sz="1050" b="1" dirty="0"/>
                      </a:p>
                    </p:txBody>
                  </p:sp>
                  <p:sp>
                    <p:nvSpPr>
                      <p:cNvPr id="48" name="文本框 47">
                        <a:extLst>
                          <a:ext uri="{FF2B5EF4-FFF2-40B4-BE49-F238E27FC236}">
                            <a16:creationId xmlns:a16="http://schemas.microsoft.com/office/drawing/2014/main" id="{195B30CC-648E-4039-A668-90F5A4FC7E5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55224" y="1135376"/>
                        <a:ext cx="723276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负数区域</a:t>
                        </a:r>
                        <a:endParaRPr lang="en-US" altLang="zh-CN" sz="105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1A99E255-AB3A-4E1F-BF45-019EF8563F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67992" y="1142912"/>
                        <a:ext cx="723275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50" b="1" dirty="0"/>
                          <a:t>正数区域</a:t>
                        </a:r>
                        <a:endParaRPr lang="en-US" altLang="zh-CN" sz="1050" b="1" dirty="0"/>
                      </a:p>
                    </p:txBody>
                  </p:sp>
                  <p:cxnSp>
                    <p:nvCxnSpPr>
                      <p:cNvPr id="51" name="直接箭头连接符 50">
                        <a:extLst>
                          <a:ext uri="{FF2B5EF4-FFF2-40B4-BE49-F238E27FC236}">
                            <a16:creationId xmlns:a16="http://schemas.microsoft.com/office/drawing/2014/main" id="{E0072DC1-2F4D-40AD-816A-0B87E96AB52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169056" y="1268760"/>
                        <a:ext cx="859920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直接箭头连接符 51">
                        <a:extLst>
                          <a:ext uri="{FF2B5EF4-FFF2-40B4-BE49-F238E27FC236}">
                            <a16:creationId xmlns:a16="http://schemas.microsoft.com/office/drawing/2014/main" id="{860CFDBD-5D97-4931-98E3-6179F80C1C1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843536" y="1268760"/>
                        <a:ext cx="724288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直接箭头连接符 52">
                        <a:extLst>
                          <a:ext uri="{FF2B5EF4-FFF2-40B4-BE49-F238E27FC236}">
                            <a16:creationId xmlns:a16="http://schemas.microsoft.com/office/drawing/2014/main" id="{7D950C6A-587D-42D5-BD54-A57A0A79EC4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572000" y="1268760"/>
                        <a:ext cx="932908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直接箭头连接符 55">
                        <a:extLst>
                          <a:ext uri="{FF2B5EF4-FFF2-40B4-BE49-F238E27FC236}">
                            <a16:creationId xmlns:a16="http://schemas.microsoft.com/office/drawing/2014/main" id="{4EF9D312-DCC6-4F67-92F3-8FEB894162D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267744" y="1268760"/>
                        <a:ext cx="936104" cy="0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</p:grp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4C349526-3478-41D6-8E3A-07BD87F8CC96}"/>
                </a:ext>
              </a:extLst>
            </p:cNvPr>
            <p:cNvSpPr txBox="1"/>
            <p:nvPr/>
          </p:nvSpPr>
          <p:spPr>
            <a:xfrm>
              <a:off x="3419872" y="2119954"/>
              <a:ext cx="30893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2.5    </a:t>
              </a:r>
              <a:r>
                <a:rPr lang="zh-CN" altLang="en-US" sz="1400" b="1" dirty="0"/>
                <a:t>定点数的表示范围（见教材）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32102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6184E-A6B5-41B7-83C4-38F8FBA4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226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3672408"/>
          </a:xfrm>
        </p:spPr>
        <p:txBody>
          <a:bodyPr rtlCol="0">
            <a:norm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、浮点数的表示形式</a:t>
            </a:r>
            <a:endParaRPr lang="en-US" altLang="zh-CN" sz="2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定点数</a:t>
            </a:r>
            <a:r>
              <a:rPr lang="zh-CN" altLang="en-US" sz="1800" b="1" dirty="0"/>
              <a:t>的小数点是</a:t>
            </a:r>
            <a:r>
              <a:rPr lang="zh-CN" altLang="en-US" sz="1800" b="1" dirty="0">
                <a:solidFill>
                  <a:srgbClr val="C00000"/>
                </a:solidFill>
              </a:rPr>
              <a:t>固定</a:t>
            </a:r>
            <a:r>
              <a:rPr lang="zh-CN" altLang="en-US" sz="1800" b="1" dirty="0"/>
              <a:t>的（定点小数，小数点在符号位的右边；定点整数，小数点在最右边）；而</a:t>
            </a:r>
            <a:r>
              <a:rPr lang="zh-CN" altLang="en-US" sz="1800" b="1" dirty="0">
                <a:solidFill>
                  <a:srgbClr val="C00000"/>
                </a:solidFill>
              </a:rPr>
              <a:t>浮点数</a:t>
            </a:r>
            <a:r>
              <a:rPr lang="zh-CN" altLang="en-US" sz="1800" b="1" dirty="0"/>
              <a:t>的小数点位置是不固定的，小数点位置可以</a:t>
            </a:r>
            <a:r>
              <a:rPr lang="zh-CN" altLang="en-US" sz="1800" b="1" dirty="0">
                <a:solidFill>
                  <a:srgbClr val="C00000"/>
                </a:solidFill>
              </a:rPr>
              <a:t>浮动</a:t>
            </a:r>
            <a:r>
              <a:rPr lang="zh-CN" altLang="en-US" sz="1800" b="1" dirty="0"/>
              <a:t>，故称为浮点数。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123.456 = 0.123456x10</a:t>
            </a:r>
            <a:r>
              <a:rPr lang="en-US" altLang="zh-CN" sz="1800" b="1" baseline="30000" dirty="0"/>
              <a:t>3 </a:t>
            </a:r>
            <a:r>
              <a:rPr lang="en-US" altLang="zh-CN" sz="1800" b="1" dirty="0"/>
              <a:t>= 1.23456x10</a:t>
            </a:r>
            <a:r>
              <a:rPr lang="en-US" altLang="zh-CN" sz="1800" b="1" baseline="30000" dirty="0"/>
              <a:t>2</a:t>
            </a:r>
            <a:r>
              <a:rPr lang="en-US" altLang="zh-CN" sz="1800" b="1" dirty="0"/>
              <a:t> = 12.3456x10</a:t>
            </a:r>
            <a:r>
              <a:rPr lang="en-US" altLang="zh-CN" sz="1800" b="1" baseline="30000" dirty="0"/>
              <a:t>1 </a:t>
            </a:r>
            <a:r>
              <a:rPr lang="zh-CN" altLang="en-US" sz="1800" b="1" dirty="0"/>
              <a:t>（小数点位置可以浮动）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浮点数表示为：</a:t>
            </a:r>
            <a:r>
              <a:rPr lang="en-US" altLang="zh-CN" sz="1800" b="1" dirty="0"/>
              <a:t>N = 2</a:t>
            </a:r>
            <a:r>
              <a:rPr lang="en-US" altLang="zh-CN" sz="1800" b="1" baseline="30000" dirty="0"/>
              <a:t>E</a:t>
            </a:r>
            <a:r>
              <a:rPr lang="en-US" altLang="zh-CN" sz="1800" b="1" dirty="0"/>
              <a:t>xM = 2</a:t>
            </a:r>
            <a:r>
              <a:rPr lang="en-US" altLang="zh-CN" sz="1800" b="1" baseline="30000" dirty="0"/>
              <a:t>±e</a:t>
            </a:r>
            <a:r>
              <a:rPr lang="en-US" altLang="zh-CN" sz="1800" b="1" dirty="0"/>
              <a:t>x(±0.m)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E</a:t>
            </a:r>
            <a:r>
              <a:rPr lang="zh-CN" altLang="en-US" sz="1600" b="1" dirty="0"/>
              <a:t>称为</a:t>
            </a:r>
            <a:r>
              <a:rPr lang="zh-CN" altLang="en-US" sz="1600" b="1" dirty="0">
                <a:solidFill>
                  <a:srgbClr val="C00000"/>
                </a:solidFill>
              </a:rPr>
              <a:t>阶码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Exponent</a:t>
            </a:r>
            <a:r>
              <a:rPr lang="zh-CN" altLang="en-US" sz="1600" b="1" dirty="0"/>
              <a:t>），为纯整数，</a:t>
            </a:r>
            <a:r>
              <a:rPr lang="en-US" altLang="zh-CN" sz="1600" b="1" dirty="0"/>
              <a:t>e</a:t>
            </a:r>
            <a:r>
              <a:rPr lang="zh-CN" altLang="en-US" sz="1600" b="1" dirty="0"/>
              <a:t>为阶码的数值部分；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称为</a:t>
            </a:r>
            <a:r>
              <a:rPr lang="zh-CN" altLang="en-US" sz="1600" b="1" dirty="0">
                <a:solidFill>
                  <a:srgbClr val="C00000"/>
                </a:solidFill>
              </a:rPr>
              <a:t>尾数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Mantissa</a:t>
            </a:r>
            <a:r>
              <a:rPr lang="zh-CN" altLang="en-US" sz="1600" b="1" dirty="0"/>
              <a:t>），为纯小数，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为尾数的数值部分。</a:t>
            </a: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0AEB26-9A19-47E7-AFDF-03FFCB01DAC7}"/>
              </a:ext>
            </a:extLst>
          </p:cNvPr>
          <p:cNvSpPr txBox="1"/>
          <p:nvPr/>
        </p:nvSpPr>
        <p:spPr>
          <a:xfrm>
            <a:off x="2912424" y="5961235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图</a:t>
            </a:r>
            <a:r>
              <a:rPr lang="en-US" altLang="zh-CN" sz="1600" b="1" dirty="0"/>
              <a:t>2.6    </a:t>
            </a:r>
            <a:r>
              <a:rPr lang="zh-CN" altLang="en-US" sz="1600" b="1" dirty="0"/>
              <a:t>浮点数的数据格式（见教材）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FFD51B7-4412-4702-8475-3DD6D268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730695"/>
              </p:ext>
            </p:extLst>
          </p:nvPr>
        </p:nvGraphicFramePr>
        <p:xfrm>
          <a:off x="2843809" y="5008246"/>
          <a:ext cx="37444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582">
                  <a:extLst>
                    <a:ext uri="{9D8B030D-6E8A-4147-A177-3AD203B41FA5}">
                      <a16:colId xmlns:a16="http://schemas.microsoft.com/office/drawing/2014/main" val="1546846793"/>
                    </a:ext>
                  </a:extLst>
                </a:gridCol>
                <a:gridCol w="1187255">
                  <a:extLst>
                    <a:ext uri="{9D8B030D-6E8A-4147-A177-3AD203B41FA5}">
                      <a16:colId xmlns:a16="http://schemas.microsoft.com/office/drawing/2014/main" val="784687124"/>
                    </a:ext>
                  </a:extLst>
                </a:gridCol>
                <a:gridCol w="639290">
                  <a:extLst>
                    <a:ext uri="{9D8B030D-6E8A-4147-A177-3AD203B41FA5}">
                      <a16:colId xmlns:a16="http://schemas.microsoft.com/office/drawing/2014/main" val="3805420945"/>
                    </a:ext>
                  </a:extLst>
                </a:gridCol>
                <a:gridCol w="1392288">
                  <a:extLst>
                    <a:ext uri="{9D8B030D-6E8A-4147-A177-3AD203B41FA5}">
                      <a16:colId xmlns:a16="http://schemas.microsoft.com/office/drawing/2014/main" val="3705367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e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…e</a:t>
                      </a:r>
                      <a:r>
                        <a:rPr lang="en-US" altLang="zh-CN" baseline="-25000" dirty="0"/>
                        <a:t>k</a:t>
                      </a:r>
                      <a:endParaRPr lang="zh-CN" altLang="en-US" baseline="-250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r>
                        <a:rPr lang="en-US" altLang="zh-CN" baseline="-25000" dirty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</a:t>
                      </a:r>
                      <a:r>
                        <a:rPr lang="en-US" altLang="zh-CN" baseline="-25000" dirty="0"/>
                        <a:t>1</a:t>
                      </a:r>
                      <a:r>
                        <a:rPr lang="en-US" altLang="zh-CN" dirty="0"/>
                        <a:t>m</a:t>
                      </a:r>
                      <a:r>
                        <a:rPr lang="en-US" altLang="zh-CN" baseline="-25000" dirty="0"/>
                        <a:t>2</a:t>
                      </a:r>
                      <a:r>
                        <a:rPr lang="en-US" altLang="zh-CN" dirty="0"/>
                        <a:t>..m</a:t>
                      </a:r>
                      <a:r>
                        <a:rPr lang="en-US" altLang="zh-CN" baseline="-25000" dirty="0"/>
                        <a:t>n</a:t>
                      </a:r>
                      <a:endParaRPr lang="zh-CN" altLang="en-US" baseline="-250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37459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C47E118-B16E-4850-93DC-C04D4FC7B630}"/>
              </a:ext>
            </a:extLst>
          </p:cNvPr>
          <p:cNvSpPr txBox="1"/>
          <p:nvPr/>
        </p:nvSpPr>
        <p:spPr>
          <a:xfrm>
            <a:off x="2920227" y="5446163"/>
            <a:ext cx="3303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阶符          阶值              数符            尾数</a:t>
            </a:r>
          </a:p>
        </p:txBody>
      </p:sp>
    </p:spTree>
    <p:extLst>
      <p:ext uri="{BB962C8B-B14F-4D97-AF65-F5344CB8AC3E}">
        <p14:creationId xmlns:p14="http://schemas.microsoft.com/office/powerpoint/2010/main" val="458923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1EB7E-A401-4D22-A335-32143C86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4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60748"/>
            <a:ext cx="8424936" cy="5679504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2</a:t>
            </a:r>
            <a:r>
              <a:rPr lang="zh-CN" altLang="en-US" sz="1800" b="1" dirty="0"/>
              <a:t>、浮点数的表示范围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1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最大正数</a:t>
            </a:r>
            <a:r>
              <a:rPr lang="zh-CN" altLang="en-US" sz="1400" b="1" dirty="0"/>
              <a:t>：阶码为最大数、尾数为最大正数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最小正数</a:t>
            </a:r>
            <a:r>
              <a:rPr lang="zh-CN" altLang="en-US" sz="1400" b="1" dirty="0"/>
              <a:t>：阶码为最小数、尾数为最小正数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最大负数</a:t>
            </a:r>
            <a:r>
              <a:rPr lang="zh-CN" altLang="en-US" sz="1400" b="1" dirty="0"/>
              <a:t>：阶码为最小数、尾数为最大负数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最小负数</a:t>
            </a:r>
            <a:r>
              <a:rPr lang="zh-CN" altLang="en-US" sz="1400" b="1" dirty="0"/>
              <a:t>：阶码为最大数、尾数为最小负数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正上溢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+∞</a:t>
            </a:r>
            <a:r>
              <a:rPr lang="zh-CN" altLang="en-US" sz="1400" b="1" dirty="0"/>
              <a:t>）：浮点数大于最大正数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负上溢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-∞</a:t>
            </a:r>
            <a:r>
              <a:rPr lang="zh-CN" altLang="en-US" sz="1400" b="1" dirty="0"/>
              <a:t>）：浮点数小于最小负数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正下溢</a:t>
            </a:r>
            <a:r>
              <a:rPr lang="zh-CN" altLang="en-US" sz="1400" b="1" dirty="0"/>
              <a:t>（作为机器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处理）：浮点数正数小于最小正数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负下溢</a:t>
            </a:r>
            <a:r>
              <a:rPr lang="zh-CN" altLang="en-US" sz="1400" b="1" dirty="0"/>
              <a:t>（作为机器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处理）：浮点数负数大于最大负数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</a:rPr>
              <a:t>精度溢出</a:t>
            </a:r>
            <a:r>
              <a:rPr lang="zh-CN" altLang="en-US" sz="1400" b="1" dirty="0"/>
              <a:t>：某个浮点数在表示区间，但不在数轴刻度上，此时只能用近似数表示。</a:t>
            </a:r>
            <a:endParaRPr lang="en-US" altLang="zh-CN" sz="1400" b="1" dirty="0"/>
          </a:p>
          <a:p>
            <a:pPr lvl="2" eaLnBrk="1" fontAlgn="auto" hangingPunct="1">
              <a:lnSpc>
                <a:spcPct val="17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浮点数的数轴刻度</a:t>
            </a:r>
            <a:r>
              <a:rPr lang="zh-CN" altLang="en-US" sz="1400" b="1" dirty="0">
                <a:solidFill>
                  <a:srgbClr val="C00000"/>
                </a:solidFill>
              </a:rPr>
              <a:t>是不均匀的</a:t>
            </a:r>
            <a:r>
              <a:rPr lang="zh-CN" altLang="en-US" sz="1400" b="1" dirty="0"/>
              <a:t>（定点数的数轴刻度是均匀的），越往数轴的左右两端，刻度越稀疏</a:t>
            </a:r>
            <a:r>
              <a:rPr lang="zh-CN" altLang="en-US" sz="1100" b="1" dirty="0"/>
              <a:t>。</a:t>
            </a:r>
            <a:endParaRPr lang="en-US" altLang="zh-CN" sz="11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CF57BDB-9008-4330-8C10-85F8C882B085}"/>
              </a:ext>
            </a:extLst>
          </p:cNvPr>
          <p:cNvGrpSpPr/>
          <p:nvPr/>
        </p:nvGrpSpPr>
        <p:grpSpPr>
          <a:xfrm>
            <a:off x="1840868" y="1608635"/>
            <a:ext cx="5462264" cy="1390225"/>
            <a:chOff x="1331640" y="836712"/>
            <a:chExt cx="5760640" cy="167318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6D7E872-7376-4AE7-B90C-C518C8E72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836712"/>
              <a:ext cx="5760640" cy="1368152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3543FC7-C957-47A1-B5DB-F6D3B0BDBA8B}"/>
                </a:ext>
              </a:extLst>
            </p:cNvPr>
            <p:cNvSpPr txBox="1"/>
            <p:nvPr/>
          </p:nvSpPr>
          <p:spPr>
            <a:xfrm>
              <a:off x="2824644" y="2202117"/>
              <a:ext cx="30893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2.7    </a:t>
              </a:r>
              <a:r>
                <a:rPr lang="zh-CN" altLang="en-US" sz="1400" b="1" dirty="0"/>
                <a:t>浮点数的表示范围（见教材）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550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8E144-94EA-4F2B-B595-7DF6505A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48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49130"/>
            <a:ext cx="8229600" cy="5548222"/>
          </a:xfrm>
        </p:spPr>
        <p:txBody>
          <a:bodyPr rtlCol="0">
            <a:no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2000" b="1" dirty="0"/>
              <a:t>例如：</a:t>
            </a:r>
            <a:r>
              <a:rPr lang="en-US" altLang="zh-CN" sz="2000" b="1" dirty="0">
                <a:solidFill>
                  <a:srgbClr val="C00000"/>
                </a:solidFill>
              </a:rPr>
              <a:t>16</a:t>
            </a:r>
            <a:r>
              <a:rPr lang="zh-CN" altLang="en-US" sz="2000" b="1" dirty="0">
                <a:solidFill>
                  <a:srgbClr val="C00000"/>
                </a:solidFill>
              </a:rPr>
              <a:t>位浮点数</a:t>
            </a:r>
            <a:r>
              <a:rPr lang="zh-CN" altLang="en-US" sz="2000" b="1" dirty="0"/>
              <a:t>，其中阶码为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位（含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位阶符，用移码表示）、尾数为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位（含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位数符，用补码表示），则：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阶码的表示范围为：</a:t>
            </a:r>
            <a:r>
              <a:rPr lang="en-US" altLang="zh-CN" sz="1800" b="1" dirty="0"/>
              <a:t>-16</a:t>
            </a:r>
            <a:r>
              <a:rPr lang="zh-CN" altLang="en-US" sz="1800" b="1" dirty="0"/>
              <a:t>～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；</a:t>
            </a:r>
            <a:r>
              <a:rPr lang="en-US" altLang="zh-CN" sz="1800" b="1" dirty="0">
                <a:solidFill>
                  <a:srgbClr val="C00000"/>
                </a:solidFill>
              </a:rPr>
              <a:t>0,0000</a:t>
            </a:r>
            <a:r>
              <a:rPr lang="zh-CN" altLang="en-US" sz="1800" b="1" dirty="0">
                <a:solidFill>
                  <a:srgbClr val="C00000"/>
                </a:solidFill>
              </a:rPr>
              <a:t>～</a:t>
            </a:r>
            <a:r>
              <a:rPr lang="en-US" altLang="zh-CN" sz="1800" b="1" dirty="0">
                <a:solidFill>
                  <a:srgbClr val="C00000"/>
                </a:solidFill>
              </a:rPr>
              <a:t>1,1111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尾数的表示范围为：</a:t>
            </a:r>
            <a:r>
              <a:rPr lang="en-US" altLang="zh-CN" sz="1800" b="1" dirty="0"/>
              <a:t>-1</a:t>
            </a:r>
            <a:r>
              <a:rPr lang="zh-CN" altLang="en-US" sz="1800" b="1" dirty="0"/>
              <a:t>～</a:t>
            </a:r>
            <a:r>
              <a:rPr lang="en-US" altLang="zh-CN" sz="1800" b="1" dirty="0"/>
              <a:t>+(1-2</a:t>
            </a:r>
            <a:r>
              <a:rPr lang="en-US" altLang="zh-CN" sz="1800" b="1" baseline="30000" dirty="0"/>
              <a:t>-10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；</a:t>
            </a:r>
            <a:r>
              <a:rPr lang="en-US" altLang="zh-CN" sz="1800" b="1" dirty="0">
                <a:solidFill>
                  <a:srgbClr val="C00000"/>
                </a:solidFill>
              </a:rPr>
              <a:t>1.00 0000 0000</a:t>
            </a:r>
            <a:r>
              <a:rPr lang="zh-CN" altLang="en-US" sz="1800" b="1" dirty="0">
                <a:solidFill>
                  <a:srgbClr val="C00000"/>
                </a:solidFill>
              </a:rPr>
              <a:t>～</a:t>
            </a:r>
            <a:r>
              <a:rPr lang="en-US" altLang="zh-CN" sz="1800" b="1" dirty="0">
                <a:solidFill>
                  <a:srgbClr val="C00000"/>
                </a:solidFill>
              </a:rPr>
              <a:t>0.11 1111 1111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阶码最大数：</a:t>
            </a:r>
            <a:r>
              <a:rPr lang="en-US" altLang="zh-CN" sz="1800" b="1" dirty="0"/>
              <a:t>+15</a:t>
            </a:r>
            <a:r>
              <a:rPr lang="zh-CN" altLang="en-US" sz="1800" b="1" dirty="0"/>
              <a:t>；阶码最小数：</a:t>
            </a:r>
            <a:r>
              <a:rPr lang="en-US" altLang="zh-CN" sz="1800" b="1" dirty="0"/>
              <a:t>-16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尾数最大正数：</a:t>
            </a:r>
            <a:r>
              <a:rPr lang="en-US" altLang="zh-CN" sz="1800" b="1" dirty="0"/>
              <a:t>+(1-2</a:t>
            </a:r>
            <a:r>
              <a:rPr lang="en-US" altLang="zh-CN" sz="1800" b="1" baseline="30000" dirty="0"/>
              <a:t>-10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；尾数最小正数：</a:t>
            </a:r>
            <a:r>
              <a:rPr lang="en-US" altLang="zh-CN" sz="1800" b="1" dirty="0"/>
              <a:t>+2</a:t>
            </a:r>
            <a:r>
              <a:rPr lang="en-US" altLang="zh-CN" sz="1800" b="1" baseline="30000" dirty="0"/>
              <a:t>-10</a:t>
            </a:r>
            <a:r>
              <a:rPr lang="zh-CN" altLang="en-US" sz="1800" b="1" dirty="0"/>
              <a:t>；尾数最大负数：</a:t>
            </a:r>
            <a:r>
              <a:rPr lang="en-US" altLang="zh-CN" sz="1800" b="1" dirty="0"/>
              <a:t>-2</a:t>
            </a:r>
            <a:r>
              <a:rPr lang="en-US" altLang="zh-CN" sz="1800" b="1" baseline="30000" dirty="0"/>
              <a:t>-10</a:t>
            </a:r>
            <a:r>
              <a:rPr lang="zh-CN" altLang="en-US" sz="1800" b="1" dirty="0"/>
              <a:t>；尾数最小负数：</a:t>
            </a:r>
            <a:r>
              <a:rPr lang="en-US" altLang="zh-CN" sz="1800" b="1" dirty="0"/>
              <a:t>-1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浮点数最大正数：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15</a:t>
            </a:r>
            <a:r>
              <a:rPr lang="en-US" altLang="zh-CN" sz="1800" b="1" dirty="0"/>
              <a:t>x(1-2</a:t>
            </a:r>
            <a:r>
              <a:rPr lang="en-US" altLang="zh-CN" sz="1800" b="1" baseline="30000" dirty="0"/>
              <a:t>-10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；</a:t>
            </a:r>
            <a:r>
              <a:rPr lang="en-US" altLang="zh-CN" sz="1800" b="1" dirty="0">
                <a:solidFill>
                  <a:srgbClr val="C00000"/>
                </a:solidFill>
              </a:rPr>
              <a:t>1,1111   0.11 1111 1111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浮点数最小正数：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-16</a:t>
            </a:r>
            <a:r>
              <a:rPr lang="en-US" altLang="zh-CN" sz="1800" b="1" dirty="0"/>
              <a:t>x2</a:t>
            </a:r>
            <a:r>
              <a:rPr lang="en-US" altLang="zh-CN" sz="1800" b="1" baseline="30000" dirty="0"/>
              <a:t>-10</a:t>
            </a:r>
            <a:r>
              <a:rPr lang="zh-CN" altLang="en-US" sz="1800" b="1" dirty="0"/>
              <a:t>；      </a:t>
            </a:r>
            <a:r>
              <a:rPr lang="en-US" altLang="zh-CN" sz="1800" b="1" dirty="0">
                <a:solidFill>
                  <a:srgbClr val="C00000"/>
                </a:solidFill>
              </a:rPr>
              <a:t>0,0000   0.00 0000 0001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浮点数最大负数：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-16</a:t>
            </a:r>
            <a:r>
              <a:rPr lang="en-US" altLang="zh-CN" sz="1800" b="1" dirty="0"/>
              <a:t>x(-2</a:t>
            </a:r>
            <a:r>
              <a:rPr lang="en-US" altLang="zh-CN" sz="1800" b="1" baseline="30000" dirty="0"/>
              <a:t>-10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；  </a:t>
            </a:r>
            <a:r>
              <a:rPr lang="en-US" altLang="zh-CN" sz="1800" b="1" dirty="0">
                <a:solidFill>
                  <a:srgbClr val="C00000"/>
                </a:solidFill>
              </a:rPr>
              <a:t>0,0000   1.11 1111 1111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浮点数最小负数：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15</a:t>
            </a:r>
            <a:r>
              <a:rPr lang="en-US" altLang="zh-CN" sz="1800" b="1" dirty="0"/>
              <a:t>x(-1)</a:t>
            </a:r>
            <a:r>
              <a:rPr lang="zh-CN" altLang="en-US" sz="1800" b="1" dirty="0"/>
              <a:t>；      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</a:rPr>
              <a:t>1,1111   1.00 0000 0000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138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D0A31-C573-406C-8462-80A30D3E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4624"/>
            <a:ext cx="8229600" cy="936104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03" y="980728"/>
            <a:ext cx="8229600" cy="5760640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、浮点数的规格化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十进制浮点数的规格化：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05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123.456 = </a:t>
            </a:r>
            <a:r>
              <a:rPr lang="en-US" altLang="zh-CN" sz="1400" b="1" dirty="0">
                <a:solidFill>
                  <a:srgbClr val="C00000"/>
                </a:solidFill>
              </a:rPr>
              <a:t>0.123456</a:t>
            </a:r>
            <a:r>
              <a:rPr lang="en-US" altLang="zh-CN" sz="1400" b="1" dirty="0"/>
              <a:t>x10</a:t>
            </a:r>
            <a:r>
              <a:rPr lang="en-US" altLang="zh-CN" sz="1400" b="1" baseline="30000" dirty="0"/>
              <a:t>3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highlight>
                  <a:srgbClr val="FFFF00"/>
                </a:highlight>
              </a:rPr>
              <a:t>尾数为纯小数，且尾数的绝对值大于等于</a:t>
            </a:r>
            <a:r>
              <a:rPr lang="en-US" altLang="zh-CN" sz="1400" b="1" dirty="0">
                <a:highlight>
                  <a:srgbClr val="FFFF00"/>
                </a:highlight>
              </a:rPr>
              <a:t>0.1</a:t>
            </a:r>
            <a:r>
              <a:rPr lang="zh-CN" altLang="en-US" sz="1400" b="1" dirty="0">
                <a:highlight>
                  <a:srgbClr val="FFFF00"/>
                </a:highlight>
              </a:rPr>
              <a:t>、小于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非规格化十进制浮点数：</a:t>
            </a:r>
            <a:r>
              <a:rPr lang="en-US" altLang="zh-CN" sz="1400" b="1" dirty="0"/>
              <a:t>123.456 = </a:t>
            </a:r>
            <a:r>
              <a:rPr lang="en-US" altLang="zh-CN" sz="1400" b="1" dirty="0">
                <a:solidFill>
                  <a:srgbClr val="C00000"/>
                </a:solidFill>
              </a:rPr>
              <a:t>0.0123456</a:t>
            </a:r>
            <a:r>
              <a:rPr lang="en-US" altLang="zh-CN" sz="1400" b="1" dirty="0"/>
              <a:t>x10</a:t>
            </a:r>
            <a:r>
              <a:rPr lang="en-US" altLang="zh-CN" sz="1400" b="1" baseline="30000" dirty="0"/>
              <a:t>4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非规格化十进制浮点数：</a:t>
            </a:r>
            <a:r>
              <a:rPr lang="en-US" altLang="zh-CN" sz="1400" b="1" dirty="0"/>
              <a:t>123.456 = </a:t>
            </a:r>
            <a:r>
              <a:rPr lang="en-US" altLang="zh-CN" sz="1400" b="1" dirty="0">
                <a:solidFill>
                  <a:srgbClr val="C00000"/>
                </a:solidFill>
              </a:rPr>
              <a:t>1.23456</a:t>
            </a:r>
            <a:r>
              <a:rPr lang="en-US" altLang="zh-CN" sz="1400" b="1" dirty="0"/>
              <a:t>x10</a:t>
            </a:r>
            <a:r>
              <a:rPr lang="en-US" altLang="zh-CN" sz="1400" b="1" baseline="30000" dirty="0"/>
              <a:t>2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05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二进制浮点数的规格化：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05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1101.1001 = </a:t>
            </a:r>
            <a:r>
              <a:rPr lang="en-US" altLang="zh-CN" sz="1400" b="1" dirty="0">
                <a:solidFill>
                  <a:srgbClr val="C00000"/>
                </a:solidFill>
              </a:rPr>
              <a:t>0.11011001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100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highlight>
                  <a:srgbClr val="FFFF00"/>
                </a:highlight>
              </a:rPr>
              <a:t>尾数为纯小数，且尾数的绝对值大于等于</a:t>
            </a:r>
            <a:r>
              <a:rPr lang="en-US" altLang="zh-CN" sz="1400" b="1" dirty="0">
                <a:highlight>
                  <a:srgbClr val="FFFF00"/>
                </a:highlight>
              </a:rPr>
              <a:t>0.5</a:t>
            </a:r>
            <a:r>
              <a:rPr lang="zh-CN" altLang="en-US" sz="1400" b="1" dirty="0">
                <a:highlight>
                  <a:srgbClr val="FFFF00"/>
                </a:highlight>
              </a:rPr>
              <a:t>、小于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，即尾数的</a:t>
            </a:r>
            <a:r>
              <a:rPr lang="zh-CN" altLang="en-US" sz="1400" b="1" dirty="0">
                <a:solidFill>
                  <a:srgbClr val="C00000"/>
                </a:solidFill>
                <a:highlight>
                  <a:srgbClr val="FFFF00"/>
                </a:highlight>
              </a:rPr>
              <a:t>最高有效位</a:t>
            </a:r>
            <a:r>
              <a:rPr lang="zh-CN" altLang="en-US" sz="1400" b="1" dirty="0">
                <a:highlight>
                  <a:srgbClr val="FFFF00"/>
                </a:highlight>
              </a:rPr>
              <a:t>为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（尾数用原码表示）</a:t>
            </a:r>
            <a:r>
              <a:rPr lang="zh-CN" altLang="en-US" sz="1400" b="1" dirty="0"/>
              <a:t>。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非规格化二进制浮点数：</a:t>
            </a:r>
            <a:r>
              <a:rPr lang="en-US" altLang="zh-CN" sz="1400" b="1" dirty="0"/>
              <a:t>1101.1001 = </a:t>
            </a:r>
            <a:r>
              <a:rPr lang="en-US" altLang="zh-CN" sz="1400" b="1" dirty="0">
                <a:solidFill>
                  <a:srgbClr val="C00000"/>
                </a:solidFill>
              </a:rPr>
              <a:t>0.011011001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101</a:t>
            </a:r>
            <a:r>
              <a:rPr lang="zh-CN" altLang="en-US" sz="1400" b="1" dirty="0"/>
              <a:t> 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非规格化二进制浮点数：</a:t>
            </a:r>
            <a:r>
              <a:rPr lang="en-US" altLang="zh-CN" sz="1400" b="1" dirty="0"/>
              <a:t>1101.1001 = </a:t>
            </a:r>
            <a:r>
              <a:rPr lang="en-US" altLang="zh-CN" sz="1400" b="1" dirty="0">
                <a:solidFill>
                  <a:srgbClr val="C00000"/>
                </a:solidFill>
              </a:rPr>
              <a:t>1.1011001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011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baseline="30000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非规格化的浮点数可以通过</a:t>
            </a:r>
            <a:r>
              <a:rPr lang="zh-CN" altLang="en-US" sz="1600" b="1" dirty="0">
                <a:solidFill>
                  <a:srgbClr val="C00000"/>
                </a:solidFill>
              </a:rPr>
              <a:t>左规或右规</a:t>
            </a:r>
            <a:r>
              <a:rPr lang="zh-CN" altLang="en-US" sz="1600" b="1" dirty="0"/>
              <a:t>的方法变为规格化的浮点数。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2817380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16ECB-9633-43BE-ADBA-2DA4D0ED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91589"/>
            <a:ext cx="8229600" cy="5966411"/>
          </a:xfrm>
        </p:spPr>
        <p:txBody>
          <a:bodyPr rtlCol="0">
            <a:noAutofit/>
          </a:bodyPr>
          <a:lstStyle/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左规</a:t>
            </a:r>
            <a:r>
              <a:rPr lang="zh-CN" altLang="en-US" sz="1800" b="1" dirty="0"/>
              <a:t>：如果尾数的绝对值小于</a:t>
            </a:r>
            <a:r>
              <a:rPr lang="en-US" altLang="zh-CN" sz="1800" b="1" dirty="0"/>
              <a:t>0.5</a:t>
            </a:r>
            <a:r>
              <a:rPr lang="zh-CN" altLang="en-US" sz="1800" b="1" dirty="0"/>
              <a:t>，则需要对尾数进行左移，每左移一次，尾数乘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，阶码减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，直到尾数的绝对值大于等于</a:t>
            </a:r>
            <a:r>
              <a:rPr lang="en-US" altLang="zh-CN" sz="1800" b="1" dirty="0"/>
              <a:t>0.5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1101.1001 = </a:t>
            </a:r>
            <a:r>
              <a:rPr lang="en-US" altLang="zh-CN" sz="1400" b="1" dirty="0">
                <a:solidFill>
                  <a:srgbClr val="C00000"/>
                </a:solidFill>
              </a:rPr>
              <a:t>0.0011011001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110</a:t>
            </a:r>
            <a:r>
              <a:rPr lang="zh-CN" altLang="en-US" sz="1400" b="1" dirty="0"/>
              <a:t> （非规格化）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左移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次，得到</a:t>
            </a:r>
            <a:r>
              <a:rPr lang="en-US" altLang="zh-CN" sz="1400" b="1" dirty="0">
                <a:solidFill>
                  <a:srgbClr val="C00000"/>
                </a:solidFill>
              </a:rPr>
              <a:t>0.011011001</a:t>
            </a:r>
            <a:r>
              <a:rPr lang="zh-CN" altLang="en-US" sz="1400" b="1" dirty="0"/>
              <a:t>，阶码为</a:t>
            </a:r>
            <a:r>
              <a:rPr lang="en-US" altLang="zh-CN" sz="1400" b="1" dirty="0"/>
              <a:t>101</a:t>
            </a:r>
            <a:r>
              <a:rPr lang="zh-CN" altLang="en-US" sz="1400" b="1" dirty="0"/>
              <a:t>；再左移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次，得到</a:t>
            </a:r>
            <a:r>
              <a:rPr lang="en-US" altLang="zh-CN" sz="1400" b="1" dirty="0">
                <a:solidFill>
                  <a:srgbClr val="C00000"/>
                </a:solidFill>
              </a:rPr>
              <a:t>0.11011001</a:t>
            </a:r>
            <a:r>
              <a:rPr lang="zh-CN" altLang="en-US" sz="1400" b="1" dirty="0"/>
              <a:t>，阶码为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；最后得到规格化的浮点数：</a:t>
            </a:r>
            <a:r>
              <a:rPr lang="en-US" altLang="zh-CN" sz="1400" b="1" dirty="0">
                <a:solidFill>
                  <a:srgbClr val="C00000"/>
                </a:solidFill>
              </a:rPr>
              <a:t>0.11011001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100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右规</a:t>
            </a:r>
            <a:r>
              <a:rPr lang="zh-CN" altLang="en-US" sz="1800" b="1" dirty="0"/>
              <a:t>：如果尾数的绝对值大于等于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，则需要对尾数进行右移，每右移一次，尾数除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，阶码加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，直到尾数的绝对值小于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1101.1001 = </a:t>
            </a:r>
            <a:r>
              <a:rPr lang="en-US" altLang="zh-CN" sz="1400" b="1" dirty="0">
                <a:solidFill>
                  <a:srgbClr val="C00000"/>
                </a:solidFill>
              </a:rPr>
              <a:t>11.011001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10</a:t>
            </a:r>
            <a:r>
              <a:rPr lang="zh-CN" altLang="en-US" sz="1400" b="1" dirty="0"/>
              <a:t> （非规格化）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右移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次，得到</a:t>
            </a:r>
            <a:r>
              <a:rPr lang="en-US" altLang="zh-CN" sz="1400" b="1" dirty="0">
                <a:solidFill>
                  <a:srgbClr val="C00000"/>
                </a:solidFill>
              </a:rPr>
              <a:t>1.1011001</a:t>
            </a:r>
            <a:r>
              <a:rPr lang="zh-CN" altLang="en-US" sz="1400" b="1" dirty="0"/>
              <a:t>，阶码为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；再右移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次，得到</a:t>
            </a:r>
            <a:r>
              <a:rPr lang="en-US" altLang="zh-CN" sz="1400" b="1" dirty="0">
                <a:solidFill>
                  <a:srgbClr val="C00000"/>
                </a:solidFill>
              </a:rPr>
              <a:t>0.11011001</a:t>
            </a:r>
            <a:r>
              <a:rPr lang="zh-CN" altLang="en-US" sz="1400" b="1" dirty="0"/>
              <a:t>，阶码为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 ；最后得到规格化的浮点数：</a:t>
            </a:r>
            <a:r>
              <a:rPr lang="en-US" altLang="zh-CN" sz="1400" b="1" dirty="0">
                <a:solidFill>
                  <a:srgbClr val="C00000"/>
                </a:solidFill>
              </a:rPr>
              <a:t>0.11011001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100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/>
              <a:t>另一种规格化的浮点数：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800" b="1" dirty="0"/>
              <a:t>N = 2</a:t>
            </a:r>
            <a:r>
              <a:rPr lang="en-US" altLang="zh-CN" sz="1800" b="1" baseline="30000" dirty="0"/>
              <a:t>E</a:t>
            </a:r>
            <a:r>
              <a:rPr lang="en-US" altLang="zh-CN" sz="1800" b="1" dirty="0"/>
              <a:t>xM = 2</a:t>
            </a:r>
            <a:r>
              <a:rPr lang="en-US" altLang="zh-CN" sz="1800" b="1" baseline="30000" dirty="0"/>
              <a:t>±e</a:t>
            </a:r>
            <a:r>
              <a:rPr lang="en-US" altLang="zh-CN" sz="1800" b="1" dirty="0"/>
              <a:t>x(±</a:t>
            </a:r>
            <a:r>
              <a:rPr lang="en-US" altLang="zh-CN" sz="1800" b="1" dirty="0">
                <a:solidFill>
                  <a:srgbClr val="C00000"/>
                </a:solidFill>
              </a:rPr>
              <a:t>1.m</a:t>
            </a:r>
            <a:r>
              <a:rPr lang="en-US" altLang="zh-CN" sz="1800" b="1" dirty="0"/>
              <a:t>)       (1≤|M|&lt;2)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尾数的绝对值大于等于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、小于</a:t>
            </a:r>
            <a:r>
              <a:rPr lang="en-US" altLang="zh-CN" sz="1600" b="1" dirty="0"/>
              <a:t>2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隐藏位</a:t>
            </a:r>
            <a:r>
              <a:rPr lang="zh-CN" altLang="en-US" sz="1600" b="1" dirty="0"/>
              <a:t>：当尾数采用原码表示时，规格化的尾数</a:t>
            </a:r>
            <a:r>
              <a:rPr lang="zh-CN" altLang="en-US" sz="1600" b="1" dirty="0">
                <a:solidFill>
                  <a:srgbClr val="C00000"/>
                </a:solidFill>
              </a:rPr>
              <a:t>最高有效位</a:t>
            </a:r>
            <a:r>
              <a:rPr lang="zh-CN" altLang="en-US" sz="1600" b="1" dirty="0"/>
              <a:t>一定是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，可以将最高有效位的</a:t>
            </a:r>
            <a:r>
              <a:rPr lang="en-US" altLang="zh-CN" sz="1600" b="1" dirty="0">
                <a:highlight>
                  <a:srgbClr val="FFFF00"/>
                </a:highlight>
              </a:rPr>
              <a:t>1</a:t>
            </a:r>
            <a:r>
              <a:rPr lang="zh-CN" altLang="en-US" sz="1600" b="1" dirty="0">
                <a:highlight>
                  <a:srgbClr val="FFFF00"/>
                </a:highlight>
              </a:rPr>
              <a:t>隐藏</a:t>
            </a:r>
            <a:r>
              <a:rPr lang="zh-CN" altLang="en-US" sz="1600" b="1" dirty="0"/>
              <a:t>，从而节省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位存储空间，被隐藏的这一位称为隐藏位。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2262773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A2B97-BBB9-4F1E-8552-770F3553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860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551297"/>
          </a:xfrm>
        </p:spPr>
        <p:txBody>
          <a:bodyPr rtlCol="0">
            <a:normAutofit fontScale="85000" lnSpcReduction="10000"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IEEE754</a:t>
            </a:r>
            <a:r>
              <a:rPr lang="zh-CN" altLang="en-US" sz="2000" b="1" dirty="0"/>
              <a:t>浮点数标准</a:t>
            </a:r>
            <a:endParaRPr lang="en-US" altLang="zh-CN" sz="20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700" b="1" dirty="0"/>
              <a:t>1985</a:t>
            </a:r>
            <a:r>
              <a:rPr lang="zh-CN" altLang="en-US" sz="1700" b="1" dirty="0"/>
              <a:t>年，美国电气及电子工程师协会（</a:t>
            </a:r>
            <a:r>
              <a:rPr lang="en-US" altLang="zh-CN" sz="1700" b="1" dirty="0"/>
              <a:t>IEEE</a:t>
            </a:r>
            <a:r>
              <a:rPr lang="zh-CN" altLang="en-US" sz="1700" b="1" dirty="0"/>
              <a:t>）发布了浮点数标准</a:t>
            </a:r>
            <a:r>
              <a:rPr lang="en-US" altLang="zh-CN" sz="1700" b="1" dirty="0"/>
              <a:t>IEEE754</a:t>
            </a:r>
            <a:r>
              <a:rPr lang="zh-CN" altLang="en-US" sz="1700" b="1" dirty="0"/>
              <a:t>，其主要设计者威廉</a:t>
            </a:r>
            <a:r>
              <a:rPr lang="en-US" altLang="zh-CN" sz="1700" b="1" dirty="0"/>
              <a:t>·</a:t>
            </a:r>
            <a:r>
              <a:rPr lang="zh-CN" altLang="en-US" sz="1700" b="1" dirty="0"/>
              <a:t>卡亨（</a:t>
            </a:r>
            <a:r>
              <a:rPr lang="en-US" altLang="zh-CN" sz="1700" b="1" dirty="0">
                <a:solidFill>
                  <a:srgbClr val="C00000"/>
                </a:solidFill>
              </a:rPr>
              <a:t>William Kahan</a:t>
            </a:r>
            <a:r>
              <a:rPr lang="zh-CN" altLang="en-US" sz="1700" b="1" dirty="0"/>
              <a:t>）教授因此贡献获得</a:t>
            </a:r>
            <a:r>
              <a:rPr lang="en-US" altLang="zh-CN" sz="1700" b="1" dirty="0"/>
              <a:t>1989</a:t>
            </a:r>
            <a:r>
              <a:rPr lang="zh-CN" altLang="en-US" sz="1700" b="1" dirty="0"/>
              <a:t>年</a:t>
            </a:r>
            <a:r>
              <a:rPr lang="zh-CN" altLang="en-US" sz="1700" b="1" dirty="0">
                <a:solidFill>
                  <a:srgbClr val="C00000"/>
                </a:solidFill>
              </a:rPr>
              <a:t>图灵奖</a:t>
            </a:r>
            <a:r>
              <a:rPr lang="zh-CN" altLang="en-US" sz="1700" b="1" dirty="0"/>
              <a:t>。</a:t>
            </a:r>
            <a:endParaRPr lang="en-US" altLang="zh-CN" sz="17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900" b="1" dirty="0"/>
              <a:t>IEEE754</a:t>
            </a:r>
            <a:r>
              <a:rPr lang="zh-CN" altLang="en-US" sz="1900" b="1" dirty="0"/>
              <a:t>浮点数标准：</a:t>
            </a:r>
            <a:endParaRPr lang="en-US" altLang="zh-CN" sz="19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700" b="1" dirty="0"/>
              <a:t>32</a:t>
            </a:r>
            <a:r>
              <a:rPr lang="zh-CN" altLang="en-US" sz="1700" b="1" dirty="0"/>
              <a:t>位</a:t>
            </a:r>
            <a:r>
              <a:rPr lang="zh-CN" altLang="en-US" sz="1700" b="1" dirty="0">
                <a:solidFill>
                  <a:srgbClr val="C00000"/>
                </a:solidFill>
              </a:rPr>
              <a:t>单精度浮点数</a:t>
            </a:r>
            <a:r>
              <a:rPr lang="zh-CN" altLang="en-US" sz="1700" b="1" dirty="0"/>
              <a:t>：数符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位、阶码</a:t>
            </a:r>
            <a:r>
              <a:rPr lang="en-US" altLang="zh-CN" sz="1700" b="1" dirty="0"/>
              <a:t>8</a:t>
            </a:r>
            <a:r>
              <a:rPr lang="zh-CN" altLang="en-US" sz="1700" b="1" dirty="0"/>
              <a:t>位、尾数</a:t>
            </a:r>
            <a:r>
              <a:rPr lang="en-US" altLang="zh-CN" sz="1700" b="1" dirty="0"/>
              <a:t>23</a:t>
            </a:r>
            <a:r>
              <a:rPr lang="zh-CN" altLang="en-US" sz="1700" b="1" dirty="0"/>
              <a:t>位；对应</a:t>
            </a:r>
            <a:r>
              <a:rPr lang="en-US" altLang="zh-CN" sz="1700" b="1" dirty="0"/>
              <a:t>C</a:t>
            </a:r>
            <a:r>
              <a:rPr lang="zh-CN" altLang="en-US" sz="1700" b="1" dirty="0"/>
              <a:t>语言中的</a:t>
            </a:r>
            <a:r>
              <a:rPr lang="en-US" altLang="zh-CN" sz="1700" b="1" dirty="0">
                <a:solidFill>
                  <a:srgbClr val="C00000"/>
                </a:solidFill>
              </a:rPr>
              <a:t>float</a:t>
            </a:r>
            <a:r>
              <a:rPr lang="zh-CN" altLang="en-US" sz="1700" b="1" dirty="0"/>
              <a:t>型数据。</a:t>
            </a:r>
            <a:endParaRPr lang="en-US" altLang="zh-CN" sz="17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7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700" b="1" dirty="0"/>
              <a:t>64</a:t>
            </a:r>
            <a:r>
              <a:rPr lang="zh-CN" altLang="en-US" sz="1700" b="1" dirty="0"/>
              <a:t>位</a:t>
            </a:r>
            <a:r>
              <a:rPr lang="zh-CN" altLang="en-US" sz="1700" b="1" dirty="0">
                <a:solidFill>
                  <a:srgbClr val="C00000"/>
                </a:solidFill>
              </a:rPr>
              <a:t>双精度浮点数</a:t>
            </a:r>
            <a:r>
              <a:rPr lang="zh-CN" altLang="en-US" sz="1700" b="1" dirty="0"/>
              <a:t>：数符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位、阶码</a:t>
            </a:r>
            <a:r>
              <a:rPr lang="en-US" altLang="zh-CN" sz="1700" b="1" dirty="0"/>
              <a:t>11</a:t>
            </a:r>
            <a:r>
              <a:rPr lang="zh-CN" altLang="en-US" sz="1700" b="1" dirty="0"/>
              <a:t>位、尾数</a:t>
            </a:r>
            <a:r>
              <a:rPr lang="en-US" altLang="zh-CN" sz="1700" b="1" dirty="0"/>
              <a:t>52</a:t>
            </a:r>
            <a:r>
              <a:rPr lang="zh-CN" altLang="en-US" sz="1700" b="1" dirty="0"/>
              <a:t>位；对应</a:t>
            </a:r>
            <a:r>
              <a:rPr lang="en-US" altLang="zh-CN" sz="1700" b="1" dirty="0"/>
              <a:t>C</a:t>
            </a:r>
            <a:r>
              <a:rPr lang="zh-CN" altLang="en-US" sz="1700" b="1" dirty="0"/>
              <a:t>语言中的</a:t>
            </a:r>
            <a:r>
              <a:rPr lang="en-US" altLang="zh-CN" sz="1700" b="1" dirty="0">
                <a:solidFill>
                  <a:srgbClr val="C00000"/>
                </a:solidFill>
              </a:rPr>
              <a:t>double</a:t>
            </a:r>
            <a:r>
              <a:rPr lang="zh-CN" altLang="en-US" sz="1700" b="1" dirty="0"/>
              <a:t>型数据。</a:t>
            </a:r>
            <a:endParaRPr lang="en-US" altLang="zh-CN" sz="17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7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700" b="1" dirty="0"/>
              <a:t>表</a:t>
            </a:r>
            <a:r>
              <a:rPr lang="en-US" altLang="zh-CN" sz="1700" b="1" dirty="0"/>
              <a:t>2.5</a:t>
            </a:r>
            <a:r>
              <a:rPr lang="zh-CN" altLang="en-US" sz="1700" b="1" dirty="0"/>
              <a:t>（见教材）</a:t>
            </a:r>
            <a:r>
              <a:rPr lang="en-US" altLang="zh-CN" sz="1700" b="1" dirty="0"/>
              <a:t>  </a:t>
            </a:r>
            <a:r>
              <a:rPr lang="en-US" altLang="zh-CN" sz="1700" b="1" dirty="0">
                <a:solidFill>
                  <a:srgbClr val="C00000"/>
                </a:solidFill>
              </a:rPr>
              <a:t>IEEE754</a:t>
            </a:r>
            <a:r>
              <a:rPr lang="zh-CN" altLang="en-US" sz="1700" b="1" dirty="0">
                <a:solidFill>
                  <a:srgbClr val="C00000"/>
                </a:solidFill>
              </a:rPr>
              <a:t>数据格式规范</a:t>
            </a:r>
            <a:r>
              <a:rPr lang="zh-CN" altLang="en-US" sz="1700" b="1" dirty="0"/>
              <a:t>：包括半精度浮点数（</a:t>
            </a:r>
            <a:r>
              <a:rPr lang="en-US" altLang="zh-CN" sz="1700" b="1" dirty="0"/>
              <a:t>16</a:t>
            </a:r>
            <a:r>
              <a:rPr lang="zh-CN" altLang="en-US" sz="1700" b="1" dirty="0"/>
              <a:t>位）、单精度浮点数（</a:t>
            </a:r>
            <a:r>
              <a:rPr lang="en-US" altLang="zh-CN" sz="1700" b="1" dirty="0"/>
              <a:t>32</a:t>
            </a:r>
            <a:r>
              <a:rPr lang="zh-CN" altLang="en-US" sz="1700" b="1" dirty="0"/>
              <a:t>位）、扩展单精度浮点数（</a:t>
            </a:r>
            <a:r>
              <a:rPr lang="zh-CN" altLang="en-US" sz="1700" b="1" dirty="0">
                <a:latin typeface="等线" panose="02010600030101010101" pitchFamily="2" charset="-122"/>
                <a:ea typeface="等线" panose="02010600030101010101" pitchFamily="2" charset="-122"/>
              </a:rPr>
              <a:t>≥</a:t>
            </a:r>
            <a:r>
              <a:rPr lang="en-US" altLang="zh-CN" sz="1700" b="1" dirty="0"/>
              <a:t>43</a:t>
            </a:r>
            <a:r>
              <a:rPr lang="zh-CN" altLang="en-US" sz="1700" b="1" dirty="0"/>
              <a:t>位）、双精度浮点数（</a:t>
            </a:r>
            <a:r>
              <a:rPr lang="en-US" altLang="zh-CN" sz="1700" b="1" dirty="0"/>
              <a:t>64</a:t>
            </a:r>
            <a:r>
              <a:rPr lang="zh-CN" altLang="en-US" sz="1700" b="1" dirty="0"/>
              <a:t>位）、扩展双精度浮点数（</a:t>
            </a:r>
            <a:r>
              <a:rPr lang="zh-CN" altLang="en-US" sz="1700" b="1" dirty="0">
                <a:latin typeface="等线" panose="02010600030101010101" pitchFamily="2" charset="-122"/>
                <a:ea typeface="等线" panose="02010600030101010101" pitchFamily="2" charset="-122"/>
              </a:rPr>
              <a:t>≥</a:t>
            </a:r>
            <a:r>
              <a:rPr lang="en-US" altLang="zh-CN" sz="1700" b="1" dirty="0"/>
              <a:t>79</a:t>
            </a:r>
            <a:r>
              <a:rPr lang="zh-CN" altLang="en-US" sz="1700" b="1" dirty="0"/>
              <a:t>位）、四精度浮点数（</a:t>
            </a:r>
            <a:r>
              <a:rPr lang="en-US" altLang="zh-CN" sz="1700" b="1" dirty="0"/>
              <a:t>128</a:t>
            </a:r>
            <a:r>
              <a:rPr lang="zh-CN" altLang="en-US" sz="1700" b="1" dirty="0"/>
              <a:t>位）、八精度浮点数（</a:t>
            </a:r>
            <a:r>
              <a:rPr lang="en-US" altLang="zh-CN" sz="1700" b="1" dirty="0"/>
              <a:t>256</a:t>
            </a:r>
            <a:r>
              <a:rPr lang="zh-CN" altLang="en-US" sz="1700" b="1" dirty="0"/>
              <a:t>位）、</a:t>
            </a:r>
            <a:r>
              <a:rPr lang="en-US" altLang="zh-CN" sz="1700" b="1" dirty="0"/>
              <a:t>Decimal32</a:t>
            </a:r>
            <a:r>
              <a:rPr lang="zh-CN" altLang="en-US" sz="1700" b="1" dirty="0"/>
              <a:t>（</a:t>
            </a:r>
            <a:r>
              <a:rPr lang="en-US" altLang="zh-CN" sz="1700" b="1" dirty="0"/>
              <a:t>32</a:t>
            </a:r>
            <a:r>
              <a:rPr lang="zh-CN" altLang="en-US" sz="1700" b="1" dirty="0"/>
              <a:t>位）、</a:t>
            </a:r>
            <a:r>
              <a:rPr lang="en-US" altLang="zh-CN" sz="1700" b="1" dirty="0"/>
              <a:t>Decimal64</a:t>
            </a:r>
            <a:r>
              <a:rPr lang="zh-CN" altLang="en-US" sz="1700" b="1" dirty="0"/>
              <a:t>（</a:t>
            </a:r>
            <a:r>
              <a:rPr lang="en-US" altLang="zh-CN" sz="1700" b="1" dirty="0"/>
              <a:t>64</a:t>
            </a:r>
            <a:r>
              <a:rPr lang="zh-CN" altLang="en-US" sz="1700" b="1" dirty="0"/>
              <a:t>位）、</a:t>
            </a:r>
            <a:r>
              <a:rPr lang="en-US" altLang="zh-CN" sz="1700" b="1" dirty="0"/>
              <a:t>Decimal128</a:t>
            </a:r>
            <a:r>
              <a:rPr lang="zh-CN" altLang="en-US" sz="1700" b="1" dirty="0"/>
              <a:t>（</a:t>
            </a:r>
            <a:r>
              <a:rPr lang="en-US" altLang="zh-CN" sz="1700" b="1" dirty="0"/>
              <a:t>128</a:t>
            </a:r>
            <a:r>
              <a:rPr lang="zh-CN" altLang="en-US" sz="1700" b="1" dirty="0"/>
              <a:t>位）等。</a:t>
            </a:r>
            <a:endParaRPr lang="en-US" altLang="zh-CN" sz="1700" b="1" dirty="0"/>
          </a:p>
        </p:txBody>
      </p:sp>
      <p:pic>
        <p:nvPicPr>
          <p:cNvPr id="2050" name="Picture 2" descr="威廉·卡亨">
            <a:extLst>
              <a:ext uri="{FF2B5EF4-FFF2-40B4-BE49-F238E27FC236}">
                <a16:creationId xmlns:a16="http://schemas.microsoft.com/office/drawing/2014/main" id="{6B31C947-3D40-47D7-9884-AA9C6EDC7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051720"/>
            <a:ext cx="1241453" cy="156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0DE891E-2A0D-4DD6-83C6-5AF8DC344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2189327"/>
            <a:ext cx="4290892" cy="129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20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52CD3-E615-414A-85B5-C9E2E222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1" y="-18256"/>
            <a:ext cx="5493296" cy="1143000"/>
          </a:xfrm>
        </p:spPr>
        <p:txBody>
          <a:bodyPr/>
          <a:lstStyle/>
          <a:p>
            <a:r>
              <a:rPr lang="zh-CN" altLang="en-US" b="1" dirty="0">
                <a:latin typeface="+mn-lt"/>
                <a:ea typeface="黑体" pitchFamily="49" charset="-122"/>
                <a:cs typeface="+mn-cs"/>
              </a:rPr>
              <a:t>图灵奖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763CD-3172-42B7-B7F5-8F0414700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4690864" cy="5472608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图灵奖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Turing Award</a:t>
            </a:r>
            <a:r>
              <a:rPr lang="zh-CN" altLang="en-US" sz="1600" b="1" dirty="0"/>
              <a:t>），全称</a:t>
            </a:r>
            <a:r>
              <a:rPr lang="en-US" altLang="zh-CN" sz="1600" b="1" dirty="0"/>
              <a:t>A.M.</a:t>
            </a:r>
            <a:r>
              <a:rPr lang="zh-CN" altLang="en-US" sz="1600" b="1" dirty="0"/>
              <a:t>图灵奖（</a:t>
            </a:r>
            <a:r>
              <a:rPr lang="en-US" altLang="zh-CN" sz="1600" b="1" dirty="0"/>
              <a:t>ACM A.M Turing Award</a:t>
            </a:r>
            <a:r>
              <a:rPr lang="zh-CN" altLang="en-US" sz="1600" b="1" dirty="0"/>
              <a:t>），是由美国计算机协会（</a:t>
            </a:r>
            <a:r>
              <a:rPr lang="en-US" altLang="zh-CN" sz="1600" b="1" dirty="0"/>
              <a:t>ACM</a:t>
            </a:r>
            <a:r>
              <a:rPr lang="zh-CN" altLang="en-US" sz="1600" b="1" dirty="0"/>
              <a:t>）于</a:t>
            </a:r>
            <a:r>
              <a:rPr lang="en-US" altLang="zh-CN" sz="1600" b="1" dirty="0"/>
              <a:t>1966</a:t>
            </a:r>
            <a:r>
              <a:rPr lang="zh-CN" altLang="en-US" sz="1600" b="1" dirty="0"/>
              <a:t>年设立的计算机奖项，名称取自艾伦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麦席森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图灵（</a:t>
            </a:r>
            <a:r>
              <a:rPr lang="en-US" altLang="zh-CN" sz="1600" b="1" dirty="0"/>
              <a:t>Alan M. Turing</a:t>
            </a:r>
            <a:r>
              <a:rPr lang="zh-CN" altLang="en-US" sz="1600" b="1" dirty="0"/>
              <a:t>），旨在奖励对计算机事业作出重要贡献的个人 。图灵奖对获奖条件要求极高，评奖程序极严，一般每年仅授予一名计算机科学家。图灵奖是计算机领域的国际最高奖项，被誉为“</a:t>
            </a:r>
            <a:r>
              <a:rPr lang="zh-CN" altLang="en-US" sz="1600" b="1" dirty="0">
                <a:solidFill>
                  <a:srgbClr val="C00000"/>
                </a:solidFill>
              </a:rPr>
              <a:t>计算机界的诺贝尔奖</a:t>
            </a:r>
            <a:r>
              <a:rPr lang="zh-CN" altLang="en-US" sz="1600" b="1" dirty="0"/>
              <a:t>”。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图灵奖一般在每年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月下旬颁发。从</a:t>
            </a:r>
            <a:r>
              <a:rPr lang="en-US" altLang="zh-CN" sz="1600" b="1" dirty="0"/>
              <a:t>1966</a:t>
            </a:r>
            <a:r>
              <a:rPr lang="zh-CN" altLang="en-US" sz="1600" b="1" dirty="0"/>
              <a:t>年至</a:t>
            </a:r>
            <a:r>
              <a:rPr lang="en-US" altLang="zh-CN" sz="1600" b="1" dirty="0"/>
              <a:t>2020</a:t>
            </a:r>
            <a:r>
              <a:rPr lang="zh-CN" altLang="en-US" sz="1600" b="1" dirty="0"/>
              <a:t>年，图灵奖共授予</a:t>
            </a:r>
            <a:r>
              <a:rPr lang="en-US" altLang="zh-CN" sz="1600" b="1" dirty="0"/>
              <a:t>74</a:t>
            </a:r>
            <a:r>
              <a:rPr lang="zh-CN" altLang="en-US" sz="1600" b="1" dirty="0"/>
              <a:t>名获奖者，以美国、欧洲科学家为主。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年，中国科学家姚期智获图灵奖，这是中国人第一次也是唯一一次获得图灵奖。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截至</a:t>
            </a:r>
            <a:r>
              <a:rPr lang="en-US" altLang="zh-CN" sz="1600" b="1" dirty="0"/>
              <a:t>2021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月，世界各高校的图灵奖获奖人数依次为美国斯坦福大学（</a:t>
            </a:r>
            <a:r>
              <a:rPr lang="en-US" altLang="zh-CN" sz="1600" b="1" dirty="0"/>
              <a:t>29</a:t>
            </a:r>
            <a:r>
              <a:rPr lang="zh-CN" altLang="en-US" sz="1600" b="1" dirty="0"/>
              <a:t>位）、美国麻省理工学院（</a:t>
            </a:r>
            <a:r>
              <a:rPr lang="en-US" altLang="zh-CN" sz="1600" b="1" dirty="0"/>
              <a:t>26</a:t>
            </a:r>
            <a:r>
              <a:rPr lang="zh-CN" altLang="en-US" sz="1600" b="1" dirty="0"/>
              <a:t>位）、美国加利福尼亚大学伯克利分校（</a:t>
            </a:r>
            <a:r>
              <a:rPr lang="en-US" altLang="zh-CN" sz="1600" b="1" dirty="0"/>
              <a:t>25</a:t>
            </a:r>
            <a:r>
              <a:rPr lang="zh-CN" altLang="en-US" sz="1600" b="1" dirty="0"/>
              <a:t>位）、美国普林斯顿大学（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位）、美国哈佛大学（</a:t>
            </a:r>
            <a:r>
              <a:rPr lang="en-US" altLang="zh-CN" sz="1600" b="1" dirty="0"/>
              <a:t>14</a:t>
            </a:r>
            <a:r>
              <a:rPr lang="zh-CN" altLang="en-US" sz="1600" b="1" dirty="0"/>
              <a:t>位）。</a:t>
            </a:r>
            <a:endParaRPr lang="en-US" altLang="zh-CN" sz="1600" b="1" dirty="0"/>
          </a:p>
        </p:txBody>
      </p:sp>
      <p:pic>
        <p:nvPicPr>
          <p:cNvPr id="1026" name="Picture 2" descr="艾伦·麦席森·图灵">
            <a:extLst>
              <a:ext uri="{FF2B5EF4-FFF2-40B4-BE49-F238E27FC236}">
                <a16:creationId xmlns:a16="http://schemas.microsoft.com/office/drawing/2014/main" id="{9CFD363E-0303-4DF8-92B2-DCBF4F0C3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420" y="98763"/>
            <a:ext cx="1872208" cy="124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BDF6E67-096C-4F0E-AD5F-153E6B2D0DC2}"/>
              </a:ext>
            </a:extLst>
          </p:cNvPr>
          <p:cNvSpPr txBox="1"/>
          <p:nvPr/>
        </p:nvSpPr>
        <p:spPr>
          <a:xfrm>
            <a:off x="5148064" y="1376564"/>
            <a:ext cx="3978920" cy="5220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艾伦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麦席森</a:t>
            </a:r>
            <a:r>
              <a:rPr lang="en-US" altLang="zh-CN" sz="1600" b="1" dirty="0"/>
              <a:t>·</a:t>
            </a:r>
            <a:r>
              <a:rPr lang="zh-CN" altLang="en-US" sz="1600" b="1" dirty="0">
                <a:solidFill>
                  <a:srgbClr val="C00000"/>
                </a:solidFill>
              </a:rPr>
              <a:t>图灵（</a:t>
            </a:r>
            <a:r>
              <a:rPr lang="en-US" altLang="zh-CN" sz="1600" b="1" dirty="0"/>
              <a:t>Alan Mathison Turing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1912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23</a:t>
            </a:r>
            <a:r>
              <a:rPr lang="zh-CN" altLang="en-US" sz="1600" b="1" dirty="0"/>
              <a:t>日－</a:t>
            </a:r>
            <a:r>
              <a:rPr lang="en-US" altLang="zh-CN" sz="1600" b="1" dirty="0"/>
              <a:t>1954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日），英国数学家、逻辑学家，被称为计算机之父、人工智能之父。</a:t>
            </a:r>
            <a:r>
              <a:rPr lang="en-US" altLang="zh-CN" sz="1600" b="1" dirty="0"/>
              <a:t>1931</a:t>
            </a:r>
            <a:r>
              <a:rPr lang="zh-CN" altLang="en-US" sz="1600" b="1" dirty="0"/>
              <a:t>年，图灵进入剑桥大学国王学院，毕业后到美国普林斯顿大学攻读博士学位。二战爆发后，回到剑桥大学，后曾协助军方破解德国的著名密码系统</a:t>
            </a:r>
            <a:r>
              <a:rPr lang="en-US" altLang="zh-CN" sz="1600" b="1" dirty="0"/>
              <a:t>Enigma</a:t>
            </a:r>
            <a:r>
              <a:rPr lang="zh-CN" altLang="en-US" sz="1600" b="1" dirty="0"/>
              <a:t>，帮助盟军取得了二战的胜利。图灵对于人工智能的发展有诸多贡献，提出了一种用于判定机器是否具有智能的试验方法，即图灵试验。每年都有试验的比赛。此外，图灵提出的著名的</a:t>
            </a:r>
            <a:r>
              <a:rPr lang="zh-CN" altLang="en-US" sz="1600" b="1" dirty="0">
                <a:solidFill>
                  <a:srgbClr val="C00000"/>
                </a:solidFill>
              </a:rPr>
              <a:t>图灵机模型</a:t>
            </a:r>
            <a:r>
              <a:rPr lang="zh-CN" altLang="en-US" sz="1600" b="1" dirty="0"/>
              <a:t>为现代计算机的逻辑工作方式奠定了基础。</a:t>
            </a:r>
          </a:p>
        </p:txBody>
      </p:sp>
    </p:spTree>
    <p:extLst>
      <p:ext uri="{BB962C8B-B14F-4D97-AF65-F5344CB8AC3E}">
        <p14:creationId xmlns:p14="http://schemas.microsoft.com/office/powerpoint/2010/main" val="1723382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80A48-8C99-4F08-A522-EFB2FD0E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08720"/>
            <a:ext cx="8229600" cy="5616624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IEEE754</a:t>
            </a:r>
            <a:r>
              <a:rPr lang="zh-CN" altLang="en-US" sz="2400" b="1" dirty="0"/>
              <a:t>单精度浮点数</a:t>
            </a: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阶码</a:t>
            </a:r>
            <a:r>
              <a:rPr lang="en-US" altLang="zh-CN" sz="1800" b="1" dirty="0"/>
              <a:t>E</a:t>
            </a:r>
            <a:r>
              <a:rPr lang="zh-CN" altLang="en-US" sz="1800" b="1" dirty="0"/>
              <a:t>采用移码表示，其偏移量是</a:t>
            </a:r>
            <a:r>
              <a:rPr lang="en-US" altLang="zh-CN" sz="1800" b="1" dirty="0"/>
              <a:t>127</a:t>
            </a:r>
            <a:r>
              <a:rPr lang="zh-CN" altLang="en-US" sz="1800" b="1" dirty="0"/>
              <a:t>，而不是标准移码的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IEEE754</a:t>
            </a:r>
            <a:r>
              <a:rPr lang="zh-CN" altLang="en-US" sz="1400" b="1" dirty="0"/>
              <a:t>阶码的真值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E-127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E=0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255</a:t>
            </a:r>
            <a:r>
              <a:rPr lang="zh-CN" altLang="en-US" sz="1400" b="1" dirty="0"/>
              <a:t>，真值为：</a:t>
            </a:r>
            <a:r>
              <a:rPr lang="en-US" altLang="zh-CN" sz="1400" b="1" dirty="0"/>
              <a:t>-127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+128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标准移码的真值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E-128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E=0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255</a:t>
            </a:r>
            <a:r>
              <a:rPr lang="zh-CN" altLang="en-US" sz="1400" b="1" dirty="0"/>
              <a:t>，真值为：</a:t>
            </a:r>
            <a:r>
              <a:rPr lang="en-US" altLang="zh-CN" sz="1400" b="1" dirty="0"/>
              <a:t>-128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+127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尾数</a:t>
            </a:r>
            <a:r>
              <a:rPr lang="en-US" altLang="zh-CN" sz="1800" b="1" dirty="0"/>
              <a:t>M</a:t>
            </a:r>
            <a:r>
              <a:rPr lang="zh-CN" altLang="en-US" sz="1800" b="1" dirty="0"/>
              <a:t>为定点小数，其形式为</a:t>
            </a:r>
            <a:r>
              <a:rPr lang="en-US" altLang="zh-CN" sz="1800" b="1" dirty="0"/>
              <a:t>1.M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隐含了，只需保存</a:t>
            </a:r>
            <a:r>
              <a:rPr lang="en-US" altLang="zh-CN" sz="1800" b="1" dirty="0"/>
              <a:t>M</a:t>
            </a:r>
            <a:r>
              <a:rPr lang="zh-CN" altLang="en-US" sz="1800" b="1" dirty="0"/>
              <a:t>，节省了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位存储空间。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符号位</a:t>
            </a:r>
            <a:r>
              <a:rPr lang="en-US" altLang="zh-CN" sz="1800" b="1" dirty="0"/>
              <a:t>S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时表示正数，为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时表示负数。</a:t>
            </a:r>
            <a:endParaRPr lang="en-US" altLang="zh-CN" sz="1800" b="1" dirty="0"/>
          </a:p>
          <a:p>
            <a:pPr marL="914400" lvl="2" indent="0" eaLnBrk="1" fontAlgn="auto" hangingPunct="1">
              <a:spcAft>
                <a:spcPts val="0"/>
              </a:spcAft>
              <a:buNone/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>
                <a:highlight>
                  <a:srgbClr val="FFFF00"/>
                </a:highlight>
              </a:rPr>
              <a:t>消灭烦人的</a:t>
            </a:r>
            <a:r>
              <a:rPr lang="en-US" altLang="zh-CN" sz="1800" b="1" dirty="0">
                <a:highlight>
                  <a:srgbClr val="FFFF00"/>
                </a:highlight>
                <a:hlinkClick r:id="rId3"/>
              </a:rPr>
              <a:t>IEEE754</a:t>
            </a:r>
            <a:r>
              <a:rPr lang="zh-CN" altLang="en-US" sz="1800" b="1" dirty="0">
                <a:highlight>
                  <a:srgbClr val="FFFF00"/>
                </a:highlight>
                <a:hlinkClick r:id="rId3"/>
              </a:rPr>
              <a:t>困</a:t>
            </a:r>
            <a:r>
              <a:rPr lang="zh-CN" altLang="en-US" sz="1800" b="1" dirty="0">
                <a:highlight>
                  <a:srgbClr val="FFFF00"/>
                </a:highlight>
              </a:rPr>
              <a:t>惑</a:t>
            </a:r>
            <a:r>
              <a:rPr lang="en-US" altLang="zh-CN" sz="1800" b="1" dirty="0">
                <a:highlight>
                  <a:srgbClr val="FFFF00"/>
                </a:highlight>
              </a:rPr>
              <a:t>--</a:t>
            </a:r>
            <a:r>
              <a:rPr lang="zh-CN" altLang="en-US" sz="1800" b="1" dirty="0">
                <a:highlight>
                  <a:srgbClr val="FFFF00"/>
                </a:highlight>
              </a:rPr>
              <a:t>知识梳理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DA9CDA-DFE0-44D4-BD81-15B08598B340}"/>
              </a:ext>
            </a:extLst>
          </p:cNvPr>
          <p:cNvGrpSpPr/>
          <p:nvPr/>
        </p:nvGrpSpPr>
        <p:grpSpPr>
          <a:xfrm>
            <a:off x="2987824" y="1372750"/>
            <a:ext cx="4032448" cy="1357940"/>
            <a:chOff x="2411760" y="692696"/>
            <a:chExt cx="4032448" cy="135794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3721EEF-41D7-424F-9576-22856CDC1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1760" y="692696"/>
              <a:ext cx="3631822" cy="87614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497F261-616E-497F-B5E2-21EF84BEA20E}"/>
                </a:ext>
              </a:extLst>
            </p:cNvPr>
            <p:cNvSpPr txBox="1"/>
            <p:nvPr/>
          </p:nvSpPr>
          <p:spPr>
            <a:xfrm>
              <a:off x="2699792" y="1773637"/>
              <a:ext cx="37444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2.8    IEEE754  32</a:t>
              </a:r>
              <a:r>
                <a:rPr lang="zh-CN" altLang="en-US" sz="1200" b="1" dirty="0"/>
                <a:t>位单精度浮点数（见教材）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9433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AD228D-F3CB-4B9B-9F30-035370AE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664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050F397-8D3D-4689-81AC-2184B1E6C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20" y="1166018"/>
            <a:ext cx="8229600" cy="4525963"/>
          </a:xfrm>
        </p:spPr>
        <p:txBody>
          <a:bodyPr rtlCol="0">
            <a:norm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IEEE754</a:t>
            </a:r>
            <a:r>
              <a:rPr lang="zh-CN" altLang="en-US" sz="1800" b="1" dirty="0">
                <a:solidFill>
                  <a:srgbClr val="C00000"/>
                </a:solidFill>
              </a:rPr>
              <a:t>单精度浮点数规范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S=0/1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E=255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M≠0</a:t>
            </a:r>
            <a:r>
              <a:rPr lang="zh-CN" altLang="en-US" sz="1600" b="1" dirty="0"/>
              <a:t>，浮点数真值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NaN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Not a Number</a:t>
            </a:r>
            <a:r>
              <a:rPr lang="zh-CN" altLang="en-US" sz="1600" b="1" dirty="0"/>
              <a:t>，非数）；运算异常（例如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除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S=0/1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E=255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M=0</a:t>
            </a:r>
            <a:r>
              <a:rPr lang="zh-CN" altLang="en-US" sz="1600" b="1" dirty="0"/>
              <a:t>，浮点数真值</a:t>
            </a:r>
            <a:r>
              <a:rPr lang="en-US" altLang="zh-CN" sz="1600" b="1" dirty="0"/>
              <a:t>=+∞/-∞</a:t>
            </a:r>
            <a:r>
              <a:rPr lang="zh-CN" altLang="en-US" sz="1600" b="1" dirty="0"/>
              <a:t>；正、负无穷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S=0/1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E=1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254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，浮点数真值</a:t>
            </a:r>
            <a:r>
              <a:rPr lang="en-US" altLang="zh-CN" sz="1600" b="1" dirty="0"/>
              <a:t>=(-1)</a:t>
            </a:r>
            <a:r>
              <a:rPr lang="en-US" altLang="zh-CN" sz="1600" b="1" baseline="30000" dirty="0"/>
              <a:t>S</a:t>
            </a:r>
            <a:r>
              <a:rPr lang="en-US" altLang="zh-CN" sz="1600" b="1" dirty="0"/>
              <a:t>x2</a:t>
            </a:r>
            <a:r>
              <a:rPr lang="en-US" altLang="zh-CN" sz="1600" b="1" baseline="30000" dirty="0"/>
              <a:t>E-127</a:t>
            </a:r>
            <a:r>
              <a:rPr lang="en-US" altLang="zh-CN" sz="1600" b="1" dirty="0"/>
              <a:t>x1.M</a:t>
            </a:r>
            <a:r>
              <a:rPr lang="zh-CN" altLang="en-US" sz="1600" b="1" dirty="0"/>
              <a:t>；规格化数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S=0/1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E=0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M≠0</a:t>
            </a:r>
            <a:r>
              <a:rPr lang="zh-CN" altLang="en-US" sz="1600" b="1" dirty="0"/>
              <a:t>，浮点数真值</a:t>
            </a:r>
            <a:r>
              <a:rPr lang="en-US" altLang="zh-CN" sz="1600" b="1" dirty="0"/>
              <a:t>=(-1)</a:t>
            </a:r>
            <a:r>
              <a:rPr lang="en-US" altLang="zh-CN" sz="1600" b="1" baseline="30000" dirty="0"/>
              <a:t>S</a:t>
            </a:r>
            <a:r>
              <a:rPr lang="en-US" altLang="zh-CN" sz="1600" b="1" dirty="0"/>
              <a:t>x2</a:t>
            </a:r>
            <a:r>
              <a:rPr lang="en-US" altLang="zh-CN" sz="1600" b="1" baseline="30000" dirty="0"/>
              <a:t>-126</a:t>
            </a:r>
            <a:r>
              <a:rPr lang="en-US" altLang="zh-CN" sz="1600" b="1" dirty="0"/>
              <a:t>x0.M</a:t>
            </a:r>
            <a:r>
              <a:rPr lang="zh-CN" altLang="en-US" sz="1600" b="1" dirty="0"/>
              <a:t>；非规格化数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S=0/1</a:t>
            </a:r>
            <a:r>
              <a:rPr lang="zh-CN" altLang="en-US" sz="1600" b="1" dirty="0"/>
              <a:t>， </a:t>
            </a:r>
            <a:r>
              <a:rPr lang="en-US" altLang="zh-CN" sz="1600" b="1" dirty="0"/>
              <a:t>E=0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M=0</a:t>
            </a:r>
            <a:r>
              <a:rPr lang="zh-CN" altLang="en-US" sz="1600" b="1" dirty="0"/>
              <a:t>，浮点数真值</a:t>
            </a:r>
            <a:r>
              <a:rPr lang="en-US" altLang="zh-CN" sz="1600" b="1" dirty="0"/>
              <a:t>=+0/-0</a:t>
            </a:r>
            <a:r>
              <a:rPr lang="zh-CN" altLang="en-US" sz="1600" b="1" dirty="0"/>
              <a:t>；两个机器</a:t>
            </a:r>
            <a:r>
              <a:rPr lang="en-US" altLang="zh-CN" sz="1600" b="1" dirty="0"/>
              <a:t>0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F20880-588E-497D-BE24-1CFF274B5865}"/>
              </a:ext>
            </a:extLst>
          </p:cNvPr>
          <p:cNvGrpSpPr/>
          <p:nvPr/>
        </p:nvGrpSpPr>
        <p:grpSpPr>
          <a:xfrm>
            <a:off x="1349896" y="3596808"/>
            <a:ext cx="6660232" cy="2754420"/>
            <a:chOff x="1224136" y="3626908"/>
            <a:chExt cx="6660232" cy="275442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1BA7549-2FA4-479D-9F2D-F3A933BCC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136" y="3967434"/>
              <a:ext cx="6660232" cy="2413894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EE937D-90F1-4160-8B2C-C7C651CFC5EB}"/>
                </a:ext>
              </a:extLst>
            </p:cNvPr>
            <p:cNvSpPr txBox="1"/>
            <p:nvPr/>
          </p:nvSpPr>
          <p:spPr>
            <a:xfrm>
              <a:off x="2339752" y="3626908"/>
              <a:ext cx="41582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表</a:t>
              </a:r>
              <a:r>
                <a:rPr lang="en-US" altLang="zh-CN" sz="1400" b="1" dirty="0"/>
                <a:t>2.6    IEEE754</a:t>
              </a:r>
              <a:r>
                <a:rPr lang="zh-CN" altLang="en-US" sz="1400" b="1" dirty="0"/>
                <a:t>单精度浮点数规范（见教材）</a:t>
              </a:r>
              <a:endParaRPr lang="zh-CN" altLang="en-US" sz="1600" dirty="0"/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F4105FB-D10C-4223-944D-F0661C3827A3}"/>
              </a:ext>
            </a:extLst>
          </p:cNvPr>
          <p:cNvSpPr/>
          <p:nvPr/>
        </p:nvSpPr>
        <p:spPr>
          <a:xfrm>
            <a:off x="7596336" y="4149080"/>
            <a:ext cx="1547664" cy="936104"/>
          </a:xfrm>
          <a:prstGeom prst="wedgeRoundRectCallout">
            <a:avLst>
              <a:gd name="adj1" fmla="val -49553"/>
              <a:gd name="adj2" fmla="val 11097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e=E-127=0-127=-127</a:t>
            </a:r>
          </a:p>
          <a:p>
            <a:pPr algn="ctr"/>
            <a:r>
              <a:rPr lang="en-US" altLang="zh-CN" sz="1600" dirty="0"/>
              <a:t>0.M=1.M*2^1</a:t>
            </a:r>
          </a:p>
          <a:p>
            <a:pPr algn="ctr"/>
            <a:r>
              <a:rPr lang="en-US" altLang="zh-CN" sz="1600" dirty="0"/>
              <a:t>So, 2^-126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85893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4B69796-0FE9-4C9C-94E5-FA513A9F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33" y="55067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33" y="1006748"/>
            <a:ext cx="8311952" cy="295767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500" b="1" dirty="0"/>
              <a:t>IEEE754</a:t>
            </a:r>
            <a:r>
              <a:rPr lang="zh-CN" altLang="en-US" sz="1500" b="1" dirty="0"/>
              <a:t>浮点数</a:t>
            </a:r>
            <a:r>
              <a:rPr lang="zh-CN" altLang="en-US" sz="1500" b="1" dirty="0">
                <a:solidFill>
                  <a:srgbClr val="C00000"/>
                </a:solidFill>
              </a:rPr>
              <a:t>表示范围</a:t>
            </a:r>
            <a:r>
              <a:rPr lang="zh-CN" altLang="en-US" sz="1500" b="1" dirty="0"/>
              <a:t>（单精度浮点数）：</a:t>
            </a:r>
            <a:endParaRPr lang="en-US" altLang="zh-CN" sz="1500" b="1" dirty="0"/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500" b="1" dirty="0"/>
              <a:t>单精度规格化浮点数绝对值最小数：</a:t>
            </a:r>
            <a:r>
              <a:rPr lang="en-US" altLang="zh-CN" sz="1500" b="1" dirty="0"/>
              <a:t>E=1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M=0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f=2</a:t>
            </a:r>
            <a:r>
              <a:rPr lang="en-US" altLang="zh-CN" sz="1500" b="1" baseline="30000" dirty="0"/>
              <a:t>1-127</a:t>
            </a:r>
            <a:r>
              <a:rPr lang="en-US" altLang="zh-CN" sz="1500" b="1" dirty="0"/>
              <a:t>x1.0= </a:t>
            </a:r>
            <a:r>
              <a:rPr lang="en-US" altLang="zh-CN" sz="1500" b="1" dirty="0">
                <a:solidFill>
                  <a:srgbClr val="C00000"/>
                </a:solidFill>
              </a:rPr>
              <a:t>2</a:t>
            </a:r>
            <a:r>
              <a:rPr lang="en-US" altLang="zh-CN" sz="1500" b="1" baseline="30000" dirty="0">
                <a:solidFill>
                  <a:srgbClr val="C00000"/>
                </a:solidFill>
              </a:rPr>
              <a:t>-126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500" b="1" dirty="0"/>
              <a:t>单精度规格化浮点数绝对值最大数：</a:t>
            </a:r>
            <a:r>
              <a:rPr lang="en-US" altLang="zh-CN" sz="1500" b="1" dirty="0"/>
              <a:t>E=254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M=11…11</a:t>
            </a:r>
            <a:r>
              <a:rPr lang="zh-CN" altLang="en-US" sz="1500" b="1" dirty="0"/>
              <a:t>（尾数</a:t>
            </a:r>
            <a:r>
              <a:rPr lang="en-US" altLang="zh-CN" sz="1500" b="1" dirty="0"/>
              <a:t>=1.11…11</a:t>
            </a:r>
            <a:r>
              <a:rPr lang="zh-CN" altLang="en-US" sz="1500" b="1" dirty="0"/>
              <a:t>），</a:t>
            </a:r>
            <a:r>
              <a:rPr lang="en-US" altLang="zh-CN" sz="1500" b="1" dirty="0"/>
              <a:t>f=2</a:t>
            </a:r>
            <a:r>
              <a:rPr lang="en-US" altLang="zh-CN" sz="1500" b="1" baseline="30000" dirty="0"/>
              <a:t>254-127</a:t>
            </a:r>
            <a:r>
              <a:rPr lang="en-US" altLang="zh-CN" sz="1500" b="1" dirty="0"/>
              <a:t>x(2-2</a:t>
            </a:r>
            <a:r>
              <a:rPr lang="en-US" altLang="zh-CN" sz="1500" b="1" baseline="30000" dirty="0"/>
              <a:t>-23</a:t>
            </a:r>
            <a:r>
              <a:rPr lang="en-US" altLang="zh-CN" sz="1500" b="1" dirty="0"/>
              <a:t>)=2</a:t>
            </a:r>
            <a:r>
              <a:rPr lang="en-US" altLang="zh-CN" sz="1500" b="1" baseline="30000" dirty="0"/>
              <a:t>128</a:t>
            </a:r>
            <a:r>
              <a:rPr lang="en-US" altLang="zh-CN" sz="1500" b="1" dirty="0"/>
              <a:t>-2</a:t>
            </a:r>
            <a:r>
              <a:rPr lang="en-US" altLang="zh-CN" sz="1500" b="1" baseline="30000" dirty="0"/>
              <a:t>-104</a:t>
            </a:r>
            <a:r>
              <a:rPr lang="en-US" altLang="zh-CN" sz="1500" b="1" dirty="0"/>
              <a:t> ≈ </a:t>
            </a:r>
            <a:r>
              <a:rPr lang="en-US" altLang="zh-CN" sz="1500" b="1" dirty="0">
                <a:solidFill>
                  <a:srgbClr val="C00000"/>
                </a:solidFill>
              </a:rPr>
              <a:t>+3.4x10</a:t>
            </a:r>
            <a:r>
              <a:rPr lang="en-US" altLang="zh-CN" sz="1500" b="1" baseline="30000" dirty="0">
                <a:solidFill>
                  <a:srgbClr val="C00000"/>
                </a:solidFill>
              </a:rPr>
              <a:t>38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500" b="1" dirty="0"/>
              <a:t>单精度非规格化浮点数绝对值最小数：</a:t>
            </a:r>
            <a:r>
              <a:rPr lang="en-US" altLang="zh-CN" sz="1500" b="1" dirty="0"/>
              <a:t>E=0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M=00…01</a:t>
            </a:r>
            <a:r>
              <a:rPr lang="zh-CN" altLang="en-US" sz="1500" b="1" dirty="0"/>
              <a:t>（尾数</a:t>
            </a:r>
            <a:r>
              <a:rPr lang="en-US" altLang="zh-CN" sz="1500" b="1" dirty="0"/>
              <a:t>=0.00…01</a:t>
            </a:r>
            <a:r>
              <a:rPr lang="zh-CN" altLang="en-US" sz="1500" b="1" dirty="0"/>
              <a:t>），</a:t>
            </a:r>
            <a:r>
              <a:rPr lang="en-US" altLang="zh-CN" sz="1500" b="1" dirty="0"/>
              <a:t>f=2</a:t>
            </a:r>
            <a:r>
              <a:rPr lang="en-US" altLang="zh-CN" sz="1500" b="1" baseline="30000" dirty="0"/>
              <a:t>-126</a:t>
            </a:r>
            <a:r>
              <a:rPr lang="en-US" altLang="zh-CN" sz="1500" b="1" dirty="0"/>
              <a:t>x2</a:t>
            </a:r>
            <a:r>
              <a:rPr lang="en-US" altLang="zh-CN" sz="1500" b="1" baseline="30000" dirty="0"/>
              <a:t>-23</a:t>
            </a:r>
            <a:r>
              <a:rPr lang="en-US" altLang="zh-CN" sz="1500" b="1" dirty="0"/>
              <a:t>=2</a:t>
            </a:r>
            <a:r>
              <a:rPr lang="en-US" altLang="zh-CN" sz="1500" b="1" baseline="30000" dirty="0"/>
              <a:t>-149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500" b="1" dirty="0"/>
              <a:t>单精度非规格化浮点数绝对值最大数：</a:t>
            </a:r>
            <a:r>
              <a:rPr lang="en-US" altLang="zh-CN" sz="1500" b="1" dirty="0"/>
              <a:t>E=0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M=11…11</a:t>
            </a:r>
            <a:r>
              <a:rPr lang="zh-CN" altLang="en-US" sz="1500" b="1" dirty="0"/>
              <a:t>（尾数</a:t>
            </a:r>
            <a:r>
              <a:rPr lang="en-US" altLang="zh-CN" sz="1500" b="1" dirty="0"/>
              <a:t>=0.11…11</a:t>
            </a:r>
            <a:r>
              <a:rPr lang="zh-CN" altLang="en-US" sz="1500" b="1" dirty="0"/>
              <a:t>），</a:t>
            </a:r>
            <a:r>
              <a:rPr lang="en-US" altLang="zh-CN" sz="1500" b="1" dirty="0"/>
              <a:t>f=2</a:t>
            </a:r>
            <a:r>
              <a:rPr lang="en-US" altLang="zh-CN" sz="1500" b="1" baseline="30000" dirty="0"/>
              <a:t>-126</a:t>
            </a:r>
            <a:r>
              <a:rPr lang="en-US" altLang="zh-CN" sz="1500" b="1" dirty="0"/>
              <a:t>x(1-2</a:t>
            </a:r>
            <a:r>
              <a:rPr lang="en-US" altLang="zh-CN" sz="1500" b="1" baseline="30000" dirty="0"/>
              <a:t>-23</a:t>
            </a:r>
            <a:r>
              <a:rPr lang="en-US" altLang="zh-CN" sz="1500" b="1" dirty="0"/>
              <a:t>)=2</a:t>
            </a:r>
            <a:r>
              <a:rPr lang="en-US" altLang="zh-CN" sz="1500" b="1" baseline="30000" dirty="0"/>
              <a:t>-126</a:t>
            </a:r>
            <a:r>
              <a:rPr lang="en-US" altLang="zh-CN" sz="1500" b="1" dirty="0"/>
              <a:t>-2</a:t>
            </a:r>
            <a:r>
              <a:rPr lang="en-US" altLang="zh-CN" sz="1500" b="1" baseline="30000" dirty="0"/>
              <a:t>-149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sz="1500" b="1" dirty="0"/>
          </a:p>
          <a:p>
            <a:pPr lvl="3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sz="16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68932E-0AEE-49AE-BBB5-04924141E504}"/>
              </a:ext>
            </a:extLst>
          </p:cNvPr>
          <p:cNvGrpSpPr/>
          <p:nvPr/>
        </p:nvGrpSpPr>
        <p:grpSpPr>
          <a:xfrm>
            <a:off x="2555776" y="3656641"/>
            <a:ext cx="5148064" cy="2909952"/>
            <a:chOff x="1835696" y="2233916"/>
            <a:chExt cx="6156176" cy="351739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B6F46A6-DD08-43AE-BB2D-8F924C1F52DC}"/>
                </a:ext>
              </a:extLst>
            </p:cNvPr>
            <p:cNvSpPr txBox="1"/>
            <p:nvPr/>
          </p:nvSpPr>
          <p:spPr>
            <a:xfrm>
              <a:off x="2641318" y="2233916"/>
              <a:ext cx="4219334" cy="372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表</a:t>
              </a:r>
              <a:r>
                <a:rPr lang="en-US" altLang="zh-CN" sz="1400" b="1" dirty="0"/>
                <a:t>2.7    IEEE754</a:t>
              </a:r>
              <a:r>
                <a:rPr lang="zh-CN" altLang="en-US" sz="1400" b="1" dirty="0"/>
                <a:t>浮点数表示范围（见教材）</a:t>
              </a:r>
              <a:endParaRPr lang="zh-CN" altLang="en-US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A01D63A-AEEC-4877-BB07-52F85E0C2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2564904"/>
              <a:ext cx="6156176" cy="3186402"/>
            </a:xfrm>
            <a:prstGeom prst="rect">
              <a:avLst/>
            </a:prstGeom>
          </p:spPr>
        </p:pic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0E732157-98B2-47A3-91FA-E747D6AD0773}"/>
              </a:ext>
            </a:extLst>
          </p:cNvPr>
          <p:cNvSpPr/>
          <p:nvPr/>
        </p:nvSpPr>
        <p:spPr>
          <a:xfrm>
            <a:off x="1115616" y="4581128"/>
            <a:ext cx="1224136" cy="685507"/>
          </a:xfrm>
          <a:prstGeom prst="wedgeRoundRectCallout">
            <a:avLst>
              <a:gd name="adj1" fmla="val 79083"/>
              <a:gd name="adj2" fmla="val 5017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尾数</a:t>
            </a:r>
            <a:r>
              <a:rPr lang="en-US" altLang="zh-CN" dirty="0">
                <a:solidFill>
                  <a:srgbClr val="C00000"/>
                </a:solidFill>
              </a:rPr>
              <a:t>23bit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10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C15F1-CB30-48F6-A2F7-A1CA0232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019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80728"/>
            <a:ext cx="8229600" cy="3384376"/>
          </a:xfrm>
        </p:spPr>
        <p:txBody>
          <a:bodyPr rtlCol="0">
            <a:norm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IEEE754</a:t>
            </a:r>
            <a:r>
              <a:rPr lang="zh-CN" altLang="en-US" sz="1800" b="1" dirty="0"/>
              <a:t>浮点数</a:t>
            </a:r>
            <a:r>
              <a:rPr lang="zh-CN" altLang="en-US" sz="1800" b="1" dirty="0">
                <a:solidFill>
                  <a:srgbClr val="C00000"/>
                </a:solidFill>
              </a:rPr>
              <a:t>表示范围</a:t>
            </a:r>
            <a:r>
              <a:rPr lang="zh-CN" altLang="en-US" sz="1800" b="1" dirty="0"/>
              <a:t>（双精度浮点数）：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双精度规格化浮点数绝对值最小数：</a:t>
            </a:r>
            <a:r>
              <a:rPr lang="en-US" altLang="zh-CN" sz="1400" b="1" dirty="0"/>
              <a:t>E=1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f=2</a:t>
            </a:r>
            <a:r>
              <a:rPr lang="en-US" altLang="zh-CN" sz="1400" b="1" baseline="30000" dirty="0"/>
              <a:t>1-1023</a:t>
            </a:r>
            <a:r>
              <a:rPr lang="en-US" altLang="zh-CN" sz="1400" b="1" dirty="0"/>
              <a:t>x1.0= 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en-US" altLang="zh-CN" sz="1400" b="1" baseline="30000" dirty="0">
                <a:solidFill>
                  <a:srgbClr val="C00000"/>
                </a:solidFill>
              </a:rPr>
              <a:t>-1022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双精度规格化浮点数绝对值最大数：</a:t>
            </a:r>
            <a:r>
              <a:rPr lang="en-US" altLang="zh-CN" sz="1400" b="1" dirty="0"/>
              <a:t>E=2046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M=11…11</a:t>
            </a:r>
            <a:r>
              <a:rPr lang="zh-CN" altLang="en-US" sz="1400" b="1" dirty="0"/>
              <a:t>（尾数</a:t>
            </a:r>
            <a:r>
              <a:rPr lang="en-US" altLang="zh-CN" sz="1400" b="1" dirty="0"/>
              <a:t>=1.11…11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f=2</a:t>
            </a:r>
            <a:r>
              <a:rPr lang="en-US" altLang="zh-CN" sz="1400" b="1" baseline="30000" dirty="0"/>
              <a:t>2046-1023</a:t>
            </a:r>
            <a:r>
              <a:rPr lang="en-US" altLang="zh-CN" sz="1400" b="1" dirty="0"/>
              <a:t>x(2-2</a:t>
            </a:r>
            <a:r>
              <a:rPr lang="en-US" altLang="zh-CN" sz="1400" b="1" baseline="30000" dirty="0"/>
              <a:t>-52</a:t>
            </a:r>
            <a:r>
              <a:rPr lang="en-US" altLang="zh-CN" sz="1400" b="1" dirty="0"/>
              <a:t>)=2</a:t>
            </a:r>
            <a:r>
              <a:rPr lang="en-US" altLang="zh-CN" sz="1400" b="1" baseline="30000" dirty="0"/>
              <a:t>1024</a:t>
            </a:r>
            <a:r>
              <a:rPr lang="en-US" altLang="zh-CN" sz="1400" b="1" dirty="0"/>
              <a:t>-2</a:t>
            </a:r>
            <a:r>
              <a:rPr lang="en-US" altLang="zh-CN" sz="1400" b="1" baseline="30000" dirty="0"/>
              <a:t>-971</a:t>
            </a:r>
            <a:r>
              <a:rPr lang="en-US" altLang="zh-CN" sz="1400" b="1" dirty="0"/>
              <a:t>≈ </a:t>
            </a:r>
            <a:r>
              <a:rPr lang="en-US" altLang="zh-CN" sz="1400" b="1" dirty="0">
                <a:solidFill>
                  <a:srgbClr val="C00000"/>
                </a:solidFill>
              </a:rPr>
              <a:t>+1.8x10</a:t>
            </a:r>
            <a:r>
              <a:rPr lang="en-US" altLang="zh-CN" sz="1400" b="1" baseline="30000" dirty="0">
                <a:solidFill>
                  <a:srgbClr val="C00000"/>
                </a:solidFill>
              </a:rPr>
              <a:t>308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双精度非规格化浮点数绝对值最小数：</a:t>
            </a:r>
            <a:r>
              <a:rPr lang="en-US" altLang="zh-CN" sz="1400" b="1" dirty="0"/>
              <a:t>E=0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M=00…01</a:t>
            </a:r>
            <a:r>
              <a:rPr lang="zh-CN" altLang="en-US" sz="1400" b="1" dirty="0"/>
              <a:t>（尾数</a:t>
            </a:r>
            <a:r>
              <a:rPr lang="en-US" altLang="zh-CN" sz="1400" b="1" dirty="0"/>
              <a:t>=0.00…01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f=2</a:t>
            </a:r>
            <a:r>
              <a:rPr lang="en-US" altLang="zh-CN" sz="1400" b="1" baseline="30000" dirty="0"/>
              <a:t>-1022</a:t>
            </a:r>
            <a:r>
              <a:rPr lang="en-US" altLang="zh-CN" sz="1400" b="1" dirty="0"/>
              <a:t>x2</a:t>
            </a:r>
            <a:r>
              <a:rPr lang="en-US" altLang="zh-CN" sz="1400" b="1" baseline="30000" dirty="0"/>
              <a:t>-52</a:t>
            </a:r>
            <a:r>
              <a:rPr lang="en-US" altLang="zh-CN" sz="1400" b="1" dirty="0"/>
              <a:t>=2</a:t>
            </a:r>
            <a:r>
              <a:rPr lang="en-US" altLang="zh-CN" sz="1400" b="1" baseline="30000" dirty="0"/>
              <a:t>-1074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双精度非规格化浮点数绝对值最大数：</a:t>
            </a:r>
            <a:r>
              <a:rPr lang="en-US" altLang="zh-CN" sz="1400" b="1" dirty="0"/>
              <a:t>E=0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M=11…11</a:t>
            </a:r>
            <a:r>
              <a:rPr lang="zh-CN" altLang="en-US" sz="1400" b="1" dirty="0"/>
              <a:t>（尾数</a:t>
            </a:r>
            <a:r>
              <a:rPr lang="en-US" altLang="zh-CN" sz="1400" b="1" dirty="0"/>
              <a:t>=0.11…11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f=2</a:t>
            </a:r>
            <a:r>
              <a:rPr lang="en-US" altLang="zh-CN" sz="1400" b="1" baseline="30000" dirty="0"/>
              <a:t>-1022</a:t>
            </a:r>
            <a:r>
              <a:rPr lang="en-US" altLang="zh-CN" sz="1400" b="1" dirty="0"/>
              <a:t>x(1-2</a:t>
            </a:r>
            <a:r>
              <a:rPr lang="en-US" altLang="zh-CN" sz="1400" b="1" baseline="30000" dirty="0"/>
              <a:t>-52</a:t>
            </a:r>
            <a:r>
              <a:rPr lang="en-US" altLang="zh-CN" sz="1400" b="1" dirty="0"/>
              <a:t>)=2</a:t>
            </a:r>
            <a:r>
              <a:rPr lang="en-US" altLang="zh-CN" sz="1400" b="1" baseline="30000" dirty="0"/>
              <a:t>-1022</a:t>
            </a:r>
            <a:r>
              <a:rPr lang="en-US" altLang="zh-CN" sz="1400" b="1" dirty="0"/>
              <a:t>-2</a:t>
            </a:r>
            <a:r>
              <a:rPr lang="en-US" altLang="zh-CN" sz="1400" b="1" baseline="30000" dirty="0"/>
              <a:t>-1074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双精度浮点数阶码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采用移码表示时偏移量为</a:t>
            </a:r>
            <a:r>
              <a:rPr lang="en-US" altLang="zh-CN" sz="1400" b="1" dirty="0">
                <a:solidFill>
                  <a:srgbClr val="C00000"/>
                </a:solidFill>
              </a:rPr>
              <a:t>1023</a:t>
            </a:r>
            <a:r>
              <a:rPr lang="zh-CN" altLang="en-US" sz="1400" b="1" dirty="0"/>
              <a:t>，而不是标准移码的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。</a:t>
            </a: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9DC04DA-8C40-4C5C-B59A-DD9C3DFBD36E}"/>
              </a:ext>
            </a:extLst>
          </p:cNvPr>
          <p:cNvGrpSpPr/>
          <p:nvPr/>
        </p:nvGrpSpPr>
        <p:grpSpPr>
          <a:xfrm>
            <a:off x="2350542" y="1394035"/>
            <a:ext cx="4031554" cy="971531"/>
            <a:chOff x="2627783" y="5314813"/>
            <a:chExt cx="5111674" cy="160838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B966A5A-AC70-4DC4-BFEA-0AD440A6A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7783" y="5314813"/>
              <a:ext cx="5111674" cy="901727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3417A1D-2C76-488D-824E-EA5D12FF4627}"/>
                </a:ext>
              </a:extLst>
            </p:cNvPr>
            <p:cNvSpPr txBox="1"/>
            <p:nvPr/>
          </p:nvSpPr>
          <p:spPr>
            <a:xfrm>
              <a:off x="3995487" y="6294487"/>
              <a:ext cx="2376265" cy="628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IEEE754</a:t>
              </a:r>
              <a:r>
                <a:rPr lang="zh-CN" altLang="en-US" sz="1200" b="1" dirty="0"/>
                <a:t>双精度浮点数</a:t>
              </a:r>
              <a:endParaRPr lang="zh-CN" altLang="en-US" sz="12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8D24B4D-41D1-4159-97F4-00EA6DF88074}"/>
              </a:ext>
            </a:extLst>
          </p:cNvPr>
          <p:cNvGrpSpPr/>
          <p:nvPr/>
        </p:nvGrpSpPr>
        <p:grpSpPr>
          <a:xfrm>
            <a:off x="2195736" y="4282828"/>
            <a:ext cx="5004048" cy="2362273"/>
            <a:chOff x="1835696" y="2076223"/>
            <a:chExt cx="6156176" cy="367508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32455DF-E40E-48A9-815B-BAD02FD886D3}"/>
                </a:ext>
              </a:extLst>
            </p:cNvPr>
            <p:cNvSpPr txBox="1"/>
            <p:nvPr/>
          </p:nvSpPr>
          <p:spPr>
            <a:xfrm>
              <a:off x="2699657" y="2076223"/>
              <a:ext cx="4340766" cy="5145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表</a:t>
              </a:r>
              <a:r>
                <a:rPr lang="en-US" altLang="zh-CN" sz="1400" b="1" dirty="0"/>
                <a:t>2.7    IEEE754</a:t>
              </a:r>
              <a:r>
                <a:rPr lang="zh-CN" altLang="en-US" sz="1400" b="1" dirty="0"/>
                <a:t>浮点数表示范围（见教材）</a:t>
              </a:r>
              <a:endParaRPr lang="zh-CN" altLang="en-US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67F5901-C13E-400D-99F4-EF3658909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5696" y="2564904"/>
              <a:ext cx="6156176" cy="31864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3919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A66A4-3258-4E16-B38F-D0103CA7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4427"/>
            <a:ext cx="8229600" cy="4525963"/>
          </a:xfrm>
        </p:spPr>
        <p:txBody>
          <a:bodyPr rtlCol="0">
            <a:norm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6</a:t>
            </a:r>
            <a:r>
              <a:rPr lang="zh-CN" altLang="en-US" sz="2000" b="1" dirty="0"/>
              <a:t>、单精度浮点数与真值之间的转换流程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将十进制数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转换为单精度浮点数（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位二进制数）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将单精度浮点数（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位二进制数）转换为十进制数</a:t>
            </a:r>
            <a:r>
              <a:rPr lang="en-US" altLang="zh-CN" sz="1600" b="1" dirty="0"/>
              <a:t>N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F568CD-9718-4A3B-AB44-6E8C6448D336}"/>
              </a:ext>
            </a:extLst>
          </p:cNvPr>
          <p:cNvGrpSpPr/>
          <p:nvPr/>
        </p:nvGrpSpPr>
        <p:grpSpPr>
          <a:xfrm>
            <a:off x="1187624" y="2348880"/>
            <a:ext cx="6183059" cy="4052193"/>
            <a:chOff x="1331640" y="2636912"/>
            <a:chExt cx="6183059" cy="405219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A9A5D1-EB88-4F1F-B19F-AF6AC6C14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2636912"/>
              <a:ext cx="6183059" cy="3691309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15B532A-BF0B-43C3-A203-1FBA404767E8}"/>
                </a:ext>
              </a:extLst>
            </p:cNvPr>
            <p:cNvSpPr txBox="1"/>
            <p:nvPr/>
          </p:nvSpPr>
          <p:spPr>
            <a:xfrm>
              <a:off x="2051720" y="6381328"/>
              <a:ext cx="4608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2.10    </a:t>
              </a:r>
              <a:r>
                <a:rPr lang="zh-CN" altLang="en-US" sz="1400" b="1" dirty="0"/>
                <a:t>单精度浮点数与真值之间的转换流程（见教材）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8412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A20A5-AC2C-4DE8-B883-CE580B59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06347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E806B-6F23-474A-A56A-FA895D054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472608"/>
          </a:xfrm>
        </p:spPr>
        <p:txBody>
          <a:bodyPr/>
          <a:lstStyle/>
          <a:p>
            <a:pPr lvl="2"/>
            <a:r>
              <a:rPr lang="zh-CN" altLang="en-US" sz="2000" b="1" dirty="0"/>
              <a:t>例</a:t>
            </a:r>
            <a:r>
              <a:rPr lang="en-US" altLang="zh-CN" sz="2000" b="1" dirty="0"/>
              <a:t>2.7</a:t>
            </a:r>
            <a:r>
              <a:rPr lang="zh-CN" altLang="en-US" sz="2000" b="1" dirty="0"/>
              <a:t>：将十进制数</a:t>
            </a:r>
            <a:r>
              <a:rPr lang="en-US" altLang="zh-CN" sz="2000" b="1" dirty="0"/>
              <a:t>20.59375</a:t>
            </a:r>
            <a:r>
              <a:rPr lang="zh-CN" altLang="en-US" sz="2000" b="1" dirty="0"/>
              <a:t>转换成</a:t>
            </a:r>
            <a:r>
              <a:rPr lang="en-US" altLang="zh-CN" sz="2000" b="1" dirty="0"/>
              <a:t>IEEE754</a:t>
            </a:r>
            <a:r>
              <a:rPr lang="zh-CN" altLang="en-US" sz="2000" b="1" dirty="0"/>
              <a:t>单精度浮点数的十六进制机器码。</a:t>
            </a:r>
            <a:endParaRPr lang="en-US" altLang="zh-CN" sz="2000" b="1" dirty="0"/>
          </a:p>
          <a:p>
            <a:pPr lvl="2"/>
            <a:r>
              <a:rPr lang="zh-CN" altLang="en-US" sz="2000" b="1" dirty="0"/>
              <a:t>解：</a:t>
            </a:r>
            <a:endParaRPr lang="en-US" altLang="zh-CN" sz="2000" b="1" dirty="0"/>
          </a:p>
          <a:p>
            <a:pPr lvl="3"/>
            <a:r>
              <a:rPr lang="en-US" altLang="zh-CN" sz="1600" b="1" dirty="0"/>
              <a:t>20.59375 = 10100.10011</a:t>
            </a:r>
          </a:p>
          <a:p>
            <a:pPr lvl="3"/>
            <a:r>
              <a:rPr lang="en-US" altLang="zh-CN" sz="1600" b="1" dirty="0"/>
              <a:t>10100.10011 =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</a:rPr>
              <a:t>1.010010011x2</a:t>
            </a:r>
            <a:r>
              <a:rPr lang="en-US" altLang="zh-CN" sz="1600" b="1" baseline="30000" dirty="0">
                <a:solidFill>
                  <a:srgbClr val="C00000"/>
                </a:solidFill>
              </a:rPr>
              <a:t>4</a:t>
            </a:r>
            <a:r>
              <a:rPr lang="en-US" altLang="zh-CN" sz="1600" b="1" dirty="0"/>
              <a:t> = 1.Mx2</a:t>
            </a:r>
            <a:r>
              <a:rPr lang="en-US" altLang="zh-CN" sz="1600" b="1" baseline="30000" dirty="0"/>
              <a:t>e</a:t>
            </a:r>
          </a:p>
          <a:p>
            <a:pPr lvl="3"/>
            <a:r>
              <a:rPr lang="en-US" altLang="zh-CN" sz="1600" b="1" dirty="0"/>
              <a:t>S=0</a:t>
            </a:r>
            <a:r>
              <a:rPr lang="zh-CN" altLang="en-US" sz="1600" b="1" dirty="0"/>
              <a:t>（正数），</a:t>
            </a:r>
            <a:r>
              <a:rPr lang="en-US" altLang="zh-CN" sz="1600" b="1" dirty="0"/>
              <a:t>e=4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E=e+127=131 = 10000011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 = 010010011</a:t>
            </a:r>
          </a:p>
          <a:p>
            <a:pPr lvl="3"/>
            <a:r>
              <a:rPr lang="zh-CN" altLang="en-US" sz="1600" b="1" dirty="0"/>
              <a:t>单精度浮点数格式：</a:t>
            </a:r>
            <a:r>
              <a:rPr lang="en-US" altLang="zh-CN" sz="1600" b="1" dirty="0"/>
              <a:t>0    1000 0011    010 0100 1100 0000 0000 0000</a:t>
            </a:r>
          </a:p>
          <a:p>
            <a:pPr lvl="3"/>
            <a:r>
              <a:rPr lang="zh-CN" altLang="en-US" sz="1600" b="1" dirty="0"/>
              <a:t>最终的机器码</a:t>
            </a:r>
            <a:r>
              <a:rPr lang="en-US" altLang="zh-CN" sz="1600" b="1" dirty="0"/>
              <a:t>=0100 0001 1010 0100 1100 0000 0000 0000= </a:t>
            </a:r>
            <a:r>
              <a:rPr lang="en-US" altLang="zh-CN" sz="1600" b="1" dirty="0">
                <a:solidFill>
                  <a:srgbClr val="C00000"/>
                </a:solidFill>
              </a:rPr>
              <a:t>41A4C000H</a:t>
            </a:r>
          </a:p>
          <a:p>
            <a:pPr lvl="3"/>
            <a:endParaRPr lang="en-US" altLang="zh-CN" sz="1600" b="1" dirty="0"/>
          </a:p>
          <a:p>
            <a:pPr lvl="2"/>
            <a:r>
              <a:rPr lang="zh-CN" altLang="en-US" sz="2000" b="1" dirty="0"/>
              <a:t>例</a:t>
            </a:r>
            <a:r>
              <a:rPr lang="en-US" altLang="zh-CN" sz="2000" b="1" dirty="0"/>
              <a:t>2.8</a:t>
            </a:r>
            <a:r>
              <a:rPr lang="zh-CN" altLang="en-US" sz="2000" b="1" dirty="0"/>
              <a:t>：求</a:t>
            </a:r>
            <a:r>
              <a:rPr lang="en-US" altLang="zh-CN" sz="2000" b="1" dirty="0"/>
              <a:t>IEEE754</a:t>
            </a:r>
            <a:r>
              <a:rPr lang="zh-CN" altLang="en-US" sz="2000" b="1" dirty="0"/>
              <a:t>单精度浮点数</a:t>
            </a:r>
            <a:r>
              <a:rPr lang="en-US" altLang="zh-CN" sz="2000" b="1" dirty="0"/>
              <a:t>C136000H</a:t>
            </a:r>
            <a:r>
              <a:rPr lang="zh-CN" altLang="en-US" sz="2000" b="1" dirty="0"/>
              <a:t>对应的十进制值。</a:t>
            </a:r>
            <a:endParaRPr lang="en-US" altLang="zh-CN" sz="2000" b="1" dirty="0"/>
          </a:p>
          <a:p>
            <a:pPr lvl="2"/>
            <a:r>
              <a:rPr lang="zh-CN" altLang="en-US" sz="2000" b="1" dirty="0"/>
              <a:t>解：</a:t>
            </a:r>
            <a:endParaRPr lang="en-US" altLang="zh-CN" sz="2000" b="1" dirty="0"/>
          </a:p>
          <a:p>
            <a:pPr lvl="3"/>
            <a:r>
              <a:rPr lang="en-US" altLang="zh-CN" sz="1600" b="1" dirty="0"/>
              <a:t> C136000H=1100 0001 0011 0110 0000 0000 0000</a:t>
            </a:r>
          </a:p>
          <a:p>
            <a:pPr lvl="3"/>
            <a:r>
              <a:rPr lang="zh-CN" altLang="en-US" sz="1600" b="1" dirty="0"/>
              <a:t>单精度浮点数</a:t>
            </a:r>
            <a:r>
              <a:rPr lang="en-US" altLang="zh-CN" sz="1600" b="1" dirty="0"/>
              <a:t>=1   </a:t>
            </a:r>
            <a:r>
              <a:rPr lang="en-US" altLang="zh-CN" sz="1600" b="1" dirty="0">
                <a:solidFill>
                  <a:srgbClr val="C00000"/>
                </a:solidFill>
              </a:rPr>
              <a:t>1000 0010   </a:t>
            </a:r>
            <a:r>
              <a:rPr lang="en-US" altLang="zh-CN" sz="1600" b="1" dirty="0">
                <a:solidFill>
                  <a:srgbClr val="7030A0"/>
                </a:solidFill>
              </a:rPr>
              <a:t>011 0110 0000 0000 0000</a:t>
            </a:r>
          </a:p>
          <a:p>
            <a:pPr lvl="3"/>
            <a:r>
              <a:rPr lang="en-US" altLang="zh-CN" sz="1600" b="1" dirty="0"/>
              <a:t>S=1</a:t>
            </a:r>
            <a:r>
              <a:rPr lang="zh-CN" altLang="en-US" sz="1600" b="1" dirty="0"/>
              <a:t>（负数），</a:t>
            </a:r>
            <a:r>
              <a:rPr lang="en-US" altLang="zh-CN" sz="1600" b="1" dirty="0"/>
              <a:t>E= </a:t>
            </a:r>
            <a:r>
              <a:rPr lang="en-US" altLang="zh-CN" sz="1600" b="1" dirty="0">
                <a:solidFill>
                  <a:srgbClr val="C00000"/>
                </a:solidFill>
              </a:rPr>
              <a:t>1000 0010 </a:t>
            </a:r>
            <a:r>
              <a:rPr lang="en-US" altLang="zh-CN" sz="1600" b="1" dirty="0"/>
              <a:t>=130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M=</a:t>
            </a:r>
            <a:r>
              <a:rPr lang="en-US" altLang="zh-CN" sz="1600" b="1" dirty="0">
                <a:solidFill>
                  <a:srgbClr val="7030A0"/>
                </a:solidFill>
              </a:rPr>
              <a:t>011011</a:t>
            </a:r>
          </a:p>
          <a:p>
            <a:pPr lvl="3"/>
            <a:r>
              <a:rPr lang="en-US" altLang="zh-CN" sz="1600" b="1" dirty="0"/>
              <a:t>e=E-127=130-127=3</a:t>
            </a:r>
          </a:p>
          <a:p>
            <a:pPr lvl="3"/>
            <a:r>
              <a:rPr lang="zh-CN" altLang="en-US" sz="1600" b="1" dirty="0"/>
              <a:t>尾数</a:t>
            </a:r>
            <a:r>
              <a:rPr lang="en-US" altLang="zh-CN" sz="1600" b="1" dirty="0"/>
              <a:t>=1.M=1.011011</a:t>
            </a:r>
          </a:p>
          <a:p>
            <a:pPr lvl="3"/>
            <a:r>
              <a:rPr lang="zh-CN" altLang="en-US" sz="1600" b="1" dirty="0"/>
              <a:t>浮点数对应的十进制值</a:t>
            </a:r>
            <a:r>
              <a:rPr lang="en-US" altLang="zh-CN" sz="1600" b="1" dirty="0"/>
              <a:t>=-2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x1.011011=-1011.011= </a:t>
            </a:r>
            <a:r>
              <a:rPr lang="en-US" altLang="zh-CN" sz="1600" b="1" dirty="0">
                <a:solidFill>
                  <a:srgbClr val="C00000"/>
                </a:solidFill>
              </a:rPr>
              <a:t>-11.375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2464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98F05-92E6-4407-A80D-0C7DEE1FF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59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2.2.3  </a:t>
            </a:r>
            <a:r>
              <a:rPr lang="zh-CN" altLang="en-US" b="1" dirty="0">
                <a:ea typeface="黑体" pitchFamily="49" charset="-122"/>
              </a:rPr>
              <a:t>浮点数表示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F42F1-3BEC-4FF6-B8F2-0D9DEC4D5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832648"/>
          </a:xfrm>
        </p:spPr>
        <p:txBody>
          <a:bodyPr/>
          <a:lstStyle/>
          <a:p>
            <a:pPr lvl="2"/>
            <a:r>
              <a:rPr lang="zh-CN" altLang="en-US" sz="2000" b="1" dirty="0"/>
              <a:t>十进制转换为二进制（</a:t>
            </a:r>
            <a:r>
              <a:rPr lang="en-US" altLang="zh-CN" sz="2000" b="1" dirty="0"/>
              <a:t>20.59375</a:t>
            </a:r>
            <a:r>
              <a:rPr lang="zh-CN" altLang="en-US" sz="2000" b="1" dirty="0"/>
              <a:t>对应的二进制是多少？）</a:t>
            </a:r>
            <a:r>
              <a:rPr lang="en-US" altLang="zh-CN" sz="2000" b="1" dirty="0"/>
              <a:t> </a:t>
            </a:r>
          </a:p>
          <a:p>
            <a:pPr lvl="3"/>
            <a:r>
              <a:rPr lang="zh-CN" altLang="en-US" sz="1600" b="1" dirty="0"/>
              <a:t>整数部分：</a:t>
            </a:r>
            <a:endParaRPr lang="en-US" altLang="zh-CN" sz="1600" b="1" dirty="0"/>
          </a:p>
          <a:p>
            <a:pPr lvl="4"/>
            <a:r>
              <a:rPr lang="en-US" altLang="zh-CN" sz="1600" b="1" dirty="0"/>
              <a:t>20 = 16+4 = 10000 + 0100 = 10100</a:t>
            </a:r>
            <a:endParaRPr lang="en-US" altLang="zh-CN" sz="1800" b="1" dirty="0"/>
          </a:p>
          <a:p>
            <a:pPr lvl="3"/>
            <a:r>
              <a:rPr lang="zh-CN" altLang="en-US" sz="1600" b="1" dirty="0"/>
              <a:t>小数部分：</a:t>
            </a:r>
            <a:endParaRPr lang="en-US" altLang="zh-CN" sz="1600" b="1" dirty="0"/>
          </a:p>
          <a:p>
            <a:pPr lvl="4"/>
            <a:r>
              <a:rPr lang="en-US" altLang="zh-CN" sz="1600" b="1" dirty="0"/>
              <a:t>0.59375x2=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/>
              <a:t>.1875</a:t>
            </a:r>
          </a:p>
          <a:p>
            <a:pPr lvl="4"/>
            <a:r>
              <a:rPr lang="en-US" altLang="zh-CN" sz="1600" b="1" dirty="0"/>
              <a:t>0.1875x2=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/>
              <a:t>.375</a:t>
            </a:r>
          </a:p>
          <a:p>
            <a:pPr lvl="4"/>
            <a:r>
              <a:rPr lang="en-US" altLang="zh-CN" sz="1600" b="1" dirty="0"/>
              <a:t>0.375x2=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/>
              <a:t>.75</a:t>
            </a:r>
          </a:p>
          <a:p>
            <a:pPr lvl="4"/>
            <a:r>
              <a:rPr lang="en-US" altLang="zh-CN" sz="1600" b="1" dirty="0"/>
              <a:t>0.75x2=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/>
              <a:t>.5</a:t>
            </a:r>
          </a:p>
          <a:p>
            <a:pPr lvl="4"/>
            <a:r>
              <a:rPr lang="en-US" altLang="zh-CN" sz="1600" b="1" dirty="0"/>
              <a:t>0.5x2=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</a:p>
          <a:p>
            <a:pPr lvl="4"/>
            <a:r>
              <a:rPr lang="en-US" altLang="zh-CN" sz="1600" b="1" dirty="0"/>
              <a:t>0.59375=0.10011</a:t>
            </a:r>
            <a:endParaRPr lang="en-US" altLang="zh-CN" sz="1800" b="1" dirty="0"/>
          </a:p>
          <a:p>
            <a:pPr lvl="3"/>
            <a:endParaRPr lang="en-US" altLang="zh-CN" sz="1600" b="1" dirty="0"/>
          </a:p>
          <a:p>
            <a:pPr lvl="3"/>
            <a:r>
              <a:rPr lang="en-US" altLang="zh-CN" sz="1600" b="1" dirty="0"/>
              <a:t>20.59375= </a:t>
            </a:r>
            <a:r>
              <a:rPr lang="en-US" altLang="zh-CN" sz="1600" b="1" dirty="0">
                <a:solidFill>
                  <a:srgbClr val="C00000"/>
                </a:solidFill>
              </a:rPr>
              <a:t>10100.10011</a:t>
            </a:r>
          </a:p>
          <a:p>
            <a:pPr lvl="2"/>
            <a:r>
              <a:rPr lang="zh-CN" altLang="en-US" sz="2000" b="1" dirty="0"/>
              <a:t>二进制转换为十进制（</a:t>
            </a:r>
            <a:r>
              <a:rPr lang="en-US" altLang="zh-CN" sz="2000" b="1" dirty="0"/>
              <a:t>-1011.011</a:t>
            </a:r>
            <a:r>
              <a:rPr lang="en-US" altLang="zh-CN" sz="2000" b="1" baseline="-25000" dirty="0"/>
              <a:t>B</a:t>
            </a:r>
            <a:r>
              <a:rPr lang="zh-CN" altLang="en-US" sz="2000" b="1" dirty="0"/>
              <a:t>对应的十进制是多少？）</a:t>
            </a:r>
            <a:endParaRPr lang="en-US" altLang="zh-CN" sz="2000" b="1" dirty="0"/>
          </a:p>
          <a:p>
            <a:pPr lvl="3"/>
            <a:r>
              <a:rPr lang="zh-CN" altLang="en-US" sz="1600" b="1" dirty="0"/>
              <a:t>整数部分：</a:t>
            </a:r>
            <a:r>
              <a:rPr lang="en-US" altLang="zh-CN" sz="1600" b="1" dirty="0"/>
              <a:t>1011=(11)</a:t>
            </a:r>
            <a:r>
              <a:rPr lang="en-US" altLang="zh-CN" sz="1600" b="1" baseline="-25000" dirty="0"/>
              <a:t>10</a:t>
            </a:r>
          </a:p>
          <a:p>
            <a:pPr lvl="3"/>
            <a:endParaRPr lang="en-US" altLang="zh-CN" sz="1600" b="1" dirty="0"/>
          </a:p>
          <a:p>
            <a:pPr lvl="3"/>
            <a:r>
              <a:rPr lang="zh-CN" altLang="en-US" sz="1600" b="1" dirty="0"/>
              <a:t>小数部分：</a:t>
            </a:r>
            <a:r>
              <a:rPr lang="en-US" altLang="zh-CN" sz="1600" b="1" dirty="0"/>
              <a:t>0.011=1x0.25+1x0.125=0.375</a:t>
            </a:r>
          </a:p>
          <a:p>
            <a:pPr lvl="3"/>
            <a:endParaRPr lang="en-US" altLang="zh-CN" sz="1600" b="1" dirty="0"/>
          </a:p>
          <a:p>
            <a:pPr lvl="3"/>
            <a:r>
              <a:rPr lang="en-US" altLang="zh-CN" sz="1600" b="1" dirty="0"/>
              <a:t>-1011.011</a:t>
            </a:r>
            <a:r>
              <a:rPr lang="en-US" altLang="zh-CN" sz="1600" b="1" baseline="-25000" dirty="0"/>
              <a:t>B</a:t>
            </a:r>
            <a:r>
              <a:rPr lang="en-US" altLang="zh-CN" sz="1600" b="1" dirty="0"/>
              <a:t>= </a:t>
            </a:r>
            <a:r>
              <a:rPr lang="en-US" altLang="zh-CN" sz="1600" b="1" dirty="0">
                <a:solidFill>
                  <a:srgbClr val="C00000"/>
                </a:solidFill>
              </a:rPr>
              <a:t>-11.375</a:t>
            </a:r>
            <a:endParaRPr lang="zh-CN" altLang="en-US" sz="9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49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F4650-8BE6-469A-BB5E-21627300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2.2.4  </a:t>
            </a:r>
            <a:r>
              <a:rPr lang="zh-CN" altLang="en-US" b="1" dirty="0">
                <a:ea typeface="黑体" pitchFamily="49" charset="-122"/>
              </a:rPr>
              <a:t>十进制数编码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832648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、十进制整数</a:t>
            </a:r>
            <a:endParaRPr lang="en-US" altLang="zh-CN" sz="2400" b="1" dirty="0"/>
          </a:p>
          <a:p>
            <a:pPr marL="1371600" lvl="2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2000" b="1" dirty="0"/>
              <a:t>BCD</a:t>
            </a:r>
            <a:r>
              <a:rPr lang="zh-CN" altLang="en-US" sz="2000" b="1" dirty="0"/>
              <a:t>码（</a:t>
            </a:r>
            <a:r>
              <a:rPr lang="en-US" altLang="zh-CN" sz="2000" b="1" dirty="0"/>
              <a:t>Binary Coded Decimal</a:t>
            </a:r>
            <a:r>
              <a:rPr lang="zh-CN" altLang="en-US" sz="2000" b="1" dirty="0"/>
              <a:t>，二进制编码的十进制数）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8421</a:t>
            </a:r>
            <a:r>
              <a:rPr lang="zh-CN" altLang="en-US" sz="1600" b="1" dirty="0">
                <a:solidFill>
                  <a:srgbClr val="C00000"/>
                </a:solidFill>
              </a:rPr>
              <a:t>码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位二进制的权值分别为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0000(0),0001(1),0010(2),0011(3),0100(4),0101(5),0110(6),0111(7),1000(8),1001(9)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23</a:t>
            </a:r>
            <a:r>
              <a:rPr lang="zh-CN" altLang="en-US" sz="1600" b="1" dirty="0"/>
              <a:t>表示为</a:t>
            </a:r>
            <a:r>
              <a:rPr lang="en-US" altLang="zh-CN" sz="1600" b="1" dirty="0">
                <a:solidFill>
                  <a:srgbClr val="C00000"/>
                </a:solidFill>
              </a:rPr>
              <a:t>0010 0011</a:t>
            </a:r>
            <a:r>
              <a:rPr lang="zh-CN" altLang="en-US" sz="1600" b="1" dirty="0"/>
              <a:t>（一目了然），如果采用二进制表示则为</a:t>
            </a:r>
            <a:r>
              <a:rPr lang="en-US" altLang="zh-CN" sz="1600" b="1" dirty="0"/>
              <a:t>0001 0111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2421</a:t>
            </a:r>
            <a:r>
              <a:rPr lang="zh-CN" altLang="en-US" sz="1600" b="1" dirty="0">
                <a:solidFill>
                  <a:srgbClr val="C00000"/>
                </a:solidFill>
              </a:rPr>
              <a:t>码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位二进制的权值分别为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0000(0),0001(1),0010(2),0011(3),0100(4),1011(5),1100(6),1101(7),1110(8),1111(9)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2421</a:t>
            </a:r>
            <a:r>
              <a:rPr lang="zh-CN" altLang="en-US" sz="1600" b="1" dirty="0"/>
              <a:t>码具有自补的特点，即各位取反后正好是该数对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的补码</a:t>
            </a:r>
            <a:endParaRPr lang="en-US" altLang="zh-CN" sz="1600" b="1" dirty="0"/>
          </a:p>
          <a:p>
            <a:pPr lvl="4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如</a:t>
            </a:r>
            <a:r>
              <a:rPr lang="en-US" altLang="zh-CN" sz="1600" b="1" dirty="0"/>
              <a:t>0000(0)</a:t>
            </a:r>
            <a:r>
              <a:rPr lang="zh-CN" altLang="en-US" sz="1600" b="1" dirty="0"/>
              <a:t>取反得到</a:t>
            </a:r>
            <a:r>
              <a:rPr lang="en-US" altLang="zh-CN" sz="1600" b="1" dirty="0"/>
              <a:t>1111(9)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0001(1)</a:t>
            </a:r>
            <a:r>
              <a:rPr lang="zh-CN" altLang="en-US" sz="1600" b="1" dirty="0"/>
              <a:t>取反得到</a:t>
            </a:r>
            <a:r>
              <a:rPr lang="en-US" altLang="zh-CN" sz="1600" b="1" dirty="0"/>
              <a:t>1110(8)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0010(2)</a:t>
            </a:r>
            <a:r>
              <a:rPr lang="zh-CN" altLang="en-US" sz="1600" b="1" dirty="0"/>
              <a:t>取反得到</a:t>
            </a:r>
            <a:r>
              <a:rPr lang="en-US" altLang="zh-CN" sz="1600" b="1" dirty="0"/>
              <a:t>1101(7)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0011(3)</a:t>
            </a:r>
            <a:r>
              <a:rPr lang="zh-CN" altLang="en-US" sz="1600" b="1" dirty="0"/>
              <a:t>取反得到</a:t>
            </a:r>
            <a:r>
              <a:rPr lang="en-US" altLang="zh-CN" sz="1600" b="1" dirty="0"/>
              <a:t>1100(6)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0100(4)</a:t>
            </a:r>
            <a:r>
              <a:rPr lang="zh-CN" altLang="en-US" sz="1600" b="1" dirty="0"/>
              <a:t>取反得到</a:t>
            </a:r>
            <a:r>
              <a:rPr lang="en-US" altLang="zh-CN" sz="1600" b="1" dirty="0"/>
              <a:t>1011(5)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余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码</a:t>
            </a:r>
            <a:r>
              <a:rPr lang="zh-CN" altLang="en-US" sz="1600" b="1" dirty="0"/>
              <a:t>：为</a:t>
            </a:r>
            <a:r>
              <a:rPr lang="en-US" altLang="zh-CN" sz="1600" b="1" dirty="0"/>
              <a:t>8421</a:t>
            </a:r>
            <a:r>
              <a:rPr lang="zh-CN" altLang="en-US" sz="1600" b="1" dirty="0"/>
              <a:t>码</a:t>
            </a:r>
            <a:r>
              <a:rPr lang="en-US" altLang="zh-CN" sz="1600" b="1" dirty="0"/>
              <a:t>+3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0011(0),0100(1),0101(2),0110(3),0111(4),1000(5),1001(6),1010(7),1011(8),1100(9)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BCD</a:t>
            </a:r>
            <a:r>
              <a:rPr lang="zh-CN" altLang="en-US" sz="1600" b="1" dirty="0"/>
              <a:t>码的</a:t>
            </a:r>
            <a:r>
              <a:rPr lang="zh-CN" altLang="en-US" sz="1600" b="1" dirty="0">
                <a:solidFill>
                  <a:srgbClr val="C00000"/>
                </a:solidFill>
              </a:rPr>
              <a:t>编码效率</a:t>
            </a:r>
            <a:r>
              <a:rPr lang="en-US" altLang="zh-CN" sz="1600" b="1" dirty="0"/>
              <a:t>=10/16</a:t>
            </a:r>
            <a:r>
              <a:rPr lang="zh-CN" altLang="en-US" sz="1600" b="1" dirty="0"/>
              <a:t>（用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位二进制数表示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位十进制数，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4</a:t>
            </a:r>
            <a:r>
              <a:rPr lang="en-US" altLang="zh-CN" sz="1600" b="1" dirty="0"/>
              <a:t>=16</a:t>
            </a:r>
            <a:r>
              <a:rPr lang="zh-CN" altLang="en-US" sz="1600" b="1" dirty="0"/>
              <a:t>）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646500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5ED89-A896-4D13-A39C-DEECBE3A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5395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2.2.4  </a:t>
            </a:r>
            <a:r>
              <a:rPr lang="zh-CN" altLang="en-US" b="1" dirty="0">
                <a:ea typeface="黑体" pitchFamily="49" charset="-122"/>
              </a:rPr>
              <a:t>十进制数编码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32" y="1052735"/>
            <a:ext cx="8441208" cy="5719869"/>
          </a:xfrm>
        </p:spPr>
        <p:txBody>
          <a:bodyPr rtlCol="0">
            <a:noAutofit/>
          </a:bodyPr>
          <a:lstStyle/>
          <a:p>
            <a:pPr marL="1371600" lvl="2" indent="-457200" eaLnBrk="1" fontAlgn="auto" hangingPunct="1">
              <a:spcAft>
                <a:spcPts val="0"/>
              </a:spcAft>
              <a:buFont typeface="+mj-ea"/>
              <a:buAutoNum type="circleNumDbPlain" startAt="2"/>
              <a:defRPr/>
            </a:pPr>
            <a:r>
              <a:rPr lang="en-US" altLang="zh-CN" sz="1800" b="1" dirty="0"/>
              <a:t>BID</a:t>
            </a:r>
            <a:r>
              <a:rPr lang="zh-CN" altLang="en-US" sz="1800" b="1" dirty="0"/>
              <a:t>码（</a:t>
            </a:r>
            <a:r>
              <a:rPr lang="en-US" altLang="zh-CN" sz="1800" b="1" dirty="0"/>
              <a:t>Binary Integer Decimal</a:t>
            </a:r>
            <a:r>
              <a:rPr lang="zh-CN" altLang="en-US" sz="1800" b="1" dirty="0"/>
              <a:t>，十进制整数的二进制表示）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直接用二进制整数编码表示十进制整数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如十进制数</a:t>
            </a:r>
            <a:r>
              <a:rPr lang="en-US" altLang="zh-CN" sz="1600" b="1" dirty="0"/>
              <a:t>20</a:t>
            </a:r>
            <a:r>
              <a:rPr lang="zh-CN" altLang="en-US" sz="1600" b="1" dirty="0"/>
              <a:t>，其</a:t>
            </a:r>
            <a:r>
              <a:rPr lang="en-US" altLang="zh-CN" sz="1600" b="1" dirty="0"/>
              <a:t>BID</a:t>
            </a:r>
            <a:r>
              <a:rPr lang="zh-CN" altLang="en-US" sz="1600" b="1" dirty="0"/>
              <a:t>码</a:t>
            </a:r>
            <a:r>
              <a:rPr lang="en-US" altLang="zh-CN" sz="1600" b="1" dirty="0"/>
              <a:t>=10100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marL="1371600" lvl="2" indent="-457200" eaLnBrk="1" fontAlgn="auto" hangingPunct="1">
              <a:spcAft>
                <a:spcPts val="0"/>
              </a:spcAft>
              <a:buFont typeface="+mj-ea"/>
              <a:buAutoNum type="circleNumDbPlain" startAt="2"/>
              <a:defRPr/>
            </a:pPr>
            <a:r>
              <a:rPr lang="en-US" altLang="zh-CN" sz="1800" b="1" dirty="0"/>
              <a:t>DPD</a:t>
            </a:r>
            <a:r>
              <a:rPr lang="zh-CN" altLang="en-US" sz="1800" b="1" dirty="0"/>
              <a:t>码（</a:t>
            </a:r>
            <a:r>
              <a:rPr lang="en-US" altLang="zh-CN" sz="1800" b="1" dirty="0"/>
              <a:t>Densely Packed Decimal</a:t>
            </a:r>
            <a:r>
              <a:rPr lang="zh-CN" altLang="en-US" sz="1800" b="1" dirty="0"/>
              <a:t>，紧凑十进制编码）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利用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位二进制数表示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位十进制数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表</a:t>
            </a:r>
            <a:r>
              <a:rPr lang="en-US" altLang="zh-CN" sz="1400" b="1" dirty="0"/>
              <a:t>2.9</a:t>
            </a:r>
            <a:r>
              <a:rPr lang="zh-CN" altLang="en-US" sz="1400" b="1" dirty="0"/>
              <a:t>（见教材）</a:t>
            </a:r>
            <a:r>
              <a:rPr lang="en-US" altLang="zh-CN" sz="1400" b="1" dirty="0"/>
              <a:t>  DPD</a:t>
            </a:r>
            <a:r>
              <a:rPr lang="zh-CN" altLang="en-US" sz="1400" b="1" dirty="0"/>
              <a:t>码编码格式（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种情况）：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个小数（例如</a:t>
            </a:r>
            <a:r>
              <a:rPr lang="en-US" altLang="zh-CN" sz="1400" b="1" dirty="0">
                <a:solidFill>
                  <a:srgbClr val="C00000"/>
                </a:solidFill>
              </a:rPr>
              <a:t>375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</a:t>
            </a:r>
            <a:r>
              <a:rPr lang="zh-CN" altLang="en-US" sz="1400" b="1" dirty="0"/>
              <a:t>：两小一大（例如</a:t>
            </a:r>
            <a:r>
              <a:rPr lang="en-US" altLang="zh-CN" sz="1400" b="1" dirty="0">
                <a:solidFill>
                  <a:srgbClr val="C00000"/>
                </a:solidFill>
              </a:rPr>
              <a:t>378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</a:t>
            </a:r>
            <a:r>
              <a:rPr lang="zh-CN" altLang="en-US" sz="1400" b="1" dirty="0"/>
              <a:t>：两小一大（例如</a:t>
            </a:r>
            <a:r>
              <a:rPr lang="en-US" altLang="zh-CN" sz="1400" b="1" dirty="0">
                <a:solidFill>
                  <a:srgbClr val="C00000"/>
                </a:solidFill>
              </a:rPr>
              <a:t>385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</a:t>
            </a:r>
            <a:r>
              <a:rPr lang="zh-CN" altLang="en-US" sz="1400" b="1" dirty="0"/>
              <a:t>：两小一大（例如</a:t>
            </a:r>
            <a:r>
              <a:rPr lang="en-US" altLang="zh-CN" sz="1400" b="1" dirty="0">
                <a:solidFill>
                  <a:srgbClr val="C00000"/>
                </a:solidFill>
              </a:rPr>
              <a:t>875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</a:t>
            </a:r>
            <a:r>
              <a:rPr lang="zh-CN" altLang="en-US" sz="1400" b="1" dirty="0"/>
              <a:t>：两大一小（例如</a:t>
            </a:r>
            <a:r>
              <a:rPr lang="en-US" altLang="zh-CN" sz="1400" b="1" dirty="0">
                <a:solidFill>
                  <a:srgbClr val="FF0000"/>
                </a:solidFill>
              </a:rPr>
              <a:t>8</a:t>
            </a:r>
            <a:r>
              <a:rPr lang="en-US" altLang="zh-CN" sz="1400" b="1" dirty="0">
                <a:solidFill>
                  <a:srgbClr val="C00000"/>
                </a:solidFill>
              </a:rPr>
              <a:t>95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</a:t>
            </a:r>
            <a:r>
              <a:rPr lang="zh-CN" altLang="en-US" sz="1400" b="1" dirty="0"/>
              <a:t>：两大一小（例如</a:t>
            </a:r>
            <a:r>
              <a:rPr lang="en-US" altLang="zh-CN" sz="1400" b="1" dirty="0">
                <a:solidFill>
                  <a:srgbClr val="C00000"/>
                </a:solidFill>
              </a:rPr>
              <a:t>879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</a:t>
            </a:r>
            <a:r>
              <a:rPr lang="zh-CN" altLang="en-US" sz="1400" b="1" dirty="0"/>
              <a:t>：两大一小（例如</a:t>
            </a:r>
            <a:r>
              <a:rPr lang="en-US" altLang="zh-CN" sz="1400" b="1" dirty="0">
                <a:solidFill>
                  <a:srgbClr val="C00000"/>
                </a:solidFill>
              </a:rPr>
              <a:t>389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 (8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9)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个大数（例如</a:t>
            </a:r>
            <a:r>
              <a:rPr lang="en-US" altLang="zh-CN" sz="1400" b="1" dirty="0">
                <a:solidFill>
                  <a:srgbClr val="C00000"/>
                </a:solidFill>
              </a:rPr>
              <a:t>899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例如十进制数</a:t>
            </a:r>
            <a:r>
              <a:rPr lang="en-US" altLang="zh-CN" sz="1600" b="1" dirty="0">
                <a:solidFill>
                  <a:srgbClr val="C00000"/>
                </a:solidFill>
              </a:rPr>
              <a:t>375</a:t>
            </a:r>
            <a:r>
              <a:rPr lang="zh-CN" altLang="en-US" sz="1600" b="1" dirty="0"/>
              <a:t>，属于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个小数，</a:t>
            </a:r>
            <a:r>
              <a:rPr lang="en-US" altLang="zh-CN" sz="1600" b="1" dirty="0"/>
              <a:t>D2=3=0abc=0011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D1=7=0def=0111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D0=5=0ghi=0101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DPD</a:t>
            </a:r>
            <a:r>
              <a:rPr lang="zh-CN" altLang="en-US" sz="1600" b="1" dirty="0"/>
              <a:t>码</a:t>
            </a:r>
            <a:r>
              <a:rPr lang="en-US" altLang="zh-CN" sz="1600" b="1" dirty="0"/>
              <a:t>=abcdef0ghi= </a:t>
            </a:r>
            <a:r>
              <a:rPr lang="en-US" altLang="zh-CN" sz="1600" b="1" dirty="0">
                <a:solidFill>
                  <a:srgbClr val="C00000"/>
                </a:solidFill>
              </a:rPr>
              <a:t>0111110101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DPD</a:t>
            </a:r>
            <a:r>
              <a:rPr lang="zh-CN" altLang="en-US" sz="1600" b="1" dirty="0"/>
              <a:t>码的</a:t>
            </a:r>
            <a:r>
              <a:rPr lang="zh-CN" altLang="en-US" sz="1600" b="1" dirty="0">
                <a:solidFill>
                  <a:srgbClr val="C00000"/>
                </a:solidFill>
              </a:rPr>
              <a:t>编码效率</a:t>
            </a:r>
            <a:r>
              <a:rPr lang="en-US" altLang="zh-CN" sz="1600" b="1" dirty="0"/>
              <a:t>=1000/1024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位二进制数：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10</a:t>
            </a:r>
            <a:r>
              <a:rPr lang="en-US" altLang="zh-CN" sz="1600" b="1" dirty="0"/>
              <a:t>=1024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位十进制数：</a:t>
            </a:r>
            <a:r>
              <a:rPr lang="en-US" altLang="zh-CN" sz="1600" b="1" dirty="0"/>
              <a:t>10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=1000</a:t>
            </a:r>
            <a:r>
              <a:rPr lang="zh-CN" altLang="en-US" sz="1600" b="1" dirty="0"/>
              <a:t>）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995717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2992F-E6C1-4D0E-87AC-6BA7A102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664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2.2.4  </a:t>
            </a:r>
            <a:r>
              <a:rPr lang="zh-CN" altLang="en-US" b="1" dirty="0">
                <a:ea typeface="黑体" pitchFamily="49" charset="-122"/>
              </a:rPr>
              <a:t>十进制数编码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0728"/>
            <a:ext cx="8640960" cy="5688632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、十进制浮点数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二进制浮点数不能精确表示十进制数（</a:t>
            </a:r>
            <a:r>
              <a:rPr lang="zh-CN" altLang="en-US" sz="1800" b="1" dirty="0">
                <a:solidFill>
                  <a:srgbClr val="C00000"/>
                </a:solidFill>
              </a:rPr>
              <a:t>精度溢出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如</a:t>
            </a:r>
            <a:r>
              <a:rPr lang="en-US" altLang="zh-CN" sz="1800" b="1" dirty="0"/>
              <a:t>0.7=0.101100110011001100……</a:t>
            </a:r>
            <a:r>
              <a:rPr lang="zh-CN" altLang="en-US" sz="1800" b="1" dirty="0"/>
              <a:t>；</a:t>
            </a:r>
            <a:r>
              <a:rPr lang="en-US" altLang="zh-CN" sz="1800" b="1" dirty="0"/>
              <a:t>1.05=1.0000110011001100……</a:t>
            </a:r>
            <a:r>
              <a:rPr lang="zh-CN" altLang="en-US" sz="1800" b="1" dirty="0"/>
              <a:t>；都不能用二进制数精确表示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财务结算中</a:t>
            </a:r>
            <a:r>
              <a:rPr lang="en-US" altLang="zh-CN" sz="1800" b="1" dirty="0"/>
              <a:t>0.7x1.05=0.73</a:t>
            </a:r>
            <a:r>
              <a:rPr lang="en-US" altLang="zh-CN" sz="1800" b="1" dirty="0">
                <a:solidFill>
                  <a:srgbClr val="C00000"/>
                </a:solidFill>
              </a:rPr>
              <a:t>5</a:t>
            </a:r>
            <a:r>
              <a:rPr lang="zh-CN" altLang="en-US" sz="1800" b="1" dirty="0"/>
              <a:t>元，四舍五入，得到</a:t>
            </a:r>
            <a:r>
              <a:rPr lang="en-US" altLang="zh-CN" sz="1800" b="1" dirty="0"/>
              <a:t>0.74</a:t>
            </a:r>
            <a:r>
              <a:rPr lang="zh-CN" altLang="en-US" sz="1800" b="1" dirty="0"/>
              <a:t>元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但是如果采用双精度浮点数进行计算：</a:t>
            </a:r>
            <a:r>
              <a:rPr lang="en-US" altLang="zh-CN" sz="1800" b="1" dirty="0"/>
              <a:t>0.7x1.05=0.73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en-US" altLang="zh-CN" sz="1800" b="1" dirty="0"/>
              <a:t>99999999999999</a:t>
            </a:r>
            <a:r>
              <a:rPr lang="zh-CN" altLang="en-US" sz="1800" b="1" dirty="0"/>
              <a:t>，四舍五入，得到</a:t>
            </a:r>
            <a:r>
              <a:rPr lang="en-US" altLang="zh-CN" sz="1800" b="1" dirty="0"/>
              <a:t>0.73</a:t>
            </a:r>
            <a:r>
              <a:rPr lang="zh-CN" altLang="en-US" sz="1800" b="1" dirty="0"/>
              <a:t>元，相差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分钱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Java</a:t>
            </a:r>
            <a:r>
              <a:rPr lang="zh-CN" altLang="en-US" sz="1800" b="1" dirty="0"/>
              <a:t>中的</a:t>
            </a:r>
            <a:r>
              <a:rPr lang="en-US" altLang="zh-CN" sz="1800" b="1" dirty="0" err="1">
                <a:solidFill>
                  <a:srgbClr val="C00000"/>
                </a:solidFill>
              </a:rPr>
              <a:t>BigDecimal</a:t>
            </a:r>
            <a:r>
              <a:rPr lang="zh-CN" altLang="en-US" sz="1800" b="1" dirty="0"/>
              <a:t>，是采用软件的方法实现十进制运算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3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895D30-BE02-4226-9B53-345A5E1C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2437794"/>
            <a:ext cx="3510709" cy="147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7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25589-9FDF-40E3-8725-9BD30A4A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46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2.2.4  </a:t>
            </a:r>
            <a:r>
              <a:rPr lang="zh-CN" altLang="en-US" b="1" dirty="0">
                <a:ea typeface="黑体" pitchFamily="49" charset="-122"/>
              </a:rPr>
              <a:t>十进制数编码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3342583"/>
          </a:xfrm>
        </p:spPr>
        <p:txBody>
          <a:bodyPr rtlCol="0">
            <a:no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b="1" dirty="0"/>
              <a:t>IEEE754-2008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十进制浮点数</a:t>
            </a:r>
            <a:r>
              <a:rPr lang="zh-CN" altLang="en-US" b="1" dirty="0"/>
              <a:t>格式（教材图</a:t>
            </a:r>
            <a:r>
              <a:rPr lang="en-US" altLang="zh-CN" b="1" dirty="0"/>
              <a:t>2.11</a:t>
            </a:r>
            <a:r>
              <a:rPr lang="zh-CN" altLang="en-US" b="1" dirty="0"/>
              <a:t>）：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数符：</a:t>
            </a:r>
            <a:r>
              <a:rPr lang="en-US" altLang="zh-CN" sz="2400" b="1" dirty="0">
                <a:solidFill>
                  <a:srgbClr val="C00000"/>
                </a:solidFill>
              </a:rPr>
              <a:t>s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800" b="1" dirty="0"/>
              <a:t>5</a:t>
            </a:r>
            <a:r>
              <a:rPr lang="zh-CN" altLang="en-US" sz="1800" b="1" dirty="0"/>
              <a:t>位组合字段：</a:t>
            </a:r>
            <a:r>
              <a:rPr lang="en-US" altLang="zh-CN" sz="1800" b="1" dirty="0">
                <a:solidFill>
                  <a:srgbClr val="C00000"/>
                </a:solidFill>
              </a:rPr>
              <a:t>comb</a:t>
            </a:r>
            <a:r>
              <a:rPr lang="zh-CN" altLang="en-US" sz="1800" b="1" dirty="0"/>
              <a:t>，包含阶码和尾数的部分数据位：</a:t>
            </a:r>
            <a:endParaRPr lang="en-US" altLang="zh-CN" sz="18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格式①（尾数最高位</a:t>
            </a:r>
            <a:r>
              <a:rPr lang="en-US" altLang="zh-CN" sz="1600" b="1" dirty="0"/>
              <a:t>=0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的高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位为阶码的最高有效位（</a:t>
            </a:r>
            <a:r>
              <a:rPr lang="en-US" altLang="zh-CN" sz="1600" b="1" dirty="0"/>
              <a:t>00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的低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位为尾数的最高有效位（</a:t>
            </a:r>
            <a:r>
              <a:rPr lang="en-US" altLang="zh-CN" sz="1600" b="1" dirty="0"/>
              <a:t>000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111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格式② （尾数最高位</a:t>
            </a:r>
            <a:r>
              <a:rPr lang="en-US" altLang="zh-CN" sz="1600" b="1" dirty="0"/>
              <a:t>=8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的高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位为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的后续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位为阶码的最高有效位（</a:t>
            </a:r>
            <a:r>
              <a:rPr lang="en-US" altLang="zh-CN" sz="1600" b="1" dirty="0"/>
              <a:t>00</a:t>
            </a:r>
            <a:r>
              <a:rPr lang="zh-CN" altLang="en-US" sz="1600" b="1" dirty="0"/>
              <a:t>～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的最低位为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则表示尾数的最高有效位为</a:t>
            </a:r>
            <a:r>
              <a:rPr lang="en-US" altLang="zh-CN" sz="1600" b="1" dirty="0"/>
              <a:t>1000(8)</a:t>
            </a:r>
            <a:r>
              <a:rPr lang="zh-CN" altLang="en-US" sz="1600" b="1" dirty="0"/>
              <a:t>、为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则表示尾数的最高有效位为</a:t>
            </a:r>
            <a:r>
              <a:rPr lang="en-US" altLang="zh-CN" sz="1600" b="1" dirty="0"/>
              <a:t>1001(9)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格式③ （无穷大或非数）：</a:t>
            </a:r>
            <a:r>
              <a:rPr lang="en-US" altLang="zh-CN" sz="1600" b="1" dirty="0"/>
              <a:t>comb</a:t>
            </a:r>
            <a:r>
              <a:rPr lang="zh-CN" altLang="en-US" sz="1600" b="1" dirty="0"/>
              <a:t>的高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位为</a:t>
            </a:r>
            <a:r>
              <a:rPr lang="en-US" altLang="zh-CN" sz="1600" b="1" dirty="0"/>
              <a:t>1111</a:t>
            </a:r>
            <a:r>
              <a:rPr lang="zh-CN" altLang="en-US" sz="1600" b="1" dirty="0"/>
              <a:t>，表示无穷大或非数（</a:t>
            </a:r>
            <a:r>
              <a:rPr lang="en-US" altLang="zh-CN" sz="1600" b="1" dirty="0" err="1"/>
              <a:t>NaN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部分阶码：</a:t>
            </a:r>
            <a:r>
              <a:rPr lang="en-US" altLang="zh-CN" sz="1800" b="1" dirty="0">
                <a:solidFill>
                  <a:srgbClr val="C00000"/>
                </a:solidFill>
              </a:rPr>
              <a:t>E</a:t>
            </a:r>
            <a:r>
              <a:rPr lang="zh-CN" altLang="en-US" sz="1800" b="1" dirty="0"/>
              <a:t>（阶码的最高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位，存放在</a:t>
            </a:r>
            <a:r>
              <a:rPr lang="en-US" altLang="zh-CN" sz="1800" b="1" dirty="0"/>
              <a:t>comb</a:t>
            </a:r>
            <a:r>
              <a:rPr lang="zh-CN" altLang="en-US" sz="1800" b="1" dirty="0"/>
              <a:t>中）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部分尾数：</a:t>
            </a:r>
            <a:r>
              <a:rPr lang="en-US" altLang="zh-CN" sz="1800" b="1" dirty="0">
                <a:solidFill>
                  <a:srgbClr val="C00000"/>
                </a:solidFill>
              </a:rPr>
              <a:t>T</a:t>
            </a:r>
            <a:r>
              <a:rPr lang="zh-CN" altLang="en-US" sz="1800" b="1" dirty="0"/>
              <a:t>（尾数的最高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位或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位，存放在</a:t>
            </a:r>
            <a:r>
              <a:rPr lang="en-US" altLang="zh-CN" sz="1800" b="1" dirty="0"/>
              <a:t>comb</a:t>
            </a:r>
            <a:r>
              <a:rPr lang="zh-CN" altLang="en-US" sz="1800" b="1" dirty="0"/>
              <a:t>中）</a:t>
            </a:r>
            <a:endParaRPr lang="en-US" altLang="zh-CN" sz="1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FBCD4E-BAF0-4EC0-A9BB-DD252250099C}"/>
              </a:ext>
            </a:extLst>
          </p:cNvPr>
          <p:cNvGrpSpPr/>
          <p:nvPr/>
        </p:nvGrpSpPr>
        <p:grpSpPr>
          <a:xfrm>
            <a:off x="1835696" y="4725144"/>
            <a:ext cx="6284551" cy="1913447"/>
            <a:chOff x="1691680" y="4469102"/>
            <a:chExt cx="6284551" cy="19134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13A0E59-E494-4222-A89B-9DCBCE536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1680" y="4469102"/>
              <a:ext cx="6284551" cy="158537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EF7D1F7-3B6D-41D2-93C3-C9B3DBDD0316}"/>
                </a:ext>
              </a:extLst>
            </p:cNvPr>
            <p:cNvSpPr txBox="1"/>
            <p:nvPr/>
          </p:nvSpPr>
          <p:spPr>
            <a:xfrm>
              <a:off x="2565703" y="6074772"/>
              <a:ext cx="43924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2.11    IEEE754-2008</a:t>
              </a:r>
              <a:r>
                <a:rPr lang="zh-CN" altLang="en-US" sz="1400" b="1" dirty="0"/>
                <a:t>的十进制浮点数格式（见教材）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1837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7A26F-EBEF-4B5B-8D2B-5B1B30B6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2738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2.2.4  </a:t>
            </a:r>
            <a:r>
              <a:rPr lang="zh-CN" altLang="en-US" b="1" dirty="0">
                <a:ea typeface="黑体" pitchFamily="49" charset="-122"/>
              </a:rPr>
              <a:t>十进制数编码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27" y="908720"/>
            <a:ext cx="8229600" cy="5733256"/>
          </a:xfrm>
        </p:spPr>
        <p:txBody>
          <a:bodyPr rtlCol="0">
            <a:noAutofit/>
          </a:bodyPr>
          <a:lstStyle/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000" b="1" dirty="0"/>
              <a:t>十进制浮点数：</a:t>
            </a:r>
            <a:r>
              <a:rPr lang="en-US" altLang="zh-CN" sz="2000" b="1" dirty="0"/>
              <a:t>N = (-1)</a:t>
            </a:r>
            <a:r>
              <a:rPr lang="en-US" altLang="zh-CN" sz="2000" b="1" baseline="30000" dirty="0"/>
              <a:t>s</a:t>
            </a:r>
            <a:r>
              <a:rPr lang="en-US" altLang="zh-CN" sz="2000" b="1" dirty="0"/>
              <a:t>x10</a:t>
            </a:r>
            <a:r>
              <a:rPr lang="en-US" altLang="zh-CN" sz="2000" b="1" baseline="30000" dirty="0"/>
              <a:t>E-bias</a:t>
            </a:r>
            <a:r>
              <a:rPr lang="en-US" altLang="zh-CN" sz="2000" b="1" dirty="0"/>
              <a:t>xT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/>
              <a:t>这里的基数为</a:t>
            </a:r>
            <a:r>
              <a:rPr lang="en-US" altLang="zh-CN" sz="1800" b="1" dirty="0">
                <a:solidFill>
                  <a:srgbClr val="C00000"/>
                </a:solidFill>
              </a:rPr>
              <a:t>10</a:t>
            </a:r>
            <a:r>
              <a:rPr lang="zh-CN" altLang="en-US" sz="1800" b="1" dirty="0"/>
              <a:t>，不是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；尾数</a:t>
            </a:r>
            <a:r>
              <a:rPr lang="en-US" altLang="zh-CN" sz="1800" b="1" dirty="0"/>
              <a:t>T</a:t>
            </a:r>
            <a:r>
              <a:rPr lang="zh-CN" altLang="en-US" sz="1800" b="1" dirty="0"/>
              <a:t>是</a:t>
            </a:r>
            <a:r>
              <a:rPr lang="zh-CN" altLang="en-US" sz="1800" b="1" dirty="0">
                <a:solidFill>
                  <a:srgbClr val="C00000"/>
                </a:solidFill>
              </a:rPr>
              <a:t>定点整数</a:t>
            </a:r>
            <a:r>
              <a:rPr lang="zh-CN" altLang="en-US" sz="1800" b="1" dirty="0"/>
              <a:t>，不是定点小数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000" b="1" dirty="0"/>
              <a:t>表</a:t>
            </a:r>
            <a:r>
              <a:rPr lang="en-US" altLang="zh-CN" sz="2000" b="1" dirty="0"/>
              <a:t>2.10</a:t>
            </a:r>
            <a:r>
              <a:rPr lang="zh-CN" altLang="en-US" sz="2000" b="1" dirty="0"/>
              <a:t>（见教材）</a:t>
            </a:r>
            <a:r>
              <a:rPr lang="en-US" altLang="zh-CN" sz="2000" b="1" dirty="0"/>
              <a:t>  </a:t>
            </a:r>
            <a:r>
              <a:rPr lang="zh-CN" altLang="en-US" sz="2000" b="1" dirty="0"/>
              <a:t>不同位宽十进制浮点数格式的参数：</a:t>
            </a:r>
            <a:endParaRPr lang="en-US" altLang="zh-CN" sz="20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_Decimal32</a:t>
            </a:r>
            <a:r>
              <a:rPr lang="zh-CN" altLang="en-US" sz="1400" b="1" dirty="0">
                <a:solidFill>
                  <a:srgbClr val="C00000"/>
                </a:solidFill>
              </a:rPr>
              <a:t>）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comb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bias=101</a:t>
            </a:r>
            <a:r>
              <a:rPr lang="zh-CN" altLang="en-US" sz="1400" b="1" dirty="0"/>
              <a:t>（十进制），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的范围 </a:t>
            </a:r>
            <a:r>
              <a:rPr lang="en-US" altLang="zh-CN" sz="1400" b="1" dirty="0"/>
              <a:t>= -101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90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E=00 000000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10 111111=0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191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C00000"/>
                </a:solidFill>
              </a:rPr>
              <a:t>64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_Decimal64</a:t>
            </a:r>
            <a:r>
              <a:rPr lang="zh-CN" altLang="en-US" sz="1400" b="1" dirty="0">
                <a:solidFill>
                  <a:srgbClr val="C00000"/>
                </a:solidFill>
              </a:rPr>
              <a:t>） 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comb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50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bias=398</a:t>
            </a:r>
            <a:r>
              <a:rPr lang="zh-CN" altLang="en-US" sz="1400" b="1" dirty="0"/>
              <a:t>（十进制），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的范围 </a:t>
            </a:r>
            <a:r>
              <a:rPr lang="en-US" altLang="zh-CN" sz="1400" b="1" dirty="0"/>
              <a:t>= -398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369</a:t>
            </a:r>
            <a:r>
              <a:rPr lang="zh-CN" altLang="en-US" sz="1400" b="1" dirty="0"/>
              <a:t> （</a:t>
            </a:r>
            <a:r>
              <a:rPr lang="en-US" altLang="zh-CN" sz="1400" b="1" dirty="0"/>
              <a:t>E=00 00000000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10 11111111=0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767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C00000"/>
                </a:solidFill>
              </a:rPr>
              <a:t>128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_Decimal128</a:t>
            </a:r>
            <a:r>
              <a:rPr lang="zh-CN" altLang="en-US" sz="1400" b="1" dirty="0">
                <a:solidFill>
                  <a:srgbClr val="C00000"/>
                </a:solidFill>
              </a:rPr>
              <a:t>） 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comb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110</a:t>
            </a:r>
            <a:r>
              <a:rPr lang="zh-CN" altLang="en-US" sz="1400" b="1" dirty="0"/>
              <a:t>位）、</a:t>
            </a:r>
            <a:r>
              <a:rPr lang="en-US" altLang="zh-CN" sz="1400" b="1" dirty="0"/>
              <a:t>bias=6176</a:t>
            </a:r>
            <a:r>
              <a:rPr lang="zh-CN" altLang="en-US" sz="1400" b="1" dirty="0"/>
              <a:t>（十进制），</a:t>
            </a:r>
            <a:r>
              <a:rPr lang="en-US" altLang="zh-CN" sz="1400" b="1" dirty="0"/>
              <a:t>E</a:t>
            </a:r>
            <a:r>
              <a:rPr lang="zh-CN" altLang="en-US" sz="1400" b="1" dirty="0"/>
              <a:t>的范围 </a:t>
            </a:r>
            <a:r>
              <a:rPr lang="en-US" altLang="zh-CN" sz="1400" b="1" dirty="0"/>
              <a:t>= -6176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6111</a:t>
            </a:r>
            <a:r>
              <a:rPr lang="zh-CN" altLang="en-US" sz="1400" b="1" dirty="0"/>
              <a:t> （</a:t>
            </a:r>
            <a:r>
              <a:rPr lang="en-US" altLang="zh-CN" sz="1400" b="1" dirty="0"/>
              <a:t>E=00 000000000000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10 111111111111=0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12287</a:t>
            </a:r>
            <a:r>
              <a:rPr lang="zh-CN" altLang="en-US" sz="1400" b="1" dirty="0"/>
              <a:t>）</a:t>
            </a:r>
            <a:endParaRPr lang="en-US" altLang="zh-CN" sz="18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000" b="1" dirty="0"/>
              <a:t>例如，十进制浮点数：</a:t>
            </a:r>
            <a:r>
              <a:rPr lang="en-US" altLang="zh-CN" sz="2000" b="1" dirty="0"/>
              <a:t>123.456 = 123456 x 10</a:t>
            </a:r>
            <a:r>
              <a:rPr lang="en-US" altLang="zh-CN" sz="2000" b="1" baseline="30000" dirty="0"/>
              <a:t>-3</a:t>
            </a:r>
            <a:r>
              <a:rPr lang="zh-CN" altLang="en-US" sz="2000" b="1" dirty="0"/>
              <a:t>；采用</a:t>
            </a:r>
            <a:r>
              <a:rPr lang="en-US" altLang="zh-CN" sz="2000" b="1" dirty="0"/>
              <a:t>32</a:t>
            </a:r>
            <a:r>
              <a:rPr lang="zh-CN" altLang="en-US" sz="2000" b="1" dirty="0"/>
              <a:t>位（</a:t>
            </a:r>
            <a:r>
              <a:rPr lang="en-US" altLang="zh-CN" sz="2000" b="1" dirty="0"/>
              <a:t>_Decimal32</a:t>
            </a:r>
            <a:r>
              <a:rPr lang="zh-CN" altLang="en-US" sz="2000" b="1" dirty="0"/>
              <a:t>）表示，则有：</a:t>
            </a:r>
            <a:endParaRPr lang="en-US" altLang="zh-CN" sz="20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阶码</a:t>
            </a:r>
            <a:r>
              <a:rPr lang="en-US" altLang="zh-CN" sz="1400" b="1" dirty="0"/>
              <a:t>=</a:t>
            </a:r>
            <a:r>
              <a:rPr lang="en-US" altLang="zh-CN" sz="1400" b="1" dirty="0" err="1"/>
              <a:t>e+bias</a:t>
            </a:r>
            <a:r>
              <a:rPr lang="en-US" altLang="zh-CN" sz="1400" b="1" dirty="0"/>
              <a:t>=-3+101=98=</a:t>
            </a:r>
            <a:r>
              <a:rPr lang="en-US" altLang="zh-CN" sz="1400" b="1" dirty="0">
                <a:solidFill>
                  <a:srgbClr val="C00000"/>
                </a:solidFill>
              </a:rPr>
              <a:t>01 </a:t>
            </a:r>
            <a:r>
              <a:rPr lang="en-US" altLang="zh-CN" sz="1400" b="1" dirty="0"/>
              <a:t>100010</a:t>
            </a:r>
            <a:r>
              <a:rPr lang="zh-CN" altLang="en-US" sz="1400" b="1" dirty="0"/>
              <a:t>；尾数</a:t>
            </a:r>
            <a:r>
              <a:rPr lang="en-US" altLang="zh-CN" sz="1400" b="1" dirty="0"/>
              <a:t>=123456=</a:t>
            </a:r>
            <a:r>
              <a:rPr lang="en-US" altLang="zh-CN" sz="1400" b="1" dirty="0">
                <a:solidFill>
                  <a:srgbClr val="7030A0"/>
                </a:solidFill>
              </a:rPr>
              <a:t>000 </a:t>
            </a:r>
            <a:r>
              <a:rPr lang="en-US" altLang="zh-CN" sz="1400" b="1" dirty="0"/>
              <a:t>0001 1110 0010 0100 0000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因为尾数最高位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，故属于格式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数符</a:t>
            </a:r>
            <a:r>
              <a:rPr lang="en-US" altLang="zh-CN" sz="1400" b="1" dirty="0"/>
              <a:t>s=0</a:t>
            </a:r>
            <a:r>
              <a:rPr lang="zh-CN" altLang="en-US" sz="1400" b="1" dirty="0"/>
              <a:t>（正数）</a:t>
            </a:r>
            <a:endParaRPr lang="en-US" altLang="zh-CN" sz="1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5</a:t>
            </a:r>
            <a:r>
              <a:rPr lang="zh-CN" altLang="en-US" sz="1400" b="1" dirty="0"/>
              <a:t>位组合字段</a:t>
            </a:r>
            <a:r>
              <a:rPr lang="en-US" altLang="zh-CN" sz="1400" b="1" dirty="0"/>
              <a:t>comb=</a:t>
            </a:r>
            <a:r>
              <a:rPr lang="en-US" altLang="zh-CN" sz="1400" b="1" dirty="0">
                <a:solidFill>
                  <a:srgbClr val="C00000"/>
                </a:solidFill>
              </a:rPr>
              <a:t>01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7030A0"/>
                </a:solidFill>
              </a:rPr>
              <a:t>000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部分阶码</a:t>
            </a:r>
            <a:r>
              <a:rPr lang="en-US" altLang="zh-CN" sz="1400" b="1" dirty="0"/>
              <a:t>E=100010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部分尾数</a:t>
            </a:r>
            <a:r>
              <a:rPr lang="en-US" altLang="zh-CN" sz="1400" b="1" dirty="0"/>
              <a:t>T= 0001 1110 0010 0100 0000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位，采用</a:t>
            </a:r>
            <a:r>
              <a:rPr lang="en-US" altLang="zh-CN" sz="1400" b="1" dirty="0"/>
              <a:t>BID</a:t>
            </a:r>
            <a:r>
              <a:rPr lang="zh-CN" altLang="en-US" sz="1400" b="1" dirty="0"/>
              <a:t>码，即直接用二进制表示）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4201533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201A0-2E24-4978-B0D4-E5FBC229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431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97704"/>
            <a:ext cx="8229600" cy="2054334"/>
          </a:xfrm>
        </p:spPr>
        <p:txBody>
          <a:bodyPr rtlCol="0">
            <a:norm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、汇编语言中的数据类型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汇编语言中的操作数究竟是定点数还是浮点数（单精度浮点数、双精度浮点数）、是有符号数还是无符号数，完全取决于</a:t>
            </a:r>
            <a:r>
              <a:rPr lang="zh-CN" altLang="en-US" sz="1600" b="1" dirty="0">
                <a:solidFill>
                  <a:srgbClr val="C00000"/>
                </a:solidFill>
              </a:rPr>
              <a:t>指令操作符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表</a:t>
            </a:r>
            <a:r>
              <a:rPr lang="en-US" altLang="zh-CN" sz="1600" b="1" dirty="0"/>
              <a:t>2.11</a:t>
            </a:r>
            <a:r>
              <a:rPr lang="zh-CN" altLang="en-US" sz="1600" b="1" dirty="0"/>
              <a:t>（见教材）：汇编语言中不同指令集的数据运算类型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5D36616-14E9-4EF8-B3C5-03E516F8428B}"/>
              </a:ext>
            </a:extLst>
          </p:cNvPr>
          <p:cNvGrpSpPr/>
          <p:nvPr/>
        </p:nvGrpSpPr>
        <p:grpSpPr>
          <a:xfrm>
            <a:off x="899592" y="2924944"/>
            <a:ext cx="7524328" cy="3516578"/>
            <a:chOff x="899592" y="3020247"/>
            <a:chExt cx="7524328" cy="336782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FFFCAFE-1C05-46F4-9C8C-5AD1B6506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8" y="3371999"/>
              <a:ext cx="7380312" cy="224166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7482B0F-4815-4819-83DE-7CDBA1F526FC}"/>
                </a:ext>
              </a:extLst>
            </p:cNvPr>
            <p:cNvSpPr txBox="1"/>
            <p:nvPr/>
          </p:nvSpPr>
          <p:spPr>
            <a:xfrm>
              <a:off x="899592" y="5803296"/>
              <a:ext cx="752432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注：U：无符号数         I：有符号数         F：浮点数        S：单精度浮点数    </a:t>
              </a:r>
              <a:endParaRPr lang="en-US" altLang="zh-CN" sz="1600" b="1" dirty="0">
                <a:solidFill>
                  <a:srgbClr val="C00000"/>
                </a:solidFill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</a:rPr>
                <a:t>          D：双精度浮点数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DAA297B-C102-45C0-8F9B-AEAE52835F7E}"/>
                </a:ext>
              </a:extLst>
            </p:cNvPr>
            <p:cNvSpPr txBox="1"/>
            <p:nvPr/>
          </p:nvSpPr>
          <p:spPr>
            <a:xfrm>
              <a:off x="1979712" y="3020247"/>
              <a:ext cx="5652628" cy="3242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表</a:t>
              </a:r>
              <a:r>
                <a:rPr lang="en-US" altLang="zh-CN" sz="1600" b="1" dirty="0"/>
                <a:t>2.11    </a:t>
              </a:r>
              <a:r>
                <a:rPr lang="zh-CN" altLang="en-US" sz="1600" b="1" dirty="0"/>
                <a:t>汇编语言中不同指令集的数据运算类型（见教材）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1890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6371C-350F-4C43-96EB-7815C443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5688632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b="1" dirty="0"/>
              <a:t>2</a:t>
            </a:r>
            <a:r>
              <a:rPr lang="zh-CN" altLang="en-US" b="1" dirty="0"/>
              <a:t>、高级语言中的数据类型</a:t>
            </a:r>
            <a:endParaRPr lang="en-US" altLang="zh-CN" sz="20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b="1" dirty="0"/>
              <a:t>C</a:t>
            </a:r>
            <a:r>
              <a:rPr lang="zh-CN" altLang="en-US" b="1" dirty="0"/>
              <a:t>语言的数据类型：</a:t>
            </a:r>
            <a:endParaRPr lang="en-US" altLang="zh-CN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/>
              <a:t>整数：</a:t>
            </a:r>
            <a:r>
              <a:rPr lang="en-US" altLang="zh-CN" sz="1800" b="1" dirty="0"/>
              <a:t> char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位）、</a:t>
            </a:r>
            <a:r>
              <a:rPr lang="en-US" altLang="zh-CN" sz="1800" b="1" dirty="0"/>
              <a:t>short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位）、</a:t>
            </a:r>
            <a:r>
              <a:rPr lang="en-US" altLang="zh-CN" sz="1800" b="1" dirty="0"/>
              <a:t>int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位）、</a:t>
            </a:r>
            <a:r>
              <a:rPr lang="en-US" altLang="zh-CN" sz="1800" b="1" dirty="0"/>
              <a:t>long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/>
              <a:t>浮点数：</a:t>
            </a:r>
            <a:r>
              <a:rPr lang="en-US" altLang="zh-CN" sz="1800" b="1" dirty="0"/>
              <a:t>float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位）、</a:t>
            </a:r>
            <a:r>
              <a:rPr lang="en-US" altLang="zh-CN" sz="1800" b="1" dirty="0"/>
              <a:t>double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800" b="1" dirty="0"/>
              <a:t>默认为有符号数，在整数前加“</a:t>
            </a:r>
            <a:r>
              <a:rPr lang="en-US" altLang="zh-CN" sz="1800" b="1" dirty="0"/>
              <a:t>unsigned</a:t>
            </a:r>
            <a:r>
              <a:rPr lang="zh-CN" altLang="en-US" sz="1800" b="1" dirty="0"/>
              <a:t>”表示无符号数</a:t>
            </a:r>
            <a:endParaRPr lang="en-US" altLang="zh-CN" sz="18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C</a:t>
            </a:r>
            <a:r>
              <a:rPr lang="zh-CN" altLang="en-US" b="1" dirty="0"/>
              <a:t>语言整型数据表示范围</a:t>
            </a:r>
            <a:endParaRPr lang="en-US" altLang="zh-CN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位无符号数表示范围：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～</a:t>
            </a:r>
            <a:r>
              <a:rPr lang="en-US" altLang="zh-CN" sz="1800" b="1" dirty="0">
                <a:solidFill>
                  <a:srgbClr val="C00000"/>
                </a:solidFill>
              </a:rPr>
              <a:t>15</a:t>
            </a:r>
            <a:r>
              <a:rPr lang="zh-CN" altLang="en-US" sz="1800" b="1" dirty="0"/>
              <a:t>；如果两个无符号数相加大于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7+9=16</a:t>
            </a:r>
            <a:r>
              <a:rPr lang="zh-CN" altLang="en-US" sz="1800" b="1" dirty="0"/>
              <a:t>），或者两个无符号数相减小于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7-9=-2</a:t>
            </a:r>
            <a:r>
              <a:rPr lang="zh-CN" altLang="en-US" sz="1800" b="1" dirty="0"/>
              <a:t>），则会产生</a:t>
            </a:r>
            <a:r>
              <a:rPr lang="zh-CN" altLang="en-US" sz="1800" b="1" dirty="0">
                <a:solidFill>
                  <a:srgbClr val="C00000"/>
                </a:solidFill>
              </a:rPr>
              <a:t>无符号溢出</a:t>
            </a:r>
            <a:r>
              <a:rPr lang="zh-CN" altLang="en-US" sz="1800" b="1" dirty="0"/>
              <a:t>。见教材图</a:t>
            </a:r>
            <a:r>
              <a:rPr lang="en-US" altLang="zh-CN" sz="1800" b="1" dirty="0"/>
              <a:t>2.12(a)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位有符号数（补码）表示范围：</a:t>
            </a:r>
            <a:r>
              <a:rPr lang="en-US" altLang="zh-CN" sz="1800" b="1" dirty="0">
                <a:solidFill>
                  <a:srgbClr val="C00000"/>
                </a:solidFill>
              </a:rPr>
              <a:t>-8</a:t>
            </a:r>
            <a:r>
              <a:rPr lang="zh-CN" altLang="en-US" sz="1800" b="1" dirty="0">
                <a:solidFill>
                  <a:srgbClr val="C00000"/>
                </a:solidFill>
              </a:rPr>
              <a:t>～</a:t>
            </a:r>
            <a:r>
              <a:rPr lang="en-US" altLang="zh-CN" sz="1800" b="1" dirty="0">
                <a:solidFill>
                  <a:srgbClr val="C00000"/>
                </a:solidFill>
              </a:rPr>
              <a:t>+7</a:t>
            </a:r>
            <a:r>
              <a:rPr lang="zh-CN" altLang="en-US" sz="1800" b="1" dirty="0"/>
              <a:t>；如果两个有符号数相加（或相减）大于</a:t>
            </a:r>
            <a:r>
              <a:rPr lang="en-US" altLang="zh-CN" sz="1800" b="1" dirty="0"/>
              <a:t>+7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3+5=8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3-(-5)=8</a:t>
            </a:r>
            <a:r>
              <a:rPr lang="zh-CN" altLang="en-US" sz="1800" b="1" dirty="0"/>
              <a:t>），则会产生</a:t>
            </a:r>
            <a:r>
              <a:rPr lang="zh-CN" altLang="en-US" sz="1800" b="1" dirty="0">
                <a:solidFill>
                  <a:srgbClr val="C00000"/>
                </a:solidFill>
              </a:rPr>
              <a:t>正上溢</a:t>
            </a:r>
            <a:r>
              <a:rPr lang="zh-CN" altLang="en-US" sz="1800" b="1" dirty="0"/>
              <a:t>；如果两个有符号数相加（或相减）小于</a:t>
            </a:r>
            <a:r>
              <a:rPr lang="en-US" altLang="zh-CN" sz="1800" b="1" dirty="0"/>
              <a:t>-8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-5+(-6)=-11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-5-6=-11</a:t>
            </a:r>
            <a:r>
              <a:rPr lang="zh-CN" altLang="en-US" sz="1800" b="1" dirty="0"/>
              <a:t>），则会产生</a:t>
            </a:r>
            <a:r>
              <a:rPr lang="zh-CN" altLang="en-US" sz="1800" b="1" dirty="0">
                <a:solidFill>
                  <a:srgbClr val="C00000"/>
                </a:solidFill>
              </a:rPr>
              <a:t>负上溢</a:t>
            </a:r>
            <a:r>
              <a:rPr lang="zh-CN" altLang="en-US" sz="1800" b="1" dirty="0"/>
              <a:t>。见教材图</a:t>
            </a:r>
            <a:r>
              <a:rPr lang="en-US" altLang="zh-CN" sz="1800" b="1" dirty="0"/>
              <a:t>2.12(b)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19014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5C8D4-AE68-4D04-AE8F-38D1608B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040" y="1334160"/>
            <a:ext cx="8229600" cy="648072"/>
          </a:xfrm>
        </p:spPr>
        <p:txBody>
          <a:bodyPr rtlCol="0">
            <a:norm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整型变量的取值范围（有符号数采用</a:t>
            </a:r>
            <a:r>
              <a:rPr lang="zh-CN" altLang="en-US" b="1" dirty="0">
                <a:solidFill>
                  <a:srgbClr val="C00000"/>
                </a:solidFill>
              </a:rPr>
              <a:t>补码</a:t>
            </a:r>
            <a:r>
              <a:rPr lang="zh-CN" altLang="en-US" b="1" dirty="0"/>
              <a:t>表示）：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5D7EBA-794E-4681-AF30-E0B617427F1F}"/>
              </a:ext>
            </a:extLst>
          </p:cNvPr>
          <p:cNvGrpSpPr/>
          <p:nvPr/>
        </p:nvGrpSpPr>
        <p:grpSpPr>
          <a:xfrm>
            <a:off x="621784" y="1949279"/>
            <a:ext cx="7941856" cy="3321660"/>
            <a:chOff x="744944" y="2989545"/>
            <a:chExt cx="7941856" cy="332166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787717D-CEF1-49A9-A3E9-4E397199D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4944" y="3358877"/>
              <a:ext cx="7941856" cy="2952328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EC33E5-0DF6-4E5D-8E67-791FAE70908F}"/>
                </a:ext>
              </a:extLst>
            </p:cNvPr>
            <p:cNvSpPr txBox="1"/>
            <p:nvPr/>
          </p:nvSpPr>
          <p:spPr>
            <a:xfrm>
              <a:off x="2678936" y="2989545"/>
              <a:ext cx="43356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表</a:t>
              </a:r>
              <a:r>
                <a:rPr lang="en-US" altLang="zh-CN" b="1" dirty="0"/>
                <a:t>2.12    </a:t>
              </a:r>
              <a:r>
                <a:rPr lang="zh-CN" altLang="en-US" b="1" dirty="0"/>
                <a:t>整型变量的取值范围（见教材）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66230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E2C5EF55-3CD0-4EFE-A588-8AFCF001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43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52736"/>
            <a:ext cx="3816424" cy="5346044"/>
          </a:xfrm>
        </p:spPr>
        <p:txBody>
          <a:bodyPr rtlCol="0">
            <a:noAutofit/>
          </a:bodyPr>
          <a:lstStyle/>
          <a:p>
            <a:pPr marL="457200" lvl="1" indent="-368300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语言数据表示实例</a:t>
            </a:r>
            <a:endParaRPr lang="en-US" altLang="zh-CN" sz="2400" b="1" dirty="0"/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/>
              <a:t>输出7个变量的机器码和真值：</a:t>
            </a:r>
            <a:endParaRPr lang="en-US" altLang="zh-CN" sz="20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32位整数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无符号整数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浮点数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16位短整数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无符号短整数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8位字符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无符号字符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sz="20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sz="2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7DE509-B98B-45D1-B6BD-62444D0AC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196752"/>
            <a:ext cx="4461969" cy="53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56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1C33585-250F-4DEC-A31F-B19539025B3F}"/>
              </a:ext>
            </a:extLst>
          </p:cNvPr>
          <p:cNvSpPr txBox="1"/>
          <p:nvPr/>
        </p:nvSpPr>
        <p:spPr>
          <a:xfrm>
            <a:off x="5192987" y="2442676"/>
            <a:ext cx="348835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C77FFFFF=</a:t>
            </a:r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r>
              <a:rPr lang="en-US" altLang="zh-CN" sz="1200" b="1" dirty="0"/>
              <a:t>100 0111 0111 1111 1111 1111 1111 1111</a:t>
            </a:r>
            <a:r>
              <a:rPr lang="zh-CN" altLang="en-US" sz="1200" b="1" dirty="0"/>
              <a:t>（补码）对应的十进制数：</a:t>
            </a:r>
            <a:r>
              <a:rPr lang="en-US" altLang="zh-CN" sz="1200" b="1" dirty="0"/>
              <a:t>1 0000 0000H-C77F FFFFH = -947912705</a:t>
            </a:r>
            <a:endParaRPr lang="zh-CN" altLang="en-US" sz="12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86EB55-75D1-438C-95AC-1C171C209DFC}"/>
              </a:ext>
            </a:extLst>
          </p:cNvPr>
          <p:cNvSpPr txBox="1"/>
          <p:nvPr/>
        </p:nvSpPr>
        <p:spPr>
          <a:xfrm>
            <a:off x="5203042" y="3228621"/>
            <a:ext cx="348835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C77FFFFF=1100 0111 0111 1111 1111 1111 1111 1111</a:t>
            </a:r>
            <a:r>
              <a:rPr lang="zh-CN" altLang="en-US" sz="1200" b="1" dirty="0"/>
              <a:t>（无符号数）对应的十进制数：</a:t>
            </a:r>
            <a:r>
              <a:rPr lang="en-US" altLang="zh-CN" sz="1200" b="1" dirty="0"/>
              <a:t>C77F FFFFH = 3347054591</a:t>
            </a:r>
            <a:endParaRPr lang="zh-CN" altLang="en-US" sz="1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1DCB9E-8EE5-4D45-8E97-608B3D2D18C3}"/>
              </a:ext>
            </a:extLst>
          </p:cNvPr>
          <p:cNvSpPr txBox="1"/>
          <p:nvPr/>
        </p:nvSpPr>
        <p:spPr>
          <a:xfrm>
            <a:off x="5224527" y="4077072"/>
            <a:ext cx="3488350" cy="212365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C77FFFFF=</a:t>
            </a:r>
            <a:r>
              <a:rPr lang="en-US" altLang="zh-CN" sz="1200" b="1" dirty="0">
                <a:solidFill>
                  <a:srgbClr val="FF0000"/>
                </a:solidFill>
              </a:rPr>
              <a:t>1 </a:t>
            </a:r>
            <a:r>
              <a:rPr lang="en-US" altLang="zh-CN" sz="1200" b="1" dirty="0">
                <a:solidFill>
                  <a:srgbClr val="00B050"/>
                </a:solidFill>
              </a:rPr>
              <a:t>100 0111 0</a:t>
            </a:r>
            <a:r>
              <a:rPr lang="en-US" altLang="zh-CN" sz="1200" b="1" dirty="0"/>
              <a:t>111 1111 1111 1111 1111 1111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IEEE754</a:t>
            </a:r>
            <a:r>
              <a:rPr lang="zh-CN" altLang="en-US" sz="1200" b="1" dirty="0"/>
              <a:t>浮点数）对应的十进制数：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/>
              <a:t>E=</a:t>
            </a:r>
            <a:r>
              <a:rPr lang="en-US" altLang="zh-CN" sz="1200" b="1" dirty="0">
                <a:solidFill>
                  <a:srgbClr val="00B050"/>
                </a:solidFill>
              </a:rPr>
              <a:t>10001110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M=111 1111 1111 1111 1111 1111</a:t>
            </a:r>
          </a:p>
          <a:p>
            <a:endParaRPr lang="en-US" altLang="zh-CN" sz="1200" b="1" dirty="0"/>
          </a:p>
          <a:p>
            <a:r>
              <a:rPr lang="zh-CN" altLang="en-US" sz="1200" b="1" dirty="0"/>
              <a:t>阶码</a:t>
            </a:r>
            <a:r>
              <a:rPr lang="en-US" altLang="zh-CN" sz="1200" b="1" dirty="0"/>
              <a:t>=e=E-127=</a:t>
            </a:r>
            <a:r>
              <a:rPr lang="en-US" altLang="zh-CN" sz="1200" b="1" dirty="0">
                <a:solidFill>
                  <a:srgbClr val="00B050"/>
                </a:solidFill>
              </a:rPr>
              <a:t>10001110</a:t>
            </a:r>
            <a:r>
              <a:rPr lang="en-US" altLang="zh-CN" sz="1200" b="1" dirty="0"/>
              <a:t>-127=15</a:t>
            </a:r>
            <a:r>
              <a:rPr lang="zh-CN" altLang="en-US" sz="1200" b="1" dirty="0"/>
              <a:t>，尾数</a:t>
            </a:r>
            <a:r>
              <a:rPr lang="en-US" altLang="zh-CN" sz="1200" b="1" dirty="0"/>
              <a:t>=1.M=1.111 1111 1111 1111 1111 1111</a:t>
            </a:r>
          </a:p>
          <a:p>
            <a:endParaRPr lang="en-US" altLang="zh-CN" sz="1200" b="1" dirty="0"/>
          </a:p>
          <a:p>
            <a:r>
              <a:rPr lang="zh-CN" altLang="en-US" sz="1200" b="1" dirty="0"/>
              <a:t>对应的十进制数 </a:t>
            </a:r>
            <a:r>
              <a:rPr lang="en-US" altLang="zh-CN" sz="1200" b="1" dirty="0"/>
              <a:t>= -2</a:t>
            </a:r>
            <a:r>
              <a:rPr lang="en-US" altLang="zh-CN" sz="1200" b="1" baseline="30000" dirty="0"/>
              <a:t>15</a:t>
            </a:r>
            <a:r>
              <a:rPr lang="en-US" altLang="zh-CN" sz="1200" b="1" dirty="0"/>
              <a:t>x</a:t>
            </a:r>
            <a:r>
              <a:rPr lang="en-US" altLang="zh-CN" sz="1200" b="1" dirty="0">
                <a:solidFill>
                  <a:srgbClr val="FF0000"/>
                </a:solidFill>
              </a:rPr>
              <a:t>1.111 1111 1111 1111 1111 </a:t>
            </a:r>
            <a:r>
              <a:rPr lang="en-US" altLang="zh-CN" sz="1200" b="1" dirty="0"/>
              <a:t>= -2</a:t>
            </a:r>
            <a:r>
              <a:rPr lang="en-US" altLang="zh-CN" sz="1200" b="1" baseline="30000" dirty="0"/>
              <a:t>15</a:t>
            </a:r>
            <a:r>
              <a:rPr lang="en-US" altLang="zh-CN" sz="1200" b="1" dirty="0"/>
              <a:t>x(</a:t>
            </a:r>
            <a:r>
              <a:rPr lang="en-US" altLang="zh-CN" sz="1200" b="1" dirty="0">
                <a:solidFill>
                  <a:srgbClr val="FF0000"/>
                </a:solidFill>
              </a:rPr>
              <a:t>2-2</a:t>
            </a:r>
            <a:r>
              <a:rPr lang="en-US" altLang="zh-CN" sz="1200" b="1" baseline="30000" dirty="0">
                <a:solidFill>
                  <a:srgbClr val="FF0000"/>
                </a:solidFill>
              </a:rPr>
              <a:t>-23</a:t>
            </a:r>
            <a:r>
              <a:rPr lang="en-US" altLang="zh-CN" sz="1200" b="1" dirty="0"/>
              <a:t>)=-(2</a:t>
            </a:r>
            <a:r>
              <a:rPr lang="en-US" altLang="zh-CN" sz="1200" b="1" baseline="30000" dirty="0"/>
              <a:t>16</a:t>
            </a:r>
            <a:r>
              <a:rPr lang="en-US" altLang="zh-CN" sz="1200" b="1" dirty="0"/>
              <a:t>-2</a:t>
            </a:r>
            <a:r>
              <a:rPr lang="en-US" altLang="zh-CN" sz="1200" b="1" baseline="30000" dirty="0"/>
              <a:t>-8</a:t>
            </a:r>
            <a:r>
              <a:rPr lang="en-US" altLang="zh-CN" sz="1200" b="1" dirty="0"/>
              <a:t>) = -(65536-0.00390625) = -65535.99609375</a:t>
            </a:r>
            <a:endParaRPr lang="zh-CN" altLang="en-US" sz="1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59D83D-27F3-46F9-8221-CFB8A63D8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08" y="2153861"/>
            <a:ext cx="4663844" cy="4511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163DE72-2404-40AC-A154-D76989012E36}"/>
              </a:ext>
            </a:extLst>
          </p:cNvPr>
          <p:cNvSpPr txBox="1"/>
          <p:nvPr/>
        </p:nvSpPr>
        <p:spPr>
          <a:xfrm>
            <a:off x="237263" y="1430072"/>
            <a:ext cx="45507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语言数据表示实例</a:t>
            </a:r>
            <a:endParaRPr lang="en-US" altLang="zh-CN" sz="2400" b="1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8F627B08-9540-4337-B6DC-362ACC6D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37" y="18507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888402FE-B4CC-477D-9415-6E67E2F49C3B}"/>
              </a:ext>
            </a:extLst>
          </p:cNvPr>
          <p:cNvSpPr/>
          <p:nvPr/>
        </p:nvSpPr>
        <p:spPr>
          <a:xfrm rot="20012762">
            <a:off x="4705803" y="2852051"/>
            <a:ext cx="432048" cy="2480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6B669EB1-3B67-470B-AA48-A62F91215900}"/>
              </a:ext>
            </a:extLst>
          </p:cNvPr>
          <p:cNvSpPr/>
          <p:nvPr/>
        </p:nvSpPr>
        <p:spPr>
          <a:xfrm rot="20012762">
            <a:off x="4771995" y="3462441"/>
            <a:ext cx="432048" cy="2480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77FA9BB5-1799-4E03-89F0-FF7BF489A514}"/>
              </a:ext>
            </a:extLst>
          </p:cNvPr>
          <p:cNvSpPr/>
          <p:nvPr/>
        </p:nvSpPr>
        <p:spPr>
          <a:xfrm rot="1996036">
            <a:off x="4502036" y="4299087"/>
            <a:ext cx="705410" cy="27301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304D26-C0FB-4F9D-A4C7-4BA445BC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688" y="1056099"/>
            <a:ext cx="2567230" cy="130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97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F5E2E3D-D9F4-4EB5-9003-E5500D22A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55" y="2407986"/>
            <a:ext cx="6797629" cy="4026524"/>
          </a:xfrm>
          <a:prstGeom prst="rect">
            <a:avLst/>
          </a:prstGeom>
        </p:spPr>
      </p:pic>
      <p:sp>
        <p:nvSpPr>
          <p:cNvPr id="11" name="标题 10">
            <a:extLst>
              <a:ext uri="{FF2B5EF4-FFF2-40B4-BE49-F238E27FC236}">
                <a16:creationId xmlns:a16="http://schemas.microsoft.com/office/drawing/2014/main" id="{C6846182-59E1-4416-BE56-033ACBB5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69" y="47114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853" y="1069544"/>
            <a:ext cx="8517632" cy="940470"/>
          </a:xfrm>
        </p:spPr>
        <p:txBody>
          <a:bodyPr rtlCol="0">
            <a:noAutofit/>
          </a:bodyPr>
          <a:lstStyle/>
          <a:p>
            <a:pPr marL="114300" indent="0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语言运算溢出实例</a:t>
            </a:r>
            <a:endParaRPr lang="en-US" altLang="zh-CN" sz="2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种运算溢出的例子（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种短整数运算、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种无符号数运算）</a:t>
            </a:r>
            <a:endParaRPr lang="en-US" altLang="zh-CN" sz="20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514350" lvl="1" indent="0" eaLnBrk="1" fontAlgn="auto" hangingPunct="1">
              <a:spcAft>
                <a:spcPts val="0"/>
              </a:spcAft>
              <a:buNone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  <a:p>
            <a:pPr marL="971550" lvl="1" indent="-4572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24DCF0-2254-4C5C-88A7-9141DFB9E659}"/>
              </a:ext>
            </a:extLst>
          </p:cNvPr>
          <p:cNvSpPr txBox="1"/>
          <p:nvPr/>
        </p:nvSpPr>
        <p:spPr>
          <a:xfrm>
            <a:off x="2508356" y="3509257"/>
            <a:ext cx="482453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32767 + 1 = 0111 1111 1111 1111 + 1 = </a:t>
            </a:r>
            <a:r>
              <a:rPr lang="en-US" altLang="zh-CN" sz="1100" b="1" dirty="0">
                <a:solidFill>
                  <a:srgbClr val="C00000"/>
                </a:solidFill>
              </a:rPr>
              <a:t>1</a:t>
            </a:r>
            <a:r>
              <a:rPr lang="en-US" altLang="zh-CN" sz="1100" b="1" dirty="0"/>
              <a:t>000 0000 0000 0000 = -32768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7657FF-F32E-49F2-A981-2CA3354AA213}"/>
              </a:ext>
            </a:extLst>
          </p:cNvPr>
          <p:cNvSpPr txBox="1"/>
          <p:nvPr/>
        </p:nvSpPr>
        <p:spPr>
          <a:xfrm>
            <a:off x="621498" y="4694266"/>
            <a:ext cx="680475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-32768-3 = </a:t>
            </a:r>
            <a:r>
              <a:rPr lang="en-US" altLang="zh-CN" sz="1100" b="1" dirty="0">
                <a:solidFill>
                  <a:srgbClr val="0070C0"/>
                </a:solidFill>
              </a:rPr>
              <a:t>-32768</a:t>
            </a:r>
            <a:r>
              <a:rPr lang="en-US" altLang="zh-CN" sz="1100" b="1" dirty="0"/>
              <a:t> + (</a:t>
            </a:r>
            <a:r>
              <a:rPr lang="en-US" altLang="zh-CN" sz="1100" b="1" dirty="0">
                <a:solidFill>
                  <a:srgbClr val="FF0000"/>
                </a:solidFill>
              </a:rPr>
              <a:t>-</a:t>
            </a:r>
            <a:r>
              <a:rPr lang="en-US" altLang="zh-CN" sz="1100" b="1" dirty="0">
                <a:solidFill>
                  <a:srgbClr val="C00000"/>
                </a:solidFill>
              </a:rPr>
              <a:t>3</a:t>
            </a:r>
            <a:r>
              <a:rPr lang="en-US" altLang="zh-CN" sz="1100" b="1" dirty="0"/>
              <a:t>) = </a:t>
            </a:r>
            <a:r>
              <a:rPr lang="en-US" altLang="zh-CN" sz="1100" b="1" dirty="0">
                <a:solidFill>
                  <a:srgbClr val="0070C0"/>
                </a:solidFill>
              </a:rPr>
              <a:t>1000 0000 0000 0000</a:t>
            </a:r>
            <a:r>
              <a:rPr lang="en-US" altLang="zh-CN" sz="1100" b="1" dirty="0"/>
              <a:t> + </a:t>
            </a:r>
            <a:r>
              <a:rPr lang="en-US" altLang="zh-CN" sz="1100" b="1" dirty="0">
                <a:solidFill>
                  <a:srgbClr val="C00000"/>
                </a:solidFill>
              </a:rPr>
              <a:t>1111 1111 1111 1101 </a:t>
            </a:r>
            <a:r>
              <a:rPr lang="en-US" altLang="zh-CN" sz="1100" b="1" dirty="0"/>
              <a:t>= 0111 1111 1111 1101 = 32765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0A46E3-1703-478E-8347-3E3B54763769}"/>
              </a:ext>
            </a:extLst>
          </p:cNvPr>
          <p:cNvSpPr txBox="1"/>
          <p:nvPr/>
        </p:nvSpPr>
        <p:spPr>
          <a:xfrm>
            <a:off x="2957323" y="5367102"/>
            <a:ext cx="4176464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128 + 255 = 1000 0000 + 1111 1111 = 0111 1111 = 127</a:t>
            </a:r>
            <a:r>
              <a:rPr lang="zh-CN" altLang="en-US" sz="1100" b="1" dirty="0"/>
              <a:t>（无符号数）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3B1182-2652-46BC-9933-AD3063971F89}"/>
              </a:ext>
            </a:extLst>
          </p:cNvPr>
          <p:cNvSpPr txBox="1"/>
          <p:nvPr/>
        </p:nvSpPr>
        <p:spPr>
          <a:xfrm>
            <a:off x="719572" y="6079796"/>
            <a:ext cx="7704856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128 - 255 = 1000 0000 </a:t>
            </a:r>
            <a:r>
              <a:rPr lang="en-US" altLang="zh-CN" sz="1100" b="1" dirty="0">
                <a:solidFill>
                  <a:srgbClr val="FF0000"/>
                </a:solidFill>
              </a:rPr>
              <a:t>- </a:t>
            </a:r>
            <a:r>
              <a:rPr lang="en-US" altLang="zh-CN" sz="1100" b="1" dirty="0">
                <a:solidFill>
                  <a:srgbClr val="C00000"/>
                </a:solidFill>
              </a:rPr>
              <a:t>1111 1111 </a:t>
            </a:r>
            <a:r>
              <a:rPr lang="en-US" altLang="zh-CN" sz="1100" b="1" dirty="0"/>
              <a:t>= 1000 0000 </a:t>
            </a:r>
            <a:r>
              <a:rPr lang="en-US" altLang="zh-CN" sz="1100" b="1" dirty="0">
                <a:solidFill>
                  <a:srgbClr val="C00000"/>
                </a:solidFill>
              </a:rPr>
              <a:t>+ (1111 1111 </a:t>
            </a:r>
            <a:r>
              <a:rPr lang="zh-CN" altLang="en-US" sz="1100" b="1" dirty="0">
                <a:solidFill>
                  <a:srgbClr val="C00000"/>
                </a:solidFill>
              </a:rPr>
              <a:t>取反加</a:t>
            </a:r>
            <a:r>
              <a:rPr lang="en-US" altLang="zh-CN" sz="1100" b="1" dirty="0">
                <a:solidFill>
                  <a:srgbClr val="C00000"/>
                </a:solidFill>
              </a:rPr>
              <a:t>1) </a:t>
            </a:r>
            <a:r>
              <a:rPr lang="en-US" altLang="zh-CN" sz="1100" b="1" dirty="0"/>
              <a:t>= 1000 0000 + 0000 0001 = 1000 0001 = 129</a:t>
            </a:r>
            <a:r>
              <a:rPr lang="zh-CN" altLang="en-US" sz="1100" b="1" dirty="0"/>
              <a:t>（无符号数）</a:t>
            </a: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C3B8DC20-588D-405C-BB8A-45730A984AF1}"/>
              </a:ext>
            </a:extLst>
          </p:cNvPr>
          <p:cNvSpPr/>
          <p:nvPr/>
        </p:nvSpPr>
        <p:spPr>
          <a:xfrm>
            <a:off x="6968728" y="2479274"/>
            <a:ext cx="1937350" cy="830997"/>
          </a:xfrm>
          <a:prstGeom prst="wedgeRoundRectCallout">
            <a:avLst>
              <a:gd name="adj1" fmla="val -47180"/>
              <a:gd name="adj2" fmla="val 12108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不能采用短整数（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>
                <a:solidFill>
                  <a:srgbClr val="C00000"/>
                </a:solidFill>
              </a:rPr>
              <a:t>位），而应该采用整数（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位）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0CA26DAE-E023-4D87-AFCB-1B3AA5FD3B39}"/>
              </a:ext>
            </a:extLst>
          </p:cNvPr>
          <p:cNvSpPr/>
          <p:nvPr/>
        </p:nvSpPr>
        <p:spPr>
          <a:xfrm>
            <a:off x="7419127" y="3959639"/>
            <a:ext cx="1617369" cy="1145990"/>
          </a:xfrm>
          <a:prstGeom prst="wedgeRoundRectCallout">
            <a:avLst>
              <a:gd name="adj1" fmla="val -73678"/>
              <a:gd name="adj2" fmla="val 637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b="1">
                <a:solidFill>
                  <a:srgbClr val="C00000"/>
                </a:solidFill>
              </a:rPr>
              <a:t>不能采用无符号字符（</a:t>
            </a:r>
            <a:r>
              <a:rPr lang="en-US" altLang="zh-CN" sz="1400" b="1">
                <a:solidFill>
                  <a:srgbClr val="C00000"/>
                </a:solidFill>
              </a:rPr>
              <a:t>8</a:t>
            </a:r>
            <a:r>
              <a:rPr lang="zh-CN" altLang="en-US" sz="1400" b="1">
                <a:solidFill>
                  <a:srgbClr val="C00000"/>
                </a:solidFill>
              </a:rPr>
              <a:t>位），而应该采用整数（</a:t>
            </a:r>
            <a:r>
              <a:rPr lang="en-US" altLang="zh-CN" sz="1400" b="1">
                <a:solidFill>
                  <a:srgbClr val="C00000"/>
                </a:solidFill>
              </a:rPr>
              <a:t>32</a:t>
            </a:r>
            <a:r>
              <a:rPr lang="zh-CN" altLang="en-US" sz="1400" b="1">
                <a:solidFill>
                  <a:srgbClr val="C00000"/>
                </a:solidFill>
              </a:rPr>
              <a:t>位）或短整数（</a:t>
            </a:r>
            <a:r>
              <a:rPr lang="en-US" altLang="zh-CN" sz="1400" b="1">
                <a:solidFill>
                  <a:srgbClr val="C00000"/>
                </a:solidFill>
              </a:rPr>
              <a:t>16</a:t>
            </a:r>
            <a:r>
              <a:rPr lang="zh-CN" altLang="en-US" sz="1400" b="1">
                <a:solidFill>
                  <a:srgbClr val="C00000"/>
                </a:solidFill>
              </a:rPr>
              <a:t>位）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8F70F8-3366-466E-9C96-441ACE66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917" y="2009082"/>
            <a:ext cx="2133785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941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369EBF1-ED87-41C8-803E-0F9A970D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12318"/>
            <a:ext cx="5570703" cy="42954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9849078-7B79-43F1-A06D-25E807E1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257" y="2917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143" y="1127187"/>
            <a:ext cx="8229600" cy="861730"/>
          </a:xfrm>
        </p:spPr>
        <p:txBody>
          <a:bodyPr rtlCol="0">
            <a:normAutofit/>
          </a:bodyPr>
          <a:lstStyle/>
          <a:p>
            <a:pPr marL="514350" lvl="1" indent="0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语言整型数据类型转换</a:t>
            </a:r>
            <a:endParaRPr lang="en-US" altLang="zh-CN" sz="2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600" b="1" dirty="0"/>
              <a:t>相同字长的整型数据转换（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位转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位）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2B8A2-4F49-4FF9-84CE-05A8F041C4E0}"/>
              </a:ext>
            </a:extLst>
          </p:cNvPr>
          <p:cNvSpPr txBox="1"/>
          <p:nvPr/>
        </p:nvSpPr>
        <p:spPr>
          <a:xfrm>
            <a:off x="4196031" y="3798425"/>
            <a:ext cx="2592288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uc1 = 255 = FF</a:t>
            </a:r>
            <a:r>
              <a:rPr lang="zh-CN" altLang="en-US" sz="1100" b="1" dirty="0"/>
              <a:t>（无符号数）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DBD0-268A-4D2D-BFC8-32FDE4FA94D0}"/>
              </a:ext>
            </a:extLst>
          </p:cNvPr>
          <p:cNvSpPr txBox="1"/>
          <p:nvPr/>
        </p:nvSpPr>
        <p:spPr>
          <a:xfrm>
            <a:off x="4152635" y="5343697"/>
            <a:ext cx="2808311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c1 = -127 = 1000 0001 = 81H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45F094-7ACF-4C4D-B813-76B8DC115526}"/>
              </a:ext>
            </a:extLst>
          </p:cNvPr>
          <p:cNvSpPr txBox="1"/>
          <p:nvPr/>
        </p:nvSpPr>
        <p:spPr>
          <a:xfrm>
            <a:off x="4174659" y="4288154"/>
            <a:ext cx="2592287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c = uc1 = FF = 1111 1111 = -1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546BFF-D5BD-4FCB-B535-29235821C109}"/>
              </a:ext>
            </a:extLst>
          </p:cNvPr>
          <p:cNvSpPr txBox="1"/>
          <p:nvPr/>
        </p:nvSpPr>
        <p:spPr>
          <a:xfrm>
            <a:off x="4164219" y="5844572"/>
            <a:ext cx="3000069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uc</a:t>
            </a:r>
            <a:r>
              <a:rPr lang="en-US" altLang="zh-CN" sz="1100" b="1" dirty="0"/>
              <a:t> = -127 = 1000 0001 = 81H = 129</a:t>
            </a:r>
            <a:r>
              <a:rPr lang="zh-CN" altLang="en-US" sz="1100" b="1" dirty="0"/>
              <a:t>（无符号数）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9B8E7DD6-413B-4CB3-9B2B-18CC2B596DC7}"/>
              </a:ext>
            </a:extLst>
          </p:cNvPr>
          <p:cNvSpPr/>
          <p:nvPr/>
        </p:nvSpPr>
        <p:spPr>
          <a:xfrm>
            <a:off x="7068890" y="2379349"/>
            <a:ext cx="1617369" cy="1145990"/>
          </a:xfrm>
          <a:prstGeom prst="wedgeRoundRectCallout">
            <a:avLst>
              <a:gd name="adj1" fmla="val -73678"/>
              <a:gd name="adj2" fmla="val 637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>
                <a:solidFill>
                  <a:srgbClr val="C00000"/>
                </a:solidFill>
              </a:rPr>
              <a:t>FF</a:t>
            </a:r>
            <a:r>
              <a:rPr lang="zh-CN" altLang="en-US" sz="1400" b="1">
                <a:solidFill>
                  <a:srgbClr val="C00000"/>
                </a:solidFill>
              </a:rPr>
              <a:t>为无符号字符时，真值</a:t>
            </a:r>
            <a:r>
              <a:rPr lang="en-US" altLang="zh-CN" sz="1400" b="1">
                <a:solidFill>
                  <a:srgbClr val="C00000"/>
                </a:solidFill>
              </a:rPr>
              <a:t>=255</a:t>
            </a:r>
          </a:p>
          <a:p>
            <a:endParaRPr lang="en-US" altLang="zh-CN" sz="1400" b="1">
              <a:solidFill>
                <a:srgbClr val="C00000"/>
              </a:solidFill>
            </a:endParaRPr>
          </a:p>
          <a:p>
            <a:r>
              <a:rPr lang="en-US" altLang="zh-CN" sz="1400" b="1">
                <a:solidFill>
                  <a:srgbClr val="C00000"/>
                </a:solidFill>
              </a:rPr>
              <a:t>FF</a:t>
            </a:r>
            <a:r>
              <a:rPr lang="zh-CN" altLang="en-US" sz="1400" b="1">
                <a:solidFill>
                  <a:srgbClr val="C00000"/>
                </a:solidFill>
              </a:rPr>
              <a:t>为字符时，真值</a:t>
            </a:r>
            <a:r>
              <a:rPr lang="en-US" altLang="zh-CN" sz="1400" b="1">
                <a:solidFill>
                  <a:srgbClr val="C00000"/>
                </a:solidFill>
              </a:rPr>
              <a:t>=-1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A77C04F3-65B8-4F87-9C02-76FC50B72D3F}"/>
              </a:ext>
            </a:extLst>
          </p:cNvPr>
          <p:cNvSpPr/>
          <p:nvPr/>
        </p:nvSpPr>
        <p:spPr>
          <a:xfrm>
            <a:off x="7236296" y="4004747"/>
            <a:ext cx="1554561" cy="1145990"/>
          </a:xfrm>
          <a:prstGeom prst="wedgeRoundRectCallout">
            <a:avLst>
              <a:gd name="adj1" fmla="val -73678"/>
              <a:gd name="adj2" fmla="val 637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-127</a:t>
            </a:r>
            <a:r>
              <a:rPr lang="zh-CN" altLang="en-US" sz="1400" b="1" dirty="0">
                <a:solidFill>
                  <a:srgbClr val="C00000"/>
                </a:solidFill>
              </a:rPr>
              <a:t>为字符时，机器码</a:t>
            </a:r>
            <a:r>
              <a:rPr lang="en-US" altLang="zh-CN" sz="1400" b="1" dirty="0">
                <a:solidFill>
                  <a:srgbClr val="C00000"/>
                </a:solidFill>
              </a:rPr>
              <a:t>=81H</a:t>
            </a:r>
          </a:p>
          <a:p>
            <a:endParaRPr lang="en-US" altLang="zh-CN" sz="1400" b="1" dirty="0">
              <a:solidFill>
                <a:srgbClr val="C00000"/>
              </a:solidFill>
            </a:endParaRPr>
          </a:p>
          <a:p>
            <a:r>
              <a:rPr lang="en-US" altLang="zh-CN" sz="1400" b="1" dirty="0">
                <a:solidFill>
                  <a:srgbClr val="C00000"/>
                </a:solidFill>
              </a:rPr>
              <a:t>81H</a:t>
            </a:r>
            <a:r>
              <a:rPr lang="zh-CN" altLang="en-US" sz="1400" b="1" dirty="0">
                <a:solidFill>
                  <a:srgbClr val="C00000"/>
                </a:solidFill>
              </a:rPr>
              <a:t>为无符号字符时，真值</a:t>
            </a:r>
            <a:r>
              <a:rPr lang="en-US" altLang="zh-CN" sz="1400" b="1" dirty="0">
                <a:solidFill>
                  <a:srgbClr val="C00000"/>
                </a:solidFill>
              </a:rPr>
              <a:t>=129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5136DF-3227-44B0-82A0-9A33A40E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415" y="1170585"/>
            <a:ext cx="2057578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0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C6EA184-FDD7-4B90-BEEC-1C79DFB7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5" y="1617907"/>
            <a:ext cx="5974598" cy="4854361"/>
          </a:xfrm>
          <a:prstGeom prst="rect">
            <a:avLst/>
          </a:prstGeom>
        </p:spPr>
      </p:pic>
      <p:sp>
        <p:nvSpPr>
          <p:cNvPr id="13" name="标题 12">
            <a:extLst>
              <a:ext uri="{FF2B5EF4-FFF2-40B4-BE49-F238E27FC236}">
                <a16:creationId xmlns:a16="http://schemas.microsoft.com/office/drawing/2014/main" id="{831D4549-1011-4436-B116-35605E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-46856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99" y="903700"/>
            <a:ext cx="4906888" cy="750814"/>
          </a:xfrm>
        </p:spPr>
        <p:txBody>
          <a:bodyPr rtlCol="0">
            <a:normAutofit/>
          </a:bodyPr>
          <a:lstStyle/>
          <a:p>
            <a:pPr marL="514350" lvl="1" indent="-425450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4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C</a:t>
            </a:r>
            <a:r>
              <a:rPr lang="zh-CN" altLang="en-US" sz="2200" b="1" dirty="0"/>
              <a:t>语言整型数据类型转换</a:t>
            </a:r>
            <a:endParaRPr lang="en-US" altLang="zh-CN" sz="2200" b="1" dirty="0"/>
          </a:p>
          <a:p>
            <a:pPr marL="896938" lvl="3" indent="-269875" eaLnBrk="1" fontAlgn="auto" hangingPunct="1">
              <a:spcAft>
                <a:spcPts val="0"/>
              </a:spcAft>
              <a:buFont typeface="+mj-ea"/>
              <a:buAutoNum type="circleNumDbPlain" startAt="2"/>
              <a:defRPr/>
            </a:pPr>
            <a:r>
              <a:rPr lang="zh-CN" altLang="en-US" sz="1400" b="1" dirty="0"/>
              <a:t>小字长转大字长（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位转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位）</a:t>
            </a:r>
            <a:endParaRPr lang="en-US" altLang="zh-CN" sz="12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 startAt="2"/>
              <a:defRPr/>
            </a:pPr>
            <a:endParaRPr lang="en-US" altLang="zh-CN" sz="12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 startAt="2"/>
              <a:defRPr/>
            </a:pPr>
            <a:endParaRPr lang="en-US" altLang="zh-CN" sz="12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B42DDF-7A2D-45BF-89A0-7DC910CF0648}"/>
              </a:ext>
            </a:extLst>
          </p:cNvPr>
          <p:cNvSpPr txBox="1"/>
          <p:nvPr/>
        </p:nvSpPr>
        <p:spPr>
          <a:xfrm>
            <a:off x="4903345" y="3323011"/>
            <a:ext cx="2592288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uc</a:t>
            </a:r>
            <a:r>
              <a:rPr lang="en-US" altLang="zh-CN" sz="1100" b="1" dirty="0"/>
              <a:t> = 254 = FE</a:t>
            </a:r>
            <a:r>
              <a:rPr lang="zh-CN" altLang="en-US" sz="1100" b="1" dirty="0"/>
              <a:t>（无符号数）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9EF159-A527-493E-A4B7-13A1AA7DC938}"/>
              </a:ext>
            </a:extLst>
          </p:cNvPr>
          <p:cNvSpPr txBox="1"/>
          <p:nvPr/>
        </p:nvSpPr>
        <p:spPr>
          <a:xfrm>
            <a:off x="4903345" y="3846901"/>
            <a:ext cx="2592288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i</a:t>
            </a:r>
            <a:r>
              <a:rPr lang="en-US" altLang="zh-CN" sz="1100" b="1" dirty="0"/>
              <a:t> = 254 = 0000 00FE</a:t>
            </a:r>
            <a:r>
              <a:rPr lang="zh-CN" altLang="en-US" sz="1100" b="1" dirty="0"/>
              <a:t>（</a:t>
            </a:r>
            <a:r>
              <a:rPr lang="en-US" altLang="zh-CN" sz="1100" b="1" dirty="0"/>
              <a:t>32</a:t>
            </a:r>
            <a:r>
              <a:rPr lang="zh-CN" altLang="en-US" sz="1100" b="1" dirty="0"/>
              <a:t>位整数）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FBA49B-2F7E-485E-8972-5EB4AFD9E774}"/>
              </a:ext>
            </a:extLst>
          </p:cNvPr>
          <p:cNvSpPr txBox="1"/>
          <p:nvPr/>
        </p:nvSpPr>
        <p:spPr>
          <a:xfrm>
            <a:off x="4861844" y="4459922"/>
            <a:ext cx="2746648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ui</a:t>
            </a:r>
            <a:r>
              <a:rPr lang="en-US" altLang="zh-CN" sz="1100" b="1" dirty="0"/>
              <a:t> = 254 = 0000 00FE</a:t>
            </a:r>
            <a:r>
              <a:rPr lang="zh-CN" altLang="en-US" sz="1100" b="1" dirty="0"/>
              <a:t>（</a:t>
            </a:r>
            <a:r>
              <a:rPr lang="en-US" altLang="zh-CN" sz="1100" b="1" dirty="0"/>
              <a:t>32</a:t>
            </a:r>
            <a:r>
              <a:rPr lang="zh-CN" altLang="en-US" sz="1100" b="1" dirty="0"/>
              <a:t>位无符号整数）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7691FC-A412-49D9-AC8C-750D22787473}"/>
              </a:ext>
            </a:extLst>
          </p:cNvPr>
          <p:cNvSpPr txBox="1"/>
          <p:nvPr/>
        </p:nvSpPr>
        <p:spPr>
          <a:xfrm>
            <a:off x="4903345" y="5091966"/>
            <a:ext cx="2592288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c = 254 = FE = -2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09F02C-0817-43FF-B08C-B3705D6E95D6}"/>
              </a:ext>
            </a:extLst>
          </p:cNvPr>
          <p:cNvSpPr txBox="1"/>
          <p:nvPr/>
        </p:nvSpPr>
        <p:spPr>
          <a:xfrm>
            <a:off x="5318457" y="5719502"/>
            <a:ext cx="3528392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i = FE</a:t>
            </a:r>
            <a:r>
              <a:rPr lang="zh-CN" altLang="en-US" sz="1100" b="1" dirty="0"/>
              <a:t>带符号扩展到</a:t>
            </a:r>
            <a:r>
              <a:rPr lang="en-US" altLang="zh-CN" sz="1100" b="1" dirty="0"/>
              <a:t>32</a:t>
            </a:r>
            <a:r>
              <a:rPr lang="zh-CN" altLang="en-US" sz="1100" b="1" dirty="0"/>
              <a:t>位后的值</a:t>
            </a:r>
            <a:r>
              <a:rPr lang="en-US" altLang="zh-CN" sz="1100" b="1" dirty="0"/>
              <a:t> = FFFF FFFE = -2</a:t>
            </a:r>
            <a:r>
              <a:rPr lang="zh-CN" altLang="en-US" sz="1100" b="1" dirty="0"/>
              <a:t>（补码）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FA7EFF-C6FF-4190-8688-51E5D5EFD795}"/>
              </a:ext>
            </a:extLst>
          </p:cNvPr>
          <p:cNvSpPr txBox="1"/>
          <p:nvPr/>
        </p:nvSpPr>
        <p:spPr>
          <a:xfrm>
            <a:off x="4900310" y="6341463"/>
            <a:ext cx="3528392" cy="2616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100" b="1" dirty="0" err="1"/>
              <a:t>ui</a:t>
            </a:r>
            <a:r>
              <a:rPr lang="en-US" altLang="zh-CN" sz="1100" b="1" dirty="0"/>
              <a:t> = FFFF FFFE = 4294967294</a:t>
            </a:r>
            <a:r>
              <a:rPr lang="zh-CN" altLang="en-US" sz="1100" b="1" dirty="0"/>
              <a:t>（无符号数）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ACF6B2-AF2B-4A21-A70C-26ED2D85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54" y="1285585"/>
            <a:ext cx="2819644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00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5D548978-741C-48EB-AE5F-49CE60283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04863"/>
            <a:ext cx="5387807" cy="39170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ED8C8EF-C9B4-4B31-BFF4-295F44F9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60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241885"/>
            <a:ext cx="4968552" cy="824477"/>
          </a:xfrm>
        </p:spPr>
        <p:txBody>
          <a:bodyPr rtlCol="0">
            <a:normAutofit/>
          </a:bodyPr>
          <a:lstStyle/>
          <a:p>
            <a:pPr marL="914400" lvl="2" indent="-376238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语言整型数据类型转换</a:t>
            </a:r>
            <a:endParaRPr lang="en-US" altLang="zh-CN" sz="2000" b="1" dirty="0"/>
          </a:p>
          <a:p>
            <a:pPr marL="1255713" lvl="3" indent="-90488" eaLnBrk="1" fontAlgn="auto" hangingPunct="1">
              <a:spcAft>
                <a:spcPts val="0"/>
              </a:spcAft>
              <a:buFont typeface="+mj-ea"/>
              <a:buAutoNum type="circleNumDbPlain" startAt="3"/>
              <a:defRPr/>
            </a:pPr>
            <a:r>
              <a:rPr lang="zh-CN" altLang="en-US" sz="1600" b="1" dirty="0"/>
              <a:t>大字长转小字长（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位转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位）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CC7492-9445-4B82-B113-EBC93C3BCD37}"/>
              </a:ext>
            </a:extLst>
          </p:cNvPr>
          <p:cNvSpPr txBox="1"/>
          <p:nvPr/>
        </p:nvSpPr>
        <p:spPr>
          <a:xfrm>
            <a:off x="2915816" y="4163373"/>
            <a:ext cx="4176464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1" dirty="0" err="1"/>
              <a:t>i</a:t>
            </a:r>
            <a:r>
              <a:rPr lang="en-US" altLang="zh-CN" sz="1200" b="1" dirty="0"/>
              <a:t> = 0xFFFF 1001 = -61439</a:t>
            </a:r>
            <a:r>
              <a:rPr lang="zh-CN" altLang="en-US" sz="1200" b="1" dirty="0"/>
              <a:t>（补码）</a:t>
            </a:r>
            <a:r>
              <a:rPr lang="en-US" altLang="zh-CN" sz="1200" b="1" dirty="0"/>
              <a:t>=1 0000 0000H – FFFF 1001H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26978E-C183-4D7B-8F88-48B4C595FC2E}"/>
              </a:ext>
            </a:extLst>
          </p:cNvPr>
          <p:cNvSpPr txBox="1"/>
          <p:nvPr/>
        </p:nvSpPr>
        <p:spPr>
          <a:xfrm>
            <a:off x="2915816" y="4912310"/>
            <a:ext cx="2049729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 = 0x1001 = 4097</a:t>
            </a:r>
            <a:r>
              <a:rPr lang="zh-CN" altLang="en-US" sz="1200" b="1" dirty="0"/>
              <a:t>（补码）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F018F6-DDC9-46CF-BF39-6D2154DF7B5E}"/>
              </a:ext>
            </a:extLst>
          </p:cNvPr>
          <p:cNvSpPr txBox="1"/>
          <p:nvPr/>
        </p:nvSpPr>
        <p:spPr>
          <a:xfrm>
            <a:off x="2915815" y="5661247"/>
            <a:ext cx="2363039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us = 0x1001 = 4097</a:t>
            </a:r>
            <a:r>
              <a:rPr lang="zh-CN" altLang="en-US" sz="1200" b="1" dirty="0"/>
              <a:t>（无符号数）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7D2F96-DE7B-4B93-A28C-46815724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2159812"/>
            <a:ext cx="2385267" cy="6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95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6680E-E345-4501-82E8-068ECF33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17" y="1340768"/>
            <a:ext cx="8229600" cy="5400600"/>
          </a:xfrm>
        </p:spPr>
        <p:txBody>
          <a:bodyPr rtlCol="0">
            <a:normAutofit fontScale="77500" lnSpcReduction="20000"/>
          </a:bodyPr>
          <a:lstStyle/>
          <a:p>
            <a:pPr marL="425450" lvl="1" indent="-425450" eaLnBrk="1" fontAlgn="auto" hangingPunct="1">
              <a:spcAft>
                <a:spcPts val="0"/>
              </a:spcAft>
              <a:buNone/>
              <a:defRPr/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5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C</a:t>
            </a:r>
            <a:r>
              <a:rPr lang="zh-CN" altLang="en-US" sz="2200" b="1" dirty="0"/>
              <a:t>语言中的浮点数据类型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200" b="1" dirty="0"/>
              <a:t>单精度浮点数：</a:t>
            </a:r>
            <a:r>
              <a:rPr lang="en-US" altLang="zh-CN" sz="2200" b="1" dirty="0"/>
              <a:t>float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位），双精度浮点数：</a:t>
            </a:r>
            <a:r>
              <a:rPr lang="en-US" altLang="zh-CN" sz="2200" b="1" dirty="0"/>
              <a:t>double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64</a:t>
            </a:r>
            <a:r>
              <a:rPr lang="zh-CN" altLang="en-US" sz="2200" b="1" dirty="0"/>
              <a:t>位）</a:t>
            </a: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200" b="1" dirty="0"/>
              <a:t>半精度浮点数：</a:t>
            </a:r>
            <a:r>
              <a:rPr lang="en-US" altLang="zh-CN" sz="2200" b="1" dirty="0"/>
              <a:t>_Float16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位），四精度浮点数：</a:t>
            </a:r>
            <a:r>
              <a:rPr lang="en-US" altLang="zh-CN" sz="2200" b="1" dirty="0"/>
              <a:t>long double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128</a:t>
            </a:r>
            <a:r>
              <a:rPr lang="zh-CN" altLang="en-US" sz="2200" b="1" dirty="0"/>
              <a:t>位）</a:t>
            </a: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200" b="1" dirty="0"/>
              <a:t>十进制浮点数：</a:t>
            </a:r>
            <a:r>
              <a:rPr lang="en-US" altLang="zh-CN" sz="2200" b="1" dirty="0"/>
              <a:t>_Decimal32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位）、</a:t>
            </a:r>
            <a:r>
              <a:rPr lang="en-US" altLang="zh-CN" sz="2200" b="1" dirty="0"/>
              <a:t>_Decimal64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64</a:t>
            </a:r>
            <a:r>
              <a:rPr lang="zh-CN" altLang="en-US" sz="2200" b="1" dirty="0"/>
              <a:t>位）、</a:t>
            </a:r>
            <a:r>
              <a:rPr lang="en-US" altLang="zh-CN" sz="2200" b="1" dirty="0"/>
              <a:t>_Decimal128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128</a:t>
            </a:r>
            <a:r>
              <a:rPr lang="zh-CN" altLang="en-US" sz="2200" b="1" dirty="0"/>
              <a:t>位）</a:t>
            </a: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2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200" b="1" dirty="0"/>
              <a:t>int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float</a:t>
            </a:r>
            <a:r>
              <a:rPr lang="zh-CN" altLang="en-US" sz="2200" b="1" dirty="0"/>
              <a:t>、</a:t>
            </a:r>
            <a:r>
              <a:rPr lang="en-US" altLang="zh-CN" sz="2200" b="1" dirty="0"/>
              <a:t>double</a:t>
            </a:r>
            <a:r>
              <a:rPr lang="zh-CN" altLang="en-US" sz="2200" b="1" dirty="0"/>
              <a:t>之间的转换：</a:t>
            </a:r>
            <a:endParaRPr lang="en-US" altLang="zh-CN" sz="22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800" b="1" dirty="0"/>
              <a:t>float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位）转换为</a:t>
            </a:r>
            <a:r>
              <a:rPr lang="en-US" altLang="zh-CN" sz="1800" b="1" dirty="0"/>
              <a:t>double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位）：</a:t>
            </a:r>
            <a:r>
              <a:rPr lang="zh-CN" altLang="en-US" sz="1800" b="1" dirty="0">
                <a:solidFill>
                  <a:srgbClr val="C00000"/>
                </a:solidFill>
              </a:rPr>
              <a:t>没有问题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800" b="1" dirty="0"/>
              <a:t>double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位）转换为</a:t>
            </a:r>
            <a:r>
              <a:rPr lang="en-US" altLang="zh-CN" sz="1800" b="1" dirty="0"/>
              <a:t>float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800" b="1" dirty="0"/>
              <a:t>可能会发生</a:t>
            </a:r>
            <a:r>
              <a:rPr lang="zh-CN" altLang="en-US" sz="1800" b="1" dirty="0">
                <a:solidFill>
                  <a:srgbClr val="C00000"/>
                </a:solidFill>
              </a:rPr>
              <a:t>溢出（双精度数的绝对值大于单精度能表示的最大数，转换时因为指数过大而溢出）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800" b="1" dirty="0"/>
              <a:t>或者</a:t>
            </a:r>
            <a:r>
              <a:rPr lang="zh-CN" altLang="en-US" sz="1800" b="1" dirty="0">
                <a:solidFill>
                  <a:srgbClr val="C00000"/>
                </a:solidFill>
              </a:rPr>
              <a:t>精度丢失</a:t>
            </a:r>
            <a:r>
              <a:rPr lang="zh-CN" altLang="en-US" sz="1800" b="1" dirty="0"/>
              <a:t>（舍入）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800" b="1" dirty="0"/>
              <a:t>float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</a:t>
            </a:r>
            <a:r>
              <a:rPr lang="en-US" altLang="zh-CN" sz="1800" b="1" dirty="0"/>
              <a:t>/double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位）转换为</a:t>
            </a:r>
            <a:r>
              <a:rPr lang="en-US" altLang="zh-CN" sz="1800" b="1" dirty="0"/>
              <a:t>int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位）：可能会发生</a:t>
            </a:r>
            <a:r>
              <a:rPr lang="zh-CN" altLang="en-US" sz="1800" b="1" dirty="0">
                <a:solidFill>
                  <a:srgbClr val="C00000"/>
                </a:solidFill>
              </a:rPr>
              <a:t>溢出</a:t>
            </a:r>
            <a:r>
              <a:rPr lang="zh-CN" altLang="en-US" sz="1800" b="1" dirty="0"/>
              <a:t>，或者</a:t>
            </a:r>
            <a:r>
              <a:rPr lang="zh-CN" altLang="en-US" sz="1800" b="1" dirty="0">
                <a:solidFill>
                  <a:srgbClr val="C00000"/>
                </a:solidFill>
              </a:rPr>
              <a:t>精度丢失</a:t>
            </a:r>
            <a:r>
              <a:rPr lang="zh-CN" altLang="en-US" sz="1800" b="1" dirty="0"/>
              <a:t>（舍入）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800" b="1" dirty="0"/>
              <a:t>int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位）转换为</a:t>
            </a:r>
            <a:r>
              <a:rPr lang="en-US" altLang="zh-CN" sz="1800" b="1" dirty="0"/>
              <a:t>float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位）：可能会发生</a:t>
            </a:r>
            <a:r>
              <a:rPr lang="zh-CN" altLang="en-US" sz="1800" b="1" dirty="0">
                <a:solidFill>
                  <a:srgbClr val="C00000"/>
                </a:solidFill>
              </a:rPr>
              <a:t>精度溢出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int</a:t>
            </a:r>
            <a:r>
              <a:rPr lang="zh-CN" altLang="en-US" sz="1800" b="1" dirty="0"/>
              <a:t>对应的数轴是均匀的，而</a:t>
            </a:r>
            <a:r>
              <a:rPr lang="en-US" altLang="zh-CN" sz="1800" b="1" dirty="0"/>
              <a:t>float</a:t>
            </a:r>
            <a:r>
              <a:rPr lang="zh-CN" altLang="en-US" sz="1800" b="1" dirty="0"/>
              <a:t>对应的数轴是不均匀的，两个数轴不完全对应）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800" b="1" dirty="0"/>
              <a:t>int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位）转换为</a:t>
            </a:r>
            <a:r>
              <a:rPr lang="en-US" altLang="zh-CN" sz="1800" b="1" dirty="0"/>
              <a:t>double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位）：</a:t>
            </a:r>
            <a:r>
              <a:rPr lang="zh-CN" altLang="en-US" sz="1800" b="1" dirty="0">
                <a:solidFill>
                  <a:srgbClr val="C00000"/>
                </a:solidFill>
              </a:rPr>
              <a:t>没有问题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154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F7F6A-4B16-4734-88AB-487FA6AA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1279302"/>
            <a:ext cx="8229600" cy="338554"/>
          </a:xfrm>
        </p:spPr>
        <p:txBody>
          <a:bodyPr rtlCol="0">
            <a:noAutofit/>
          </a:bodyPr>
          <a:lstStyle/>
          <a:p>
            <a:pPr marL="717550" lvl="2" indent="-269875"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数据类型转换实例：</a:t>
            </a:r>
            <a:endParaRPr lang="en-US" altLang="zh-CN" sz="20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A4E45E2-5F07-49D3-ACCF-552B738A8854}"/>
              </a:ext>
            </a:extLst>
          </p:cNvPr>
          <p:cNvGrpSpPr/>
          <p:nvPr/>
        </p:nvGrpSpPr>
        <p:grpSpPr>
          <a:xfrm>
            <a:off x="899265" y="1844824"/>
            <a:ext cx="7776864" cy="4507408"/>
            <a:chOff x="1483167" y="1718876"/>
            <a:chExt cx="7488832" cy="4507408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5C10EC-23A3-4EC3-BA3B-87CE8860507D}"/>
                </a:ext>
              </a:extLst>
            </p:cNvPr>
            <p:cNvSpPr txBox="1"/>
            <p:nvPr/>
          </p:nvSpPr>
          <p:spPr>
            <a:xfrm>
              <a:off x="1483167" y="2132856"/>
              <a:ext cx="7488832" cy="4093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+mn-lt"/>
                  <a:ea typeface="宋体"/>
                  <a:cs typeface="Times New Roman"/>
                </a:rPr>
                <a:t>C</a:t>
              </a:r>
              <a:r>
                <a:rPr lang="zh-CN" altLang="en-US" b="1" dirty="0">
                  <a:latin typeface="+mn-lt"/>
                  <a:ea typeface="宋体"/>
                  <a:cs typeface="Times New Roman"/>
                </a:rPr>
                <a:t>语言表达式       </a:t>
              </a:r>
              <a:r>
                <a:rPr lang="en-US" altLang="zh-CN" b="1" dirty="0">
                  <a:latin typeface="+mn-lt"/>
                  <a:ea typeface="宋体"/>
                  <a:cs typeface="Times New Roman"/>
                </a:rPr>
                <a:t>	          </a:t>
              </a:r>
              <a:r>
                <a:rPr lang="zh-CN" altLang="en-US" b="1" dirty="0">
                  <a:latin typeface="+mn-lt"/>
                  <a:ea typeface="宋体"/>
                  <a:cs typeface="Times New Roman"/>
                </a:rPr>
                <a:t>是否恒成立               </a:t>
              </a:r>
              <a:r>
                <a:rPr lang="en-US" altLang="zh-CN" b="1" dirty="0">
                  <a:latin typeface="+mn-lt"/>
                  <a:ea typeface="宋体"/>
                  <a:cs typeface="Times New Roman"/>
                </a:rPr>
                <a:t>    </a:t>
              </a:r>
              <a:r>
                <a:rPr lang="zh-CN" altLang="en-US" b="1" dirty="0">
                  <a:latin typeface="+mn-lt"/>
                  <a:ea typeface="宋体"/>
                  <a:cs typeface="Times New Roman"/>
                </a:rPr>
                <a:t>原因</a:t>
              </a:r>
              <a:endParaRPr lang="en-US" altLang="zh-CN" b="1" dirty="0">
                <a:latin typeface="+mn-lt"/>
                <a:ea typeface="宋体"/>
                <a:cs typeface="Times New Roman"/>
              </a:endParaRPr>
            </a:p>
            <a:p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 err="1">
                  <a:latin typeface="+mn-lt"/>
                  <a:ea typeface="宋体"/>
                  <a:cs typeface="Times New Roman"/>
                </a:rPr>
                <a:t>i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==(int)(float)</a:t>
              </a:r>
              <a:r>
                <a:rPr lang="en-US" altLang="zh-CN" sz="1400" b="1" dirty="0" err="1">
                  <a:latin typeface="+mn-lt"/>
                  <a:ea typeface="宋体"/>
                  <a:cs typeface="Times New Roman"/>
                </a:rPr>
                <a:t>i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            		</a:t>
              </a:r>
              <a:r>
                <a:rPr lang="zh-CN" altLang="en-US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否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                    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int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转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float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，精度溢出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  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（</a:t>
              </a:r>
              <a:r>
                <a:rPr lang="en-US" altLang="zh-CN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float</a:t>
              </a:r>
              <a:r>
                <a:rPr lang="zh-CN" altLang="en-US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的尾数位不足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）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        </a:t>
              </a:r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 err="1">
                  <a:latin typeface="+mn-lt"/>
                  <a:ea typeface="宋体"/>
                  <a:cs typeface="Times New Roman"/>
                </a:rPr>
                <a:t>i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==(int)double(</a:t>
              </a:r>
              <a:r>
                <a:rPr lang="en-US" altLang="zh-CN" sz="1400" b="1" dirty="0" err="1">
                  <a:latin typeface="+mn-lt"/>
                  <a:ea typeface="宋体"/>
                  <a:cs typeface="Times New Roman"/>
                </a:rPr>
                <a:t>i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)           		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是                    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int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转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double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，没有问题 </a:t>
              </a:r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f==(float)(int)f            		</a:t>
              </a:r>
              <a:r>
                <a:rPr lang="zh-CN" altLang="en-US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否</a:t>
              </a:r>
              <a:r>
                <a:rPr lang="zh-CN" altLang="en-US" sz="1400" b="1" dirty="0">
                  <a:solidFill>
                    <a:srgbClr val="FF0000"/>
                  </a:solidFill>
                  <a:latin typeface="+mn-lt"/>
                  <a:ea typeface="宋体"/>
                  <a:cs typeface="Times New Roman"/>
                </a:rPr>
                <a:t> 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      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	float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转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int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，溢出或精度丢失</a:t>
              </a:r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f==(float)(double)f         		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是                    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float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转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double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，没有问题</a:t>
              </a:r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d==(float)d                 		</a:t>
              </a:r>
              <a:r>
                <a:rPr lang="zh-CN" altLang="en-US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否 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                    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double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转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float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，溢出或精度丢失     </a:t>
              </a:r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f==-(-f)                    		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是          浮点数采用原码表示，单目运算的功能只是符号取反</a:t>
              </a:r>
              <a:endParaRPr lang="zh-CN" altLang="zh-CN" sz="1400" b="1" kern="100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 </a:t>
              </a: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(</a:t>
              </a:r>
              <a:r>
                <a:rPr lang="en-US" altLang="zh-CN" sz="1400" b="1" dirty="0" err="1">
                  <a:latin typeface="+mn-lt"/>
                  <a:ea typeface="宋体"/>
                  <a:cs typeface="Times New Roman"/>
                </a:rPr>
                <a:t>d+f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)-d==f                  		</a:t>
              </a:r>
              <a:r>
                <a:rPr lang="zh-CN" altLang="en-US" sz="1400" b="1" dirty="0">
                  <a:solidFill>
                    <a:srgbClr val="C00000"/>
                  </a:solidFill>
                  <a:latin typeface="+mn-lt"/>
                  <a:ea typeface="宋体"/>
                  <a:cs typeface="Times New Roman"/>
                </a:rPr>
                <a:t>否 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         浮点数不满足结合律，如果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d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是一个大数，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f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是一个</a:t>
              </a:r>
              <a:endParaRPr lang="en-US" altLang="zh-CN" sz="1400" b="1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                                                	              </a:t>
              </a:r>
              <a:r>
                <a:rPr lang="zh-CN" altLang="en-US" sz="1400" b="1" dirty="0">
                  <a:latin typeface="+mn-lt"/>
                  <a:ea typeface="宋体"/>
                  <a:cs typeface="Times New Roman"/>
                </a:rPr>
                <a:t>小数，式子左边的结果是</a:t>
              </a:r>
              <a:r>
                <a:rPr lang="en-US" altLang="zh-CN" sz="1400" b="1" dirty="0">
                  <a:latin typeface="+mn-lt"/>
                  <a:ea typeface="宋体"/>
                  <a:cs typeface="Times New Roman"/>
                </a:rPr>
                <a:t>0</a:t>
              </a:r>
            </a:p>
            <a:p>
              <a:endParaRPr lang="en-US" altLang="zh-CN" sz="1600" b="1" kern="100" dirty="0">
                <a:latin typeface="+mn-lt"/>
                <a:ea typeface="宋体"/>
                <a:cs typeface="Times New Roman"/>
              </a:endParaRPr>
            </a:p>
            <a:p>
              <a:r>
                <a:rPr lang="en-US" altLang="zh-CN" sz="1600" b="1" kern="100" dirty="0" err="1">
                  <a:latin typeface="+mn-lt"/>
                  <a:ea typeface="宋体"/>
                  <a:cs typeface="Times New Roman"/>
                </a:rPr>
                <a:t>i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为整型量（</a:t>
              </a:r>
              <a:r>
                <a:rPr lang="en-US" altLang="zh-CN" sz="1600" b="1" kern="100" dirty="0">
                  <a:latin typeface="+mn-lt"/>
                  <a:ea typeface="宋体"/>
                  <a:cs typeface="Times New Roman"/>
                </a:rPr>
                <a:t>int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），</a:t>
              </a:r>
              <a:r>
                <a:rPr lang="en-US" altLang="zh-CN" sz="1600" b="1" kern="100" dirty="0">
                  <a:latin typeface="+mn-lt"/>
                  <a:ea typeface="宋体"/>
                  <a:cs typeface="Times New Roman"/>
                </a:rPr>
                <a:t>f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为单精度浮点数（</a:t>
              </a:r>
              <a:r>
                <a:rPr lang="en-US" altLang="zh-CN" sz="1600" b="1" kern="100" dirty="0">
                  <a:latin typeface="+mn-lt"/>
                  <a:ea typeface="宋体"/>
                  <a:cs typeface="Times New Roman"/>
                </a:rPr>
                <a:t>float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），</a:t>
              </a:r>
              <a:r>
                <a:rPr lang="en-US" altLang="zh-CN" sz="1600" b="1" kern="100" dirty="0">
                  <a:latin typeface="+mn-lt"/>
                  <a:ea typeface="宋体"/>
                  <a:cs typeface="Times New Roman"/>
                </a:rPr>
                <a:t>d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为双精度浮点数（</a:t>
              </a:r>
              <a:r>
                <a:rPr lang="en-US" altLang="zh-CN" sz="1600" b="1" kern="100" dirty="0">
                  <a:latin typeface="+mn-lt"/>
                  <a:ea typeface="宋体"/>
                  <a:cs typeface="Times New Roman"/>
                </a:rPr>
                <a:t>double</a:t>
              </a:r>
              <a:r>
                <a:rPr lang="zh-CN" altLang="en-US" sz="1600" b="1" kern="100" dirty="0">
                  <a:latin typeface="+mn-lt"/>
                  <a:ea typeface="宋体"/>
                  <a:cs typeface="Times New Roman"/>
                </a:rPr>
                <a:t>）</a:t>
              </a:r>
              <a:endParaRPr lang="zh-CN" altLang="zh-CN" sz="1600" b="1" kern="100" dirty="0">
                <a:latin typeface="+mn-lt"/>
                <a:ea typeface="宋体"/>
                <a:cs typeface="Times New Roman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F900AE-E15E-4D91-83D1-55FE4B47093A}"/>
                </a:ext>
              </a:extLst>
            </p:cNvPr>
            <p:cNvSpPr txBox="1"/>
            <p:nvPr/>
          </p:nvSpPr>
          <p:spPr>
            <a:xfrm>
              <a:off x="2213992" y="171887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表</a:t>
              </a:r>
              <a:r>
                <a:rPr lang="en-US" altLang="zh-CN" b="1" dirty="0"/>
                <a:t>2.13    </a:t>
              </a:r>
              <a:r>
                <a:rPr lang="zh-CN" altLang="en-US" b="1" dirty="0"/>
                <a:t>数据类型转换实例（见教材）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41807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1558D-9AEF-411C-A71F-84EF40441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23" y="99345"/>
            <a:ext cx="8229600" cy="850106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12" y="1052735"/>
            <a:ext cx="8568953" cy="5705919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2.9</a:t>
            </a:r>
            <a:r>
              <a:rPr lang="zh-CN" altLang="en-US" sz="1600" b="1" dirty="0"/>
              <a:t>：</a:t>
            </a:r>
            <a:r>
              <a:rPr lang="zh-CN" altLang="en-US" sz="1800" b="1" dirty="0"/>
              <a:t>已知</a:t>
            </a:r>
            <a:r>
              <a:rPr lang="en-US" altLang="zh-CN" sz="1800" b="1" dirty="0"/>
              <a:t>                                                                                            </a:t>
            </a: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计算</a:t>
            </a:r>
            <a:r>
              <a:rPr lang="en-US" altLang="zh-CN" sz="1400" b="1" dirty="0"/>
              <a:t>f(n)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语言函数</a:t>
            </a:r>
            <a:r>
              <a:rPr lang="en-US" altLang="zh-CN" sz="1400" b="1" dirty="0">
                <a:solidFill>
                  <a:srgbClr val="C00000"/>
                </a:solidFill>
              </a:rPr>
              <a:t>f1</a:t>
            </a:r>
            <a:r>
              <a:rPr lang="zh-CN" altLang="en-US" sz="1400" b="1" dirty="0"/>
              <a:t>如下：</a:t>
            </a:r>
            <a:endParaRPr lang="en-US" altLang="zh-CN" sz="1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1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将</a:t>
            </a:r>
            <a:r>
              <a:rPr lang="en-US" altLang="zh-CN" sz="1400" b="1" dirty="0"/>
              <a:t>f1</a:t>
            </a:r>
            <a:r>
              <a:rPr lang="zh-CN" altLang="en-US" sz="1400" b="1" dirty="0"/>
              <a:t>中的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型数据都改为</a:t>
            </a:r>
            <a:r>
              <a:rPr lang="en-US" altLang="zh-CN" sz="1400" b="1" dirty="0"/>
              <a:t>float</a:t>
            </a:r>
            <a:r>
              <a:rPr lang="zh-CN" altLang="en-US" sz="1400" b="1" dirty="0"/>
              <a:t>型数据，可得到计算</a:t>
            </a:r>
            <a:r>
              <a:rPr lang="en-US" altLang="zh-CN" sz="1400" b="1" dirty="0"/>
              <a:t>f(n)</a:t>
            </a:r>
            <a:r>
              <a:rPr lang="zh-CN" altLang="en-US" sz="1400" b="1" dirty="0"/>
              <a:t>的另一个函数</a:t>
            </a:r>
            <a:r>
              <a:rPr lang="en-US" altLang="zh-CN" sz="1400" b="1" dirty="0">
                <a:solidFill>
                  <a:srgbClr val="C00000"/>
                </a:solidFill>
              </a:rPr>
              <a:t>f2</a:t>
            </a:r>
            <a:r>
              <a:rPr lang="zh-CN" altLang="en-US" sz="1400" b="1" dirty="0"/>
              <a:t>。假设</a:t>
            </a:r>
            <a:r>
              <a:rPr lang="en-US" altLang="zh-CN" sz="1400" b="1" dirty="0"/>
              <a:t>unsigned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型数据都占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float</a:t>
            </a:r>
            <a:r>
              <a:rPr lang="zh-CN" altLang="en-US" sz="1400" b="1" dirty="0"/>
              <a:t>型数据采用</a:t>
            </a:r>
            <a:r>
              <a:rPr lang="en-US" altLang="zh-CN" sz="1400" b="1" dirty="0"/>
              <a:t>IEEE754</a:t>
            </a:r>
            <a:r>
              <a:rPr lang="zh-CN" altLang="en-US" sz="1400" b="1" dirty="0"/>
              <a:t>单精度标准。请回答以下问题：</a:t>
            </a:r>
            <a:endParaRPr lang="en-US" altLang="zh-CN" sz="1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）当</a:t>
            </a:r>
            <a:r>
              <a:rPr lang="en-US" altLang="zh-CN" sz="1400" b="1" dirty="0"/>
              <a:t>n=0</a:t>
            </a:r>
            <a:r>
              <a:rPr lang="zh-CN" altLang="en-US" sz="1400" b="1" dirty="0"/>
              <a:t>时，</a:t>
            </a:r>
            <a:r>
              <a:rPr lang="en-US" altLang="zh-CN" sz="1400" b="1" dirty="0"/>
              <a:t>f1</a:t>
            </a:r>
            <a:r>
              <a:rPr lang="zh-CN" altLang="en-US" sz="1400" b="1" dirty="0"/>
              <a:t>会出现死循环，为什么？若将</a:t>
            </a:r>
            <a:r>
              <a:rPr lang="en-US" altLang="zh-CN" sz="1400" b="1" dirty="0"/>
              <a:t>f1</a:t>
            </a:r>
            <a:r>
              <a:rPr lang="zh-CN" altLang="en-US" sz="1400" b="1" dirty="0"/>
              <a:t>中的变量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都定义为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型，则</a:t>
            </a:r>
            <a:r>
              <a:rPr lang="en-US" altLang="zh-CN" sz="1400" b="1" dirty="0"/>
              <a:t>f1</a:t>
            </a:r>
            <a:r>
              <a:rPr lang="zh-CN" altLang="en-US" sz="1400" b="1" dirty="0"/>
              <a:t>是否还会出现死循环？为什么？</a:t>
            </a:r>
            <a:endParaRPr lang="en-US" altLang="zh-CN" sz="1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f1(23)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f2(23)</a:t>
            </a:r>
            <a:r>
              <a:rPr lang="zh-CN" altLang="en-US" sz="1400" b="1" dirty="0"/>
              <a:t>的返回值是否相等？机器数各是什么（用十六进制表示）？</a:t>
            </a:r>
            <a:endParaRPr lang="en-US" altLang="zh-CN" sz="1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f1(24)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f2(24)</a:t>
            </a:r>
            <a:r>
              <a:rPr lang="zh-CN" altLang="en-US" sz="1400" b="1" dirty="0"/>
              <a:t>的返回值分别是</a:t>
            </a:r>
            <a:r>
              <a:rPr lang="en-US" altLang="zh-CN" sz="1400" b="1" dirty="0"/>
              <a:t>33554431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33554432.0</a:t>
            </a:r>
            <a:r>
              <a:rPr lang="zh-CN" altLang="en-US" sz="1400" b="1" dirty="0"/>
              <a:t>，为什么不相等？</a:t>
            </a:r>
            <a:endParaRPr lang="en-US" altLang="zh-CN" sz="1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f(31)=2</a:t>
            </a:r>
            <a:r>
              <a:rPr lang="en-US" altLang="zh-CN" sz="1400" b="1" baseline="30000" dirty="0"/>
              <a:t>32</a:t>
            </a:r>
            <a:r>
              <a:rPr lang="en-US" altLang="zh-CN" sz="1400" b="1" dirty="0"/>
              <a:t>-1</a:t>
            </a:r>
            <a:r>
              <a:rPr lang="zh-CN" altLang="en-US" sz="1400" b="1" dirty="0"/>
              <a:t>，而</a:t>
            </a:r>
            <a:r>
              <a:rPr lang="en-US" altLang="zh-CN" sz="1400" b="1" dirty="0"/>
              <a:t>f1(31)</a:t>
            </a:r>
            <a:r>
              <a:rPr lang="zh-CN" altLang="en-US" sz="1400" b="1" dirty="0"/>
              <a:t>的返回值却为</a:t>
            </a:r>
            <a:r>
              <a:rPr lang="en-US" altLang="zh-CN" sz="1400" b="1" dirty="0"/>
              <a:t>-1</a:t>
            </a:r>
            <a:r>
              <a:rPr lang="zh-CN" altLang="en-US" sz="1400" b="1" dirty="0"/>
              <a:t>，为什么？若要使</a:t>
            </a:r>
            <a:r>
              <a:rPr lang="en-US" altLang="zh-CN" sz="1400" b="1" dirty="0"/>
              <a:t>f1(n)</a:t>
            </a:r>
            <a:r>
              <a:rPr lang="zh-CN" altLang="en-US" sz="1400" b="1" dirty="0"/>
              <a:t>的返回值与</a:t>
            </a:r>
            <a:r>
              <a:rPr lang="en-US" altLang="zh-CN" sz="1400" b="1" dirty="0"/>
              <a:t>f(n)</a:t>
            </a:r>
            <a:r>
              <a:rPr lang="zh-CN" altLang="en-US" sz="1400" b="1" dirty="0"/>
              <a:t>相等，则最大的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是多少？</a:t>
            </a:r>
            <a:endParaRPr lang="en-US" altLang="zh-CN" sz="1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f2(127)</a:t>
            </a:r>
            <a:r>
              <a:rPr lang="zh-CN" altLang="en-US" sz="1400" b="1" dirty="0"/>
              <a:t>的机器数为</a:t>
            </a:r>
            <a:r>
              <a:rPr lang="en-US" altLang="zh-CN" sz="1400" b="1" dirty="0"/>
              <a:t>7F80 0000H</a:t>
            </a:r>
            <a:r>
              <a:rPr lang="zh-CN" altLang="en-US" sz="1400" b="1" dirty="0"/>
              <a:t>，对应的值是什么？若要使</a:t>
            </a:r>
            <a:r>
              <a:rPr lang="en-US" altLang="zh-CN" sz="1400" b="1" dirty="0"/>
              <a:t>f2(n)</a:t>
            </a:r>
            <a:r>
              <a:rPr lang="zh-CN" altLang="en-US" sz="1400" b="1" dirty="0"/>
              <a:t>的结果不溢出，则最大的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是多少？</a:t>
            </a:r>
            <a:endParaRPr lang="en-US" altLang="zh-CN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A79373-AD23-4842-AF73-E41D0564E468}"/>
                  </a:ext>
                </a:extLst>
              </p:cNvPr>
              <p:cNvSpPr txBox="1"/>
              <p:nvPr/>
            </p:nvSpPr>
            <p:spPr>
              <a:xfrm>
                <a:off x="2411760" y="1014641"/>
                <a:ext cx="520815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altLang="zh-CN" sz="16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pt-BR" altLang="zh-CN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pt-BR" altLang="zh-CN" sz="16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sz="16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altLang="zh-CN" sz="1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600" b="1" i="1" baseline="3000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nary>
                  </m:oMath>
                </a14:m>
                <a:r>
                  <a:rPr lang="en-US" altLang="zh-CN" sz="1600" b="1" dirty="0"/>
                  <a:t> = 2</a:t>
                </a:r>
                <a:r>
                  <a:rPr lang="en-US" altLang="zh-CN" sz="1600" b="1" baseline="30000" dirty="0"/>
                  <a:t>n+1</a:t>
                </a:r>
                <a:r>
                  <a:rPr lang="en-US" altLang="zh-CN" sz="1600" b="1" dirty="0"/>
                  <a:t>-1 = 11…1B (n+1</a:t>
                </a:r>
                <a:r>
                  <a:rPr lang="zh-CN" altLang="en-US" sz="1600" b="1" dirty="0"/>
                  <a:t>个</a:t>
                </a:r>
                <a:r>
                  <a:rPr lang="en-US" altLang="zh-CN" sz="1600" b="1" dirty="0"/>
                  <a:t>1)</a:t>
                </a:r>
                <a:r>
                  <a:rPr lang="zh-CN" altLang="en-US" sz="1600" b="1" dirty="0"/>
                  <a:t>，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例如：</a:t>
                </a:r>
                <a:r>
                  <a:rPr lang="en-US" altLang="zh-CN" sz="1600" b="1" dirty="0"/>
                  <a:t>n=0</a:t>
                </a:r>
                <a:r>
                  <a:rPr lang="zh-CN" altLang="en-US" sz="1600" b="1" dirty="0"/>
                  <a:t>，</a:t>
                </a:r>
                <a:r>
                  <a:rPr lang="en-US" altLang="zh-CN" sz="1600" b="1" dirty="0"/>
                  <a:t>f(0)=1</a:t>
                </a:r>
                <a:r>
                  <a:rPr lang="zh-CN" altLang="en-US" sz="1600" b="1" dirty="0"/>
                  <a:t>；</a:t>
                </a:r>
                <a:r>
                  <a:rPr lang="en-US" altLang="zh-CN" sz="1600" b="1" dirty="0"/>
                  <a:t>n=1</a:t>
                </a:r>
                <a:r>
                  <a:rPr lang="zh-CN" altLang="en-US" sz="1600" b="1" dirty="0"/>
                  <a:t>，</a:t>
                </a:r>
                <a:r>
                  <a:rPr lang="en-US" altLang="zh-CN" sz="1600" b="1" dirty="0"/>
                  <a:t>f(1)=11</a:t>
                </a:r>
                <a:r>
                  <a:rPr lang="zh-CN" altLang="en-US" sz="1600" b="1" dirty="0"/>
                  <a:t>；</a:t>
                </a:r>
                <a:r>
                  <a:rPr lang="en-US" altLang="zh-CN" sz="1600" b="1" dirty="0"/>
                  <a:t>n=7</a:t>
                </a:r>
                <a:r>
                  <a:rPr lang="zh-CN" altLang="en-US" sz="1600" b="1" dirty="0"/>
                  <a:t>，</a:t>
                </a:r>
                <a:r>
                  <a:rPr lang="en-US" altLang="zh-CN" sz="1600" b="1" dirty="0"/>
                  <a:t>f(7)=1111 1111</a:t>
                </a:r>
                <a:r>
                  <a:rPr lang="zh-CN" altLang="en-US" sz="1600" b="1" dirty="0"/>
                  <a:t>。</a:t>
                </a:r>
                <a:endParaRPr lang="en-US" altLang="zh-CN" b="1" dirty="0"/>
              </a:p>
              <a:p>
                <a:endParaRPr lang="zh-CN" altLang="en-US" sz="12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A79373-AD23-4842-AF73-E41D0564E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014641"/>
                <a:ext cx="5208157" cy="677108"/>
              </a:xfrm>
              <a:prstGeom prst="rect">
                <a:avLst/>
              </a:prstGeom>
              <a:blipFill>
                <a:blip r:embed="rId2"/>
                <a:stretch>
                  <a:fillRect l="-2459" t="-59821" r="-1522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56ED43FC-571F-46BF-8230-A4564B72E4AD}"/>
              </a:ext>
            </a:extLst>
          </p:cNvPr>
          <p:cNvGrpSpPr/>
          <p:nvPr/>
        </p:nvGrpSpPr>
        <p:grpSpPr>
          <a:xfrm>
            <a:off x="1589571" y="1916832"/>
            <a:ext cx="5625503" cy="1942523"/>
            <a:chOff x="2267744" y="620688"/>
            <a:chExt cx="5625503" cy="194252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1424CA6-77B3-454C-9FAE-F7FB58457090}"/>
                </a:ext>
              </a:extLst>
            </p:cNvPr>
            <p:cNvSpPr txBox="1"/>
            <p:nvPr/>
          </p:nvSpPr>
          <p:spPr>
            <a:xfrm>
              <a:off x="2267744" y="624219"/>
              <a:ext cx="2592288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int </a:t>
              </a:r>
              <a:r>
                <a:rPr lang="zh-CN" altLang="en-US" sz="1200" b="1" dirty="0">
                  <a:solidFill>
                    <a:srgbClr val="C00000"/>
                  </a:solidFill>
                </a:rPr>
                <a:t>f1(unsigned n)</a:t>
              </a:r>
            </a:p>
            <a:p>
              <a:r>
                <a:rPr lang="zh-CN" altLang="en-US" sz="1200" b="1" dirty="0"/>
                <a:t>{</a:t>
              </a:r>
            </a:p>
            <a:p>
              <a:r>
                <a:rPr lang="zh-CN" altLang="en-US" sz="1200" b="1" dirty="0">
                  <a:highlight>
                    <a:srgbClr val="FFFF00"/>
                  </a:highlight>
                </a:rPr>
                <a:t>    int sum=1,power=1;</a:t>
              </a:r>
            </a:p>
            <a:p>
              <a:r>
                <a:rPr lang="zh-CN" altLang="en-US" sz="1200" b="1" dirty="0"/>
                <a:t>    for(unsigned i=0; i&lt;=n-1; i++)</a:t>
              </a:r>
            </a:p>
            <a:p>
              <a:r>
                <a:rPr lang="zh-CN" altLang="en-US" sz="1200" b="1" dirty="0"/>
                <a:t>    {</a:t>
              </a:r>
            </a:p>
            <a:p>
              <a:r>
                <a:rPr lang="zh-CN" altLang="en-US" sz="1200" b="1" dirty="0"/>
                <a:t>         power *= 2;</a:t>
              </a:r>
            </a:p>
            <a:p>
              <a:r>
                <a:rPr lang="zh-CN" altLang="en-US" sz="1200" b="1" dirty="0"/>
                <a:t>         sum += power;</a:t>
              </a:r>
            </a:p>
            <a:p>
              <a:r>
                <a:rPr lang="zh-CN" altLang="en-US" sz="1200" b="1" dirty="0"/>
                <a:t>    }</a:t>
              </a:r>
            </a:p>
            <a:p>
              <a:r>
                <a:rPr lang="zh-CN" altLang="en-US" sz="1200" b="1" dirty="0"/>
                <a:t>    return sum;</a:t>
              </a:r>
            </a:p>
            <a:p>
              <a:r>
                <a:rPr lang="zh-CN" altLang="en-US" sz="1200" b="1" dirty="0"/>
                <a:t>}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EC9235A-426B-4746-A80B-D42997227508}"/>
                </a:ext>
              </a:extLst>
            </p:cNvPr>
            <p:cNvSpPr txBox="1"/>
            <p:nvPr/>
          </p:nvSpPr>
          <p:spPr>
            <a:xfrm>
              <a:off x="5300959" y="620688"/>
              <a:ext cx="2592288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</a:rPr>
                <a:t>float</a:t>
              </a:r>
              <a:r>
                <a:rPr lang="zh-CN" altLang="en-US" sz="1200" b="1" dirty="0">
                  <a:solidFill>
                    <a:srgbClr val="C00000"/>
                  </a:solidFill>
                </a:rPr>
                <a:t> f</a:t>
              </a:r>
              <a:r>
                <a:rPr lang="en-US" altLang="zh-CN" sz="1200" b="1" dirty="0">
                  <a:solidFill>
                    <a:srgbClr val="C00000"/>
                  </a:solidFill>
                </a:rPr>
                <a:t>2</a:t>
              </a:r>
              <a:r>
                <a:rPr lang="zh-CN" altLang="en-US" sz="1200" b="1" dirty="0">
                  <a:solidFill>
                    <a:srgbClr val="C00000"/>
                  </a:solidFill>
                </a:rPr>
                <a:t>(unsigned n)</a:t>
              </a:r>
            </a:p>
            <a:p>
              <a:r>
                <a:rPr lang="zh-CN" altLang="en-US" sz="1200" b="1" dirty="0"/>
                <a:t>{</a:t>
              </a:r>
            </a:p>
            <a:p>
              <a:r>
                <a:rPr lang="zh-CN" altLang="en-US" sz="1200" b="1" dirty="0"/>
                <a:t>    </a:t>
              </a:r>
              <a:r>
                <a:rPr lang="en-US" altLang="zh-CN" sz="1200" b="1" dirty="0">
                  <a:highlight>
                    <a:srgbClr val="FFFF00"/>
                  </a:highlight>
                </a:rPr>
                <a:t>float</a:t>
              </a:r>
              <a:r>
                <a:rPr lang="zh-CN" altLang="en-US" sz="1200" b="1" dirty="0">
                  <a:highlight>
                    <a:srgbClr val="FFFF00"/>
                  </a:highlight>
                </a:rPr>
                <a:t> sum=1,power=1;</a:t>
              </a:r>
            </a:p>
            <a:p>
              <a:r>
                <a:rPr lang="zh-CN" altLang="en-US" sz="1200" b="1" dirty="0"/>
                <a:t>    for(unsigned i=0; i&lt;=n-1; i++)</a:t>
              </a:r>
            </a:p>
            <a:p>
              <a:r>
                <a:rPr lang="zh-CN" altLang="en-US" sz="1200" b="1" dirty="0"/>
                <a:t>    {</a:t>
              </a:r>
            </a:p>
            <a:p>
              <a:r>
                <a:rPr lang="zh-CN" altLang="en-US" sz="1200" b="1" dirty="0"/>
                <a:t>         power *= 2;</a:t>
              </a:r>
            </a:p>
            <a:p>
              <a:r>
                <a:rPr lang="zh-CN" altLang="en-US" sz="1200" b="1" dirty="0"/>
                <a:t>         sum += power;</a:t>
              </a:r>
            </a:p>
            <a:p>
              <a:r>
                <a:rPr lang="zh-CN" altLang="en-US" sz="1200" b="1" dirty="0"/>
                <a:t>    }</a:t>
              </a:r>
            </a:p>
            <a:p>
              <a:r>
                <a:rPr lang="zh-CN" altLang="en-US" sz="1200" b="1" dirty="0"/>
                <a:t>    return sum;</a:t>
              </a:r>
            </a:p>
            <a:p>
              <a:r>
                <a:rPr lang="zh-CN" altLang="en-US" sz="1200" b="1" dirty="0"/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470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8EE0F-0EBE-476C-9F0C-D4AA0B38A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56" y="360812"/>
            <a:ext cx="8229600" cy="70609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928" y="1185047"/>
            <a:ext cx="4752528" cy="5510364"/>
          </a:xfrm>
        </p:spPr>
        <p:txBody>
          <a:bodyPr rtlCol="0">
            <a:normAutofit/>
          </a:bodyPr>
          <a:lstStyle/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002060"/>
                </a:solidFill>
              </a:rPr>
              <a:t>（</a:t>
            </a:r>
            <a:r>
              <a:rPr lang="en-US" altLang="zh-CN" sz="1800" b="1" dirty="0">
                <a:solidFill>
                  <a:srgbClr val="002060"/>
                </a:solidFill>
              </a:rPr>
              <a:t>1</a:t>
            </a:r>
            <a:r>
              <a:rPr lang="zh-CN" altLang="en-US" sz="1800" b="1" dirty="0">
                <a:solidFill>
                  <a:srgbClr val="002060"/>
                </a:solidFill>
              </a:rPr>
              <a:t>）当</a:t>
            </a:r>
            <a:r>
              <a:rPr lang="en-US" altLang="zh-CN" sz="1800" b="1" dirty="0">
                <a:solidFill>
                  <a:srgbClr val="002060"/>
                </a:solidFill>
              </a:rPr>
              <a:t>n=0</a:t>
            </a:r>
            <a:r>
              <a:rPr lang="zh-CN" altLang="en-US" sz="1800" b="1" dirty="0">
                <a:solidFill>
                  <a:srgbClr val="002060"/>
                </a:solidFill>
              </a:rPr>
              <a:t>时，</a:t>
            </a:r>
            <a:r>
              <a:rPr lang="en-US" altLang="zh-CN" sz="1800" b="1" dirty="0">
                <a:solidFill>
                  <a:srgbClr val="002060"/>
                </a:solidFill>
              </a:rPr>
              <a:t>f1</a:t>
            </a:r>
            <a:r>
              <a:rPr lang="zh-CN" altLang="en-US" sz="1800" b="1" dirty="0">
                <a:solidFill>
                  <a:srgbClr val="002060"/>
                </a:solidFill>
              </a:rPr>
              <a:t>会出现死循环，为什么？若将</a:t>
            </a:r>
            <a:r>
              <a:rPr lang="en-US" altLang="zh-CN" sz="1800" b="1" dirty="0">
                <a:solidFill>
                  <a:srgbClr val="002060"/>
                </a:solidFill>
              </a:rPr>
              <a:t>f1</a:t>
            </a:r>
            <a:r>
              <a:rPr lang="zh-CN" altLang="en-US" sz="1800" b="1" dirty="0">
                <a:solidFill>
                  <a:srgbClr val="002060"/>
                </a:solidFill>
              </a:rPr>
              <a:t>中的变量</a:t>
            </a:r>
            <a:r>
              <a:rPr lang="en-US" altLang="zh-CN" sz="1800" b="1" dirty="0" err="1">
                <a:solidFill>
                  <a:srgbClr val="002060"/>
                </a:solidFill>
              </a:rPr>
              <a:t>i</a:t>
            </a:r>
            <a:r>
              <a:rPr lang="zh-CN" altLang="en-US" sz="1800" b="1" dirty="0">
                <a:solidFill>
                  <a:srgbClr val="002060"/>
                </a:solidFill>
              </a:rPr>
              <a:t>和</a:t>
            </a:r>
            <a:r>
              <a:rPr lang="en-US" altLang="zh-CN" sz="1800" b="1" dirty="0">
                <a:solidFill>
                  <a:srgbClr val="002060"/>
                </a:solidFill>
              </a:rPr>
              <a:t>n</a:t>
            </a:r>
            <a:r>
              <a:rPr lang="zh-CN" altLang="en-US" sz="1800" b="1" dirty="0">
                <a:solidFill>
                  <a:srgbClr val="002060"/>
                </a:solidFill>
              </a:rPr>
              <a:t>都定义为</a:t>
            </a:r>
            <a:r>
              <a:rPr lang="en-US" altLang="zh-CN" sz="1800" b="1" dirty="0">
                <a:solidFill>
                  <a:srgbClr val="002060"/>
                </a:solidFill>
              </a:rPr>
              <a:t>int</a:t>
            </a:r>
            <a:r>
              <a:rPr lang="zh-CN" altLang="en-US" sz="1800" b="1" dirty="0">
                <a:solidFill>
                  <a:srgbClr val="002060"/>
                </a:solidFill>
              </a:rPr>
              <a:t>型，则</a:t>
            </a:r>
            <a:r>
              <a:rPr lang="en-US" altLang="zh-CN" sz="1800" b="1" dirty="0">
                <a:solidFill>
                  <a:srgbClr val="002060"/>
                </a:solidFill>
              </a:rPr>
              <a:t>f1</a:t>
            </a:r>
            <a:r>
              <a:rPr lang="zh-CN" altLang="en-US" sz="1800" b="1" dirty="0">
                <a:solidFill>
                  <a:srgbClr val="002060"/>
                </a:solidFill>
              </a:rPr>
              <a:t>是否还会出现死循环？为什么？</a:t>
            </a:r>
            <a:endParaRPr lang="en-US" altLang="zh-CN" sz="1800" b="1" dirty="0">
              <a:solidFill>
                <a:srgbClr val="002060"/>
              </a:solidFill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002060"/>
                </a:solidFill>
              </a:rPr>
              <a:t>答：</a:t>
            </a:r>
            <a:endParaRPr lang="en-US" altLang="zh-CN" sz="1800" b="1" dirty="0">
              <a:solidFill>
                <a:srgbClr val="00206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由于</a:t>
            </a:r>
            <a:r>
              <a:rPr lang="en-US" altLang="zh-CN" sz="1600" b="1" dirty="0" err="1">
                <a:solidFill>
                  <a:srgbClr val="002060"/>
                </a:solidFill>
              </a:rPr>
              <a:t>i</a:t>
            </a:r>
            <a:r>
              <a:rPr lang="zh-CN" altLang="en-US" sz="1600" b="1" dirty="0">
                <a:solidFill>
                  <a:srgbClr val="002060"/>
                </a:solidFill>
              </a:rPr>
              <a:t>和</a:t>
            </a:r>
            <a:r>
              <a:rPr lang="en-US" altLang="zh-CN" sz="1600" b="1" dirty="0">
                <a:solidFill>
                  <a:srgbClr val="002060"/>
                </a:solidFill>
              </a:rPr>
              <a:t>n</a:t>
            </a:r>
            <a:r>
              <a:rPr lang="zh-CN" altLang="en-US" sz="1600" b="1" dirty="0">
                <a:solidFill>
                  <a:srgbClr val="002060"/>
                </a:solidFill>
              </a:rPr>
              <a:t>都是</a:t>
            </a:r>
            <a:r>
              <a:rPr lang="en-US" altLang="zh-CN" sz="1600" b="1" dirty="0">
                <a:solidFill>
                  <a:srgbClr val="002060"/>
                </a:solidFill>
              </a:rPr>
              <a:t>unsigned</a:t>
            </a:r>
            <a:r>
              <a:rPr lang="zh-CN" altLang="en-US" sz="1600" b="1" dirty="0">
                <a:solidFill>
                  <a:srgbClr val="002060"/>
                </a:solidFill>
              </a:rPr>
              <a:t>型（</a:t>
            </a:r>
            <a:r>
              <a:rPr lang="en-US" altLang="zh-CN" sz="1600" b="1" dirty="0">
                <a:solidFill>
                  <a:srgbClr val="002060"/>
                </a:solidFill>
              </a:rPr>
              <a:t>32</a:t>
            </a:r>
            <a:r>
              <a:rPr lang="zh-CN" altLang="en-US" sz="1600" b="1" dirty="0">
                <a:solidFill>
                  <a:srgbClr val="002060"/>
                </a:solidFill>
              </a:rPr>
              <a:t>位），</a:t>
            </a:r>
            <a:r>
              <a:rPr lang="en-US" altLang="zh-CN" sz="1600" b="1" dirty="0">
                <a:solidFill>
                  <a:srgbClr val="002060"/>
                </a:solidFill>
              </a:rPr>
              <a:t>n=0</a:t>
            </a:r>
            <a:r>
              <a:rPr lang="zh-CN" altLang="en-US" sz="1600" b="1" dirty="0">
                <a:solidFill>
                  <a:srgbClr val="002060"/>
                </a:solidFill>
              </a:rPr>
              <a:t>时，</a:t>
            </a:r>
            <a:r>
              <a:rPr lang="en-US" altLang="zh-CN" sz="1600" b="1" dirty="0">
                <a:solidFill>
                  <a:srgbClr val="002060"/>
                </a:solidFill>
              </a:rPr>
              <a:t>n-1=0-1= </a:t>
            </a:r>
            <a:r>
              <a:rPr lang="en-US" altLang="zh-CN" sz="1600" b="1" dirty="0">
                <a:solidFill>
                  <a:srgbClr val="C00000"/>
                </a:solidFill>
              </a:rPr>
              <a:t>11…11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32</a:t>
            </a:r>
            <a:r>
              <a:rPr lang="zh-CN" altLang="en-US" sz="1600" b="1" dirty="0">
                <a:solidFill>
                  <a:srgbClr val="C00000"/>
                </a:solidFill>
              </a:rPr>
              <a:t>个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）</a:t>
            </a:r>
            <a:r>
              <a:rPr lang="en-US" altLang="zh-CN" sz="1600" b="1" dirty="0">
                <a:solidFill>
                  <a:srgbClr val="002060"/>
                </a:solidFill>
              </a:rPr>
              <a:t>=2</a:t>
            </a:r>
            <a:r>
              <a:rPr lang="en-US" altLang="zh-CN" sz="1600" b="1" baseline="30000" dirty="0">
                <a:solidFill>
                  <a:srgbClr val="002060"/>
                </a:solidFill>
              </a:rPr>
              <a:t>32</a:t>
            </a:r>
            <a:r>
              <a:rPr lang="en-US" altLang="zh-CN" sz="1600" b="1" dirty="0">
                <a:solidFill>
                  <a:srgbClr val="002060"/>
                </a:solidFill>
              </a:rPr>
              <a:t>-1</a:t>
            </a:r>
            <a:r>
              <a:rPr lang="zh-CN" altLang="en-US" sz="1600" b="1" dirty="0">
                <a:solidFill>
                  <a:srgbClr val="002060"/>
                </a:solidFill>
              </a:rPr>
              <a:t>，“</a:t>
            </a:r>
            <a:r>
              <a:rPr lang="en-US" altLang="zh-CN" sz="1600" b="1" dirty="0" err="1">
                <a:solidFill>
                  <a:srgbClr val="002060"/>
                </a:solidFill>
              </a:rPr>
              <a:t>i</a:t>
            </a:r>
            <a:r>
              <a:rPr lang="en-US" altLang="zh-CN" sz="1600" b="1" dirty="0">
                <a:solidFill>
                  <a:srgbClr val="002060"/>
                </a:solidFill>
              </a:rPr>
              <a:t>&lt;=n-1</a:t>
            </a:r>
            <a:r>
              <a:rPr lang="zh-CN" altLang="en-US" sz="1600" b="1" dirty="0">
                <a:solidFill>
                  <a:srgbClr val="002060"/>
                </a:solidFill>
              </a:rPr>
              <a:t>”永远成立，因此</a:t>
            </a:r>
            <a:r>
              <a:rPr lang="en-US" altLang="zh-CN" sz="1600" b="1" dirty="0">
                <a:solidFill>
                  <a:srgbClr val="002060"/>
                </a:solidFill>
              </a:rPr>
              <a:t>f1</a:t>
            </a:r>
            <a:r>
              <a:rPr lang="zh-CN" altLang="en-US" sz="1600" b="1" dirty="0">
                <a:solidFill>
                  <a:srgbClr val="002060"/>
                </a:solidFill>
              </a:rPr>
              <a:t>运行出现死循环。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如果将</a:t>
            </a:r>
            <a:r>
              <a:rPr lang="en-US" altLang="zh-CN" sz="1600" b="1" dirty="0" err="1">
                <a:solidFill>
                  <a:srgbClr val="002060"/>
                </a:solidFill>
              </a:rPr>
              <a:t>i</a:t>
            </a:r>
            <a:r>
              <a:rPr lang="zh-CN" altLang="en-US" sz="1600" b="1" dirty="0">
                <a:solidFill>
                  <a:srgbClr val="002060"/>
                </a:solidFill>
              </a:rPr>
              <a:t>和</a:t>
            </a:r>
            <a:r>
              <a:rPr lang="en-US" altLang="zh-CN" sz="1600" b="1" dirty="0">
                <a:solidFill>
                  <a:srgbClr val="002060"/>
                </a:solidFill>
              </a:rPr>
              <a:t>n</a:t>
            </a:r>
            <a:r>
              <a:rPr lang="zh-CN" altLang="en-US" sz="1600" b="1" dirty="0">
                <a:solidFill>
                  <a:srgbClr val="002060"/>
                </a:solidFill>
              </a:rPr>
              <a:t>都定义为</a:t>
            </a:r>
            <a:r>
              <a:rPr lang="en-US" altLang="zh-CN" sz="1600" b="1" dirty="0">
                <a:solidFill>
                  <a:srgbClr val="002060"/>
                </a:solidFill>
              </a:rPr>
              <a:t>int</a:t>
            </a:r>
            <a:r>
              <a:rPr lang="zh-CN" altLang="en-US" sz="1600" b="1" dirty="0">
                <a:solidFill>
                  <a:srgbClr val="002060"/>
                </a:solidFill>
              </a:rPr>
              <a:t>型，</a:t>
            </a:r>
            <a:r>
              <a:rPr lang="en-US" altLang="zh-CN" sz="1600" b="1" dirty="0">
                <a:solidFill>
                  <a:srgbClr val="002060"/>
                </a:solidFill>
              </a:rPr>
              <a:t>n=0</a:t>
            </a:r>
            <a:r>
              <a:rPr lang="zh-CN" altLang="en-US" sz="1600" b="1" dirty="0">
                <a:solidFill>
                  <a:srgbClr val="002060"/>
                </a:solidFill>
              </a:rPr>
              <a:t>时，</a:t>
            </a:r>
            <a:r>
              <a:rPr lang="en-US" altLang="zh-CN" sz="1600" b="1" dirty="0">
                <a:solidFill>
                  <a:srgbClr val="002060"/>
                </a:solidFill>
              </a:rPr>
              <a:t>n-1=0-1=-1</a:t>
            </a:r>
            <a:r>
              <a:rPr lang="zh-CN" altLang="en-US" sz="1600" b="1" dirty="0">
                <a:solidFill>
                  <a:srgbClr val="002060"/>
                </a:solidFill>
              </a:rPr>
              <a:t>，“</a:t>
            </a:r>
            <a:r>
              <a:rPr lang="en-US" altLang="zh-CN" sz="1600" b="1" dirty="0" err="1">
                <a:solidFill>
                  <a:srgbClr val="002060"/>
                </a:solidFill>
              </a:rPr>
              <a:t>i</a:t>
            </a:r>
            <a:r>
              <a:rPr lang="en-US" altLang="zh-CN" sz="1600" b="1" dirty="0">
                <a:solidFill>
                  <a:srgbClr val="002060"/>
                </a:solidFill>
              </a:rPr>
              <a:t>&lt;=n-1</a:t>
            </a:r>
            <a:r>
              <a:rPr lang="zh-CN" altLang="en-US" sz="1600" b="1" dirty="0">
                <a:solidFill>
                  <a:srgbClr val="002060"/>
                </a:solidFill>
              </a:rPr>
              <a:t>”条件不成立，直接退出循环，</a:t>
            </a:r>
            <a:r>
              <a:rPr lang="en-US" altLang="zh-CN" sz="1600" b="1" dirty="0">
                <a:solidFill>
                  <a:srgbClr val="002060"/>
                </a:solidFill>
              </a:rPr>
              <a:t>f3</a:t>
            </a:r>
            <a:r>
              <a:rPr lang="zh-CN" altLang="en-US" sz="1600" b="1" dirty="0">
                <a:solidFill>
                  <a:srgbClr val="002060"/>
                </a:solidFill>
              </a:rPr>
              <a:t>不会出现死循环。</a:t>
            </a:r>
            <a:endParaRPr lang="en-US" altLang="zh-CN" sz="16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A79373-AD23-4842-AF73-E41D0564E468}"/>
                  </a:ext>
                </a:extLst>
              </p:cNvPr>
              <p:cNvSpPr txBox="1"/>
              <p:nvPr/>
            </p:nvSpPr>
            <p:spPr>
              <a:xfrm>
                <a:off x="943593" y="6201884"/>
                <a:ext cx="327532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altLang="zh-CN" sz="1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pt-BR" altLang="zh-CN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pt-BR" altLang="zh-CN" sz="14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sz="1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altLang="zh-CN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400" b="1" i="1" baseline="30000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nary>
                  </m:oMath>
                </a14:m>
                <a:r>
                  <a:rPr lang="en-US" altLang="zh-CN" sz="1400" b="1" dirty="0"/>
                  <a:t> = 2</a:t>
                </a:r>
                <a:r>
                  <a:rPr lang="en-US" altLang="zh-CN" sz="1400" b="1" baseline="30000" dirty="0"/>
                  <a:t>n+1</a:t>
                </a:r>
                <a:r>
                  <a:rPr lang="en-US" altLang="zh-CN" sz="1400" b="1" dirty="0"/>
                  <a:t>-1 = 11…1B (n+1</a:t>
                </a:r>
                <a:r>
                  <a:rPr lang="zh-CN" altLang="en-US" sz="1400" b="1" dirty="0"/>
                  <a:t>个</a:t>
                </a:r>
                <a:r>
                  <a:rPr lang="en-US" altLang="zh-CN" sz="1400" b="1" dirty="0"/>
                  <a:t>1)</a:t>
                </a:r>
                <a:r>
                  <a:rPr lang="zh-CN" altLang="en-US" sz="1400" b="1" dirty="0"/>
                  <a:t>，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A79373-AD23-4842-AF73-E41D0564E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93" y="6201884"/>
                <a:ext cx="3275320" cy="215444"/>
              </a:xfrm>
              <a:prstGeom prst="rect">
                <a:avLst/>
              </a:prstGeom>
              <a:blipFill>
                <a:blip r:embed="rId2"/>
                <a:stretch>
                  <a:fillRect l="-2607" t="-161111" r="-2793" b="-247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2DB7BA1-D014-40DB-B57D-D6FAF0E56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12" y="1208616"/>
            <a:ext cx="2406606" cy="21402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D96E0F0-E2A4-449D-AC2C-466830CF2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73" y="3700612"/>
            <a:ext cx="2525676" cy="2170662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176B4942-8251-4ADB-98FF-24C6FDE2E6FB}"/>
              </a:ext>
            </a:extLst>
          </p:cNvPr>
          <p:cNvSpPr/>
          <p:nvPr/>
        </p:nvSpPr>
        <p:spPr>
          <a:xfrm rot="2308658">
            <a:off x="3789317" y="5370272"/>
            <a:ext cx="859192" cy="468428"/>
          </a:xfrm>
          <a:prstGeom prst="rightArrow">
            <a:avLst>
              <a:gd name="adj1" fmla="val 50000"/>
              <a:gd name="adj2" fmla="val 572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3144043-3803-466B-8D27-389E99FD0A65}"/>
              </a:ext>
            </a:extLst>
          </p:cNvPr>
          <p:cNvSpPr/>
          <p:nvPr/>
        </p:nvSpPr>
        <p:spPr>
          <a:xfrm rot="2308658">
            <a:off x="3307277" y="2744133"/>
            <a:ext cx="859192" cy="468428"/>
          </a:xfrm>
          <a:prstGeom prst="rightArrow">
            <a:avLst>
              <a:gd name="adj1" fmla="val 50000"/>
              <a:gd name="adj2" fmla="val 572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52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934AF-8831-4EDD-99E7-F9850744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66" y="1052736"/>
            <a:ext cx="8517398" cy="3960440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（</a:t>
            </a:r>
            <a:r>
              <a:rPr lang="en-US" altLang="zh-CN" sz="1600" b="1" dirty="0">
                <a:solidFill>
                  <a:srgbClr val="002060"/>
                </a:solidFill>
              </a:rPr>
              <a:t>2</a:t>
            </a:r>
            <a:r>
              <a:rPr lang="zh-CN" altLang="en-US" sz="1600" b="1" dirty="0">
                <a:solidFill>
                  <a:srgbClr val="002060"/>
                </a:solidFill>
              </a:rPr>
              <a:t>）</a:t>
            </a:r>
            <a:r>
              <a:rPr lang="en-US" altLang="zh-CN" sz="1600" b="1" dirty="0">
                <a:solidFill>
                  <a:srgbClr val="002060"/>
                </a:solidFill>
              </a:rPr>
              <a:t>f1(23)</a:t>
            </a:r>
            <a:r>
              <a:rPr lang="zh-CN" altLang="en-US" sz="1600" b="1" dirty="0">
                <a:solidFill>
                  <a:srgbClr val="002060"/>
                </a:solidFill>
              </a:rPr>
              <a:t>和</a:t>
            </a:r>
            <a:r>
              <a:rPr lang="en-US" altLang="zh-CN" sz="1600" b="1" dirty="0">
                <a:solidFill>
                  <a:srgbClr val="002060"/>
                </a:solidFill>
              </a:rPr>
              <a:t>f2(23)</a:t>
            </a:r>
            <a:r>
              <a:rPr lang="zh-CN" altLang="en-US" sz="1600" b="1" dirty="0">
                <a:solidFill>
                  <a:srgbClr val="002060"/>
                </a:solidFill>
              </a:rPr>
              <a:t>的返回值是否相等？机器数各是什么（用十六进制表示）？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答：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002060"/>
                </a:solidFill>
              </a:rPr>
              <a:t>f(23)=1111 1111 1111 1111 1111 1111B</a:t>
            </a:r>
            <a:r>
              <a:rPr lang="zh-CN" altLang="en-US" sz="1400" b="1" dirty="0">
                <a:solidFill>
                  <a:srgbClr val="002060"/>
                </a:solidFill>
              </a:rPr>
              <a:t>（</a:t>
            </a:r>
            <a:r>
              <a:rPr lang="en-US" altLang="zh-CN" sz="1400" b="1" dirty="0">
                <a:solidFill>
                  <a:srgbClr val="002060"/>
                </a:solidFill>
              </a:rPr>
              <a:t>24</a:t>
            </a:r>
            <a:r>
              <a:rPr lang="zh-CN" altLang="en-US" sz="1400" b="1" dirty="0">
                <a:solidFill>
                  <a:srgbClr val="002060"/>
                </a:solidFill>
              </a:rPr>
              <a:t>个</a:t>
            </a:r>
            <a:r>
              <a:rPr lang="en-US" altLang="zh-CN" sz="1400" b="1" dirty="0">
                <a:solidFill>
                  <a:srgbClr val="002060"/>
                </a:solidFill>
              </a:rPr>
              <a:t>1</a:t>
            </a:r>
            <a:r>
              <a:rPr lang="zh-CN" altLang="en-US" sz="1400" b="1" dirty="0">
                <a:solidFill>
                  <a:srgbClr val="002060"/>
                </a:solidFill>
              </a:rPr>
              <a:t>）</a:t>
            </a:r>
            <a:r>
              <a:rPr lang="en-US" altLang="zh-CN" sz="1400" b="1" dirty="0">
                <a:solidFill>
                  <a:srgbClr val="002060"/>
                </a:solidFill>
              </a:rPr>
              <a:t>=FF FFFFH</a:t>
            </a:r>
            <a:r>
              <a:rPr lang="zh-CN" altLang="en-US" sz="1400" b="1" dirty="0">
                <a:solidFill>
                  <a:srgbClr val="002060"/>
                </a:solidFill>
              </a:rPr>
              <a:t>，该数可用</a:t>
            </a:r>
            <a:r>
              <a:rPr lang="en-US" altLang="zh-CN" sz="1400" b="1" dirty="0">
                <a:solidFill>
                  <a:srgbClr val="002060"/>
                </a:solidFill>
              </a:rPr>
              <a:t>int</a:t>
            </a:r>
            <a:r>
              <a:rPr lang="zh-CN" altLang="en-US" sz="1400" b="1" dirty="0">
                <a:solidFill>
                  <a:srgbClr val="002060"/>
                </a:solidFill>
              </a:rPr>
              <a:t>型数据表示，所以</a:t>
            </a:r>
            <a:r>
              <a:rPr lang="en-US" altLang="zh-CN" sz="1400" b="1" dirty="0">
                <a:solidFill>
                  <a:srgbClr val="002060"/>
                </a:solidFill>
              </a:rPr>
              <a:t>f1(23)=00FF FFFFH= </a:t>
            </a:r>
            <a:r>
              <a:rPr lang="en-US" altLang="zh-CN" sz="1400" b="1" dirty="0">
                <a:solidFill>
                  <a:srgbClr val="C00000"/>
                </a:solidFill>
              </a:rPr>
              <a:t>16,777,215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002060"/>
                </a:solidFill>
              </a:rPr>
              <a:t>该数也可以转换为</a:t>
            </a:r>
            <a:r>
              <a:rPr lang="en-US" altLang="zh-CN" sz="1400" b="1" dirty="0">
                <a:solidFill>
                  <a:srgbClr val="002060"/>
                </a:solidFill>
              </a:rPr>
              <a:t>float</a:t>
            </a:r>
            <a:r>
              <a:rPr lang="zh-CN" altLang="en-US" sz="1400" b="1" dirty="0">
                <a:solidFill>
                  <a:srgbClr val="002060"/>
                </a:solidFill>
              </a:rPr>
              <a:t>型，表示为：</a:t>
            </a:r>
            <a:r>
              <a:rPr lang="en-US" altLang="zh-CN" sz="1400" b="1" dirty="0">
                <a:solidFill>
                  <a:srgbClr val="002060"/>
                </a:solidFill>
              </a:rPr>
              <a:t>1.111 1111 1111 1111 1111 1111x2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23</a:t>
            </a:r>
            <a:r>
              <a:rPr lang="zh-CN" altLang="en-US" sz="1400" b="1" dirty="0">
                <a:solidFill>
                  <a:srgbClr val="002060"/>
                </a:solidFill>
              </a:rPr>
              <a:t>，采用</a:t>
            </a:r>
            <a:r>
              <a:rPr lang="en-US" altLang="zh-CN" sz="1400" b="1" dirty="0">
                <a:solidFill>
                  <a:srgbClr val="002060"/>
                </a:solidFill>
              </a:rPr>
              <a:t>IEEE754</a:t>
            </a:r>
            <a:r>
              <a:rPr lang="zh-CN" altLang="en-US" sz="1400" b="1" dirty="0">
                <a:solidFill>
                  <a:srgbClr val="002060"/>
                </a:solidFill>
              </a:rPr>
              <a:t>标准单精度浮点数表示为：</a:t>
            </a:r>
            <a:endParaRPr lang="en-US" altLang="zh-CN" sz="1400" b="1" dirty="0">
              <a:solidFill>
                <a:srgbClr val="002060"/>
              </a:solidFill>
            </a:endParaRPr>
          </a:p>
          <a:p>
            <a:pPr lvl="3">
              <a:defRPr/>
            </a:pPr>
            <a:r>
              <a:rPr lang="zh-CN" altLang="en-US" sz="1200" b="1" dirty="0">
                <a:solidFill>
                  <a:srgbClr val="002060"/>
                </a:solidFill>
              </a:rPr>
              <a:t>阶码：</a:t>
            </a:r>
            <a:r>
              <a:rPr lang="en-US" altLang="zh-CN" sz="1200" b="1" dirty="0">
                <a:solidFill>
                  <a:srgbClr val="002060"/>
                </a:solidFill>
              </a:rPr>
              <a:t>E=23+127=150=1001 0110</a:t>
            </a:r>
          </a:p>
          <a:p>
            <a:pPr lvl="3">
              <a:defRPr/>
            </a:pPr>
            <a:r>
              <a:rPr lang="zh-CN" altLang="en-US" sz="1200" b="1" dirty="0">
                <a:solidFill>
                  <a:srgbClr val="002060"/>
                </a:solidFill>
              </a:rPr>
              <a:t>尾数：</a:t>
            </a:r>
            <a:r>
              <a:rPr lang="en-US" altLang="zh-CN" sz="1200" b="1" dirty="0">
                <a:solidFill>
                  <a:srgbClr val="002060"/>
                </a:solidFill>
              </a:rPr>
              <a:t>M=111 1111 1111 1111 1111 1111</a:t>
            </a:r>
          </a:p>
          <a:p>
            <a:pPr lvl="3">
              <a:defRPr/>
            </a:pPr>
            <a:r>
              <a:rPr lang="zh-CN" altLang="en-US" sz="1200" b="1" dirty="0">
                <a:solidFill>
                  <a:srgbClr val="002060"/>
                </a:solidFill>
              </a:rPr>
              <a:t>符号位：</a:t>
            </a:r>
            <a:r>
              <a:rPr lang="en-US" altLang="zh-CN" sz="1200" b="1" dirty="0">
                <a:solidFill>
                  <a:srgbClr val="002060"/>
                </a:solidFill>
              </a:rPr>
              <a:t>S=0</a:t>
            </a:r>
          </a:p>
          <a:p>
            <a:pPr lvl="3">
              <a:defRPr/>
            </a:pPr>
            <a:endParaRPr lang="en-US" altLang="zh-CN" sz="10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002060"/>
                </a:solidFill>
              </a:rPr>
              <a:t>f2(23)=</a:t>
            </a:r>
            <a:r>
              <a:rPr lang="en-US" altLang="zh-CN" sz="1400" b="1" dirty="0">
                <a:solidFill>
                  <a:srgbClr val="C00000"/>
                </a:solidFill>
              </a:rPr>
              <a:t>0 1001 0110 111 1111 1111 1111 1111 1111=4B7F FFFFH</a:t>
            </a:r>
            <a:r>
              <a:rPr lang="en-US" altLang="zh-CN" sz="1400" b="1" dirty="0">
                <a:solidFill>
                  <a:srgbClr val="002060"/>
                </a:solidFill>
              </a:rPr>
              <a:t>=2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E-127</a:t>
            </a:r>
            <a:r>
              <a:rPr lang="en-US" altLang="zh-CN" sz="1400" b="1" dirty="0">
                <a:solidFill>
                  <a:srgbClr val="002060"/>
                </a:solidFill>
              </a:rPr>
              <a:t>x1.M=2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23</a:t>
            </a:r>
            <a:r>
              <a:rPr lang="en-US" altLang="zh-CN" sz="1400" b="1" dirty="0">
                <a:solidFill>
                  <a:srgbClr val="002060"/>
                </a:solidFill>
              </a:rPr>
              <a:t>x(2-2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-23</a:t>
            </a:r>
            <a:r>
              <a:rPr lang="en-US" altLang="zh-CN" sz="1400" b="1" dirty="0">
                <a:solidFill>
                  <a:srgbClr val="002060"/>
                </a:solidFill>
              </a:rPr>
              <a:t>)=2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24</a:t>
            </a:r>
            <a:r>
              <a:rPr lang="en-US" altLang="zh-CN" sz="1400" b="1" dirty="0">
                <a:solidFill>
                  <a:srgbClr val="002060"/>
                </a:solidFill>
              </a:rPr>
              <a:t>-2</a:t>
            </a:r>
            <a:r>
              <a:rPr lang="en-US" altLang="zh-CN" sz="1400" b="1" baseline="30000" dirty="0">
                <a:solidFill>
                  <a:srgbClr val="002060"/>
                </a:solidFill>
              </a:rPr>
              <a:t>0</a:t>
            </a:r>
            <a:r>
              <a:rPr lang="en-US" altLang="zh-CN" sz="1400" b="1" dirty="0">
                <a:solidFill>
                  <a:srgbClr val="002060"/>
                </a:solidFill>
              </a:rPr>
              <a:t>= 16,777,215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002060"/>
                </a:solidFill>
              </a:rPr>
              <a:t>f1(23)</a:t>
            </a:r>
            <a:r>
              <a:rPr lang="zh-CN" altLang="en-US" sz="1400" b="1" dirty="0">
                <a:solidFill>
                  <a:srgbClr val="002060"/>
                </a:solidFill>
              </a:rPr>
              <a:t>和</a:t>
            </a:r>
            <a:r>
              <a:rPr lang="en-US" altLang="zh-CN" sz="1400" b="1" dirty="0">
                <a:solidFill>
                  <a:srgbClr val="002060"/>
                </a:solidFill>
              </a:rPr>
              <a:t>f2(23)</a:t>
            </a:r>
            <a:r>
              <a:rPr lang="zh-CN" altLang="en-US" sz="1400" b="1" dirty="0">
                <a:solidFill>
                  <a:srgbClr val="002060"/>
                </a:solidFill>
              </a:rPr>
              <a:t>的返回值相等。</a:t>
            </a:r>
            <a:r>
              <a:rPr lang="en-US" altLang="zh-CN" sz="1400" b="1" dirty="0">
                <a:solidFill>
                  <a:srgbClr val="C00000"/>
                </a:solidFill>
              </a:rPr>
              <a:t>f1(23)</a:t>
            </a:r>
            <a:r>
              <a:rPr lang="zh-CN" altLang="en-US" sz="1400" b="1" dirty="0">
                <a:solidFill>
                  <a:srgbClr val="C00000"/>
                </a:solidFill>
              </a:rPr>
              <a:t>的机器数</a:t>
            </a:r>
            <a:r>
              <a:rPr lang="en-US" altLang="zh-CN" sz="1400" b="1" dirty="0">
                <a:solidFill>
                  <a:srgbClr val="C00000"/>
                </a:solidFill>
              </a:rPr>
              <a:t>=00FF FFFFH</a:t>
            </a:r>
            <a:r>
              <a:rPr lang="zh-CN" altLang="en-US" sz="1400" b="1" dirty="0">
                <a:solidFill>
                  <a:srgbClr val="C00000"/>
                </a:solidFill>
              </a:rPr>
              <a:t>；</a:t>
            </a:r>
            <a:r>
              <a:rPr lang="en-US" altLang="zh-CN" sz="1400" b="1" dirty="0">
                <a:solidFill>
                  <a:srgbClr val="C00000"/>
                </a:solidFill>
              </a:rPr>
              <a:t>f2(23)</a:t>
            </a:r>
            <a:r>
              <a:rPr lang="zh-CN" altLang="en-US" sz="1400" b="1" dirty="0">
                <a:solidFill>
                  <a:srgbClr val="C00000"/>
                </a:solidFill>
              </a:rPr>
              <a:t>的机器数</a:t>
            </a:r>
            <a:r>
              <a:rPr lang="en-US" altLang="zh-CN" sz="1400" b="1" dirty="0">
                <a:solidFill>
                  <a:srgbClr val="C00000"/>
                </a:solidFill>
              </a:rPr>
              <a:t>=4B7F FFFFH</a:t>
            </a:r>
            <a:r>
              <a:rPr lang="zh-CN" altLang="en-US" sz="1400" b="1" dirty="0">
                <a:solidFill>
                  <a:srgbClr val="002060"/>
                </a:solidFill>
              </a:rPr>
              <a:t>。</a:t>
            </a:r>
            <a:endParaRPr lang="en-US" altLang="zh-CN" sz="1400" b="1" dirty="0">
              <a:solidFill>
                <a:srgbClr val="00206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083AFD-EE23-4E3A-8B3D-CD419FE2B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78"/>
          <a:stretch/>
        </p:blipFill>
        <p:spPr>
          <a:xfrm>
            <a:off x="2195736" y="5157192"/>
            <a:ext cx="5349704" cy="12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259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4BDE2-C19A-4E39-9540-E31EFCC3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1" y="6535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823" y="1161641"/>
            <a:ext cx="5626968" cy="5422103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7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（</a:t>
            </a:r>
            <a:r>
              <a:rPr lang="en-US" altLang="zh-CN" sz="1600" b="1" dirty="0">
                <a:solidFill>
                  <a:srgbClr val="002060"/>
                </a:solidFill>
              </a:rPr>
              <a:t>3</a:t>
            </a:r>
            <a:r>
              <a:rPr lang="zh-CN" altLang="en-US" sz="1600" b="1" dirty="0">
                <a:solidFill>
                  <a:srgbClr val="002060"/>
                </a:solidFill>
              </a:rPr>
              <a:t>）</a:t>
            </a:r>
            <a:r>
              <a:rPr lang="en-US" altLang="zh-CN" sz="1600" b="1" dirty="0">
                <a:solidFill>
                  <a:srgbClr val="002060"/>
                </a:solidFill>
              </a:rPr>
              <a:t> f1(24)</a:t>
            </a:r>
            <a:r>
              <a:rPr lang="zh-CN" altLang="en-US" sz="1600" b="1" dirty="0">
                <a:solidFill>
                  <a:srgbClr val="002060"/>
                </a:solidFill>
              </a:rPr>
              <a:t>和</a:t>
            </a:r>
            <a:r>
              <a:rPr lang="en-US" altLang="zh-CN" sz="1600" b="1" dirty="0">
                <a:solidFill>
                  <a:srgbClr val="002060"/>
                </a:solidFill>
              </a:rPr>
              <a:t>f2(24)</a:t>
            </a:r>
            <a:r>
              <a:rPr lang="zh-CN" altLang="en-US" sz="1600" b="1" dirty="0">
                <a:solidFill>
                  <a:srgbClr val="002060"/>
                </a:solidFill>
              </a:rPr>
              <a:t>的返回值分别是</a:t>
            </a:r>
            <a:r>
              <a:rPr lang="en-US" altLang="zh-CN" sz="1600" b="1" dirty="0">
                <a:solidFill>
                  <a:srgbClr val="002060"/>
                </a:solidFill>
              </a:rPr>
              <a:t>33 554 431</a:t>
            </a:r>
            <a:r>
              <a:rPr lang="zh-CN" altLang="en-US" sz="1600" b="1" dirty="0">
                <a:solidFill>
                  <a:srgbClr val="002060"/>
                </a:solidFill>
              </a:rPr>
              <a:t>和</a:t>
            </a:r>
            <a:r>
              <a:rPr lang="en-US" altLang="zh-CN" sz="1600" b="1" dirty="0">
                <a:solidFill>
                  <a:srgbClr val="002060"/>
                </a:solidFill>
              </a:rPr>
              <a:t>33 554 432.0</a:t>
            </a:r>
            <a:r>
              <a:rPr lang="zh-CN" altLang="en-US" sz="1600" b="1" dirty="0">
                <a:solidFill>
                  <a:srgbClr val="002060"/>
                </a:solidFill>
              </a:rPr>
              <a:t>，为什么不相等？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7030A0"/>
                </a:solidFill>
              </a:rPr>
              <a:t>答：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7030A0"/>
                </a:solidFill>
              </a:rPr>
              <a:t> f(24)=1 1111 1111 1111 1111 1111 1111B</a:t>
            </a:r>
            <a:r>
              <a:rPr lang="zh-CN" altLang="en-US" sz="1400" b="1" dirty="0">
                <a:solidFill>
                  <a:srgbClr val="7030A0"/>
                </a:solidFill>
              </a:rPr>
              <a:t>（</a:t>
            </a:r>
            <a:r>
              <a:rPr lang="en-US" altLang="zh-CN" sz="1400" b="1" dirty="0">
                <a:solidFill>
                  <a:srgbClr val="7030A0"/>
                </a:solidFill>
              </a:rPr>
              <a:t>25</a:t>
            </a:r>
            <a:r>
              <a:rPr lang="zh-CN" altLang="en-US" sz="1400" b="1" dirty="0">
                <a:solidFill>
                  <a:srgbClr val="7030A0"/>
                </a:solidFill>
              </a:rPr>
              <a:t>个</a:t>
            </a:r>
            <a:r>
              <a:rPr lang="en-US" altLang="zh-CN" sz="1400" b="1" dirty="0">
                <a:solidFill>
                  <a:srgbClr val="7030A0"/>
                </a:solidFill>
              </a:rPr>
              <a:t>1</a:t>
            </a:r>
            <a:r>
              <a:rPr lang="zh-CN" altLang="en-US" sz="1400" b="1" dirty="0">
                <a:solidFill>
                  <a:srgbClr val="7030A0"/>
                </a:solidFill>
              </a:rPr>
              <a:t>）</a:t>
            </a:r>
            <a:r>
              <a:rPr lang="en-US" altLang="zh-CN" sz="1400" b="1" dirty="0">
                <a:solidFill>
                  <a:srgbClr val="7030A0"/>
                </a:solidFill>
              </a:rPr>
              <a:t>=1FF FFFFH</a:t>
            </a:r>
            <a:r>
              <a:rPr lang="zh-CN" altLang="en-US" sz="1400" b="1" dirty="0">
                <a:solidFill>
                  <a:srgbClr val="7030A0"/>
                </a:solidFill>
              </a:rPr>
              <a:t>，该数可用</a:t>
            </a:r>
            <a:r>
              <a:rPr lang="en-US" altLang="zh-CN" sz="1400" b="1" dirty="0">
                <a:solidFill>
                  <a:srgbClr val="7030A0"/>
                </a:solidFill>
              </a:rPr>
              <a:t>int</a:t>
            </a:r>
            <a:r>
              <a:rPr lang="zh-CN" altLang="en-US" sz="1400" b="1" dirty="0">
                <a:solidFill>
                  <a:srgbClr val="7030A0"/>
                </a:solidFill>
              </a:rPr>
              <a:t>型数据（</a:t>
            </a:r>
            <a:r>
              <a:rPr lang="en-US" altLang="zh-CN" sz="1400" b="1" dirty="0">
                <a:solidFill>
                  <a:srgbClr val="7030A0"/>
                </a:solidFill>
                <a:highlight>
                  <a:srgbClr val="FFFF00"/>
                </a:highlight>
              </a:rPr>
              <a:t>32bit</a:t>
            </a:r>
            <a:r>
              <a:rPr lang="zh-CN" altLang="en-US" sz="1400" b="1" dirty="0">
                <a:solidFill>
                  <a:srgbClr val="7030A0"/>
                </a:solidFill>
              </a:rPr>
              <a:t>）表示，所以</a:t>
            </a:r>
            <a:r>
              <a:rPr lang="en-US" altLang="zh-CN" sz="1400" b="1" dirty="0">
                <a:solidFill>
                  <a:srgbClr val="7030A0"/>
                </a:solidFill>
              </a:rPr>
              <a:t>f1(24)=</a:t>
            </a:r>
            <a:r>
              <a:rPr lang="en-US" altLang="zh-CN" sz="1400" b="1" dirty="0">
                <a:solidFill>
                  <a:srgbClr val="C00000"/>
                </a:solidFill>
              </a:rPr>
              <a:t>01FF FFFFH=33 554 431</a:t>
            </a: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7030A0"/>
                </a:solidFill>
              </a:rPr>
              <a:t>该数也可以转换为</a:t>
            </a:r>
            <a:r>
              <a:rPr lang="en-US" altLang="zh-CN" sz="1400" b="1" dirty="0">
                <a:solidFill>
                  <a:srgbClr val="7030A0"/>
                </a:solidFill>
              </a:rPr>
              <a:t>float</a:t>
            </a:r>
            <a:r>
              <a:rPr lang="zh-CN" altLang="en-US" sz="1400" b="1" dirty="0">
                <a:solidFill>
                  <a:srgbClr val="7030A0"/>
                </a:solidFill>
              </a:rPr>
              <a:t>型，表示为：</a:t>
            </a:r>
            <a:r>
              <a:rPr lang="en-US" altLang="zh-CN" sz="1400" b="1" dirty="0">
                <a:solidFill>
                  <a:srgbClr val="7030A0"/>
                </a:solidFill>
              </a:rPr>
              <a:t>1.1111 1111 1111 1111 1111 1111x2</a:t>
            </a:r>
            <a:r>
              <a:rPr lang="en-US" altLang="zh-CN" sz="1400" b="1" baseline="30000" dirty="0">
                <a:solidFill>
                  <a:srgbClr val="7030A0"/>
                </a:solidFill>
              </a:rPr>
              <a:t>24</a:t>
            </a:r>
            <a:r>
              <a:rPr lang="zh-CN" altLang="en-US" sz="1400" b="1" dirty="0">
                <a:solidFill>
                  <a:srgbClr val="7030A0"/>
                </a:solidFill>
              </a:rPr>
              <a:t>，采用</a:t>
            </a:r>
            <a:r>
              <a:rPr lang="en-US" altLang="zh-CN" sz="1400" b="1" dirty="0">
                <a:solidFill>
                  <a:srgbClr val="7030A0"/>
                </a:solidFill>
              </a:rPr>
              <a:t>IEEE754</a:t>
            </a:r>
            <a:r>
              <a:rPr lang="zh-CN" altLang="en-US" sz="1400" b="1" dirty="0">
                <a:solidFill>
                  <a:srgbClr val="7030A0"/>
                </a:solidFill>
              </a:rPr>
              <a:t>标准单精度浮点数表示为：</a:t>
            </a:r>
            <a:endParaRPr lang="en-US" altLang="zh-CN" sz="1400" b="1" dirty="0">
              <a:solidFill>
                <a:srgbClr val="7030A0"/>
              </a:solidFill>
            </a:endParaRPr>
          </a:p>
          <a:p>
            <a:pPr lvl="3">
              <a:lnSpc>
                <a:spcPct val="120000"/>
              </a:lnSpc>
              <a:defRPr/>
            </a:pPr>
            <a:r>
              <a:rPr lang="zh-CN" altLang="en-US" sz="1100" b="1" dirty="0">
                <a:solidFill>
                  <a:srgbClr val="7030A0"/>
                </a:solidFill>
              </a:rPr>
              <a:t>阶码：</a:t>
            </a:r>
            <a:r>
              <a:rPr lang="en-US" altLang="zh-CN" sz="1100" b="1" dirty="0">
                <a:solidFill>
                  <a:srgbClr val="7030A0"/>
                </a:solidFill>
              </a:rPr>
              <a:t>E=24+127=151=1001 0111</a:t>
            </a:r>
          </a:p>
          <a:p>
            <a:pPr lvl="3">
              <a:lnSpc>
                <a:spcPct val="120000"/>
              </a:lnSpc>
              <a:defRPr/>
            </a:pPr>
            <a:r>
              <a:rPr lang="zh-CN" altLang="en-US" sz="1100" b="1" dirty="0">
                <a:solidFill>
                  <a:srgbClr val="7030A0"/>
                </a:solidFill>
              </a:rPr>
              <a:t>尾数：</a:t>
            </a:r>
            <a:r>
              <a:rPr lang="en-US" altLang="zh-CN" sz="1100" b="1" dirty="0">
                <a:solidFill>
                  <a:srgbClr val="7030A0"/>
                </a:solidFill>
              </a:rPr>
              <a:t>M=000 0000 0000 0000 0000 0000</a:t>
            </a:r>
            <a:r>
              <a:rPr lang="zh-CN" altLang="en-US" sz="1100" b="1" dirty="0">
                <a:solidFill>
                  <a:srgbClr val="7030A0"/>
                </a:solidFill>
              </a:rPr>
              <a:t>（</a:t>
            </a:r>
            <a:r>
              <a:rPr lang="zh-CN" altLang="en-US" sz="1100" b="1" dirty="0">
                <a:solidFill>
                  <a:srgbClr val="C00000"/>
                </a:solidFill>
              </a:rPr>
              <a:t>舍入处理，把</a:t>
            </a:r>
            <a:r>
              <a:rPr lang="en-US" altLang="zh-CN" sz="1100" b="1" dirty="0">
                <a:solidFill>
                  <a:srgbClr val="C00000"/>
                </a:solidFill>
              </a:rPr>
              <a:t>1</a:t>
            </a:r>
            <a:r>
              <a:rPr lang="zh-CN" altLang="en-US" sz="1100" b="1" dirty="0">
                <a:solidFill>
                  <a:srgbClr val="C00000"/>
                </a:solidFill>
              </a:rPr>
              <a:t>舍掉末位加</a:t>
            </a:r>
            <a:r>
              <a:rPr lang="en-US" altLang="zh-CN" sz="1100" b="1" dirty="0">
                <a:solidFill>
                  <a:srgbClr val="C00000"/>
                </a:solidFill>
              </a:rPr>
              <a:t>1</a:t>
            </a:r>
            <a:r>
              <a:rPr lang="zh-CN" altLang="en-US" sz="1100" b="1" dirty="0">
                <a:solidFill>
                  <a:srgbClr val="7030A0"/>
                </a:solidFill>
              </a:rPr>
              <a:t>） </a:t>
            </a:r>
            <a:r>
              <a:rPr lang="en-US" altLang="zh-CN" sz="1200" b="1" dirty="0">
                <a:solidFill>
                  <a:srgbClr val="7030A0"/>
                </a:solidFill>
                <a:highlight>
                  <a:srgbClr val="FFFF00"/>
                </a:highlight>
              </a:rPr>
              <a:t>+1</a:t>
            </a:r>
            <a:r>
              <a:rPr lang="zh-CN" altLang="en-US" sz="1200" b="1" dirty="0">
                <a:solidFill>
                  <a:srgbClr val="7030A0"/>
                </a:solidFill>
                <a:highlight>
                  <a:srgbClr val="FFFF00"/>
                </a:highlight>
              </a:rPr>
              <a:t>后：阶码</a:t>
            </a:r>
            <a:r>
              <a:rPr lang="en-US" altLang="zh-CN" sz="1200" b="1" dirty="0">
                <a:solidFill>
                  <a:srgbClr val="7030A0"/>
                </a:solidFill>
                <a:highlight>
                  <a:srgbClr val="FFFF00"/>
                </a:highlight>
              </a:rPr>
              <a:t>+1</a:t>
            </a:r>
            <a:r>
              <a:rPr lang="zh-CN" altLang="en-US" sz="1200" b="1" dirty="0">
                <a:solidFill>
                  <a:srgbClr val="7030A0"/>
                </a:solidFill>
                <a:highlight>
                  <a:srgbClr val="FFFF00"/>
                </a:highlight>
              </a:rPr>
              <a:t>变成</a:t>
            </a:r>
            <a:r>
              <a:rPr lang="en-US" altLang="zh-CN" sz="1200" b="1" dirty="0">
                <a:solidFill>
                  <a:srgbClr val="7030A0"/>
                </a:solidFill>
                <a:highlight>
                  <a:srgbClr val="FFFF00"/>
                </a:highlight>
              </a:rPr>
              <a:t>25      25+127=10011000</a:t>
            </a:r>
          </a:p>
          <a:p>
            <a:pPr lvl="3">
              <a:lnSpc>
                <a:spcPct val="120000"/>
              </a:lnSpc>
              <a:defRPr/>
            </a:pPr>
            <a:r>
              <a:rPr lang="zh-CN" altLang="en-US" sz="1100" b="1" dirty="0">
                <a:solidFill>
                  <a:srgbClr val="7030A0"/>
                </a:solidFill>
              </a:rPr>
              <a:t>符号位：</a:t>
            </a:r>
            <a:r>
              <a:rPr lang="en-US" altLang="zh-CN" sz="1100" b="1" dirty="0">
                <a:solidFill>
                  <a:srgbClr val="7030A0"/>
                </a:solidFill>
              </a:rPr>
              <a:t>S=0</a:t>
            </a: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7030A0"/>
                </a:solidFill>
              </a:rPr>
              <a:t>f2(24)=0 </a:t>
            </a:r>
            <a:r>
              <a:rPr lang="en-US" altLang="zh-CN" sz="1400" b="1" dirty="0">
                <a:solidFill>
                  <a:srgbClr val="C00000"/>
                </a:solidFill>
              </a:rPr>
              <a:t>1001 1000  000</a:t>
            </a:r>
            <a:r>
              <a:rPr lang="zh-CN" altLang="en-US" sz="1400" b="1" dirty="0">
                <a:solidFill>
                  <a:srgbClr val="C00000"/>
                </a:solidFill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r>
              <a:rPr lang="en-US" altLang="zh-CN" sz="1400" b="1" dirty="0">
                <a:solidFill>
                  <a:srgbClr val="7030A0"/>
                </a:solidFill>
              </a:rPr>
              <a:t>000 0000 0000 0000 0000 0000= 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en-US" altLang="zh-CN" sz="1400" b="1" dirty="0">
                <a:solidFill>
                  <a:srgbClr val="C00000"/>
                </a:solidFill>
                <a:highlight>
                  <a:srgbClr val="FFFF00"/>
                </a:highlight>
              </a:rPr>
              <a:t>C</a:t>
            </a:r>
            <a:r>
              <a:rPr lang="en-US" altLang="zh-CN" sz="1400" b="1" dirty="0">
                <a:solidFill>
                  <a:srgbClr val="C00000"/>
                </a:solidFill>
              </a:rPr>
              <a:t>00 0000H</a:t>
            </a: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400" b="1" dirty="0">
                <a:solidFill>
                  <a:srgbClr val="7030A0"/>
                </a:solidFill>
              </a:rPr>
              <a:t>f2(24)=1.Mx2</a:t>
            </a:r>
            <a:r>
              <a:rPr lang="en-US" altLang="zh-CN" sz="1400" b="1" baseline="30000" dirty="0">
                <a:solidFill>
                  <a:srgbClr val="7030A0"/>
                </a:solidFill>
              </a:rPr>
              <a:t>E-127</a:t>
            </a:r>
            <a:r>
              <a:rPr lang="en-US" altLang="zh-CN" sz="1400" b="1" dirty="0">
                <a:solidFill>
                  <a:srgbClr val="7030A0"/>
                </a:solidFill>
              </a:rPr>
              <a:t>=1.000 0000 0000 0000 0000 0000x2</a:t>
            </a:r>
            <a:r>
              <a:rPr lang="en-US" altLang="zh-CN" sz="1400" b="1" baseline="30000" dirty="0">
                <a:solidFill>
                  <a:srgbClr val="7030A0"/>
                </a:solidFill>
              </a:rPr>
              <a:t>24</a:t>
            </a:r>
            <a:r>
              <a:rPr lang="en-US" altLang="zh-CN" sz="1400" b="1" dirty="0">
                <a:solidFill>
                  <a:srgbClr val="7030A0"/>
                </a:solidFill>
              </a:rPr>
              <a:t>=</a:t>
            </a:r>
            <a:r>
              <a:rPr lang="en-US" altLang="zh-CN" sz="1400" b="1" u="sng" dirty="0">
                <a:solidFill>
                  <a:srgbClr val="7030A0"/>
                </a:solidFill>
              </a:rPr>
              <a:t>1</a:t>
            </a:r>
            <a:r>
              <a:rPr lang="en-US" altLang="zh-CN" sz="1400" b="1" dirty="0">
                <a:solidFill>
                  <a:srgbClr val="7030A0"/>
                </a:solidFill>
              </a:rPr>
              <a:t>x2</a:t>
            </a:r>
            <a:r>
              <a:rPr lang="en-US" altLang="zh-CN" sz="1400" b="1" baseline="30000" dirty="0">
                <a:solidFill>
                  <a:srgbClr val="7030A0"/>
                </a:solidFill>
              </a:rPr>
              <a:t>25</a:t>
            </a:r>
            <a:r>
              <a:rPr lang="en-US" altLang="zh-CN" sz="1400" b="1" dirty="0">
                <a:solidFill>
                  <a:srgbClr val="7030A0"/>
                </a:solidFill>
              </a:rPr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33 554 432</a:t>
            </a: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7030A0"/>
                </a:solidFill>
              </a:rPr>
              <a:t>故</a:t>
            </a:r>
            <a:r>
              <a:rPr lang="en-US" altLang="zh-CN" sz="1400" b="1" dirty="0">
                <a:solidFill>
                  <a:srgbClr val="7030A0"/>
                </a:solidFill>
              </a:rPr>
              <a:t>f1(24)</a:t>
            </a:r>
            <a:r>
              <a:rPr lang="zh-CN" altLang="en-US" sz="1400" b="1" dirty="0">
                <a:solidFill>
                  <a:srgbClr val="7030A0"/>
                </a:solidFill>
              </a:rPr>
              <a:t>和</a:t>
            </a:r>
            <a:r>
              <a:rPr lang="en-US" altLang="zh-CN" sz="1400" b="1" dirty="0">
                <a:solidFill>
                  <a:srgbClr val="7030A0"/>
                </a:solidFill>
              </a:rPr>
              <a:t>f2(24)</a:t>
            </a:r>
            <a:r>
              <a:rPr lang="zh-CN" altLang="en-US" sz="1400" b="1" dirty="0">
                <a:solidFill>
                  <a:srgbClr val="7030A0"/>
                </a:solidFill>
              </a:rPr>
              <a:t>的返回值不相等。原因是浮点数尾数只有</a:t>
            </a:r>
            <a:r>
              <a:rPr lang="en-US" altLang="zh-CN" sz="1400" b="1" dirty="0">
                <a:solidFill>
                  <a:srgbClr val="7030A0"/>
                </a:solidFill>
              </a:rPr>
              <a:t>23</a:t>
            </a:r>
            <a:r>
              <a:rPr lang="zh-CN" altLang="en-US" sz="1400" b="1" dirty="0">
                <a:solidFill>
                  <a:srgbClr val="7030A0"/>
                </a:solidFill>
              </a:rPr>
              <a:t>位，</a:t>
            </a:r>
            <a:r>
              <a:rPr lang="en-US" altLang="zh-CN" sz="1400" b="1" dirty="0">
                <a:solidFill>
                  <a:srgbClr val="7030A0"/>
                </a:solidFill>
              </a:rPr>
              <a:t>f(24)</a:t>
            </a:r>
            <a:r>
              <a:rPr lang="zh-CN" altLang="en-US" sz="1400" b="1" dirty="0">
                <a:solidFill>
                  <a:srgbClr val="7030A0"/>
                </a:solidFill>
              </a:rPr>
              <a:t>的尾数有</a:t>
            </a:r>
            <a:r>
              <a:rPr lang="en-US" altLang="zh-CN" sz="1400" b="1" dirty="0">
                <a:solidFill>
                  <a:srgbClr val="7030A0"/>
                </a:solidFill>
              </a:rPr>
              <a:t>24</a:t>
            </a:r>
            <a:r>
              <a:rPr lang="zh-CN" altLang="en-US" sz="1400" b="1" dirty="0">
                <a:solidFill>
                  <a:srgbClr val="7030A0"/>
                </a:solidFill>
              </a:rPr>
              <a:t>位，</a:t>
            </a:r>
            <a:r>
              <a:rPr lang="zh-CN" altLang="en-US" sz="1400" b="1" dirty="0">
                <a:solidFill>
                  <a:srgbClr val="C00000"/>
                </a:solidFill>
              </a:rPr>
              <a:t>舍入处理，末位加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。</a:t>
            </a:r>
            <a:endParaRPr lang="en-US" altLang="zh-CN" sz="1400" b="1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86BE5B-F9D6-439D-AF6F-4AF19C05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47" y="1161641"/>
            <a:ext cx="2406606" cy="21402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68950F-CB32-442E-AAB4-30F666E77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80" y="3429000"/>
            <a:ext cx="2557343" cy="1956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EE6B4E-EAB0-48CE-B52F-DE8721320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09" y="5547823"/>
            <a:ext cx="4069759" cy="87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43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D4C90-731D-43DD-8229-E2F51DE2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960440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2060"/>
                </a:solidFill>
              </a:rPr>
              <a:t>（</a:t>
            </a:r>
            <a:r>
              <a:rPr lang="en-US" altLang="zh-CN" sz="2000" b="1" dirty="0">
                <a:solidFill>
                  <a:srgbClr val="002060"/>
                </a:solidFill>
              </a:rPr>
              <a:t>4</a:t>
            </a:r>
            <a:r>
              <a:rPr lang="zh-CN" altLang="en-US" sz="2000" b="1" dirty="0">
                <a:solidFill>
                  <a:srgbClr val="002060"/>
                </a:solidFill>
              </a:rPr>
              <a:t>）</a:t>
            </a:r>
            <a:r>
              <a:rPr lang="en-US" altLang="zh-CN" sz="2000" b="1" dirty="0">
                <a:solidFill>
                  <a:srgbClr val="002060"/>
                </a:solidFill>
              </a:rPr>
              <a:t>f(31)=2</a:t>
            </a:r>
            <a:r>
              <a:rPr lang="en-US" altLang="zh-CN" sz="2000" b="1" baseline="30000" dirty="0">
                <a:solidFill>
                  <a:srgbClr val="002060"/>
                </a:solidFill>
              </a:rPr>
              <a:t>32</a:t>
            </a:r>
            <a:r>
              <a:rPr lang="en-US" altLang="zh-CN" sz="2000" b="1" dirty="0">
                <a:solidFill>
                  <a:srgbClr val="002060"/>
                </a:solidFill>
              </a:rPr>
              <a:t>-1</a:t>
            </a:r>
            <a:r>
              <a:rPr lang="zh-CN" altLang="en-US" sz="2000" b="1" dirty="0">
                <a:solidFill>
                  <a:srgbClr val="002060"/>
                </a:solidFill>
              </a:rPr>
              <a:t>，而</a:t>
            </a:r>
            <a:r>
              <a:rPr lang="en-US" altLang="zh-CN" sz="2000" b="1" dirty="0">
                <a:solidFill>
                  <a:srgbClr val="002060"/>
                </a:solidFill>
              </a:rPr>
              <a:t>f1(31)</a:t>
            </a:r>
            <a:r>
              <a:rPr lang="zh-CN" altLang="en-US" sz="2000" b="1" dirty="0">
                <a:solidFill>
                  <a:srgbClr val="002060"/>
                </a:solidFill>
              </a:rPr>
              <a:t>的返回值却为</a:t>
            </a:r>
            <a:r>
              <a:rPr lang="en-US" altLang="zh-CN" sz="2000" b="1" dirty="0">
                <a:solidFill>
                  <a:srgbClr val="002060"/>
                </a:solidFill>
              </a:rPr>
              <a:t>-1</a:t>
            </a:r>
            <a:r>
              <a:rPr lang="zh-CN" altLang="en-US" sz="2000" b="1" dirty="0">
                <a:solidFill>
                  <a:srgbClr val="002060"/>
                </a:solidFill>
              </a:rPr>
              <a:t>，为什么？若要使</a:t>
            </a:r>
            <a:r>
              <a:rPr lang="en-US" altLang="zh-CN" sz="2000" b="1" dirty="0">
                <a:solidFill>
                  <a:srgbClr val="002060"/>
                </a:solidFill>
              </a:rPr>
              <a:t>f1(n)</a:t>
            </a:r>
            <a:r>
              <a:rPr lang="zh-CN" altLang="en-US" sz="2000" b="1" dirty="0">
                <a:solidFill>
                  <a:srgbClr val="002060"/>
                </a:solidFill>
              </a:rPr>
              <a:t>的返回值与</a:t>
            </a:r>
            <a:r>
              <a:rPr lang="en-US" altLang="zh-CN" sz="2000" b="1" dirty="0">
                <a:solidFill>
                  <a:srgbClr val="002060"/>
                </a:solidFill>
              </a:rPr>
              <a:t>f(n)</a:t>
            </a:r>
            <a:r>
              <a:rPr lang="zh-CN" altLang="en-US" sz="2000" b="1" dirty="0">
                <a:solidFill>
                  <a:srgbClr val="002060"/>
                </a:solidFill>
              </a:rPr>
              <a:t>相等，则最大的</a:t>
            </a:r>
            <a:r>
              <a:rPr lang="en-US" altLang="zh-CN" sz="2000" b="1" dirty="0">
                <a:solidFill>
                  <a:srgbClr val="002060"/>
                </a:solidFill>
              </a:rPr>
              <a:t>n</a:t>
            </a:r>
            <a:r>
              <a:rPr lang="zh-CN" altLang="en-US" sz="2000" b="1" dirty="0">
                <a:solidFill>
                  <a:srgbClr val="002060"/>
                </a:solidFill>
              </a:rPr>
              <a:t>是多少？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2000" b="1" dirty="0">
              <a:solidFill>
                <a:srgbClr val="002060"/>
              </a:solidFill>
            </a:endParaRP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2060"/>
                </a:solidFill>
              </a:rPr>
              <a:t>答：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2060"/>
                </a:solidFill>
              </a:rPr>
              <a:t>f(31)=11…11</a:t>
            </a:r>
            <a:r>
              <a:rPr lang="zh-CN" altLang="en-US" sz="1600" b="1" dirty="0">
                <a:solidFill>
                  <a:srgbClr val="00206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32</a:t>
            </a:r>
            <a:r>
              <a:rPr lang="zh-CN" altLang="en-US" sz="1600" b="1" dirty="0">
                <a:solidFill>
                  <a:srgbClr val="C00000"/>
                </a:solidFill>
              </a:rPr>
              <a:t>个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002060"/>
                </a:solidFill>
              </a:rPr>
              <a:t>）</a:t>
            </a:r>
            <a:r>
              <a:rPr lang="en-US" altLang="zh-CN" sz="1600" b="1" dirty="0">
                <a:solidFill>
                  <a:srgbClr val="002060"/>
                </a:solidFill>
              </a:rPr>
              <a:t>=FFFF FFFFH= 4,294,967,295= 2</a:t>
            </a:r>
            <a:r>
              <a:rPr lang="en-US" altLang="zh-CN" sz="1600" b="1" baseline="30000" dirty="0">
                <a:solidFill>
                  <a:srgbClr val="002060"/>
                </a:solidFill>
              </a:rPr>
              <a:t>32</a:t>
            </a:r>
            <a:r>
              <a:rPr lang="en-US" altLang="zh-CN" sz="1600" b="1" dirty="0">
                <a:solidFill>
                  <a:srgbClr val="002060"/>
                </a:solidFill>
              </a:rPr>
              <a:t>-1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2060"/>
                </a:solidFill>
              </a:rPr>
              <a:t>f1(31)=FFFF FFFFH=-1</a:t>
            </a:r>
            <a:r>
              <a:rPr lang="zh-CN" altLang="en-US" sz="1600" b="1" dirty="0">
                <a:solidFill>
                  <a:srgbClr val="002060"/>
                </a:solidFill>
              </a:rPr>
              <a:t>（补码）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因为</a:t>
            </a:r>
            <a:r>
              <a:rPr lang="en-US" altLang="zh-CN" sz="1600" b="1" dirty="0">
                <a:solidFill>
                  <a:srgbClr val="002060"/>
                </a:solidFill>
              </a:rPr>
              <a:t>f1</a:t>
            </a:r>
            <a:r>
              <a:rPr lang="zh-CN" altLang="en-US" sz="1600" b="1" dirty="0">
                <a:solidFill>
                  <a:srgbClr val="002060"/>
                </a:solidFill>
              </a:rPr>
              <a:t>的返回值</a:t>
            </a:r>
            <a:r>
              <a:rPr lang="en-US" altLang="zh-CN" sz="1600" b="1" dirty="0">
                <a:solidFill>
                  <a:srgbClr val="002060"/>
                </a:solidFill>
              </a:rPr>
              <a:t>sum</a:t>
            </a:r>
            <a:r>
              <a:rPr lang="zh-CN" altLang="en-US" sz="1600" b="1" dirty="0">
                <a:solidFill>
                  <a:srgbClr val="002060"/>
                </a:solidFill>
              </a:rPr>
              <a:t>是整数（有符号数），有符号数</a:t>
            </a:r>
            <a:r>
              <a:rPr lang="en-US" altLang="zh-CN" sz="1600" b="1" dirty="0">
                <a:solidFill>
                  <a:srgbClr val="002060"/>
                </a:solidFill>
              </a:rPr>
              <a:t>FFFF FFFFH</a:t>
            </a:r>
            <a:r>
              <a:rPr lang="zh-CN" altLang="en-US" sz="1600" b="1" dirty="0">
                <a:solidFill>
                  <a:srgbClr val="002060"/>
                </a:solidFill>
              </a:rPr>
              <a:t>为</a:t>
            </a:r>
            <a:r>
              <a:rPr lang="en-US" altLang="zh-CN" sz="1600" b="1" dirty="0">
                <a:solidFill>
                  <a:srgbClr val="002060"/>
                </a:solidFill>
              </a:rPr>
              <a:t>-1</a:t>
            </a:r>
            <a:r>
              <a:rPr lang="zh-CN" altLang="en-US" sz="1600" b="1" dirty="0">
                <a:solidFill>
                  <a:srgbClr val="002060"/>
                </a:solidFill>
              </a:rPr>
              <a:t>。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</a:rPr>
              <a:t>若要使</a:t>
            </a:r>
            <a:r>
              <a:rPr lang="en-US" altLang="zh-CN" sz="1600" b="1" dirty="0">
                <a:solidFill>
                  <a:srgbClr val="002060"/>
                </a:solidFill>
              </a:rPr>
              <a:t>f1(n)</a:t>
            </a:r>
            <a:r>
              <a:rPr lang="zh-CN" altLang="en-US" sz="1600" b="1" dirty="0">
                <a:solidFill>
                  <a:srgbClr val="002060"/>
                </a:solidFill>
              </a:rPr>
              <a:t>的返回值与</a:t>
            </a:r>
            <a:r>
              <a:rPr lang="en-US" altLang="zh-CN" sz="1600" b="1" dirty="0">
                <a:solidFill>
                  <a:srgbClr val="002060"/>
                </a:solidFill>
              </a:rPr>
              <a:t>f(n)</a:t>
            </a:r>
            <a:r>
              <a:rPr lang="zh-CN" altLang="en-US" sz="1600" b="1" dirty="0">
                <a:solidFill>
                  <a:srgbClr val="002060"/>
                </a:solidFill>
              </a:rPr>
              <a:t>相等，则</a:t>
            </a:r>
            <a:r>
              <a:rPr lang="en-US" altLang="zh-CN" sz="1600" b="1" dirty="0">
                <a:solidFill>
                  <a:srgbClr val="002060"/>
                </a:solidFill>
              </a:rPr>
              <a:t>n</a:t>
            </a:r>
            <a:r>
              <a:rPr lang="zh-CN" altLang="en-US" sz="1600" b="1" dirty="0">
                <a:solidFill>
                  <a:srgbClr val="002060"/>
                </a:solidFill>
              </a:rPr>
              <a:t>的最大值为</a:t>
            </a:r>
            <a:r>
              <a:rPr lang="en-US" altLang="zh-CN" sz="1600" b="1" dirty="0">
                <a:solidFill>
                  <a:srgbClr val="002060"/>
                </a:solidFill>
              </a:rPr>
              <a:t>30</a:t>
            </a:r>
            <a:r>
              <a:rPr lang="zh-CN" altLang="en-US" sz="1600" b="1" dirty="0">
                <a:solidFill>
                  <a:srgbClr val="002060"/>
                </a:solidFill>
              </a:rPr>
              <a:t>。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>
              <a:solidFill>
                <a:srgbClr val="00206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2060"/>
                </a:solidFill>
              </a:rPr>
              <a:t>n=30</a:t>
            </a:r>
            <a:r>
              <a:rPr lang="zh-CN" altLang="en-US" sz="1600" b="1" dirty="0">
                <a:solidFill>
                  <a:srgbClr val="002060"/>
                </a:solidFill>
              </a:rPr>
              <a:t>时，</a:t>
            </a:r>
            <a:r>
              <a:rPr lang="en-US" altLang="zh-CN" sz="1600" b="1" dirty="0">
                <a:solidFill>
                  <a:srgbClr val="002060"/>
                </a:solidFill>
              </a:rPr>
              <a:t>f(30)=011…11</a:t>
            </a:r>
            <a:r>
              <a:rPr lang="zh-CN" altLang="en-US" sz="1600" b="1" dirty="0">
                <a:solidFill>
                  <a:srgbClr val="002060"/>
                </a:solidFill>
              </a:rPr>
              <a:t>（</a:t>
            </a:r>
            <a:r>
              <a:rPr lang="en-US" altLang="zh-CN" sz="1600" b="1" dirty="0">
                <a:solidFill>
                  <a:srgbClr val="002060"/>
                </a:solidFill>
              </a:rPr>
              <a:t>31</a:t>
            </a:r>
            <a:r>
              <a:rPr lang="zh-CN" altLang="en-US" sz="1600" b="1" dirty="0">
                <a:solidFill>
                  <a:srgbClr val="002060"/>
                </a:solidFill>
              </a:rPr>
              <a:t>个</a:t>
            </a:r>
            <a:r>
              <a:rPr lang="en-US" altLang="zh-CN" sz="1600" b="1" dirty="0">
                <a:solidFill>
                  <a:srgbClr val="002060"/>
                </a:solidFill>
              </a:rPr>
              <a:t>1</a:t>
            </a:r>
            <a:r>
              <a:rPr lang="zh-CN" altLang="en-US" sz="1600" b="1" dirty="0">
                <a:solidFill>
                  <a:srgbClr val="002060"/>
                </a:solidFill>
              </a:rPr>
              <a:t>）</a:t>
            </a:r>
            <a:r>
              <a:rPr lang="en-US" altLang="zh-CN" sz="1600" b="1" dirty="0">
                <a:solidFill>
                  <a:srgbClr val="002060"/>
                </a:solidFill>
              </a:rPr>
              <a:t>=7FFF FFFFH= 2,147,483,647</a:t>
            </a:r>
            <a:r>
              <a:rPr lang="zh-CN" altLang="en-US" sz="1600" b="1" dirty="0">
                <a:solidFill>
                  <a:srgbClr val="002060"/>
                </a:solidFill>
              </a:rPr>
              <a:t>；</a:t>
            </a:r>
            <a:r>
              <a:rPr lang="en-US" altLang="zh-CN" sz="1600" b="1" dirty="0">
                <a:solidFill>
                  <a:srgbClr val="002060"/>
                </a:solidFill>
              </a:rPr>
              <a:t>f1(30)=7FFF FFFFH= 2,147,483,647</a:t>
            </a:r>
            <a:r>
              <a:rPr lang="zh-CN" altLang="en-US" sz="1600" b="1" dirty="0">
                <a:solidFill>
                  <a:srgbClr val="002060"/>
                </a:solidFill>
              </a:rPr>
              <a:t>（补码）。</a:t>
            </a:r>
            <a:endParaRPr lang="en-US" altLang="zh-CN" sz="1600" b="1" dirty="0">
              <a:solidFill>
                <a:srgbClr val="00206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FCB44D-BDA2-4959-8ABA-9C226D71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096" y="5373216"/>
            <a:ext cx="5387807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43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6117A-B7E6-4188-B7EE-E7031513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2.2.5  </a:t>
            </a:r>
            <a:r>
              <a:rPr lang="zh-CN" altLang="en-US" b="1" dirty="0">
                <a:ea typeface="黑体" pitchFamily="49" charset="-122"/>
              </a:rPr>
              <a:t>计算机中的数据类型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C6CAB28-D16A-4D84-A23F-111403362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136904" cy="3523530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f2(127)</a:t>
            </a: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的机器数为</a:t>
            </a:r>
            <a:r>
              <a:rPr lang="en-US" altLang="zh-C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7F80 0000H</a:t>
            </a: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，对应的值是什么？若要使</a:t>
            </a:r>
            <a:r>
              <a:rPr lang="en-US" altLang="zh-C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f2(n)</a:t>
            </a: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的结果不溢出，则最大的</a:t>
            </a:r>
            <a:r>
              <a:rPr lang="en-US" altLang="zh-C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是多少？</a:t>
            </a:r>
            <a:endParaRPr lang="en-US" altLang="zh-CN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答：</a:t>
            </a:r>
            <a:endParaRPr lang="en-US" altLang="zh-CN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浮点数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7F80 0000H=0111 1111 1000 0000 0000 0000 0000 0000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E=1111 1111=255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M=0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，对应值为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+∞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（见教材表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2.6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）。</a:t>
            </a:r>
            <a:endParaRPr lang="en-US" altLang="zh-CN" sz="16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当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n=126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时，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f(126)=1…1(127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个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1)=2</a:t>
            </a:r>
            <a:r>
              <a:rPr lang="en-US" altLang="zh-CN" sz="1600" b="1" baseline="30000" dirty="0">
                <a:solidFill>
                  <a:srgbClr val="002060"/>
                </a:solidFill>
                <a:cs typeface="Times New Roman" panose="02020603050405020304" pitchFamily="18" charset="0"/>
              </a:rPr>
              <a:t>127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-1=(2-2</a:t>
            </a:r>
            <a:r>
              <a:rPr lang="en-US" altLang="zh-CN" sz="1600" b="1" baseline="30000" dirty="0">
                <a:solidFill>
                  <a:srgbClr val="002060"/>
                </a:solidFill>
                <a:cs typeface="Times New Roman" panose="02020603050405020304" pitchFamily="18" charset="0"/>
              </a:rPr>
              <a:t>-126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)x2</a:t>
            </a:r>
            <a:r>
              <a:rPr lang="en-US" altLang="zh-CN" sz="1600" b="1" baseline="30000" dirty="0">
                <a:solidFill>
                  <a:srgbClr val="002060"/>
                </a:solidFill>
                <a:cs typeface="Times New Roman" panose="02020603050405020304" pitchFamily="18" charset="0"/>
              </a:rPr>
              <a:t>126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=1.1…1(126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个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1)x2</a:t>
            </a:r>
            <a:r>
              <a:rPr lang="en-US" altLang="zh-CN" sz="1600" b="1" baseline="30000" dirty="0">
                <a:solidFill>
                  <a:srgbClr val="002060"/>
                </a:solidFill>
                <a:cs typeface="Times New Roman" panose="02020603050405020304" pitchFamily="18" charset="0"/>
              </a:rPr>
              <a:t>126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，对应的阶码为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E=127+126=253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尾数部分舍入后阶码加</a:t>
            </a:r>
            <a:r>
              <a:rPr lang="en-US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，最终阶码</a:t>
            </a:r>
            <a:r>
              <a:rPr lang="en-US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E=254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，是单精度浮点数的最大阶码。故要使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f2(n)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的结果不溢出，最大的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126</a:t>
            </a:r>
            <a:r>
              <a:rPr lang="zh-CN" alt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。</a:t>
            </a:r>
            <a:endParaRPr lang="en-US" altLang="zh-CN" sz="18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FF74B9-8468-4E3C-AA3D-93E4EAA2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5113337"/>
            <a:ext cx="5387807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620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2.3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非数值数据的表示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6563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黑体" panose="02010609060101010101" pitchFamily="49" charset="-122"/>
              </a:rPr>
              <a:t>2.3.1  </a:t>
            </a:r>
            <a:r>
              <a:rPr lang="zh-CN" altLang="en-US" b="1" dirty="0">
                <a:ea typeface="黑体" panose="02010609060101010101" pitchFamily="49" charset="-122"/>
              </a:rPr>
              <a:t>字符表示</a:t>
            </a:r>
            <a:endParaRPr lang="en-US" altLang="zh-CN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1800" b="1" dirty="0">
                <a:solidFill>
                  <a:srgbClr val="C00000"/>
                </a:solidFill>
              </a:rPr>
              <a:t>ASCII</a:t>
            </a:r>
            <a:r>
              <a:rPr lang="zh-CN" altLang="en-US" sz="1800" b="1" dirty="0">
                <a:solidFill>
                  <a:srgbClr val="C00000"/>
                </a:solidFill>
              </a:rPr>
              <a:t>码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American Standard Code for Information Interchange</a:t>
            </a:r>
            <a:r>
              <a:rPr lang="zh-CN" altLang="en-US" sz="1800" b="1" dirty="0"/>
              <a:t>，美国信息交换标准代码，用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位二进制数表示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个字符。见教材表</a:t>
            </a:r>
            <a:r>
              <a:rPr lang="en-US" altLang="zh-CN" sz="1800" b="1" dirty="0"/>
              <a:t>2.14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>
                <a:solidFill>
                  <a:srgbClr val="C00000"/>
                </a:solidFill>
              </a:rPr>
              <a:t>扩展</a:t>
            </a:r>
            <a:r>
              <a:rPr lang="en-US" altLang="zh-CN" sz="1800" b="1" dirty="0">
                <a:solidFill>
                  <a:srgbClr val="C00000"/>
                </a:solidFill>
              </a:rPr>
              <a:t>ASCII</a:t>
            </a:r>
            <a:r>
              <a:rPr lang="zh-CN" altLang="en-US" sz="1800" b="1" dirty="0">
                <a:solidFill>
                  <a:srgbClr val="C00000"/>
                </a:solidFill>
              </a:rPr>
              <a:t>码</a:t>
            </a:r>
            <a:r>
              <a:rPr lang="zh-CN" altLang="en-US" sz="1800" b="1" dirty="0"/>
              <a:t>：在标准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码基础上，增加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个字符，共</a:t>
            </a:r>
            <a:r>
              <a:rPr lang="en-US" altLang="zh-CN" sz="1800" b="1" dirty="0"/>
              <a:t>256</a:t>
            </a:r>
            <a:r>
              <a:rPr lang="zh-CN" altLang="en-US" sz="1800" b="1" dirty="0"/>
              <a:t>个字符，用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位二进制数表示；其中前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个字符与标准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码相同，后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个字符为扩展的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吗。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1800" b="1" dirty="0">
                <a:solidFill>
                  <a:srgbClr val="C00000"/>
                </a:solidFill>
              </a:rPr>
              <a:t>MSB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Most Significant Bit</a:t>
            </a:r>
            <a:r>
              <a:rPr lang="zh-CN" altLang="en-US" sz="1800" b="1" dirty="0"/>
              <a:t>，最高有效位，如</a:t>
            </a:r>
            <a:r>
              <a:rPr lang="en-US" altLang="zh-CN" sz="1800" b="1" dirty="0"/>
              <a:t>85H=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en-US" altLang="zh-CN" sz="1800" b="1" dirty="0"/>
              <a:t>000 0101B</a:t>
            </a:r>
            <a:r>
              <a:rPr lang="zh-CN" altLang="en-US" sz="1800" b="1" dirty="0"/>
              <a:t>的最高有效位为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1800" b="1" dirty="0">
                <a:solidFill>
                  <a:srgbClr val="C00000"/>
                </a:solidFill>
              </a:rPr>
              <a:t>LSB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Least Significant Bit</a:t>
            </a:r>
            <a:r>
              <a:rPr lang="zh-CN" altLang="en-US" sz="1800" b="1" dirty="0"/>
              <a:t>，最低有效位，如</a:t>
            </a:r>
            <a:r>
              <a:rPr lang="en-US" altLang="zh-CN" sz="1800" b="1" dirty="0"/>
              <a:t>44H=0100 010</a:t>
            </a:r>
            <a:r>
              <a:rPr lang="en-US" altLang="zh-CN" sz="1800" b="1" dirty="0">
                <a:solidFill>
                  <a:srgbClr val="FF0000"/>
                </a:solidFill>
              </a:rPr>
              <a:t>0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的最低有效位为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。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524253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15F5BC1-0E08-43DA-933B-491264F988E9}"/>
              </a:ext>
            </a:extLst>
          </p:cNvPr>
          <p:cNvGrpSpPr/>
          <p:nvPr/>
        </p:nvGrpSpPr>
        <p:grpSpPr>
          <a:xfrm>
            <a:off x="1547664" y="332656"/>
            <a:ext cx="6197501" cy="5637257"/>
            <a:chOff x="1331640" y="692696"/>
            <a:chExt cx="6197501" cy="5637257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09C455D2-4366-4C65-94D4-37A2C65F4B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640" y="1196752"/>
              <a:ext cx="6197501" cy="5133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9F6C616-26AD-4CA2-92B3-0B4C5C127434}"/>
                </a:ext>
              </a:extLst>
            </p:cNvPr>
            <p:cNvSpPr txBox="1"/>
            <p:nvPr/>
          </p:nvSpPr>
          <p:spPr>
            <a:xfrm>
              <a:off x="2915816" y="692696"/>
              <a:ext cx="302433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表</a:t>
              </a:r>
              <a:r>
                <a:rPr lang="en-US" altLang="zh-CN" sz="1600" b="1" dirty="0"/>
                <a:t>2.14    </a:t>
              </a:r>
              <a:r>
                <a:rPr lang="zh-CN" altLang="en-US" sz="1600" b="1" dirty="0"/>
                <a:t>标准</a:t>
              </a:r>
              <a:r>
                <a:rPr lang="en-US" altLang="zh-CN" sz="1600" b="1" dirty="0"/>
                <a:t>ASCII</a:t>
              </a:r>
              <a:r>
                <a:rPr lang="zh-CN" altLang="en-US" sz="1600" b="1" dirty="0"/>
                <a:t>码（见教材）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85782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4B2871E-7C29-463A-8D42-B373321C173C}"/>
              </a:ext>
            </a:extLst>
          </p:cNvPr>
          <p:cNvGrpSpPr/>
          <p:nvPr/>
        </p:nvGrpSpPr>
        <p:grpSpPr>
          <a:xfrm>
            <a:off x="1835696" y="116632"/>
            <a:ext cx="5861818" cy="6293620"/>
            <a:chOff x="1763688" y="476672"/>
            <a:chExt cx="5861818" cy="6293620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307E1565-5201-4C2E-8C47-0FE6D9FCC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8" y="1052736"/>
              <a:ext cx="5861818" cy="5717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B827B20-3591-4521-ABC8-5B888197820B}"/>
                </a:ext>
              </a:extLst>
            </p:cNvPr>
            <p:cNvSpPr txBox="1"/>
            <p:nvPr/>
          </p:nvSpPr>
          <p:spPr>
            <a:xfrm>
              <a:off x="3275856" y="476672"/>
              <a:ext cx="28083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扩展</a:t>
              </a:r>
              <a:r>
                <a:rPr lang="en-US" altLang="zh-CN" sz="1800" b="1" dirty="0"/>
                <a:t>ASCII</a:t>
              </a:r>
              <a:r>
                <a:rPr lang="zh-CN" altLang="en-US" sz="1800" b="1" dirty="0"/>
                <a:t>码（扩展部分）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132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A35C5-EDC1-489B-B949-01E68582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99" y="44624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2.3.2  </a:t>
            </a:r>
            <a:r>
              <a:rPr lang="zh-CN" altLang="en-US" sz="4400" b="1" dirty="0">
                <a:ea typeface="黑体" pitchFamily="49" charset="-122"/>
              </a:rPr>
              <a:t>汉字编码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01" y="980728"/>
            <a:ext cx="8229600" cy="5688632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国标码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GB2312</a:t>
            </a:r>
            <a:r>
              <a:rPr lang="zh-CN" altLang="en-US" sz="1600" b="1" dirty="0"/>
              <a:t>编码）：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个字节（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位）表示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个汉字，每个字节的</a:t>
            </a:r>
            <a:r>
              <a:rPr lang="en-US" altLang="zh-CN" sz="1400" b="1" dirty="0"/>
              <a:t>MSB</a:t>
            </a:r>
            <a:r>
              <a:rPr lang="zh-CN" altLang="en-US" sz="1400" b="1" dirty="0"/>
              <a:t>均为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，实际上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个汉字用</a:t>
            </a:r>
            <a:r>
              <a:rPr lang="en-US" altLang="zh-CN" sz="1400" b="1" dirty="0"/>
              <a:t>14</a:t>
            </a:r>
            <a:r>
              <a:rPr lang="zh-CN" altLang="en-US" sz="1400" b="1" dirty="0"/>
              <a:t>位二进制数表示。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国标码包含</a:t>
            </a:r>
            <a:r>
              <a:rPr lang="en-US" altLang="zh-CN" sz="1400" b="1" dirty="0"/>
              <a:t>7445</a:t>
            </a:r>
            <a:r>
              <a:rPr lang="zh-CN" altLang="en-US" sz="1400" b="1" dirty="0"/>
              <a:t>个字符：</a:t>
            </a:r>
            <a:r>
              <a:rPr lang="en-US" altLang="zh-CN" sz="1400" b="1" dirty="0"/>
              <a:t>6763</a:t>
            </a:r>
            <a:r>
              <a:rPr lang="zh-CN" altLang="en-US" sz="1400" b="1" dirty="0"/>
              <a:t>为常用汉字，</a:t>
            </a:r>
            <a:r>
              <a:rPr lang="en-US" altLang="zh-CN" sz="1400" b="1" dirty="0"/>
              <a:t>682</a:t>
            </a:r>
            <a:r>
              <a:rPr lang="zh-CN" altLang="en-US" sz="1400" b="1" dirty="0"/>
              <a:t>为全角非汉字字符。</a:t>
            </a:r>
            <a:endParaRPr lang="en-US" altLang="zh-CN" sz="1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区位码</a:t>
            </a:r>
            <a:r>
              <a:rPr lang="zh-CN" altLang="en-US" sz="1600" b="1" dirty="0"/>
              <a:t>（国标码的另一种表示形式）：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94</a:t>
            </a:r>
            <a:r>
              <a:rPr lang="zh-CN" altLang="en-US" sz="1400" b="1" dirty="0"/>
              <a:t>行（区，区号）、</a:t>
            </a:r>
            <a:r>
              <a:rPr lang="en-US" altLang="zh-CN" sz="1400" b="1" dirty="0"/>
              <a:t>94</a:t>
            </a:r>
            <a:r>
              <a:rPr lang="zh-CN" altLang="en-US" sz="1400" b="1" dirty="0"/>
              <a:t>列（位，位号）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区位码 </a:t>
            </a:r>
            <a:r>
              <a:rPr lang="en-US" altLang="zh-CN" sz="1400" b="1" dirty="0"/>
              <a:t>+ A0A0H = </a:t>
            </a:r>
            <a:r>
              <a:rPr lang="zh-CN" altLang="en-US" sz="1400" b="1" dirty="0"/>
              <a:t>国标码（</a:t>
            </a:r>
            <a:r>
              <a:rPr lang="en-US" altLang="zh-CN" sz="1400" b="1" dirty="0"/>
              <a:t>GB2312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GBK</a:t>
            </a:r>
            <a:r>
              <a:rPr lang="zh-CN" altLang="en-US" sz="1600" b="1" dirty="0">
                <a:solidFill>
                  <a:srgbClr val="C00000"/>
                </a:solidFill>
              </a:rPr>
              <a:t>标准</a:t>
            </a:r>
            <a:r>
              <a:rPr lang="zh-CN" altLang="en-US" sz="1600" b="1" dirty="0"/>
              <a:t>（扩展之后的国标码，</a:t>
            </a:r>
            <a:r>
              <a:rPr lang="en-US" altLang="zh-CN" sz="1600" b="1" dirty="0"/>
              <a:t>GB</a:t>
            </a:r>
            <a:r>
              <a:rPr lang="zh-CN" altLang="en-US" sz="1600" b="1" dirty="0"/>
              <a:t>表示国标、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表示扩展）：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不要求每个字节的</a:t>
            </a:r>
            <a:r>
              <a:rPr lang="en-US" altLang="zh-CN" sz="1400" b="1" dirty="0"/>
              <a:t>MSB</a:t>
            </a:r>
            <a:r>
              <a:rPr lang="zh-CN" altLang="en-US" sz="1400" b="1" dirty="0"/>
              <a:t>必须为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，增加了</a:t>
            </a:r>
            <a:r>
              <a:rPr lang="en-US" altLang="zh-CN" sz="1400" b="1" dirty="0"/>
              <a:t>20,000</a:t>
            </a:r>
            <a:r>
              <a:rPr lang="zh-CN" altLang="en-US" sz="1400" b="1" dirty="0"/>
              <a:t>个新的汉字和符号。</a:t>
            </a:r>
            <a:endParaRPr lang="en-US" altLang="zh-CN" sz="1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GB18030</a:t>
            </a:r>
            <a:r>
              <a:rPr lang="zh-CN" altLang="en-US" sz="1600" b="1" dirty="0">
                <a:solidFill>
                  <a:srgbClr val="C00000"/>
                </a:solidFill>
              </a:rPr>
              <a:t>标准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4</a:t>
            </a:r>
            <a:r>
              <a:rPr lang="zh-CN" altLang="en-US" sz="1400" b="1" dirty="0"/>
              <a:t>字节的汉字编码，支持少数民族文字。</a:t>
            </a:r>
            <a:endParaRPr lang="en-US" altLang="zh-CN" sz="1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UTF</a:t>
            </a:r>
            <a:r>
              <a:rPr lang="zh-CN" altLang="en-US" sz="1600" b="1" dirty="0">
                <a:solidFill>
                  <a:srgbClr val="C00000"/>
                </a:solidFill>
              </a:rPr>
              <a:t>编码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Unicode Transformation Format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UTF-8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UTF-16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UTF-32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C00000"/>
                </a:solidFill>
              </a:rPr>
              <a:t>Unicode</a:t>
            </a:r>
            <a:r>
              <a:rPr lang="zh-CN" altLang="en-US" sz="1600" b="1" dirty="0">
                <a:solidFill>
                  <a:srgbClr val="C00000"/>
                </a:solidFill>
              </a:rPr>
              <a:t>编码</a:t>
            </a:r>
            <a:r>
              <a:rPr lang="zh-CN" altLang="en-US" sz="1600" b="1" dirty="0"/>
              <a:t>：统一码</a:t>
            </a: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1800" b="1" dirty="0">
                <a:solidFill>
                  <a:srgbClr val="C00000"/>
                </a:solidFill>
              </a:rPr>
              <a:t>Big5</a:t>
            </a:r>
            <a:r>
              <a:rPr lang="zh-CN" altLang="en-US" sz="1800" b="1" dirty="0"/>
              <a:t>：又称为大五码或五大码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是使用繁体中文（正体中文）社区中最常用的电脑汉字字符集标准，共收录</a:t>
            </a:r>
            <a:r>
              <a:rPr lang="en-US" altLang="zh-CN" sz="1400" b="1" dirty="0"/>
              <a:t>13,060</a:t>
            </a:r>
            <a:r>
              <a:rPr lang="zh-CN" altLang="en-US" sz="1400" b="1" dirty="0"/>
              <a:t>个汉字。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3469136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E2601-340E-444E-8002-F383EDBE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008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2.3.2  </a:t>
            </a:r>
            <a:r>
              <a:rPr lang="zh-CN" altLang="en-US" sz="4400" b="1" dirty="0">
                <a:ea typeface="黑体" pitchFamily="49" charset="-122"/>
              </a:rPr>
              <a:t>汉字编码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23653-2BA7-4801-BFFE-CFAA37770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351" y="1161752"/>
            <a:ext cx="8229600" cy="5589240"/>
          </a:xfrm>
        </p:spPr>
        <p:txBody>
          <a:bodyPr/>
          <a:lstStyle/>
          <a:p>
            <a:pPr lvl="1"/>
            <a:r>
              <a:rPr lang="en-US" altLang="zh-CN" sz="2000" b="1" dirty="0"/>
              <a:t>1</a:t>
            </a:r>
            <a:r>
              <a:rPr lang="zh-CN" altLang="en-US" sz="2000" b="1" dirty="0"/>
              <a:t>、汉字处理流程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汉字</a:t>
            </a:r>
            <a:r>
              <a:rPr lang="zh-CN" altLang="en-US" sz="1600" b="1" dirty="0">
                <a:solidFill>
                  <a:srgbClr val="C00000"/>
                </a:solidFill>
              </a:rPr>
              <a:t>输入码</a:t>
            </a:r>
            <a:r>
              <a:rPr lang="zh-CN" altLang="en-US" sz="1600" b="1" dirty="0"/>
              <a:t>：也称为</a:t>
            </a:r>
            <a:r>
              <a:rPr lang="zh-CN" altLang="en-US" sz="1600" b="1" dirty="0">
                <a:solidFill>
                  <a:srgbClr val="C00000"/>
                </a:solidFill>
              </a:rPr>
              <a:t>外码</a:t>
            </a:r>
            <a:r>
              <a:rPr lang="zh-CN" altLang="en-US" sz="1600" b="1" dirty="0"/>
              <a:t>，就是使用英文键盘输入汉字时的编码。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汉字</a:t>
            </a:r>
            <a:r>
              <a:rPr lang="zh-CN" altLang="en-US" sz="1600" b="1" dirty="0">
                <a:solidFill>
                  <a:srgbClr val="C00000"/>
                </a:solidFill>
              </a:rPr>
              <a:t>机内码</a:t>
            </a:r>
            <a:r>
              <a:rPr lang="zh-CN" altLang="en-US" sz="1600" b="1" dirty="0"/>
              <a:t>：是计算机内部存储、处理加工和传输汉字时所用的统一编码</a:t>
            </a:r>
            <a:endParaRPr lang="en-US" altLang="zh-CN" sz="1600" b="1" dirty="0"/>
          </a:p>
          <a:p>
            <a:pPr marL="914400" lvl="2" indent="0">
              <a:buNone/>
            </a:pPr>
            <a:r>
              <a:rPr lang="zh-CN" altLang="en-US" sz="1600" b="1" dirty="0"/>
              <a:t>（如国标码、区位码、</a:t>
            </a:r>
            <a:r>
              <a:rPr lang="en-US" altLang="zh-CN" sz="1600" b="1" dirty="0"/>
              <a:t>Unicode</a:t>
            </a:r>
            <a:r>
              <a:rPr lang="zh-CN" altLang="en-US" sz="1600" b="1" dirty="0"/>
              <a:t>编码等）。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en-US" altLang="zh-CN" sz="2000" b="1" dirty="0"/>
              <a:t>2</a:t>
            </a:r>
            <a:r>
              <a:rPr lang="zh-CN" altLang="en-US" sz="2000" b="1" dirty="0"/>
              <a:t>、汉字</a:t>
            </a:r>
            <a:r>
              <a:rPr lang="zh-CN" altLang="en-US" sz="2000" b="1" dirty="0">
                <a:solidFill>
                  <a:srgbClr val="C00000"/>
                </a:solidFill>
              </a:rPr>
              <a:t>输入码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2"/>
            <a:r>
              <a:rPr lang="zh-CN" altLang="en-US" sz="1600" b="1" dirty="0"/>
              <a:t>流水码：如国标码、区位码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音码：如拼音码（全拼、简拼、双拼等）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形码：如五笔字型码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音形码：如自然码、钱码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1"/>
            <a:r>
              <a:rPr lang="en-US" altLang="zh-CN" sz="2000" b="1" dirty="0"/>
              <a:t>3</a:t>
            </a:r>
            <a:r>
              <a:rPr lang="zh-CN" altLang="en-US" sz="2000" b="1" dirty="0"/>
              <a:t>、汉字</a:t>
            </a:r>
            <a:r>
              <a:rPr lang="zh-CN" altLang="en-US" sz="2000" b="1" dirty="0">
                <a:solidFill>
                  <a:srgbClr val="C00000"/>
                </a:solidFill>
              </a:rPr>
              <a:t>字形码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2"/>
            <a:r>
              <a:rPr lang="zh-CN" altLang="en-US" sz="1600" b="1" dirty="0"/>
              <a:t>字形码是汉字的输出码，也称字型码。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汉字字形点阵：</a:t>
            </a:r>
            <a:r>
              <a:rPr lang="en-US" altLang="zh-CN" sz="1600" b="1" dirty="0"/>
              <a:t>16x16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24x24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32x32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48x48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32x32</a:t>
            </a:r>
            <a:r>
              <a:rPr lang="zh-CN" altLang="en-US" sz="1600" b="1" dirty="0"/>
              <a:t>点阵的汉字字形码需要</a:t>
            </a:r>
            <a:r>
              <a:rPr lang="en-US" altLang="zh-CN" sz="1600" b="1" dirty="0"/>
              <a:t>4Bx32=128B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128</a:t>
            </a:r>
            <a:r>
              <a:rPr lang="zh-CN" altLang="en-US" sz="1600" b="1" dirty="0"/>
              <a:t>字节）的存储空间（见教材图</a:t>
            </a:r>
            <a:r>
              <a:rPr lang="en-US" altLang="zh-CN" sz="1600" b="1" dirty="0"/>
              <a:t>2.15</a:t>
            </a:r>
            <a:r>
              <a:rPr lang="zh-CN" altLang="en-US" sz="1600" b="1" dirty="0"/>
              <a:t>）。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汉字库：存放汉字字形码的字库。</a:t>
            </a:r>
          </a:p>
        </p:txBody>
      </p:sp>
    </p:spTree>
    <p:extLst>
      <p:ext uri="{BB962C8B-B14F-4D97-AF65-F5344CB8AC3E}">
        <p14:creationId xmlns:p14="http://schemas.microsoft.com/office/powerpoint/2010/main" val="600298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2.4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数据信息的校验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0951" y="1295207"/>
            <a:ext cx="8229600" cy="3501946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计算机在对数据进行处理、传输和存储过程中难免出现错误。</a:t>
            </a:r>
            <a:r>
              <a:rPr lang="zh-CN" altLang="en-US" sz="1800" b="1" dirty="0">
                <a:solidFill>
                  <a:srgbClr val="C00000"/>
                </a:solidFill>
              </a:rPr>
              <a:t>校验码</a:t>
            </a:r>
            <a:r>
              <a:rPr lang="zh-CN" altLang="en-US" sz="1800" b="1" dirty="0"/>
              <a:t>是具有发现错误或纠正错误能力的数据编码。</a:t>
            </a:r>
            <a:endParaRPr lang="en-US" altLang="zh-CN" sz="18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r>
              <a:rPr lang="zh-CN" altLang="en-US" sz="1800" b="1" dirty="0"/>
              <a:t>校验码（</a:t>
            </a:r>
            <a:r>
              <a:rPr lang="en-US" altLang="zh-CN" sz="1800" b="1" dirty="0" err="1"/>
              <a:t>k+r</a:t>
            </a:r>
            <a:r>
              <a:rPr lang="zh-CN" altLang="en-US" sz="1800" b="1" dirty="0"/>
              <a:t>位）</a:t>
            </a:r>
            <a:r>
              <a:rPr lang="en-US" altLang="zh-CN" sz="1800" b="1" dirty="0"/>
              <a:t>= </a:t>
            </a:r>
            <a:r>
              <a:rPr lang="zh-CN" altLang="en-US" sz="1800" b="1" dirty="0"/>
              <a:t>原始数据（</a:t>
            </a:r>
            <a:r>
              <a:rPr lang="en-US" altLang="zh-CN" sz="1800" b="1" dirty="0"/>
              <a:t>k</a:t>
            </a:r>
            <a:r>
              <a:rPr lang="zh-CN" altLang="en-US" sz="1800" b="1" dirty="0"/>
              <a:t>位）</a:t>
            </a:r>
            <a:r>
              <a:rPr lang="en-US" altLang="zh-CN" sz="1800" b="1" dirty="0"/>
              <a:t>+ </a:t>
            </a:r>
            <a:r>
              <a:rPr lang="zh-CN" altLang="en-US" sz="1800" b="1" dirty="0"/>
              <a:t>校验数据（</a:t>
            </a:r>
            <a:r>
              <a:rPr lang="en-US" altLang="zh-CN" sz="1800" b="1" dirty="0"/>
              <a:t>r</a:t>
            </a:r>
            <a:r>
              <a:rPr lang="zh-CN" altLang="en-US" sz="1800" b="1" dirty="0"/>
              <a:t>位）</a:t>
            </a:r>
            <a:endParaRPr lang="en-US" altLang="zh-CN" sz="18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endParaRPr lang="en-US" altLang="zh-CN" sz="1800" b="1" dirty="0"/>
          </a:p>
          <a:p>
            <a:pPr eaLnBrk="1" hangingPunct="1"/>
            <a:r>
              <a:rPr lang="zh-CN" altLang="en-US" sz="1800" b="1" dirty="0"/>
              <a:t>其中校验数据是按照某种规则通过</a:t>
            </a:r>
            <a:r>
              <a:rPr lang="zh-CN" altLang="en-US" sz="1800" b="1" dirty="0">
                <a:solidFill>
                  <a:srgbClr val="C00000"/>
                </a:solidFill>
              </a:rPr>
              <a:t>编码电路</a:t>
            </a:r>
            <a:r>
              <a:rPr lang="zh-CN" altLang="en-US" sz="1800" b="1" dirty="0"/>
              <a:t>进行编码的。当校验码在传输或存储过程中出现错误时，会破坏预定的规则，通过</a:t>
            </a:r>
            <a:r>
              <a:rPr lang="zh-CN" altLang="en-US" sz="1800" b="1" dirty="0">
                <a:solidFill>
                  <a:srgbClr val="C00000"/>
                </a:solidFill>
              </a:rPr>
              <a:t>解码电路</a:t>
            </a:r>
            <a:r>
              <a:rPr lang="zh-CN" altLang="en-US" sz="1800" b="1" dirty="0"/>
              <a:t>可以发现或纠正错误。</a:t>
            </a:r>
            <a:endParaRPr lang="en-US" altLang="zh-CN" sz="1800" b="1" dirty="0"/>
          </a:p>
          <a:p>
            <a:pPr eaLnBrk="1" hangingPunct="1"/>
            <a:endParaRPr lang="en-US" altLang="zh-CN" sz="2000" b="1" dirty="0"/>
          </a:p>
          <a:p>
            <a:pPr eaLnBrk="1" hangingPunct="1"/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97D531-D664-49DF-A128-2194FBF4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95" y="2767793"/>
            <a:ext cx="3839111" cy="7563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62D14A-30CC-47D2-AEDA-77A366B2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4623930"/>
            <a:ext cx="5724128" cy="95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32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AEFDE-F266-4963-9548-C6DACAC0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2.4.1  </a:t>
            </a:r>
            <a:r>
              <a:rPr lang="zh-CN" altLang="en-US" b="1" dirty="0">
                <a:ea typeface="黑体" panose="02010609060101010101" pitchFamily="49" charset="-122"/>
              </a:rPr>
              <a:t>码距与校验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304917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2000" b="1" dirty="0"/>
              <a:t>码距（又称</a:t>
            </a:r>
            <a:r>
              <a:rPr lang="zh-CN" altLang="en-US" sz="2000" b="1" dirty="0">
                <a:solidFill>
                  <a:srgbClr val="C00000"/>
                </a:solidFill>
              </a:rPr>
              <a:t>海明距离</a:t>
            </a:r>
            <a:r>
              <a:rPr lang="zh-CN" altLang="en-US" sz="2000" b="1" dirty="0"/>
              <a:t>）：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两个编码对应二进制位不同的个数称为</a:t>
            </a:r>
            <a:r>
              <a:rPr lang="zh-CN" altLang="en-US" sz="1800" b="1" dirty="0">
                <a:solidFill>
                  <a:srgbClr val="C00000"/>
                </a:solidFill>
              </a:rPr>
              <a:t>码距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如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en-US" altLang="zh-CN" sz="1800" b="1" dirty="0"/>
              <a:t>01</a:t>
            </a:r>
            <a:r>
              <a:rPr lang="en-US" altLang="zh-CN" sz="1800" b="1" dirty="0">
                <a:solidFill>
                  <a:srgbClr val="C00000"/>
                </a:solidFill>
              </a:rPr>
              <a:t>01</a:t>
            </a:r>
            <a:r>
              <a:rPr lang="zh-CN" altLang="en-US" sz="1800" b="1" dirty="0"/>
              <a:t>和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en-US" altLang="zh-CN" sz="1800" b="1" dirty="0"/>
              <a:t>01</a:t>
            </a:r>
            <a:r>
              <a:rPr lang="en-US" altLang="zh-CN" sz="1800" b="1" dirty="0">
                <a:solidFill>
                  <a:srgbClr val="C00000"/>
                </a:solidFill>
              </a:rPr>
              <a:t>10</a:t>
            </a:r>
            <a:r>
              <a:rPr lang="zh-CN" altLang="en-US" sz="1800" b="1" dirty="0"/>
              <a:t>，第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位不同，则码距为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一个有效编码集中，任意两个码字的</a:t>
            </a:r>
            <a:r>
              <a:rPr lang="zh-CN" altLang="en-US" sz="1800" b="1" dirty="0">
                <a:solidFill>
                  <a:srgbClr val="C00000"/>
                </a:solidFill>
              </a:rPr>
              <a:t>最小码距</a:t>
            </a:r>
            <a:r>
              <a:rPr lang="zh-CN" altLang="en-US" sz="1800" b="1" dirty="0"/>
              <a:t>称为该编码集的码距。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校验码的目的就是</a:t>
            </a:r>
            <a:r>
              <a:rPr lang="zh-CN" altLang="en-US" sz="1800" b="1" dirty="0">
                <a:solidFill>
                  <a:srgbClr val="C00000"/>
                </a:solidFill>
              </a:rPr>
              <a:t>扩大码距</a:t>
            </a:r>
            <a:r>
              <a:rPr lang="zh-CN" altLang="en-US" sz="1800" b="1" dirty="0"/>
              <a:t>，从而通过编码规则来识别错误代码。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码距越大，抗干扰能力、纠错能力越强；但是，数据冗余越大，编码效率越低。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19359041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5836C-C75D-4355-97CF-993166C7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2.4.1  </a:t>
            </a:r>
            <a:r>
              <a:rPr lang="zh-CN" altLang="en-US" b="1" dirty="0">
                <a:ea typeface="黑体" panose="02010609060101010101" pitchFamily="49" charset="-122"/>
              </a:rPr>
              <a:t>码距与校验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141168"/>
          </a:xfrm>
        </p:spPr>
        <p:txBody>
          <a:bodyPr/>
          <a:lstStyle/>
          <a:p>
            <a:pPr lvl="1" eaLnBrk="1" hangingPunct="1"/>
            <a:r>
              <a:rPr lang="zh-CN" altLang="en-US" sz="2400" b="1" dirty="0"/>
              <a:t>例</a:t>
            </a:r>
            <a:r>
              <a:rPr lang="en-US" altLang="zh-CN" sz="2400" b="1" dirty="0"/>
              <a:t>2.10</a:t>
            </a:r>
            <a:r>
              <a:rPr lang="zh-CN" altLang="en-US" sz="2400" b="1" dirty="0"/>
              <a:t>：现有两种编码体系，分别分析它们各自的码距：</a:t>
            </a:r>
            <a:endParaRPr lang="en-US" altLang="zh-CN" sz="32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）设用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位二进制数表示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种状态：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～</a:t>
            </a:r>
            <a:r>
              <a:rPr lang="en-US" altLang="zh-CN" sz="1800" b="1" dirty="0"/>
              <a:t>1111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位二进制数可表示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种状态：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0011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0101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0110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1001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1010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1100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1111</a:t>
            </a:r>
          </a:p>
          <a:p>
            <a:pPr lvl="1" eaLnBrk="1" hangingPunct="1"/>
            <a:r>
              <a:rPr lang="zh-CN" altLang="en-US" sz="2400" b="1" dirty="0"/>
              <a:t>解：</a:t>
            </a:r>
            <a:endParaRPr lang="en-US" altLang="zh-CN" sz="3200" b="1" dirty="0"/>
          </a:p>
          <a:p>
            <a:pPr lvl="2" eaLnBrk="1" hangingPunct="1"/>
            <a:r>
              <a:rPr lang="zh-CN" altLang="en-US" sz="1800" b="1" dirty="0"/>
              <a:t>第（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）种编码的</a:t>
            </a:r>
            <a:r>
              <a:rPr lang="zh-CN" altLang="en-US" sz="1800" b="1" dirty="0">
                <a:solidFill>
                  <a:srgbClr val="C00000"/>
                </a:solidFill>
              </a:rPr>
              <a:t>码距为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/>
              <a:t>（例如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0001</a:t>
            </a:r>
            <a:r>
              <a:rPr lang="zh-CN" altLang="en-US" sz="1800" b="1" dirty="0"/>
              <a:t>，只有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位不同），任何一个合法编码发生一位错误时，就会变成另外一位合法编码，因此这种编码</a:t>
            </a:r>
            <a:r>
              <a:rPr lang="zh-CN" altLang="en-US" sz="1800" b="1" dirty="0">
                <a:solidFill>
                  <a:srgbClr val="C00000"/>
                </a:solidFill>
              </a:rPr>
              <a:t>不具备检测错误的能力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第（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）种编码的</a:t>
            </a:r>
            <a:r>
              <a:rPr lang="zh-CN" altLang="en-US" sz="1800" b="1" dirty="0">
                <a:solidFill>
                  <a:srgbClr val="C00000"/>
                </a:solidFill>
              </a:rPr>
              <a:t>最小码距为</a:t>
            </a: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zh-CN" altLang="en-US" sz="1800" b="1" dirty="0"/>
              <a:t>（例如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00011</a:t>
            </a:r>
            <a:r>
              <a:rPr lang="zh-CN" altLang="en-US" sz="1800" b="1" dirty="0"/>
              <a:t>，有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位不同），任何一个合法编码如果发生一位错误时（如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变成</a:t>
            </a:r>
            <a:r>
              <a:rPr lang="en-US" altLang="zh-CN" sz="1800" b="1" dirty="0"/>
              <a:t>1000</a:t>
            </a:r>
            <a:r>
              <a:rPr lang="zh-CN" altLang="en-US" sz="1800" b="1" dirty="0"/>
              <a:t>），就会变成无效编码，因此这种编码可以</a:t>
            </a:r>
            <a:r>
              <a:rPr lang="zh-CN" altLang="en-US" sz="1800" b="1" dirty="0">
                <a:solidFill>
                  <a:srgbClr val="C00000"/>
                </a:solidFill>
              </a:rPr>
              <a:t>识别一位错误</a:t>
            </a:r>
            <a:r>
              <a:rPr lang="zh-CN" altLang="en-US" sz="1800" b="1" dirty="0"/>
              <a:t>。但是发生二位错误时（如</a:t>
            </a:r>
            <a:r>
              <a:rPr lang="en-US" altLang="zh-CN" sz="1800" b="1" dirty="0"/>
              <a:t>0000</a:t>
            </a:r>
            <a:r>
              <a:rPr lang="zh-CN" altLang="en-US" sz="1800" b="1" dirty="0"/>
              <a:t>变成</a:t>
            </a:r>
            <a:r>
              <a:rPr lang="en-US" altLang="zh-CN" sz="1800" b="1" dirty="0"/>
              <a:t>0011</a:t>
            </a:r>
            <a:r>
              <a:rPr lang="zh-CN" altLang="en-US" sz="1800" b="1" dirty="0"/>
              <a:t>），又会变成另一个合法的编码，因此该编码对</a:t>
            </a:r>
            <a:r>
              <a:rPr lang="zh-CN" altLang="en-US" sz="1800" b="1" dirty="0">
                <a:solidFill>
                  <a:srgbClr val="C00000"/>
                </a:solidFill>
              </a:rPr>
              <a:t>两位错误无法检测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2" eaLnBrk="1" hangingPunct="1"/>
            <a:endParaRPr lang="en-US" altLang="zh-CN" sz="3600" b="1" dirty="0"/>
          </a:p>
          <a:p>
            <a:pPr lvl="2" eaLnBrk="1" hangingPunct="1"/>
            <a:endParaRPr lang="en-US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26741036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0CFFF4A-B6E6-470B-9FA3-813AE61E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anose="02010609060101010101" pitchFamily="49" charset="-122"/>
              </a:rPr>
              <a:t>2.4.1  </a:t>
            </a:r>
            <a:r>
              <a:rPr lang="zh-CN" altLang="en-US" b="1" dirty="0">
                <a:ea typeface="黑体" panose="02010609060101010101" pitchFamily="49" charset="-122"/>
              </a:rPr>
              <a:t>码距与校验</a:t>
            </a:r>
            <a:endParaRPr lang="zh-CN" altLang="en-US" dirty="0"/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1217" y="1266835"/>
            <a:ext cx="8229600" cy="477173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码距（</a:t>
            </a:r>
            <a:r>
              <a:rPr lang="en-US" altLang="zh-CN" sz="1800" b="1" dirty="0"/>
              <a:t>d</a:t>
            </a:r>
            <a:r>
              <a:rPr lang="zh-CN" altLang="en-US" sz="1800" b="1" dirty="0"/>
              <a:t>）与校验码的检错（</a:t>
            </a:r>
            <a:r>
              <a:rPr lang="en-US" altLang="zh-CN" sz="1800" b="1" dirty="0"/>
              <a:t>e</a:t>
            </a:r>
            <a:r>
              <a:rPr lang="zh-CN" altLang="en-US" sz="1800" b="1" dirty="0"/>
              <a:t>）和纠错（</a:t>
            </a:r>
            <a:r>
              <a:rPr lang="en-US" altLang="zh-CN" sz="1800" b="1" dirty="0"/>
              <a:t>t</a:t>
            </a:r>
            <a:r>
              <a:rPr lang="zh-CN" altLang="en-US" sz="1800" b="1" dirty="0"/>
              <a:t>）能力的关系（见教材表</a:t>
            </a:r>
            <a:r>
              <a:rPr lang="en-US" altLang="zh-CN" sz="1800" b="1" dirty="0"/>
              <a:t>2.16</a:t>
            </a:r>
            <a:r>
              <a:rPr lang="zh-CN" altLang="en-US" sz="1800" b="1" dirty="0"/>
              <a:t>）：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不同码距的检错、纠错能力（见教材表</a:t>
            </a:r>
            <a:r>
              <a:rPr lang="en-US" altLang="zh-CN" sz="1800" b="1" dirty="0"/>
              <a:t>2.17</a:t>
            </a:r>
            <a:r>
              <a:rPr lang="zh-CN" altLang="en-US" sz="1800" b="1" dirty="0"/>
              <a:t>）：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endParaRPr lang="en-US" altLang="zh-CN" sz="3200" b="1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A9E3ED1-A0B4-4629-8E31-51FA1DE95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901770"/>
              </p:ext>
            </p:extLst>
          </p:nvPr>
        </p:nvGraphicFramePr>
        <p:xfrm>
          <a:off x="1475657" y="1945640"/>
          <a:ext cx="6192687" cy="141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076">
                  <a:extLst>
                    <a:ext uri="{9D8B030D-6E8A-4147-A177-3AD203B41FA5}">
                      <a16:colId xmlns:a16="http://schemas.microsoft.com/office/drawing/2014/main" val="1740663012"/>
                    </a:ext>
                  </a:extLst>
                </a:gridCol>
                <a:gridCol w="2339460">
                  <a:extLst>
                    <a:ext uri="{9D8B030D-6E8A-4147-A177-3AD203B41FA5}">
                      <a16:colId xmlns:a16="http://schemas.microsoft.com/office/drawing/2014/main" val="2154979790"/>
                    </a:ext>
                  </a:extLst>
                </a:gridCol>
                <a:gridCol w="3165151">
                  <a:extLst>
                    <a:ext uri="{9D8B030D-6E8A-4147-A177-3AD203B41FA5}">
                      <a16:colId xmlns:a16="http://schemas.microsoft.com/office/drawing/2014/main" val="699393989"/>
                    </a:ext>
                  </a:extLst>
                </a:gridCol>
              </a:tblGrid>
              <a:tr h="3528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码距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检错、纠错能力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726393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d</a:t>
                      </a:r>
                      <a:r>
                        <a:rPr lang="en-US" altLang="zh-CN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≥e+1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可检测</a:t>
                      </a:r>
                      <a:r>
                        <a:rPr lang="en-US" altLang="zh-CN" sz="1400" b="1" dirty="0"/>
                        <a:t>e</a:t>
                      </a:r>
                      <a:r>
                        <a:rPr lang="zh-CN" altLang="en-US" sz="1400" b="1" dirty="0"/>
                        <a:t>个错误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771604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/>
                        <a:t>d</a:t>
                      </a:r>
                      <a:r>
                        <a:rPr lang="en-US" altLang="zh-CN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≥2t+1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可纠正</a:t>
                      </a:r>
                      <a:r>
                        <a:rPr lang="en-US" altLang="zh-CN" sz="1400" b="1" dirty="0"/>
                        <a:t>t</a:t>
                      </a:r>
                      <a:r>
                        <a:rPr lang="zh-CN" altLang="en-US" sz="1400" b="1" dirty="0"/>
                        <a:t>个错误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398250"/>
                  </a:ext>
                </a:extLst>
              </a:tr>
              <a:tr h="35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/>
                        <a:t>d</a:t>
                      </a:r>
                      <a:r>
                        <a:rPr lang="en-US" altLang="zh-CN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≥e+t+1 &amp;&amp; </a:t>
                      </a:r>
                      <a:r>
                        <a:rPr lang="en-US" altLang="zh-CN" sz="1400" b="1" dirty="0" err="1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e≥t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可检测</a:t>
                      </a:r>
                      <a:r>
                        <a:rPr lang="en-US" altLang="zh-CN" sz="1400" b="1" dirty="0"/>
                        <a:t>e</a:t>
                      </a:r>
                      <a:r>
                        <a:rPr lang="zh-CN" altLang="en-US" sz="1400" b="1" dirty="0"/>
                        <a:t>个错误并纠正</a:t>
                      </a:r>
                      <a:r>
                        <a:rPr lang="en-US" altLang="zh-CN" sz="1400" b="1" dirty="0"/>
                        <a:t>t</a:t>
                      </a:r>
                      <a:r>
                        <a:rPr lang="zh-CN" altLang="en-US" sz="1400" b="1" dirty="0"/>
                        <a:t>个错误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40133"/>
                  </a:ext>
                </a:extLst>
              </a:tr>
            </a:tbl>
          </a:graphicData>
        </a:graphic>
      </p:graphicFrame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9D4692A0-9E9F-4F0E-8DED-AB151ED2A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35410"/>
              </p:ext>
            </p:extLst>
          </p:nvPr>
        </p:nvGraphicFramePr>
        <p:xfrm>
          <a:off x="1619672" y="3996930"/>
          <a:ext cx="6206586" cy="257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800">
                  <a:extLst>
                    <a:ext uri="{9D8B030D-6E8A-4147-A177-3AD203B41FA5}">
                      <a16:colId xmlns:a16="http://schemas.microsoft.com/office/drawing/2014/main" val="2416678185"/>
                    </a:ext>
                  </a:extLst>
                </a:gridCol>
                <a:gridCol w="1268012">
                  <a:extLst>
                    <a:ext uri="{9D8B030D-6E8A-4147-A177-3AD203B41FA5}">
                      <a16:colId xmlns:a16="http://schemas.microsoft.com/office/drawing/2014/main" val="4041247052"/>
                    </a:ext>
                  </a:extLst>
                </a:gridCol>
                <a:gridCol w="1268012">
                  <a:extLst>
                    <a:ext uri="{9D8B030D-6E8A-4147-A177-3AD203B41FA5}">
                      <a16:colId xmlns:a16="http://schemas.microsoft.com/office/drawing/2014/main" val="615000268"/>
                    </a:ext>
                  </a:extLst>
                </a:gridCol>
                <a:gridCol w="2602762">
                  <a:extLst>
                    <a:ext uri="{9D8B030D-6E8A-4147-A177-3AD203B41FA5}">
                      <a16:colId xmlns:a16="http://schemas.microsoft.com/office/drawing/2014/main" val="3414678833"/>
                    </a:ext>
                  </a:extLst>
                </a:gridCol>
              </a:tblGrid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码距（</a:t>
                      </a:r>
                      <a:r>
                        <a:rPr lang="en-US" altLang="zh-CN" sz="1400" b="1" dirty="0"/>
                        <a:t>d</a:t>
                      </a:r>
                      <a:r>
                        <a:rPr lang="zh-CN" altLang="en-US" sz="1400" b="1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检错（</a:t>
                      </a:r>
                      <a:r>
                        <a:rPr lang="en-US" altLang="zh-CN" sz="1400" b="1" dirty="0"/>
                        <a:t>e</a:t>
                      </a:r>
                      <a:r>
                        <a:rPr lang="zh-CN" altLang="en-US" sz="1400" b="1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纠错（</a:t>
                      </a:r>
                      <a:r>
                        <a:rPr lang="en-US" altLang="zh-CN" sz="1400" b="1" dirty="0"/>
                        <a:t>t</a:t>
                      </a:r>
                      <a:r>
                        <a:rPr lang="zh-CN" altLang="en-US" sz="1400" b="1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检错（</a:t>
                      </a:r>
                      <a:r>
                        <a:rPr lang="en-US" altLang="zh-CN" sz="1400" b="1" dirty="0"/>
                        <a:t>e</a:t>
                      </a:r>
                      <a:r>
                        <a:rPr lang="zh-CN" altLang="en-US" sz="1400" b="1" dirty="0"/>
                        <a:t>）且纠错（</a:t>
                      </a:r>
                      <a:r>
                        <a:rPr lang="en-US" altLang="zh-CN" sz="1400" b="1" dirty="0"/>
                        <a:t>t</a:t>
                      </a:r>
                      <a:r>
                        <a:rPr lang="zh-CN" altLang="en-US" sz="1400" b="1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55507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0, 0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468677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1, 0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29884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1, 1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291294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2, 1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74739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2, 1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4798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5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3, 2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7938"/>
                  </a:ext>
                </a:extLst>
              </a:tr>
              <a:tr h="3222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7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3, 3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589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5299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ACB54-B68C-4CF1-B71E-FB967B1E0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31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2.4.2  </a:t>
            </a:r>
            <a:r>
              <a:rPr lang="zh-CN" altLang="en-US" b="1" dirty="0">
                <a:ea typeface="黑体" pitchFamily="49" charset="-122"/>
              </a:rPr>
              <a:t>奇偶校验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9" y="1185797"/>
            <a:ext cx="8229600" cy="5400600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、简单奇偶校验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奇校验</a:t>
            </a:r>
            <a:r>
              <a:rPr lang="zh-CN" altLang="en-US" sz="1800" b="1" dirty="0"/>
              <a:t>：校验码 </a:t>
            </a:r>
            <a:r>
              <a:rPr lang="en-US" altLang="zh-CN" sz="1800" b="1" dirty="0"/>
              <a:t>= </a:t>
            </a:r>
            <a:r>
              <a:rPr lang="zh-CN" altLang="en-US" sz="1800" b="1" dirty="0"/>
              <a:t>原始数据 </a:t>
            </a:r>
            <a:r>
              <a:rPr lang="en-US" altLang="zh-CN" sz="1800" b="1" dirty="0"/>
              <a:t>+ 1</a:t>
            </a:r>
            <a:r>
              <a:rPr lang="zh-CN" altLang="en-US" sz="1800" b="1" dirty="0"/>
              <a:t>位校验数据，校验码中</a:t>
            </a:r>
            <a:r>
              <a:rPr lang="en-US" altLang="zh-CN" sz="1800" b="1" dirty="0">
                <a:highlight>
                  <a:srgbClr val="FFFF00"/>
                </a:highlight>
              </a:rPr>
              <a:t>1</a:t>
            </a:r>
            <a:r>
              <a:rPr lang="zh-CN" altLang="en-US" sz="1800" b="1" dirty="0">
                <a:highlight>
                  <a:srgbClr val="FFFF00"/>
                </a:highlight>
              </a:rPr>
              <a:t>的个数为奇数</a:t>
            </a:r>
            <a:r>
              <a:rPr lang="zh-CN" altLang="en-US" sz="1800" b="1" dirty="0"/>
              <a:t>个。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=000 0000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=0000 000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=111 1111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=1111 111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=101 1001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=1011 001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C00000"/>
                </a:solidFill>
              </a:rPr>
              <a:t>偶校验</a:t>
            </a:r>
            <a:r>
              <a:rPr lang="zh-CN" altLang="en-US" sz="1800" b="1" dirty="0"/>
              <a:t>：校验码 </a:t>
            </a:r>
            <a:r>
              <a:rPr lang="en-US" altLang="zh-CN" sz="1800" b="1" dirty="0"/>
              <a:t>= </a:t>
            </a:r>
            <a:r>
              <a:rPr lang="zh-CN" altLang="en-US" sz="1800" b="1" dirty="0"/>
              <a:t>原始数据 </a:t>
            </a:r>
            <a:r>
              <a:rPr lang="en-US" altLang="zh-CN" sz="1800" b="1" dirty="0"/>
              <a:t>+ 1</a:t>
            </a:r>
            <a:r>
              <a:rPr lang="zh-CN" altLang="en-US" sz="1800" b="1" dirty="0"/>
              <a:t>位校验数据，校验码中</a:t>
            </a:r>
            <a:r>
              <a:rPr lang="en-US" altLang="zh-CN" sz="1800" b="1" dirty="0">
                <a:highlight>
                  <a:srgbClr val="FFFF00"/>
                </a:highlight>
              </a:rPr>
              <a:t>1</a:t>
            </a:r>
            <a:r>
              <a:rPr lang="zh-CN" altLang="en-US" sz="1800" b="1" dirty="0">
                <a:highlight>
                  <a:srgbClr val="FFFF00"/>
                </a:highlight>
              </a:rPr>
              <a:t>的个数为偶</a:t>
            </a:r>
            <a:r>
              <a:rPr lang="zh-CN" altLang="en-US" sz="1800" b="1" dirty="0"/>
              <a:t>数个。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=000 0000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=0000 000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=111 1111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=1111 111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=101 1001</a:t>
            </a:r>
            <a:r>
              <a:rPr lang="zh-CN" altLang="en-US" sz="1600" b="1" dirty="0"/>
              <a:t>，校验数据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，校验码</a:t>
            </a:r>
            <a:r>
              <a:rPr lang="en-US" altLang="zh-CN" sz="1600" b="1" dirty="0"/>
              <a:t>=1011 001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endParaRPr lang="en-US" altLang="zh-CN" sz="105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3600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D879D-EBFE-43F8-831C-A475633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3775"/>
            <a:ext cx="8229600" cy="994122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2.4.2  </a:t>
            </a:r>
            <a:r>
              <a:rPr lang="zh-CN" altLang="en-US" b="1" dirty="0">
                <a:ea typeface="黑体" pitchFamily="49" charset="-122"/>
              </a:rPr>
              <a:t>奇偶校验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19"/>
            <a:ext cx="8229600" cy="5915505"/>
          </a:xfrm>
        </p:spPr>
        <p:txBody>
          <a:bodyPr rtlCol="0">
            <a:normAutofit fontScale="85000" lnSpcReduction="20000"/>
          </a:bodyPr>
          <a:lstStyle/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000" b="1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设原始数据为：</a:t>
            </a:r>
            <a:r>
              <a:rPr lang="en-US" altLang="zh-CN" sz="1900" b="1" dirty="0"/>
              <a:t>D = D</a:t>
            </a:r>
            <a:r>
              <a:rPr lang="en-US" altLang="zh-CN" sz="1900" b="1" baseline="-25000" dirty="0"/>
              <a:t>1</a:t>
            </a:r>
            <a:r>
              <a:rPr lang="en-US" altLang="zh-CN" sz="1900" b="1" dirty="0"/>
              <a:t>D</a:t>
            </a:r>
            <a:r>
              <a:rPr lang="en-US" altLang="zh-CN" sz="1900" b="1" baseline="-25000" dirty="0"/>
              <a:t>2</a:t>
            </a:r>
            <a:r>
              <a:rPr lang="en-US" altLang="zh-CN" sz="1900" b="1" dirty="0"/>
              <a:t>…</a:t>
            </a:r>
            <a:r>
              <a:rPr lang="en-US" altLang="zh-CN" sz="1900" b="1" dirty="0" err="1"/>
              <a:t>D</a:t>
            </a:r>
            <a:r>
              <a:rPr lang="en-US" altLang="zh-CN" sz="1900" b="1" baseline="-25000" dirty="0" err="1"/>
              <a:t>n</a:t>
            </a: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奇校验位</a:t>
            </a:r>
            <a:r>
              <a:rPr lang="en-US" altLang="zh-CN" sz="1900" b="1" dirty="0"/>
              <a:t>P = </a:t>
            </a:r>
            <a:r>
              <a:rPr lang="zh-CN" altLang="en-US" sz="1900" b="1" dirty="0"/>
              <a:t>非</a:t>
            </a:r>
            <a:r>
              <a:rPr lang="en-US" altLang="zh-CN" sz="1900" b="1" dirty="0"/>
              <a:t>(D</a:t>
            </a:r>
            <a:r>
              <a:rPr lang="en-US" altLang="zh-CN" sz="1900" b="1" baseline="-25000" dirty="0"/>
              <a:t>1</a:t>
            </a:r>
            <a:r>
              <a:rPr lang="en-US" altLang="zh-CN" sz="1900" b="1" dirty="0">
                <a:ea typeface="等线" panose="02010600030101010101" pitchFamily="2" charset="-122"/>
              </a:rPr>
              <a:t>⊕D</a:t>
            </a:r>
            <a:r>
              <a:rPr lang="en-US" altLang="zh-CN" sz="1900" b="1" baseline="-25000" dirty="0"/>
              <a:t>2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/>
              <a:t>…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 err="1"/>
              <a:t>D</a:t>
            </a:r>
            <a:r>
              <a:rPr lang="en-US" altLang="zh-CN" sz="1900" b="1" baseline="-25000" dirty="0" err="1"/>
              <a:t>n</a:t>
            </a:r>
            <a:r>
              <a:rPr lang="en-US" altLang="zh-CN" sz="1900" b="1" dirty="0"/>
              <a:t>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偶校验位</a:t>
            </a:r>
            <a:r>
              <a:rPr lang="en-US" altLang="zh-CN" sz="1900" b="1" dirty="0"/>
              <a:t>P = D</a:t>
            </a:r>
            <a:r>
              <a:rPr lang="en-US" altLang="zh-CN" sz="1900" b="1" baseline="-25000" dirty="0"/>
              <a:t>1</a:t>
            </a:r>
            <a:r>
              <a:rPr lang="en-US" altLang="zh-CN" sz="1900" b="1" dirty="0">
                <a:ea typeface="等线" panose="02010600030101010101" pitchFamily="2" charset="-122"/>
              </a:rPr>
              <a:t>⊕D</a:t>
            </a:r>
            <a:r>
              <a:rPr lang="en-US" altLang="zh-CN" sz="1900" b="1" baseline="-25000" dirty="0"/>
              <a:t>2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/>
              <a:t>…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 err="1"/>
              <a:t>D</a:t>
            </a:r>
            <a:r>
              <a:rPr lang="en-US" altLang="zh-CN" sz="1900" b="1" baseline="-25000" dirty="0" err="1"/>
              <a:t>n</a:t>
            </a: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设生成的校验码为：</a:t>
            </a:r>
            <a:r>
              <a:rPr lang="en-US" altLang="zh-CN" sz="1900" b="1" dirty="0"/>
              <a:t>D</a:t>
            </a:r>
            <a:r>
              <a:rPr lang="en-US" altLang="zh-CN" sz="1900" b="1" baseline="-25000" dirty="0"/>
              <a:t>1</a:t>
            </a:r>
            <a:r>
              <a:rPr lang="en-US" altLang="zh-CN" sz="1900" b="1" dirty="0"/>
              <a:t>D</a:t>
            </a:r>
            <a:r>
              <a:rPr lang="en-US" altLang="zh-CN" sz="1900" b="1" baseline="-25000" dirty="0"/>
              <a:t>2</a:t>
            </a:r>
            <a:r>
              <a:rPr lang="en-US" altLang="zh-CN" sz="1900" b="1" dirty="0"/>
              <a:t>…</a:t>
            </a:r>
            <a:r>
              <a:rPr lang="en-US" altLang="zh-CN" sz="1900" b="1" dirty="0" err="1"/>
              <a:t>D</a:t>
            </a:r>
            <a:r>
              <a:rPr lang="en-US" altLang="zh-CN" sz="1900" b="1" baseline="-25000" dirty="0" err="1"/>
              <a:t>n</a:t>
            </a:r>
            <a:r>
              <a:rPr lang="en-US" altLang="zh-CN" sz="1900" b="1" dirty="0" err="1"/>
              <a:t>P</a:t>
            </a:r>
            <a:r>
              <a:rPr lang="zh-CN" altLang="en-US" sz="1900" b="1" dirty="0"/>
              <a:t>，接收到的校验码为：</a:t>
            </a:r>
            <a:r>
              <a:rPr lang="en-US" altLang="zh-CN" sz="1900" b="1" dirty="0"/>
              <a:t>D’</a:t>
            </a:r>
            <a:r>
              <a:rPr lang="en-US" altLang="zh-CN" sz="1900" b="1" baseline="-25000" dirty="0"/>
              <a:t>1</a:t>
            </a:r>
            <a:r>
              <a:rPr lang="en-US" altLang="zh-CN" sz="1900" b="1" dirty="0"/>
              <a:t>D’</a:t>
            </a:r>
            <a:r>
              <a:rPr lang="en-US" altLang="zh-CN" sz="1900" b="1" baseline="-25000" dirty="0"/>
              <a:t>2</a:t>
            </a:r>
            <a:r>
              <a:rPr lang="en-US" altLang="zh-CN" sz="1900" b="1" dirty="0"/>
              <a:t>…</a:t>
            </a:r>
            <a:r>
              <a:rPr lang="en-US" altLang="zh-CN" sz="1900" b="1" dirty="0" err="1"/>
              <a:t>D’</a:t>
            </a:r>
            <a:r>
              <a:rPr lang="en-US" altLang="zh-CN" sz="1900" b="1" baseline="-25000" dirty="0" err="1"/>
              <a:t>n</a:t>
            </a:r>
            <a:r>
              <a:rPr lang="en-US" altLang="zh-CN" sz="1900" b="1" dirty="0" err="1"/>
              <a:t>P</a:t>
            </a:r>
            <a:r>
              <a:rPr lang="en-US" altLang="zh-CN" sz="1900" b="1" dirty="0"/>
              <a:t>’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奇校验</a:t>
            </a:r>
            <a:r>
              <a:rPr lang="zh-CN" altLang="en-US" sz="1900" b="1" dirty="0">
                <a:solidFill>
                  <a:srgbClr val="C00000"/>
                </a:solidFill>
              </a:rPr>
              <a:t>检错位</a:t>
            </a:r>
            <a:r>
              <a:rPr lang="en-US" altLang="zh-CN" sz="1900" b="1" dirty="0"/>
              <a:t>G = </a:t>
            </a:r>
            <a:r>
              <a:rPr lang="zh-CN" altLang="en-US" sz="1900" b="1" dirty="0"/>
              <a:t>非</a:t>
            </a:r>
            <a:r>
              <a:rPr lang="en-US" altLang="zh-CN" sz="1900" b="1" dirty="0"/>
              <a:t>(D’</a:t>
            </a:r>
            <a:r>
              <a:rPr lang="en-US" altLang="zh-CN" sz="1900" b="1" baseline="-25000" dirty="0"/>
              <a:t>1</a:t>
            </a:r>
            <a:r>
              <a:rPr lang="en-US" altLang="zh-CN" sz="1900" b="1" dirty="0">
                <a:ea typeface="等线" panose="02010600030101010101" pitchFamily="2" charset="-122"/>
              </a:rPr>
              <a:t>⊕D’</a:t>
            </a:r>
            <a:r>
              <a:rPr lang="en-US" altLang="zh-CN" sz="1900" b="1" baseline="-25000" dirty="0"/>
              <a:t>2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/>
              <a:t>…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 err="1"/>
              <a:t>D’</a:t>
            </a:r>
            <a:r>
              <a:rPr lang="en-US" altLang="zh-CN" sz="1900" b="1" baseline="-25000" dirty="0" err="1"/>
              <a:t>n</a:t>
            </a:r>
            <a:r>
              <a:rPr lang="en-US" altLang="zh-CN" sz="1900" b="1" dirty="0" err="1">
                <a:ea typeface="等线" panose="02010600030101010101" pitchFamily="2" charset="-122"/>
              </a:rPr>
              <a:t>⊕P</a:t>
            </a:r>
            <a:r>
              <a:rPr lang="en-US" altLang="zh-CN" sz="1900" b="1" dirty="0">
                <a:ea typeface="等线" panose="02010600030101010101" pitchFamily="2" charset="-122"/>
              </a:rPr>
              <a:t>’</a:t>
            </a:r>
            <a:r>
              <a:rPr lang="en-US" altLang="zh-CN" sz="1900" b="1" dirty="0"/>
              <a:t>)</a:t>
            </a:r>
            <a:r>
              <a:rPr lang="zh-CN" altLang="en-US" sz="1900" b="1" dirty="0"/>
              <a:t>；</a:t>
            </a: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偶校验</a:t>
            </a:r>
            <a:r>
              <a:rPr lang="zh-CN" altLang="en-US" sz="1900" b="1" dirty="0">
                <a:solidFill>
                  <a:srgbClr val="C00000"/>
                </a:solidFill>
              </a:rPr>
              <a:t>检错位</a:t>
            </a:r>
            <a:r>
              <a:rPr lang="en-US" altLang="zh-CN" sz="1900" b="1" dirty="0"/>
              <a:t>G = D’</a:t>
            </a:r>
            <a:r>
              <a:rPr lang="en-US" altLang="zh-CN" sz="1900" b="1" baseline="-25000" dirty="0"/>
              <a:t>1</a:t>
            </a:r>
            <a:r>
              <a:rPr lang="en-US" altLang="zh-CN" sz="1900" b="1" dirty="0">
                <a:ea typeface="等线" panose="02010600030101010101" pitchFamily="2" charset="-122"/>
              </a:rPr>
              <a:t>⊕D’</a:t>
            </a:r>
            <a:r>
              <a:rPr lang="en-US" altLang="zh-CN" sz="1900" b="1" baseline="-25000" dirty="0"/>
              <a:t>2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/>
              <a:t>…</a:t>
            </a:r>
            <a:r>
              <a:rPr lang="en-US" altLang="zh-CN" sz="1900" b="1" dirty="0">
                <a:ea typeface="等线" panose="02010600030101010101" pitchFamily="2" charset="-122"/>
              </a:rPr>
              <a:t>⊕</a:t>
            </a:r>
            <a:r>
              <a:rPr lang="en-US" altLang="zh-CN" sz="1900" b="1" dirty="0" err="1"/>
              <a:t>D’</a:t>
            </a:r>
            <a:r>
              <a:rPr lang="en-US" altLang="zh-CN" sz="1900" b="1" baseline="-25000" dirty="0" err="1"/>
              <a:t>n</a:t>
            </a:r>
            <a:r>
              <a:rPr lang="en-US" altLang="zh-CN" sz="1900" b="1" dirty="0" err="1">
                <a:ea typeface="等线" panose="02010600030101010101" pitchFamily="2" charset="-122"/>
              </a:rPr>
              <a:t>⊕P</a:t>
            </a:r>
            <a:r>
              <a:rPr lang="en-US" altLang="zh-CN" sz="1900" b="1" dirty="0">
                <a:ea typeface="等线" panose="02010600030101010101" pitchFamily="2" charset="-122"/>
              </a:rPr>
              <a:t>’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若</a:t>
            </a:r>
            <a:r>
              <a:rPr lang="en-US" altLang="zh-CN" sz="1900" b="1" dirty="0"/>
              <a:t>G=0</a:t>
            </a:r>
            <a:r>
              <a:rPr lang="zh-CN" altLang="en-US" sz="1900" b="1" dirty="0"/>
              <a:t>，表示</a:t>
            </a:r>
            <a:r>
              <a:rPr lang="zh-CN" altLang="en-US" sz="1900" b="1" dirty="0">
                <a:solidFill>
                  <a:srgbClr val="C00000"/>
                </a:solidFill>
              </a:rPr>
              <a:t>没有奇数位错</a:t>
            </a:r>
            <a:r>
              <a:rPr lang="zh-CN" altLang="en-US" sz="1900" b="1" dirty="0"/>
              <a:t>（无错，或者是</a:t>
            </a:r>
            <a:r>
              <a:rPr lang="en-US" altLang="zh-CN" sz="1900" b="1" dirty="0"/>
              <a:t>2</a:t>
            </a:r>
            <a:r>
              <a:rPr lang="zh-CN" altLang="en-US" sz="1900" b="1" dirty="0"/>
              <a:t>位错，或者是</a:t>
            </a:r>
            <a:r>
              <a:rPr lang="en-US" altLang="zh-CN" sz="1900" b="1" dirty="0"/>
              <a:t>4</a:t>
            </a:r>
            <a:r>
              <a:rPr lang="zh-CN" altLang="en-US" sz="1900" b="1" dirty="0"/>
              <a:t>位错</a:t>
            </a:r>
            <a:r>
              <a:rPr lang="en-US" altLang="zh-CN" sz="1900" b="1" dirty="0"/>
              <a:t>……</a:t>
            </a:r>
            <a:r>
              <a:rPr lang="zh-CN" altLang="en-US" sz="1900" b="1" dirty="0"/>
              <a:t>）；若</a:t>
            </a:r>
            <a:r>
              <a:rPr lang="en-US" altLang="zh-CN" sz="1900" b="1" dirty="0"/>
              <a:t>G=1</a:t>
            </a:r>
            <a:r>
              <a:rPr lang="zh-CN" altLang="en-US" sz="1900" b="1" dirty="0"/>
              <a:t>，表示</a:t>
            </a:r>
            <a:r>
              <a:rPr lang="zh-CN" altLang="en-US" sz="1900" b="1" dirty="0">
                <a:solidFill>
                  <a:srgbClr val="C00000"/>
                </a:solidFill>
              </a:rPr>
              <a:t>有奇数位错</a:t>
            </a:r>
            <a:r>
              <a:rPr lang="zh-CN" altLang="en-US" sz="1900" b="1" dirty="0"/>
              <a:t>（</a:t>
            </a:r>
            <a:r>
              <a:rPr lang="en-US" altLang="zh-CN" sz="1900" b="1" dirty="0"/>
              <a:t>1</a:t>
            </a:r>
            <a:r>
              <a:rPr lang="zh-CN" altLang="en-US" sz="1900" b="1" dirty="0"/>
              <a:t>位错，或者是</a:t>
            </a:r>
            <a:r>
              <a:rPr lang="en-US" altLang="zh-CN" sz="1900" b="1" dirty="0"/>
              <a:t>3</a:t>
            </a:r>
            <a:r>
              <a:rPr lang="zh-CN" altLang="en-US" sz="1900" b="1" dirty="0"/>
              <a:t>位错，或者是</a:t>
            </a:r>
            <a:r>
              <a:rPr lang="en-US" altLang="zh-CN" sz="1900" b="1" dirty="0"/>
              <a:t>5</a:t>
            </a:r>
            <a:r>
              <a:rPr lang="zh-CN" altLang="en-US" sz="1900" b="1" dirty="0"/>
              <a:t>位错</a:t>
            </a:r>
            <a:r>
              <a:rPr lang="en-US" altLang="zh-CN" sz="1900" b="1" dirty="0"/>
              <a:t>……</a:t>
            </a:r>
            <a:r>
              <a:rPr lang="zh-CN" altLang="en-US" sz="1900" b="1" dirty="0"/>
              <a:t>）。</a:t>
            </a:r>
            <a:endParaRPr lang="en-US" altLang="zh-CN" sz="19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3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例如，奇校验：</a:t>
            </a:r>
            <a:endParaRPr lang="en-US" altLang="zh-CN" sz="15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原始数据</a:t>
            </a:r>
            <a:r>
              <a:rPr lang="en-US" altLang="zh-CN" sz="1500" b="1" dirty="0"/>
              <a:t>D=000 0000</a:t>
            </a:r>
            <a:r>
              <a:rPr lang="zh-CN" altLang="en-US" sz="1500" b="1" dirty="0"/>
              <a:t>，奇校验位</a:t>
            </a:r>
            <a:r>
              <a:rPr lang="en-US" altLang="zh-CN" sz="1500" b="1" dirty="0"/>
              <a:t>P=</a:t>
            </a:r>
            <a:r>
              <a:rPr lang="en-US" altLang="zh-CN" sz="1500" b="1" dirty="0">
                <a:solidFill>
                  <a:srgbClr val="C00000"/>
                </a:solidFill>
              </a:rPr>
              <a:t>1</a:t>
            </a:r>
            <a:r>
              <a:rPr lang="zh-CN" altLang="en-US" sz="1500" b="1" dirty="0"/>
              <a:t>，校验码</a:t>
            </a:r>
            <a:r>
              <a:rPr lang="en-US" altLang="zh-CN" sz="1500" b="1" dirty="0"/>
              <a:t>=0000 000</a:t>
            </a:r>
            <a:r>
              <a:rPr lang="en-US" altLang="zh-CN" sz="1500" b="1" dirty="0">
                <a:solidFill>
                  <a:srgbClr val="C00000"/>
                </a:solidFill>
              </a:rPr>
              <a:t>1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=0000 0001</a:t>
            </a:r>
            <a:r>
              <a:rPr lang="zh-CN" altLang="en-US" sz="1500" b="1" dirty="0"/>
              <a:t>，无错，奇校验检错位</a:t>
            </a:r>
            <a:r>
              <a:rPr lang="en-US" altLang="zh-CN" sz="1500" b="1" dirty="0"/>
              <a:t>G=0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=1000 0001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位错，奇校验检错位</a:t>
            </a:r>
            <a:r>
              <a:rPr lang="en-US" altLang="zh-CN" sz="1500" b="1" dirty="0"/>
              <a:t>G=1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=1100 0001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位错，奇校验检错位</a:t>
            </a:r>
            <a:r>
              <a:rPr lang="en-US" altLang="zh-CN" sz="1500" b="1" dirty="0"/>
              <a:t>G=0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=1110 0001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位错，奇校验检错位</a:t>
            </a:r>
            <a:r>
              <a:rPr lang="en-US" altLang="zh-CN" sz="1500" b="1" dirty="0"/>
              <a:t>G=1</a:t>
            </a:r>
            <a:endParaRPr lang="en-US" altLang="zh-CN" sz="1500" b="1" dirty="0">
              <a:solidFill>
                <a:srgbClr val="FF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500" b="1" dirty="0">
              <a:solidFill>
                <a:srgbClr val="FF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例如，偶校验：</a:t>
            </a:r>
            <a:endParaRPr lang="en-US" altLang="zh-CN" sz="1500" b="1" dirty="0"/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原始数据</a:t>
            </a:r>
            <a:r>
              <a:rPr lang="en-US" altLang="zh-CN" sz="1500" b="1" dirty="0"/>
              <a:t>D=000 0000</a:t>
            </a:r>
            <a:r>
              <a:rPr lang="zh-CN" altLang="en-US" sz="1500" b="1" dirty="0"/>
              <a:t>，偶校验位</a:t>
            </a:r>
            <a:r>
              <a:rPr lang="en-US" altLang="zh-CN" sz="1500" b="1" dirty="0"/>
              <a:t>P=</a:t>
            </a:r>
            <a:r>
              <a:rPr lang="en-US" altLang="zh-CN" sz="1500" b="1" dirty="0">
                <a:solidFill>
                  <a:srgbClr val="C00000"/>
                </a:solidFill>
              </a:rPr>
              <a:t>0</a:t>
            </a:r>
            <a:r>
              <a:rPr lang="zh-CN" altLang="en-US" sz="1500" b="1" dirty="0"/>
              <a:t>，校验码</a:t>
            </a:r>
            <a:r>
              <a:rPr lang="en-US" altLang="zh-CN" sz="1500" b="1" dirty="0"/>
              <a:t>=0000 000</a:t>
            </a:r>
            <a:r>
              <a:rPr lang="en-US" altLang="zh-CN" sz="1500" b="1" dirty="0">
                <a:solidFill>
                  <a:srgbClr val="C00000"/>
                </a:solidFill>
              </a:rPr>
              <a:t>0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=0000 0000</a:t>
            </a:r>
            <a:r>
              <a:rPr lang="zh-CN" altLang="en-US" sz="1500" b="1" dirty="0"/>
              <a:t>，无错，偶校验检错位</a:t>
            </a:r>
            <a:r>
              <a:rPr lang="en-US" altLang="zh-CN" sz="1500" b="1" dirty="0"/>
              <a:t>G=0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=1000 0000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位错，偶校验检错位</a:t>
            </a:r>
            <a:r>
              <a:rPr lang="en-US" altLang="zh-CN" sz="1500" b="1" dirty="0"/>
              <a:t>G=1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=1100 0000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位错，偶校验检错位</a:t>
            </a:r>
            <a:r>
              <a:rPr lang="en-US" altLang="zh-CN" sz="1500" b="1" dirty="0"/>
              <a:t>G=0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接收到的校验码</a:t>
            </a:r>
            <a:r>
              <a:rPr lang="en-US" altLang="zh-CN" sz="1500" b="1" dirty="0"/>
              <a:t>=1110 0000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3</a:t>
            </a:r>
            <a:r>
              <a:rPr lang="zh-CN" altLang="en-US" sz="1500" b="1" dirty="0"/>
              <a:t>位错，偶校验检错位</a:t>
            </a:r>
            <a:r>
              <a:rPr lang="en-US" altLang="zh-CN" sz="1500" b="1" dirty="0"/>
              <a:t>G=1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9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900" b="1" dirty="0"/>
              <a:t>简单奇偶校验只能</a:t>
            </a:r>
            <a:r>
              <a:rPr lang="zh-CN" altLang="en-US" sz="1900" b="1" dirty="0">
                <a:solidFill>
                  <a:srgbClr val="C00000"/>
                </a:solidFill>
              </a:rPr>
              <a:t>发现</a:t>
            </a:r>
            <a:r>
              <a:rPr lang="en-US" altLang="zh-CN" sz="1900" b="1" dirty="0">
                <a:solidFill>
                  <a:srgbClr val="C00000"/>
                </a:solidFill>
              </a:rPr>
              <a:t>1</a:t>
            </a:r>
            <a:r>
              <a:rPr lang="zh-CN" altLang="en-US" sz="1900" b="1" dirty="0">
                <a:solidFill>
                  <a:srgbClr val="C00000"/>
                </a:solidFill>
              </a:rPr>
              <a:t>位错，但不能纠正错误</a:t>
            </a:r>
            <a:r>
              <a:rPr lang="zh-CN" altLang="en-US" sz="1900" b="1" dirty="0"/>
              <a:t>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1919085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2AB5932-103A-446C-9467-4B0FB926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78858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2.4.2  </a:t>
            </a:r>
            <a:r>
              <a:rPr lang="zh-CN" altLang="en-US" b="1" dirty="0">
                <a:ea typeface="黑体" pitchFamily="49" charset="-122"/>
              </a:rPr>
              <a:t>奇偶校验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40" y="977124"/>
            <a:ext cx="8229600" cy="3315972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、交叉奇偶校验</a:t>
            </a:r>
            <a:endParaRPr lang="en-US" altLang="zh-CN" sz="2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简单奇偶校验</a:t>
            </a:r>
            <a:r>
              <a:rPr lang="zh-CN" altLang="en-US" sz="1600" b="1" dirty="0"/>
              <a:t>因为只有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位校验位，因此只能发现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位出错，并且不能纠错（即不知道是哪一位出错）。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</a:rPr>
              <a:t>多重奇偶校验</a:t>
            </a:r>
            <a:r>
              <a:rPr lang="zh-CN" altLang="en-US" sz="1600" b="1" dirty="0"/>
              <a:t>：将原始数据分成若干个校验组，每个数据位至少位于两个或两个以上的校验组，当某个数据位出错时，能在多个检错位中被指出（能够改变多个检错位），从而可以知道是哪一位数据位出错。</a:t>
            </a:r>
            <a:r>
              <a:rPr lang="zh-CN" altLang="en-US" sz="1600" b="1" dirty="0">
                <a:solidFill>
                  <a:srgbClr val="C00000"/>
                </a:solidFill>
              </a:rPr>
              <a:t>交叉奇偶校验</a:t>
            </a:r>
            <a:r>
              <a:rPr lang="zh-CN" altLang="en-US" sz="1600" b="1" dirty="0"/>
              <a:t>是多重奇偶校验最典型的例子。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假设有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个原始数据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，每个都是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位，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=1010110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=1110110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=0010001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en-US" altLang="zh-CN" sz="1600" b="1" dirty="0"/>
              <a:t>=1100100</a:t>
            </a:r>
            <a:r>
              <a:rPr lang="zh-CN" altLang="en-US" sz="1600" b="1" dirty="0"/>
              <a:t>。对这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个数据进行交叉偶校验，具体见教材表</a:t>
            </a:r>
            <a:r>
              <a:rPr lang="en-US" altLang="zh-CN" sz="1600" b="1" dirty="0"/>
              <a:t>2.20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其中，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的每一行产生一个偶校验位</a:t>
            </a:r>
            <a:r>
              <a:rPr lang="en-US" altLang="zh-CN" sz="1600" b="1" dirty="0" err="1"/>
              <a:t>P</a:t>
            </a:r>
            <a:r>
              <a:rPr lang="en-US" altLang="zh-CN" sz="1600" b="1" baseline="-25000" dirty="0" err="1"/>
              <a:t>r</a:t>
            </a:r>
            <a:r>
              <a:rPr lang="zh-CN" altLang="en-US" sz="1600" b="1" dirty="0"/>
              <a:t>（共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个），每一列产生一个偶校验位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（共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个）；此外，还有一个公共偶校验位（右下角的那一位）；共</a:t>
            </a:r>
            <a:r>
              <a:rPr lang="en-US" altLang="zh-CN" sz="1600" b="1" dirty="0">
                <a:solidFill>
                  <a:srgbClr val="C00000"/>
                </a:solidFill>
              </a:rPr>
              <a:t>12</a:t>
            </a:r>
            <a:r>
              <a:rPr lang="zh-CN" altLang="en-US" sz="1600" b="1" dirty="0">
                <a:solidFill>
                  <a:srgbClr val="C00000"/>
                </a:solidFill>
              </a:rPr>
              <a:t>个校验位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BD93A4FF-0EA6-492C-B034-83FEC8DE5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50244"/>
              </p:ext>
            </p:extLst>
          </p:nvPr>
        </p:nvGraphicFramePr>
        <p:xfrm>
          <a:off x="1907703" y="4476720"/>
          <a:ext cx="60959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611044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077879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6464355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6840992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827692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650495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142255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5130986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38266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baseline="-25000" dirty="0"/>
                        <a:t>6</a:t>
                      </a:r>
                      <a:endParaRPr lang="zh-CN" altLang="en-US" sz="16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/>
                        <a:t>P</a:t>
                      </a:r>
                      <a:r>
                        <a:rPr lang="en-US" altLang="zh-CN" sz="1600" b="1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5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6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23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06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48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P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7853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1C97077-B011-43CE-9B55-DBBE851D2F71}"/>
              </a:ext>
            </a:extLst>
          </p:cNvPr>
          <p:cNvSpPr txBox="1"/>
          <p:nvPr/>
        </p:nvSpPr>
        <p:spPr>
          <a:xfrm>
            <a:off x="3634666" y="4168943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2.20    </a:t>
            </a:r>
            <a:r>
              <a:rPr lang="zh-CN" altLang="en-US" sz="1400" b="1" dirty="0"/>
              <a:t>交叉偶校验（见教材）</a:t>
            </a:r>
          </a:p>
        </p:txBody>
      </p:sp>
    </p:spTree>
    <p:extLst>
      <p:ext uri="{BB962C8B-B14F-4D97-AF65-F5344CB8AC3E}">
        <p14:creationId xmlns:p14="http://schemas.microsoft.com/office/powerpoint/2010/main" val="29456613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FDB067D-1475-4BFA-B100-8D63FEA0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2.4.2  </a:t>
            </a:r>
            <a:r>
              <a:rPr lang="zh-CN" altLang="en-US" b="1" dirty="0">
                <a:ea typeface="黑体" pitchFamily="49" charset="-122"/>
              </a:rPr>
              <a:t>奇偶校验</a:t>
            </a:r>
            <a:br>
              <a:rPr lang="en-US" altLang="zh-CN" sz="4800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41" y="1484784"/>
            <a:ext cx="8229600" cy="5098578"/>
          </a:xfrm>
        </p:spPr>
        <p:txBody>
          <a:bodyPr rtlCol="0">
            <a:noAutofit/>
          </a:bodyPr>
          <a:lstStyle/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假设该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个原始数据（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个校验位，经过传输或存储后，出现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位错，例如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的最高位出错，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/>
              <a:t>010110</a:t>
            </a:r>
            <a:r>
              <a:rPr lang="zh-CN" altLang="en-US" sz="1600" b="1" dirty="0"/>
              <a:t>。接收到的交叉偶校验码为：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计算行检错码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zh-CN" altLang="en-US" sz="1600" b="1" dirty="0"/>
              <a:t>（偶校验）和列检错码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（偶校验），根据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可以知道是第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行（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）、第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列（</a:t>
            </a:r>
            <a:r>
              <a:rPr lang="en-US" altLang="zh-CN" sz="1600" b="1" dirty="0"/>
              <a:t>C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）出错了，只需要将该位取反，即可得到正确的数据。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因此，交叉奇偶校验可以</a:t>
            </a:r>
            <a:r>
              <a:rPr lang="zh-CN" altLang="en-US" sz="1600" b="1" dirty="0">
                <a:solidFill>
                  <a:srgbClr val="C00000"/>
                </a:solidFill>
              </a:rPr>
              <a:t>发现并纠正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BD93A4FF-0EA6-492C-B034-83FEC8DE5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338288"/>
              </p:ext>
            </p:extLst>
          </p:nvPr>
        </p:nvGraphicFramePr>
        <p:xfrm>
          <a:off x="1686488" y="2183364"/>
          <a:ext cx="6912771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93">
                  <a:extLst>
                    <a:ext uri="{9D8B030D-6E8A-4147-A177-3AD203B41FA5}">
                      <a16:colId xmlns:a16="http://schemas.microsoft.com/office/drawing/2014/main" val="61104470"/>
                    </a:ext>
                  </a:extLst>
                </a:gridCol>
                <a:gridCol w="756093">
                  <a:extLst>
                    <a:ext uri="{9D8B030D-6E8A-4147-A177-3AD203B41FA5}">
                      <a16:colId xmlns:a16="http://schemas.microsoft.com/office/drawing/2014/main" val="130778794"/>
                    </a:ext>
                  </a:extLst>
                </a:gridCol>
                <a:gridCol w="504038">
                  <a:extLst>
                    <a:ext uri="{9D8B030D-6E8A-4147-A177-3AD203B41FA5}">
                      <a16:colId xmlns:a16="http://schemas.microsoft.com/office/drawing/2014/main" val="34646435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8409922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18276921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96504952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41422553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45130986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738266984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4037866357"/>
                    </a:ext>
                  </a:extLst>
                </a:gridCol>
              </a:tblGrid>
              <a:tr h="257428">
                <a:tc>
                  <a:txBody>
                    <a:bodyPr/>
                    <a:lstStyle/>
                    <a:p>
                      <a:pPr algn="ctr"/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baseline="-25000" dirty="0"/>
                        <a:t>6</a:t>
                      </a:r>
                      <a:endParaRPr lang="zh-CN" altLang="en-US" sz="16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/>
                        <a:t>P</a:t>
                      </a:r>
                      <a:r>
                        <a:rPr lang="en-US" altLang="zh-CN" sz="1600" b="1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5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6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23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06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485507"/>
                  </a:ext>
                </a:extLst>
              </a:tr>
              <a:tr h="2852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P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7853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16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396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262E03E-5E88-4433-BC16-FC4E75C74329}"/>
              </a:ext>
            </a:extLst>
          </p:cNvPr>
          <p:cNvSpPr txBox="1"/>
          <p:nvPr/>
        </p:nvSpPr>
        <p:spPr>
          <a:xfrm>
            <a:off x="1187624" y="986020"/>
            <a:ext cx="3555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接收到的交叉偶校验（</a:t>
            </a:r>
            <a:r>
              <a:rPr lang="en-US" altLang="zh-CN" b="1" dirty="0"/>
              <a:t>1</a:t>
            </a:r>
            <a:r>
              <a:rPr lang="zh-CN" altLang="en-US" b="1" dirty="0"/>
              <a:t>位出错）</a:t>
            </a:r>
          </a:p>
        </p:txBody>
      </p:sp>
    </p:spTree>
    <p:extLst>
      <p:ext uri="{BB962C8B-B14F-4D97-AF65-F5344CB8AC3E}">
        <p14:creationId xmlns:p14="http://schemas.microsoft.com/office/powerpoint/2010/main" val="35353420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2A6C31D-C55A-40C0-BC21-CDADFBDB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11225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2.4.2  </a:t>
            </a:r>
            <a:r>
              <a:rPr lang="zh-CN" altLang="en-US" b="1" dirty="0">
                <a:ea typeface="黑体" pitchFamily="49" charset="-122"/>
              </a:rPr>
              <a:t>奇偶校验</a:t>
            </a:r>
            <a:br>
              <a:rPr lang="en-US" altLang="zh-CN" sz="4800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5141168"/>
          </a:xfrm>
        </p:spPr>
        <p:txBody>
          <a:bodyPr rtlCol="0">
            <a:noAutofit/>
          </a:bodyPr>
          <a:lstStyle/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假设该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个原始数据（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个校验位，经过传输或存储后，出现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位错，例如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的最高位和次高位出错，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01</a:t>
            </a:r>
            <a:r>
              <a:rPr lang="en-US" altLang="zh-CN" sz="1600" b="1" dirty="0"/>
              <a:t>10110</a:t>
            </a:r>
            <a:r>
              <a:rPr lang="zh-CN" altLang="en-US" sz="1600" b="1" dirty="0"/>
              <a:t>。接收到的交叉偶校验码为：</a:t>
            </a: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计算行检错码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zh-CN" altLang="en-US" sz="1600" b="1" dirty="0"/>
              <a:t>（偶校验）和列检错码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（偶校验），根据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可以知道是第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列（</a:t>
            </a:r>
            <a:r>
              <a:rPr lang="en-US" altLang="zh-CN" sz="1600" b="1" dirty="0"/>
              <a:t>C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）和第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列（</a:t>
            </a:r>
            <a:r>
              <a:rPr lang="en-US" altLang="zh-CN" sz="1600" b="1" dirty="0"/>
              <a:t>C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）出错了，即是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位出错；但是因为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zh-CN" altLang="en-US" sz="1600" b="1" dirty="0"/>
              <a:t>中没有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，因此不能知道是哪一行（哪个数据）的第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列和第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列出错。</a:t>
            </a: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因此，交叉奇偶校验可以</a:t>
            </a:r>
            <a:r>
              <a:rPr lang="zh-CN" altLang="en-US" sz="1600" b="1" dirty="0">
                <a:solidFill>
                  <a:srgbClr val="C00000"/>
                </a:solidFill>
              </a:rPr>
              <a:t>发现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，但不能纠正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位错。</a:t>
            </a: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2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BD93A4FF-0EA6-492C-B034-83FEC8DE5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749107"/>
              </p:ext>
            </p:extLst>
          </p:nvPr>
        </p:nvGraphicFramePr>
        <p:xfrm>
          <a:off x="1547664" y="2564904"/>
          <a:ext cx="6912771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93">
                  <a:extLst>
                    <a:ext uri="{9D8B030D-6E8A-4147-A177-3AD203B41FA5}">
                      <a16:colId xmlns:a16="http://schemas.microsoft.com/office/drawing/2014/main" val="61104470"/>
                    </a:ext>
                  </a:extLst>
                </a:gridCol>
                <a:gridCol w="756093">
                  <a:extLst>
                    <a:ext uri="{9D8B030D-6E8A-4147-A177-3AD203B41FA5}">
                      <a16:colId xmlns:a16="http://schemas.microsoft.com/office/drawing/2014/main" val="130778794"/>
                    </a:ext>
                  </a:extLst>
                </a:gridCol>
                <a:gridCol w="504038">
                  <a:extLst>
                    <a:ext uri="{9D8B030D-6E8A-4147-A177-3AD203B41FA5}">
                      <a16:colId xmlns:a16="http://schemas.microsoft.com/office/drawing/2014/main" val="34646435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8409922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18276921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96504952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41422553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45130986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738266984"/>
                    </a:ext>
                  </a:extLst>
                </a:gridCol>
                <a:gridCol w="648075">
                  <a:extLst>
                    <a:ext uri="{9D8B030D-6E8A-4147-A177-3AD203B41FA5}">
                      <a16:colId xmlns:a16="http://schemas.microsoft.com/office/drawing/2014/main" val="4037866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baseline="-25000" dirty="0"/>
                        <a:t>6</a:t>
                      </a:r>
                      <a:endParaRPr lang="zh-CN" altLang="en-US" sz="16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C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err="1"/>
                        <a:t>P</a:t>
                      </a:r>
                      <a:r>
                        <a:rPr lang="en-US" altLang="zh-CN" sz="1600" b="1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16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6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5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6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23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06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48550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P</a:t>
                      </a:r>
                      <a:r>
                        <a:rPr lang="en-US" altLang="zh-CN" sz="16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7853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1600" b="1" kern="1200" baseline="-25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600" b="1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7030A0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1396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8301926B-BEA6-4264-938F-49ACC41535E8}"/>
              </a:ext>
            </a:extLst>
          </p:cNvPr>
          <p:cNvSpPr txBox="1"/>
          <p:nvPr/>
        </p:nvSpPr>
        <p:spPr>
          <a:xfrm>
            <a:off x="1259632" y="1065548"/>
            <a:ext cx="3555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接收到的交叉偶校验（</a:t>
            </a:r>
            <a:r>
              <a:rPr lang="en-US" altLang="zh-CN" b="1" dirty="0"/>
              <a:t>2</a:t>
            </a:r>
            <a:r>
              <a:rPr lang="zh-CN" altLang="en-US" b="1" dirty="0"/>
              <a:t>位出错）</a:t>
            </a:r>
          </a:p>
        </p:txBody>
      </p:sp>
    </p:spTree>
    <p:extLst>
      <p:ext uri="{BB962C8B-B14F-4D97-AF65-F5344CB8AC3E}">
        <p14:creationId xmlns:p14="http://schemas.microsoft.com/office/powerpoint/2010/main" val="27436083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4ECA9-5474-4B93-A261-2FFDB0F3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5876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908720"/>
            <a:ext cx="8229600" cy="5544616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1800" b="1" dirty="0"/>
              <a:t>1950</a:t>
            </a:r>
            <a:r>
              <a:rPr lang="zh-CN" altLang="en-US" sz="1800" b="1" dirty="0"/>
              <a:t>年，理查德</a:t>
            </a:r>
            <a:r>
              <a:rPr lang="en-US" altLang="zh-CN" sz="1800" b="1" dirty="0"/>
              <a:t>·</a:t>
            </a:r>
            <a:r>
              <a:rPr lang="zh-CN" altLang="en-US" sz="1800" b="1" dirty="0"/>
              <a:t>海明（</a:t>
            </a:r>
            <a:r>
              <a:rPr lang="en-US" altLang="zh-CN" sz="1800" b="1" dirty="0">
                <a:solidFill>
                  <a:srgbClr val="C00000"/>
                </a:solidFill>
              </a:rPr>
              <a:t>Richard Hamming</a:t>
            </a:r>
            <a:r>
              <a:rPr lang="zh-CN" altLang="en-US" sz="1800" b="1" dirty="0"/>
              <a:t>）提出了</a:t>
            </a:r>
            <a:r>
              <a:rPr lang="zh-CN" altLang="en-US" sz="1800" b="1" dirty="0">
                <a:solidFill>
                  <a:srgbClr val="C00000"/>
                </a:solidFill>
              </a:rPr>
              <a:t>海明码</a:t>
            </a:r>
            <a:r>
              <a:rPr lang="zh-CN" altLang="en-US" sz="1800" b="1" dirty="0"/>
              <a:t>，海明码本质上是一种</a:t>
            </a:r>
            <a:r>
              <a:rPr lang="zh-CN" altLang="en-US" sz="1800" b="1" dirty="0">
                <a:solidFill>
                  <a:srgbClr val="C00000"/>
                </a:solidFill>
              </a:rPr>
              <a:t>多重奇偶校验码</a:t>
            </a:r>
            <a:r>
              <a:rPr lang="zh-CN" altLang="en-US" sz="1800" b="1" dirty="0"/>
              <a:t>，它是一种既能检错也能纠错的校验码（</a:t>
            </a:r>
            <a:r>
              <a:rPr lang="en-US" altLang="zh-CN" sz="1800" b="1" dirty="0"/>
              <a:t>Error-Correcting Codes</a:t>
            </a:r>
            <a:r>
              <a:rPr lang="zh-CN" altLang="en-US" sz="1800" b="1" dirty="0"/>
              <a:t>，</a:t>
            </a:r>
            <a:r>
              <a:rPr lang="en-US" altLang="zh-CN" sz="1800" b="1" dirty="0">
                <a:solidFill>
                  <a:srgbClr val="C00000"/>
                </a:solidFill>
              </a:rPr>
              <a:t>ECC</a:t>
            </a:r>
            <a:r>
              <a:rPr lang="zh-CN" altLang="en-US" sz="1800" b="1" dirty="0"/>
              <a:t>码）。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能纠正一位错误的海明码也称为</a:t>
            </a:r>
            <a:r>
              <a:rPr lang="en-US" altLang="zh-CN" sz="1800" b="1" dirty="0">
                <a:solidFill>
                  <a:srgbClr val="C00000"/>
                </a:solidFill>
              </a:rPr>
              <a:t>SEC</a:t>
            </a:r>
            <a:r>
              <a:rPr lang="zh-CN" altLang="en-US" sz="1800" b="1" dirty="0"/>
              <a:t>码（</a:t>
            </a:r>
            <a:r>
              <a:rPr lang="en-US" altLang="zh-CN" sz="1800" b="1" dirty="0"/>
              <a:t>Single-bit Error Correction</a:t>
            </a:r>
            <a:r>
              <a:rPr lang="zh-CN" altLang="en-US" sz="1800" b="1" dirty="0"/>
              <a:t>），其最小码距是</a:t>
            </a:r>
            <a:r>
              <a:rPr lang="en-US" altLang="zh-CN" sz="1800" b="1" dirty="0">
                <a:highlight>
                  <a:srgbClr val="FFFF00"/>
                </a:highlight>
              </a:rPr>
              <a:t>3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、校验位的位数</a:t>
            </a:r>
            <a:endParaRPr lang="en-US" altLang="zh-CN" sz="16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假设原始数据为：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k</a:t>
            </a:r>
            <a:r>
              <a:rPr lang="en-US" altLang="zh-CN" sz="1600" b="1" dirty="0"/>
              <a:t>…D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，共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校验码为：</a:t>
            </a:r>
            <a:r>
              <a:rPr lang="en-US" altLang="zh-CN" sz="1600" b="1" dirty="0" err="1"/>
              <a:t>P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…P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，共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则海明码为：</a:t>
            </a:r>
            <a:r>
              <a:rPr lang="en-US" altLang="zh-CN" sz="1600" b="1" dirty="0" err="1"/>
              <a:t>H</a:t>
            </a:r>
            <a:r>
              <a:rPr lang="en-US" altLang="zh-CN" sz="1600" b="1" baseline="-25000" dirty="0" err="1"/>
              <a:t>n</a:t>
            </a:r>
            <a:r>
              <a:rPr lang="en-US" altLang="zh-CN" sz="1600" b="1" dirty="0"/>
              <a:t>…H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，共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位，</a:t>
            </a:r>
            <a:r>
              <a:rPr lang="en-US" altLang="zh-CN" sz="1600" b="1" dirty="0"/>
              <a:t>n=</a:t>
            </a:r>
            <a:r>
              <a:rPr lang="en-US" altLang="zh-CN" sz="1600" b="1" dirty="0" err="1"/>
              <a:t>k+r</a:t>
            </a:r>
            <a:r>
              <a:rPr lang="zh-CN" altLang="en-US" sz="1600" b="1" dirty="0"/>
              <a:t>，也称</a:t>
            </a:r>
            <a:r>
              <a:rPr lang="en-US" altLang="zh-CN" sz="1600" b="1" dirty="0">
                <a:solidFill>
                  <a:srgbClr val="C00000"/>
                </a:solidFill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</a:rPr>
              <a:t>n,k</a:t>
            </a:r>
            <a:r>
              <a:rPr lang="en-US" altLang="zh-CN" sz="1600" b="1" dirty="0">
                <a:solidFill>
                  <a:srgbClr val="C00000"/>
                </a:solidFill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</a:rPr>
              <a:t>码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n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应满足如下关系：</a:t>
            </a:r>
            <a:r>
              <a:rPr lang="en-US" altLang="zh-CN" sz="1600" b="1" dirty="0">
                <a:solidFill>
                  <a:srgbClr val="C00000"/>
                </a:solidFill>
              </a:rPr>
              <a:t>n = </a:t>
            </a:r>
            <a:r>
              <a:rPr lang="en-US" altLang="zh-CN" sz="1600" b="1" dirty="0" err="1">
                <a:solidFill>
                  <a:srgbClr val="C00000"/>
                </a:solidFill>
              </a:rPr>
              <a:t>k+r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ea typeface="等线" panose="02010600030101010101" pitchFamily="2" charset="-122"/>
              </a:rPr>
              <a:t>≤ 2</a:t>
            </a:r>
            <a:r>
              <a:rPr lang="en-US" altLang="zh-CN" sz="1600" b="1" baseline="30000" dirty="0">
                <a:solidFill>
                  <a:srgbClr val="C00000"/>
                </a:solidFill>
                <a:ea typeface="等线" panose="02010600030101010101" pitchFamily="2" charset="-122"/>
              </a:rPr>
              <a:t>r</a:t>
            </a:r>
            <a:r>
              <a:rPr lang="en-US" altLang="zh-CN" sz="1600" b="1" dirty="0">
                <a:solidFill>
                  <a:srgbClr val="C00000"/>
                </a:solidFill>
                <a:ea typeface="等线" panose="02010600030101010101" pitchFamily="2" charset="-122"/>
              </a:rPr>
              <a:t>-1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200" b="1" dirty="0">
              <a:ea typeface="等线" panose="02010600030101010101" pitchFamily="2" charset="-122"/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>
                <a:ea typeface="等线" panose="02010600030101010101" pitchFamily="2" charset="-122"/>
              </a:rPr>
              <a:t>k=1</a:t>
            </a:r>
            <a:r>
              <a:rPr lang="zh-CN" altLang="en-US" sz="1200" b="1" dirty="0"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ea typeface="等线" panose="02010600030101010101" pitchFamily="2" charset="-122"/>
              </a:rPr>
              <a:t>r=2</a:t>
            </a:r>
            <a:r>
              <a:rPr lang="zh-CN" altLang="en-US" sz="1200" b="1" dirty="0">
                <a:ea typeface="等线" panose="02010600030101010101" pitchFamily="2" charset="-122"/>
              </a:rPr>
              <a:t>（</a:t>
            </a:r>
            <a:r>
              <a:rPr lang="en-US" altLang="zh-CN" sz="1200" b="1" dirty="0">
                <a:ea typeface="等线" panose="02010600030101010101" pitchFamily="2" charset="-122"/>
              </a:rPr>
              <a:t>3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）</a:t>
            </a:r>
            <a:endParaRPr lang="en-US" altLang="zh-CN" sz="1200" b="1" dirty="0">
              <a:ea typeface="等线" panose="02010600030101010101" pitchFamily="2" charset="-122"/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>
                <a:ea typeface="等线" panose="02010600030101010101" pitchFamily="2" charset="-122"/>
              </a:rPr>
              <a:t>k=2</a:t>
            </a:r>
            <a:r>
              <a:rPr lang="zh-CN" altLang="en-US" sz="1200" b="1" dirty="0"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ea typeface="等线" panose="02010600030101010101" pitchFamily="2" charset="-122"/>
              </a:rPr>
              <a:t>4</a:t>
            </a:r>
            <a:r>
              <a:rPr lang="zh-CN" altLang="en-US" sz="1200" b="1" dirty="0"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ea typeface="等线" panose="02010600030101010101" pitchFamily="2" charset="-122"/>
              </a:rPr>
              <a:t>r=3</a:t>
            </a:r>
            <a:r>
              <a:rPr lang="zh-CN" altLang="en-US" sz="1200" b="1" dirty="0">
                <a:ea typeface="等线" panose="02010600030101010101" pitchFamily="2" charset="-122"/>
              </a:rPr>
              <a:t>（</a:t>
            </a:r>
            <a:r>
              <a:rPr lang="en-US" altLang="zh-CN" sz="1200" b="1" dirty="0">
                <a:ea typeface="等线" panose="02010600030101010101" pitchFamily="2" charset="-122"/>
              </a:rPr>
              <a:t>5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</a:t>
            </a:r>
            <a:r>
              <a:rPr lang="en-US" altLang="zh-CN" sz="1200" b="1" dirty="0">
                <a:ea typeface="等线" panose="02010600030101010101" pitchFamily="2" charset="-122"/>
              </a:rPr>
              <a:t> 6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7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）</a:t>
            </a:r>
            <a:endParaRPr lang="en-US" altLang="zh-CN" sz="1200" b="1" dirty="0">
              <a:ea typeface="等线" panose="02010600030101010101" pitchFamily="2" charset="-122"/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>
                <a:ea typeface="等线" panose="02010600030101010101" pitchFamily="2" charset="-122"/>
              </a:rPr>
              <a:t>k=5</a:t>
            </a:r>
            <a:r>
              <a:rPr lang="zh-CN" altLang="en-US" sz="1200" b="1" dirty="0"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ea typeface="等线" panose="02010600030101010101" pitchFamily="2" charset="-122"/>
              </a:rPr>
              <a:t>11</a:t>
            </a:r>
            <a:r>
              <a:rPr lang="zh-CN" altLang="en-US" sz="1200" b="1" dirty="0">
                <a:ea typeface="等线" panose="02010600030101010101" pitchFamily="2" charset="-122"/>
              </a:rPr>
              <a:t>，</a:t>
            </a:r>
            <a:r>
              <a:rPr lang="en-US" altLang="zh-CN" sz="1200" b="1" dirty="0">
                <a:ea typeface="等线" panose="02010600030101010101" pitchFamily="2" charset="-122"/>
              </a:rPr>
              <a:t>r=4</a:t>
            </a:r>
            <a:r>
              <a:rPr lang="zh-CN" altLang="en-US" sz="1200" b="1" dirty="0">
                <a:ea typeface="等线" panose="02010600030101010101" pitchFamily="2" charset="-122"/>
              </a:rPr>
              <a:t>（</a:t>
            </a:r>
            <a:r>
              <a:rPr lang="en-US" altLang="zh-CN" sz="1200" b="1" dirty="0">
                <a:ea typeface="等线" panose="02010600030101010101" pitchFamily="2" charset="-122"/>
              </a:rPr>
              <a:t>9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</a:t>
            </a:r>
            <a:r>
              <a:rPr lang="en-US" altLang="zh-CN" sz="1200" b="1" dirty="0">
                <a:ea typeface="等线" panose="02010600030101010101" pitchFamily="2" charset="-122"/>
              </a:rPr>
              <a:t> 10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11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12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13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14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； </a:t>
            </a:r>
            <a:r>
              <a:rPr lang="en-US" altLang="zh-CN" sz="1200" b="1" dirty="0">
                <a:ea typeface="等线" panose="02010600030101010101" pitchFamily="2" charset="-122"/>
              </a:rPr>
              <a:t>15 ≤ 2</a:t>
            </a:r>
            <a:r>
              <a:rPr lang="en-US" altLang="zh-CN" sz="1200" b="1" baseline="30000" dirty="0">
                <a:ea typeface="等线" panose="02010600030101010101" pitchFamily="2" charset="-122"/>
              </a:rPr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-1</a:t>
            </a:r>
            <a:r>
              <a:rPr lang="zh-CN" altLang="en-US" sz="1200" b="1" dirty="0">
                <a:ea typeface="等线" panose="02010600030101010101" pitchFamily="2" charset="-122"/>
              </a:rPr>
              <a:t>）</a:t>
            </a:r>
            <a:endParaRPr lang="en-US" altLang="zh-CN" sz="1200" b="1" dirty="0">
              <a:ea typeface="等线" panose="02010600030101010101" pitchFamily="2" charset="-122"/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>
                <a:ea typeface="等线" panose="02010600030101010101" pitchFamily="2" charset="-122"/>
              </a:rPr>
              <a:t>…………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2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编码效率 </a:t>
            </a:r>
            <a:r>
              <a:rPr lang="en-US" altLang="zh-CN" sz="1600" b="1" dirty="0"/>
              <a:t>= k/(</a:t>
            </a:r>
            <a:r>
              <a:rPr lang="en-US" altLang="zh-CN" sz="1600" b="1" dirty="0" err="1"/>
              <a:t>k+r</a:t>
            </a:r>
            <a:r>
              <a:rPr lang="en-US" altLang="zh-CN" sz="1600" b="1" dirty="0"/>
              <a:t>)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k=8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r=4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k/(</a:t>
            </a:r>
            <a:r>
              <a:rPr lang="en-US" altLang="zh-CN" sz="1600" b="1" dirty="0" err="1"/>
              <a:t>k+r</a:t>
            </a:r>
            <a:r>
              <a:rPr lang="en-US" altLang="zh-CN" sz="1600" b="1" dirty="0"/>
              <a:t>)=8/12=66.7%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6282460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D4FC7-82D0-4292-971A-261317C0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黑体" pitchFamily="49" charset="-122"/>
                <a:cs typeface="+mn-cs"/>
              </a:rPr>
              <a:t>理查德</a:t>
            </a:r>
            <a:r>
              <a:rPr lang="en-US" altLang="zh-CN" b="1" dirty="0">
                <a:latin typeface="+mn-lt"/>
                <a:ea typeface="黑体" pitchFamily="49" charset="-122"/>
                <a:cs typeface="+mn-cs"/>
              </a:rPr>
              <a:t>·</a:t>
            </a:r>
            <a:r>
              <a:rPr lang="zh-CN" altLang="en-US" b="1" dirty="0">
                <a:latin typeface="+mn-lt"/>
                <a:ea typeface="黑体" pitchFamily="49" charset="-122"/>
                <a:cs typeface="+mn-cs"/>
              </a:rPr>
              <a:t>海明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AA903-3C00-48CC-B50A-644742AE8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03942"/>
            <a:ext cx="8229600" cy="46773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理查德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卫斯里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海明（</a:t>
            </a:r>
            <a:r>
              <a:rPr lang="en-US" altLang="zh-CN" sz="1600" b="1" dirty="0"/>
              <a:t>Richard Wesley Hamming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1915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日至</a:t>
            </a:r>
            <a:r>
              <a:rPr lang="en-US" altLang="zh-CN" sz="1600" b="1" dirty="0"/>
              <a:t>1998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日，美国数学家，主要贡献在计算机科学和电讯。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en-US" altLang="zh-CN" sz="1600" b="1" dirty="0"/>
              <a:t>1937</a:t>
            </a:r>
            <a:r>
              <a:rPr lang="zh-CN" altLang="en-US" sz="1600" b="1" dirty="0"/>
              <a:t>年芝加哥大学学士学位毕业，</a:t>
            </a:r>
            <a:r>
              <a:rPr lang="en-US" altLang="zh-CN" sz="1600" b="1" dirty="0"/>
              <a:t>1939</a:t>
            </a:r>
            <a:r>
              <a:rPr lang="zh-CN" altLang="en-US" sz="1600" b="1" dirty="0"/>
              <a:t>年内布拉斯加大学硕士学位毕业，</a:t>
            </a:r>
            <a:r>
              <a:rPr lang="en-US" altLang="zh-CN" sz="1600" b="1" dirty="0"/>
              <a:t>1942</a:t>
            </a:r>
            <a:r>
              <a:rPr lang="zh-CN" altLang="en-US" sz="1600" b="1" dirty="0"/>
              <a:t>年伊利诺伊大学香槟分校博士学位毕业，博士论文为</a:t>
            </a:r>
            <a:r>
              <a:rPr lang="en-US" altLang="zh-CN" sz="1600" b="1" dirty="0"/>
              <a:t>《</a:t>
            </a:r>
            <a:r>
              <a:rPr lang="zh-CN" altLang="en-US" sz="1600" b="1" dirty="0"/>
              <a:t>一些线性微分方程边界值理论上的问题</a:t>
            </a:r>
            <a:r>
              <a:rPr lang="en-US" altLang="zh-CN" sz="1600" b="1" dirty="0"/>
              <a:t>》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Some Problems in the Boundary Value Theory of Linear Differential Equations</a:t>
            </a:r>
            <a:r>
              <a:rPr lang="zh-CN" altLang="en-US" sz="1600" b="1" dirty="0"/>
              <a:t>）。二战期间在路易斯维尔大学当教授，</a:t>
            </a:r>
            <a:r>
              <a:rPr lang="en-US" altLang="zh-CN" sz="1600" b="1" dirty="0"/>
              <a:t>1945</a:t>
            </a:r>
            <a:r>
              <a:rPr lang="zh-CN" altLang="en-US" sz="1600" b="1" dirty="0"/>
              <a:t>年参加曼哈顿计划，负责编写电脑程式，计算物理学家所提供方程的解。该程式是判断引爆核弹会否燃烧大气层，结果是不会，于是核弹便开始试验。</a:t>
            </a:r>
            <a:r>
              <a:rPr lang="en-US" altLang="zh-CN" sz="1600" b="1" dirty="0"/>
              <a:t>1946</a:t>
            </a:r>
            <a:r>
              <a:rPr lang="zh-CN" altLang="en-US" sz="1600" b="1" dirty="0"/>
              <a:t>至</a:t>
            </a:r>
            <a:r>
              <a:rPr lang="en-US" altLang="zh-CN" sz="1600" b="1" dirty="0"/>
              <a:t>76</a:t>
            </a:r>
            <a:r>
              <a:rPr lang="zh-CN" altLang="en-US" sz="1600" b="1" dirty="0"/>
              <a:t>年在贝尔实验室工作。他曾和约翰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怀尔德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杜奇、克劳德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艾尔伍德</a:t>
            </a:r>
            <a:r>
              <a:rPr lang="en-US" altLang="zh-CN" sz="1600" b="1" dirty="0"/>
              <a:t>·</a:t>
            </a:r>
            <a:r>
              <a:rPr lang="zh-CN" altLang="en-US" sz="1600" b="1" dirty="0"/>
              <a:t>香农合作。</a:t>
            </a:r>
            <a:r>
              <a:rPr lang="en-US" altLang="zh-CN" sz="1600" b="1" dirty="0"/>
              <a:t>1956</a:t>
            </a:r>
            <a:r>
              <a:rPr lang="zh-CN" altLang="en-US" sz="1600" b="1" dirty="0"/>
              <a:t>年他参与了</a:t>
            </a:r>
            <a:r>
              <a:rPr lang="en-US" altLang="zh-CN" sz="1600" b="1" dirty="0"/>
              <a:t>IBM 650</a:t>
            </a:r>
            <a:r>
              <a:rPr lang="zh-CN" altLang="en-US" sz="1600" b="1" dirty="0"/>
              <a:t>的编程语言发展工作。</a:t>
            </a:r>
            <a:r>
              <a:rPr lang="en-US" altLang="zh-CN" sz="1600" b="1" dirty="0"/>
              <a:t>1976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23</a:t>
            </a:r>
            <a:r>
              <a:rPr lang="zh-CN" altLang="en-US" sz="1600" b="1" dirty="0"/>
              <a:t>日起在海军研究院当兼任教授，</a:t>
            </a:r>
            <a:r>
              <a:rPr lang="en-US" altLang="zh-CN" sz="1600" b="1" dirty="0"/>
              <a:t>1997</a:t>
            </a:r>
            <a:r>
              <a:rPr lang="zh-CN" altLang="en-US" sz="1600" b="1" dirty="0"/>
              <a:t>年成为名誉教授。他是美国电脑协会（</a:t>
            </a:r>
            <a:r>
              <a:rPr lang="en-US" altLang="zh-CN" sz="1600" b="1" dirty="0"/>
              <a:t>ACM</a:t>
            </a:r>
            <a:r>
              <a:rPr lang="zh-CN" altLang="en-US" sz="1600" b="1" dirty="0"/>
              <a:t>）的创立人之一，曾任该组织的主席。</a:t>
            </a:r>
            <a:endParaRPr lang="zh-CN" altLang="en-US" sz="18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7A8316-FE31-4F40-B86F-9F65816FC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3829"/>
            <a:ext cx="1372893" cy="172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7649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5ACD1-B4CD-4A41-B56E-5EAFCBED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32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80728"/>
            <a:ext cx="8229600" cy="5760640"/>
          </a:xfrm>
        </p:spPr>
        <p:txBody>
          <a:bodyPr rtlCol="0">
            <a:normAutofit fontScale="85000" lnSpcReduction="20000"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200" b="1" dirty="0"/>
              <a:t>2</a:t>
            </a:r>
            <a:r>
              <a:rPr lang="zh-CN" altLang="en-US" sz="2200" b="1" dirty="0"/>
              <a:t>、编码分组规则</a:t>
            </a:r>
            <a:endParaRPr lang="en-US" altLang="zh-CN" sz="20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7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700" b="1" dirty="0"/>
              <a:t>问题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：</a:t>
            </a:r>
            <a:r>
              <a:rPr lang="en-US" altLang="zh-CN" sz="1700" b="1" dirty="0"/>
              <a:t>r</a:t>
            </a:r>
            <a:r>
              <a:rPr lang="zh-CN" altLang="en-US" sz="1700" b="1" dirty="0"/>
              <a:t>位校验码</a:t>
            </a:r>
            <a:r>
              <a:rPr lang="en-US" altLang="zh-CN" sz="1700" b="1" dirty="0" err="1"/>
              <a:t>P</a:t>
            </a:r>
            <a:r>
              <a:rPr lang="en-US" altLang="zh-CN" sz="1700" b="1" baseline="-25000" dirty="0" err="1"/>
              <a:t>r</a:t>
            </a:r>
            <a:r>
              <a:rPr lang="en-US" altLang="zh-CN" sz="1700" b="1" dirty="0"/>
              <a:t>…P</a:t>
            </a:r>
            <a:r>
              <a:rPr lang="en-US" altLang="zh-CN" sz="1700" b="1" baseline="-25000" dirty="0"/>
              <a:t>2</a:t>
            </a:r>
            <a:r>
              <a:rPr lang="en-US" altLang="zh-CN" sz="1700" b="1" dirty="0"/>
              <a:t>P</a:t>
            </a:r>
            <a:r>
              <a:rPr lang="en-US" altLang="zh-CN" sz="1700" b="1" baseline="-25000" dirty="0"/>
              <a:t>1</a:t>
            </a:r>
            <a:r>
              <a:rPr lang="zh-CN" altLang="en-US" sz="1700" b="1" dirty="0"/>
              <a:t>位于海明码</a:t>
            </a:r>
            <a:r>
              <a:rPr lang="en-US" altLang="zh-CN" sz="1700" b="1" dirty="0" err="1"/>
              <a:t>H</a:t>
            </a:r>
            <a:r>
              <a:rPr lang="en-US" altLang="zh-CN" sz="1700" b="1" baseline="-25000" dirty="0" err="1"/>
              <a:t>n</a:t>
            </a:r>
            <a:r>
              <a:rPr lang="en-US" altLang="zh-CN" sz="1700" b="1" dirty="0"/>
              <a:t>…H</a:t>
            </a:r>
            <a:r>
              <a:rPr lang="en-US" altLang="zh-CN" sz="1700" b="1" baseline="-25000" dirty="0"/>
              <a:t>2</a:t>
            </a:r>
            <a:r>
              <a:rPr lang="en-US" altLang="zh-CN" sz="1700" b="1" dirty="0"/>
              <a:t>H</a:t>
            </a:r>
            <a:r>
              <a:rPr lang="en-US" altLang="zh-CN" sz="1700" b="1" baseline="-25000" dirty="0"/>
              <a:t>1</a:t>
            </a:r>
            <a:r>
              <a:rPr lang="zh-CN" altLang="en-US" sz="1700" b="1" dirty="0"/>
              <a:t>的什么位置？</a:t>
            </a:r>
            <a:endParaRPr lang="en-US" altLang="zh-CN" sz="17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7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假设：原始数据</a:t>
            </a:r>
            <a:r>
              <a:rPr lang="en-US" altLang="zh-CN" sz="1500" b="1" dirty="0"/>
              <a:t>=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4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3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1</a:t>
            </a:r>
            <a:r>
              <a:rPr lang="zh-CN" altLang="en-US" sz="1500" b="1" dirty="0"/>
              <a:t>，校验码</a:t>
            </a:r>
            <a:r>
              <a:rPr lang="en-US" altLang="zh-CN" sz="1500" b="1" dirty="0"/>
              <a:t>=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3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1</a:t>
            </a:r>
            <a:r>
              <a:rPr lang="zh-CN" altLang="en-US" sz="1500" b="1" dirty="0"/>
              <a:t>；即：</a:t>
            </a:r>
            <a:r>
              <a:rPr lang="en-US" altLang="zh-CN" sz="1500" b="1" dirty="0"/>
              <a:t>k=4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r=3</a:t>
            </a:r>
            <a:r>
              <a:rPr lang="zh-CN" altLang="en-US" sz="1500" b="1" dirty="0"/>
              <a:t>，</a:t>
            </a:r>
            <a:r>
              <a:rPr lang="en-US" altLang="zh-CN" sz="1500" b="1" dirty="0"/>
              <a:t>n=</a:t>
            </a:r>
            <a:r>
              <a:rPr lang="en-US" altLang="zh-CN" sz="1500" b="1" dirty="0" err="1"/>
              <a:t>k+r</a:t>
            </a:r>
            <a:r>
              <a:rPr lang="en-US" altLang="zh-CN" sz="1500" b="1" dirty="0"/>
              <a:t>=7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此时海明码为：</a:t>
            </a:r>
            <a:r>
              <a:rPr lang="en-US" altLang="zh-CN" sz="1500" b="1" dirty="0" err="1">
                <a:solidFill>
                  <a:srgbClr val="0070C0"/>
                </a:solidFill>
              </a:rPr>
              <a:t>H</a:t>
            </a:r>
            <a:r>
              <a:rPr lang="en-US" altLang="zh-CN" sz="1500" b="1" baseline="-25000" dirty="0" err="1">
                <a:solidFill>
                  <a:srgbClr val="0070C0"/>
                </a:solidFill>
              </a:rPr>
              <a:t>n</a:t>
            </a:r>
            <a:r>
              <a:rPr lang="en-US" altLang="zh-CN" sz="1500" b="1" dirty="0">
                <a:solidFill>
                  <a:srgbClr val="0070C0"/>
                </a:solidFill>
              </a:rPr>
              <a:t>…H</a:t>
            </a:r>
            <a:r>
              <a:rPr lang="en-US" altLang="zh-CN" sz="1500" b="1" baseline="-25000" dirty="0">
                <a:solidFill>
                  <a:srgbClr val="0070C0"/>
                </a:solidFill>
              </a:rPr>
              <a:t>2</a:t>
            </a:r>
            <a:r>
              <a:rPr lang="en-US" altLang="zh-CN" sz="1500" b="1" dirty="0">
                <a:solidFill>
                  <a:srgbClr val="0070C0"/>
                </a:solidFill>
              </a:rPr>
              <a:t>H</a:t>
            </a:r>
            <a:r>
              <a:rPr lang="en-US" altLang="zh-CN" sz="1500" b="1" baseline="-25000" dirty="0">
                <a:solidFill>
                  <a:srgbClr val="0070C0"/>
                </a:solidFill>
              </a:rPr>
              <a:t>1 </a:t>
            </a:r>
            <a:r>
              <a:rPr lang="en-US" altLang="zh-CN" sz="1500" b="1" dirty="0"/>
              <a:t>= 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4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3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3</a:t>
            </a:r>
            <a:r>
              <a:rPr lang="en-US" altLang="zh-CN" sz="1500" b="1" dirty="0">
                <a:solidFill>
                  <a:srgbClr val="7030A0"/>
                </a:solidFill>
              </a:rPr>
              <a:t>D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1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500" b="1" dirty="0">
                <a:solidFill>
                  <a:srgbClr val="C00000"/>
                </a:solidFill>
              </a:rPr>
              <a:t>P</a:t>
            </a:r>
            <a:r>
              <a:rPr lang="en-US" altLang="zh-CN" sz="1500" b="1" baseline="-25000" dirty="0">
                <a:solidFill>
                  <a:srgbClr val="C00000"/>
                </a:solidFill>
              </a:rPr>
              <a:t>1</a:t>
            </a:r>
            <a:r>
              <a:rPr lang="zh-CN" altLang="en-US" sz="1500" b="1" dirty="0"/>
              <a:t>；也称</a:t>
            </a:r>
            <a:r>
              <a:rPr lang="en-US" altLang="zh-CN" sz="1500" b="1" dirty="0"/>
              <a:t>(7,4)</a:t>
            </a:r>
            <a:r>
              <a:rPr lang="zh-CN" altLang="en-US" sz="1500" b="1" dirty="0"/>
              <a:t>码</a:t>
            </a: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500" b="1" baseline="-25000" dirty="0">
              <a:solidFill>
                <a:srgbClr val="FF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校验码</a:t>
            </a:r>
            <a:r>
              <a:rPr lang="en-US" altLang="zh-CN" sz="1500" b="1" dirty="0" err="1"/>
              <a:t>P</a:t>
            </a:r>
            <a:r>
              <a:rPr lang="en-US" altLang="zh-CN" sz="1500" b="1" baseline="-25000" dirty="0" err="1"/>
              <a:t>r</a:t>
            </a:r>
            <a:r>
              <a:rPr lang="en-US" altLang="zh-CN" sz="1500" b="1" dirty="0"/>
              <a:t>…P</a:t>
            </a:r>
            <a:r>
              <a:rPr lang="en-US" altLang="zh-CN" sz="1500" b="1" baseline="-25000" dirty="0"/>
              <a:t>2</a:t>
            </a:r>
            <a:r>
              <a:rPr lang="en-US" altLang="zh-CN" sz="1500" b="1" dirty="0"/>
              <a:t>P</a:t>
            </a:r>
            <a:r>
              <a:rPr lang="en-US" altLang="zh-CN" sz="1500" b="1" baseline="-25000" dirty="0"/>
              <a:t>1</a:t>
            </a:r>
            <a:r>
              <a:rPr lang="zh-CN" altLang="en-US" sz="1500" b="1" dirty="0"/>
              <a:t>位于海明码的第</a:t>
            </a:r>
            <a:r>
              <a:rPr lang="en-US" altLang="zh-CN" sz="1500" b="1" dirty="0"/>
              <a:t>1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2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4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8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16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……</a:t>
            </a:r>
            <a:r>
              <a:rPr lang="zh-CN" altLang="en-US" sz="1500" b="1" dirty="0"/>
              <a:t>位（从右往左看）</a:t>
            </a: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700" b="1" baseline="-25000" dirty="0">
              <a:solidFill>
                <a:srgbClr val="FF0000"/>
              </a:solidFill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700" b="1" baseline="-25000" dirty="0">
              <a:solidFill>
                <a:srgbClr val="FF0000"/>
              </a:solidFill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700" b="1" dirty="0"/>
              <a:t>问题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：如何得到校验码</a:t>
            </a:r>
            <a:r>
              <a:rPr lang="en-US" altLang="zh-CN" sz="1700" b="1" dirty="0" err="1"/>
              <a:t>P</a:t>
            </a:r>
            <a:r>
              <a:rPr lang="en-US" altLang="zh-CN" sz="1700" b="1" baseline="-25000" dirty="0" err="1"/>
              <a:t>r</a:t>
            </a:r>
            <a:r>
              <a:rPr lang="en-US" altLang="zh-CN" sz="1700" b="1" dirty="0"/>
              <a:t>…P</a:t>
            </a:r>
            <a:r>
              <a:rPr lang="en-US" altLang="zh-CN" sz="1700" b="1" baseline="-25000" dirty="0"/>
              <a:t>2</a:t>
            </a:r>
            <a:r>
              <a:rPr lang="en-US" altLang="zh-CN" sz="1700" b="1" dirty="0"/>
              <a:t>P</a:t>
            </a:r>
            <a:r>
              <a:rPr lang="en-US" altLang="zh-CN" sz="1700" b="1" baseline="-25000" dirty="0"/>
              <a:t>1</a:t>
            </a:r>
            <a:r>
              <a:rPr lang="zh-CN" altLang="en-US" sz="1700" b="1" dirty="0"/>
              <a:t>的值？</a:t>
            </a:r>
            <a:endParaRPr lang="en-US" altLang="zh-CN" sz="17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3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对于</a:t>
            </a:r>
            <a:r>
              <a:rPr lang="en-US" altLang="zh-CN" sz="1500" b="1" dirty="0"/>
              <a:t>(7,4)</a:t>
            </a:r>
            <a:r>
              <a:rPr lang="zh-CN" altLang="en-US" sz="1500" b="1" dirty="0"/>
              <a:t>码有（见表</a:t>
            </a:r>
            <a:r>
              <a:rPr lang="en-US" altLang="zh-CN" sz="1500" b="1" dirty="0"/>
              <a:t>2.22</a:t>
            </a:r>
            <a:r>
              <a:rPr lang="zh-CN" altLang="en-US" sz="1500" b="1" dirty="0"/>
              <a:t>和图</a:t>
            </a:r>
            <a:r>
              <a:rPr lang="en-US" altLang="zh-CN" sz="1500" b="1" dirty="0"/>
              <a:t>2.18</a:t>
            </a:r>
            <a:r>
              <a:rPr lang="zh-CN" altLang="en-US" sz="1500" b="1" dirty="0"/>
              <a:t>）：</a:t>
            </a:r>
            <a:endParaRPr lang="en-US" altLang="zh-CN" sz="15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P</a:t>
            </a:r>
            <a:r>
              <a:rPr lang="en-US" altLang="zh-CN" sz="1500" b="1" baseline="-25000" dirty="0"/>
              <a:t>1 </a:t>
            </a:r>
            <a:r>
              <a:rPr lang="en-US" altLang="zh-CN" sz="1500" b="1" dirty="0"/>
              <a:t>= D</a:t>
            </a:r>
            <a:r>
              <a:rPr lang="en-US" altLang="zh-CN" sz="1500" b="1" baseline="-25000" dirty="0"/>
              <a:t>1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2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P</a:t>
            </a:r>
            <a:r>
              <a:rPr lang="en-US" altLang="zh-CN" sz="1500" b="1" baseline="-25000" dirty="0"/>
              <a:t>2 </a:t>
            </a:r>
            <a:r>
              <a:rPr lang="en-US" altLang="zh-CN" sz="1500" b="1" dirty="0"/>
              <a:t>= D</a:t>
            </a:r>
            <a:r>
              <a:rPr lang="en-US" altLang="zh-CN" sz="1500" b="1" baseline="-25000" dirty="0"/>
              <a:t>1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3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P</a:t>
            </a:r>
            <a:r>
              <a:rPr lang="en-US" altLang="zh-CN" sz="1500" b="1" baseline="-25000" dirty="0"/>
              <a:t>3 </a:t>
            </a:r>
            <a:r>
              <a:rPr lang="en-US" altLang="zh-CN" sz="1500" b="1" dirty="0"/>
              <a:t>= D</a:t>
            </a:r>
            <a:r>
              <a:rPr lang="en-US" altLang="zh-CN" sz="1500" b="1" baseline="-25000" dirty="0"/>
              <a:t>2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3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</a:t>
            </a:r>
            <a:r>
              <a:rPr lang="en-US" altLang="zh-CN" sz="1500" b="1" baseline="-25000" dirty="0"/>
              <a:t>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7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700" b="1" baseline="-25000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700" b="1" dirty="0"/>
              <a:t>问题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：如何得到检错码</a:t>
            </a:r>
            <a:r>
              <a:rPr lang="en-US" altLang="zh-CN" sz="1700" b="1" dirty="0"/>
              <a:t>G</a:t>
            </a:r>
            <a:r>
              <a:rPr lang="en-US" altLang="zh-CN" sz="1700" b="1" baseline="-25000" dirty="0"/>
              <a:t>r</a:t>
            </a:r>
            <a:r>
              <a:rPr lang="en-US" altLang="zh-CN" sz="1700" b="1" dirty="0"/>
              <a:t>…G</a:t>
            </a:r>
            <a:r>
              <a:rPr lang="en-US" altLang="zh-CN" sz="1700" b="1" baseline="-25000" dirty="0"/>
              <a:t>2</a:t>
            </a:r>
            <a:r>
              <a:rPr lang="en-US" altLang="zh-CN" sz="1700" b="1" dirty="0"/>
              <a:t>G</a:t>
            </a:r>
            <a:r>
              <a:rPr lang="en-US" altLang="zh-CN" sz="1700" b="1" baseline="-25000" dirty="0"/>
              <a:t>1</a:t>
            </a:r>
            <a:r>
              <a:rPr lang="zh-CN" altLang="en-US" sz="1700" b="1" dirty="0"/>
              <a:t>的值？</a:t>
            </a:r>
            <a:endParaRPr lang="en-US" altLang="zh-CN" sz="17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3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对于</a:t>
            </a:r>
            <a:r>
              <a:rPr lang="en-US" altLang="zh-CN" sz="1500" b="1" dirty="0"/>
              <a:t>(7,4)</a:t>
            </a:r>
            <a:r>
              <a:rPr lang="zh-CN" altLang="en-US" sz="1500" b="1" dirty="0"/>
              <a:t>码有（见表</a:t>
            </a:r>
            <a:r>
              <a:rPr lang="en-US" altLang="zh-CN" sz="1500" b="1" dirty="0"/>
              <a:t>2.22</a:t>
            </a:r>
            <a:r>
              <a:rPr lang="zh-CN" altLang="en-US" sz="1500" b="1" dirty="0"/>
              <a:t>和图</a:t>
            </a:r>
            <a:r>
              <a:rPr lang="en-US" altLang="zh-CN" sz="1500" b="1" dirty="0"/>
              <a:t>2.18</a:t>
            </a:r>
            <a:r>
              <a:rPr lang="zh-CN" altLang="en-US" sz="1500" b="1" dirty="0"/>
              <a:t>）：</a:t>
            </a:r>
            <a:endParaRPr lang="en-US" altLang="zh-CN" sz="15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500" b="1" dirty="0"/>
              <a:t>假设海明码经过传输或存储后变成：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4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3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2</a:t>
            </a:r>
            <a:r>
              <a:rPr lang="en-US" altLang="zh-CN" sz="1500" b="1" dirty="0"/>
              <a:t>P’</a:t>
            </a:r>
            <a:r>
              <a:rPr lang="en-US" altLang="zh-CN" sz="1500" b="1" baseline="-25000" dirty="0"/>
              <a:t>3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1</a:t>
            </a:r>
            <a:r>
              <a:rPr lang="en-US" altLang="zh-CN" sz="1500" b="1" dirty="0"/>
              <a:t>P’</a:t>
            </a:r>
            <a:r>
              <a:rPr lang="en-US" altLang="zh-CN" sz="1500" b="1" baseline="-25000" dirty="0"/>
              <a:t>2</a:t>
            </a:r>
            <a:r>
              <a:rPr lang="en-US" altLang="zh-CN" sz="1500" b="1" dirty="0"/>
              <a:t>P’</a:t>
            </a:r>
            <a:r>
              <a:rPr lang="en-US" altLang="zh-CN" sz="1500" b="1" baseline="-25000" dirty="0"/>
              <a:t>1</a:t>
            </a:r>
            <a:r>
              <a:rPr lang="zh-CN" altLang="en-US" sz="1500" b="1" dirty="0"/>
              <a:t>；则检错码为：</a:t>
            </a: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5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G</a:t>
            </a:r>
            <a:r>
              <a:rPr lang="en-US" altLang="zh-CN" sz="1500" b="1" baseline="-25000" dirty="0"/>
              <a:t>1 </a:t>
            </a:r>
            <a:r>
              <a:rPr lang="en-US" altLang="zh-CN" sz="1500" b="1" dirty="0"/>
              <a:t>= P’</a:t>
            </a:r>
            <a:r>
              <a:rPr lang="en-US" altLang="zh-CN" sz="1500" b="1" baseline="-25000" dirty="0"/>
              <a:t>1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1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2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G</a:t>
            </a:r>
            <a:r>
              <a:rPr lang="en-US" altLang="zh-CN" sz="1500" b="1" baseline="-25000" dirty="0"/>
              <a:t>2 </a:t>
            </a:r>
            <a:r>
              <a:rPr lang="en-US" altLang="zh-CN" sz="1500" b="1" dirty="0"/>
              <a:t>= P’</a:t>
            </a:r>
            <a:r>
              <a:rPr lang="en-US" altLang="zh-CN" sz="1500" b="1" baseline="-25000" dirty="0"/>
              <a:t>2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1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3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4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500" b="1" dirty="0"/>
              <a:t>G</a:t>
            </a:r>
            <a:r>
              <a:rPr lang="en-US" altLang="zh-CN" sz="1500" b="1" baseline="-25000" dirty="0"/>
              <a:t>3 </a:t>
            </a:r>
            <a:r>
              <a:rPr lang="en-US" altLang="zh-CN" sz="1500" b="1" dirty="0"/>
              <a:t>= P’</a:t>
            </a:r>
            <a:r>
              <a:rPr lang="en-US" altLang="zh-CN" sz="1500" b="1" baseline="-25000" dirty="0"/>
              <a:t>3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2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3</a:t>
            </a:r>
            <a:r>
              <a:rPr lang="en-US" altLang="zh-CN" sz="1500" b="1" dirty="0">
                <a:ea typeface="等线" panose="02010600030101010101" pitchFamily="2" charset="-122"/>
              </a:rPr>
              <a:t>⊕</a:t>
            </a:r>
            <a:r>
              <a:rPr lang="en-US" altLang="zh-CN" sz="1500" b="1" dirty="0"/>
              <a:t>D’</a:t>
            </a:r>
            <a:r>
              <a:rPr lang="en-US" altLang="zh-CN" sz="1500" b="1" baseline="-25000" dirty="0"/>
              <a:t>4</a:t>
            </a:r>
            <a:endParaRPr lang="en-US" altLang="zh-CN" sz="15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1717001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D784F-45C6-43E1-9927-63697A07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5589240"/>
          </a:xfrm>
        </p:spPr>
        <p:txBody>
          <a:bodyPr rtlCol="0">
            <a:no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、检错与纠错</a:t>
            </a: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当检错码</a:t>
            </a:r>
            <a:r>
              <a:rPr lang="en-US" altLang="zh-CN" sz="1800" b="1" dirty="0"/>
              <a:t>=G</a:t>
            </a:r>
            <a:r>
              <a:rPr lang="en-US" altLang="zh-CN" sz="1800" b="1" baseline="-25000" dirty="0"/>
              <a:t>r</a:t>
            </a:r>
            <a:r>
              <a:rPr lang="en-US" altLang="zh-CN" sz="1800" b="1" dirty="0"/>
              <a:t>…G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G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=0</a:t>
            </a:r>
            <a:r>
              <a:rPr lang="zh-CN" altLang="en-US" sz="1800" b="1" dirty="0"/>
              <a:t>时，表示海明码正确。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当检错码</a:t>
            </a:r>
            <a:r>
              <a:rPr lang="en-US" altLang="zh-CN" sz="1800" b="1" dirty="0"/>
              <a:t>=G</a:t>
            </a:r>
            <a:r>
              <a:rPr lang="en-US" altLang="zh-CN" sz="1800" b="1" baseline="-25000" dirty="0"/>
              <a:t>r</a:t>
            </a:r>
            <a:r>
              <a:rPr lang="en-US" altLang="zh-CN" sz="1800" b="1" dirty="0"/>
              <a:t>…G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G</a:t>
            </a:r>
            <a:r>
              <a:rPr lang="en-US" altLang="zh-CN" sz="1800" b="1" baseline="-25000" dirty="0"/>
              <a:t>1</a:t>
            </a:r>
            <a:r>
              <a:rPr lang="en-US" altLang="zh-CN" sz="1800" b="1" dirty="0">
                <a:ea typeface="等线" panose="02010600030101010101" pitchFamily="2" charset="-122"/>
              </a:rPr>
              <a:t>≠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时，表示海明码出错，根据检错码的值可以确定海明码是哪一位出错。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对于</a:t>
            </a:r>
            <a:r>
              <a:rPr lang="en-US" altLang="zh-CN" sz="1800" b="1" dirty="0"/>
              <a:t>(7,4)</a:t>
            </a:r>
            <a:r>
              <a:rPr lang="zh-CN" altLang="en-US" sz="1800" b="1" dirty="0"/>
              <a:t>码有：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=000</a:t>
            </a:r>
            <a:r>
              <a:rPr lang="zh-CN" altLang="en-US" sz="1600" b="1" dirty="0"/>
              <a:t>，无错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=001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4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=111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出错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17705377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7AD9F-4727-4F7E-B38B-87A7229A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51933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5589240"/>
          </a:xfrm>
        </p:spPr>
        <p:txBody>
          <a:bodyPr/>
          <a:lstStyle/>
          <a:p>
            <a:pPr lvl="1"/>
            <a:r>
              <a:rPr lang="zh-CN" altLang="en-US" sz="1600" b="1" dirty="0"/>
              <a:t>（补充）例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：设原始数据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，求该数据的</a:t>
            </a:r>
            <a:r>
              <a:rPr lang="zh-CN" altLang="en-US" sz="1600" b="1" dirty="0">
                <a:solidFill>
                  <a:srgbClr val="C00000"/>
                </a:solidFill>
              </a:rPr>
              <a:t>海明码</a:t>
            </a:r>
            <a:r>
              <a:rPr lang="zh-CN" altLang="en-US" sz="1600" b="1" dirty="0"/>
              <a:t>。假设在传输或存储过程中，该海明码出现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位错误，请验证海明码能够</a:t>
            </a:r>
            <a:r>
              <a:rPr lang="zh-CN" altLang="en-US" sz="1600" b="1" dirty="0">
                <a:solidFill>
                  <a:srgbClr val="C00000"/>
                </a:solidFill>
              </a:rPr>
              <a:t>发现并纠正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/>
            <a:r>
              <a:rPr lang="zh-CN" altLang="en-US" sz="1600" b="1" dirty="0"/>
              <a:t>解：</a:t>
            </a:r>
            <a:r>
              <a:rPr lang="en-US" altLang="zh-CN" sz="1800" b="1" dirty="0"/>
              <a:t> </a:t>
            </a:r>
          </a:p>
          <a:p>
            <a:pPr lvl="2"/>
            <a:r>
              <a:rPr lang="zh-CN" altLang="en-US" sz="1400" b="1" dirty="0"/>
              <a:t>原始数据</a:t>
            </a:r>
            <a:r>
              <a:rPr lang="en-US" altLang="zh-CN" sz="1400" b="1" dirty="0"/>
              <a:t>=D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=1010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k=4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r=3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如下：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1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⊕1⊕1=0</a:t>
            </a:r>
            <a:endParaRPr lang="en-US" altLang="zh-CN" sz="12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2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⊕0⊕1=1</a:t>
            </a:r>
            <a:endParaRPr lang="en-US" altLang="zh-CN" sz="12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3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1</a:t>
            </a:r>
            <a:r>
              <a:rPr lang="en-US" altLang="zh-CN" sz="1200" b="1" dirty="0">
                <a:ea typeface="等线" panose="02010600030101010101" pitchFamily="2" charset="-122"/>
              </a:rPr>
              <a:t>⊕0⊕1=0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海明码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1010010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假设在传输或存储过程中，海明码的第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）出错，传输或存储后的海明码</a:t>
            </a:r>
            <a:r>
              <a:rPr lang="en-US" altLang="zh-CN" sz="1400" b="1" dirty="0"/>
              <a:t>= H’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/>
              <a:t>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检错码为：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G</a:t>
            </a:r>
            <a:r>
              <a:rPr lang="en-US" altLang="zh-CN" sz="1200" b="1" baseline="-25000" dirty="0"/>
              <a:t>1 </a:t>
            </a:r>
            <a:r>
              <a:rPr lang="en-US" altLang="zh-CN" sz="1200" b="1" dirty="0"/>
              <a:t>= P’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⊕0⊕1⊕0=1</a:t>
            </a:r>
            <a:endParaRPr lang="en-US" altLang="zh-CN" sz="12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G</a:t>
            </a:r>
            <a:r>
              <a:rPr lang="en-US" altLang="zh-CN" sz="1200" b="1" baseline="-25000" dirty="0"/>
              <a:t>2 </a:t>
            </a:r>
            <a:r>
              <a:rPr lang="en-US" altLang="zh-CN" sz="1200" b="1" dirty="0"/>
              <a:t>= P’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1</a:t>
            </a:r>
            <a:r>
              <a:rPr lang="en-US" altLang="zh-CN" sz="1200" b="1" dirty="0">
                <a:ea typeface="等线" panose="02010600030101010101" pitchFamily="2" charset="-122"/>
              </a:rPr>
              <a:t>⊕0⊕0⊕0=1</a:t>
            </a:r>
            <a:endParaRPr lang="en-US" altLang="zh-CN" sz="12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G</a:t>
            </a:r>
            <a:r>
              <a:rPr lang="en-US" altLang="zh-CN" sz="1200" b="1" baseline="-25000" dirty="0"/>
              <a:t>3 </a:t>
            </a:r>
            <a:r>
              <a:rPr lang="en-US" altLang="zh-CN" sz="1200" b="1" dirty="0"/>
              <a:t>= P’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⊕1⊕0⊕0=1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=111</a:t>
            </a:r>
            <a:r>
              <a:rPr lang="zh-CN" altLang="en-US" sz="1400" b="1" dirty="0"/>
              <a:t>，表示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出错，只需要将该位取反，即可得到正确的海明码，说明海明码能够发现并纠正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位错。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008223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F2579-DD33-4CE6-B6F5-A09ADA56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8" y="98459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5472608"/>
          </a:xfrm>
        </p:spPr>
        <p:txBody>
          <a:bodyPr/>
          <a:lstStyle/>
          <a:p>
            <a:pPr lvl="1"/>
            <a:r>
              <a:rPr lang="zh-CN" altLang="en-US" sz="1800" b="1" dirty="0"/>
              <a:t>（补充）例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：假设接收到的</a:t>
            </a:r>
            <a:r>
              <a:rPr lang="zh-CN" altLang="en-US" sz="1800" b="1" dirty="0">
                <a:solidFill>
                  <a:srgbClr val="C00000"/>
                </a:solidFill>
              </a:rPr>
              <a:t>海明码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1010110</a:t>
            </a:r>
            <a:r>
              <a:rPr lang="zh-CN" altLang="en-US" sz="1800" b="1" dirty="0"/>
              <a:t>，且假设接收到的海明码最多出现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位错误。请问该海明码对应的</a:t>
            </a:r>
            <a:r>
              <a:rPr lang="zh-CN" altLang="en-US" sz="1800" b="1" dirty="0">
                <a:solidFill>
                  <a:srgbClr val="C00000"/>
                </a:solidFill>
              </a:rPr>
              <a:t>原始数据</a:t>
            </a:r>
            <a:r>
              <a:rPr lang="zh-CN" altLang="en-US" sz="1800" b="1" dirty="0"/>
              <a:t>是多少？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r>
              <a:rPr lang="zh-CN" altLang="en-US" sz="1800" b="1" dirty="0"/>
              <a:t>解：</a:t>
            </a:r>
            <a:r>
              <a:rPr lang="en-US" altLang="zh-CN" sz="2000" b="1" dirty="0"/>
              <a:t> </a:t>
            </a:r>
          </a:p>
          <a:p>
            <a:pPr lvl="2"/>
            <a:r>
              <a:rPr lang="zh-CN" altLang="en-US" sz="1600" b="1" dirty="0"/>
              <a:t>接收到的海明码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…H’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=D’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=1010110</a:t>
            </a:r>
          </a:p>
          <a:p>
            <a:pPr lvl="2"/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检错码为：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⊕1⊕1⊕1=1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⊕1⊕0⊕1=1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⊕1⊕0⊕1=0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=011</a:t>
            </a:r>
            <a:r>
              <a:rPr lang="zh-CN" altLang="en-US" sz="1600" b="1" dirty="0"/>
              <a:t>，表示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出错，只需要将该位取反，即可得到正确的海明码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正确的海明码</a:t>
            </a:r>
            <a:r>
              <a:rPr lang="en-US" altLang="zh-CN" sz="1600" b="1" dirty="0"/>
              <a:t>=H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…H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 </a:t>
            </a:r>
            <a:r>
              <a:rPr lang="en-US" altLang="zh-CN" sz="1600" b="1" dirty="0"/>
              <a:t>= 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=1010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/>
              <a:t>10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=1010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338452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26B4-7B75-468C-B9D3-E991EECF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80" y="53752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398792" cy="5760640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、扩展海明码</a:t>
            </a:r>
            <a:endParaRPr lang="en-US" altLang="zh-CN" sz="20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扩展海明码：</a:t>
            </a:r>
            <a:r>
              <a:rPr lang="en-US" altLang="zh-CN" sz="1400" b="1" dirty="0">
                <a:solidFill>
                  <a:srgbClr val="C00000"/>
                </a:solidFill>
              </a:rPr>
              <a:t>SECDED</a:t>
            </a:r>
            <a:r>
              <a:rPr lang="zh-CN" altLang="en-US" sz="1400" b="1" dirty="0">
                <a:solidFill>
                  <a:srgbClr val="C00000"/>
                </a:solidFill>
              </a:rPr>
              <a:t>码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Single Error Correction Double Error Detection</a:t>
            </a:r>
            <a:r>
              <a:rPr lang="zh-CN" altLang="en-US" sz="1400" b="1" dirty="0"/>
              <a:t>），其最小码距为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，可以同时检测两位错，并能纠正一位错。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扩展海明码是在普通的海明码基础上增加一个</a:t>
            </a:r>
            <a:r>
              <a:rPr lang="zh-CN" altLang="en-US" sz="1400" b="1" dirty="0">
                <a:solidFill>
                  <a:srgbClr val="C00000"/>
                </a:solidFill>
              </a:rPr>
              <a:t>总偶校验码</a:t>
            </a:r>
            <a:r>
              <a:rPr lang="en-US" altLang="zh-CN" sz="1400" b="1" dirty="0">
                <a:solidFill>
                  <a:srgbClr val="C00000"/>
                </a:solidFill>
              </a:rPr>
              <a:t>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all</a:t>
            </a:r>
            <a:r>
              <a:rPr lang="zh-CN" altLang="en-US" sz="1400" b="1" dirty="0"/>
              <a:t>，用于区分一位错和两位错</a:t>
            </a:r>
            <a:r>
              <a:rPr lang="zh-CN" altLang="en-US" sz="1400" b="1" dirty="0">
                <a:solidFill>
                  <a:srgbClr val="C00000"/>
                </a:solidFill>
              </a:rPr>
              <a:t>：</a:t>
            </a:r>
            <a:r>
              <a:rPr lang="en-US" altLang="zh-CN" sz="1400" b="1" dirty="0">
                <a:solidFill>
                  <a:srgbClr val="C00000"/>
                </a:solidFill>
              </a:rPr>
              <a:t>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all </a:t>
            </a:r>
            <a:r>
              <a:rPr lang="en-US" altLang="zh-CN" sz="1400" b="1" dirty="0"/>
              <a:t>= (D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⊕……⊕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k</a:t>
            </a:r>
            <a:r>
              <a:rPr lang="en-US" altLang="zh-CN" sz="1400" b="1" dirty="0">
                <a:ea typeface="等线" panose="02010600030101010101" pitchFamily="2" charset="-122"/>
              </a:rPr>
              <a:t>)⊕(P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⊕……⊕</a:t>
            </a:r>
            <a:r>
              <a:rPr lang="en-US" altLang="zh-CN" sz="1400" b="1" dirty="0" err="1"/>
              <a:t>P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)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即扩展的海明码为：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k</a:t>
            </a:r>
            <a:r>
              <a:rPr lang="en-US" altLang="zh-CN" sz="1400" b="1" dirty="0"/>
              <a:t>…D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P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…P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 P</a:t>
            </a:r>
            <a:r>
              <a:rPr lang="en-US" altLang="zh-CN" sz="1400" b="1" baseline="-25000" dirty="0"/>
              <a:t>all</a:t>
            </a:r>
            <a:r>
              <a:rPr lang="zh-CN" altLang="en-US" sz="1400" b="1" dirty="0"/>
              <a:t>，共</a:t>
            </a:r>
            <a:r>
              <a:rPr lang="en-US" altLang="zh-CN" sz="1400" b="1" dirty="0"/>
              <a:t>k+r+1=</a:t>
            </a:r>
            <a:r>
              <a:rPr lang="en-US" altLang="zh-CN" sz="1400" b="1" dirty="0">
                <a:solidFill>
                  <a:srgbClr val="C00000"/>
                </a:solidFill>
              </a:rPr>
              <a:t>n+1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假设扩展的海明码经过传输或存储后，变成</a:t>
            </a:r>
            <a:r>
              <a:rPr lang="en-US" altLang="zh-CN" sz="1400" b="1" dirty="0" err="1"/>
              <a:t>D’</a:t>
            </a:r>
            <a:r>
              <a:rPr lang="en-US" altLang="zh-CN" sz="1400" b="1" baseline="-25000" dirty="0" err="1"/>
              <a:t>k</a:t>
            </a:r>
            <a:r>
              <a:rPr lang="en-US" altLang="zh-CN" sz="1400" b="1" dirty="0"/>
              <a:t>…D’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、</a:t>
            </a:r>
            <a:r>
              <a:rPr lang="en-US" altLang="zh-CN" sz="1400" b="1" dirty="0" err="1"/>
              <a:t>P’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…P’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 </a:t>
            </a:r>
            <a:r>
              <a:rPr lang="en-US" altLang="zh-CN" sz="1400" b="1" dirty="0" err="1"/>
              <a:t>P’</a:t>
            </a:r>
            <a:r>
              <a:rPr lang="en-US" altLang="zh-CN" sz="1400" b="1" baseline="-25000" dirty="0" err="1"/>
              <a:t>all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则</a:t>
            </a:r>
            <a:r>
              <a:rPr lang="zh-CN" altLang="en-US" sz="1400" b="1" dirty="0">
                <a:solidFill>
                  <a:srgbClr val="C00000"/>
                </a:solidFill>
              </a:rPr>
              <a:t>总偶检错码</a:t>
            </a:r>
            <a:r>
              <a:rPr lang="en-US" altLang="zh-CN" sz="1400" b="1" dirty="0">
                <a:solidFill>
                  <a:srgbClr val="C00000"/>
                </a:solidFill>
              </a:rPr>
              <a:t>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all</a:t>
            </a:r>
            <a:r>
              <a:rPr lang="zh-CN" altLang="en-US" sz="1400" b="1" dirty="0"/>
              <a:t>为：</a:t>
            </a:r>
            <a:r>
              <a:rPr lang="en-US" altLang="zh-CN" sz="1400" b="1" dirty="0">
                <a:solidFill>
                  <a:srgbClr val="C00000"/>
                </a:solidFill>
              </a:rPr>
              <a:t>G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all </a:t>
            </a:r>
            <a:r>
              <a:rPr lang="en-US" altLang="zh-CN" sz="1400" b="1" dirty="0"/>
              <a:t>= </a:t>
            </a:r>
            <a:r>
              <a:rPr lang="en-US" altLang="zh-CN" sz="1400" b="1" dirty="0" err="1"/>
              <a:t>P’</a:t>
            </a:r>
            <a:r>
              <a:rPr lang="en-US" altLang="zh-CN" sz="1400" b="1" baseline="-25000" dirty="0" err="1"/>
              <a:t>all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(D’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⊕……⊕</a:t>
            </a:r>
            <a:r>
              <a:rPr lang="en-US" altLang="zh-CN" sz="1400" b="1" dirty="0" err="1"/>
              <a:t>D’</a:t>
            </a:r>
            <a:r>
              <a:rPr lang="en-US" altLang="zh-CN" sz="1400" b="1" baseline="-25000" dirty="0" err="1"/>
              <a:t>k</a:t>
            </a:r>
            <a:r>
              <a:rPr lang="en-US" altLang="zh-CN" sz="1400" b="1" dirty="0">
                <a:ea typeface="等线" panose="02010600030101010101" pitchFamily="2" charset="-122"/>
              </a:rPr>
              <a:t>)⊕(P’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⊕……⊕</a:t>
            </a:r>
            <a:r>
              <a:rPr lang="en-US" altLang="zh-CN" sz="1400" b="1" dirty="0" err="1"/>
              <a:t>P’</a:t>
            </a:r>
            <a:r>
              <a:rPr lang="en-US" altLang="zh-CN" sz="1400" b="1" baseline="-25000" dirty="0" err="1"/>
              <a:t>r</a:t>
            </a:r>
            <a:r>
              <a:rPr lang="en-US" altLang="zh-CN" sz="1400" b="1" dirty="0"/>
              <a:t>)</a:t>
            </a:r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r</a:t>
            </a:r>
            <a:r>
              <a:rPr lang="en-US" altLang="zh-CN" sz="1400" b="1" dirty="0"/>
              <a:t>…G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，表示没有错误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r</a:t>
            </a:r>
            <a:r>
              <a:rPr lang="en-US" altLang="zh-CN" sz="1400" b="1" dirty="0"/>
              <a:t>…G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位错，为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</a:t>
            </a:r>
            <a:r>
              <a:rPr lang="zh-CN" altLang="en-US" sz="1400" b="1" dirty="0"/>
              <a:t>发生错，不需要纠错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r</a:t>
            </a:r>
            <a:r>
              <a:rPr lang="en-US" altLang="zh-CN" sz="1400" b="1" dirty="0"/>
              <a:t>…G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≠0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位错，可以根据检错码</a:t>
            </a:r>
            <a:r>
              <a:rPr lang="en-US" altLang="zh-CN" sz="1400" b="1" dirty="0"/>
              <a:t>G</a:t>
            </a:r>
            <a:r>
              <a:rPr lang="zh-CN" altLang="en-US" sz="1400" b="1" dirty="0"/>
              <a:t>的值纠错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r</a:t>
            </a:r>
            <a:r>
              <a:rPr lang="en-US" altLang="zh-CN" sz="1400" b="1" dirty="0"/>
              <a:t>…G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≠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位错，无法纠错</a:t>
            </a:r>
            <a:endParaRPr lang="en-US" altLang="zh-CN" sz="1400" b="1" dirty="0"/>
          </a:p>
          <a:p>
            <a:pPr lvl="2">
              <a:lnSpc>
                <a:spcPct val="120000"/>
              </a:lnSpc>
            </a:pPr>
            <a:r>
              <a:rPr lang="zh-CN" altLang="en-US" sz="1400" b="1" dirty="0"/>
              <a:t>服务器中常用的</a:t>
            </a:r>
            <a:r>
              <a:rPr lang="en-US" altLang="zh-CN" sz="1400" b="1" dirty="0"/>
              <a:t>ECC</a:t>
            </a:r>
            <a:r>
              <a:rPr lang="zh-CN" altLang="en-US" sz="1400" b="1" dirty="0"/>
              <a:t>校验内存就采用了</a:t>
            </a:r>
            <a:r>
              <a:rPr lang="en-US" altLang="zh-CN" sz="1400" b="1" dirty="0"/>
              <a:t>SECDED</a:t>
            </a:r>
            <a:r>
              <a:rPr lang="zh-CN" altLang="en-US" sz="1400" b="1" dirty="0"/>
              <a:t>码，它可以检测内存条的两位错并纠正一位错。例如数据宽度为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位的内存，引入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位海明校验位（</a:t>
            </a:r>
            <a:r>
              <a:rPr lang="en-US" altLang="zh-CN" sz="1400" b="1" dirty="0"/>
              <a:t>k=64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r=7</a:t>
            </a:r>
            <a:r>
              <a:rPr lang="zh-CN" altLang="en-US" sz="1400" b="1" dirty="0"/>
              <a:t>）以及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位总校验位，实际的位数为</a:t>
            </a:r>
            <a:r>
              <a:rPr lang="en-US" altLang="zh-CN" sz="1400" b="1" dirty="0"/>
              <a:t>64+8=72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16GB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ECC</a:t>
            </a:r>
            <a:r>
              <a:rPr lang="zh-CN" altLang="en-US" sz="1400" b="1" dirty="0"/>
              <a:t>内存实际容量为</a:t>
            </a:r>
            <a:r>
              <a:rPr lang="en-US" altLang="zh-CN" sz="1400" b="1" dirty="0"/>
              <a:t>18GB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16GBx72/64=18GB</a:t>
            </a:r>
            <a:r>
              <a:rPr lang="zh-CN" altLang="en-US" sz="1400" b="1" dirty="0"/>
              <a:t>）。</a:t>
            </a: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5251211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6E92AE3-1B4C-4E82-A85C-8BF6E622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364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0724495-3BFF-4D64-BFF1-B586931C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41851"/>
            <a:ext cx="3840813" cy="21795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6F06D31-7005-45D7-B259-978C93D91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405" y="3438942"/>
            <a:ext cx="3627434" cy="215664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503FA7B-0326-4CEA-8726-4964B27B8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1209940"/>
            <a:ext cx="3635055" cy="219475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0A8FCA8-D81D-4146-8363-E0DB5388B3B1}"/>
              </a:ext>
            </a:extLst>
          </p:cNvPr>
          <p:cNvSpPr txBox="1"/>
          <p:nvPr/>
        </p:nvSpPr>
        <p:spPr>
          <a:xfrm>
            <a:off x="3131840" y="5877272"/>
            <a:ext cx="362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2.19 SECDED </a:t>
            </a:r>
            <a:r>
              <a:rPr lang="zh-CN" altLang="en-US" dirty="0"/>
              <a:t>码检错附加电路</a:t>
            </a:r>
          </a:p>
        </p:txBody>
      </p:sp>
    </p:spTree>
    <p:extLst>
      <p:ext uri="{BB962C8B-B14F-4D97-AF65-F5344CB8AC3E}">
        <p14:creationId xmlns:p14="http://schemas.microsoft.com/office/powerpoint/2010/main" val="16470969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1577C-F552-45A8-8597-EB906A29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8012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5760640"/>
          </a:xfrm>
        </p:spPr>
        <p:txBody>
          <a:bodyPr/>
          <a:lstStyle/>
          <a:p>
            <a:pPr lvl="1"/>
            <a:r>
              <a:rPr lang="zh-CN" altLang="en-US" sz="1800" b="1" dirty="0"/>
              <a:t>（补充）例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：设原始数据</a:t>
            </a:r>
            <a:r>
              <a:rPr lang="en-US" altLang="zh-CN" sz="1800" b="1" dirty="0"/>
              <a:t>=1010</a:t>
            </a:r>
            <a:r>
              <a:rPr lang="zh-CN" altLang="en-US" sz="1800" b="1" dirty="0"/>
              <a:t>，求该数据的</a:t>
            </a:r>
            <a:r>
              <a:rPr lang="zh-CN" altLang="en-US" sz="1800" b="1" dirty="0">
                <a:solidFill>
                  <a:srgbClr val="C00000"/>
                </a:solidFill>
              </a:rPr>
              <a:t>扩展海明码</a:t>
            </a:r>
            <a:r>
              <a:rPr lang="zh-CN" altLang="en-US" sz="1800" b="1" dirty="0"/>
              <a:t>。假设在传输或存储过程中，该扩展海明码分别出现：无错、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位错误、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位错误，请验证扩展海明码能够</a:t>
            </a:r>
            <a:r>
              <a:rPr lang="zh-CN" altLang="en-US" sz="1800" b="1" dirty="0">
                <a:solidFill>
                  <a:srgbClr val="C00000"/>
                </a:solidFill>
              </a:rPr>
              <a:t>发现</a:t>
            </a: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</a:rPr>
              <a:t>位错误并纠正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位错</a:t>
            </a:r>
            <a:r>
              <a:rPr lang="zh-CN" altLang="en-US" sz="1800" b="1" dirty="0"/>
              <a:t>。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解：</a:t>
            </a:r>
            <a:r>
              <a:rPr lang="en-US" altLang="zh-CN" sz="2000" b="1" dirty="0"/>
              <a:t> </a:t>
            </a:r>
          </a:p>
          <a:p>
            <a:pPr lvl="2"/>
            <a:r>
              <a:rPr lang="zh-CN" altLang="en-US" sz="1600" b="1" dirty="0"/>
              <a:t>原始数据</a:t>
            </a:r>
            <a:r>
              <a:rPr lang="en-US" altLang="zh-CN" sz="1600" b="1" dirty="0"/>
              <a:t>=D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k=4</a:t>
            </a:r>
            <a:r>
              <a:rPr lang="zh-CN" altLang="en-US" sz="1600" b="1" dirty="0"/>
              <a:t>，则</a:t>
            </a:r>
            <a:r>
              <a:rPr lang="en-US" altLang="zh-CN" sz="1600" b="1" dirty="0"/>
              <a:t>r=3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校验码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如下：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⊕0⊕1=0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海明码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…H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 </a:t>
            </a:r>
            <a:r>
              <a:rPr lang="en-US" altLang="zh-CN" sz="1600" b="1" dirty="0"/>
              <a:t>= 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 </a:t>
            </a:r>
            <a:r>
              <a:rPr lang="en-US" altLang="zh-CN" sz="1600" b="1" dirty="0">
                <a:solidFill>
                  <a:srgbClr val="C00000"/>
                </a:solidFill>
              </a:rPr>
              <a:t>1010010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总偶校验码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all </a:t>
            </a:r>
            <a:r>
              <a:rPr lang="en-US" altLang="zh-CN" sz="1600" b="1" dirty="0"/>
              <a:t>= (D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>
                <a:ea typeface="等线" panose="02010600030101010101" pitchFamily="2" charset="-122"/>
              </a:rPr>
              <a:t>⊕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>
                <a:ea typeface="等线" panose="02010600030101010101" pitchFamily="2" charset="-122"/>
              </a:rPr>
              <a:t>⊕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>
                <a:ea typeface="等线" panose="02010600030101010101" pitchFamily="2" charset="-122"/>
              </a:rPr>
              <a:t>⊕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>
                <a:ea typeface="等线" panose="02010600030101010101" pitchFamily="2" charset="-122"/>
              </a:rPr>
              <a:t>)⊕(P</a:t>
            </a:r>
            <a:r>
              <a:rPr lang="en-US" altLang="zh-CN" sz="1600" b="1" baseline="-25000" dirty="0"/>
              <a:t>1</a:t>
            </a:r>
            <a:r>
              <a:rPr lang="en-US" altLang="zh-CN" sz="1600" b="1" dirty="0">
                <a:ea typeface="等线" panose="02010600030101010101" pitchFamily="2" charset="-122"/>
              </a:rPr>
              <a:t>⊕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>
                <a:ea typeface="等线" panose="02010600030101010101" pitchFamily="2" charset="-122"/>
              </a:rPr>
              <a:t>⊕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)=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扩展海明码</a:t>
            </a:r>
            <a:r>
              <a:rPr lang="en-US" altLang="zh-CN" sz="1600" b="1" dirty="0"/>
              <a:t>= H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…H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all </a:t>
            </a:r>
            <a:r>
              <a:rPr lang="en-US" altLang="zh-CN" sz="1600" b="1" dirty="0"/>
              <a:t>= </a:t>
            </a:r>
            <a:r>
              <a:rPr lang="en-US" altLang="zh-CN" sz="1600" b="1" dirty="0">
                <a:solidFill>
                  <a:srgbClr val="C00000"/>
                </a:solidFill>
              </a:rPr>
              <a:t>10100101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）假设在传输或存储过程中，扩展海明码</a:t>
            </a:r>
            <a:r>
              <a:rPr lang="zh-CN" altLang="en-US" sz="1600" b="1" dirty="0">
                <a:solidFill>
                  <a:srgbClr val="C00000"/>
                </a:solidFill>
              </a:rPr>
              <a:t>没有出现错误</a:t>
            </a:r>
            <a:r>
              <a:rPr lang="zh-CN" altLang="en-US" sz="1600" b="1" dirty="0"/>
              <a:t>，传输或存储后的扩展海明码</a:t>
            </a:r>
            <a:r>
              <a:rPr lang="en-US" altLang="zh-CN" sz="1600" b="1" dirty="0"/>
              <a:t>= H’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…H’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all</a:t>
            </a:r>
            <a:r>
              <a:rPr lang="en-US" altLang="zh-CN" sz="1600" b="1" dirty="0"/>
              <a:t>=D’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P’</a:t>
            </a:r>
            <a:r>
              <a:rPr lang="en-US" altLang="zh-CN" sz="1600" b="1" baseline="-25000" dirty="0"/>
              <a:t>all</a:t>
            </a:r>
            <a:r>
              <a:rPr lang="en-US" altLang="zh-CN" sz="1600" b="1" dirty="0"/>
              <a:t>=10100101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检错码为：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⊕0⊕1⊕1=0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⊕0⊕0⊕1=0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⊕1⊕0⊕1=0</a:t>
            </a:r>
            <a:endParaRPr lang="en-US" altLang="zh-CN" sz="16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总偶检错码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 </a:t>
            </a:r>
            <a:r>
              <a:rPr lang="en-US" altLang="zh-CN" sz="1400" b="1" dirty="0" err="1"/>
              <a:t>P’</a:t>
            </a:r>
            <a:r>
              <a:rPr lang="en-US" altLang="zh-CN" sz="1400" b="1" baseline="-25000" dirty="0" err="1"/>
              <a:t>all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(D’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)⊕(P’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)=1</a:t>
            </a:r>
            <a:r>
              <a:rPr lang="en-US" altLang="zh-CN" sz="1400" b="1" dirty="0">
                <a:ea typeface="等线" panose="02010600030101010101" pitchFamily="2" charset="-122"/>
              </a:rPr>
              <a:t>⊕0⊕1⊕0⊕1⊕0⊕1⊕0=0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600" b="1" dirty="0"/>
              <a:t>G</a:t>
            </a:r>
            <a:r>
              <a:rPr lang="en-US" altLang="zh-CN" sz="1600" b="1" baseline="-25000" dirty="0"/>
              <a:t>all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G=G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>
                <a:ea typeface="等线" panose="02010600030101010101" pitchFamily="2" charset="-122"/>
              </a:rPr>
              <a:t>=000</a:t>
            </a:r>
            <a:r>
              <a:rPr lang="zh-CN" altLang="en-US" sz="1600" b="1" dirty="0"/>
              <a:t>，表示没有出错。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42856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1A901-01B9-43EB-8090-6CEA0719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2.4.3  </a:t>
            </a:r>
            <a:r>
              <a:rPr lang="zh-CN" altLang="en-US" b="1" dirty="0">
                <a:ea typeface="黑体" pitchFamily="49" charset="-122"/>
              </a:rPr>
              <a:t>海明校验</a:t>
            </a:r>
            <a:endParaRPr lang="zh-CN" altLang="en-US" b="1" dirty="0"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5616624"/>
          </a:xfrm>
        </p:spPr>
        <p:txBody>
          <a:bodyPr/>
          <a:lstStyle/>
          <a:p>
            <a:pPr lvl="1"/>
            <a:r>
              <a:rPr lang="zh-CN" altLang="en-US" sz="1600" b="1" dirty="0"/>
              <a:t>（补充）例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：设原始数据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，求该数据的</a:t>
            </a:r>
            <a:r>
              <a:rPr lang="zh-CN" altLang="en-US" sz="1600" b="1" dirty="0">
                <a:solidFill>
                  <a:srgbClr val="C00000"/>
                </a:solidFill>
              </a:rPr>
              <a:t>扩展海明码</a:t>
            </a:r>
            <a:r>
              <a:rPr lang="zh-CN" altLang="en-US" sz="1600" b="1" dirty="0"/>
              <a:t>。假设在传输或存储过程中，该扩展海明码分别出现：无错、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位错误、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位错误，请验证扩展海明码能够</a:t>
            </a:r>
            <a:r>
              <a:rPr lang="zh-CN" altLang="en-US" sz="1600" b="1" dirty="0">
                <a:solidFill>
                  <a:srgbClr val="C00000"/>
                </a:solidFill>
              </a:rPr>
              <a:t>发现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位错误并纠正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/>
            <a:r>
              <a:rPr lang="zh-CN" altLang="en-US" sz="1600" b="1" dirty="0"/>
              <a:t>解（续）：</a:t>
            </a:r>
            <a:r>
              <a:rPr lang="en-US" altLang="zh-CN" sz="1800" b="1" dirty="0"/>
              <a:t> </a:t>
            </a:r>
          </a:p>
          <a:p>
            <a:pPr lvl="2"/>
            <a:r>
              <a:rPr lang="zh-CN" altLang="en-US" sz="1400" b="1" dirty="0"/>
              <a:t>原始数据</a:t>
            </a:r>
            <a:r>
              <a:rPr lang="en-US" altLang="zh-CN" sz="1400" b="1" dirty="0"/>
              <a:t>=D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=1010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k=4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r=3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如下：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1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2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0</a:t>
            </a:r>
            <a:r>
              <a:rPr lang="en-US" altLang="zh-CN" sz="1200" b="1" dirty="0">
                <a:ea typeface="等线" panose="02010600030101010101" pitchFamily="2" charset="-122"/>
              </a:rPr>
              <a:t>⊕0⊕1=1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200" b="1" dirty="0"/>
              <a:t>P</a:t>
            </a:r>
            <a:r>
              <a:rPr lang="en-US" altLang="zh-CN" sz="1200" b="1" baseline="-25000" dirty="0"/>
              <a:t>3 </a:t>
            </a:r>
            <a:r>
              <a:rPr lang="en-US" altLang="zh-CN" sz="1200" b="1" dirty="0"/>
              <a:t>= D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4</a:t>
            </a:r>
            <a:r>
              <a:rPr lang="en-US" altLang="zh-CN" sz="1200" b="1" dirty="0"/>
              <a:t> = 1</a:t>
            </a:r>
            <a:r>
              <a:rPr lang="en-US" altLang="zh-CN" sz="1200" b="1" dirty="0">
                <a:ea typeface="等线" panose="02010600030101010101" pitchFamily="2" charset="-122"/>
              </a:rPr>
              <a:t>⊕0⊕1=0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海明码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1010010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 (D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)⊕(P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)=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扩展海明码</a:t>
            </a:r>
            <a:r>
              <a:rPr lang="en-US" altLang="zh-CN" sz="1400" b="1" dirty="0"/>
              <a:t>= 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2-1</a:t>
            </a:r>
            <a:r>
              <a:rPr lang="zh-CN" altLang="en-US" sz="1400" b="1" dirty="0"/>
              <a:t>）假设在传输或存储过程中，扩展海明码的</a:t>
            </a:r>
            <a:r>
              <a:rPr lang="zh-CN" altLang="en-US" sz="1400" b="1" dirty="0">
                <a:solidFill>
                  <a:srgbClr val="C00000"/>
                </a:solidFill>
              </a:rPr>
              <a:t>第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H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7</a:t>
            </a:r>
            <a:r>
              <a:rPr lang="zh-CN" altLang="en-US" sz="1400" b="1" dirty="0">
                <a:solidFill>
                  <a:srgbClr val="C00000"/>
                </a:solidFill>
              </a:rPr>
              <a:t>）出错</a:t>
            </a:r>
            <a:r>
              <a:rPr lang="zh-CN" altLang="en-US" sz="1400" b="1" dirty="0"/>
              <a:t>，传输或存储后的扩展海明码</a:t>
            </a:r>
            <a:r>
              <a:rPr lang="en-US" altLang="zh-CN" sz="1400" b="1" dirty="0"/>
              <a:t>= H’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/>
              <a:t>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检错码为：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⊕0⊕1⊕0=1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⊕0⊕0⊕0=1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⊕1⊕0⊕0=1</a:t>
            </a:r>
            <a:endParaRPr lang="en-US" altLang="zh-CN" sz="16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总偶检错码</a:t>
            </a:r>
            <a:r>
              <a:rPr lang="en-US" altLang="zh-CN" sz="1200" b="1" dirty="0"/>
              <a:t>G</a:t>
            </a:r>
            <a:r>
              <a:rPr lang="en-US" altLang="zh-CN" sz="1200" b="1" baseline="-25000" dirty="0"/>
              <a:t>all </a:t>
            </a:r>
            <a:r>
              <a:rPr lang="en-US" altLang="zh-CN" sz="1200" b="1" dirty="0"/>
              <a:t>= </a:t>
            </a:r>
            <a:r>
              <a:rPr lang="en-US" altLang="zh-CN" sz="1200" b="1" dirty="0" err="1"/>
              <a:t>P’</a:t>
            </a:r>
            <a:r>
              <a:rPr lang="en-US" altLang="zh-CN" sz="1200" b="1" baseline="-25000" dirty="0" err="1"/>
              <a:t>all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(D’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)⊕(P’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P’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P’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/>
              <a:t>)=1</a:t>
            </a:r>
            <a:r>
              <a:rPr lang="en-US" altLang="zh-CN" sz="1200" b="1" dirty="0">
                <a:ea typeface="等线" panose="02010600030101010101" pitchFamily="2" charset="-122"/>
              </a:rPr>
              <a:t>⊕0⊕1⊕0⊕0⊕0⊕1⊕0=1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=111≠0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位错，可以根据检错码</a:t>
            </a:r>
            <a:r>
              <a:rPr lang="en-US" altLang="zh-CN" sz="1400" b="1" dirty="0"/>
              <a:t>G</a:t>
            </a:r>
            <a:r>
              <a:rPr lang="zh-CN" altLang="en-US" sz="1400" b="1" dirty="0"/>
              <a:t>的值纠错；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=111</a:t>
            </a:r>
            <a:r>
              <a:rPr lang="zh-CN" altLang="en-US" sz="1400" b="1" dirty="0"/>
              <a:t>，表示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出错，只需要将该位取反，即可得到正确的海明码，说明扩展海明码能够发现并纠正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位错。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0074780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97523-C338-4812-B281-1B3EDA06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908720"/>
            <a:ext cx="8229600" cy="5863382"/>
          </a:xfrm>
        </p:spPr>
        <p:txBody>
          <a:bodyPr/>
          <a:lstStyle/>
          <a:p>
            <a:pPr marL="538163" lvl="1" indent="-179388"/>
            <a:r>
              <a:rPr lang="zh-CN" altLang="en-US" sz="1600" b="1" dirty="0"/>
              <a:t>（补充）例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：设原始数据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，求该数据的</a:t>
            </a:r>
            <a:r>
              <a:rPr lang="zh-CN" altLang="en-US" sz="1600" b="1" dirty="0">
                <a:solidFill>
                  <a:srgbClr val="C00000"/>
                </a:solidFill>
              </a:rPr>
              <a:t>扩展海明码</a:t>
            </a:r>
            <a:r>
              <a:rPr lang="zh-CN" altLang="en-US" sz="1600" b="1" dirty="0"/>
              <a:t>。假设在传输或存储过程中，该扩展海明码分别出现：无错、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位错误、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位错误，请验证扩展海明码能够</a:t>
            </a:r>
            <a:r>
              <a:rPr lang="zh-CN" altLang="en-US" sz="1600" b="1" dirty="0">
                <a:solidFill>
                  <a:srgbClr val="C00000"/>
                </a:solidFill>
              </a:rPr>
              <a:t>发现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位错误并纠正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marL="627063" lvl="1" indent="-268288"/>
            <a:r>
              <a:rPr lang="zh-CN" altLang="en-US" sz="1600" b="1" dirty="0"/>
              <a:t>解（续）：</a:t>
            </a:r>
            <a:r>
              <a:rPr lang="en-US" altLang="zh-CN" sz="1800" b="1" dirty="0"/>
              <a:t> </a:t>
            </a:r>
          </a:p>
          <a:p>
            <a:pPr lvl="2"/>
            <a:r>
              <a:rPr lang="zh-CN" altLang="en-US" sz="1400" b="1" dirty="0"/>
              <a:t>原始数据</a:t>
            </a:r>
            <a:r>
              <a:rPr lang="en-US" altLang="zh-CN" sz="1400" b="1" dirty="0"/>
              <a:t>=D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=1010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k=4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r=3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如下：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⊕0⊕1=0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海明码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1010010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 (D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)⊕(P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)=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扩展海明码</a:t>
            </a:r>
            <a:r>
              <a:rPr lang="en-US" altLang="zh-CN" sz="1400" b="1" dirty="0"/>
              <a:t>= 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10100101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2-2</a:t>
            </a:r>
            <a:r>
              <a:rPr lang="zh-CN" altLang="en-US" sz="1400" b="1" dirty="0"/>
              <a:t>）假设在传输或存储过程中，扩展海明码的</a:t>
            </a:r>
            <a:r>
              <a:rPr lang="zh-CN" altLang="en-US" sz="1400" b="1" dirty="0">
                <a:solidFill>
                  <a:srgbClr val="C00000"/>
                </a:solidFill>
              </a:rPr>
              <a:t>第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all</a:t>
            </a:r>
            <a:r>
              <a:rPr lang="zh-CN" altLang="en-US" sz="1400" b="1" dirty="0">
                <a:solidFill>
                  <a:srgbClr val="C00000"/>
                </a:solidFill>
              </a:rPr>
              <a:t>）出错</a:t>
            </a:r>
            <a:r>
              <a:rPr lang="zh-CN" altLang="en-US" sz="1400" b="1" dirty="0"/>
              <a:t>，传输或存储后的扩展海明码</a:t>
            </a:r>
            <a:r>
              <a:rPr lang="en-US" altLang="zh-CN" sz="1400" b="1" dirty="0"/>
              <a:t>= H’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=1010010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检错码为：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⊕0⊕1⊕1=0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⊕0⊕0⊕1=0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⊕1⊕0⊕1=0</a:t>
            </a:r>
            <a:endParaRPr lang="en-US" altLang="zh-CN" sz="16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总偶检错码</a:t>
            </a:r>
            <a:r>
              <a:rPr lang="en-US" altLang="zh-CN" sz="1200" b="1" dirty="0"/>
              <a:t>G</a:t>
            </a:r>
            <a:r>
              <a:rPr lang="en-US" altLang="zh-CN" sz="1200" b="1" baseline="-25000" dirty="0"/>
              <a:t>all </a:t>
            </a:r>
            <a:r>
              <a:rPr lang="en-US" altLang="zh-CN" sz="1200" b="1" dirty="0"/>
              <a:t>= </a:t>
            </a:r>
            <a:r>
              <a:rPr lang="en-US" altLang="zh-CN" sz="1200" b="1" dirty="0" err="1"/>
              <a:t>P’</a:t>
            </a:r>
            <a:r>
              <a:rPr lang="en-US" altLang="zh-CN" sz="1200" b="1" baseline="-25000" dirty="0" err="1"/>
              <a:t>all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(D’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4</a:t>
            </a:r>
            <a:r>
              <a:rPr lang="en-US" altLang="zh-CN" sz="1200" b="1" dirty="0">
                <a:ea typeface="等线" panose="02010600030101010101" pitchFamily="2" charset="-122"/>
              </a:rPr>
              <a:t>)⊕(P’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P’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P’</a:t>
            </a:r>
            <a:r>
              <a:rPr lang="en-US" altLang="zh-CN" sz="1200" b="1" baseline="-25000" dirty="0"/>
              <a:t>3</a:t>
            </a:r>
            <a:r>
              <a:rPr lang="en-US" altLang="zh-CN" sz="1200" b="1" dirty="0"/>
              <a:t>)=0</a:t>
            </a:r>
            <a:r>
              <a:rPr lang="en-US" altLang="zh-CN" sz="1200" b="1" dirty="0">
                <a:ea typeface="等线" panose="02010600030101010101" pitchFamily="2" charset="-122"/>
              </a:rPr>
              <a:t>⊕0⊕1⊕0⊕1⊕0⊕1⊕0=1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=000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位错，并且是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</a:t>
            </a:r>
            <a:r>
              <a:rPr lang="zh-CN" altLang="en-US" sz="1400" b="1" dirty="0"/>
              <a:t>出错，不需要纠错。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254176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38CDF-50F5-41A3-9B1C-1EAECE4D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94122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760640"/>
          </a:xfrm>
        </p:spPr>
        <p:txBody>
          <a:bodyPr/>
          <a:lstStyle/>
          <a:p>
            <a:pPr lvl="1"/>
            <a:r>
              <a:rPr lang="zh-CN" altLang="en-US" sz="1600" b="1" dirty="0"/>
              <a:t>（补充）例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：设原始数据</a:t>
            </a:r>
            <a:r>
              <a:rPr lang="en-US" altLang="zh-CN" sz="1600" b="1" dirty="0"/>
              <a:t>=1010</a:t>
            </a:r>
            <a:r>
              <a:rPr lang="zh-CN" altLang="en-US" sz="1600" b="1" dirty="0"/>
              <a:t>，求该数据的</a:t>
            </a:r>
            <a:r>
              <a:rPr lang="zh-CN" altLang="en-US" sz="1600" b="1" dirty="0">
                <a:solidFill>
                  <a:srgbClr val="C00000"/>
                </a:solidFill>
              </a:rPr>
              <a:t>扩展海明码</a:t>
            </a:r>
            <a:r>
              <a:rPr lang="zh-CN" altLang="en-US" sz="1600" b="1" dirty="0"/>
              <a:t>。假设在传输或存储过程中，该扩展海明码分别出现：无错、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位错误、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位错误，请验证扩展海明码能够</a:t>
            </a:r>
            <a:r>
              <a:rPr lang="zh-CN" altLang="en-US" sz="1600" b="1" dirty="0">
                <a:solidFill>
                  <a:srgbClr val="C00000"/>
                </a:solidFill>
              </a:rPr>
              <a:t>发现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位错误并纠正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位错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lvl="1"/>
            <a:r>
              <a:rPr lang="zh-CN" altLang="en-US" sz="1600" b="1" dirty="0"/>
              <a:t>解（续）：</a:t>
            </a:r>
            <a:r>
              <a:rPr lang="en-US" altLang="zh-CN" sz="1800" b="1" dirty="0"/>
              <a:t> </a:t>
            </a:r>
          </a:p>
          <a:p>
            <a:pPr lvl="2"/>
            <a:r>
              <a:rPr lang="zh-CN" altLang="en-US" sz="1400" b="1" dirty="0"/>
              <a:t>原始数据</a:t>
            </a:r>
            <a:r>
              <a:rPr lang="en-US" altLang="zh-CN" sz="1400" b="1" dirty="0"/>
              <a:t>=D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=1010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k=4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r=3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zh-CN" altLang="en-US" sz="1400" b="1" dirty="0"/>
              <a:t>如下：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⊕0⊕1=0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海明码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solidFill>
                  <a:srgbClr val="C00000"/>
                </a:solidFill>
              </a:rPr>
              <a:t>= 1010010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总偶校验码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 (D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)⊕(P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)=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扩展海明码</a:t>
            </a:r>
            <a:r>
              <a:rPr lang="en-US" altLang="zh-CN" sz="1400" b="1" dirty="0"/>
              <a:t>= H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all 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10100101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）假设在传输或存储过程中，扩展海明码的</a:t>
            </a:r>
            <a:r>
              <a:rPr lang="zh-CN" altLang="en-US" sz="1400" b="1" dirty="0">
                <a:solidFill>
                  <a:srgbClr val="C00000"/>
                </a:solidFill>
              </a:rPr>
              <a:t>第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H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7</a:t>
            </a:r>
            <a:r>
              <a:rPr lang="zh-CN" altLang="en-US" sz="1400" b="1" dirty="0">
                <a:solidFill>
                  <a:srgbClr val="C00000"/>
                </a:solidFill>
              </a:rPr>
              <a:t>）和第</a:t>
            </a:r>
            <a:r>
              <a:rPr lang="en-US" altLang="zh-CN" sz="1400" b="1" dirty="0">
                <a:solidFill>
                  <a:srgbClr val="C00000"/>
                </a:solidFill>
              </a:rPr>
              <a:t>6</a:t>
            </a:r>
            <a:r>
              <a:rPr lang="zh-CN" altLang="en-US" sz="1400" b="1" dirty="0">
                <a:solidFill>
                  <a:srgbClr val="C00000"/>
                </a:solidFill>
              </a:rPr>
              <a:t>位（</a:t>
            </a:r>
            <a:r>
              <a:rPr lang="en-US" altLang="zh-CN" sz="1400" b="1" dirty="0">
                <a:solidFill>
                  <a:srgbClr val="C00000"/>
                </a:solidFill>
              </a:rPr>
              <a:t>H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）出错</a:t>
            </a:r>
            <a:r>
              <a:rPr lang="zh-CN" altLang="en-US" sz="1400" b="1" dirty="0"/>
              <a:t>，传输或存储后的扩展海明码</a:t>
            </a:r>
            <a:r>
              <a:rPr lang="en-US" altLang="zh-CN" sz="1400" b="1" dirty="0"/>
              <a:t>= H’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…H’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H’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P’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/>
              <a:t>0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/>
              <a:t>00101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检错码为：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⊕0⊕0⊕0=0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⊕0⊕0⊕0=1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⊕1⊕0⊕0=1</a:t>
            </a:r>
            <a:endParaRPr lang="en-US" altLang="zh-CN" sz="16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400" b="1" dirty="0"/>
              <a:t>总偶检错码</a:t>
            </a:r>
            <a:r>
              <a:rPr lang="en-US" altLang="zh-CN" sz="1200" b="1" dirty="0"/>
              <a:t>G</a:t>
            </a:r>
            <a:r>
              <a:rPr lang="en-US" altLang="zh-CN" sz="1200" b="1" baseline="-25000" dirty="0"/>
              <a:t>all </a:t>
            </a:r>
            <a:r>
              <a:rPr lang="en-US" altLang="zh-CN" sz="1200" b="1" dirty="0"/>
              <a:t>= </a:t>
            </a:r>
            <a:r>
              <a:rPr lang="en-US" altLang="zh-CN" sz="1200" b="1" dirty="0" err="1"/>
              <a:t>P’</a:t>
            </a:r>
            <a:r>
              <a:rPr lang="en-US" altLang="zh-CN" sz="1200" b="1" baseline="-25000" dirty="0" err="1"/>
              <a:t>all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(D’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D’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⊕……⊕</a:t>
            </a:r>
            <a:r>
              <a:rPr lang="en-US" altLang="zh-CN" sz="1200" b="1" dirty="0" err="1"/>
              <a:t>D’</a:t>
            </a:r>
            <a:r>
              <a:rPr lang="en-US" altLang="zh-CN" sz="1200" b="1" baseline="-25000" dirty="0" err="1"/>
              <a:t>k</a:t>
            </a:r>
            <a:r>
              <a:rPr lang="en-US" altLang="zh-CN" sz="1200" b="1" dirty="0">
                <a:ea typeface="等线" panose="02010600030101010101" pitchFamily="2" charset="-122"/>
              </a:rPr>
              <a:t>)⊕(P’</a:t>
            </a:r>
            <a:r>
              <a:rPr lang="en-US" altLang="zh-CN" sz="1200" b="1" baseline="-25000" dirty="0"/>
              <a:t>1</a:t>
            </a:r>
            <a:r>
              <a:rPr lang="en-US" altLang="zh-CN" sz="1200" b="1" dirty="0">
                <a:ea typeface="等线" panose="02010600030101010101" pitchFamily="2" charset="-122"/>
              </a:rPr>
              <a:t>⊕</a:t>
            </a:r>
            <a:r>
              <a:rPr lang="en-US" altLang="zh-CN" sz="1200" b="1" dirty="0"/>
              <a:t>P’</a:t>
            </a:r>
            <a:r>
              <a:rPr lang="en-US" altLang="zh-CN" sz="1200" b="1" baseline="-25000" dirty="0"/>
              <a:t>2</a:t>
            </a:r>
            <a:r>
              <a:rPr lang="en-US" altLang="zh-CN" sz="1200" b="1" dirty="0">
                <a:ea typeface="等线" panose="02010600030101010101" pitchFamily="2" charset="-122"/>
              </a:rPr>
              <a:t>⊕……⊕</a:t>
            </a:r>
            <a:r>
              <a:rPr lang="en-US" altLang="zh-CN" sz="1200" b="1" dirty="0" err="1"/>
              <a:t>P’</a:t>
            </a:r>
            <a:r>
              <a:rPr lang="en-US" altLang="zh-CN" sz="1200" b="1" baseline="-25000" dirty="0" err="1"/>
              <a:t>r</a:t>
            </a:r>
            <a:r>
              <a:rPr lang="en-US" altLang="zh-CN" sz="1200" b="1" dirty="0"/>
              <a:t>)=1</a:t>
            </a:r>
            <a:r>
              <a:rPr lang="en-US" altLang="zh-CN" sz="1200" b="1" dirty="0">
                <a:ea typeface="等线" panose="02010600030101010101" pitchFamily="2" charset="-122"/>
              </a:rPr>
              <a:t>⊕0⊕0⊕0⊕0⊕0⊕1⊕0=0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all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G=G</a:t>
            </a:r>
            <a:r>
              <a:rPr lang="en-US" altLang="zh-CN" sz="1400" b="1" baseline="-25000" dirty="0"/>
              <a:t>3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2</a:t>
            </a:r>
            <a:r>
              <a:rPr lang="en-US" altLang="zh-CN" sz="1400" b="1" dirty="0"/>
              <a:t>G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=110≠0</a:t>
            </a:r>
            <a:r>
              <a:rPr lang="zh-CN" altLang="en-US" sz="1400" b="1" dirty="0"/>
              <a:t>，表示出现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位错，但是无法知道是哪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位错误，即无法纠错。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1"/>
            <a:endParaRPr lang="en-US" altLang="zh-CN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517391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C65A4-91A9-4AA8-B210-49C023AB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66" y="-18256"/>
            <a:ext cx="8229600" cy="1143000"/>
          </a:xfrm>
        </p:spPr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66" y="881336"/>
            <a:ext cx="8229600" cy="5860032"/>
          </a:xfrm>
        </p:spPr>
        <p:txBody>
          <a:bodyPr/>
          <a:lstStyle/>
          <a:p>
            <a:pPr lvl="1"/>
            <a:r>
              <a:rPr lang="zh-CN" altLang="en-US" sz="1800" b="1" dirty="0"/>
              <a:t>例</a:t>
            </a:r>
            <a:r>
              <a:rPr lang="en-US" altLang="zh-CN" sz="1800" b="1" dirty="0"/>
              <a:t>2.11</a:t>
            </a:r>
            <a:r>
              <a:rPr lang="zh-CN" altLang="en-US" sz="1800" b="1" dirty="0"/>
              <a:t>：设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码</a:t>
            </a:r>
            <a:r>
              <a:rPr lang="en-US" altLang="zh-CN" sz="1800" b="1" dirty="0"/>
              <a:t>= D</a:t>
            </a:r>
            <a:r>
              <a:rPr lang="en-US" altLang="zh-CN" sz="1800" b="1" baseline="-25000" dirty="0"/>
              <a:t>7</a:t>
            </a:r>
            <a:r>
              <a:rPr lang="en-US" altLang="zh-CN" sz="1800" b="1" dirty="0"/>
              <a:t>……D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D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=1101010</a:t>
            </a:r>
            <a:r>
              <a:rPr lang="zh-CN" altLang="en-US" sz="1800" b="1" dirty="0"/>
              <a:t>，请给出能</a:t>
            </a:r>
            <a:r>
              <a:rPr lang="zh-CN" altLang="en-US" sz="1800" b="1" dirty="0">
                <a:solidFill>
                  <a:srgbClr val="C00000"/>
                </a:solidFill>
              </a:rPr>
              <a:t>纠正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位错</a:t>
            </a:r>
            <a:r>
              <a:rPr lang="zh-CN" altLang="en-US" sz="1800" b="1" dirty="0"/>
              <a:t>的海明码方案。在假设没有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位错的前提下，尝试分析该编码能否</a:t>
            </a:r>
            <a:r>
              <a:rPr lang="zh-CN" altLang="en-US" sz="1800" b="1" dirty="0">
                <a:solidFill>
                  <a:srgbClr val="C00000"/>
                </a:solidFill>
              </a:rPr>
              <a:t>区分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位错和</a:t>
            </a: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</a:rPr>
              <a:t>位错。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1800" b="1" dirty="0"/>
              <a:t>解：</a:t>
            </a:r>
            <a:r>
              <a:rPr lang="en-US" altLang="zh-CN" sz="2000" b="1" dirty="0"/>
              <a:t> </a:t>
            </a:r>
          </a:p>
          <a:p>
            <a:pPr lvl="2"/>
            <a:r>
              <a:rPr lang="zh-CN" altLang="en-US" sz="1600" b="1" dirty="0"/>
              <a:t>原始数据</a:t>
            </a:r>
            <a:r>
              <a:rPr lang="en-US" altLang="zh-CN" sz="1600" b="1" dirty="0"/>
              <a:t>=D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……D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=1101010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k=7</a:t>
            </a:r>
            <a:r>
              <a:rPr lang="zh-CN" altLang="en-US" sz="1600" b="1" dirty="0"/>
              <a:t>，则</a:t>
            </a:r>
            <a:r>
              <a:rPr lang="en-US" altLang="zh-CN" sz="1600" b="1" dirty="0"/>
              <a:t>r=4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校验码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如下（参见表</a:t>
            </a:r>
            <a:r>
              <a:rPr lang="en-US" altLang="zh-CN" sz="1600" b="1" dirty="0"/>
              <a:t>2.22</a:t>
            </a:r>
            <a:r>
              <a:rPr lang="zh-CN" altLang="en-US" sz="1600" b="1" dirty="0"/>
              <a:t>）：</a:t>
            </a: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 </a:t>
            </a:r>
            <a:r>
              <a:rPr lang="en-US" altLang="zh-CN" sz="1400" b="1" dirty="0"/>
              <a:t>= 0</a:t>
            </a:r>
            <a:r>
              <a:rPr lang="en-US" altLang="zh-CN" sz="1400" b="1" dirty="0">
                <a:ea typeface="等线" panose="02010600030101010101" pitchFamily="2" charset="-122"/>
              </a:rPr>
              <a:t>⊕1⊕1⊕0⊕1=1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 </a:t>
            </a:r>
            <a:r>
              <a:rPr lang="en-US" altLang="zh-CN" sz="1400" b="1" dirty="0"/>
              <a:t>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⊕0⊕1⊕1⊕1=1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 </a:t>
            </a:r>
            <a:r>
              <a:rPr lang="en-US" altLang="zh-CN" sz="1400" b="1" dirty="0"/>
              <a:t>= 1</a:t>
            </a:r>
            <a:r>
              <a:rPr lang="en-US" altLang="zh-CN" sz="1400" b="1" dirty="0">
                <a:ea typeface="等线" panose="02010600030101010101" pitchFamily="2" charset="-122"/>
              </a:rPr>
              <a:t>⊕0⊕1=0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P</a:t>
            </a:r>
            <a:r>
              <a:rPr lang="en-US" altLang="zh-CN" sz="1400" b="1" baseline="-25000" dirty="0"/>
              <a:t>4 </a:t>
            </a:r>
            <a:r>
              <a:rPr lang="en-US" altLang="zh-CN" sz="1400" b="1" dirty="0"/>
              <a:t>= D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</a:t>
            </a:r>
            <a:r>
              <a:rPr lang="en-US" altLang="zh-CN" sz="1400" b="1" baseline="-25000" dirty="0"/>
              <a:t> </a:t>
            </a:r>
            <a:r>
              <a:rPr lang="en-US" altLang="zh-CN" sz="1400" b="1" dirty="0"/>
              <a:t>= 0</a:t>
            </a:r>
            <a:r>
              <a:rPr lang="en-US" altLang="zh-CN" sz="1400" b="1" dirty="0">
                <a:ea typeface="等线" panose="02010600030101010101" pitchFamily="2" charset="-122"/>
              </a:rPr>
              <a:t>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海明码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11</a:t>
            </a:r>
            <a:r>
              <a:rPr lang="en-US" altLang="zh-CN" sz="1600" b="1" dirty="0"/>
              <a:t>…H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</a:t>
            </a:r>
            <a:r>
              <a:rPr lang="en-US" altLang="zh-CN" sz="1600" b="1" baseline="-25000" dirty="0"/>
              <a:t>1 </a:t>
            </a:r>
            <a:r>
              <a:rPr lang="en-US" altLang="zh-CN" sz="1600" b="1" dirty="0"/>
              <a:t>= D</a:t>
            </a:r>
            <a:r>
              <a:rPr lang="en-US" altLang="zh-CN" sz="1600" b="1" baseline="-25000" dirty="0"/>
              <a:t>7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6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5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D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=11001010011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该海明码只能发现并纠正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位错误。假设在传输或存储过程中，该海明码的</a:t>
            </a:r>
            <a:r>
              <a:rPr lang="zh-CN" altLang="en-US" sz="1600" b="1" dirty="0">
                <a:solidFill>
                  <a:srgbClr val="C00000"/>
                </a:solidFill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</a:rPr>
              <a:t>6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6</a:t>
            </a:r>
            <a:r>
              <a:rPr lang="zh-CN" altLang="en-US" sz="1600" b="1" dirty="0">
                <a:solidFill>
                  <a:srgbClr val="C00000"/>
                </a:solidFill>
              </a:rPr>
              <a:t>）出错</a:t>
            </a:r>
            <a:r>
              <a:rPr lang="zh-CN" altLang="en-US" sz="1600" b="1" dirty="0"/>
              <a:t>，传输或存储后的扩展海明码</a:t>
            </a:r>
            <a:r>
              <a:rPr lang="en-US" altLang="zh-CN" sz="1600" b="1" dirty="0"/>
              <a:t>= H’</a:t>
            </a:r>
            <a:r>
              <a:rPr lang="en-US" altLang="zh-CN" sz="1600" b="1" baseline="-25000" dirty="0"/>
              <a:t>11</a:t>
            </a:r>
            <a:r>
              <a:rPr lang="en-US" altLang="zh-CN" sz="1600" b="1" dirty="0"/>
              <a:t>…H’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=11001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/>
              <a:t>10011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检错码为：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⊕0⊕1⊕1⊕0⊕1 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 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⊕1⊕0⊕1⊕1⊕1 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⊕1⊕1⊕1=1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4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⊕0⊕1⊕1=0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</a:t>
            </a:r>
            <a:r>
              <a:rPr lang="en-US" altLang="zh-CN" sz="1600" b="1" dirty="0"/>
              <a:t>G=G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>
                <a:ea typeface="等线" panose="02010600030101010101" pitchFamily="2" charset="-122"/>
              </a:rPr>
              <a:t>=0110=6</a:t>
            </a:r>
            <a:r>
              <a:rPr lang="zh-CN" altLang="en-US" sz="1600" b="1" dirty="0"/>
              <a:t>，表示出现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位错，且是第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位出错，只需将第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位取反即可得到正确的数据。因此，该海明码可以发现并纠正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7598682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DF2A0-EAE2-4EDB-B37B-816AA79A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ea typeface="黑体" pitchFamily="49" charset="-122"/>
              </a:rPr>
              <a:t>2.4.3  </a:t>
            </a:r>
            <a:r>
              <a:rPr lang="zh-CN" altLang="en-US" sz="4400" b="1" dirty="0">
                <a:ea typeface="黑体" pitchFamily="49" charset="-122"/>
              </a:rPr>
              <a:t>海明校验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AE471-ACD4-4EDD-AB71-5EDBD5A9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33" y="1166018"/>
            <a:ext cx="8229600" cy="5503342"/>
          </a:xfrm>
        </p:spPr>
        <p:txBody>
          <a:bodyPr/>
          <a:lstStyle/>
          <a:p>
            <a:pPr lvl="1"/>
            <a:r>
              <a:rPr lang="zh-CN" altLang="en-US" sz="1800" b="1" dirty="0"/>
              <a:t>例</a:t>
            </a:r>
            <a:r>
              <a:rPr lang="en-US" altLang="zh-CN" sz="1800" b="1" dirty="0"/>
              <a:t>2.11</a:t>
            </a:r>
            <a:r>
              <a:rPr lang="zh-CN" altLang="en-US" sz="1800" b="1" dirty="0"/>
              <a:t>：设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ASCII</a:t>
            </a:r>
            <a:r>
              <a:rPr lang="zh-CN" altLang="en-US" sz="1800" b="1" dirty="0"/>
              <a:t>码</a:t>
            </a:r>
            <a:r>
              <a:rPr lang="en-US" altLang="zh-CN" sz="1800" b="1" dirty="0"/>
              <a:t>= D</a:t>
            </a:r>
            <a:r>
              <a:rPr lang="en-US" altLang="zh-CN" sz="1800" b="1" baseline="-25000" dirty="0"/>
              <a:t>7</a:t>
            </a:r>
            <a:r>
              <a:rPr lang="en-US" altLang="zh-CN" sz="1800" b="1" dirty="0"/>
              <a:t>……D</a:t>
            </a:r>
            <a:r>
              <a:rPr lang="en-US" altLang="zh-CN" sz="1800" b="1" baseline="-25000" dirty="0"/>
              <a:t>2</a:t>
            </a:r>
            <a:r>
              <a:rPr lang="en-US" altLang="zh-CN" sz="1800" b="1" dirty="0"/>
              <a:t>D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=1101010</a:t>
            </a:r>
            <a:r>
              <a:rPr lang="zh-CN" altLang="en-US" sz="1800" b="1" dirty="0"/>
              <a:t>，请给出能</a:t>
            </a:r>
            <a:r>
              <a:rPr lang="zh-CN" altLang="en-US" sz="1800" b="1" dirty="0">
                <a:solidFill>
                  <a:srgbClr val="C00000"/>
                </a:solidFill>
              </a:rPr>
              <a:t>纠正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位错</a:t>
            </a:r>
            <a:r>
              <a:rPr lang="zh-CN" altLang="en-US" sz="1800" b="1" dirty="0"/>
              <a:t>的海明码方案。在假设没有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位错的前提下，尝试分析该编码能否</a:t>
            </a:r>
            <a:r>
              <a:rPr lang="zh-CN" altLang="en-US" sz="1800" b="1" dirty="0">
                <a:solidFill>
                  <a:srgbClr val="C00000"/>
                </a:solidFill>
              </a:rPr>
              <a:t>区分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位错和</a:t>
            </a:r>
            <a:r>
              <a:rPr lang="en-US" altLang="zh-CN" sz="1800" b="1" dirty="0">
                <a:solidFill>
                  <a:srgbClr val="C00000"/>
                </a:solidFill>
              </a:rPr>
              <a:t>2</a:t>
            </a:r>
            <a:r>
              <a:rPr lang="zh-CN" altLang="en-US" sz="1800" b="1" dirty="0">
                <a:solidFill>
                  <a:srgbClr val="C00000"/>
                </a:solidFill>
              </a:rPr>
              <a:t>位错。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endParaRPr lang="en-US" altLang="zh-CN" sz="1800" b="1" dirty="0"/>
          </a:p>
          <a:p>
            <a:pPr lvl="1"/>
            <a:r>
              <a:rPr lang="zh-CN" altLang="en-US" sz="1800" b="1" dirty="0"/>
              <a:t>解（续）：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2"/>
            <a:r>
              <a:rPr lang="zh-CN" altLang="en-US" sz="1600" b="1" dirty="0"/>
              <a:t>但是该海明码不能发现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位出错。</a:t>
            </a:r>
            <a:endParaRPr lang="en-US" altLang="zh-CN" sz="105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假设在传输或存储过程中，该海明码的</a:t>
            </a:r>
            <a:r>
              <a:rPr lang="zh-CN" altLang="en-US" sz="1600" b="1" dirty="0">
                <a:solidFill>
                  <a:srgbClr val="C00000"/>
                </a:solidFill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</a:rPr>
              <a:t>6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6</a:t>
            </a:r>
            <a:r>
              <a:rPr lang="zh-CN" altLang="en-US" sz="1600" b="1" dirty="0">
                <a:solidFill>
                  <a:srgbClr val="C00000"/>
                </a:solidFill>
              </a:rPr>
              <a:t>）和第</a:t>
            </a:r>
            <a:r>
              <a:rPr lang="en-US" altLang="zh-CN" sz="1600" b="1" dirty="0">
                <a:solidFill>
                  <a:srgbClr val="C00000"/>
                </a:solidFill>
              </a:rPr>
              <a:t>4</a:t>
            </a:r>
            <a:r>
              <a:rPr lang="zh-CN" altLang="en-US" sz="1600" b="1" dirty="0">
                <a:solidFill>
                  <a:srgbClr val="C00000"/>
                </a:solidFill>
              </a:rPr>
              <a:t>位（</a:t>
            </a:r>
            <a:r>
              <a:rPr lang="en-US" altLang="zh-CN" sz="1600" b="1" dirty="0">
                <a:solidFill>
                  <a:srgbClr val="C00000"/>
                </a:solidFill>
              </a:rPr>
              <a:t>H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4</a:t>
            </a:r>
            <a:r>
              <a:rPr lang="zh-CN" altLang="en-US" sz="1600" b="1" dirty="0">
                <a:solidFill>
                  <a:srgbClr val="C00000"/>
                </a:solidFill>
              </a:rPr>
              <a:t>）出错</a:t>
            </a:r>
            <a:r>
              <a:rPr lang="zh-CN" altLang="en-US" sz="1600" b="1" dirty="0"/>
              <a:t>，传输或存储后的扩展海明码</a:t>
            </a:r>
            <a:r>
              <a:rPr lang="en-US" altLang="zh-CN" sz="1600" b="1" dirty="0"/>
              <a:t>= H’</a:t>
            </a:r>
            <a:r>
              <a:rPr lang="en-US" altLang="zh-CN" sz="1600" b="1" baseline="-25000" dirty="0"/>
              <a:t>11</a:t>
            </a:r>
            <a:r>
              <a:rPr lang="en-US" altLang="zh-CN" sz="1600" b="1" dirty="0"/>
              <a:t>…H’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H’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=11001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/>
              <a:t>1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/>
              <a:t>011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检错码为：</a:t>
            </a:r>
            <a:endParaRPr lang="en-US" altLang="zh-CN" sz="20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1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⊕0⊕1⊕1⊕0⊕1=0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2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1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 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⊕1⊕0⊕1⊕1⊕1=1</a:t>
            </a:r>
            <a:endParaRPr lang="en-US" altLang="zh-CN" sz="1400" b="1" baseline="-25000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3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2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3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/>
              <a:t> = 1</a:t>
            </a:r>
            <a:r>
              <a:rPr lang="en-US" altLang="zh-CN" sz="1400" b="1" dirty="0">
                <a:ea typeface="等线" panose="02010600030101010101" pitchFamily="2" charset="-122"/>
              </a:rPr>
              <a:t>⊕1⊕1⊕1=0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en-US" altLang="zh-CN" sz="1400" b="1" dirty="0"/>
              <a:t>G</a:t>
            </a:r>
            <a:r>
              <a:rPr lang="en-US" altLang="zh-CN" sz="1400" b="1" baseline="-25000" dirty="0"/>
              <a:t>4 </a:t>
            </a:r>
            <a:r>
              <a:rPr lang="en-US" altLang="zh-CN" sz="1400" b="1" dirty="0"/>
              <a:t>= P’</a:t>
            </a:r>
            <a:r>
              <a:rPr lang="en-US" altLang="zh-CN" sz="1400" b="1" baseline="-25000" dirty="0"/>
              <a:t>4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5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6</a:t>
            </a:r>
            <a:r>
              <a:rPr lang="en-US" altLang="zh-CN" sz="1400" b="1" dirty="0">
                <a:ea typeface="等线" panose="02010600030101010101" pitchFamily="2" charset="-122"/>
              </a:rPr>
              <a:t>⊕</a:t>
            </a:r>
            <a:r>
              <a:rPr lang="en-US" altLang="zh-CN" sz="1400" b="1" dirty="0"/>
              <a:t>D’</a:t>
            </a:r>
            <a:r>
              <a:rPr lang="en-US" altLang="zh-CN" sz="1400" b="1" baseline="-25000" dirty="0"/>
              <a:t>7</a:t>
            </a:r>
            <a:r>
              <a:rPr lang="en-US" altLang="zh-CN" sz="1400" b="1" dirty="0"/>
              <a:t> = 0</a:t>
            </a:r>
            <a:r>
              <a:rPr lang="en-US" altLang="zh-CN" sz="1400" b="1" dirty="0">
                <a:ea typeface="等线" panose="02010600030101010101" pitchFamily="2" charset="-122"/>
              </a:rPr>
              <a:t>⊕0⊕1⊕1=0</a:t>
            </a:r>
          </a:p>
          <a:p>
            <a:pPr lvl="3" eaLnBrk="1" fontAlgn="auto" hangingPunct="1">
              <a:spcAft>
                <a:spcPts val="0"/>
              </a:spcAft>
              <a:defRPr/>
            </a:pP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检错码</a:t>
            </a:r>
            <a:r>
              <a:rPr lang="en-US" altLang="zh-CN" sz="1600" b="1" dirty="0"/>
              <a:t>G=G</a:t>
            </a:r>
            <a:r>
              <a:rPr lang="en-US" altLang="zh-CN" sz="1600" b="1" baseline="-25000" dirty="0"/>
              <a:t>4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=0010=2</a:t>
            </a:r>
            <a:r>
              <a:rPr lang="zh-CN" altLang="en-US" sz="1600" b="1" dirty="0"/>
              <a:t>，显然</a:t>
            </a:r>
            <a:r>
              <a:rPr lang="en-US" altLang="zh-CN" sz="1600" b="1" dirty="0"/>
              <a:t>G</a:t>
            </a:r>
            <a:r>
              <a:rPr lang="zh-CN" altLang="en-US" sz="1600" b="1" dirty="0"/>
              <a:t>的值反映不了海明码是不是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位出错。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如果要能发现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位错，就需要使用扩展的海明码。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1"/>
            <a:endParaRPr lang="en-US" altLang="zh-CN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647366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8BDA9-1708-4D1E-B260-5D2671FE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br>
              <a:rPr lang="en-US" altLang="zh-CN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23359"/>
            <a:ext cx="8229600" cy="5702984"/>
          </a:xfrm>
        </p:spPr>
        <p:txBody>
          <a:bodyPr rtlCol="0">
            <a:normAutofit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循环冗余校验（</a:t>
            </a:r>
            <a:r>
              <a:rPr lang="en-US" altLang="zh-CN" sz="1800" b="1" dirty="0"/>
              <a:t>Cyclic Redundancy Check</a:t>
            </a:r>
            <a:r>
              <a:rPr lang="zh-CN" altLang="en-US" sz="1800" b="1" dirty="0"/>
              <a:t>，</a:t>
            </a:r>
            <a:r>
              <a:rPr lang="en-US" altLang="zh-CN" sz="1800" b="1" dirty="0">
                <a:solidFill>
                  <a:srgbClr val="C00000"/>
                </a:solidFill>
              </a:rPr>
              <a:t>CRC</a:t>
            </a:r>
            <a:r>
              <a:rPr lang="zh-CN" altLang="en-US" sz="1800" b="1" dirty="0"/>
              <a:t>）是一种基于模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运算的校验码，在磁盘存储和计算机通信方面应用广泛。</a:t>
            </a: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、模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运算</a:t>
            </a:r>
            <a:endParaRPr lang="en-US" altLang="zh-CN" sz="2400" b="1" dirty="0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加减：</a:t>
            </a:r>
            <a:r>
              <a:rPr lang="en-US" altLang="zh-CN" sz="1800" b="1" dirty="0"/>
              <a:t>0 </a:t>
            </a:r>
            <a:r>
              <a:rPr lang="en-US" altLang="zh-CN" sz="1800" b="1" dirty="0">
                <a:ea typeface="等线" panose="02010600030101010101" pitchFamily="2" charset="-122"/>
              </a:rPr>
              <a:t>± 0 = 0</a:t>
            </a:r>
            <a:r>
              <a:rPr lang="zh-CN" altLang="en-US" sz="1800" b="1" dirty="0">
                <a:ea typeface="等线" panose="02010600030101010101" pitchFamily="2" charset="-122"/>
              </a:rPr>
              <a:t>；</a:t>
            </a:r>
            <a:r>
              <a:rPr lang="en-US" altLang="zh-CN" sz="1800" b="1" dirty="0"/>
              <a:t> 0 </a:t>
            </a:r>
            <a:r>
              <a:rPr lang="en-US" altLang="zh-CN" sz="1800" b="1" dirty="0">
                <a:ea typeface="等线" panose="02010600030101010101" pitchFamily="2" charset="-122"/>
              </a:rPr>
              <a:t>± 1 = 1</a:t>
            </a:r>
            <a:r>
              <a:rPr lang="zh-CN" altLang="en-US" sz="1800" b="1" dirty="0">
                <a:ea typeface="等线" panose="02010600030101010101" pitchFamily="2" charset="-122"/>
              </a:rPr>
              <a:t>；</a:t>
            </a:r>
            <a:r>
              <a:rPr lang="en-US" altLang="zh-CN" sz="1800" b="1" dirty="0"/>
              <a:t> 1 </a:t>
            </a:r>
            <a:r>
              <a:rPr lang="en-US" altLang="zh-CN" sz="1800" b="1" dirty="0">
                <a:ea typeface="等线" panose="02010600030101010101" pitchFamily="2" charset="-122"/>
              </a:rPr>
              <a:t>± 0 = 0</a:t>
            </a:r>
            <a:r>
              <a:rPr lang="zh-CN" altLang="en-US" sz="1800" b="1" dirty="0">
                <a:ea typeface="等线" panose="02010600030101010101" pitchFamily="2" charset="-122"/>
              </a:rPr>
              <a:t>；</a:t>
            </a:r>
            <a:r>
              <a:rPr lang="en-US" altLang="zh-CN" sz="1800" b="1" dirty="0"/>
              <a:t> 1 </a:t>
            </a:r>
            <a:r>
              <a:rPr lang="en-US" altLang="zh-CN" sz="1800" b="1" dirty="0">
                <a:ea typeface="等线" panose="02010600030101010101" pitchFamily="2" charset="-122"/>
              </a:rPr>
              <a:t>± 1 = 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>
              <a:ea typeface="等线" panose="02010600030101010101" pitchFamily="2" charset="-122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乘法：根据模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加法运算求部分积，不考虑进位</a:t>
            </a: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2.12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1101 x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101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=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111001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800" b="1" dirty="0"/>
              <a:t>除法：根据模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减法运算求部分余数，部分余数首位为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，商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；部分余数首位为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，商</a:t>
            </a:r>
            <a:r>
              <a:rPr lang="en-US" altLang="zh-CN" sz="1800" b="1" dirty="0"/>
              <a:t>0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800" b="1" dirty="0"/>
          </a:p>
          <a:p>
            <a:pPr lvl="3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2.13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10010 ÷ 101 = </a:t>
            </a:r>
            <a:r>
              <a:rPr lang="zh-CN" altLang="en-US" sz="1600" b="1" dirty="0"/>
              <a:t>商为</a:t>
            </a:r>
            <a:r>
              <a:rPr lang="en-US" altLang="zh-CN" sz="1600" b="1" dirty="0"/>
              <a:t>101</a:t>
            </a:r>
            <a:r>
              <a:rPr lang="zh-CN" altLang="en-US" sz="1600" b="1" dirty="0"/>
              <a:t>、余数为</a:t>
            </a:r>
            <a:r>
              <a:rPr lang="en-US" altLang="zh-CN" sz="1600" b="1" dirty="0"/>
              <a:t>11</a:t>
            </a:r>
            <a:endParaRPr lang="en-US" altLang="zh-CN" sz="1800" b="1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F623A08-4791-456B-AB88-95A01D48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5014211"/>
            <a:ext cx="1565468" cy="1569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80605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9472698-53EB-4335-A61F-FC0EC197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br>
              <a:rPr lang="en-US" altLang="zh-CN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、编码规则</a:t>
            </a:r>
            <a:endParaRPr lang="en-US" altLang="zh-CN" sz="20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原始数据</a:t>
            </a:r>
            <a:r>
              <a:rPr lang="en-US" altLang="zh-CN" sz="1400" b="1" dirty="0"/>
              <a:t>= C</a:t>
            </a:r>
            <a:r>
              <a:rPr lang="en-US" altLang="zh-CN" sz="1400" b="1" baseline="-25000" dirty="0"/>
              <a:t>k-1</a:t>
            </a:r>
            <a:r>
              <a:rPr lang="en-US" altLang="zh-CN" sz="1400" b="1" dirty="0"/>
              <a:t>…C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C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，共</a:t>
            </a:r>
            <a:r>
              <a:rPr lang="en-US" altLang="zh-CN" sz="1400" b="1" dirty="0"/>
              <a:t>k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校验码</a:t>
            </a:r>
            <a:r>
              <a:rPr lang="en-US" altLang="zh-CN" sz="1400" b="1" dirty="0"/>
              <a:t>=P</a:t>
            </a:r>
            <a:r>
              <a:rPr lang="en-US" altLang="zh-CN" sz="1400" b="1" baseline="-25000" dirty="0"/>
              <a:t>r-1</a:t>
            </a:r>
            <a:r>
              <a:rPr lang="en-US" altLang="zh-CN" sz="1400" b="1" dirty="0"/>
              <a:t>…P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P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，共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则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码</a:t>
            </a:r>
            <a:r>
              <a:rPr lang="en-US" altLang="zh-CN" sz="1400" b="1" dirty="0"/>
              <a:t>= </a:t>
            </a:r>
            <a:r>
              <a:rPr lang="en-US" altLang="zh-CN" sz="1400" b="1" dirty="0">
                <a:solidFill>
                  <a:srgbClr val="C00000"/>
                </a:solidFill>
              </a:rPr>
              <a:t>C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k-1</a:t>
            </a:r>
            <a:r>
              <a:rPr lang="en-US" altLang="zh-CN" sz="1400" b="1" dirty="0">
                <a:solidFill>
                  <a:srgbClr val="C00000"/>
                </a:solidFill>
              </a:rPr>
              <a:t>…C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1400" b="1" dirty="0">
                <a:solidFill>
                  <a:srgbClr val="C00000"/>
                </a:solidFill>
              </a:rPr>
              <a:t>C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0</a:t>
            </a:r>
            <a:r>
              <a:rPr lang="en-US" altLang="zh-CN" sz="1400" b="1" dirty="0">
                <a:solidFill>
                  <a:srgbClr val="C00000"/>
                </a:solidFill>
              </a:rPr>
              <a:t>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r-1</a:t>
            </a:r>
            <a:r>
              <a:rPr lang="en-US" altLang="zh-CN" sz="1400" b="1" dirty="0">
                <a:solidFill>
                  <a:srgbClr val="C00000"/>
                </a:solidFill>
              </a:rPr>
              <a:t>…P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1400" b="1" dirty="0">
                <a:solidFill>
                  <a:srgbClr val="C00000"/>
                </a:solidFill>
              </a:rPr>
              <a:t>P</a:t>
            </a:r>
            <a:r>
              <a:rPr lang="en-US" altLang="zh-CN" sz="1400" b="1" baseline="-25000" dirty="0">
                <a:solidFill>
                  <a:srgbClr val="C00000"/>
                </a:solidFill>
              </a:rPr>
              <a:t>0</a:t>
            </a:r>
            <a:r>
              <a:rPr lang="zh-CN" altLang="en-US" sz="1400" b="1" dirty="0"/>
              <a:t>，共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n=</a:t>
            </a:r>
            <a:r>
              <a:rPr lang="en-US" altLang="zh-CN" sz="1400" b="1" dirty="0" err="1"/>
              <a:t>k+r</a:t>
            </a:r>
            <a:r>
              <a:rPr lang="zh-CN" altLang="en-US" sz="1400" b="1" dirty="0"/>
              <a:t>，称为</a:t>
            </a:r>
            <a:r>
              <a:rPr lang="en-US" altLang="zh-CN" sz="1400" b="1" dirty="0"/>
              <a:t>(</a:t>
            </a:r>
            <a:r>
              <a:rPr lang="en-US" altLang="zh-CN" sz="1400" b="1" dirty="0" err="1"/>
              <a:t>n,k</a:t>
            </a:r>
            <a:r>
              <a:rPr lang="en-US" altLang="zh-CN" sz="1400" b="1" dirty="0"/>
              <a:t>)</a:t>
            </a:r>
            <a:r>
              <a:rPr lang="zh-CN" altLang="en-US" sz="1400" b="1" dirty="0"/>
              <a:t>码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n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k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应满足如下关系：</a:t>
            </a:r>
            <a:r>
              <a:rPr lang="en-US" altLang="zh-CN" sz="1400" b="1" dirty="0"/>
              <a:t>n = </a:t>
            </a:r>
            <a:r>
              <a:rPr lang="en-US" altLang="zh-CN" sz="1400" b="1" dirty="0" err="1"/>
              <a:t>k+r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ea typeface="等线" panose="02010600030101010101" pitchFamily="2" charset="-122"/>
              </a:rPr>
              <a:t>≤ 2</a:t>
            </a:r>
            <a:r>
              <a:rPr lang="en-US" altLang="zh-CN" sz="1400" b="1" baseline="30000" dirty="0">
                <a:ea typeface="等线" panose="02010600030101010101" pitchFamily="2" charset="-122"/>
              </a:rPr>
              <a:t>r</a:t>
            </a:r>
            <a:r>
              <a:rPr lang="en-US" altLang="zh-CN" sz="1400" b="1" dirty="0">
                <a:ea typeface="等线" panose="02010600030101010101" pitchFamily="2" charset="-122"/>
              </a:rPr>
              <a:t>-1</a:t>
            </a:r>
            <a:r>
              <a:rPr lang="zh-CN" altLang="en-US" sz="1400" b="1" dirty="0"/>
              <a:t>（与海明码相同）</a:t>
            </a:r>
            <a:endParaRPr lang="en-US" altLang="zh-CN" sz="1400" b="1" dirty="0">
              <a:ea typeface="等线" panose="02010600030101010101" pitchFamily="2" charset="-122"/>
            </a:endParaRP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>
              <a:solidFill>
                <a:srgbClr val="FF0000"/>
              </a:solidFill>
              <a:ea typeface="等线" panose="02010600030101010101" pitchFamily="2" charset="-122"/>
            </a:endParaRP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原始数据用多项式</a:t>
            </a:r>
            <a:r>
              <a:rPr lang="en-US" altLang="zh-CN" sz="1400" b="1" dirty="0"/>
              <a:t>M(x)</a:t>
            </a:r>
            <a:r>
              <a:rPr lang="zh-CN" altLang="en-US" sz="1400" b="1" dirty="0"/>
              <a:t>表示：</a:t>
            </a:r>
            <a:r>
              <a:rPr lang="en-US" altLang="zh-CN" sz="1400" b="1" dirty="0">
                <a:solidFill>
                  <a:srgbClr val="C00000"/>
                </a:solidFill>
              </a:rPr>
              <a:t>M(x) </a:t>
            </a:r>
            <a:r>
              <a:rPr lang="en-US" altLang="zh-CN" sz="1400" b="1" dirty="0"/>
              <a:t>= C</a:t>
            </a:r>
            <a:r>
              <a:rPr lang="en-US" altLang="zh-CN" sz="1400" b="1" baseline="-25000" dirty="0"/>
              <a:t>k-1</a:t>
            </a:r>
            <a:r>
              <a:rPr lang="en-US" altLang="zh-CN" sz="1400" b="1" dirty="0"/>
              <a:t>x</a:t>
            </a:r>
            <a:r>
              <a:rPr lang="en-US" altLang="zh-CN" sz="1400" b="1" baseline="30000" dirty="0"/>
              <a:t>k-1</a:t>
            </a:r>
            <a:r>
              <a:rPr lang="en-US" altLang="zh-CN" sz="1400" b="1" dirty="0"/>
              <a:t>+……+C</a:t>
            </a:r>
            <a:r>
              <a:rPr lang="en-US" altLang="zh-CN" sz="1400" b="1" baseline="-25000" dirty="0"/>
              <a:t>1</a:t>
            </a:r>
            <a:r>
              <a:rPr lang="en-US" altLang="zh-CN" sz="1400" b="1" dirty="0"/>
              <a:t>x</a:t>
            </a:r>
            <a:r>
              <a:rPr lang="en-US" altLang="zh-CN" sz="1400" b="1" baseline="30000" dirty="0"/>
              <a:t>1</a:t>
            </a:r>
            <a:r>
              <a:rPr lang="en-US" altLang="zh-CN" sz="1400" b="1" dirty="0"/>
              <a:t>+ C</a:t>
            </a:r>
            <a:r>
              <a:rPr lang="en-US" altLang="zh-CN" sz="1400" b="1" baseline="-25000" dirty="0"/>
              <a:t>0</a:t>
            </a:r>
            <a:r>
              <a:rPr lang="en-US" altLang="zh-CN" sz="1400" b="1" dirty="0"/>
              <a:t>x</a:t>
            </a:r>
            <a:r>
              <a:rPr lang="en-US" altLang="zh-CN" sz="1400" b="1" baseline="30000" dirty="0"/>
              <a:t>0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将</a:t>
            </a:r>
            <a:r>
              <a:rPr lang="en-US" altLang="zh-CN" sz="1400" b="1" dirty="0"/>
              <a:t>M(x)</a:t>
            </a:r>
            <a:r>
              <a:rPr lang="zh-CN" altLang="en-US" sz="1400" b="1" dirty="0"/>
              <a:t>左移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位，可表示成：</a:t>
            </a: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zh-CN" altLang="en-US" sz="1400" b="1" dirty="0"/>
              <a:t>，右侧空出的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位用来放置校验码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选择一个</a:t>
            </a:r>
            <a:r>
              <a:rPr lang="en-US" altLang="zh-CN" sz="1400" b="1" dirty="0"/>
              <a:t>r+1</a:t>
            </a:r>
            <a:r>
              <a:rPr lang="zh-CN" altLang="en-US" sz="1400" b="1" dirty="0"/>
              <a:t>位的生成多项式</a:t>
            </a:r>
            <a:r>
              <a:rPr lang="en-US" altLang="zh-CN" sz="1400" b="1" dirty="0">
                <a:solidFill>
                  <a:srgbClr val="C00000"/>
                </a:solidFill>
              </a:rPr>
              <a:t>G(x)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用</a:t>
            </a: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zh-CN" altLang="en-US" sz="1400" b="1" dirty="0"/>
              <a:t>按模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的运算规则除以生成多项式</a:t>
            </a:r>
            <a:r>
              <a:rPr lang="en-US" altLang="zh-CN" sz="1400" b="1" dirty="0"/>
              <a:t>G(x)</a:t>
            </a:r>
            <a:r>
              <a:rPr lang="zh-CN" altLang="en-US" sz="1400" b="1" dirty="0"/>
              <a:t>，得到商为</a:t>
            </a:r>
            <a:r>
              <a:rPr lang="en-US" altLang="zh-CN" sz="1400" b="1" dirty="0"/>
              <a:t>Q(x)</a:t>
            </a:r>
            <a:r>
              <a:rPr lang="zh-CN" altLang="en-US" sz="1400" b="1" dirty="0"/>
              <a:t>，余数</a:t>
            </a:r>
            <a:r>
              <a:rPr lang="en-US" altLang="zh-CN" sz="1400" b="1" dirty="0"/>
              <a:t>R(x)</a:t>
            </a:r>
            <a:r>
              <a:rPr lang="zh-CN" altLang="en-US" sz="1400" b="1" dirty="0"/>
              <a:t>作为校验码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CRC</a:t>
            </a:r>
            <a:r>
              <a:rPr lang="zh-CN" altLang="en-US" sz="1400" b="1" dirty="0"/>
              <a:t>码</a:t>
            </a:r>
            <a:r>
              <a:rPr lang="en-US" altLang="zh-CN" sz="1400" b="1" dirty="0">
                <a:solidFill>
                  <a:srgbClr val="C00000"/>
                </a:solidFill>
              </a:rPr>
              <a:t>=M(x)·2</a:t>
            </a:r>
            <a:r>
              <a:rPr lang="en-US" altLang="zh-CN" sz="1400" b="1" baseline="30000" dirty="0">
                <a:solidFill>
                  <a:srgbClr val="C00000"/>
                </a:solidFill>
              </a:rPr>
              <a:t>r</a:t>
            </a:r>
            <a:r>
              <a:rPr lang="en-US" altLang="zh-CN" sz="1400" b="1" dirty="0">
                <a:solidFill>
                  <a:srgbClr val="C00000"/>
                </a:solidFill>
              </a:rPr>
              <a:t>+R(x)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例如，原始数据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110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k=3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r=4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n=7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110 0000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选择生成多项式</a:t>
            </a:r>
            <a:r>
              <a:rPr lang="en-US" altLang="zh-CN" sz="1400" b="1" dirty="0"/>
              <a:t>G(x)=</a:t>
            </a:r>
            <a:r>
              <a:rPr lang="en-US" altLang="zh-CN" sz="1400" b="1" dirty="0">
                <a:solidFill>
                  <a:srgbClr val="C00000"/>
                </a:solidFill>
              </a:rPr>
              <a:t>11101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en-US" altLang="zh-CN" sz="1400" b="1" dirty="0"/>
              <a:t>/G(x) = 110 0000 / 11101 = </a:t>
            </a:r>
            <a:r>
              <a:rPr lang="zh-CN" altLang="en-US" sz="1400" b="1" dirty="0"/>
              <a:t>商为</a:t>
            </a:r>
            <a:r>
              <a:rPr lang="en-US" altLang="zh-CN" sz="1400" b="1" dirty="0"/>
              <a:t>101</a:t>
            </a:r>
            <a:r>
              <a:rPr lang="zh-CN" altLang="en-US" sz="1400" b="1" dirty="0"/>
              <a:t>、余数为</a:t>
            </a:r>
            <a:r>
              <a:rPr lang="en-US" altLang="zh-CN" sz="1400" b="1" dirty="0">
                <a:solidFill>
                  <a:srgbClr val="C00000"/>
                </a:solidFill>
              </a:rPr>
              <a:t>1001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则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码：</a:t>
            </a:r>
            <a:r>
              <a:rPr lang="en-US" altLang="zh-CN" sz="1400" b="1" dirty="0">
                <a:solidFill>
                  <a:srgbClr val="C00000"/>
                </a:solidFill>
              </a:rPr>
              <a:t>110 1001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因为：</a:t>
            </a: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en-US" altLang="zh-CN" sz="1400" b="1" dirty="0"/>
              <a:t>=Q(x)G(x)+R(x)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1400" b="1" dirty="0"/>
              <a:t>CRC</a:t>
            </a:r>
            <a:r>
              <a:rPr lang="zh-CN" altLang="en-US" sz="1400" b="1" dirty="0"/>
              <a:t>码可以表示为：</a:t>
            </a:r>
            <a:r>
              <a:rPr lang="en-US" altLang="zh-CN" sz="1400" b="1" dirty="0"/>
              <a:t>M(x)·2</a:t>
            </a:r>
            <a:r>
              <a:rPr lang="en-US" altLang="zh-CN" sz="1400" b="1" baseline="30000" dirty="0"/>
              <a:t>r</a:t>
            </a:r>
            <a:r>
              <a:rPr lang="en-US" altLang="zh-CN" sz="1400" b="1" dirty="0"/>
              <a:t>+R(x)=[Q(x)G(x)+R(x)]+R(x) = Q(x)G(x)+[</a:t>
            </a:r>
            <a:r>
              <a:rPr lang="en-US" altLang="zh-CN" sz="1400" b="1" dirty="0">
                <a:solidFill>
                  <a:srgbClr val="C00000"/>
                </a:solidFill>
              </a:rPr>
              <a:t>R(x)+R(x)] </a:t>
            </a:r>
            <a:r>
              <a:rPr lang="en-US" altLang="zh-CN" sz="1400" b="1" dirty="0"/>
              <a:t>= Q(x)G(x)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因此：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码</a:t>
            </a:r>
            <a:r>
              <a:rPr lang="en-US" altLang="zh-CN" sz="1400" b="1" dirty="0"/>
              <a:t>/G(x)=Q(x)</a:t>
            </a:r>
            <a:r>
              <a:rPr lang="zh-CN" altLang="en-US" sz="1400" b="1" dirty="0"/>
              <a:t>，即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码一定能被生成多项式整除</a:t>
            </a: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例如，</a:t>
            </a:r>
            <a:r>
              <a:rPr lang="en-US" altLang="zh-CN" sz="1400" b="1" dirty="0">
                <a:solidFill>
                  <a:srgbClr val="C00000"/>
                </a:solidFill>
              </a:rPr>
              <a:t>110 1001 / 11101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商为</a:t>
            </a:r>
            <a:r>
              <a:rPr lang="en-US" altLang="zh-CN" sz="1400" b="1" dirty="0">
                <a:solidFill>
                  <a:srgbClr val="C00000"/>
                </a:solidFill>
              </a:rPr>
              <a:t>101</a:t>
            </a:r>
            <a:r>
              <a:rPr lang="zh-CN" altLang="en-US" sz="1400" b="1" dirty="0"/>
              <a:t>、余数为</a:t>
            </a:r>
            <a:r>
              <a:rPr lang="en-US" altLang="zh-CN" sz="1400" b="1" dirty="0">
                <a:solidFill>
                  <a:srgbClr val="C00000"/>
                </a:solidFill>
              </a:rPr>
              <a:t>0 </a:t>
            </a: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92DE442-210B-48A8-9DA4-37FBF94D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4046429"/>
            <a:ext cx="1214287" cy="122563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FDCA573-6B6D-463B-ABEC-CD801AA8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5873699"/>
            <a:ext cx="998263" cy="984301"/>
          </a:xfrm>
          <a:prstGeom prst="rect">
            <a:avLst/>
          </a:prstGeom>
        </p:spPr>
      </p:pic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00487B5B-0A31-4DE1-BF86-33D2891D45A1}"/>
              </a:ext>
            </a:extLst>
          </p:cNvPr>
          <p:cNvSpPr/>
          <p:nvPr/>
        </p:nvSpPr>
        <p:spPr>
          <a:xfrm>
            <a:off x="7346138" y="5044692"/>
            <a:ext cx="1338993" cy="504056"/>
          </a:xfrm>
          <a:prstGeom prst="wedgeRoundRectCallout">
            <a:avLst>
              <a:gd name="adj1" fmla="val -79248"/>
              <a:gd name="adj2" fmla="val 5425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</a:rPr>
              <a:t>根据模</a:t>
            </a:r>
            <a:r>
              <a:rPr lang="en-US" altLang="zh-CN" sz="1400" dirty="0">
                <a:solidFill>
                  <a:srgbClr val="C00000"/>
                </a:solidFill>
              </a:rPr>
              <a:t>2</a:t>
            </a:r>
            <a:r>
              <a:rPr lang="zh-CN" altLang="en-US" sz="1400" dirty="0">
                <a:solidFill>
                  <a:srgbClr val="C00000"/>
                </a:solidFill>
              </a:rPr>
              <a:t>运算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C00000"/>
                </a:solidFill>
              </a:rPr>
              <a:t>此项为</a:t>
            </a:r>
            <a:r>
              <a:rPr lang="en-US" altLang="zh-CN" sz="1400" dirty="0">
                <a:solidFill>
                  <a:srgbClr val="C00000"/>
                </a:solidFill>
              </a:rPr>
              <a:t>0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0448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F9084-F14F-400C-9FD0-FF7504AA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5036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br>
              <a:rPr lang="en-US" altLang="zh-CN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66536"/>
            <a:ext cx="8229600" cy="5730816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CRC</a:t>
            </a:r>
            <a:r>
              <a:rPr lang="zh-CN" altLang="en-US" sz="2000" b="1" dirty="0"/>
              <a:t>编码特性（教材上放在第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部分）</a:t>
            </a:r>
            <a:endParaRPr lang="en-US" altLang="zh-CN" sz="2000" b="1" dirty="0"/>
          </a:p>
          <a:p>
            <a:pPr lvl="2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b="1" dirty="0"/>
              <a:t>CRC</a:t>
            </a:r>
            <a:r>
              <a:rPr lang="zh-CN" altLang="en-US" sz="1600" b="1" dirty="0"/>
              <a:t>码可以发现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位错和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位错，并可以纠正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位错（相当于扩展海明码的功能）。</a:t>
            </a:r>
            <a:endParaRPr lang="en-US" altLang="zh-CN" sz="16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表</a:t>
            </a:r>
            <a:r>
              <a:rPr lang="en-US" altLang="zh-CN" sz="1600" b="1" dirty="0"/>
              <a:t>2.24</a:t>
            </a:r>
            <a:r>
              <a:rPr lang="zh-CN" altLang="en-US" sz="1600" b="1" dirty="0"/>
              <a:t>（见教材）：</a:t>
            </a:r>
            <a:r>
              <a:rPr lang="en-US" altLang="zh-CN" sz="1600" b="1" dirty="0"/>
              <a:t>CRC(7,3)</a:t>
            </a:r>
            <a:r>
              <a:rPr lang="zh-CN" altLang="en-US" sz="1600" b="1" dirty="0"/>
              <a:t>码的出错模式（可以发现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位错，并且可以纠正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位错，因为每个出错位对应一个不同的余数）。</a:t>
            </a:r>
            <a:endParaRPr lang="en-US" altLang="zh-CN" sz="16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=0000=0</a:t>
            </a:r>
            <a:r>
              <a:rPr lang="zh-CN" altLang="en-US" sz="1400" b="1" dirty="0"/>
              <a:t>，没有错误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=0001=1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=0010=2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=0100=4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=1000=8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=1101=13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/>
              <a:t>余数</a:t>
            </a:r>
            <a:r>
              <a:rPr lang="en-US" altLang="zh-CN" sz="1400" b="1" dirty="0"/>
              <a:t>=0111=7</a:t>
            </a:r>
            <a:r>
              <a:rPr lang="zh-CN" altLang="en-US" sz="1400" b="1" dirty="0"/>
              <a:t>，第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位出错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1400" b="1" dirty="0">
                <a:highlight>
                  <a:srgbClr val="FFFF00"/>
                </a:highlight>
              </a:rPr>
              <a:t>余数</a:t>
            </a:r>
            <a:r>
              <a:rPr lang="en-US" altLang="zh-CN" sz="1400" b="1" dirty="0">
                <a:highlight>
                  <a:srgbClr val="FFFF00"/>
                </a:highlight>
              </a:rPr>
              <a:t>=1110=14</a:t>
            </a:r>
            <a:r>
              <a:rPr lang="zh-CN" altLang="en-US" sz="1400" b="1" dirty="0">
                <a:highlight>
                  <a:srgbClr val="FFFF00"/>
                </a:highlight>
              </a:rPr>
              <a:t>，第</a:t>
            </a:r>
            <a:r>
              <a:rPr lang="en-US" altLang="zh-CN" sz="1400" b="1" dirty="0">
                <a:highlight>
                  <a:srgbClr val="FFFF00"/>
                </a:highlight>
              </a:rPr>
              <a:t>7</a:t>
            </a:r>
            <a:r>
              <a:rPr lang="zh-CN" altLang="en-US" sz="1400" b="1" dirty="0">
                <a:highlight>
                  <a:srgbClr val="FFFF00"/>
                </a:highlight>
              </a:rPr>
              <a:t>位出错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marL="800100" lvl="1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/>
              <a:t>假设前面的</a:t>
            </a:r>
            <a:r>
              <a:rPr lang="en-US" altLang="zh-CN" sz="1600" b="1" dirty="0"/>
              <a:t>CRC(7,3)</a:t>
            </a:r>
            <a:r>
              <a:rPr lang="zh-CN" altLang="en-US" sz="1600" b="1" dirty="0"/>
              <a:t>码</a:t>
            </a:r>
            <a:r>
              <a:rPr lang="en-US" altLang="zh-CN" sz="1600" b="1" dirty="0"/>
              <a:t>= 110 1001</a:t>
            </a:r>
            <a:r>
              <a:rPr lang="zh-CN" altLang="en-US" sz="1600" b="1" dirty="0"/>
              <a:t>，经过传输或存储后，有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位出错（如</a:t>
            </a:r>
            <a:r>
              <a:rPr lang="zh-CN" altLang="en-US" sz="1600" b="1" dirty="0">
                <a:solidFill>
                  <a:srgbClr val="C00000"/>
                </a:solidFill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</a:rPr>
              <a:t>7</a:t>
            </a:r>
            <a:r>
              <a:rPr lang="zh-CN" altLang="en-US" sz="1600" b="1" dirty="0">
                <a:solidFill>
                  <a:srgbClr val="C00000"/>
                </a:solidFill>
              </a:rPr>
              <a:t>位出错</a:t>
            </a:r>
            <a:r>
              <a:rPr lang="zh-CN" altLang="en-US" sz="1600" b="1" dirty="0"/>
              <a:t>），变成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/>
              <a:t>10 1001</a:t>
            </a:r>
            <a:r>
              <a:rPr lang="zh-CN" altLang="en-US" sz="1600" b="1" dirty="0"/>
              <a:t>，则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码除以生成多项式的余数为：</a:t>
            </a:r>
            <a:r>
              <a:rPr lang="en-US" altLang="zh-CN" sz="1600" b="1" dirty="0"/>
              <a:t>010 1001 / 11101 = </a:t>
            </a:r>
            <a:r>
              <a:rPr lang="zh-CN" altLang="en-US" sz="1600" b="1" dirty="0"/>
              <a:t>商为</a:t>
            </a:r>
            <a:r>
              <a:rPr lang="en-US" altLang="zh-CN" sz="1600" b="1" dirty="0"/>
              <a:t>011</a:t>
            </a:r>
            <a:r>
              <a:rPr lang="zh-CN" altLang="en-US" sz="1600" b="1" dirty="0"/>
              <a:t>，余数为</a:t>
            </a:r>
            <a:r>
              <a:rPr lang="en-US" altLang="zh-CN" sz="1600" b="1" dirty="0">
                <a:solidFill>
                  <a:srgbClr val="C00000"/>
                </a:solidFill>
              </a:rPr>
              <a:t>1110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marL="800100" lvl="1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/>
              <a:t>余数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highlight>
                  <a:srgbClr val="FFFF00"/>
                </a:highlight>
              </a:rPr>
              <a:t>1110</a:t>
            </a:r>
            <a:r>
              <a:rPr lang="zh-CN" altLang="en-US" sz="1600" b="1" dirty="0"/>
              <a:t>，表示</a:t>
            </a:r>
            <a:r>
              <a:rPr lang="zh-CN" altLang="en-US" sz="1600" b="1" dirty="0">
                <a:solidFill>
                  <a:srgbClr val="C00000"/>
                </a:solidFill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</a:rPr>
              <a:t>7</a:t>
            </a:r>
            <a:r>
              <a:rPr lang="zh-CN" altLang="en-US" sz="1600" b="1" dirty="0">
                <a:solidFill>
                  <a:srgbClr val="C00000"/>
                </a:solidFill>
              </a:rPr>
              <a:t>位出错</a:t>
            </a:r>
            <a:r>
              <a:rPr lang="zh-CN" altLang="en-US" sz="1600" b="1" dirty="0"/>
              <a:t>，只需要将该位取反，即得到正确的数据。</a:t>
            </a:r>
            <a:endParaRPr lang="en-US" altLang="zh-CN" sz="1400" b="1" dirty="0"/>
          </a:p>
          <a:p>
            <a:pPr lvl="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DA6471-721D-4928-A342-E3D1AB3B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731944"/>
            <a:ext cx="1055062" cy="10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086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CC0098C-3345-4D2A-A2D5-48C906FF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218B55-1293-4A59-A495-DA8B2E39F609}"/>
              </a:ext>
            </a:extLst>
          </p:cNvPr>
          <p:cNvSpPr txBox="1"/>
          <p:nvPr/>
        </p:nvSpPr>
        <p:spPr>
          <a:xfrm>
            <a:off x="395536" y="882520"/>
            <a:ext cx="7936449" cy="585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CRC</a:t>
            </a:r>
            <a:r>
              <a:rPr lang="zh-CN" altLang="en-US" sz="2400" b="1" dirty="0"/>
              <a:t>编码特性（教材上放在第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部分）</a:t>
            </a:r>
            <a:endParaRPr lang="en-US" altLang="zh-CN" sz="2400" b="1" dirty="0"/>
          </a:p>
          <a:p>
            <a:pPr lvl="2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000" b="1" dirty="0"/>
              <a:t>表</a:t>
            </a:r>
            <a:r>
              <a:rPr lang="en-US" altLang="zh-CN" sz="2000" b="1" dirty="0"/>
              <a:t>2.25</a:t>
            </a:r>
            <a:r>
              <a:rPr lang="zh-CN" altLang="en-US" sz="2000" b="1" dirty="0"/>
              <a:t>（见教材）：</a:t>
            </a:r>
            <a:r>
              <a:rPr lang="en-US" altLang="zh-CN" sz="2000" b="1" dirty="0"/>
              <a:t>CRC(7,3)</a:t>
            </a:r>
            <a:r>
              <a:rPr lang="zh-CN" altLang="en-US" sz="2000" b="1" dirty="0"/>
              <a:t>码的出错模式（</a:t>
            </a:r>
            <a:r>
              <a:rPr lang="zh-CN" altLang="en-US" sz="2000" b="1" dirty="0">
                <a:solidFill>
                  <a:srgbClr val="C00000"/>
                </a:solidFill>
              </a:rPr>
              <a:t>可以发现</a:t>
            </a:r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位错，但是无法纠正</a:t>
            </a:r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位错</a:t>
            </a:r>
            <a:r>
              <a:rPr lang="zh-CN" altLang="en-US" sz="2000" b="1" dirty="0"/>
              <a:t>，因为每个余数对应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个不同的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位错）。</a:t>
            </a:r>
            <a:endParaRPr lang="en-US" altLang="zh-CN" sz="20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=0011=3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=0101=5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=0110=6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=1001=9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=1010=10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=1100=12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3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位出错</a:t>
            </a:r>
            <a:endParaRPr lang="en-US" altLang="zh-CN" sz="1700" b="1" dirty="0"/>
          </a:p>
          <a:p>
            <a:pPr marL="1168400" lvl="3" indent="-171450" eaLnBrk="1" fontAlgn="auto" hangingPunct="1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700" b="1" dirty="0"/>
              <a:t>余数</a:t>
            </a:r>
            <a:r>
              <a:rPr lang="en-US" altLang="zh-CN" sz="1700" b="1" dirty="0"/>
              <a:t>=1111=15</a:t>
            </a:r>
            <a:r>
              <a:rPr lang="zh-CN" altLang="en-US" sz="1700" b="1" dirty="0"/>
              <a:t>，第</a:t>
            </a:r>
            <a:r>
              <a:rPr lang="en-US" altLang="zh-CN" sz="1700" b="1" dirty="0"/>
              <a:t>1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7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2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5</a:t>
            </a:r>
            <a:r>
              <a:rPr lang="zh-CN" altLang="en-US" sz="1700" b="1" dirty="0"/>
              <a:t>位出错，或者第</a:t>
            </a:r>
            <a:r>
              <a:rPr lang="en-US" altLang="zh-CN" sz="1700" b="1" dirty="0"/>
              <a:t>4</a:t>
            </a:r>
            <a:r>
              <a:rPr lang="zh-CN" altLang="en-US" sz="1700" b="1" dirty="0"/>
              <a:t>、</a:t>
            </a:r>
            <a:r>
              <a:rPr lang="en-US" altLang="zh-CN" sz="1700" b="1" dirty="0"/>
              <a:t>6</a:t>
            </a:r>
            <a:r>
              <a:rPr lang="zh-CN" altLang="en-US" sz="1700" b="1" dirty="0"/>
              <a:t>位出错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11161681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16572-DC37-4133-B37D-7BD871A5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293"/>
            <a:ext cx="8229600" cy="1143000"/>
          </a:xfrm>
        </p:spPr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19250"/>
            <a:ext cx="8229600" cy="5895230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CRC</a:t>
            </a:r>
            <a:r>
              <a:rPr lang="zh-CN" altLang="en-US" sz="2000" b="1" dirty="0"/>
              <a:t>编、解码电路</a:t>
            </a:r>
            <a:endParaRPr lang="en-US" altLang="zh-CN" sz="20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2.20</a:t>
            </a:r>
            <a:r>
              <a:rPr lang="zh-CN" altLang="en-US" sz="1600" b="1" dirty="0"/>
              <a:t>（见教材）：生成多项式为</a:t>
            </a:r>
            <a:r>
              <a:rPr lang="en-US" altLang="zh-CN" sz="1600" b="1" dirty="0">
                <a:solidFill>
                  <a:srgbClr val="C00000"/>
                </a:solidFill>
              </a:rPr>
              <a:t>G(x)=11101</a:t>
            </a:r>
            <a:r>
              <a:rPr lang="zh-CN" altLang="en-US" sz="1600" b="1" dirty="0"/>
              <a:t>时的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串行编、解码电路。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编码：原始数据从</a:t>
            </a:r>
            <a:r>
              <a:rPr lang="en-US" altLang="zh-CN" sz="1600" b="1" dirty="0"/>
              <a:t>Din</a:t>
            </a:r>
            <a:r>
              <a:rPr lang="zh-CN" altLang="en-US" sz="1600" b="1" dirty="0"/>
              <a:t>端串行输入，经过</a:t>
            </a:r>
            <a:r>
              <a:rPr lang="en-US" altLang="zh-CN" sz="1600" b="1" dirty="0"/>
              <a:t>n-1</a:t>
            </a:r>
            <a:r>
              <a:rPr lang="zh-CN" altLang="en-US" sz="1600" b="1" dirty="0"/>
              <a:t>个时钟周期后，可以计算得到最终的余数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；原始数据和余数拼接在一起就是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码。</a:t>
            </a:r>
            <a:endParaRPr lang="en-US" altLang="zh-CN" sz="1600" b="1" baseline="-25000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解码：接收到的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码从</a:t>
            </a:r>
            <a:r>
              <a:rPr lang="en-US" altLang="zh-CN" sz="1600" b="1" dirty="0"/>
              <a:t>Din</a:t>
            </a:r>
            <a:r>
              <a:rPr lang="zh-CN" altLang="en-US" sz="1600" b="1" dirty="0"/>
              <a:t>端串行输入，经过</a:t>
            </a:r>
            <a:r>
              <a:rPr lang="en-US" altLang="zh-CN" sz="1600" b="1" dirty="0"/>
              <a:t>n-1</a:t>
            </a:r>
            <a:r>
              <a:rPr lang="zh-CN" altLang="en-US" sz="1600" b="1" dirty="0"/>
              <a:t>个时钟周期后，可以计算得到最终的余数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3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R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；根据余数的值，可以知道是哪一位出错（假设只有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位出错），或者无错。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不同的生成多项式</a:t>
            </a:r>
            <a:r>
              <a:rPr lang="en-US" altLang="zh-CN" sz="1600" b="1" dirty="0"/>
              <a:t>G(x)</a:t>
            </a:r>
            <a:r>
              <a:rPr lang="zh-CN" altLang="en-US" sz="1600" b="1" dirty="0"/>
              <a:t>对应不同的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编、解码电路。</a:t>
            </a:r>
            <a:endParaRPr lang="en-US" altLang="zh-CN" sz="1600" b="1" dirty="0"/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CRC</a:t>
            </a:r>
            <a:r>
              <a:rPr lang="zh-CN" altLang="en-US" sz="2400" b="1" dirty="0"/>
              <a:t>编、解码流程</a:t>
            </a:r>
            <a:endParaRPr lang="en-US" altLang="zh-CN" sz="2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图</a:t>
            </a:r>
            <a:r>
              <a:rPr lang="en-US" altLang="zh-CN" sz="1600" b="1" dirty="0"/>
              <a:t>2.21</a:t>
            </a:r>
            <a:r>
              <a:rPr lang="zh-CN" altLang="en-US" sz="1600" b="1" dirty="0"/>
              <a:t>（见教材）：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编、解码流程。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原始数据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a</a:t>
            </a:r>
            <a:r>
              <a:rPr lang="en-US" altLang="zh-CN" sz="1600" b="1" baseline="-25000" dirty="0" err="1"/>
              <a:t>k</a:t>
            </a:r>
            <a:r>
              <a:rPr lang="en-US" altLang="zh-CN" sz="1600" b="1" dirty="0"/>
              <a:t>…a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，左移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位后，送入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编码电路；即将左移后的原始数据除以生成多项式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en-US" altLang="zh-CN" sz="1600" b="1" dirty="0"/>
              <a:t>…g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；将得到的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位余数</a:t>
            </a:r>
            <a:r>
              <a:rPr lang="en-US" altLang="zh-CN" sz="1600" b="1" dirty="0" err="1"/>
              <a:t>b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…b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b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与原始数据</a:t>
            </a:r>
            <a:r>
              <a:rPr lang="en-US" altLang="zh-CN" sz="1600" b="1" dirty="0" err="1"/>
              <a:t>a</a:t>
            </a:r>
            <a:r>
              <a:rPr lang="en-US" altLang="zh-CN" sz="1600" b="1" baseline="-25000" dirty="0" err="1"/>
              <a:t>k</a:t>
            </a:r>
            <a:r>
              <a:rPr lang="en-US" altLang="zh-CN" sz="1600" b="1" dirty="0"/>
              <a:t>…a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拼接成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</a:t>
            </a:r>
            <a:r>
              <a:rPr lang="en-US" altLang="zh-CN" sz="1600" b="1" dirty="0" err="1">
                <a:solidFill>
                  <a:srgbClr val="C00000"/>
                </a:solidFill>
              </a:rPr>
              <a:t>a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k</a:t>
            </a:r>
            <a:r>
              <a:rPr lang="en-US" altLang="zh-CN" sz="1600" b="1" dirty="0">
                <a:solidFill>
                  <a:srgbClr val="C00000"/>
                </a:solidFill>
              </a:rPr>
              <a:t>…a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600" b="1" dirty="0">
                <a:solidFill>
                  <a:srgbClr val="C00000"/>
                </a:solidFill>
              </a:rPr>
              <a:t>a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C00000"/>
                </a:solidFill>
              </a:rPr>
              <a:t>b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r</a:t>
            </a:r>
            <a:r>
              <a:rPr lang="en-US" altLang="zh-CN" sz="1600" b="1" dirty="0">
                <a:solidFill>
                  <a:srgbClr val="C00000"/>
                </a:solidFill>
              </a:rPr>
              <a:t>…b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600" b="1" dirty="0">
                <a:solidFill>
                  <a:srgbClr val="C00000"/>
                </a:solidFill>
              </a:rPr>
              <a:t>b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1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sz="1600" b="1" dirty="0"/>
              <a:t>CRC</a:t>
            </a:r>
            <a:r>
              <a:rPr lang="zh-CN" altLang="en-US" sz="1600" b="1" dirty="0"/>
              <a:t>码经过传输或存储后，变成可能出错的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</a:t>
            </a:r>
            <a:r>
              <a:rPr lang="en-US" altLang="zh-CN" sz="1800" b="1" dirty="0">
                <a:solidFill>
                  <a:srgbClr val="C00000"/>
                </a:solidFill>
              </a:rPr>
              <a:t>c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k</a:t>
            </a:r>
            <a:r>
              <a:rPr lang="en-US" altLang="zh-CN" sz="1800" b="1" dirty="0">
                <a:solidFill>
                  <a:srgbClr val="C00000"/>
                </a:solidFill>
              </a:rPr>
              <a:t>…c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800" b="1" dirty="0">
                <a:solidFill>
                  <a:srgbClr val="C00000"/>
                </a:solidFill>
              </a:rPr>
              <a:t>c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1</a:t>
            </a:r>
            <a:r>
              <a:rPr lang="en-US" altLang="zh-CN" sz="1800" b="1" dirty="0">
                <a:solidFill>
                  <a:srgbClr val="C00000"/>
                </a:solidFill>
              </a:rPr>
              <a:t>d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r</a:t>
            </a:r>
            <a:r>
              <a:rPr lang="en-US" altLang="zh-CN" sz="1800" b="1" dirty="0">
                <a:solidFill>
                  <a:srgbClr val="C00000"/>
                </a:solidFill>
              </a:rPr>
              <a:t>…d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2</a:t>
            </a:r>
            <a:r>
              <a:rPr lang="en-US" altLang="zh-CN" sz="1800" b="1" dirty="0">
                <a:solidFill>
                  <a:srgbClr val="C00000"/>
                </a:solidFill>
              </a:rPr>
              <a:t>d</a:t>
            </a:r>
            <a:r>
              <a:rPr lang="en-US" altLang="zh-CN" sz="1800" b="1" baseline="-25000" dirty="0">
                <a:solidFill>
                  <a:srgbClr val="C00000"/>
                </a:solidFill>
              </a:rPr>
              <a:t>1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sz="1600" b="1" dirty="0"/>
              <a:t>将接收到的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码送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解码电路，即将接收到的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码除以生成多项式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r</a:t>
            </a:r>
            <a:r>
              <a:rPr lang="en-US" altLang="zh-CN" sz="1600" b="1" dirty="0"/>
              <a:t>…g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g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，将得到的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位余数</a:t>
            </a:r>
            <a:r>
              <a:rPr lang="en-US" altLang="zh-CN" sz="1600" b="1" dirty="0" err="1"/>
              <a:t>s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…s</a:t>
            </a:r>
            <a:r>
              <a:rPr lang="en-US" altLang="zh-CN" sz="1600" b="1" baseline="-25000" dirty="0"/>
              <a:t>2</a:t>
            </a:r>
            <a:r>
              <a:rPr lang="en-US" altLang="zh-CN" sz="1600" b="1" dirty="0"/>
              <a:t>s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送决策逻辑；若余数为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，表示没有错误；若余数不为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，则根据余数的值，可以确定是哪一位错（假设只有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位错），只需要将该位取反即可得到正确的数据。</a:t>
            </a:r>
            <a:endParaRPr lang="en-US" altLang="zh-CN" sz="16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967105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CAA76CD-8796-499E-AD36-6FEB97479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21" y="1205594"/>
            <a:ext cx="8676965" cy="3744416"/>
          </a:xfrm>
          <a:prstGeom prst="rect">
            <a:avLst/>
          </a:prstGeom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F39374E5-46EC-46D5-891F-1CF3CB740525}"/>
              </a:ext>
            </a:extLst>
          </p:cNvPr>
          <p:cNvSpPr/>
          <p:nvPr/>
        </p:nvSpPr>
        <p:spPr>
          <a:xfrm>
            <a:off x="683568" y="4653136"/>
            <a:ext cx="2664296" cy="1296144"/>
          </a:xfrm>
          <a:prstGeom prst="wedgeRoundRectCallout">
            <a:avLst>
              <a:gd name="adj1" fmla="val -38355"/>
              <a:gd name="adj2" fmla="val -179786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C00000"/>
                </a:solidFill>
              </a:rPr>
              <a:t>初始化状态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原始数据</a:t>
            </a:r>
            <a:r>
              <a:rPr lang="en-US" altLang="zh-CN" dirty="0">
                <a:solidFill>
                  <a:srgbClr val="C00000"/>
                </a:solidFill>
              </a:rPr>
              <a:t>110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按下复位键，电路处于初始状态，计数器清零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B74780-6A34-4DE0-A70F-CD7CDCFD3629}"/>
              </a:ext>
            </a:extLst>
          </p:cNvPr>
          <p:cNvSpPr txBox="1"/>
          <p:nvPr/>
        </p:nvSpPr>
        <p:spPr>
          <a:xfrm>
            <a:off x="3347864" y="53938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CRC</a:t>
            </a:r>
            <a:r>
              <a:rPr lang="zh-CN" altLang="en-US" sz="2000" dirty="0"/>
              <a:t>串行编码电路</a:t>
            </a:r>
          </a:p>
        </p:txBody>
      </p:sp>
    </p:spTree>
    <p:extLst>
      <p:ext uri="{BB962C8B-B14F-4D97-AF65-F5344CB8AC3E}">
        <p14:creationId xmlns:p14="http://schemas.microsoft.com/office/powerpoint/2010/main" val="17372978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0E7748E-085F-449E-A546-CEB8B5BE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6" y="1340768"/>
            <a:ext cx="8716548" cy="3096344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6AF37110-D58F-448E-B9A1-24089CCDD719}"/>
              </a:ext>
            </a:extLst>
          </p:cNvPr>
          <p:cNvSpPr/>
          <p:nvPr/>
        </p:nvSpPr>
        <p:spPr>
          <a:xfrm>
            <a:off x="323528" y="4653136"/>
            <a:ext cx="4392488" cy="1080120"/>
          </a:xfrm>
          <a:prstGeom prst="wedgeRoundRectCallout">
            <a:avLst>
              <a:gd name="adj1" fmla="val -39806"/>
              <a:gd name="adj2" fmla="val -151918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C00000"/>
                </a:solidFill>
              </a:rPr>
              <a:t>按下装入键，</a:t>
            </a:r>
            <a:r>
              <a:rPr lang="en-US" altLang="zh-CN" dirty="0">
                <a:solidFill>
                  <a:srgbClr val="C00000"/>
                </a:solidFill>
              </a:rPr>
              <a:t>110</a:t>
            </a:r>
            <a:r>
              <a:rPr lang="zh-CN" altLang="en-US" dirty="0">
                <a:solidFill>
                  <a:srgbClr val="C00000"/>
                </a:solidFill>
              </a:rPr>
              <a:t>装入移位寄存器，按照从右至左的顺序，即右侧高位，左侧低位</a:t>
            </a:r>
          </a:p>
        </p:txBody>
      </p:sp>
    </p:spTree>
    <p:extLst>
      <p:ext uri="{BB962C8B-B14F-4D97-AF65-F5344CB8AC3E}">
        <p14:creationId xmlns:p14="http://schemas.microsoft.com/office/powerpoint/2010/main" val="4053031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741084A-B6C9-422F-8B83-37DA5E82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980728"/>
            <a:ext cx="8999984" cy="2229135"/>
          </a:xfrm>
          <a:prstGeom prst="rect">
            <a:avLst/>
          </a:prstGeom>
        </p:spPr>
      </p:pic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7E194DE2-7F4B-42A8-844E-4AE3558F63EE}"/>
              </a:ext>
            </a:extLst>
          </p:cNvPr>
          <p:cNvSpPr/>
          <p:nvPr/>
        </p:nvSpPr>
        <p:spPr>
          <a:xfrm>
            <a:off x="611560" y="4149080"/>
            <a:ext cx="4248472" cy="1440160"/>
          </a:xfrm>
          <a:prstGeom prst="wedgeRoundRectCallout">
            <a:avLst>
              <a:gd name="adj1" fmla="val -53708"/>
              <a:gd name="adj2" fmla="val -153252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zh-CN" altLang="en-US" dirty="0">
                <a:solidFill>
                  <a:srgbClr val="C00000"/>
                </a:solidFill>
              </a:rPr>
              <a:t>按一下时钟，移位寄存器高位右移到第一个异或门，与最末端</a:t>
            </a:r>
            <a:r>
              <a:rPr lang="en-US" altLang="zh-CN" dirty="0">
                <a:solidFill>
                  <a:srgbClr val="C00000"/>
                </a:solidFill>
              </a:rPr>
              <a:t>Q</a:t>
            </a:r>
            <a:r>
              <a:rPr lang="zh-CN" altLang="en-US" dirty="0">
                <a:solidFill>
                  <a:srgbClr val="C00000"/>
                </a:solidFill>
              </a:rPr>
              <a:t>的输出完成异或操作，同时计数器开始计数。计数到</a:t>
            </a:r>
            <a:r>
              <a:rPr lang="en-US" altLang="zh-CN" dirty="0">
                <a:solidFill>
                  <a:srgbClr val="C00000"/>
                </a:solidFill>
              </a:rPr>
              <a:t>6</a:t>
            </a:r>
            <a:r>
              <a:rPr lang="zh-CN" altLang="en-US" dirty="0">
                <a:solidFill>
                  <a:srgbClr val="C00000"/>
                </a:solidFill>
              </a:rPr>
              <a:t>时，停止，完成编码过程</a:t>
            </a:r>
          </a:p>
        </p:txBody>
      </p:sp>
    </p:spTree>
    <p:extLst>
      <p:ext uri="{BB962C8B-B14F-4D97-AF65-F5344CB8AC3E}">
        <p14:creationId xmlns:p14="http://schemas.microsoft.com/office/powerpoint/2010/main" val="31635151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C439-350E-4810-8319-3653B75C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br>
              <a:rPr lang="en-US" altLang="zh-CN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85" y="980728"/>
            <a:ext cx="8229600" cy="5602634"/>
          </a:xfrm>
        </p:spPr>
        <p:txBody>
          <a:bodyPr rtlCol="0">
            <a:normAutofit lnSpcReduction="10000"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6</a:t>
            </a:r>
            <a:r>
              <a:rPr lang="zh-CN" altLang="en-US" sz="2000" b="1" dirty="0"/>
              <a:t>、生成多项式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lnSpc>
                <a:spcPct val="160000"/>
              </a:lnSpc>
              <a:spcAft>
                <a:spcPts val="0"/>
              </a:spcAft>
              <a:defRPr/>
            </a:pPr>
            <a:r>
              <a:rPr lang="en-US" altLang="zh-CN" sz="1600" b="1" dirty="0"/>
              <a:t>CRC</a:t>
            </a:r>
            <a:r>
              <a:rPr lang="zh-CN" altLang="en-US" sz="1600" b="1" dirty="0"/>
              <a:t>编码电路根据生成多项式得到的余数拼接成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码；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解码电路根据生成多项式得到的余数确定有没有错，或者是哪一位出错。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不是任何一个多项式都可以作为生成多项式，生成多项式有如下特殊要求：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600" b="1" dirty="0"/>
              <a:t>生成多项式的最高位和最低位必须为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600" b="1" dirty="0"/>
              <a:t>当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码任何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位发生错误时，被生成多项式模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除后，余数应不为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；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600" b="1" dirty="0"/>
              <a:t>不同位发生的错误，余数应不同；</a:t>
            </a:r>
            <a:endParaRPr lang="en-US" altLang="zh-CN" sz="16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600" b="1" dirty="0"/>
              <a:t>对余数继续做模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除法，应使余数循环。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常用的生成多项式：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G(x)=x+1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G(x)=x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+x+1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G(x)=x</a:t>
            </a:r>
            <a:r>
              <a:rPr lang="en-US" altLang="zh-CN" sz="1600" b="1" baseline="30000" dirty="0"/>
              <a:t>4</a:t>
            </a:r>
            <a:r>
              <a:rPr lang="en-US" altLang="zh-CN" sz="1600" b="1" dirty="0"/>
              <a:t>+x+1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G(x)=x</a:t>
            </a:r>
            <a:r>
              <a:rPr lang="en-US" altLang="zh-CN" sz="1600" b="1" baseline="30000" dirty="0"/>
              <a:t>5</a:t>
            </a:r>
            <a:r>
              <a:rPr lang="en-US" altLang="zh-CN" sz="1600" b="1" dirty="0"/>
              <a:t>+x</a:t>
            </a:r>
            <a:r>
              <a:rPr lang="en-US" altLang="zh-CN" sz="1600" b="1" baseline="30000" dirty="0"/>
              <a:t>4</a:t>
            </a:r>
            <a:r>
              <a:rPr lang="en-US" altLang="zh-CN" sz="1600" b="1" dirty="0"/>
              <a:t>+x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+1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G(x)=x</a:t>
            </a:r>
            <a:r>
              <a:rPr lang="en-US" altLang="zh-CN" sz="1600" b="1" baseline="30000" dirty="0"/>
              <a:t>5</a:t>
            </a:r>
            <a:r>
              <a:rPr lang="en-US" altLang="zh-CN" sz="1600" b="1" dirty="0"/>
              <a:t>+x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+1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600" b="1" dirty="0"/>
              <a:t>…………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40399651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E22E6-74C7-40F9-B4DA-5BE09333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黑体" pitchFamily="49" charset="-122"/>
              </a:rPr>
              <a:t>2.4.4  </a:t>
            </a:r>
            <a:r>
              <a:rPr lang="zh-CN" altLang="en-US" b="1" dirty="0">
                <a:ea typeface="黑体" pitchFamily="49" charset="-122"/>
              </a:rPr>
              <a:t>循环冗余校验</a:t>
            </a:r>
            <a:br>
              <a:rPr lang="en-US" altLang="zh-CN" b="1" dirty="0">
                <a:ea typeface="黑体" pitchFamily="49" charset="-122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0F486-28A4-4E29-9BF2-28FCFF15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08" y="980728"/>
            <a:ext cx="8229600" cy="5602634"/>
          </a:xfrm>
        </p:spPr>
        <p:txBody>
          <a:bodyPr rtlCol="0">
            <a:normAutofit lnSpcReduction="10000"/>
          </a:bodyPr>
          <a:lstStyle/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7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CRC</a:t>
            </a:r>
            <a:r>
              <a:rPr lang="zh-CN" altLang="en-US" sz="2000" b="1" dirty="0"/>
              <a:t>检错性能</a:t>
            </a:r>
            <a:endParaRPr lang="en-US" altLang="zh-CN" sz="20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采用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码产生</a:t>
            </a:r>
            <a:r>
              <a:rPr lang="en-US" altLang="zh-CN" sz="1600" b="1" dirty="0"/>
              <a:t>r</a:t>
            </a:r>
            <a:r>
              <a:rPr lang="zh-CN" altLang="en-US" sz="1600" b="1" dirty="0"/>
              <a:t>位的校验码（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r-1</a:t>
            </a:r>
            <a:r>
              <a:rPr lang="en-US" altLang="zh-CN" sz="1600" b="1" dirty="0"/>
              <a:t>…P</a:t>
            </a:r>
            <a:r>
              <a:rPr lang="en-US" altLang="zh-CN" sz="1600" b="1" baseline="-25000" dirty="0"/>
              <a:t>1</a:t>
            </a:r>
            <a:r>
              <a:rPr lang="en-US" altLang="zh-CN" sz="1600" b="1" dirty="0"/>
              <a:t>P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），具有如下的检错能力：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所有突发长度小于等于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的突发错误（突发长度 </a:t>
            </a:r>
            <a:r>
              <a:rPr lang="zh-CN" altLang="en-US" sz="1400" b="1" dirty="0">
                <a:ea typeface="等线" panose="02010600030101010101" pitchFamily="2" charset="-122"/>
              </a:rPr>
              <a:t>≤ </a:t>
            </a:r>
            <a:r>
              <a:rPr lang="en-US" altLang="zh-CN" sz="1400" b="1" dirty="0">
                <a:ea typeface="等线" panose="02010600030101010101" pitchFamily="2" charset="-122"/>
              </a:rPr>
              <a:t>r</a:t>
            </a:r>
            <a:r>
              <a:rPr lang="zh-CN" altLang="en-US" sz="1400" b="1" dirty="0"/>
              <a:t>）；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400" b="1" dirty="0"/>
              <a:t>(1-2</a:t>
            </a:r>
            <a:r>
              <a:rPr lang="en-US" altLang="zh-CN" sz="1400" b="1" baseline="30000" dirty="0"/>
              <a:t>-(r-1)</a:t>
            </a:r>
            <a:r>
              <a:rPr lang="en-US" altLang="zh-CN" sz="1400" b="1" dirty="0"/>
              <a:t>)</a:t>
            </a:r>
            <a:r>
              <a:rPr lang="zh-CN" altLang="en-US" sz="1400" b="1" dirty="0"/>
              <a:t>比例的突发长度为</a:t>
            </a:r>
            <a:r>
              <a:rPr lang="en-US" altLang="zh-CN" sz="1400" b="1" dirty="0"/>
              <a:t>r+1</a:t>
            </a:r>
            <a:r>
              <a:rPr lang="zh-CN" altLang="en-US" sz="1400" b="1" dirty="0"/>
              <a:t>的突发错误（突发长度 </a:t>
            </a:r>
            <a:r>
              <a:rPr lang="en-US" altLang="zh-CN" sz="1400" b="1" dirty="0">
                <a:ea typeface="等线" panose="02010600030101010101" pitchFamily="2" charset="-122"/>
              </a:rPr>
              <a:t>= r+1</a:t>
            </a:r>
            <a:r>
              <a:rPr lang="zh-CN" altLang="en-US" sz="1400" b="1" dirty="0"/>
              <a:t>）；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400" b="1" dirty="0"/>
              <a:t>(1-2</a:t>
            </a:r>
            <a:r>
              <a:rPr lang="en-US" altLang="zh-CN" sz="1400" b="1" baseline="30000" dirty="0"/>
              <a:t>-r</a:t>
            </a:r>
            <a:r>
              <a:rPr lang="en-US" altLang="zh-CN" sz="1400" b="1" dirty="0"/>
              <a:t>)</a:t>
            </a:r>
            <a:r>
              <a:rPr lang="zh-CN" altLang="en-US" sz="1400" b="1" dirty="0"/>
              <a:t>比例的突发长度大于</a:t>
            </a:r>
            <a:r>
              <a:rPr lang="en-US" altLang="zh-CN" sz="1400" b="1" dirty="0"/>
              <a:t>r+1</a:t>
            </a:r>
            <a:r>
              <a:rPr lang="zh-CN" altLang="en-US" sz="1400" b="1" dirty="0"/>
              <a:t>的突发错误（突发长度 </a:t>
            </a:r>
            <a:r>
              <a:rPr lang="en-US" altLang="zh-CN" sz="1400" b="1" dirty="0">
                <a:ea typeface="等线" panose="02010600030101010101" pitchFamily="2" charset="-122"/>
              </a:rPr>
              <a:t>&gt; r+1</a:t>
            </a:r>
            <a:r>
              <a:rPr lang="zh-CN" altLang="en-US" sz="1400" b="1" dirty="0"/>
              <a:t>）；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小于最小码距的任意位数的错误；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如果生成多项式中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的个数为偶数，可以检测出所有奇数位错误。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如果</a:t>
            </a:r>
            <a:r>
              <a:rPr lang="en-US" altLang="zh-CN" sz="1600" b="1" dirty="0"/>
              <a:t>r=16</a:t>
            </a:r>
            <a:r>
              <a:rPr lang="zh-CN" altLang="en-US" sz="1600" b="1" dirty="0"/>
              <a:t>，就可以：</a:t>
            </a:r>
            <a:endParaRPr lang="en-US" altLang="zh-CN" sz="1400" b="1" dirty="0"/>
          </a:p>
          <a:p>
            <a:pPr marL="1714500" lvl="3" indent="-3429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检测出</a:t>
            </a:r>
            <a:r>
              <a:rPr lang="zh-CN" altLang="en-US" sz="1400" b="1" dirty="0">
                <a:solidFill>
                  <a:srgbClr val="C00000"/>
                </a:solidFill>
              </a:rPr>
              <a:t>所有</a:t>
            </a:r>
            <a:r>
              <a:rPr lang="zh-CN" altLang="en-US" sz="1400" b="1" dirty="0"/>
              <a:t>突发长度小于等于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的突发错误（</a:t>
            </a:r>
            <a:r>
              <a:rPr lang="zh-CN" altLang="en-US" sz="1400" b="1" dirty="0">
                <a:ea typeface="等线" panose="02010600030101010101" pitchFamily="2" charset="-122"/>
              </a:rPr>
              <a:t>≤</a:t>
            </a:r>
            <a:r>
              <a:rPr lang="en-US" altLang="zh-CN" sz="1400" b="1" dirty="0">
                <a:ea typeface="等线" panose="02010600030101010101" pitchFamily="2" charset="-122"/>
              </a:rPr>
              <a:t>16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marL="1714500" lvl="3" indent="-3429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检测出</a:t>
            </a:r>
            <a:r>
              <a:rPr lang="en-US" altLang="zh-CN" sz="1400" b="1" dirty="0"/>
              <a:t>(1-2</a:t>
            </a:r>
            <a:r>
              <a:rPr lang="en-US" altLang="zh-CN" sz="1400" b="1" baseline="30000" dirty="0"/>
              <a:t>-(r-1)</a:t>
            </a:r>
            <a:r>
              <a:rPr lang="en-US" altLang="zh-CN" sz="1400" b="1" dirty="0"/>
              <a:t>)= (1-2</a:t>
            </a:r>
            <a:r>
              <a:rPr lang="en-US" altLang="zh-CN" sz="1400" b="1" baseline="30000" dirty="0"/>
              <a:t>-15</a:t>
            </a:r>
            <a:r>
              <a:rPr lang="en-US" altLang="zh-CN" sz="1400" b="1" dirty="0"/>
              <a:t>)=32767/32768≈</a:t>
            </a:r>
            <a:r>
              <a:rPr lang="en-US" altLang="zh-CN" sz="1400" b="1" dirty="0">
                <a:solidFill>
                  <a:srgbClr val="C00000"/>
                </a:solidFill>
              </a:rPr>
              <a:t>99.997%</a:t>
            </a:r>
            <a:r>
              <a:rPr lang="zh-CN" altLang="en-US" sz="1400" b="1" dirty="0"/>
              <a:t>突发长度等于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的突发错误（</a:t>
            </a:r>
            <a:r>
              <a:rPr lang="en-US" altLang="zh-CN" sz="1400" b="1" dirty="0"/>
              <a:t>=17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marL="1714500" lvl="3" indent="-342900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检测出</a:t>
            </a:r>
            <a:r>
              <a:rPr lang="en-US" altLang="zh-CN" sz="1400" b="1" dirty="0"/>
              <a:t>(1-2</a:t>
            </a:r>
            <a:r>
              <a:rPr lang="en-US" altLang="zh-CN" sz="1400" b="1" baseline="30000" dirty="0"/>
              <a:t>-r</a:t>
            </a:r>
            <a:r>
              <a:rPr lang="en-US" altLang="zh-CN" sz="1400" b="1" dirty="0"/>
              <a:t>)= (1-2</a:t>
            </a:r>
            <a:r>
              <a:rPr lang="en-US" altLang="zh-CN" sz="1400" b="1" baseline="30000" dirty="0"/>
              <a:t>-16</a:t>
            </a:r>
            <a:r>
              <a:rPr lang="en-US" altLang="zh-CN" sz="1400" b="1" dirty="0"/>
              <a:t>)=65535/65536≈</a:t>
            </a:r>
            <a:r>
              <a:rPr lang="en-US" altLang="zh-CN" sz="1400" b="1" dirty="0">
                <a:solidFill>
                  <a:srgbClr val="C00000"/>
                </a:solidFill>
              </a:rPr>
              <a:t>99.998%</a:t>
            </a:r>
            <a:r>
              <a:rPr lang="zh-CN" altLang="en-US" sz="1400" b="1" dirty="0"/>
              <a:t>突发长度大于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的突发错误（</a:t>
            </a:r>
            <a:r>
              <a:rPr lang="en-US" altLang="zh-CN" sz="1400" b="1" dirty="0"/>
              <a:t>&gt;17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可见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码的检错能力很强，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码检错能力强、开销小、易于用编码器及检测电路实现。</a:t>
            </a: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1600" b="1" dirty="0"/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zh-CN" altLang="en-US" sz="1600" b="1" dirty="0"/>
              <a:t>在数据存储和通信领域，</a:t>
            </a:r>
            <a:r>
              <a:rPr lang="en-US" altLang="zh-CN" sz="1600" b="1" dirty="0"/>
              <a:t>CRC</a:t>
            </a:r>
            <a:r>
              <a:rPr lang="zh-CN" altLang="en-US" sz="1600" b="1" dirty="0"/>
              <a:t>码无处不在：</a:t>
            </a:r>
            <a:endParaRPr lang="en-US" altLang="zh-CN" sz="1400" b="1" dirty="0"/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通信协议</a:t>
            </a:r>
            <a:r>
              <a:rPr lang="en-US" altLang="zh-CN" sz="1400" b="1" dirty="0"/>
              <a:t>X.25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FCS</a:t>
            </a:r>
            <a:r>
              <a:rPr lang="zh-CN" altLang="en-US" sz="1400" b="1" dirty="0"/>
              <a:t>（检错序列）采用：</a:t>
            </a:r>
            <a:r>
              <a:rPr lang="en-US" altLang="zh-CN" sz="1400" b="1" dirty="0"/>
              <a:t>CRC-CCITT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en-US" altLang="zh-CN" sz="1400" b="1" dirty="0"/>
              <a:t>WinRAR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ARJ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LHA</a:t>
            </a:r>
            <a:r>
              <a:rPr lang="zh-CN" altLang="en-US" sz="1400" b="1" dirty="0"/>
              <a:t>等压缩工具采用：</a:t>
            </a:r>
            <a:r>
              <a:rPr lang="en-US" altLang="zh-CN" sz="1400" b="1" dirty="0"/>
              <a:t>CRC32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磁盘驱动器的读写采用</a:t>
            </a:r>
            <a:r>
              <a:rPr lang="en-US" altLang="zh-CN" sz="1400" b="1" dirty="0"/>
              <a:t>CRC16</a:t>
            </a:r>
          </a:p>
          <a:p>
            <a:pPr lvl="3" eaLnBrk="1" fontAlgn="auto" hangingPunct="1"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1400" b="1" dirty="0"/>
              <a:t>通用的图像存储格式</a:t>
            </a:r>
            <a:r>
              <a:rPr lang="en-US" altLang="zh-CN" sz="1400" b="1" dirty="0"/>
              <a:t>GIF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TIFF</a:t>
            </a:r>
            <a:r>
              <a:rPr lang="zh-CN" altLang="en-US" sz="1400" b="1" dirty="0"/>
              <a:t>也采用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作为检错手段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175649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实践训练（实验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Logisim</a:t>
            </a:r>
            <a:r>
              <a:rPr lang="zh-CN" altLang="en-US" sz="2000" b="1" dirty="0"/>
              <a:t>中设计包含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位数据位的海明码编解码电路，要求能够在假设没有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位错的前提下检测出两位错并纠正一位错。</a:t>
            </a:r>
            <a:endParaRPr lang="en-US" altLang="zh-CN" sz="2000" b="1" dirty="0"/>
          </a:p>
          <a:p>
            <a:pPr>
              <a:defRPr/>
            </a:pP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利用组合逻辑电路在</a:t>
            </a:r>
            <a:r>
              <a:rPr lang="en-US" altLang="zh-CN" sz="2000" b="1" dirty="0"/>
              <a:t>Logisim</a:t>
            </a:r>
            <a:r>
              <a:rPr lang="zh-CN" altLang="en-US" sz="2000" b="1" dirty="0"/>
              <a:t>中设计一个包含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位数据位的并行</a:t>
            </a:r>
            <a:r>
              <a:rPr lang="en-US" altLang="zh-CN" sz="2000" b="1" dirty="0"/>
              <a:t>CRC</a:t>
            </a:r>
            <a:r>
              <a:rPr lang="zh-CN" altLang="en-US" sz="2000" b="1" dirty="0"/>
              <a:t>编解码电路，要求能够在假设没有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位错的前提下检测出两位错并纠正一位错。</a:t>
            </a:r>
          </a:p>
        </p:txBody>
      </p:sp>
    </p:spTree>
    <p:extLst>
      <p:ext uri="{BB962C8B-B14F-4D97-AF65-F5344CB8AC3E}">
        <p14:creationId xmlns:p14="http://schemas.microsoft.com/office/powerpoint/2010/main" val="215389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55344</TotalTime>
  <Words>16240</Words>
  <Application>Microsoft Office PowerPoint</Application>
  <PresentationFormat>全屏显示(4:3)</PresentationFormat>
  <Paragraphs>1649</Paragraphs>
  <Slides>95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1" baseType="lpstr">
      <vt:lpstr>等线</vt:lpstr>
      <vt:lpstr>黑体</vt:lpstr>
      <vt:lpstr>Arial</vt:lpstr>
      <vt:lpstr>Calibri</vt:lpstr>
      <vt:lpstr>Cambria Math</vt:lpstr>
      <vt:lpstr>Office 主题</vt:lpstr>
      <vt:lpstr>《计算机组成原理》 （第二讲）</vt:lpstr>
      <vt:lpstr>目录</vt:lpstr>
      <vt:lpstr>第2章    数据信息的表示</vt:lpstr>
      <vt:lpstr>2.1    数据表示的作用</vt:lpstr>
      <vt:lpstr>2.2    数值数据的表示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2.2.1  数的机器码表示</vt:lpstr>
      <vt:lpstr>PowerPoint 演示文稿</vt:lpstr>
      <vt:lpstr>2.2.2  定点数表示</vt:lpstr>
      <vt:lpstr>2.2.2 定点数表示</vt:lpstr>
      <vt:lpstr>2.2.2 定点数表示</vt:lpstr>
      <vt:lpstr>2.2.2 定点数表示</vt:lpstr>
      <vt:lpstr>2.2.3  浮点数表示</vt:lpstr>
      <vt:lpstr>2.2.3  浮点数表示</vt:lpstr>
      <vt:lpstr>2.2.3  浮点数表示</vt:lpstr>
      <vt:lpstr>2.2.3  浮点数表示</vt:lpstr>
      <vt:lpstr>2.2.3  浮点数表示</vt:lpstr>
      <vt:lpstr>2.2.3  浮点数表示</vt:lpstr>
      <vt:lpstr>图灵奖</vt:lpstr>
      <vt:lpstr>2.2.3  浮点数表示</vt:lpstr>
      <vt:lpstr>2.2.3  浮点数表示</vt:lpstr>
      <vt:lpstr>2.2.3  浮点数表示</vt:lpstr>
      <vt:lpstr>2.2.3  浮点数表示</vt:lpstr>
      <vt:lpstr>2.2.3  浮点数表示</vt:lpstr>
      <vt:lpstr>2.2.3  浮点数表示</vt:lpstr>
      <vt:lpstr>2.2.3  浮点数表示</vt:lpstr>
      <vt:lpstr>2.2.4  十进制数编码</vt:lpstr>
      <vt:lpstr>2.2.4  十进制数编码</vt:lpstr>
      <vt:lpstr>2.2.4  十进制数编码</vt:lpstr>
      <vt:lpstr>2.2.4  十进制数编码</vt:lpstr>
      <vt:lpstr>2.2.4  十进制数编码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2.2.5  计算机中的数据类型</vt:lpstr>
      <vt:lpstr>2.3    非数值数据的表示</vt:lpstr>
      <vt:lpstr>PowerPoint 演示文稿</vt:lpstr>
      <vt:lpstr>PowerPoint 演示文稿</vt:lpstr>
      <vt:lpstr>2.3.2  汉字编码</vt:lpstr>
      <vt:lpstr>2.3.2  汉字编码</vt:lpstr>
      <vt:lpstr>2.4    数据信息的校验</vt:lpstr>
      <vt:lpstr>2.4.1  码距与校验</vt:lpstr>
      <vt:lpstr>2.4.1  码距与校验</vt:lpstr>
      <vt:lpstr>2.4.1  码距与校验</vt:lpstr>
      <vt:lpstr>2.4.2  奇偶校验</vt:lpstr>
      <vt:lpstr>2.4.2  奇偶校验</vt:lpstr>
      <vt:lpstr>2.4.2  奇偶校验</vt:lpstr>
      <vt:lpstr>2.4.2  奇偶校验 </vt:lpstr>
      <vt:lpstr>2.4.2  奇偶校验 </vt:lpstr>
      <vt:lpstr>2.4.3  海明校验</vt:lpstr>
      <vt:lpstr>理查德·海明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2.4.3  海明校验</vt:lpstr>
      <vt:lpstr>2.4.4  循环冗余校验 </vt:lpstr>
      <vt:lpstr>2.4.4  循环冗余校验 </vt:lpstr>
      <vt:lpstr>2.4.4  循环冗余校验 </vt:lpstr>
      <vt:lpstr>2.4.4  循环冗余校验</vt:lpstr>
      <vt:lpstr>2.4.4  循环冗余校验</vt:lpstr>
      <vt:lpstr>PowerPoint 演示文稿</vt:lpstr>
      <vt:lpstr>PowerPoint 演示文稿</vt:lpstr>
      <vt:lpstr>PowerPoint 演示文稿</vt:lpstr>
      <vt:lpstr>2.4.4  循环冗余校验 </vt:lpstr>
      <vt:lpstr>2.4.4  循环冗余校验 </vt:lpstr>
      <vt:lpstr>实践训练（实验1）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579</cp:revision>
  <dcterms:created xsi:type="dcterms:W3CDTF">2018-06-12T02:23:51Z</dcterms:created>
  <dcterms:modified xsi:type="dcterms:W3CDTF">2026-03-09T03:15:38Z</dcterms:modified>
</cp:coreProperties>
</file>