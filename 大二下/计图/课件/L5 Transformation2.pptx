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47"/>
  </p:handoutMasterIdLst>
  <p:sldIdLst>
    <p:sldId id="256" r:id="rId3"/>
    <p:sldId id="318" r:id="rId4"/>
    <p:sldId id="324" r:id="rId5"/>
    <p:sldId id="329" r:id="rId6"/>
    <p:sldId id="330" r:id="rId7"/>
    <p:sldId id="325" r:id="rId8"/>
    <p:sldId id="331" r:id="rId9"/>
    <p:sldId id="332" r:id="rId10"/>
    <p:sldId id="319" r:id="rId11"/>
    <p:sldId id="320" r:id="rId12"/>
    <p:sldId id="321" r:id="rId13"/>
    <p:sldId id="543" r:id="rId14"/>
    <p:sldId id="544" r:id="rId15"/>
    <p:sldId id="598" r:id="rId16"/>
    <p:sldId id="624" r:id="rId18"/>
    <p:sldId id="599" r:id="rId19"/>
    <p:sldId id="575" r:id="rId20"/>
    <p:sldId id="576" r:id="rId21"/>
    <p:sldId id="577" r:id="rId22"/>
    <p:sldId id="578" r:id="rId23"/>
    <p:sldId id="579" r:id="rId24"/>
    <p:sldId id="580" r:id="rId25"/>
    <p:sldId id="581" r:id="rId26"/>
    <p:sldId id="585" r:id="rId27"/>
    <p:sldId id="586" r:id="rId28"/>
    <p:sldId id="587" r:id="rId29"/>
    <p:sldId id="588" r:id="rId30"/>
    <p:sldId id="589" r:id="rId31"/>
    <p:sldId id="590" r:id="rId32"/>
    <p:sldId id="591" r:id="rId33"/>
    <p:sldId id="600" r:id="rId34"/>
    <p:sldId id="601" r:id="rId35"/>
    <p:sldId id="602" r:id="rId36"/>
    <p:sldId id="603" r:id="rId37"/>
    <p:sldId id="604" r:id="rId38"/>
    <p:sldId id="619" r:id="rId39"/>
    <p:sldId id="620" r:id="rId40"/>
    <p:sldId id="605" r:id="rId41"/>
    <p:sldId id="623" r:id="rId42"/>
    <p:sldId id="622" r:id="rId43"/>
    <p:sldId id="606" r:id="rId44"/>
    <p:sldId id="616" r:id="rId45"/>
    <p:sldId id="617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82074" autoAdjust="0"/>
  </p:normalViewPr>
  <p:slideViewPr>
    <p:cSldViewPr showGuides="1">
      <p:cViewPr varScale="1">
        <p:scale>
          <a:sx n="81" d="100"/>
          <a:sy n="81" d="100"/>
        </p:scale>
        <p:origin x="127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X+1 </a:t>
            </a:r>
            <a:r>
              <a:rPr lang="zh-CN" altLang="en-US" dirty="0"/>
              <a:t>为 </a:t>
            </a:r>
            <a:r>
              <a:rPr lang="en-US" altLang="zh-CN" dirty="0"/>
              <a:t>x-(-1)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楷体" panose="02010609060101010101" pitchFamily="49" charset="-122"/>
              </a:defRPr>
            </a:lvl1pPr>
            <a:lvl2pPr>
              <a:defRPr sz="2800">
                <a:ea typeface="楷体" panose="02010609060101010101" pitchFamily="49" charset="-122"/>
              </a:defRPr>
            </a:lvl2pPr>
            <a:lvl3pPr>
              <a:defRPr sz="2400">
                <a:ea typeface="楷体" panose="02010609060101010101" pitchFamily="49" charset="-122"/>
              </a:defRPr>
            </a:lvl3pPr>
            <a:lvl4pPr>
              <a:defRPr sz="2000">
                <a:ea typeface="楷体" panose="02010609060101010101" pitchFamily="49" charset="-122"/>
              </a:defRPr>
            </a:lvl4pPr>
            <a:lvl5pPr>
              <a:defRPr sz="200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/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Image" r:id="rId12" imgW="6572250" imgH="3695700" progId="Photoshop.Image.13">
                  <p:embed/>
                </p:oleObj>
              </mc:Choice>
              <mc:Fallback>
                <p:oleObj name="Image" r:id="rId12" imgW="6572250" imgH="3695700" progId="Photoshop.Image.13">
                  <p:embed/>
                  <p:pic>
                    <p:nvPicPr>
                      <p:cNvPr id="0" name="图片 1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s-ES" dirty="0"/>
              <a:t>D</a:t>
            </a:r>
            <a:endParaRPr lang="es-E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s-ES" dirty="0"/>
              <a:t>Click to Edit Master Text Styles</a:t>
            </a:r>
            <a:endParaRPr lang="es-ES" dirty="0"/>
          </a:p>
          <a:p>
            <a:pPr lvl="1"/>
            <a:r>
              <a:rPr lang="es-ES" dirty="0"/>
              <a:t>SECOND LEVEL</a:t>
            </a:r>
            <a:endParaRPr lang="es-ES" dirty="0"/>
          </a:p>
          <a:p>
            <a:pPr lvl="2"/>
            <a:r>
              <a:rPr lang="es-ES" dirty="0"/>
              <a:t>THIRD LEVEL</a:t>
            </a:r>
            <a:endParaRPr lang="es-E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4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baseline="0">
          <a:solidFill>
            <a:schemeClr val="tx1"/>
          </a:solidFill>
          <a:latin typeface="+mn-lt"/>
          <a:ea typeface="楷体" panose="02010609060101010101" pitchFamily="49" charset="-122"/>
          <a:cs typeface="MS PGothic" panose="020B0600070205080204" pitchFamily="34" charset="-128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baseline="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baseline="0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D7E68CEF-25EF-4873-B625-D7337D98864B}" type="slidenum">
              <a:rPr lang="es-ES" sz="1000">
                <a:latin typeface="Arial" panose="020B0604020202020204" pitchFamily="34" charset="0"/>
              </a:rPr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sz="3600" dirty="0">
                <a:ea typeface="MS PGothic" panose="020B0600070205080204" pitchFamily="34" charset="-128"/>
              </a:rPr>
              <a:t>Introduction to </a:t>
            </a:r>
            <a:br>
              <a:rPr lang="en-US" altLang="zh-CN" sz="3600" dirty="0">
                <a:ea typeface="MS PGothic" panose="020B0600070205080204" pitchFamily="34" charset="-128"/>
              </a:rPr>
            </a:br>
            <a:r>
              <a:rPr lang="en-US" altLang="zh-CN" sz="3600" dirty="0">
                <a:ea typeface="MS PGothic" panose="020B0600070205080204" pitchFamily="34" charset="-128"/>
              </a:rPr>
              <a:t>Computer Graphics</a:t>
            </a:r>
            <a:endParaRPr lang="en-US" altLang="zh-CN" sz="3600" dirty="0">
              <a:ea typeface="MS PGothic" panose="020B0600070205080204" pitchFamily="34" charset="-128"/>
            </a:endParaRPr>
          </a:p>
        </p:txBody>
      </p:sp>
      <p:graphicFrame>
        <p:nvGraphicFramePr>
          <p:cNvPr id="7" name="对象 1"/>
          <p:cNvGraphicFramePr>
            <a:graphicFrameLocks noChangeAspect="1"/>
          </p:cNvGraphicFramePr>
          <p:nvPr/>
        </p:nvGraphicFramePr>
        <p:xfrm>
          <a:off x="6702932" y="152400"/>
          <a:ext cx="2188278" cy="123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Image" r:id="rId1" imgW="6572250" imgH="3695700" progId="Photoshop.Image.13">
                  <p:embed/>
                </p:oleObj>
              </mc:Choice>
              <mc:Fallback>
                <p:oleObj name="Image" r:id="rId1" imgW="6572250" imgH="3695700" progId="Photoshop.Image.13">
                  <p:embed/>
                  <p:pic>
                    <p:nvPicPr>
                      <p:cNvPr id="0" name="图片 2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932" y="152400"/>
                        <a:ext cx="2188278" cy="123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697897" y="3098140"/>
            <a:ext cx="3748206" cy="6617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00" b="1" dirty="0">
                <a:solidFill>
                  <a:schemeClr val="accent2"/>
                </a:solidFill>
                <a:latin typeface="+mj-lt"/>
                <a:cs typeface="MS PGothic" panose="020B0600070205080204" pitchFamily="34" charset="-128"/>
              </a:rPr>
              <a:t>Transformation 2</a:t>
            </a:r>
            <a:endParaRPr lang="zh-CN" altLang="en-US" sz="3700" b="1" dirty="0">
              <a:solidFill>
                <a:schemeClr val="accent2"/>
              </a:solidFill>
              <a:latin typeface="+mj-lt"/>
              <a:cs typeface="MS PGothic" panose="020B0600070205080204" pitchFamily="34" charset="-128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本节内容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顶点变换流程</a:t>
            </a:r>
            <a:endParaRPr lang="en-US" altLang="zh-CN" sz="2800" dirty="0"/>
          </a:p>
          <a:p>
            <a:r>
              <a:rPr lang="zh-CN" altLang="en-US" sz="2800" dirty="0"/>
              <a:t>模型视图变换</a:t>
            </a:r>
            <a:endParaRPr lang="en-US" altLang="zh-CN" sz="2800" dirty="0"/>
          </a:p>
          <a:p>
            <a:pPr lvl="1"/>
            <a:r>
              <a:rPr lang="zh-CN" altLang="en-US" sz="2300" dirty="0"/>
              <a:t>模型变换</a:t>
            </a:r>
            <a:endParaRPr lang="en-US" altLang="zh-CN" sz="2300" dirty="0"/>
          </a:p>
          <a:p>
            <a:pPr lvl="2"/>
            <a:r>
              <a:rPr lang="zh-CN" altLang="en-US" sz="1700" dirty="0"/>
              <a:t>平移</a:t>
            </a:r>
            <a:endParaRPr lang="en-US" altLang="zh-CN" sz="1700" dirty="0"/>
          </a:p>
          <a:p>
            <a:pPr lvl="2"/>
            <a:r>
              <a:rPr lang="zh-CN" altLang="en-US" sz="1700" dirty="0"/>
              <a:t>旋转</a:t>
            </a:r>
            <a:endParaRPr lang="en-US" altLang="zh-CN" sz="1700" dirty="0"/>
          </a:p>
          <a:p>
            <a:pPr lvl="2"/>
            <a:r>
              <a:rPr lang="zh-CN" altLang="en-US" sz="1700" dirty="0"/>
              <a:t>缩放</a:t>
            </a:r>
            <a:endParaRPr lang="en-US" altLang="zh-CN" sz="1700" dirty="0"/>
          </a:p>
          <a:p>
            <a:pPr lvl="1"/>
            <a:r>
              <a:rPr lang="zh-CN" altLang="en-US" sz="2300" dirty="0"/>
              <a:t>视图变换</a:t>
            </a:r>
            <a:endParaRPr lang="en-US" altLang="zh-CN" sz="2300" dirty="0"/>
          </a:p>
          <a:p>
            <a:pPr lvl="2"/>
            <a:r>
              <a:rPr lang="zh-CN" altLang="en-US" sz="1700" dirty="0"/>
              <a:t>相机变换</a:t>
            </a:r>
            <a:r>
              <a:rPr lang="en-US" altLang="zh-CN" sz="1700" dirty="0" err="1"/>
              <a:t>gluLookAt</a:t>
            </a:r>
            <a:endParaRPr lang="en-US" altLang="zh-CN" sz="1700" dirty="0"/>
          </a:p>
          <a:p>
            <a:r>
              <a:rPr lang="zh-CN" altLang="en-US" sz="2800" dirty="0"/>
              <a:t>投影变换</a:t>
            </a:r>
            <a:endParaRPr lang="en-US" altLang="zh-CN" sz="2800" dirty="0"/>
          </a:p>
          <a:p>
            <a:pPr lvl="1"/>
            <a:r>
              <a:rPr lang="zh-CN" altLang="en-US" sz="1900" dirty="0"/>
              <a:t>正交投影</a:t>
            </a:r>
            <a:endParaRPr lang="en-US" altLang="zh-CN" sz="1900" dirty="0"/>
          </a:p>
          <a:p>
            <a:pPr lvl="1"/>
            <a:r>
              <a:rPr lang="zh-CN" altLang="en-US" sz="1900" dirty="0"/>
              <a:t>透视投影</a:t>
            </a:r>
            <a:endParaRPr lang="en-US" altLang="zh-CN" sz="1900" dirty="0"/>
          </a:p>
          <a:p>
            <a:r>
              <a:rPr lang="zh-CN" altLang="en-US" sz="2400" dirty="0"/>
              <a:t>视口变换</a:t>
            </a:r>
            <a:endParaRPr lang="en-US" altLang="zh-CN" sz="2400" dirty="0"/>
          </a:p>
          <a:p>
            <a:pPr lvl="1"/>
            <a:endParaRPr lang="en-US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300" dirty="0"/>
                  <a:t>的模长：             </a:t>
                </a:r>
                <a14:m>
                  <m:oMath xmlns:m="http://schemas.openxmlformats.org/officeDocument/2006/math"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3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CN" sz="2300" dirty="0"/>
              </a:p>
              <a:p>
                <a:pPr lvl="1"/>
                <a:endParaRPr lang="en-US" altLang="zh-CN" sz="2300" dirty="0"/>
              </a:p>
              <a:p>
                <a:pPr lvl="1"/>
                <a:r>
                  <a:rPr lang="zh-CN" altLang="en-US" sz="2300" dirty="0"/>
                  <a:t>归一化：               </a:t>
                </a:r>
                <a:r>
                  <a:rPr lang="en-US" altLang="zh-CN" sz="23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3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altLang="zh-CN" sz="2300" b="1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CN" sz="23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向量点乘（点积）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sz="23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3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300" dirty="0"/>
              </a:p>
              <a:p>
                <a:pPr marL="381000" lvl="1" indent="0">
                  <a:buNone/>
                </a:pPr>
                <a:r>
                  <a:rPr lang="en-US" altLang="zh-CN" sz="2300" dirty="0"/>
                  <a:t>                      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altLang="zh-CN" sz="2300" dirty="0"/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2300" dirty="0"/>
                  <a:t>  </a:t>
                </a:r>
                <a:r>
                  <a:rPr lang="zh-CN" altLang="en-US" sz="2300" dirty="0"/>
                  <a:t>几何意义： 向量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3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300" dirty="0"/>
                  <a:t>方向上的投影</a:t>
                </a:r>
                <a:endParaRPr lang="en-US" altLang="zh-CN" sz="23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向量叉乘（叉积）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  <m:e>
                              <m: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300" i="1" dirty="0">
                  <a:latin typeface="Cambria Math" panose="02040503050406030204" pitchFamily="18" charset="0"/>
                </a:endParaRPr>
              </a:p>
              <a:p>
                <a:pPr marL="381000" lvl="1" indent="0">
                  <a:buNone/>
                </a:pPr>
                <a:r>
                  <a:rPr lang="en-US" altLang="zh-CN" sz="23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3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3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300" b="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300" b="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3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300" b="1" i="1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3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b="1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矩阵</a:t>
            </a:r>
            <a:endParaRPr lang="en-US" altLang="zh-CN" sz="2800" dirty="0"/>
          </a:p>
          <a:p>
            <a:pPr lvl="1"/>
            <a:r>
              <a:rPr lang="zh-CN" altLang="en-US" sz="1900" dirty="0"/>
              <a:t>矩阵与向量的乘法</a:t>
            </a:r>
            <a:endParaRPr lang="en-US" altLang="zh-CN" sz="1900" dirty="0"/>
          </a:p>
          <a:p>
            <a:pPr lvl="1"/>
            <a:r>
              <a:rPr lang="zh-CN" altLang="en-US" sz="1900" dirty="0"/>
              <a:t>投影观点</a:t>
            </a:r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r>
              <a:rPr lang="zh-CN" altLang="en-US" sz="1900" dirty="0"/>
              <a:t>加权观点</a:t>
            </a:r>
            <a:endParaRPr lang="en-US" altLang="zh-CN" sz="1900" dirty="0"/>
          </a:p>
          <a:p>
            <a:pPr lvl="1"/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2694745"/>
            <a:ext cx="2982572" cy="12751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618" y="4433511"/>
            <a:ext cx="3042935" cy="1465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矩阵</a:t>
                </a:r>
                <a:endParaRPr lang="en-US" altLang="zh-CN" sz="2800" dirty="0"/>
              </a:p>
              <a:p>
                <a:pPr lvl="1"/>
                <a:r>
                  <a:rPr lang="zh-CN" altLang="en-US" sz="1900" dirty="0"/>
                  <a:t>矩阵与矩阵的乘法</a:t>
                </a: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 smtClean="0">
                        <a:latin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en-US" altLang="zh-CN" sz="1900" b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900" b="1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altLang="zh-CN" sz="1900" b="1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marL="381000" lvl="1" indent="0">
                  <a:buNone/>
                </a:pP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altLang="zh-CN" sz="1900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900" b="1" dirty="0"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endParaRPr lang="en-US" altLang="zh-CN" sz="1900" b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900" b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 altLang="zh-CN" sz="1900" b="1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m:rPr>
                        <m:nor/>
                      </m:rPr>
                      <a:rPr lang="en-US" altLang="zh-CN" sz="19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9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BA</m:t>
                    </m:r>
                    <m:r>
                      <m:rPr>
                        <m:nor/>
                      </m:rPr>
                      <a:rPr lang="en-US" altLang="zh-CN" sz="19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zh-CN" altLang="en-US" sz="19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一般</m:t>
                    </m:r>
                  </m:oMath>
                </a14:m>
                <a:r>
                  <a:rPr lang="zh-CN" altLang="en-US" sz="1900" b="1" dirty="0">
                    <a:solidFill>
                      <a:srgbClr val="FF0000"/>
                    </a:solidFill>
                  </a:rPr>
                  <a:t>不成立</a:t>
                </a:r>
                <a:r>
                  <a:rPr lang="en-US" altLang="zh-CN" sz="1900" b="1" dirty="0">
                    <a:solidFill>
                      <a:srgbClr val="FF0000"/>
                    </a:solidFill>
                  </a:rPr>
                  <a:t>!)</a:t>
                </a:r>
                <a:endParaRPr lang="en-US" altLang="zh-CN" sz="1900" b="1" dirty="0">
                  <a:solidFill>
                    <a:srgbClr val="FF0000"/>
                  </a:solidFill>
                </a:endParaRPr>
              </a:p>
              <a:p>
                <a:pPr lvl="1"/>
                <a:endParaRPr lang="en-US" altLang="zh-CN" sz="1900" b="1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13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40" y="2819400"/>
            <a:ext cx="7620660" cy="1851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正交基的构建、正交矩阵</a:t>
                </a:r>
                <a:endParaRPr lang="en-US" altLang="zh-CN" sz="2800" dirty="0"/>
              </a:p>
              <a:p>
                <a:pPr lvl="1"/>
                <a:r>
                  <a:rPr lang="zh-CN" altLang="en-US" dirty="0"/>
                  <a:t>单位正交矩阵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正交：各向量点积为</a:t>
                </a:r>
                <a:r>
                  <a:rPr lang="en-US" altLang="zh-CN" dirty="0"/>
                  <a:t>0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单位：各向量模长为</a:t>
                </a:r>
                <a:r>
                  <a:rPr lang="en-US" altLang="zh-CN" dirty="0"/>
                  <a:t>1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给定三个不共面的向量，如何构建正交基？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叉乘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顶点变换的流程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34" y="1983084"/>
            <a:ext cx="7056732" cy="33835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顶点变换的流程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142" y="1553321"/>
            <a:ext cx="6107715" cy="51522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视图变换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设置相机位置、方位</a:t>
            </a:r>
            <a:endParaRPr lang="en-US" altLang="zh-CN" dirty="0"/>
          </a:p>
          <a:p>
            <a:r>
              <a:rPr lang="zh-CN" altLang="en-US" dirty="0"/>
              <a:t>属于模型视图矩阵</a:t>
            </a:r>
            <a:endParaRPr lang="en-US" altLang="zh-CN" dirty="0"/>
          </a:p>
          <a:p>
            <a:pPr lvl="1"/>
            <a:r>
              <a:rPr lang="en-US" altLang="zh-CN" dirty="0" err="1"/>
              <a:t>gluLookAt</a:t>
            </a:r>
            <a:r>
              <a:rPr lang="zh-CN" altLang="en-US" dirty="0"/>
              <a:t>设置相机的位置和方位</a:t>
            </a:r>
            <a:endParaRPr lang="en-US" altLang="zh-CN" dirty="0"/>
          </a:p>
          <a:p>
            <a:pPr lvl="1"/>
            <a:r>
              <a:rPr lang="zh-CN" altLang="en-US" dirty="0"/>
              <a:t>其实可以等价于反方向设置物体的位置和方位</a:t>
            </a:r>
            <a:endParaRPr lang="en-US" altLang="zh-CN" dirty="0"/>
          </a:p>
          <a:p>
            <a:pPr lvl="1"/>
            <a:r>
              <a:rPr lang="zh-CN" altLang="en-US" dirty="0"/>
              <a:t>因此：</a:t>
            </a:r>
            <a:r>
              <a:rPr lang="en-US" altLang="zh-CN" dirty="0" err="1"/>
              <a:t>gluLookAt</a:t>
            </a:r>
            <a:r>
              <a:rPr lang="zh-CN" altLang="en-US" dirty="0"/>
              <a:t>可以有</a:t>
            </a:r>
            <a:r>
              <a:rPr lang="en-US" altLang="zh-CN" dirty="0" err="1"/>
              <a:t>glRotate</a:t>
            </a:r>
            <a:r>
              <a:rPr lang="zh-CN" altLang="en-US" dirty="0"/>
              <a:t>和</a:t>
            </a:r>
            <a:r>
              <a:rPr lang="en-US" altLang="zh-CN" dirty="0" err="1"/>
              <a:t>glTranslate</a:t>
            </a:r>
            <a:r>
              <a:rPr lang="zh-CN" altLang="en-US" dirty="0"/>
              <a:t>等函数联合实现 </a:t>
            </a:r>
            <a:endParaRPr lang="en-US" altLang="zh-CN" dirty="0"/>
          </a:p>
          <a:p>
            <a:r>
              <a:rPr lang="zh-CN" altLang="en-US" dirty="0"/>
              <a:t>如何求</a:t>
            </a:r>
            <a:r>
              <a:rPr lang="en-US" altLang="zh-CN" dirty="0" err="1"/>
              <a:t>gluLookAt</a:t>
            </a:r>
            <a:r>
              <a:rPr lang="zh-CN" altLang="en-US" dirty="0"/>
              <a:t>所对应的变换矩阵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gluLookAt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相机变换（视点变换）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71800"/>
            <a:ext cx="2622640" cy="16079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160" y="2133600"/>
            <a:ext cx="4809400" cy="36995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模型视图变换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相机变换（视点变换）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438400"/>
            <a:ext cx="2622640" cy="16079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12" y="2026643"/>
            <a:ext cx="2354784" cy="2423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64" y="4564313"/>
            <a:ext cx="7574936" cy="15393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实例计算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30" y="1066800"/>
            <a:ext cx="3343275" cy="25687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044460"/>
            <a:ext cx="3314700" cy="24556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实例计算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30" y="1066800"/>
            <a:ext cx="3343275" cy="2568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695" y="1665355"/>
            <a:ext cx="5057775" cy="137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44460"/>
            <a:ext cx="3314700" cy="24556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656" y="4572000"/>
            <a:ext cx="5122645" cy="1297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注意相机标架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默认相机标架是与世界标架重合</a:t>
            </a:r>
            <a:endParaRPr lang="en-US" altLang="zh-CN" dirty="0"/>
          </a:p>
          <a:p>
            <a:r>
              <a:rPr lang="zh-CN" altLang="en-US" dirty="0"/>
              <a:t>但是相机是朝</a:t>
            </a:r>
            <a:r>
              <a:rPr lang="en-US" altLang="zh-CN" dirty="0"/>
              <a:t>z</a:t>
            </a:r>
            <a:r>
              <a:rPr lang="zh-CN" altLang="en-US" dirty="0"/>
              <a:t>负方向看的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2728844"/>
            <a:ext cx="4509589" cy="39767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 </a:t>
            </a:r>
            <a:r>
              <a:rPr lang="en-US" altLang="zh-CN" dirty="0" err="1"/>
              <a:t>vs</a:t>
            </a:r>
            <a:r>
              <a:rPr lang="en-US" altLang="zh-CN" dirty="0"/>
              <a:t> </a:t>
            </a:r>
            <a:r>
              <a:rPr lang="zh-CN" altLang="en-US" dirty="0"/>
              <a:t>平行投影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计算机图形学中把所有的投影用同样的方</a:t>
            </a:r>
            <a:br>
              <a:rPr lang="zh-CN" altLang="en-US" dirty="0"/>
            </a:br>
            <a:r>
              <a:rPr lang="zh-CN" altLang="en-US" dirty="0"/>
              <a:t>法处理，用一个流水线体系实现它们</a:t>
            </a:r>
            <a:endParaRPr lang="en-US" altLang="zh-CN" dirty="0"/>
          </a:p>
          <a:p>
            <a:r>
              <a:rPr lang="zh-CN" altLang="en-US" dirty="0"/>
              <a:t>在经典视图中为了绘制不同类型的投影，</a:t>
            </a:r>
            <a:br>
              <a:rPr lang="zh-CN" altLang="en-US" dirty="0"/>
            </a:br>
            <a:r>
              <a:rPr lang="zh-CN" altLang="en-US" dirty="0"/>
              <a:t>发展出来不同的技术</a:t>
            </a:r>
            <a:endParaRPr lang="en-US" altLang="zh-CN" dirty="0"/>
          </a:p>
          <a:p>
            <a:r>
              <a:rPr lang="zh-CN" altLang="en-US" dirty="0"/>
              <a:t>平行投影和透视投影有基本区别，虽然从</a:t>
            </a:r>
            <a:br>
              <a:rPr lang="zh-CN" altLang="en-US" dirty="0"/>
            </a:br>
            <a:r>
              <a:rPr lang="zh-CN" altLang="en-US" dirty="0"/>
              <a:t>数学上说，平行投影是透视投影的极限状</a:t>
            </a:r>
            <a:br>
              <a:rPr lang="zh-CN" altLang="en-US" dirty="0"/>
            </a:br>
            <a:r>
              <a:rPr lang="zh-CN" altLang="en-US" dirty="0"/>
              <a:t>态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1666735"/>
            <a:ext cx="6210300" cy="47759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平行投影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314" y="1628641"/>
            <a:ext cx="7096701" cy="49143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投影线垂直于投影平面</a:t>
            </a:r>
            <a:br>
              <a:rPr lang="zh-CN" altLang="en-US" dirty="0"/>
            </a:b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2133600"/>
            <a:ext cx="540836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多视点正交投影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投影平面平行于某个主视面</a:t>
            </a:r>
            <a:endParaRPr lang="en-US" altLang="zh-CN" sz="2400" dirty="0"/>
          </a:p>
          <a:p>
            <a:r>
              <a:rPr lang="zh-CN" altLang="en-US" sz="2400" dirty="0"/>
              <a:t>通常从前面、和侧面进行投影</a:t>
            </a:r>
            <a:endParaRPr lang="en-US" altLang="zh-CN" sz="2400" dirty="0"/>
          </a:p>
          <a:p>
            <a:pPr lvl="1"/>
            <a:r>
              <a:rPr lang="zh-CN" altLang="en-US" sz="1900" dirty="0"/>
              <a:t>三视图</a:t>
            </a:r>
            <a:endParaRPr lang="en-US" altLang="zh-CN" sz="1900" dirty="0"/>
          </a:p>
          <a:p>
            <a:pPr lvl="1"/>
            <a:r>
              <a:rPr lang="zh-CN" altLang="en-US" sz="1900" dirty="0"/>
              <a:t>正视图（主视图）</a:t>
            </a:r>
            <a:endParaRPr lang="en-US" altLang="zh-CN" sz="1900" dirty="0"/>
          </a:p>
          <a:p>
            <a:pPr lvl="1"/>
            <a:r>
              <a:rPr lang="zh-CN" altLang="en-US" sz="1900" dirty="0"/>
              <a:t>俯视图</a:t>
            </a:r>
            <a:endParaRPr lang="en-US" altLang="zh-CN" sz="1900" dirty="0"/>
          </a:p>
          <a:p>
            <a:pPr lvl="1"/>
            <a:r>
              <a:rPr lang="zh-CN" altLang="en-US" sz="1900" dirty="0"/>
              <a:t>侧视图（左视图）</a:t>
            </a:r>
            <a:br>
              <a:rPr lang="zh-CN" altLang="en-US" sz="1900" dirty="0"/>
            </a:br>
            <a:endParaRPr lang="en-US" altLang="zh-CN" sz="1900" dirty="0"/>
          </a:p>
          <a:p>
            <a:pPr lvl="1"/>
            <a:r>
              <a:rPr lang="zh-CN" altLang="en-US" sz="1900" dirty="0"/>
              <a:t>正等轴测图（不是</a:t>
            </a:r>
            <a:br>
              <a:rPr lang="zh-CN" altLang="en-US" sz="1900" dirty="0"/>
            </a:br>
            <a:r>
              <a:rPr lang="zh-CN" altLang="en-US" sz="1900" dirty="0"/>
              <a:t>多视图正交视图中</a:t>
            </a:r>
            <a:br>
              <a:rPr lang="zh-CN" altLang="en-US" sz="1900" dirty="0"/>
            </a:br>
            <a:r>
              <a:rPr lang="zh-CN" altLang="en-US" sz="1900" dirty="0"/>
              <a:t>的一部分）</a:t>
            </a:r>
            <a:br>
              <a:rPr lang="zh-CN" altLang="en-US" sz="1900" dirty="0"/>
            </a:br>
            <a:endParaRPr lang="en-US" altLang="zh-CN" sz="1900" dirty="0"/>
          </a:p>
          <a:p>
            <a:pPr lvl="1"/>
            <a:r>
              <a:rPr lang="zh-CN" altLang="en-US" sz="1900" dirty="0"/>
              <a:t>在</a:t>
            </a:r>
            <a:r>
              <a:rPr lang="en-US" altLang="zh-CN" sz="1900" dirty="0"/>
              <a:t>CAD</a:t>
            </a:r>
            <a:r>
              <a:rPr lang="zh-CN" altLang="en-US" sz="1900" dirty="0"/>
              <a:t>和建筑行业中，通常</a:t>
            </a:r>
            <a:br>
              <a:rPr lang="zh-CN" altLang="en-US" sz="1900" dirty="0"/>
            </a:br>
            <a:r>
              <a:rPr lang="zh-CN" altLang="en-US" sz="1900" dirty="0"/>
              <a:t>显示出来三个视图以及正等</a:t>
            </a:r>
            <a:br>
              <a:rPr lang="zh-CN" altLang="en-US" sz="1900" dirty="0"/>
            </a:br>
            <a:r>
              <a:rPr lang="zh-CN" altLang="en-US" sz="1900" dirty="0"/>
              <a:t>轴测图</a:t>
            </a:r>
            <a:br>
              <a:rPr lang="zh-CN" altLang="en-US" sz="1900" dirty="0"/>
            </a:br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8218" y="2476500"/>
            <a:ext cx="4191000" cy="1733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848" y="4438650"/>
            <a:ext cx="4429125" cy="192405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 bwMode="auto">
          <a:xfrm flipV="1">
            <a:off x="3505200" y="3533776"/>
            <a:ext cx="1219200" cy="6762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机器零件的三视图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1638300"/>
            <a:ext cx="60960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优缺点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保持了距离与角度</a:t>
            </a:r>
            <a:endParaRPr lang="en-US" altLang="zh-CN" dirty="0"/>
          </a:p>
          <a:p>
            <a:pPr lvl="1"/>
            <a:r>
              <a:rPr lang="zh-CN" altLang="en-US" dirty="0"/>
              <a:t>保持形状</a:t>
            </a:r>
            <a:endParaRPr lang="en-US" altLang="zh-CN" dirty="0"/>
          </a:p>
          <a:p>
            <a:pPr lvl="1"/>
            <a:r>
              <a:rPr lang="zh-CN" altLang="en-US" dirty="0"/>
              <a:t>可以用来测量</a:t>
            </a:r>
            <a:endParaRPr lang="en-US" altLang="zh-CN" dirty="0"/>
          </a:p>
          <a:p>
            <a:pPr lvl="2"/>
            <a:r>
              <a:rPr lang="zh-CN" altLang="en-US" dirty="0"/>
              <a:t>建筑设计图</a:t>
            </a:r>
            <a:endParaRPr lang="en-US" altLang="zh-CN" dirty="0"/>
          </a:p>
          <a:p>
            <a:pPr lvl="2"/>
            <a:r>
              <a:rPr lang="zh-CN" altLang="en-US" dirty="0"/>
              <a:t>手册</a:t>
            </a:r>
            <a:endParaRPr lang="en-US" altLang="zh-CN" dirty="0"/>
          </a:p>
          <a:p>
            <a:r>
              <a:rPr lang="zh-CN" altLang="en-US" dirty="0"/>
              <a:t>看不到对象真正的全局形状，因为许多面在视点中不可见</a:t>
            </a:r>
            <a:endParaRPr lang="en-US" altLang="zh-CN" dirty="0"/>
          </a:p>
          <a:p>
            <a:pPr marL="381000" lvl="1" indent="0">
              <a:buNone/>
            </a:pP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投影线会聚于投影中心</a:t>
            </a:r>
            <a:r>
              <a:rPr lang="en-US" altLang="zh-CN" dirty="0"/>
              <a:t>(COP)</a:t>
            </a:r>
            <a:r>
              <a:rPr lang="zh-CN" altLang="en-US" dirty="0"/>
              <a:t>：尺寸缩小</a:t>
            </a:r>
            <a:endParaRPr lang="en-US" altLang="zh-CN" dirty="0"/>
          </a:p>
          <a:p>
            <a:r>
              <a:rPr lang="zh-CN" altLang="en-US" dirty="0"/>
              <a:t>经典视图中，观察者相对于投影平面对称</a:t>
            </a:r>
            <a:br>
              <a:rPr lang="zh-CN" altLang="en-US" dirty="0"/>
            </a:br>
            <a:r>
              <a:rPr lang="en-US" altLang="zh-CN" dirty="0"/>
              <a:t>– </a:t>
            </a:r>
            <a:r>
              <a:rPr lang="zh-CN" altLang="en-US" dirty="0"/>
              <a:t>投影中心和投影窗口确定一个对称的正棱锥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3250303"/>
            <a:ext cx="4229100" cy="34552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灭点 （</a:t>
            </a:r>
            <a:r>
              <a:rPr lang="en-US" altLang="zh-CN" dirty="0"/>
              <a:t>vanishing point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对象上（不平行于投影面）的平行线在投</a:t>
            </a:r>
            <a:br>
              <a:rPr lang="zh-CN" altLang="en-US" dirty="0"/>
            </a:br>
            <a:r>
              <a:rPr lang="zh-CN" altLang="en-US" dirty="0"/>
              <a:t>影后交于一个灭点</a:t>
            </a:r>
            <a:r>
              <a:rPr lang="en-US" altLang="zh-CN" dirty="0"/>
              <a:t>(vanishing point)</a:t>
            </a:r>
            <a:endParaRPr lang="en-US" altLang="zh-CN" dirty="0"/>
          </a:p>
          <a:p>
            <a:r>
              <a:rPr lang="zh-CN" altLang="en-US" dirty="0"/>
              <a:t>手工绘制简单透视投影时要利用这些灭点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14700"/>
            <a:ext cx="694372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94" y="2190777"/>
            <a:ext cx="8405812" cy="33908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三点透视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立方体的投影中有三个灭点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75" y="2452372"/>
            <a:ext cx="6677025" cy="34150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两点透视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立方体的投影中有两个灭点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59" y="2362200"/>
            <a:ext cx="7437013" cy="36305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单点透视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立方体的投影中有一个灭点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590800"/>
            <a:ext cx="6419850" cy="2790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109" y="2500950"/>
            <a:ext cx="1998973" cy="2119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优缺点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同样大小的对象，离视点越远，投影结果就越小</a:t>
            </a:r>
            <a:r>
              <a:rPr lang="en-US" altLang="zh-CN" sz="2800" dirty="0"/>
              <a:t>(</a:t>
            </a:r>
            <a:r>
              <a:rPr lang="en-US" altLang="zh-CN" sz="2800" dirty="0" err="1"/>
              <a:t>diminuition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/>
            <a:r>
              <a:rPr lang="zh-CN" altLang="en-US" sz="2400" dirty="0"/>
              <a:t>看起来更自然</a:t>
            </a:r>
            <a:endParaRPr lang="en-US" altLang="zh-CN" sz="2400" dirty="0"/>
          </a:p>
          <a:p>
            <a:r>
              <a:rPr lang="zh-CN" altLang="en-US" sz="2800" dirty="0"/>
              <a:t>直线上等距的几点投影后不一定等距</a:t>
            </a:r>
            <a:r>
              <a:rPr lang="en-US" altLang="zh-CN" sz="2800" dirty="0"/>
              <a:t>—</a:t>
            </a:r>
            <a:r>
              <a:rPr lang="zh-CN" altLang="en-US" sz="2800" dirty="0"/>
              <a:t>非均匀缩短</a:t>
            </a:r>
            <a:r>
              <a:rPr lang="en-US" altLang="zh-CN" sz="2800" dirty="0"/>
              <a:t>(</a:t>
            </a:r>
            <a:r>
              <a:rPr lang="en-US" altLang="zh-CN" sz="2800" dirty="0" err="1"/>
              <a:t>nonuniform</a:t>
            </a:r>
            <a:r>
              <a:rPr lang="en-US" altLang="zh-CN" sz="2800" dirty="0"/>
              <a:t> foreshortening)</a:t>
            </a:r>
            <a:endParaRPr lang="en-US" altLang="zh-CN" sz="2800" dirty="0"/>
          </a:p>
          <a:p>
            <a:pPr lvl="1"/>
            <a:r>
              <a:rPr lang="zh-CN" altLang="en-US" sz="2400" dirty="0"/>
              <a:t>借助透视投影图测量尺寸较平行投影困难</a:t>
            </a:r>
            <a:endParaRPr lang="en-US" altLang="zh-CN" sz="2400" dirty="0"/>
          </a:p>
          <a:p>
            <a:r>
              <a:rPr lang="zh-CN" altLang="en-US" sz="2800" dirty="0"/>
              <a:t>只有在平行于投影面的平面上角度被保持</a:t>
            </a:r>
            <a:endParaRPr lang="en-US" altLang="zh-CN" sz="2800" dirty="0"/>
          </a:p>
          <a:p>
            <a:r>
              <a:rPr lang="zh-CN" altLang="en-US" sz="2800" dirty="0"/>
              <a:t>相对于平行投影而言，更难用手工进行绘制（但对计算机而言，没有增加更多的困难）</a:t>
            </a:r>
            <a:endParaRPr lang="en-US" altLang="zh-CN" sz="2800" dirty="0"/>
          </a:p>
          <a:p>
            <a:r>
              <a:rPr lang="zh-CN" altLang="en-US" sz="2800" dirty="0"/>
              <a:t>主要应用在动画等真实感图形领域</a:t>
            </a:r>
            <a:br>
              <a:rPr lang="zh-CN" altLang="en-US" sz="2800" dirty="0"/>
            </a:br>
            <a:endParaRPr 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glMatrixMode</a:t>
            </a:r>
            <a:r>
              <a:rPr lang="en-US" sz="2400" dirty="0"/>
              <a:t>(GL_PROJECTION)</a:t>
            </a:r>
            <a:endParaRPr lang="en-US" sz="2400" dirty="0"/>
          </a:p>
          <a:p>
            <a:r>
              <a:rPr lang="en-US" sz="2400" dirty="0"/>
              <a:t>void </a:t>
            </a:r>
            <a:r>
              <a:rPr lang="en-US" sz="2400" b="1" dirty="0" err="1"/>
              <a:t>glOrtho</a:t>
            </a:r>
            <a:r>
              <a:rPr lang="en-US" sz="2400" dirty="0"/>
              <a:t>(</a:t>
            </a:r>
            <a:r>
              <a:rPr lang="en-US" sz="2400" dirty="0" err="1"/>
              <a:t>GLdouble</a:t>
            </a:r>
            <a:r>
              <a:rPr lang="en-US" sz="2400" dirty="0"/>
              <a:t> left, </a:t>
            </a:r>
            <a:r>
              <a:rPr lang="en-US" sz="2400" dirty="0" err="1"/>
              <a:t>GLdouble</a:t>
            </a:r>
            <a:r>
              <a:rPr lang="en-US" sz="2400" dirty="0"/>
              <a:t> right, </a:t>
            </a:r>
            <a:r>
              <a:rPr lang="en-US" sz="2400" dirty="0" err="1"/>
              <a:t>Gldouble</a:t>
            </a:r>
            <a:r>
              <a:rPr lang="en-US" sz="2400" dirty="0"/>
              <a:t> bottom, </a:t>
            </a:r>
            <a:r>
              <a:rPr lang="en-US" sz="2400" dirty="0" err="1"/>
              <a:t>GLdouble</a:t>
            </a:r>
            <a:r>
              <a:rPr lang="en-US" sz="2400" dirty="0"/>
              <a:t> top, </a:t>
            </a:r>
            <a:r>
              <a:rPr lang="en-US" sz="2400" dirty="0" err="1"/>
              <a:t>GLdouble</a:t>
            </a:r>
            <a:r>
              <a:rPr lang="en-US" sz="2400" dirty="0"/>
              <a:t> near, </a:t>
            </a:r>
            <a:r>
              <a:rPr lang="en-US" sz="2400" dirty="0" err="1"/>
              <a:t>GLdouble</a:t>
            </a:r>
            <a:r>
              <a:rPr lang="en-US" sz="2400" dirty="0"/>
              <a:t> far);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zh-CN" altLang="en-US" sz="2400" dirty="0"/>
              <a:t>视景体是与坐标轴平行的长方体</a:t>
            </a:r>
            <a:br>
              <a:rPr lang="zh-CN" altLang="en-US" sz="2400" dirty="0"/>
            </a:br>
            <a:r>
              <a:rPr lang="en-US" altLang="zh-CN" sz="2400" dirty="0"/>
              <a:t>– </a:t>
            </a:r>
            <a:r>
              <a:rPr lang="en-US" sz="2400" dirty="0"/>
              <a:t>near</a:t>
            </a:r>
            <a:r>
              <a:rPr lang="zh-CN" altLang="en-US" sz="2400" dirty="0"/>
              <a:t>和</a:t>
            </a:r>
            <a:r>
              <a:rPr lang="en-US" sz="2400" dirty="0"/>
              <a:t>far</a:t>
            </a:r>
            <a:r>
              <a:rPr lang="zh-CN" altLang="en-US" sz="2400" dirty="0"/>
              <a:t>可取正值、零或负值，但</a:t>
            </a:r>
            <a:r>
              <a:rPr lang="en-US" sz="2400" dirty="0"/>
              <a:t>near</a:t>
            </a:r>
            <a:r>
              <a:rPr lang="zh-CN" altLang="en-US" sz="2400" dirty="0"/>
              <a:t>和</a:t>
            </a:r>
            <a:r>
              <a:rPr lang="en-US" sz="2400" dirty="0"/>
              <a:t>far</a:t>
            </a:r>
            <a:r>
              <a:rPr lang="zh-CN" altLang="en-US" sz="2400" dirty="0"/>
              <a:t>不应相同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600450"/>
            <a:ext cx="5819775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规范视景体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OpenGL</a:t>
            </a:r>
            <a:r>
              <a:rPr lang="zh-CN" altLang="en-US" sz="2800" dirty="0"/>
              <a:t>缺省的视景体是中心在原点，边长为</a:t>
            </a:r>
            <a:r>
              <a:rPr lang="en-US" altLang="zh-CN" sz="2800" dirty="0"/>
              <a:t>2</a:t>
            </a:r>
            <a:r>
              <a:rPr lang="zh-CN" altLang="en-US" sz="2800" dirty="0"/>
              <a:t>的立方体，相当于调用</a:t>
            </a:r>
            <a:br>
              <a:rPr lang="zh-CN" altLang="en-US" sz="2800" dirty="0"/>
            </a:br>
            <a:r>
              <a:rPr lang="en-US" sz="2800" b="1" dirty="0" err="1"/>
              <a:t>glMatrixMode</a:t>
            </a:r>
            <a:r>
              <a:rPr lang="en-US" sz="2800" b="1" dirty="0"/>
              <a:t>(GL_PROJECTION);</a:t>
            </a:r>
            <a:br>
              <a:rPr lang="en-US" sz="2800" dirty="0"/>
            </a:br>
            <a:r>
              <a:rPr lang="en-US" sz="2800" b="1" dirty="0" err="1"/>
              <a:t>glLoadIdentity</a:t>
            </a:r>
            <a:r>
              <a:rPr lang="en-US" sz="2800" b="1" dirty="0"/>
              <a:t>();</a:t>
            </a:r>
            <a:br>
              <a:rPr lang="en-US" sz="2800" dirty="0"/>
            </a:br>
            <a:r>
              <a:rPr lang="en-US" sz="2800" b="1" dirty="0" err="1"/>
              <a:t>glOrtho</a:t>
            </a:r>
            <a:r>
              <a:rPr lang="en-US" sz="2800" b="1" dirty="0"/>
              <a:t>(-1.0, 1.0, -1.0, 1.0, -1.0, 1.0);</a:t>
            </a:r>
            <a:br>
              <a:rPr lang="en-US" sz="2800" dirty="0"/>
            </a:br>
            <a:r>
              <a:rPr lang="zh-CN" altLang="en-US" sz="2800" dirty="0"/>
              <a:t>称这个视景体为规范视景体（</a:t>
            </a:r>
            <a:r>
              <a:rPr lang="en-US" sz="2800" dirty="0"/>
              <a:t>canonical view volume）</a:t>
            </a:r>
            <a:endParaRPr lang="en-US" sz="2800" dirty="0"/>
          </a:p>
          <a:p>
            <a:r>
              <a:rPr lang="zh-CN" altLang="en-US" sz="2800" dirty="0"/>
              <a:t>采用规范视景体的优点：</a:t>
            </a:r>
            <a:endParaRPr lang="en-US" altLang="zh-CN" sz="2800" dirty="0"/>
          </a:p>
          <a:p>
            <a:pPr lvl="1"/>
            <a:r>
              <a:rPr lang="zh-CN" altLang="en-US" sz="2400" dirty="0"/>
              <a:t>同一流水线支持平行投影和透视投影</a:t>
            </a:r>
            <a:endParaRPr lang="en-US" altLang="zh-CN" sz="2400" dirty="0"/>
          </a:p>
          <a:p>
            <a:pPr lvl="1"/>
            <a:r>
              <a:rPr lang="zh-CN" altLang="en-US" sz="2400" dirty="0"/>
              <a:t>简化了裁剪过程</a:t>
            </a:r>
            <a:br>
              <a:rPr lang="zh-CN" altLang="en-US" sz="2400" dirty="0"/>
            </a:br>
            <a:endParaRPr 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正交规范化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规范化 </a:t>
            </a:r>
            <a:r>
              <a:rPr lang="en-US" altLang="zh-CN" dirty="0"/>
              <a:t>-&gt;</a:t>
            </a:r>
            <a:r>
              <a:rPr lang="zh-CN" altLang="en-US" dirty="0"/>
              <a:t> 求出把指定裁剪体转化为默认裁</a:t>
            </a:r>
            <a:br>
              <a:rPr lang="zh-CN" altLang="en-US" dirty="0"/>
            </a:br>
            <a:r>
              <a:rPr lang="zh-CN" altLang="en-US" dirty="0"/>
              <a:t>剪体的变换</a:t>
            </a:r>
            <a:br>
              <a:rPr lang="zh-CN" altLang="en-US" dirty="0"/>
            </a:br>
            <a:r>
              <a:rPr lang="en-US" dirty="0" err="1"/>
              <a:t>glOrtho</a:t>
            </a:r>
            <a:r>
              <a:rPr lang="en-US" dirty="0"/>
              <a:t>(left, right, bottom, top, near, far)</a:t>
            </a:r>
            <a:endParaRPr lang="en-US" dirty="0"/>
          </a:p>
          <a:p>
            <a:r>
              <a:rPr lang="zh-CN" altLang="en-US" dirty="0"/>
              <a:t>作用：把视景体内的坐标规范化到</a:t>
            </a:r>
            <a:r>
              <a:rPr lang="en-US" altLang="zh-CN" dirty="0"/>
              <a:t>-1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之间</a:t>
            </a:r>
            <a:br>
              <a:rPr 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3783087"/>
            <a:ext cx="5242955" cy="27091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正交规范化矩阵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587" y="1704975"/>
            <a:ext cx="660082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正交投影矩阵公式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8033" y="1657630"/>
            <a:ext cx="5547933" cy="19814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286000" y="5015703"/>
                <a:ext cx="1143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𝑜𝑟𝑡ℎ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015703"/>
                <a:ext cx="1143903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128" r="-408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236356"/>
            <a:ext cx="2994920" cy="19280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19600" y="3400275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lt"/>
                <a:ea typeface="+mj-ea"/>
              </a:rPr>
              <a:t>注意：这里</a:t>
            </a:r>
            <a:r>
              <a:rPr lang="en-US" altLang="zh-CN" dirty="0">
                <a:latin typeface="+mj-lt"/>
                <a:ea typeface="+mj-ea"/>
              </a:rPr>
              <a:t>n</a:t>
            </a:r>
            <a:r>
              <a:rPr lang="zh-CN" altLang="en-US" dirty="0">
                <a:latin typeface="+mj-lt"/>
                <a:ea typeface="+mj-ea"/>
              </a:rPr>
              <a:t>和</a:t>
            </a:r>
            <a:r>
              <a:rPr lang="en-US" altLang="zh-CN" dirty="0">
                <a:latin typeface="+mj-lt"/>
                <a:ea typeface="+mj-ea"/>
              </a:rPr>
              <a:t>f</a:t>
            </a:r>
            <a:r>
              <a:rPr lang="zh-CN" altLang="en-US" dirty="0">
                <a:latin typeface="+mj-lt"/>
                <a:ea typeface="+mj-ea"/>
              </a:rPr>
              <a:t>取的是绝对值</a:t>
            </a:r>
            <a:endParaRPr lang="zh-CN" altLang="en-US" dirty="0"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en-US" altLang="zh-CN" dirty="0"/>
              <a:t>z</a:t>
            </a:r>
            <a:r>
              <a:rPr lang="zh-CN" altLang="en-US" dirty="0"/>
              <a:t>的作用？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666" y="2063066"/>
            <a:ext cx="4792267" cy="27318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34" y="4953000"/>
            <a:ext cx="1524132" cy="10973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如何将下面的式子写成矩阵乘法的形式？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733801" y="2421144"/>
                <a:ext cx="1179747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1" y="2421144"/>
                <a:ext cx="1179747" cy="698846"/>
              </a:xfrm>
              <a:prstGeom prst="rect">
                <a:avLst/>
              </a:prstGeom>
              <a:blipFill rotWithShape="1">
                <a:blip r:embed="rId1"/>
                <a:stretch>
                  <a:fillRect t="-75" r="-280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733800" y="3429000"/>
                <a:ext cx="1179747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3429000"/>
                <a:ext cx="1179747" cy="698846"/>
              </a:xfrm>
              <a:prstGeom prst="rect">
                <a:avLst/>
              </a:prstGeom>
              <a:blipFill rotWithShape="1">
                <a:blip r:embed="rId2"/>
                <a:stretch>
                  <a:fillRect r="-280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834960" y="4723897"/>
                <a:ext cx="3321679" cy="1220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960" y="4723897"/>
                <a:ext cx="3321679" cy="1220206"/>
              </a:xfrm>
              <a:prstGeom prst="rect">
                <a:avLst/>
              </a:prstGeom>
              <a:blipFill rotWithShape="1">
                <a:blip r:embed="rId3"/>
                <a:stretch>
                  <a:fillRect l="-10" t="-11" r="-83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glFrustum</a:t>
            </a:r>
            <a:r>
              <a:rPr lang="zh-CN" altLang="en-US" dirty="0"/>
              <a:t>可以定义非对称视景体，而</a:t>
            </a:r>
            <a:br>
              <a:rPr lang="zh-CN" altLang="en-US" dirty="0"/>
            </a:br>
            <a:r>
              <a:rPr lang="en-US" dirty="0" err="1"/>
              <a:t>gluPerspective</a:t>
            </a:r>
            <a:r>
              <a:rPr lang="zh-CN" altLang="en-US" dirty="0"/>
              <a:t>只能定义对称视景体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971800"/>
            <a:ext cx="6705600" cy="297795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透视变换转成正交变换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18524"/>
            <a:ext cx="4175392" cy="386919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04115" y="1734797"/>
            <a:ext cx="14366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z=-n -&gt; -n</a:t>
            </a:r>
            <a:endParaRPr lang="en-US" altLang="zh-CN" dirty="0"/>
          </a:p>
          <a:p>
            <a:r>
              <a:rPr lang="en-US" altLang="zh-CN" dirty="0"/>
              <a:t>z=-f -&gt; -f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134784" y="3119222"/>
                <a:ext cx="3575274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     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𝑓𝑛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784" y="3119222"/>
                <a:ext cx="3575274" cy="1133900"/>
              </a:xfrm>
              <a:prstGeom prst="rect">
                <a:avLst/>
              </a:prstGeom>
              <a:blipFill rotWithShape="1">
                <a:blip r:embed="rId2"/>
                <a:stretch>
                  <a:fillRect l="-5" t="-9" r="-7839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946592" y="4744569"/>
                <a:ext cx="3951658" cy="1443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𝑓𝑛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𝑛𝑥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𝑛𝑦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𝑓𝑛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592" y="4744569"/>
                <a:ext cx="3951658" cy="1443152"/>
              </a:xfrm>
              <a:prstGeom prst="rect">
                <a:avLst/>
              </a:prstGeom>
              <a:blipFill rotWithShape="1">
                <a:blip r:embed="rId3"/>
                <a:stretch>
                  <a:fillRect l="-15" t="-34" r="1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透视投影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透视变换的投影矩阵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2174371"/>
            <a:ext cx="3554906" cy="8470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53" y="3086274"/>
            <a:ext cx="3812148" cy="21919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547981" y="3820169"/>
            <a:ext cx="44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=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glFrust</a:t>
            </a:r>
            <a:r>
              <a:rPr lang="en-US" altLang="zh-CN" dirty="0" err="1"/>
              <a:t>u</a:t>
            </a:r>
            <a:r>
              <a:rPr lang="en-US" dirty="0" err="1"/>
              <a:t>m</a:t>
            </a:r>
            <a:r>
              <a:rPr lang="zh-CN" altLang="en-US" dirty="0"/>
              <a:t>对应的矩阵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540" y="2397918"/>
            <a:ext cx="8396919" cy="297656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视口变换</a:t>
            </a:r>
            <a:r>
              <a:rPr lang="en-US" altLang="zh-CN" dirty="0" err="1"/>
              <a:t>glViewport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glViewport</a:t>
            </a:r>
            <a:r>
              <a:rPr lang="en-US" dirty="0"/>
              <a:t>(Ox, </a:t>
            </a:r>
            <a:r>
              <a:rPr lang="en-US" dirty="0" err="1"/>
              <a:t>Oy</a:t>
            </a:r>
            <a:r>
              <a:rPr lang="en-US" dirty="0"/>
              <a:t>, width, height)</a:t>
            </a:r>
            <a:endParaRPr lang="en-US" dirty="0"/>
          </a:p>
          <a:p>
            <a:pPr lvl="1"/>
            <a:r>
              <a:rPr lang="zh-CN" altLang="en-US" dirty="0"/>
              <a:t>把规范化视景体中的内容“填入”指定的范围内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规范化视景体坐标</a:t>
            </a:r>
            <a:r>
              <a:rPr lang="en-US" altLang="zh-CN" dirty="0"/>
              <a:t>(</a:t>
            </a:r>
            <a:r>
              <a:rPr lang="en-US" altLang="zh-CN" dirty="0" err="1"/>
              <a:t>x,y,z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en-US" altLang="zh-CN" dirty="0" err="1"/>
              <a:t>WinX</a:t>
            </a:r>
            <a:r>
              <a:rPr lang="en-US" altLang="zh-CN" dirty="0"/>
              <a:t> = Ox + (x+1)/2*width</a:t>
            </a:r>
            <a:endParaRPr lang="en-US" altLang="zh-CN" dirty="0"/>
          </a:p>
          <a:p>
            <a:pPr lvl="1"/>
            <a:r>
              <a:rPr lang="en-US" altLang="zh-CN" dirty="0" err="1"/>
              <a:t>WinY</a:t>
            </a:r>
            <a:r>
              <a:rPr lang="en-US" altLang="zh-CN" dirty="0"/>
              <a:t> = </a:t>
            </a:r>
            <a:r>
              <a:rPr lang="en-US" altLang="zh-CN" dirty="0" err="1"/>
              <a:t>Oy</a:t>
            </a:r>
            <a:r>
              <a:rPr lang="en-US" altLang="zh-CN" dirty="0"/>
              <a:t> + (y+1)/2*height</a:t>
            </a:r>
            <a:endParaRPr lang="en-US" altLang="zh-CN" dirty="0"/>
          </a:p>
          <a:p>
            <a:pPr lvl="1"/>
            <a:r>
              <a:rPr lang="en-US" altLang="zh-CN" dirty="0" err="1"/>
              <a:t>WinZ</a:t>
            </a:r>
            <a:r>
              <a:rPr lang="en-US" altLang="zh-CN" dirty="0"/>
              <a:t> = (z+1)/2 (</a:t>
            </a:r>
            <a:r>
              <a:rPr lang="zh-CN" altLang="en-US" dirty="0"/>
              <a:t>规范化到</a:t>
            </a:r>
            <a:r>
              <a:rPr lang="en-US" altLang="zh-CN" dirty="0"/>
              <a:t>[0,1]</a:t>
            </a:r>
            <a:r>
              <a:rPr lang="zh-CN" altLang="en-US" dirty="0"/>
              <a:t>之间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写成矩阵形式？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注意：这里的</a:t>
            </a:r>
            <a:r>
              <a:rPr lang="en-US" altLang="zh-CN" dirty="0" err="1"/>
              <a:t>WinY</a:t>
            </a:r>
            <a:r>
              <a:rPr lang="zh-CN" altLang="en-US" dirty="0"/>
              <a:t>坐标和窗口系统的坐标（例如鼠标获取）朝向是反的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gluProject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学会此函数的用法</a:t>
            </a:r>
            <a:endParaRPr lang="en-US" altLang="zh-CN" dirty="0"/>
          </a:p>
          <a:p>
            <a:r>
              <a:rPr lang="zh-CN" altLang="en-US" dirty="0"/>
              <a:t>要求自行实现顶点变换的结果应与此</a:t>
            </a:r>
            <a:r>
              <a:rPr lang="zh-CN" altLang="en-US"/>
              <a:t>函数结果一致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0</TotalTime>
  <Words>3086</Words>
  <Application>WPS 演示</Application>
  <PresentationFormat>全屏显示(4:3)</PresentationFormat>
  <Paragraphs>359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Arial</vt:lpstr>
      <vt:lpstr>宋体</vt:lpstr>
      <vt:lpstr>Wingdings</vt:lpstr>
      <vt:lpstr>Times New Roman</vt:lpstr>
      <vt:lpstr>MS PGothic</vt:lpstr>
      <vt:lpstr>楷体_GB2312</vt:lpstr>
      <vt:lpstr>新宋体</vt:lpstr>
      <vt:lpstr>楷体</vt:lpstr>
      <vt:lpstr>Cambria Math</vt:lpstr>
      <vt:lpstr>微软雅黑</vt:lpstr>
      <vt:lpstr>Arial Unicode MS</vt:lpstr>
      <vt:lpstr>AngelICG02</vt:lpstr>
      <vt:lpstr>Photoshop.Image.13</vt:lpstr>
      <vt:lpstr>Photoshop.Image.13</vt:lpstr>
      <vt:lpstr>Introduction to  Computer Graphics</vt:lpstr>
      <vt:lpstr>本节内容</vt:lpstr>
      <vt:lpstr>向量</vt:lpstr>
      <vt:lpstr>向量</vt:lpstr>
      <vt:lpstr>向量</vt:lpstr>
      <vt:lpstr>矩阵</vt:lpstr>
      <vt:lpstr>矩阵</vt:lpstr>
      <vt:lpstr>矩阵</vt:lpstr>
      <vt:lpstr>顶点变换的流程</vt:lpstr>
      <vt:lpstr>顶点变换的流程</vt:lpstr>
      <vt:lpstr>视图变换</vt:lpstr>
      <vt:lpstr>gluLookAt</vt:lpstr>
      <vt:lpstr>模型视图变换</vt:lpstr>
      <vt:lpstr>实例计算</vt:lpstr>
      <vt:lpstr>实例计算</vt:lpstr>
      <vt:lpstr>注意相机标架</vt:lpstr>
      <vt:lpstr>透视投影 vs 平行投影</vt:lpstr>
      <vt:lpstr>透视投影</vt:lpstr>
      <vt:lpstr>平行投影</vt:lpstr>
      <vt:lpstr>正交投影</vt:lpstr>
      <vt:lpstr>多视点正交投影</vt:lpstr>
      <vt:lpstr>机器零件的三视图</vt:lpstr>
      <vt:lpstr>优缺点</vt:lpstr>
      <vt:lpstr>透视投影</vt:lpstr>
      <vt:lpstr>灭点 （vanishing point）</vt:lpstr>
      <vt:lpstr>示例</vt:lpstr>
      <vt:lpstr>三点透视</vt:lpstr>
      <vt:lpstr>两点透视</vt:lpstr>
      <vt:lpstr>单点透视</vt:lpstr>
      <vt:lpstr>优缺点</vt:lpstr>
      <vt:lpstr>正交投影</vt:lpstr>
      <vt:lpstr>规范视景体</vt:lpstr>
      <vt:lpstr>正交规范化</vt:lpstr>
      <vt:lpstr>正交规范化矩阵</vt:lpstr>
      <vt:lpstr>正交投影矩阵公式</vt:lpstr>
      <vt:lpstr>透视变换</vt:lpstr>
      <vt:lpstr>透视变换</vt:lpstr>
      <vt:lpstr>透视投影</vt:lpstr>
      <vt:lpstr>透视投影</vt:lpstr>
      <vt:lpstr>透视投影</vt:lpstr>
      <vt:lpstr>glFrustum对应的矩阵</vt:lpstr>
      <vt:lpstr>视口变换glViewport</vt:lpstr>
      <vt:lpstr>gluProject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ming</cp:lastModifiedBy>
  <cp:revision>201</cp:revision>
  <dcterms:created xsi:type="dcterms:W3CDTF">2011-07-24T21:10:00Z</dcterms:created>
  <dcterms:modified xsi:type="dcterms:W3CDTF">2026-04-23T00:28:30Z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6179627BEBA2438BB6DE81BC9C5BFDCF_12</vt:lpwstr>
  </property>
  <property fmtid="{D5CDD505-2E9C-101B-9397-08002B2CF9AE}" pid="3" name="KSOProductBuildVer">
    <vt:lpwstr>2052-12.1.0.25865</vt:lpwstr>
  </property>
</Properties>
</file>