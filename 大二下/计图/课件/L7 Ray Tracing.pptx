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33"/>
  </p:handoutMasterIdLst>
  <p:sldIdLst>
    <p:sldId id="256" r:id="rId3"/>
    <p:sldId id="573" r:id="rId4"/>
    <p:sldId id="735" r:id="rId6"/>
    <p:sldId id="734" r:id="rId7"/>
    <p:sldId id="761" r:id="rId8"/>
    <p:sldId id="759" r:id="rId9"/>
    <p:sldId id="733" r:id="rId10"/>
    <p:sldId id="760" r:id="rId11"/>
    <p:sldId id="736" r:id="rId12"/>
    <p:sldId id="757" r:id="rId13"/>
    <p:sldId id="737" r:id="rId14"/>
    <p:sldId id="739" r:id="rId15"/>
    <p:sldId id="740" r:id="rId16"/>
    <p:sldId id="758" r:id="rId17"/>
    <p:sldId id="742" r:id="rId18"/>
    <p:sldId id="743" r:id="rId19"/>
    <p:sldId id="749" r:id="rId20"/>
    <p:sldId id="750" r:id="rId21"/>
    <p:sldId id="744" r:id="rId22"/>
    <p:sldId id="751" r:id="rId23"/>
    <p:sldId id="752" r:id="rId24"/>
    <p:sldId id="753" r:id="rId25"/>
    <p:sldId id="754" r:id="rId26"/>
    <p:sldId id="755" r:id="rId27"/>
    <p:sldId id="745" r:id="rId28"/>
    <p:sldId id="747" r:id="rId29"/>
    <p:sldId id="748" r:id="rId30"/>
    <p:sldId id="746" r:id="rId31"/>
    <p:sldId id="756" r:id="rId32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82074" autoAdjust="0"/>
  </p:normalViewPr>
  <p:slideViewPr>
    <p:cSldViewPr showGuides="1">
      <p:cViewPr>
        <p:scale>
          <a:sx n="70" d="100"/>
          <a:sy n="70" d="100"/>
        </p:scale>
        <p:origin x="1766" y="62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7" Type="http://schemas.openxmlformats.org/officeDocument/2006/relationships/tags" Target="tags/tag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</a:t>
            </a:r>
            <a:r>
              <a:rPr lang="en-US" altLang="zh-CN" dirty="0"/>
              <a:t>O</a:t>
            </a:r>
            <a:r>
              <a:rPr lang="zh-CN" altLang="en-US"/>
              <a:t>可以理解为衰减，其实可以不用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第二层 </a:t>
            </a:r>
            <a:r>
              <a:rPr lang="en-US" altLang="zh-CN" dirty="0"/>
              <a:t>if</a:t>
            </a:r>
            <a:r>
              <a:rPr lang="zh-CN" altLang="en-US" dirty="0"/>
              <a:t>，如果成立 表示没被遮挡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楷体" panose="02010609060101010101" pitchFamily="49" charset="-122"/>
              </a:defRPr>
            </a:lvl1pPr>
            <a:lvl2pPr>
              <a:defRPr sz="2800">
                <a:ea typeface="楷体" panose="02010609060101010101" pitchFamily="49" charset="-122"/>
              </a:defRPr>
            </a:lvl2pPr>
            <a:lvl3pPr>
              <a:defRPr sz="2400">
                <a:ea typeface="楷体" panose="02010609060101010101" pitchFamily="49" charset="-122"/>
              </a:defRPr>
            </a:lvl3pPr>
            <a:lvl4pPr>
              <a:defRPr sz="2000">
                <a:ea typeface="楷体" panose="02010609060101010101" pitchFamily="49" charset="-122"/>
              </a:defRPr>
            </a:lvl4pPr>
            <a:lvl5pPr>
              <a:defRPr sz="200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/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Image" r:id="rId12" imgW="6572250" imgH="3695700" progId="Photoshop.Image.13">
                  <p:embed/>
                </p:oleObj>
              </mc:Choice>
              <mc:Fallback>
                <p:oleObj name="Image" r:id="rId12" imgW="6572250" imgH="3695700" progId="Photoshop.Image.1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s-ES" dirty="0"/>
              <a:t>D</a:t>
            </a:r>
            <a:endParaRPr lang="es-E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s-ES" dirty="0"/>
              <a:t>Click to Edit Master Text Styles</a:t>
            </a:r>
            <a:endParaRPr lang="es-ES" dirty="0"/>
          </a:p>
          <a:p>
            <a:pPr lvl="1"/>
            <a:r>
              <a:rPr lang="es-ES" dirty="0"/>
              <a:t>SECOND LEVEL</a:t>
            </a:r>
            <a:endParaRPr lang="es-ES" dirty="0"/>
          </a:p>
          <a:p>
            <a:pPr lvl="2"/>
            <a:r>
              <a:rPr lang="es-ES" dirty="0"/>
              <a:t>THIRD LEVEL</a:t>
            </a:r>
            <a:endParaRPr lang="es-E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4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baseline="0">
          <a:solidFill>
            <a:schemeClr val="tx1"/>
          </a:solidFill>
          <a:latin typeface="+mn-lt"/>
          <a:ea typeface="楷体" panose="02010609060101010101" pitchFamily="49" charset="-122"/>
          <a:cs typeface="MS PGothic" panose="020B0600070205080204" pitchFamily="34" charset="-128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baseline="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baseline="0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/>
            <a:fld id="{D7E68CEF-25EF-4873-B625-D7337D98864B}" type="slidenum">
              <a:rPr lang="es-ES" sz="1000">
                <a:latin typeface="Arial" panose="020B0604020202020204" pitchFamily="34" charset="0"/>
              </a:rPr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sz="3600" dirty="0">
                <a:ea typeface="MS PGothic" panose="020B0600070205080204" pitchFamily="34" charset="-128"/>
              </a:rPr>
              <a:t>Introduction to </a:t>
            </a:r>
            <a:br>
              <a:rPr lang="en-US" altLang="zh-CN" sz="3600" dirty="0">
                <a:ea typeface="MS PGothic" panose="020B0600070205080204" pitchFamily="34" charset="-128"/>
              </a:rPr>
            </a:br>
            <a:r>
              <a:rPr lang="en-US" altLang="zh-CN" sz="3600" dirty="0">
                <a:ea typeface="MS PGothic" panose="020B0600070205080204" pitchFamily="34" charset="-128"/>
              </a:rPr>
              <a:t>Computer Graphics</a:t>
            </a:r>
            <a:endParaRPr lang="en-US" altLang="zh-CN" sz="3600" dirty="0">
              <a:ea typeface="MS PGothic" panose="020B0600070205080204" pitchFamily="34" charset="-128"/>
            </a:endParaRPr>
          </a:p>
        </p:txBody>
      </p:sp>
      <p:graphicFrame>
        <p:nvGraphicFramePr>
          <p:cNvPr id="7" name="对象 1"/>
          <p:cNvGraphicFramePr>
            <a:graphicFrameLocks noChangeAspect="1"/>
          </p:cNvGraphicFramePr>
          <p:nvPr/>
        </p:nvGraphicFramePr>
        <p:xfrm>
          <a:off x="6781800" y="133329"/>
          <a:ext cx="2102382" cy="1182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Image" r:id="rId1" imgW="6572250" imgH="3695700" progId="Photoshop.Image.13">
                  <p:embed/>
                </p:oleObj>
              </mc:Choice>
              <mc:Fallback>
                <p:oleObj name="Image" r:id="rId1" imgW="6572250" imgH="3695700" progId="Photoshop.Image.1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33329"/>
                        <a:ext cx="2102382" cy="1182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230383" y="2993571"/>
            <a:ext cx="2683235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00" b="1" dirty="0">
                <a:solidFill>
                  <a:schemeClr val="accent2"/>
                </a:solidFill>
                <a:latin typeface="+mj-lt"/>
                <a:cs typeface="MS PGothic" panose="020B0600070205080204" pitchFamily="34" charset="-128"/>
              </a:rPr>
              <a:t>Ray Tracing</a:t>
            </a:r>
            <a:endParaRPr lang="en-US" altLang="zh-CN" sz="3700" b="1" dirty="0">
              <a:solidFill>
                <a:schemeClr val="accent2"/>
              </a:solidFill>
              <a:latin typeface="+mj-lt"/>
              <a:cs typeface="MS PGothic" panose="020B0600070205080204" pitchFamily="34" charset="-128"/>
            </a:endParaRPr>
          </a:p>
          <a:p>
            <a:pPr algn="ctr"/>
            <a:r>
              <a:rPr lang="zh-CN" altLang="en-US" sz="3700" b="1" dirty="0">
                <a:solidFill>
                  <a:schemeClr val="accent2"/>
                </a:solidFill>
                <a:latin typeface="+mj-ea"/>
                <a:ea typeface="+mj-ea"/>
                <a:cs typeface="MS PGothic" panose="020B0600070205080204" pitchFamily="34" charset="-128"/>
              </a:rPr>
              <a:t>光线跟踪</a:t>
            </a:r>
            <a:endParaRPr lang="zh-CN" altLang="en-US" sz="3700" b="1" dirty="0">
              <a:solidFill>
                <a:schemeClr val="accent2"/>
              </a:solidFill>
              <a:latin typeface="+mj-ea"/>
              <a:ea typeface="+mj-ea"/>
              <a:cs typeface="MS PGothic" panose="020B0600070205080204" pitchFamily="34" charset="-128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r>
              <a:rPr lang="zh-CN" altLang="en-US" dirty="0"/>
              <a:t>第七章 光线跟踪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900" dirty="0">
                <a:solidFill>
                  <a:schemeClr val="accent2"/>
                </a:solidFill>
              </a:rPr>
              <a:t>光线跟踪基本原理</a:t>
            </a: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 sz="2900" dirty="0" err="1">
                <a:solidFill>
                  <a:schemeClr val="accent2"/>
                </a:solidFill>
              </a:rPr>
              <a:t>Whitted</a:t>
            </a:r>
            <a:r>
              <a:rPr lang="en-US" altLang="zh-CN" sz="2900" dirty="0">
                <a:solidFill>
                  <a:schemeClr val="accent2"/>
                </a:solidFill>
              </a:rPr>
              <a:t>-Style </a:t>
            </a:r>
            <a:r>
              <a:rPr lang="zh-CN" altLang="en-US" sz="2900" dirty="0">
                <a:solidFill>
                  <a:schemeClr val="accent2"/>
                </a:solidFill>
              </a:rPr>
              <a:t>光线跟踪</a:t>
            </a: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z="2900" dirty="0">
                <a:solidFill>
                  <a:schemeClr val="accent2"/>
                </a:solidFill>
              </a:rPr>
              <a:t>光线跟踪实现细节</a:t>
            </a: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zh-CN" sz="29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z="2900" dirty="0">
                <a:solidFill>
                  <a:schemeClr val="accent2"/>
                </a:solidFill>
              </a:rPr>
              <a:t>光线跟踪进阶话题</a:t>
            </a:r>
            <a:endParaRPr lang="en-US" altLang="zh-CN" sz="2900" dirty="0">
              <a:solidFill>
                <a:schemeClr val="accent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两类绘制方式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对于每个对象，确定它所覆盖的像素，并用对</a:t>
            </a:r>
            <a:br>
              <a:rPr lang="zh-CN" altLang="en-US" sz="2400" dirty="0"/>
            </a:br>
            <a:r>
              <a:rPr lang="zh-CN" altLang="en-US" sz="2400" dirty="0"/>
              <a:t>象的状态确定像素的明暗值</a:t>
            </a:r>
            <a:endParaRPr lang="en-US" altLang="zh-CN" sz="2400" dirty="0"/>
          </a:p>
          <a:p>
            <a:pPr lvl="1"/>
            <a:r>
              <a:rPr lang="zh-CN" altLang="en-US" sz="1900" dirty="0"/>
              <a:t>流水线方法</a:t>
            </a:r>
            <a:endParaRPr lang="en-US" altLang="zh-CN" sz="1900" dirty="0"/>
          </a:p>
          <a:p>
            <a:pPr lvl="1"/>
            <a:r>
              <a:rPr lang="zh-CN" altLang="en-US" sz="1900" dirty="0"/>
              <a:t>必须跟踪深度值</a:t>
            </a:r>
            <a:br>
              <a:rPr lang="zh-CN" altLang="en-US" sz="1900" dirty="0"/>
            </a:br>
            <a:br>
              <a:rPr lang="en-US" sz="1400" dirty="0"/>
            </a:br>
            <a:endParaRPr lang="en-US" sz="1400" dirty="0"/>
          </a:p>
          <a:p>
            <a:pPr lvl="1"/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sp>
        <p:nvSpPr>
          <p:cNvPr id="5" name="矩形 4"/>
          <p:cNvSpPr/>
          <p:nvPr/>
        </p:nvSpPr>
        <p:spPr>
          <a:xfrm>
            <a:off x="4191000" y="2514600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900" b="1" dirty="0"/>
              <a:t>for (</a:t>
            </a:r>
            <a:r>
              <a:rPr lang="en-US" sz="1900" b="1" dirty="0" err="1"/>
              <a:t>each_object</a:t>
            </a:r>
            <a:r>
              <a:rPr lang="en-US" sz="1900" b="1" dirty="0"/>
              <a:t>)</a:t>
            </a:r>
            <a:br>
              <a:rPr lang="en-US" sz="1900" dirty="0"/>
            </a:br>
            <a:r>
              <a:rPr lang="en-US" sz="1900" dirty="0"/>
              <a:t>        </a:t>
            </a:r>
            <a:r>
              <a:rPr lang="en-US" sz="1900" b="1" dirty="0"/>
              <a:t>render(object)</a:t>
            </a:r>
            <a:endParaRPr lang="en-US" sz="19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3205089"/>
            <a:ext cx="8210550" cy="2285982"/>
          </a:xfrm>
          <a:prstGeom prst="rect">
            <a:avLst/>
          </a:prstGeom>
        </p:spPr>
      </p:pic>
      <p:pic>
        <p:nvPicPr>
          <p:cNvPr id="8" name="Picture 2170" descr="sphe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4159" y="5550138"/>
            <a:ext cx="984452" cy="100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061" y="5605806"/>
            <a:ext cx="889454" cy="889125"/>
          </a:xfrm>
          <a:prstGeom prst="rect">
            <a:avLst/>
          </a:prstGeom>
        </p:spPr>
      </p:pic>
      <p:sp>
        <p:nvSpPr>
          <p:cNvPr id="10" name="Right Arrow 88"/>
          <p:cNvSpPr/>
          <p:nvPr/>
        </p:nvSpPr>
        <p:spPr>
          <a:xfrm>
            <a:off x="3086100" y="5940848"/>
            <a:ext cx="2971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89"/>
          <p:cNvSpPr txBox="1"/>
          <p:nvPr/>
        </p:nvSpPr>
        <p:spPr>
          <a:xfrm>
            <a:off x="3056236" y="6058982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(triangle rendered to screen)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两类绘制方式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对于每个像素，确定投影到这个像素的离观察</a:t>
            </a:r>
            <a:br>
              <a:rPr lang="zh-CN" altLang="en-US" sz="2400" dirty="0"/>
            </a:br>
            <a:r>
              <a:rPr lang="zh-CN" altLang="en-US" sz="2400" dirty="0"/>
              <a:t>者最近的那个对象，从而基于该对象计算像素</a:t>
            </a:r>
            <a:br>
              <a:rPr lang="zh-CN" altLang="en-US" sz="2400" dirty="0"/>
            </a:br>
            <a:r>
              <a:rPr lang="zh-CN" altLang="en-US" sz="2400" dirty="0"/>
              <a:t>的明暗值</a:t>
            </a:r>
            <a:endParaRPr lang="en-US" altLang="zh-CN" sz="2400" dirty="0"/>
          </a:p>
          <a:p>
            <a:pPr lvl="1"/>
            <a:r>
              <a:rPr lang="zh-CN" altLang="en-US" sz="1900" dirty="0">
                <a:cs typeface="MS PGothic" panose="020B0600070205080204" pitchFamily="34" charset="-128"/>
              </a:rPr>
              <a:t>光线跟踪框架</a:t>
            </a:r>
            <a:endParaRPr lang="en-US" altLang="zh-CN" sz="1900" dirty="0">
              <a:cs typeface="MS PGothic" panose="020B0600070205080204" pitchFamily="34" charset="-128"/>
            </a:endParaRPr>
          </a:p>
          <a:p>
            <a:pPr lvl="1"/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sp>
        <p:nvSpPr>
          <p:cNvPr id="6" name="矩形 5"/>
          <p:cNvSpPr/>
          <p:nvPr/>
        </p:nvSpPr>
        <p:spPr>
          <a:xfrm>
            <a:off x="3352800" y="2590800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1900" b="1" dirty="0">
                <a:cs typeface="MS PGothic" panose="020B0600070205080204" pitchFamily="34" charset="-128"/>
              </a:rPr>
              <a:t>for (</a:t>
            </a:r>
            <a:r>
              <a:rPr lang="en-US" sz="1900" b="1" dirty="0" err="1">
                <a:cs typeface="MS PGothic" panose="020B0600070205080204" pitchFamily="34" charset="-128"/>
              </a:rPr>
              <a:t>each_pixel</a:t>
            </a:r>
            <a:r>
              <a:rPr lang="en-US" sz="1900" b="1" dirty="0">
                <a:cs typeface="MS PGothic" panose="020B0600070205080204" pitchFamily="34" charset="-128"/>
              </a:rPr>
              <a:t>)                                            	</a:t>
            </a:r>
            <a:r>
              <a:rPr lang="en-US" sz="1900" b="1" dirty="0" err="1">
                <a:cs typeface="MS PGothic" panose="020B0600070205080204" pitchFamily="34" charset="-128"/>
              </a:rPr>
              <a:t>assign_a_color</a:t>
            </a:r>
            <a:r>
              <a:rPr lang="en-US" sz="1900" b="1" dirty="0">
                <a:cs typeface="MS PGothic" panose="020B0600070205080204" pitchFamily="34" charset="-128"/>
              </a:rPr>
              <a:t>(pixel)</a:t>
            </a:r>
            <a:endParaRPr lang="en-US" altLang="zh-CN" sz="1900" b="1" dirty="0">
              <a:cs typeface="MS PGothic" panose="020B0600070205080204" pitchFamily="34" charset="-128"/>
            </a:endParaRPr>
          </a:p>
        </p:txBody>
      </p:sp>
      <p:pic>
        <p:nvPicPr>
          <p:cNvPr id="7" name="Picture 33" descr="slide6c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8203" y="3555183"/>
            <a:ext cx="2516240" cy="184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82" y="3695952"/>
            <a:ext cx="1497987" cy="1558912"/>
          </a:xfrm>
          <a:prstGeom prst="rect">
            <a:avLst/>
          </a:prstGeom>
        </p:spPr>
      </p:pic>
      <p:sp>
        <p:nvSpPr>
          <p:cNvPr id="9" name="Right Arrow 88"/>
          <p:cNvSpPr/>
          <p:nvPr/>
        </p:nvSpPr>
        <p:spPr>
          <a:xfrm>
            <a:off x="3697158" y="4305664"/>
            <a:ext cx="2279051" cy="1697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89"/>
          <p:cNvSpPr txBox="1"/>
          <p:nvPr/>
        </p:nvSpPr>
        <p:spPr>
          <a:xfrm>
            <a:off x="2916499" y="4475408"/>
            <a:ext cx="37338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/>
              <a:t>(ray intersection rendered to screen)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两类绘制方式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571" y="2438400"/>
            <a:ext cx="8490857" cy="23905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真实世界中的光线传播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16054"/>
            <a:ext cx="8686800" cy="4521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光线跟踪基本原理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+mj-lt"/>
              </a:rPr>
              <a:t>光线跟踪思路</a:t>
            </a:r>
            <a:endParaRPr lang="en-US" altLang="zh-CN" sz="2800" dirty="0">
              <a:latin typeface="+mj-lt"/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91071"/>
            <a:ext cx="7696200" cy="45383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光线跟踪基本原理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+mj-lt"/>
              </a:rPr>
              <a:t>光线跟踪思路</a:t>
            </a:r>
            <a:endParaRPr lang="en-US" altLang="zh-CN" sz="2800" dirty="0">
              <a:latin typeface="+mj-lt"/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92085"/>
            <a:ext cx="7651256" cy="4637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光线跟踪效果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900" dirty="0" err="1"/>
              <a:t>Whitted</a:t>
            </a:r>
            <a:r>
              <a:rPr lang="en-US" altLang="zh-CN" sz="2900" dirty="0"/>
              <a:t> 1980</a:t>
            </a:r>
            <a:endParaRPr lang="en-US" altLang="zh-CN" sz="2900" dirty="0"/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44265"/>
            <a:ext cx="5257800" cy="4042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光线跟踪效果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1719430"/>
            <a:ext cx="6019800" cy="4616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光线跟踪效果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900" dirty="0"/>
              <a:t>PBRT</a:t>
            </a:r>
            <a:endParaRPr lang="en-US" altLang="zh-CN" sz="2900" dirty="0"/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909" y="2150652"/>
            <a:ext cx="6706181" cy="4206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光线跟踪效果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900" dirty="0"/>
              <a:t>PBRT</a:t>
            </a:r>
            <a:endParaRPr lang="en-US" altLang="zh-CN" sz="2900" dirty="0"/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342" y="2202491"/>
            <a:ext cx="4029429" cy="40758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886" y="2232402"/>
            <a:ext cx="4029429" cy="4015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光线跟踪效果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渲染？照片？</a:t>
            </a:r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92" y="2295451"/>
            <a:ext cx="8727616" cy="36808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7457" y="5970657"/>
            <a:ext cx="9220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242021"/>
                </a:solidFill>
                <a:latin typeface="Times-Italic"/>
              </a:rPr>
              <a:t>Image courtesy </a:t>
            </a:r>
            <a:r>
              <a:rPr lang="en-US" altLang="zh-CN" sz="2000" i="1" dirty="0" err="1">
                <a:solidFill>
                  <a:srgbClr val="242021"/>
                </a:solidFill>
                <a:latin typeface="Times-Italic"/>
              </a:rPr>
              <a:t>Sumant</a:t>
            </a:r>
            <a:r>
              <a:rPr lang="en-US" altLang="zh-CN" sz="2000" i="1" dirty="0">
                <a:solidFill>
                  <a:srgbClr val="242021"/>
                </a:solidFill>
                <a:latin typeface="Times-Italic"/>
              </a:rPr>
              <a:t> </a:t>
            </a:r>
            <a:r>
              <a:rPr lang="en-US" altLang="zh-CN" sz="2000" i="1" dirty="0" err="1">
                <a:solidFill>
                  <a:srgbClr val="242021"/>
                </a:solidFill>
                <a:latin typeface="Times-Italic"/>
              </a:rPr>
              <a:t>Pattanaik</a:t>
            </a:r>
            <a:r>
              <a:rPr lang="en-US" altLang="zh-CN" sz="2000" i="1" dirty="0">
                <a:solidFill>
                  <a:srgbClr val="242021"/>
                </a:solidFill>
                <a:latin typeface="Times-Italic"/>
              </a:rPr>
              <a:t> and the Cornell Program of Computer Graphics.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光线跟踪参考资料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858" y="1992085"/>
            <a:ext cx="3116764" cy="40048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09" y="1992085"/>
            <a:ext cx="3241504" cy="39831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光线跟踪算法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+mj-lt"/>
              </a:rPr>
              <a:t>光线跟踪算法框架</a:t>
            </a:r>
            <a:endParaRPr lang="en-US" altLang="zh-CN" sz="2800" dirty="0">
              <a:latin typeface="+mj-lt"/>
            </a:endParaRPr>
          </a:p>
          <a:p>
            <a:pPr lvl="1"/>
            <a:r>
              <a:rPr lang="en-US" altLang="zh-CN" sz="2300" dirty="0">
                <a:latin typeface="+mj-lt"/>
              </a:rPr>
              <a:t>Viewing (Primary)  Ray</a:t>
            </a:r>
            <a:endParaRPr lang="en-US" altLang="zh-CN" sz="2300" dirty="0">
              <a:latin typeface="+mj-lt"/>
            </a:endParaRPr>
          </a:p>
          <a:p>
            <a:pPr lvl="1"/>
            <a:r>
              <a:rPr lang="en-US" altLang="zh-CN" sz="2300" dirty="0">
                <a:latin typeface="+mj-lt"/>
              </a:rPr>
              <a:t>Secondary Ray</a:t>
            </a:r>
            <a:endParaRPr lang="en-US" altLang="zh-CN" sz="2300" dirty="0">
              <a:latin typeface="+mj-lt"/>
            </a:endParaRPr>
          </a:p>
          <a:p>
            <a:pPr lvl="1"/>
            <a:r>
              <a:rPr lang="en-US" altLang="zh-CN" sz="2300" dirty="0">
                <a:latin typeface="+mj-lt"/>
              </a:rPr>
              <a:t>Shadow Ray</a:t>
            </a:r>
            <a:endParaRPr lang="en-US" altLang="zh-CN" sz="2300" dirty="0">
              <a:latin typeface="+mj-lt"/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400" y="3451598"/>
            <a:ext cx="7155800" cy="30254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526" y="1600200"/>
            <a:ext cx="326204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838200" y="16764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MS PGothic" panose="020B0600070205080204" pitchFamily="34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r>
              <a:rPr lang="zh-CN" altLang="en-US" sz="2800" kern="0" dirty="0">
                <a:latin typeface="+mj-lt"/>
              </a:rPr>
              <a:t>给定相机中心，成像平面左下角，成像平面竖直方向，成像平面水平方向</a:t>
            </a:r>
            <a:endParaRPr lang="en-US" altLang="zh-CN" sz="2800" kern="0" dirty="0">
              <a:latin typeface="+mj-lt"/>
            </a:endParaRPr>
          </a:p>
          <a:p>
            <a:endParaRPr lang="en-US" altLang="zh-CN" sz="2900" kern="0" dirty="0">
              <a:solidFill>
                <a:schemeClr val="bg2"/>
              </a:solidFill>
            </a:endParaRPr>
          </a:p>
          <a:p>
            <a:endParaRPr lang="en-US" altLang="zh-CN" sz="2900" kern="0" dirty="0">
              <a:solidFill>
                <a:schemeClr val="bg2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光线的生成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686" y="2614751"/>
            <a:ext cx="8214748" cy="37860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838200" y="16764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MS PGothic" panose="020B0600070205080204" pitchFamily="34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r>
              <a:rPr lang="zh-CN" altLang="en-US" sz="2800" kern="0" dirty="0">
                <a:latin typeface="+mj-lt"/>
              </a:rPr>
              <a:t>如何与像素坐标联系起来？</a:t>
            </a:r>
            <a:endParaRPr lang="en-US" altLang="zh-CN" sz="2900" kern="0" dirty="0">
              <a:solidFill>
                <a:schemeClr val="bg2"/>
              </a:solidFill>
            </a:endParaRPr>
          </a:p>
          <a:p>
            <a:endParaRPr lang="en-US" altLang="zh-CN" sz="2900" kern="0" dirty="0">
              <a:solidFill>
                <a:schemeClr val="bg2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光线的生成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b="2852"/>
          <a:stretch>
            <a:fillRect/>
          </a:stretch>
        </p:blipFill>
        <p:spPr>
          <a:xfrm>
            <a:off x="367476" y="2667000"/>
            <a:ext cx="8409048" cy="30055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光线的生成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b="2852"/>
          <a:stretch>
            <a:fillRect/>
          </a:stretch>
        </p:blipFill>
        <p:spPr>
          <a:xfrm>
            <a:off x="634176" y="1752600"/>
            <a:ext cx="7875648" cy="28149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光线与场景求交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光线与球面求交</a:t>
            </a:r>
            <a:endParaRPr lang="en-US" altLang="zh-CN" sz="2900" dirty="0"/>
          </a:p>
          <a:p>
            <a:pPr lvl="1"/>
            <a:r>
              <a:rPr lang="zh-CN" altLang="en-US" sz="2400" dirty="0"/>
              <a:t>光线方程：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球面方程：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带入求解：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6339" y="2514600"/>
            <a:ext cx="1944261" cy="4860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323" y="3454564"/>
            <a:ext cx="3829631" cy="6057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58" y="4749190"/>
            <a:ext cx="6554883" cy="8102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光线与场景求交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光线与球面求交</a:t>
            </a:r>
            <a:endParaRPr lang="en-US" altLang="zh-CN" sz="29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63" y="2362200"/>
            <a:ext cx="7957673" cy="605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8" y="3385167"/>
            <a:ext cx="8788401" cy="12230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光线与场景求交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光线与三角形求交</a:t>
            </a:r>
            <a:endParaRPr lang="en-US" altLang="zh-CN" sz="29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036" y="3878862"/>
            <a:ext cx="4604914" cy="5296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0" y="2438400"/>
            <a:ext cx="2667231" cy="36274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光线与场景求交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光线与三角形求交</a:t>
            </a:r>
            <a:endParaRPr lang="en-US" altLang="zh-CN" sz="29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70" y="2438400"/>
            <a:ext cx="2667231" cy="36274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07" y="2743200"/>
            <a:ext cx="4808637" cy="12650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662" y="4419600"/>
            <a:ext cx="4915326" cy="11735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光线与场景求交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900" dirty="0"/>
              <a:t>光线与三角形求交</a:t>
            </a:r>
            <a:endParaRPr lang="en-US" altLang="zh-CN" sz="29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53" y="2171700"/>
            <a:ext cx="3642610" cy="4114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99" y="3600399"/>
            <a:ext cx="3558848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6248400" cy="1066800"/>
          </a:xfrm>
        </p:spPr>
        <p:txBody>
          <a:bodyPr/>
          <a:lstStyle/>
          <a:p>
            <a:r>
              <a:rPr lang="zh-CN" altLang="en-US" dirty="0"/>
              <a:t>像素着色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Whitted</a:t>
            </a:r>
            <a:r>
              <a:rPr lang="zh-CN" altLang="en-US" dirty="0"/>
              <a:t>着色模型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前三部分为直接光照</a:t>
            </a:r>
            <a:endParaRPr lang="en-US" altLang="zh-CN" dirty="0"/>
          </a:p>
          <a:p>
            <a:pPr lvl="1"/>
            <a:r>
              <a:rPr lang="zh-CN" altLang="en-US" dirty="0"/>
              <a:t>后两部分为间接光照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5656" y="2285936"/>
                <a:ext cx="9098280" cy="8172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𝑙𝑖𝑔ℎ𝑡𝑠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𝑎𝑡𝑡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]+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highlight>
                                    <a:srgbClr val="FFFF00"/>
                                  </a:highligh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6" y="2285936"/>
                <a:ext cx="9098280" cy="817245"/>
              </a:xfrm>
              <a:prstGeom prst="rect">
                <a:avLst/>
              </a:prstGeom>
              <a:blipFill rotWithShape="1">
                <a:blip r:embed="rId1"/>
                <a:stretch>
                  <a:fillRect l="-6" t="-70" r="6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/>
          <p:nvPr/>
        </p:nvCxnSpPr>
        <p:spPr>
          <a:xfrm flipV="1">
            <a:off x="7209155" y="3048000"/>
            <a:ext cx="258445" cy="8870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 w="sm" len="sm"/>
          </a:ln>
        </p:spPr>
      </p:cxnSp>
      <p:sp>
        <p:nvSpPr>
          <p:cNvPr id="8" name="文本框 7"/>
          <p:cNvSpPr txBox="1"/>
          <p:nvPr/>
        </p:nvSpPr>
        <p:spPr>
          <a:xfrm>
            <a:off x="6248400" y="39674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ea typeface="宋体" panose="02010600030101010101" pitchFamily="2" charset="-122"/>
              </a:rPr>
              <a:t>递归反射项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2"/>
            </p:custDataLst>
          </p:nvPr>
        </p:nvCxnSpPr>
        <p:spPr>
          <a:xfrm flipV="1">
            <a:off x="8382000" y="2971800"/>
            <a:ext cx="76200" cy="5334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 w="sm" len="sm"/>
          </a:ln>
        </p:spPr>
      </p:cxn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7696200" y="35991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ea typeface="宋体" panose="02010600030101010101" pitchFamily="2" charset="-122"/>
              </a:rPr>
              <a:t>递归折射项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阴影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900" dirty="0"/>
              <a:t>Shadow ray</a:t>
            </a:r>
            <a:endParaRPr lang="en-US" altLang="zh-CN" sz="2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2933492"/>
            <a:ext cx="2629128" cy="24005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18" y="2651527"/>
            <a:ext cx="2575783" cy="29644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阴影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52" y="2133600"/>
            <a:ext cx="7247248" cy="391701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阴影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391" y="2324043"/>
            <a:ext cx="6763217" cy="312431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反射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96809"/>
            <a:ext cx="3371964" cy="30298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62365"/>
            <a:ext cx="2171888" cy="4191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5" y="2339308"/>
            <a:ext cx="4450466" cy="36579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165" y="2862907"/>
            <a:ext cx="3344035" cy="31928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718457" y="1587004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MS PGothic" panose="020B0600070205080204" pitchFamily="34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r>
              <a:rPr lang="en-US" altLang="zh-CN" sz="2900" kern="0" dirty="0"/>
              <a:t>Snell’s Law</a:t>
            </a:r>
            <a:endParaRPr lang="en-US" altLang="zh-CN" sz="2900" kern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06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折射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>
              <a:solidFill>
                <a:schemeClr val="bg2"/>
              </a:solidFill>
            </a:endParaRPr>
          </a:p>
          <a:p>
            <a:endParaRPr lang="en-US" altLang="zh-CN" sz="2900" dirty="0"/>
          </a:p>
          <a:p>
            <a:endParaRPr lang="en-US" altLang="zh-CN" sz="2900" dirty="0"/>
          </a:p>
          <a:p>
            <a:endParaRPr lang="en-US" altLang="zh-CN" sz="2900" dirty="0"/>
          </a:p>
          <a:p>
            <a:endParaRPr lang="en-US" altLang="zh-CN" sz="2900" dirty="0"/>
          </a:p>
          <a:p>
            <a:r>
              <a:rPr lang="zh-CN" altLang="en-US" sz="2900" dirty="0"/>
              <a:t>根号内小于零？</a:t>
            </a:r>
            <a:endParaRPr lang="en-US" altLang="zh-CN" sz="2900" dirty="0"/>
          </a:p>
          <a:p>
            <a:endParaRPr lang="en-US" altLang="zh-CN" sz="290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</a:fld>
            <a:endParaRPr lang="es-E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50" y="2644043"/>
            <a:ext cx="2621507" cy="26596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438400"/>
            <a:ext cx="3033457" cy="599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392" y="3760281"/>
            <a:ext cx="4769893" cy="148894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zdlNzNkOWNlZmViZjkzOTk4NDM4M2U0ZWE0YzMyMzMifQ=="/>
</p:tagLst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ctr" anchorCtr="1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0</TotalTime>
  <Words>1045</Words>
  <Application>WPS 演示</Application>
  <PresentationFormat>全屏显示(4:3)</PresentationFormat>
  <Paragraphs>239</Paragraphs>
  <Slides>29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MS PGothic</vt:lpstr>
      <vt:lpstr>楷体_GB2312</vt:lpstr>
      <vt:lpstr>新宋体</vt:lpstr>
      <vt:lpstr>楷体</vt:lpstr>
      <vt:lpstr>微软雅黑</vt:lpstr>
      <vt:lpstr>Arial Unicode MS</vt:lpstr>
      <vt:lpstr>Times-Italic</vt:lpstr>
      <vt:lpstr>Segoe Print</vt:lpstr>
      <vt:lpstr>Cambria Math</vt:lpstr>
      <vt:lpstr>AngelICG02</vt:lpstr>
      <vt:lpstr>Photoshop.Image.13</vt:lpstr>
      <vt:lpstr>Photoshop.Image.13</vt:lpstr>
      <vt:lpstr>Introduction to  Computer Graphics</vt:lpstr>
      <vt:lpstr>第七章 光线跟踪</vt:lpstr>
      <vt:lpstr>两类绘制方式</vt:lpstr>
      <vt:lpstr>两类绘制方式</vt:lpstr>
      <vt:lpstr>两类绘制方式</vt:lpstr>
      <vt:lpstr>真实世界中的光线传播</vt:lpstr>
      <vt:lpstr>光线跟踪基本原理</vt:lpstr>
      <vt:lpstr>光线跟踪基本原理</vt:lpstr>
      <vt:lpstr>光线跟踪效果</vt:lpstr>
      <vt:lpstr>光线跟踪效果</vt:lpstr>
      <vt:lpstr>光线跟踪效果</vt:lpstr>
      <vt:lpstr>光线跟踪效果</vt:lpstr>
      <vt:lpstr>光线跟踪效果</vt:lpstr>
      <vt:lpstr>光线跟踪参考资料</vt:lpstr>
      <vt:lpstr>光线跟踪算法</vt:lpstr>
      <vt:lpstr>光线的生成</vt:lpstr>
      <vt:lpstr>光线的生成</vt:lpstr>
      <vt:lpstr>光线的生成</vt:lpstr>
      <vt:lpstr>光线与场景求交</vt:lpstr>
      <vt:lpstr>光线与场景求交</vt:lpstr>
      <vt:lpstr>光线与场景求交</vt:lpstr>
      <vt:lpstr>光线与场景求交</vt:lpstr>
      <vt:lpstr>光线与场景求交</vt:lpstr>
      <vt:lpstr>像素着色</vt:lpstr>
      <vt:lpstr>阴影</vt:lpstr>
      <vt:lpstr>阴影</vt:lpstr>
      <vt:lpstr>阴影</vt:lpstr>
      <vt:lpstr>反射</vt:lpstr>
      <vt:lpstr>折射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小虎西</cp:lastModifiedBy>
  <cp:revision>383</cp:revision>
  <dcterms:created xsi:type="dcterms:W3CDTF">2011-07-24T21:10:00Z</dcterms:created>
  <dcterms:modified xsi:type="dcterms:W3CDTF">2023-05-16T03:12:26Z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CBED3FB9EC04453AAB7B080478813A3C_12</vt:lpwstr>
  </property>
  <property fmtid="{D5CDD505-2E9C-101B-9397-08002B2CF9AE}" pid="3" name="KSOProductBuildVer">
    <vt:lpwstr>2052-11.1.0.14309</vt:lpwstr>
  </property>
</Properties>
</file>