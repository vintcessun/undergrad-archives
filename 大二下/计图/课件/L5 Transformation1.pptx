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7"/>
  </p:notesMasterIdLst>
  <p:handoutMasterIdLst>
    <p:handoutMasterId r:id="rId38"/>
  </p:handoutMasterIdLst>
  <p:sldIdLst>
    <p:sldId id="256" r:id="rId2"/>
    <p:sldId id="317" r:id="rId3"/>
    <p:sldId id="318" r:id="rId4"/>
    <p:sldId id="324" r:id="rId5"/>
    <p:sldId id="329" r:id="rId6"/>
    <p:sldId id="330" r:id="rId7"/>
    <p:sldId id="325" r:id="rId8"/>
    <p:sldId id="331" r:id="rId9"/>
    <p:sldId id="332" r:id="rId10"/>
    <p:sldId id="319" r:id="rId11"/>
    <p:sldId id="320" r:id="rId12"/>
    <p:sldId id="321" r:id="rId13"/>
    <p:sldId id="517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529" r:id="rId22"/>
    <p:sldId id="530" r:id="rId23"/>
    <p:sldId id="531" r:id="rId24"/>
    <p:sldId id="532" r:id="rId25"/>
    <p:sldId id="533" r:id="rId26"/>
    <p:sldId id="514" r:id="rId27"/>
    <p:sldId id="535" r:id="rId28"/>
    <p:sldId id="536" r:id="rId29"/>
    <p:sldId id="537" r:id="rId30"/>
    <p:sldId id="538" r:id="rId31"/>
    <p:sldId id="539" r:id="rId32"/>
    <p:sldId id="540" r:id="rId33"/>
    <p:sldId id="328" r:id="rId34"/>
    <p:sldId id="543" r:id="rId35"/>
    <p:sldId id="544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074" autoAdjust="0"/>
  </p:normalViewPr>
  <p:slideViewPr>
    <p:cSldViewPr>
      <p:cViewPr varScale="1">
        <p:scale>
          <a:sx n="70" d="100"/>
          <a:sy n="70" d="100"/>
        </p:scale>
        <p:origin x="18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16E7C5-1558-42A2-82E2-A8FCF6DBC9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07422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C578547-67AE-42B0-AD6C-2E9EF534AB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0644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78A80FE-85DA-4934-AF44-7CDD0186166F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812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9680411-0B18-4379-B88B-87C8A6F30E05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16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4FD4FFE6-C996-4D1D-8386-742D449F860D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900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090AED9-50EC-4D19-AB1A-27325B2B098A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04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7F01FB-6EF7-4EDB-9E97-23B7BCE68F25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554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86D18E-A0B0-4645-9EC0-0AC6D7AFB1FD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7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C812C50-9D24-495E-BA7E-1DC2B83ADCC3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212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楷体" panose="02010609060101010101" pitchFamily="49" charset="-122"/>
              </a:defRPr>
            </a:lvl1pPr>
            <a:lvl2pPr>
              <a:defRPr sz="2800">
                <a:ea typeface="楷体" panose="02010609060101010101" pitchFamily="49" charset="-122"/>
              </a:defRPr>
            </a:lvl2pPr>
            <a:lvl3pPr>
              <a:defRPr sz="2400">
                <a:ea typeface="楷体" panose="02010609060101010101" pitchFamily="49" charset="-122"/>
              </a:defRPr>
            </a:lvl3pPr>
            <a:lvl4pPr>
              <a:defRPr sz="2000">
                <a:ea typeface="楷体" panose="02010609060101010101" pitchFamily="49" charset="-122"/>
              </a:defRPr>
            </a:lvl4pPr>
            <a:lvl5pPr>
              <a:defRPr sz="2000"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DA20D70-7BE7-4053-87C6-193C696BAA96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493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25ABB73-297F-4FC4-BF1A-793F255B5EDC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633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42AEA81-A804-41B6-B60D-B76EF5F5ACC1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8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EFD3A08-CD29-4B7C-9D61-0781442FB0B0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950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988968689"/>
              </p:ext>
            </p:extLst>
          </p:nvPr>
        </p:nvGraphicFramePr>
        <p:xfrm>
          <a:off x="-118812" y="152400"/>
          <a:ext cx="1962167" cy="1103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Image" r:id="rId14" imgW="6571429" imgH="3695238" progId="Photoshop.Image.13">
                  <p:embed/>
                </p:oleObj>
              </mc:Choice>
              <mc:Fallback>
                <p:oleObj name="Image" r:id="rId14" imgW="6571429" imgH="3695238" progId="Photoshop.Image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8812" y="152400"/>
                        <a:ext cx="1962167" cy="1103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D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Click to Edit Master Text Styles</a:t>
            </a:r>
          </a:p>
          <a:p>
            <a:pPr lvl="1"/>
            <a:r>
              <a:rPr lang="es-ES" dirty="0"/>
              <a:t>SECOND LEVEL</a:t>
            </a:r>
          </a:p>
          <a:p>
            <a:pPr lvl="2"/>
            <a:r>
              <a:rPr lang="es-ES" dirty="0"/>
              <a:t>THIRD LEVEL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2pPr lvl="1" algn="r">
              <a:defRPr sz="1000">
                <a:latin typeface="Arial" panose="020B0604020202020204" pitchFamily="34" charset="0"/>
              </a:defRPr>
            </a:lvl2pPr>
          </a:lstStyle>
          <a:p>
            <a:pPr lvl="1"/>
            <a:fld id="{9D4ADB00-AF9A-4CA0-9AD6-77D38D1BE3FC}" type="slidenum">
              <a:rPr lang="es-ES"/>
              <a:pPr lvl="1"/>
              <a:t>‹#›</a:t>
            </a:fld>
            <a:endParaRPr lang="es-E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7611122" y="66176"/>
            <a:ext cx="1497578" cy="1425289"/>
          </a:xfrm>
          <a:prstGeom prst="rect">
            <a:avLst/>
          </a:prstGeom>
          <a:blipFill dpi="0" rotWithShape="1">
            <a:blip r:embed="rId16">
              <a:alphaModFix amt="60000"/>
            </a:blip>
            <a:srcRect/>
            <a:stretch>
              <a:fillRect/>
            </a:stretch>
          </a:blip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har char="•"/>
        <a:defRPr sz="3100" baseline="0">
          <a:solidFill>
            <a:schemeClr val="tx1"/>
          </a:solidFill>
          <a:latin typeface="+mn-lt"/>
          <a:ea typeface="楷体" panose="02010609060101010101" pitchFamily="49" charset="-122"/>
          <a:cs typeface="ＭＳ Ｐゴシック" charset="-128"/>
        </a:defRPr>
      </a:lvl1pPr>
      <a:lvl2pPr marL="571500" indent="-190500" algn="l" rtl="0" eaLnBrk="0" fontAlgn="base" hangingPunct="0">
        <a:spcBef>
          <a:spcPct val="20000"/>
        </a:spcBef>
        <a:spcAft>
          <a:spcPct val="0"/>
        </a:spcAft>
        <a:buChar char="­"/>
        <a:defRPr sz="2600" baseline="0">
          <a:solidFill>
            <a:schemeClr val="tx1"/>
          </a:solidFill>
          <a:latin typeface="+mn-lt"/>
          <a:ea typeface="楷体" panose="02010609060101010101" pitchFamily="49" charset="-122"/>
        </a:defRPr>
      </a:lvl2pPr>
      <a:lvl3pPr marL="952500" indent="-1905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 baseline="0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9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2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D7E68CEF-25EF-4873-B625-D7337D98864B}" type="slidenum">
              <a:rPr lang="es-ES" sz="1000">
                <a:latin typeface="Arial" panose="020B0604020202020204" pitchFamily="34" charset="0"/>
              </a:rPr>
              <a:pPr lvl="1"/>
              <a:t>1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zh-CN" sz="3600" dirty="0">
                <a:ea typeface="ＭＳ Ｐゴシック" panose="020B0600070205080204" pitchFamily="34" charset="-128"/>
              </a:rPr>
              <a:t>Introduction to </a:t>
            </a:r>
            <a:br>
              <a:rPr lang="en-US" altLang="zh-CN" sz="3600" dirty="0">
                <a:ea typeface="ＭＳ Ｐゴシック" panose="020B0600070205080204" pitchFamily="34" charset="-128"/>
              </a:rPr>
            </a:br>
            <a:r>
              <a:rPr lang="en-US" altLang="zh-CN" sz="3600" dirty="0">
                <a:ea typeface="ＭＳ Ｐゴシック" panose="020B0600070205080204" pitchFamily="34" charset="-128"/>
              </a:rPr>
              <a:t>Computer Graphics</a:t>
            </a:r>
          </a:p>
        </p:txBody>
      </p:sp>
      <p:graphicFrame>
        <p:nvGraphicFramePr>
          <p:cNvPr id="7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48557"/>
              </p:ext>
            </p:extLst>
          </p:nvPr>
        </p:nvGraphicFramePr>
        <p:xfrm>
          <a:off x="6702932" y="152400"/>
          <a:ext cx="2188278" cy="123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" name="Image" r:id="rId3" imgW="6571429" imgH="3695238" progId="Photoshop.Image.13">
                  <p:embed/>
                </p:oleObj>
              </mc:Choice>
              <mc:Fallback>
                <p:oleObj name="Image" r:id="rId3" imgW="6571429" imgH="3695238" progId="Photoshop.Image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2932" y="152400"/>
                        <a:ext cx="2188278" cy="123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875830" y="3098140"/>
            <a:ext cx="3392339" cy="6617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700" b="1" dirty="0">
                <a:solidFill>
                  <a:schemeClr val="accent2"/>
                </a:solidFill>
                <a:latin typeface="+mj-lt"/>
                <a:cs typeface="ＭＳ Ｐゴシック" charset="-128"/>
              </a:rPr>
              <a:t>Transformation</a:t>
            </a:r>
            <a:endParaRPr lang="zh-CN" altLang="en-US" sz="3700" b="1" dirty="0">
              <a:solidFill>
                <a:schemeClr val="accent2"/>
              </a:solidFill>
              <a:latin typeface="+mj-lt"/>
              <a:cs typeface="ＭＳ Ｐゴシック" charset="-128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01821-63E6-41F7-AA6E-3E973D8E1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本节内容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向量</a:t>
            </a:r>
            <a:endParaRPr lang="en-US" altLang="zh-CN" sz="2800" dirty="0"/>
          </a:p>
          <a:p>
            <a:pPr lvl="1"/>
            <a:r>
              <a:rPr lang="zh-CN" altLang="en-US" sz="2300" dirty="0"/>
              <a:t>向量概念、向量加减法</a:t>
            </a:r>
            <a:endParaRPr lang="en-US" altLang="zh-CN" sz="2300" dirty="0"/>
          </a:p>
          <a:p>
            <a:pPr lvl="1"/>
            <a:r>
              <a:rPr lang="zh-CN" altLang="en-US" sz="2300" dirty="0"/>
              <a:t>向量坐标表示</a:t>
            </a:r>
            <a:endParaRPr lang="en-US" altLang="zh-CN" sz="2300" dirty="0"/>
          </a:p>
          <a:p>
            <a:pPr lvl="1"/>
            <a:r>
              <a:rPr lang="zh-CN" altLang="en-US" sz="2300" dirty="0"/>
              <a:t>向量归一化</a:t>
            </a:r>
            <a:endParaRPr lang="en-US" altLang="zh-CN" sz="2300" dirty="0"/>
          </a:p>
          <a:p>
            <a:pPr lvl="1"/>
            <a:r>
              <a:rPr lang="zh-CN" altLang="en-US" sz="2300" dirty="0"/>
              <a:t>向量运算</a:t>
            </a:r>
            <a:endParaRPr lang="en-US" altLang="zh-CN" sz="2300" dirty="0"/>
          </a:p>
          <a:p>
            <a:pPr lvl="1"/>
            <a:r>
              <a:rPr lang="zh-CN" altLang="en-US" sz="2300" dirty="0"/>
              <a:t>点乘与叉乘</a:t>
            </a:r>
            <a:endParaRPr lang="en-US" altLang="zh-CN" sz="2800" dirty="0"/>
          </a:p>
          <a:p>
            <a:r>
              <a:rPr lang="zh-CN" altLang="en-US" sz="2800" dirty="0"/>
              <a:t>矩阵</a:t>
            </a:r>
            <a:endParaRPr lang="en-US" altLang="zh-CN" sz="2800" dirty="0"/>
          </a:p>
          <a:p>
            <a:pPr lvl="1"/>
            <a:r>
              <a:rPr lang="zh-CN" altLang="en-US" sz="1900" dirty="0"/>
              <a:t>矩阵与向量的乘法</a:t>
            </a:r>
            <a:endParaRPr lang="en-US" altLang="zh-CN" sz="1900" dirty="0"/>
          </a:p>
          <a:p>
            <a:pPr lvl="1"/>
            <a:r>
              <a:rPr lang="zh-CN" altLang="en-US" sz="1900" dirty="0"/>
              <a:t>矩阵与向量乘法的意义</a:t>
            </a:r>
            <a:endParaRPr lang="en-US" altLang="zh-CN" sz="1900" dirty="0"/>
          </a:p>
          <a:p>
            <a:pPr lvl="1"/>
            <a:r>
              <a:rPr lang="zh-CN" altLang="en-US" sz="1900" dirty="0"/>
              <a:t>矩阵与矩阵的乘法</a:t>
            </a:r>
            <a:endParaRPr lang="en-US" altLang="zh-CN" sz="1900" dirty="0"/>
          </a:p>
          <a:p>
            <a:pPr lvl="1"/>
            <a:r>
              <a:rPr lang="zh-CN" altLang="en-US" sz="1900" dirty="0"/>
              <a:t>正交基的构建、正交矩阵</a:t>
            </a:r>
            <a:endParaRPr lang="en-US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996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本节内容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顶点变换流程</a:t>
            </a:r>
            <a:endParaRPr lang="en-US" altLang="zh-CN" sz="2800" dirty="0"/>
          </a:p>
          <a:p>
            <a:r>
              <a:rPr lang="zh-CN" altLang="en-US" sz="2800" dirty="0"/>
              <a:t>模型视图变换</a:t>
            </a:r>
            <a:endParaRPr lang="en-US" altLang="zh-CN" sz="2800" dirty="0"/>
          </a:p>
          <a:p>
            <a:pPr lvl="1"/>
            <a:r>
              <a:rPr lang="zh-CN" altLang="en-US" sz="2300" dirty="0"/>
              <a:t>平移</a:t>
            </a:r>
            <a:endParaRPr lang="en-US" altLang="zh-CN" sz="2300" dirty="0"/>
          </a:p>
          <a:p>
            <a:pPr lvl="1"/>
            <a:r>
              <a:rPr lang="zh-CN" altLang="en-US" sz="2300" dirty="0"/>
              <a:t>旋转</a:t>
            </a:r>
            <a:endParaRPr lang="en-US" altLang="zh-CN" sz="2300" dirty="0"/>
          </a:p>
          <a:p>
            <a:pPr lvl="1"/>
            <a:r>
              <a:rPr lang="zh-CN" altLang="en-US" sz="2300" dirty="0"/>
              <a:t>缩放</a:t>
            </a:r>
            <a:endParaRPr lang="en-US" altLang="zh-CN" sz="2300" dirty="0"/>
          </a:p>
          <a:p>
            <a:pPr lvl="1"/>
            <a:r>
              <a:rPr lang="zh-CN" altLang="en-US" sz="2300" dirty="0"/>
              <a:t>相机变换</a:t>
            </a:r>
            <a:r>
              <a:rPr lang="en-US" altLang="zh-CN" sz="2300" dirty="0" err="1"/>
              <a:t>gluLookAt</a:t>
            </a:r>
            <a:endParaRPr lang="en-US" altLang="zh-CN" sz="2300" dirty="0"/>
          </a:p>
          <a:p>
            <a:r>
              <a:rPr lang="zh-CN" altLang="en-US" sz="2800" dirty="0"/>
              <a:t>投影变换</a:t>
            </a:r>
            <a:endParaRPr lang="en-US" altLang="zh-CN" sz="2800" dirty="0"/>
          </a:p>
          <a:p>
            <a:pPr lvl="1"/>
            <a:r>
              <a:rPr lang="zh-CN" altLang="en-US" sz="1900" dirty="0"/>
              <a:t>正交投影</a:t>
            </a:r>
            <a:endParaRPr lang="en-US" altLang="zh-CN" sz="1900" dirty="0"/>
          </a:p>
          <a:p>
            <a:pPr lvl="1"/>
            <a:r>
              <a:rPr lang="zh-CN" altLang="en-US" sz="1900" dirty="0"/>
              <a:t>透视投影</a:t>
            </a:r>
            <a:endParaRPr lang="en-US" altLang="zh-CN" sz="1900" dirty="0"/>
          </a:p>
          <a:p>
            <a:pPr lvl="1"/>
            <a:endParaRPr lang="en-US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758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416D7-9F78-4103-B8A7-0700FD66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向量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300" dirty="0"/>
                  <a:t>的模长：             </a:t>
                </a:r>
                <a14:m>
                  <m:oMath xmlns:m="http://schemas.openxmlformats.org/officeDocument/2006/math"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300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altLang="zh-CN" sz="2300" dirty="0"/>
              </a:p>
              <a:p>
                <a:pPr lvl="1"/>
                <a:endParaRPr lang="en-US" altLang="zh-CN" sz="2300" dirty="0"/>
              </a:p>
              <a:p>
                <a:pPr lvl="1"/>
                <a:r>
                  <a:rPr lang="zh-CN" altLang="en-US" sz="2300" dirty="0"/>
                  <a:t>归一化：               </a:t>
                </a:r>
                <a:r>
                  <a:rPr lang="en-US" altLang="zh-CN" sz="23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m:rPr>
                            <m:nor/>
                          </m:rP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altLang="zh-CN" sz="23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97677-BAF4-4BBE-9026-337C7D4E95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74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416D7-9F78-4103-B8A7-0700FD66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向量点乘（点积）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zh-CN" sz="23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3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300" dirty="0"/>
              </a:p>
              <a:p>
                <a:pPr marL="381000" lvl="1" indent="0">
                  <a:buNone/>
                </a:pPr>
                <a:r>
                  <a:rPr lang="en-US" altLang="zh-CN" sz="2300" dirty="0"/>
                  <a:t>                       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3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3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𝒄𝒐𝒔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altLang="zh-CN" sz="2300" dirty="0"/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CN" sz="23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b="1" i="1"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sz="2300" dirty="0"/>
                  <a:t>  </a:t>
                </a:r>
                <a:r>
                  <a:rPr lang="zh-CN" altLang="en-US" sz="2300" dirty="0"/>
                  <a:t>几何意义： 向量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3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300" dirty="0"/>
                  <a:t>方向上的投影</a:t>
                </a:r>
                <a:endParaRPr lang="en-US" altLang="zh-CN" sz="23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97677-BAF4-4BBE-9026-337C7D4E95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66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416D7-9F78-4103-B8A7-0700FD66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向量叉乘（叉积）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3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300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300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e>
                              <m:r>
                                <a:rPr lang="en-US" altLang="zh-CN" sz="2300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  <m:e>
                              <m:r>
                                <a:rPr lang="en-US" altLang="zh-CN" sz="2300" i="1" dirty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3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3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3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3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300" i="1" dirty="0">
                  <a:latin typeface="Cambria Math" panose="02040503050406030204" pitchFamily="18" charset="0"/>
                </a:endParaRPr>
              </a:p>
              <a:p>
                <a:pPr marL="381000" lvl="1" indent="0">
                  <a:buNone/>
                </a:pPr>
                <a:r>
                  <a:rPr lang="en-US" altLang="zh-CN" sz="23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300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3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3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3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300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3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300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1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300" b="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3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300" b="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3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3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300" b="1" i="1" dirty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altLang="zh-CN" sz="2300" b="1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sz="23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altLang="zh-CN" sz="2300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300" b="1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300" b="1" i="1" dirty="0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CN" sz="23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300" b="1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3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3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300" b="1" i="1" dirty="0">
                    <a:latin typeface="Cambria Math" panose="02040503050406030204" pitchFamily="18" charset="0"/>
                  </a:rPr>
                  <a:t>, </a:t>
                </a:r>
              </a:p>
              <a:p>
                <a:pPr lvl="1"/>
                <a:endParaRPr lang="en-US" altLang="zh-CN" sz="23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97677-BAF4-4BBE-9026-337C7D4E95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40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416D7-9F78-4103-B8A7-0700FD66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CB9CC-8606-4E2F-B5FD-17262CB15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矩阵</a:t>
            </a:r>
            <a:endParaRPr lang="en-US" altLang="zh-CN" sz="2800" dirty="0"/>
          </a:p>
          <a:p>
            <a:pPr lvl="1"/>
            <a:r>
              <a:rPr lang="zh-CN" altLang="en-US" sz="1900" dirty="0"/>
              <a:t>矩阵与向量的乘法</a:t>
            </a:r>
            <a:endParaRPr lang="en-US" altLang="zh-CN" sz="1900" dirty="0"/>
          </a:p>
          <a:p>
            <a:pPr lvl="1"/>
            <a:r>
              <a:rPr lang="zh-CN" altLang="en-US" sz="1900" dirty="0"/>
              <a:t>投影观点</a:t>
            </a:r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endParaRPr lang="en-US" altLang="zh-CN" sz="1900" dirty="0"/>
          </a:p>
          <a:p>
            <a:pPr lvl="1"/>
            <a:r>
              <a:rPr lang="zh-CN" altLang="en-US" sz="1900" dirty="0"/>
              <a:t>加权观点</a:t>
            </a:r>
            <a:endParaRPr lang="en-US" altLang="zh-CN" sz="1900" dirty="0"/>
          </a:p>
          <a:p>
            <a:pPr lvl="1"/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97677-BAF4-4BBE-9026-337C7D4E95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7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75D385-DD69-4737-A602-A1D39DF06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694745"/>
            <a:ext cx="2982572" cy="12751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4F1303-CDF4-4476-8550-D45C8807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618" y="4433511"/>
            <a:ext cx="3042935" cy="14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2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416D7-9F78-4103-B8A7-0700FD66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矩阵</a:t>
                </a:r>
                <a:endParaRPr lang="en-US" altLang="zh-CN" sz="2800" dirty="0"/>
              </a:p>
              <a:p>
                <a:pPr lvl="1"/>
                <a:r>
                  <a:rPr lang="zh-CN" altLang="en-US" sz="1900" dirty="0"/>
                  <a:t>矩阵与矩阵的乘法</a:t>
                </a:r>
                <a:endParaRPr lang="en-US" altLang="zh-CN" sz="19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900" b="1" dirty="0" smtClean="0"/>
                      <m:t>AB</m:t>
                    </m:r>
                    <m:r>
                      <m:rPr>
                        <m:nor/>
                      </m:rPr>
                      <a:rPr lang="en-US" altLang="zh-CN" sz="1900" b="1" dirty="0" smtClean="0"/>
                      <m:t>=</m:t>
                    </m:r>
                    <m:r>
                      <m:rPr>
                        <m:nor/>
                      </m:rPr>
                      <a:rPr lang="en-US" altLang="zh-CN" sz="1900" b="1" dirty="0" smtClean="0"/>
                      <m:t>P</m:t>
                    </m:r>
                  </m:oMath>
                </a14:m>
                <a:endParaRPr lang="en-US" altLang="zh-CN" sz="1900" b="1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  <a:p>
                <a:pPr marL="381000" lvl="1" indent="0">
                  <a:buNone/>
                </a:pPr>
                <a:endParaRPr lang="en-US" altLang="zh-CN" sz="19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900" b="1" dirty="0"/>
                      <m:t>P</m:t>
                    </m:r>
                    <m:r>
                      <m:rPr>
                        <m:nor/>
                      </m:rPr>
                      <a:rPr lang="en-US" altLang="zh-CN" sz="1900" b="1" i="0" dirty="0" smtClean="0"/>
                      <m:t>=</m:t>
                    </m:r>
                    <m:r>
                      <m:rPr>
                        <m:nor/>
                      </m:rPr>
                      <a:rPr lang="en-US" altLang="zh-CN" sz="1900" b="1" dirty="0"/>
                      <m:t>AB</m:t>
                    </m:r>
                  </m:oMath>
                </a14:m>
                <a:endParaRPr lang="en-US" altLang="zh-CN" sz="1900" b="1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900" b="1" dirty="0"/>
                          <m:t>P</m:t>
                        </m:r>
                      </m:e>
                      <m:sup>
                        <m:r>
                          <a:rPr lang="en-US" altLang="zh-CN" sz="19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900" b="1" dirty="0"/>
                      <m:t>=</m:t>
                    </m:r>
                    <m:sSup>
                      <m:sSupPr>
                        <m:ctrlPr>
                          <a:rPr lang="en-US" altLang="zh-CN" sz="19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900" b="1" i="0" dirty="0" smtClean="0"/>
                          <m:t>B</m:t>
                        </m:r>
                      </m:e>
                      <m:sup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n-US" altLang="zh-CN" sz="19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900" b="1" i="0" dirty="0" smtClean="0"/>
                          <m:t>A</m:t>
                        </m:r>
                      </m:e>
                      <m:sup>
                        <m:r>
                          <a:rPr lang="en-US" altLang="zh-CN" sz="19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 altLang="zh-CN" sz="1900" b="1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900" b="1" dirty="0" smtClean="0">
                        <a:solidFill>
                          <a:srgbClr val="FF0000"/>
                        </a:solidFill>
                      </a:rPr>
                      <m:t>AB</m:t>
                    </m:r>
                    <m:r>
                      <m:rPr>
                        <m:nor/>
                      </m:rPr>
                      <a:rPr lang="en-US" altLang="zh-CN" sz="1900" b="1" i="0" dirty="0" smtClean="0">
                        <a:solidFill>
                          <a:srgbClr val="FF0000"/>
                        </a:solidFill>
                      </a:rPr>
                      <m:t>=</m:t>
                    </m:r>
                    <m:r>
                      <m:rPr>
                        <m:nor/>
                      </m:rPr>
                      <a:rPr lang="en-US" altLang="zh-CN" sz="1900" b="1" dirty="0" smtClean="0">
                        <a:solidFill>
                          <a:srgbClr val="FF0000"/>
                        </a:solidFill>
                      </a:rPr>
                      <m:t>AB</m:t>
                    </m:r>
                    <m:r>
                      <m:rPr>
                        <m:nor/>
                      </m:rPr>
                      <a:rPr lang="en-US" altLang="zh-CN" sz="1900" b="1" i="0" dirty="0" smtClean="0">
                        <a:solidFill>
                          <a:srgbClr val="FF0000"/>
                        </a:solidFill>
                      </a:rPr>
                      <m:t> (</m:t>
                    </m:r>
                    <m:r>
                      <a:rPr lang="zh-CN" altLang="en-US" sz="19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一般</m:t>
                    </m:r>
                  </m:oMath>
                </a14:m>
                <a:r>
                  <a:rPr lang="zh-CN" altLang="en-US" sz="1900" b="1" dirty="0">
                    <a:solidFill>
                      <a:srgbClr val="FF0000"/>
                    </a:solidFill>
                  </a:rPr>
                  <a:t>不成立</a:t>
                </a:r>
                <a:r>
                  <a:rPr lang="en-US" altLang="zh-CN" sz="1900" b="1" dirty="0">
                    <a:solidFill>
                      <a:srgbClr val="FF0000"/>
                    </a:solidFill>
                  </a:rPr>
                  <a:t>!)</a:t>
                </a:r>
              </a:p>
              <a:p>
                <a:pPr lvl="1"/>
                <a:endParaRPr lang="en-US" altLang="zh-CN" sz="1900" b="1" dirty="0"/>
              </a:p>
              <a:p>
                <a:pPr lvl="1"/>
                <a:endParaRPr lang="en-US" altLang="zh-CN" sz="1900" dirty="0"/>
              </a:p>
              <a:p>
                <a:pPr lvl="1"/>
                <a:endParaRPr lang="en-US" altLang="zh-CN" sz="19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05CB9CC-8606-4E2F-B5FD-17262CB15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97677-BAF4-4BBE-9026-337C7D4E95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8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E75D34-2CA4-4A55-9589-B84F8928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0" y="2819400"/>
            <a:ext cx="7620660" cy="18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4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9F7C7-F1B3-4391-BEB2-2ABCBB3D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6C02A4-ED82-4486-A3EA-D6D5F35365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800" dirty="0"/>
                  <a:t>正交基的构建、正交矩阵</a:t>
                </a:r>
                <a:endParaRPr lang="en-US" altLang="zh-CN" sz="2800" dirty="0"/>
              </a:p>
              <a:p>
                <a:pPr lvl="1"/>
                <a:r>
                  <a:rPr lang="zh-CN" altLang="en-US" dirty="0"/>
                  <a:t>单位正交矩阵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dirty="0"/>
                  <a:t>正交：各向量点积为</a:t>
                </a:r>
                <a:r>
                  <a:rPr lang="en-US" altLang="zh-CN" dirty="0"/>
                  <a:t>0</a:t>
                </a:r>
              </a:p>
              <a:p>
                <a:pPr lvl="1"/>
                <a:r>
                  <a:rPr lang="zh-CN" altLang="en-US" dirty="0"/>
                  <a:t>单位：各向量模长为</a:t>
                </a:r>
                <a:r>
                  <a:rPr lang="en-US" altLang="zh-CN" dirty="0"/>
                  <a:t>1</a:t>
                </a:r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给定三个不共面的向量，如何构建正交基？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叉乘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6C02A4-ED82-4486-A3EA-D6D5F35365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DF1C4-99CD-4CBB-90BC-65A9221A7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442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B5D9-F2E9-49B0-9420-FAB6124B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顶点变换的流程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981D3-8C31-488E-AE70-6A1F8E40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2FBF5-45C8-4724-B934-7C48FEADB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10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4B8DE2-700B-4147-8057-3BA676DB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34" y="1983084"/>
            <a:ext cx="7056732" cy="33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8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B5D9-F2E9-49B0-9420-FAB6124B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顶点变换的流程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981D3-8C31-488E-AE70-6A1F8E40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2FBF5-45C8-4724-B934-7C48FEADB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11</a:t>
            </a:fld>
            <a:endParaRPr lang="es-E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B0439F-E093-4E2F-BE4B-9989FAE4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942" y="1553321"/>
            <a:ext cx="6107715" cy="515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87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B5D9-F2E9-49B0-9420-FAB6124B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模型视图变换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981D3-8C31-488E-AE70-6A1F8E40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模型变换</a:t>
            </a:r>
            <a:endParaRPr lang="en-US" altLang="zh-CN" dirty="0"/>
          </a:p>
          <a:p>
            <a:pPr lvl="1"/>
            <a:r>
              <a:rPr lang="zh-CN" altLang="en-US" dirty="0"/>
              <a:t>平移、旋转、缩放</a:t>
            </a:r>
            <a:endParaRPr lang="en-US" altLang="zh-CN" dirty="0"/>
          </a:p>
          <a:p>
            <a:pPr lvl="1"/>
            <a:r>
              <a:rPr lang="zh-CN" altLang="en-US" dirty="0"/>
              <a:t>绕任意轴旋转</a:t>
            </a:r>
            <a:endParaRPr lang="en-US" altLang="zh-CN" dirty="0"/>
          </a:p>
          <a:p>
            <a:pPr lvl="1"/>
            <a:r>
              <a:rPr lang="zh-CN" altLang="en-US" dirty="0"/>
              <a:t>复杂变换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相机变换（视点变换）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2FBF5-45C8-4724-B934-7C48FEADB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167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平移（</a:t>
            </a:r>
            <a:r>
              <a:rPr lang="en-US" altLang="zh-CN" dirty="0"/>
              <a:t>translation)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改变物体的位置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平移由平移向量</a:t>
            </a:r>
            <a:r>
              <a:rPr lang="en-US" altLang="zh-CN" i="1" dirty="0"/>
              <a:t>d</a:t>
            </a:r>
            <a:r>
              <a:rPr lang="zh-CN" altLang="en-US" dirty="0"/>
              <a:t>确定</a:t>
            </a:r>
            <a:endParaRPr lang="en-US" altLang="zh-CN" dirty="0"/>
          </a:p>
          <a:p>
            <a:pPr lvl="1"/>
            <a:r>
              <a:rPr lang="zh-CN" altLang="en-US" dirty="0"/>
              <a:t>三个自由度 </a:t>
            </a:r>
            <a:r>
              <a:rPr lang="en-US" altLang="zh-CN" dirty="0"/>
              <a:t>(degrees of freedom, DOF)</a:t>
            </a:r>
          </a:p>
          <a:p>
            <a:pPr lvl="1"/>
            <a:r>
              <a:rPr lang="en-US" altLang="zh-CN" dirty="0"/>
              <a:t>P’ = P + </a:t>
            </a:r>
            <a:r>
              <a:rPr lang="en-US" altLang="zh-CN" i="1" dirty="0"/>
              <a:t>d</a:t>
            </a:r>
            <a:br>
              <a:rPr lang="zh-CN" altLang="en-US" dirty="0"/>
            </a:b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13</a:t>
            </a:fld>
            <a:endParaRPr lang="es-E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2133600"/>
            <a:ext cx="38481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08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对象的平移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把一个对象上的所有点沿同一方向移动相同距离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14</a:t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31" y="2724067"/>
            <a:ext cx="7631269" cy="351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9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平移的表示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应用在某个标架中的齐次坐标表示</a:t>
            </a:r>
            <a:endParaRPr lang="en-US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</a:rPr>
              <a:t>     p</a:t>
            </a:r>
            <a:r>
              <a:rPr lang="en-US" dirty="0">
                <a:latin typeface="Times New Roman" panose="02020603050405020304" pitchFamily="18" charset="0"/>
              </a:rPr>
              <a:t>=[ x y z 1]</a:t>
            </a:r>
            <a:r>
              <a:rPr lang="en-US" baseline="30000" dirty="0">
                <a:latin typeface="Times New Roman" panose="02020603050405020304" pitchFamily="18" charset="0"/>
              </a:rPr>
              <a:t>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</a:rPr>
              <a:t>     p</a:t>
            </a:r>
            <a:r>
              <a:rPr lang="en-US" dirty="0">
                <a:latin typeface="Times New Roman" panose="02020603050405020304" pitchFamily="18" charset="0"/>
              </a:rPr>
              <a:t>’=[x’ y’ z’ 1]</a:t>
            </a:r>
            <a:r>
              <a:rPr lang="en-US" baseline="30000" dirty="0">
                <a:latin typeface="Times New Roman" panose="02020603050405020304" pitchFamily="18" charset="0"/>
              </a:rPr>
              <a:t>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b="1" dirty="0">
                <a:latin typeface="Times New Roman" panose="02020603050405020304" pitchFamily="18" charset="0"/>
              </a:rPr>
              <a:t>     d</a:t>
            </a:r>
            <a:r>
              <a:rPr lang="en-US" dirty="0">
                <a:latin typeface="Times New Roman" panose="02020603050405020304" pitchFamily="18" charset="0"/>
              </a:rPr>
              <a:t>=[d</a:t>
            </a:r>
            <a:r>
              <a:rPr lang="en-US" sz="4300" baseline="-25000" dirty="0">
                <a:latin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d</a:t>
            </a:r>
            <a:r>
              <a:rPr lang="en-US" sz="4300" baseline="-25000" dirty="0" err="1">
                <a:latin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</a:rPr>
              <a:t>d</a:t>
            </a:r>
            <a:r>
              <a:rPr lang="en-US" sz="4300" baseline="-25000" dirty="0" err="1">
                <a:latin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</a:rPr>
              <a:t> 0]</a:t>
            </a:r>
            <a:r>
              <a:rPr lang="en-US" baseline="30000" dirty="0">
                <a:latin typeface="Times New Roman" panose="02020603050405020304" pitchFamily="18" charset="0"/>
              </a:rPr>
              <a:t>T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r>
              <a:rPr lang="en-US" b="1" dirty="0">
                <a:latin typeface="Times New Roman" panose="02020603050405020304" pitchFamily="18" charset="0"/>
              </a:rPr>
              <a:t> p</a:t>
            </a:r>
            <a:r>
              <a:rPr lang="en-US" dirty="0">
                <a:latin typeface="Times New Roman" panose="02020603050405020304" pitchFamily="18" charset="0"/>
              </a:rPr>
              <a:t>’ = </a:t>
            </a:r>
            <a:r>
              <a:rPr lang="en-US" b="1" dirty="0">
                <a:latin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</a:rPr>
              <a:t> + </a:t>
            </a:r>
            <a:r>
              <a:rPr lang="en-US" b="1" dirty="0">
                <a:latin typeface="Times New Roman" panose="02020603050405020304" pitchFamily="18" charset="0"/>
              </a:rPr>
              <a:t>d </a:t>
            </a:r>
            <a:r>
              <a:rPr lang="zh-CN" altLang="en-US" dirty="0">
                <a:latin typeface="Times New Roman" panose="02020603050405020304" pitchFamily="18" charset="0"/>
              </a:rPr>
              <a:t>或者</a:t>
            </a: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Times New Roman" panose="02020603050405020304" pitchFamily="18" charset="0"/>
              </a:rPr>
              <a:t>     x’=</a:t>
            </a:r>
            <a:r>
              <a:rPr lang="en-US" dirty="0" err="1">
                <a:latin typeface="Times New Roman" panose="02020603050405020304" pitchFamily="18" charset="0"/>
              </a:rPr>
              <a:t>x+d</a:t>
            </a:r>
            <a:r>
              <a:rPr lang="en-US" sz="4300" baseline="-25000" dirty="0" err="1">
                <a:latin typeface="Times New Roman" panose="02020603050405020304" pitchFamily="18" charset="0"/>
              </a:rPr>
              <a:t>x</a:t>
            </a:r>
            <a:endParaRPr lang="en-US" sz="4300" baseline="-250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Times New Roman" panose="02020603050405020304" pitchFamily="18" charset="0"/>
              </a:rPr>
              <a:t>     y’=</a:t>
            </a:r>
            <a:r>
              <a:rPr lang="en-US" dirty="0" err="1">
                <a:latin typeface="Times New Roman" panose="02020603050405020304" pitchFamily="18" charset="0"/>
              </a:rPr>
              <a:t>y+d</a:t>
            </a:r>
            <a:r>
              <a:rPr lang="en-US" sz="4300" baseline="-25000" dirty="0" err="1">
                <a:latin typeface="Times New Roman" panose="02020603050405020304" pitchFamily="18" charset="0"/>
              </a:rPr>
              <a:t>y</a:t>
            </a:r>
            <a:endParaRPr lang="en-US" sz="4300" baseline="-25000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Times New Roman" panose="02020603050405020304" pitchFamily="18" charset="0"/>
              </a:rPr>
              <a:t>     z’=</a:t>
            </a:r>
            <a:r>
              <a:rPr lang="en-US" dirty="0" err="1">
                <a:latin typeface="Times New Roman" panose="02020603050405020304" pitchFamily="18" charset="0"/>
              </a:rPr>
              <a:t>z+d</a:t>
            </a:r>
            <a:r>
              <a:rPr lang="en-US" sz="4300" baseline="-25000" dirty="0" err="1">
                <a:latin typeface="Times New Roman" panose="02020603050405020304" pitchFamily="18" charset="0"/>
              </a:rPr>
              <a:t>z</a:t>
            </a:r>
            <a:endParaRPr lang="en-US" sz="4300" baseline="-2500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15</a:t>
            </a:fld>
            <a:endParaRPr lang="es-ES"/>
          </a:p>
        </p:txBody>
      </p:sp>
      <p:sp>
        <p:nvSpPr>
          <p:cNvPr id="6" name="文本框 5"/>
          <p:cNvSpPr txBox="1"/>
          <p:nvPr/>
        </p:nvSpPr>
        <p:spPr>
          <a:xfrm>
            <a:off x="4267200" y="2433252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注意：这里是四维的齐次坐标，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用的是点</a:t>
            </a:r>
            <a:r>
              <a:rPr lang="en-US" altLang="zh-CN" dirty="0">
                <a:latin typeface="+mj-ea"/>
                <a:ea typeface="+mj-ea"/>
              </a:rPr>
              <a:t>=</a:t>
            </a:r>
            <a:r>
              <a:rPr lang="zh-CN" altLang="en-US" dirty="0">
                <a:latin typeface="+mj-ea"/>
                <a:ea typeface="+mj-ea"/>
              </a:rPr>
              <a:t>点</a:t>
            </a:r>
            <a:r>
              <a:rPr lang="en-US" altLang="zh-CN" dirty="0">
                <a:latin typeface="+mj-ea"/>
                <a:ea typeface="+mj-ea"/>
              </a:rPr>
              <a:t>+</a:t>
            </a:r>
            <a:r>
              <a:rPr lang="zh-CN" altLang="en-US" dirty="0">
                <a:latin typeface="+mj-ea"/>
                <a:ea typeface="+mj-ea"/>
              </a:rPr>
              <a:t>向量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00600" y="3704968"/>
            <a:ext cx="31085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第四维度为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表示点，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为</a:t>
            </a:r>
            <a:r>
              <a:rPr lang="en-US" altLang="zh-CN" dirty="0">
                <a:latin typeface="+mj-ea"/>
                <a:ea typeface="+mj-ea"/>
              </a:rPr>
              <a:t>0</a:t>
            </a:r>
            <a:r>
              <a:rPr lang="zh-CN" altLang="en-US" dirty="0">
                <a:latin typeface="+mj-ea"/>
                <a:ea typeface="+mj-ea"/>
              </a:rPr>
              <a:t>表示方向（向量）</a:t>
            </a:r>
            <a:endParaRPr 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0936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平移矩阵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可以用在齐次坐标中一个</a:t>
            </a:r>
            <a:r>
              <a:rPr lang="en-US" altLang="zh-CN" dirty="0"/>
              <a:t>4x4</a:t>
            </a:r>
            <a:r>
              <a:rPr lang="zh-CN" altLang="en-US" dirty="0"/>
              <a:t>的矩阵</a:t>
            </a:r>
            <a:r>
              <a:rPr lang="en-US" altLang="zh-CN" b="1" dirty="0"/>
              <a:t>T</a:t>
            </a:r>
            <a:r>
              <a:rPr lang="zh-CN" altLang="en-US" dirty="0"/>
              <a:t>表示</a:t>
            </a:r>
            <a:br>
              <a:rPr lang="zh-CN" altLang="en-US" dirty="0"/>
            </a:br>
            <a:r>
              <a:rPr lang="zh-CN" altLang="en-US" dirty="0"/>
              <a:t>平移：</a:t>
            </a:r>
            <a:r>
              <a:rPr lang="en-US" sz="3200" b="1" dirty="0">
                <a:latin typeface="Times New Roman" panose="02020603050405020304" pitchFamily="18" charset="0"/>
              </a:rPr>
              <a:t>p</a:t>
            </a:r>
            <a:r>
              <a:rPr lang="en-US" sz="3200" dirty="0"/>
              <a:t>’=</a:t>
            </a:r>
            <a:r>
              <a:rPr lang="en-US" sz="3200" b="1" dirty="0" err="1">
                <a:latin typeface="Times New Roman" panose="02020603050405020304" pitchFamily="18" charset="0"/>
              </a:rPr>
              <a:t>Tp</a:t>
            </a:r>
            <a:r>
              <a:rPr lang="en-US" sz="3200" dirty="0"/>
              <a:t> </a:t>
            </a:r>
            <a:r>
              <a:rPr lang="zh-CN" altLang="en-US" sz="3200" dirty="0"/>
              <a:t>其中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3200" b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3200" b="1" dirty="0">
                <a:latin typeface="Times New Roman" panose="02020603050405020304" pitchFamily="18" charset="0"/>
              </a:rPr>
              <a:t>   T </a:t>
            </a:r>
            <a:r>
              <a:rPr lang="en-US" sz="3200" dirty="0"/>
              <a:t>= </a:t>
            </a:r>
            <a:r>
              <a:rPr lang="en-US" sz="3200" b="1" dirty="0">
                <a:latin typeface="Times New Roman" panose="02020603050405020304" pitchFamily="18" charset="0"/>
              </a:rPr>
              <a:t>T</a:t>
            </a:r>
            <a:r>
              <a:rPr lang="en-US" sz="3200" dirty="0"/>
              <a:t>(d</a:t>
            </a:r>
            <a:r>
              <a:rPr lang="en-US" sz="3200" baseline="-25000" dirty="0"/>
              <a:t>x</a:t>
            </a:r>
            <a:r>
              <a:rPr lang="en-US" sz="3200" dirty="0"/>
              <a:t>, </a:t>
            </a:r>
            <a:r>
              <a:rPr lang="en-US" sz="3200" dirty="0" err="1"/>
              <a:t>d</a:t>
            </a:r>
            <a:r>
              <a:rPr lang="en-US" sz="3200" baseline="-25000" dirty="0" err="1"/>
              <a:t>y</a:t>
            </a:r>
            <a:r>
              <a:rPr lang="en-US" sz="3200" dirty="0"/>
              <a:t>, </a:t>
            </a:r>
            <a:r>
              <a:rPr lang="en-US" sz="3200" dirty="0" err="1"/>
              <a:t>d</a:t>
            </a:r>
            <a:r>
              <a:rPr lang="en-US" sz="3200" baseline="-25000" dirty="0" err="1"/>
              <a:t>z</a:t>
            </a:r>
            <a:r>
              <a:rPr lang="en-US" sz="3200" dirty="0"/>
              <a:t>) =</a:t>
            </a:r>
          </a:p>
          <a:p>
            <a:pPr marL="0" indent="0">
              <a:buNone/>
            </a:pP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sz="2000" dirty="0"/>
              <a:t>请自行动手乘一下。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800" dirty="0"/>
              <a:t>图形学中大量采用这种形式，这种形式更容易实现，因为所有的仿射变换（旋转和平移）都可以用这种形式统一表示，矩阵乘法可以复合在一起</a:t>
            </a:r>
            <a:br>
              <a:rPr lang="zh-CN" altLang="en-US" sz="2800" dirty="0"/>
            </a:br>
            <a:endParaRPr 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16</a:t>
            </a:fld>
            <a:endParaRPr lang="es-E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4267200" y="2362200"/>
          <a:ext cx="2105025" cy="199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3" imgW="965160" imgH="914400" progId="Equation.3">
                  <p:embed/>
                </p:oleObj>
              </mc:Choice>
              <mc:Fallback>
                <p:oleObj name="Equation" r:id="rId3" imgW="965160" imgH="9144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362200"/>
                        <a:ext cx="2105025" cy="199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2016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平移矩阵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请实现函数替代</a:t>
            </a:r>
            <a:r>
              <a:rPr lang="en-US" altLang="zh-CN" sz="2800" dirty="0"/>
              <a:t>OpenGL</a:t>
            </a:r>
            <a:r>
              <a:rPr lang="zh-CN" altLang="en-US" sz="2800" dirty="0"/>
              <a:t>的平移函数</a:t>
            </a:r>
            <a:endParaRPr lang="en-US" altLang="zh-CN" sz="2800" dirty="0"/>
          </a:p>
          <a:p>
            <a:pPr lvl="1"/>
            <a:r>
              <a:rPr lang="en-US" altLang="zh-CN" sz="2300" dirty="0" err="1"/>
              <a:t>myTranslate</a:t>
            </a:r>
            <a:r>
              <a:rPr lang="en-US" altLang="zh-CN" sz="2300" dirty="0"/>
              <a:t>(float dx, float </a:t>
            </a:r>
            <a:r>
              <a:rPr lang="en-US" altLang="zh-CN" sz="2300" dirty="0" err="1"/>
              <a:t>dy</a:t>
            </a:r>
            <a:r>
              <a:rPr lang="en-US" altLang="zh-CN" sz="2300" dirty="0"/>
              <a:t>, float </a:t>
            </a:r>
            <a:r>
              <a:rPr lang="en-US" altLang="zh-CN" sz="2300" dirty="0" err="1"/>
              <a:t>dz</a:t>
            </a:r>
            <a:r>
              <a:rPr lang="en-US" altLang="zh-CN" sz="2300" dirty="0"/>
              <a:t>)</a:t>
            </a:r>
          </a:p>
          <a:p>
            <a:pPr lvl="1"/>
            <a:endParaRPr lang="en-US" altLang="zh-CN" sz="2300" dirty="0"/>
          </a:p>
          <a:p>
            <a:pPr lvl="1"/>
            <a:br>
              <a:rPr lang="zh-CN" altLang="en-US" sz="2300" dirty="0"/>
            </a:br>
            <a:endParaRPr lang="en-US" sz="23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17</a:t>
            </a:fld>
            <a:endParaRPr lang="es-ES"/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E323DE6E-FBBD-45C5-B9D7-D0F6AFBBF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048131"/>
              </p:ext>
            </p:extLst>
          </p:nvPr>
        </p:nvGraphicFramePr>
        <p:xfrm>
          <a:off x="3125109" y="2743200"/>
          <a:ext cx="2893781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3" imgW="965160" imgH="914400" progId="Equation.3">
                  <p:embed/>
                </p:oleObj>
              </mc:Choice>
              <mc:Fallback>
                <p:oleObj name="Equation" r:id="rId3" imgW="965160" imgH="9144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109" y="2743200"/>
                        <a:ext cx="2893781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3147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二维旋转（</a:t>
            </a:r>
            <a:r>
              <a:rPr lang="en-US" altLang="zh-CN" dirty="0"/>
              <a:t>2-dimensional Rotation)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考虑绕原点旋转</a:t>
            </a:r>
            <a:r>
              <a:rPr lang="en-US" sz="3200" dirty="0">
                <a:latin typeface="Symbol" panose="05050102010706020507" pitchFamily="18" charset="2"/>
              </a:rPr>
              <a:t>q</a:t>
            </a:r>
            <a:r>
              <a:rPr lang="zh-CN" altLang="en-US" dirty="0"/>
              <a:t>度</a:t>
            </a:r>
            <a:endParaRPr lang="en-US" altLang="zh-CN" dirty="0"/>
          </a:p>
          <a:p>
            <a:pPr lvl="1"/>
            <a:r>
              <a:rPr lang="zh-CN" altLang="en-US" dirty="0"/>
              <a:t>半径保持不变，角度增加了</a:t>
            </a:r>
            <a:r>
              <a:rPr lang="en-US" sz="2400" dirty="0">
                <a:latin typeface="Symbol" panose="05050102010706020507" pitchFamily="18" charset="2"/>
              </a:rPr>
              <a:t>q</a:t>
            </a:r>
            <a:r>
              <a:rPr lang="en-US" sz="2400" dirty="0"/>
              <a:t> 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18</a:t>
            </a:fld>
            <a:endParaRPr lang="es-ES"/>
          </a:p>
        </p:txBody>
      </p:sp>
      <p:pic>
        <p:nvPicPr>
          <p:cNvPr id="5" name="Picture 7" descr="AN04F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124200"/>
            <a:ext cx="25304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4876800" y="3962400"/>
            <a:ext cx="2787650" cy="835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/>
              <a:t>x’=x cos </a:t>
            </a:r>
            <a:r>
              <a:rPr lang="en-US">
                <a:latin typeface="Symbol" panose="05050102010706020507" pitchFamily="18" charset="2"/>
              </a:rPr>
              <a:t>q</a:t>
            </a:r>
            <a:r>
              <a:rPr lang="en-US"/>
              <a:t> –y sin </a:t>
            </a:r>
            <a:r>
              <a:rPr lang="en-US">
                <a:latin typeface="Symbol" panose="05050102010706020507" pitchFamily="18" charset="2"/>
              </a:rPr>
              <a:t>q</a:t>
            </a:r>
          </a:p>
          <a:p>
            <a:r>
              <a:rPr lang="en-US"/>
              <a:t>y’ = x sin </a:t>
            </a:r>
            <a:r>
              <a:rPr lang="en-US">
                <a:latin typeface="Symbol" panose="05050102010706020507" pitchFamily="18" charset="2"/>
              </a:rPr>
              <a:t>q</a:t>
            </a:r>
            <a:r>
              <a:rPr lang="en-US"/>
              <a:t> + y cos </a:t>
            </a:r>
            <a:r>
              <a:rPr lang="en-US">
                <a:latin typeface="Symbol" panose="05050102010706020507" pitchFamily="18" charset="2"/>
              </a:rPr>
              <a:t>q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953000" y="5105400"/>
            <a:ext cx="14795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/>
              <a:t>x = r cos </a:t>
            </a:r>
            <a:r>
              <a:rPr lang="en-US">
                <a:latin typeface="Symbol" panose="05050102010706020507" pitchFamily="18" charset="2"/>
              </a:rPr>
              <a:t>f</a:t>
            </a:r>
          </a:p>
          <a:p>
            <a:r>
              <a:rPr lang="en-US"/>
              <a:t>y = r sin </a:t>
            </a:r>
            <a:r>
              <a:rPr lang="en-US">
                <a:latin typeface="Symbol" panose="05050102010706020507" pitchFamily="18" charset="2"/>
              </a:rPr>
              <a:t>f</a:t>
            </a: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 flipV="1">
            <a:off x="3886200" y="4953000"/>
            <a:ext cx="83820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en-US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581400" y="2590800"/>
            <a:ext cx="22365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/>
              <a:t>x' = r cos (</a:t>
            </a:r>
            <a:r>
              <a:rPr lang="en-US" dirty="0">
                <a:latin typeface="Symbol" panose="05050102010706020507" pitchFamily="18" charset="2"/>
              </a:rPr>
              <a:t>f + q)</a:t>
            </a:r>
          </a:p>
          <a:p>
            <a:r>
              <a:rPr lang="en-US" dirty="0"/>
              <a:t>y' = r sin (</a:t>
            </a:r>
            <a:r>
              <a:rPr lang="en-US" dirty="0">
                <a:latin typeface="Symbol" panose="05050102010706020507" pitchFamily="18" charset="2"/>
              </a:rPr>
              <a:t>f + q)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H="1">
            <a:off x="3124200" y="3048000"/>
            <a:ext cx="38100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72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二维旋转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旋转轴：等效于三维空间绕</a:t>
            </a:r>
            <a:r>
              <a:rPr lang="en-US" altLang="zh-CN" dirty="0"/>
              <a:t>z</a:t>
            </a:r>
            <a:r>
              <a:rPr lang="zh-CN" altLang="en-US" dirty="0"/>
              <a:t>轴旋转</a:t>
            </a:r>
            <a:endParaRPr lang="en-US" altLang="zh-CN" dirty="0"/>
          </a:p>
          <a:p>
            <a:r>
              <a:rPr lang="zh-CN" altLang="en-US" dirty="0"/>
              <a:t>旋转角：（从</a:t>
            </a:r>
            <a:r>
              <a:rPr lang="en-US" altLang="zh-CN" dirty="0"/>
              <a:t>z</a:t>
            </a:r>
            <a:r>
              <a:rPr lang="zh-CN" altLang="en-US" dirty="0"/>
              <a:t>轴正方向看）逆时针方向为</a:t>
            </a:r>
            <a:br>
              <a:rPr lang="zh-CN" altLang="en-US" dirty="0"/>
            </a:br>
            <a:r>
              <a:rPr lang="zh-CN" altLang="en-US" dirty="0"/>
              <a:t>正向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19</a:t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3262380"/>
            <a:ext cx="65722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37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绕</a:t>
            </a:r>
            <a:r>
              <a:rPr lang="en-US" dirty="0"/>
              <a:t>z</a:t>
            </a:r>
            <a:r>
              <a:rPr lang="zh-CN" altLang="en-US" dirty="0"/>
              <a:t>轴的旋转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在三维空间中绕</a:t>
            </a:r>
            <a:r>
              <a:rPr lang="en-US" altLang="zh-CN" dirty="0"/>
              <a:t>z</a:t>
            </a:r>
            <a:r>
              <a:rPr lang="zh-CN" altLang="en-US" dirty="0"/>
              <a:t>轴旋转，点的</a:t>
            </a:r>
            <a:r>
              <a:rPr lang="en-US" altLang="zh-CN" dirty="0"/>
              <a:t>z</a:t>
            </a:r>
            <a:r>
              <a:rPr lang="zh-CN" altLang="en-US" dirty="0"/>
              <a:t>坐标不变</a:t>
            </a:r>
            <a:endParaRPr lang="en-US" altLang="zh-CN" dirty="0"/>
          </a:p>
          <a:p>
            <a:pPr lvl="1"/>
            <a:r>
              <a:rPr lang="zh-CN" altLang="en-US" dirty="0"/>
              <a:t>等价于在</a:t>
            </a:r>
            <a:r>
              <a:rPr lang="en-US" altLang="zh-CN" dirty="0"/>
              <a:t>z=</a:t>
            </a:r>
            <a:r>
              <a:rPr lang="zh-CN" altLang="en-US" dirty="0"/>
              <a:t>常数的平面上进行二维旋转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810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其齐次坐标表示为</a:t>
            </a:r>
            <a:br>
              <a:rPr lang="zh-CN" altLang="en-US" dirty="0"/>
            </a:br>
            <a:r>
              <a:rPr lang="en-US" b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p</a:t>
            </a:r>
            <a:r>
              <a:rPr lang="en-US" dirty="0">
                <a:ea typeface="ＭＳ Ｐゴシック" panose="020B0600070205080204" pitchFamily="34" charset="-128"/>
              </a:rPr>
              <a:t>’=</a:t>
            </a:r>
            <a:r>
              <a:rPr lang="en-US" b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R</a:t>
            </a:r>
            <a:r>
              <a:rPr lang="en-US" sz="4200" b="1" baseline="-25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z</a:t>
            </a:r>
            <a:r>
              <a:rPr 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(</a:t>
            </a:r>
            <a:r>
              <a:rPr lang="en-US" dirty="0">
                <a:latin typeface="Symbol" panose="05050102010706020507" pitchFamily="18" charset="2"/>
                <a:ea typeface="ＭＳ Ｐゴシック" panose="020B0600070205080204" pitchFamily="34" charset="-128"/>
              </a:rPr>
              <a:t>q</a:t>
            </a:r>
            <a:r>
              <a:rPr 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)</a:t>
            </a:r>
            <a:r>
              <a:rPr lang="en-US" b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p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20</a:t>
            </a:fld>
            <a:endParaRPr lang="es-E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09800" y="2590800"/>
            <a:ext cx="27749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/>
              <a:t>x’=x </a:t>
            </a:r>
            <a:r>
              <a:rPr lang="en-US" dirty="0" err="1"/>
              <a:t>cos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q</a:t>
            </a:r>
            <a:r>
              <a:rPr lang="en-US" dirty="0"/>
              <a:t> –y sin </a:t>
            </a:r>
            <a:r>
              <a:rPr lang="en-US" dirty="0">
                <a:latin typeface="Symbol" panose="05050102010706020507" pitchFamily="18" charset="2"/>
              </a:rPr>
              <a:t>q</a:t>
            </a:r>
          </a:p>
          <a:p>
            <a:r>
              <a:rPr lang="en-US" dirty="0"/>
              <a:t>y’ = x sin </a:t>
            </a:r>
            <a:r>
              <a:rPr lang="en-US" dirty="0">
                <a:latin typeface="Symbol" panose="05050102010706020507" pitchFamily="18" charset="2"/>
              </a:rPr>
              <a:t>q</a:t>
            </a:r>
            <a:r>
              <a:rPr lang="en-US" dirty="0"/>
              <a:t> + y </a:t>
            </a:r>
            <a:r>
              <a:rPr lang="en-US" dirty="0" err="1"/>
              <a:t>cos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q</a:t>
            </a:r>
          </a:p>
          <a:p>
            <a:r>
              <a:rPr lang="en-US" dirty="0"/>
              <a:t>z’ =z</a:t>
            </a:r>
          </a:p>
        </p:txBody>
      </p:sp>
    </p:spTree>
    <p:extLst>
      <p:ext uri="{BB962C8B-B14F-4D97-AF65-F5344CB8AC3E}">
        <p14:creationId xmlns:p14="http://schemas.microsoft.com/office/powerpoint/2010/main" val="453716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绕</a:t>
            </a:r>
            <a:r>
              <a:rPr lang="en-US" dirty="0"/>
              <a:t>z</a:t>
            </a:r>
            <a:r>
              <a:rPr lang="zh-CN" altLang="en-US" dirty="0"/>
              <a:t>轴的旋转矩阵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21</a:t>
            </a:fld>
            <a:endParaRPr lang="es-E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3218645" y="3352800"/>
          <a:ext cx="344805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3" imgW="1460160" imgH="914400" progId="Equation.3">
                  <p:embed/>
                </p:oleObj>
              </mc:Choice>
              <mc:Fallback>
                <p:oleObj name="Equation" r:id="rId3" imgW="1460160" imgH="91440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8645" y="3352800"/>
                        <a:ext cx="344805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13670" y="3962400"/>
            <a:ext cx="1752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1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  <a:cs typeface="ＭＳ Ｐゴシック" charset="-128"/>
              </a:defRPr>
            </a:lvl1pPr>
            <a:lvl2pPr marL="571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­"/>
              <a:defRPr sz="26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2pPr>
            <a:lvl3pPr marL="952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kern="0">
                <a:latin typeface="Times New Roman" panose="02020603050405020304" pitchFamily="18" charset="0"/>
              </a:rPr>
              <a:t>R</a:t>
            </a:r>
            <a:r>
              <a:rPr lang="en-US" sz="2400" kern="0">
                <a:latin typeface="Times New Roman" panose="02020603050405020304" pitchFamily="18" charset="0"/>
              </a:rPr>
              <a:t> = </a:t>
            </a:r>
            <a:r>
              <a:rPr lang="en-US" sz="2400" b="1" kern="0">
                <a:latin typeface="Times New Roman" panose="02020603050405020304" pitchFamily="18" charset="0"/>
              </a:rPr>
              <a:t>R</a:t>
            </a:r>
            <a:r>
              <a:rPr lang="en-US" sz="3200" kern="0" baseline="-25000">
                <a:latin typeface="Times New Roman" panose="02020603050405020304" pitchFamily="18" charset="0"/>
              </a:rPr>
              <a:t>z</a:t>
            </a:r>
            <a:r>
              <a:rPr lang="en-US" sz="2400" kern="0">
                <a:latin typeface="Times New Roman" panose="02020603050405020304" pitchFamily="18" charset="0"/>
              </a:rPr>
              <a:t>(</a:t>
            </a:r>
            <a:r>
              <a:rPr lang="en-US" sz="2400" kern="0">
                <a:latin typeface="Symbol" panose="05050102010706020507" pitchFamily="18" charset="2"/>
              </a:rPr>
              <a:t>q</a:t>
            </a:r>
            <a:r>
              <a:rPr lang="en-US" sz="2400" kern="0">
                <a:latin typeface="Times New Roman" panose="02020603050405020304" pitchFamily="18" charset="0"/>
              </a:rPr>
              <a:t>) =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18645" y="1720179"/>
            <a:ext cx="27749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/>
              <a:t>x’=x </a:t>
            </a:r>
            <a:r>
              <a:rPr lang="en-US" dirty="0" err="1"/>
              <a:t>cos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q</a:t>
            </a:r>
            <a:r>
              <a:rPr lang="en-US" dirty="0"/>
              <a:t> –y sin </a:t>
            </a:r>
            <a:r>
              <a:rPr lang="en-US" dirty="0">
                <a:latin typeface="Symbol" panose="05050102010706020507" pitchFamily="18" charset="2"/>
              </a:rPr>
              <a:t>q</a:t>
            </a:r>
          </a:p>
          <a:p>
            <a:r>
              <a:rPr lang="en-US" dirty="0"/>
              <a:t>y’ = x sin </a:t>
            </a:r>
            <a:r>
              <a:rPr lang="en-US" dirty="0">
                <a:latin typeface="Symbol" panose="05050102010706020507" pitchFamily="18" charset="2"/>
              </a:rPr>
              <a:t>q</a:t>
            </a:r>
            <a:r>
              <a:rPr lang="en-US" dirty="0"/>
              <a:t> + y </a:t>
            </a:r>
            <a:r>
              <a:rPr lang="en-US" dirty="0" err="1"/>
              <a:t>cos</a:t>
            </a:r>
            <a:r>
              <a:rPr lang="en-US" dirty="0"/>
              <a:t> </a:t>
            </a:r>
            <a:r>
              <a:rPr lang="en-US" dirty="0">
                <a:latin typeface="Symbol" panose="05050102010706020507" pitchFamily="18" charset="2"/>
              </a:rPr>
              <a:t>q</a:t>
            </a:r>
          </a:p>
          <a:p>
            <a:r>
              <a:rPr lang="en-US" dirty="0"/>
              <a:t>z’ =z</a:t>
            </a:r>
          </a:p>
        </p:txBody>
      </p:sp>
    </p:spTree>
    <p:extLst>
      <p:ext uri="{BB962C8B-B14F-4D97-AF65-F5344CB8AC3E}">
        <p14:creationId xmlns:p14="http://schemas.microsoft.com/office/powerpoint/2010/main" val="358424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绕</a:t>
            </a:r>
            <a:r>
              <a:rPr lang="en-US" altLang="zh-CN" dirty="0"/>
              <a:t>X</a:t>
            </a:r>
            <a:r>
              <a:rPr lang="zh-CN" altLang="en-US" dirty="0"/>
              <a:t>轴和绕</a:t>
            </a:r>
            <a:r>
              <a:rPr lang="en-US" altLang="zh-CN" dirty="0"/>
              <a:t>Y</a:t>
            </a:r>
            <a:r>
              <a:rPr lang="zh-CN" altLang="en-US" dirty="0"/>
              <a:t>轴的旋转矩阵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与绕</a:t>
            </a:r>
            <a:r>
              <a:rPr lang="en-US" altLang="zh-CN" dirty="0"/>
              <a:t>z</a:t>
            </a:r>
            <a:r>
              <a:rPr lang="zh-CN" altLang="en-US" dirty="0"/>
              <a:t>轴的旋转完全类似</a:t>
            </a:r>
            <a:endParaRPr lang="en-US" altLang="zh-CN" dirty="0"/>
          </a:p>
          <a:p>
            <a:pPr lvl="1"/>
            <a:r>
              <a:rPr lang="zh-CN" altLang="en-US" dirty="0"/>
              <a:t>对于绕</a:t>
            </a:r>
            <a:r>
              <a:rPr lang="en-US" altLang="zh-CN" dirty="0"/>
              <a:t>x</a:t>
            </a:r>
            <a:r>
              <a:rPr lang="zh-CN" altLang="en-US" dirty="0"/>
              <a:t>轴的旋转， </a:t>
            </a:r>
            <a:r>
              <a:rPr lang="en-US" altLang="zh-CN" dirty="0"/>
              <a:t>x</a:t>
            </a:r>
            <a:r>
              <a:rPr lang="zh-CN" altLang="en-US" dirty="0"/>
              <a:t>坐标不变</a:t>
            </a:r>
            <a:br>
              <a:rPr lang="zh-CN" altLang="en-US" dirty="0"/>
            </a:b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对于绕</a:t>
            </a:r>
            <a:r>
              <a:rPr lang="en-US" altLang="zh-CN" dirty="0"/>
              <a:t>y</a:t>
            </a:r>
            <a:r>
              <a:rPr lang="zh-CN" altLang="en-US" dirty="0"/>
              <a:t>轴的旋转， </a:t>
            </a:r>
            <a:r>
              <a:rPr lang="en-US" altLang="zh-CN" dirty="0"/>
              <a:t>y</a:t>
            </a:r>
            <a:r>
              <a:rPr lang="zh-CN" altLang="en-US" dirty="0"/>
              <a:t>坐标不变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22</a:t>
            </a:fld>
            <a:endParaRPr lang="es-E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62175" y="3302156"/>
            <a:ext cx="1752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/>
          <a:lstStyle>
            <a:lvl1pPr marL="190500" indent="-1905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b="1"/>
              <a:t>R</a:t>
            </a:r>
            <a:r>
              <a:rPr lang="en-US"/>
              <a:t> = </a:t>
            </a:r>
            <a:r>
              <a:rPr lang="en-US" b="1"/>
              <a:t>R</a:t>
            </a:r>
            <a:r>
              <a:rPr lang="en-US" sz="3200" baseline="-25000"/>
              <a:t>x</a:t>
            </a:r>
            <a:r>
              <a:rPr lang="en-US"/>
              <a:t>(</a:t>
            </a:r>
            <a:r>
              <a:rPr lang="en-US">
                <a:latin typeface="Symbol" panose="05050102010706020507" pitchFamily="18" charset="2"/>
              </a:rPr>
              <a:t>q</a:t>
            </a:r>
            <a:r>
              <a:rPr lang="en-US"/>
              <a:t>) =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163762" y="5373205"/>
            <a:ext cx="1752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/>
          <a:lstStyle>
            <a:lvl1pPr marL="190500" indent="-1905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b="1"/>
              <a:t>R</a:t>
            </a:r>
            <a:r>
              <a:rPr lang="en-US"/>
              <a:t> = </a:t>
            </a:r>
            <a:r>
              <a:rPr lang="en-US" b="1"/>
              <a:t>R</a:t>
            </a:r>
            <a:r>
              <a:rPr lang="en-US" sz="3200" baseline="-25000"/>
              <a:t>y</a:t>
            </a:r>
            <a:r>
              <a:rPr lang="en-US"/>
              <a:t>(</a:t>
            </a:r>
            <a:r>
              <a:rPr lang="en-US">
                <a:latin typeface="Symbol" panose="05050102010706020507" pitchFamily="18" charset="2"/>
              </a:rPr>
              <a:t>q</a:t>
            </a:r>
            <a:r>
              <a:rPr lang="en-US"/>
              <a:t>) =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3886200" y="2616356"/>
          <a:ext cx="2619375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3" imgW="1409400" imgH="914400" progId="Equation.3">
                  <p:embed/>
                </p:oleObj>
              </mc:Choice>
              <mc:Fallback>
                <p:oleObj name="Equation" r:id="rId3" imgW="1409400" imgH="914400" progId="Equation.3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616356"/>
                        <a:ext cx="2619375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3886200" y="4916005"/>
          <a:ext cx="2620962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5" imgW="1409400" imgH="914400" progId="Equation.3">
                  <p:embed/>
                </p:oleObj>
              </mc:Choice>
              <mc:Fallback>
                <p:oleObj name="Equation" r:id="rId5" imgW="1409400" imgH="9144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916005"/>
                        <a:ext cx="2620962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7817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刚体变换（</a:t>
            </a:r>
            <a:r>
              <a:rPr lang="en-US" altLang="zh-CN" dirty="0"/>
              <a:t>Rigid Transformation)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旋转与平移是两种</a:t>
            </a:r>
            <a:br>
              <a:rPr lang="zh-CN" altLang="en-US" dirty="0"/>
            </a:br>
            <a:r>
              <a:rPr lang="zh-CN" altLang="en-US" dirty="0"/>
              <a:t>刚体变换</a:t>
            </a:r>
            <a:endParaRPr lang="en-US" altLang="zh-CN" dirty="0"/>
          </a:p>
          <a:p>
            <a:pPr lvl="1"/>
            <a:r>
              <a:rPr lang="zh-CN" altLang="en-US" dirty="0"/>
              <a:t>这两种变换的复合</a:t>
            </a:r>
            <a:br>
              <a:rPr lang="zh-CN" altLang="en-US" dirty="0"/>
            </a:br>
            <a:r>
              <a:rPr lang="zh-CN" altLang="en-US" dirty="0"/>
              <a:t>只能改变对象的位</a:t>
            </a:r>
            <a:br>
              <a:rPr lang="zh-CN" altLang="en-US" dirty="0"/>
            </a:br>
            <a:r>
              <a:rPr lang="zh-CN" altLang="en-US" dirty="0"/>
              <a:t>置与定向</a:t>
            </a:r>
            <a:endParaRPr lang="en-US" altLang="zh-CN" dirty="0"/>
          </a:p>
          <a:p>
            <a:pPr lvl="1"/>
            <a:r>
              <a:rPr lang="zh-CN" altLang="en-US" dirty="0"/>
              <a:t>保角度和长度</a:t>
            </a:r>
            <a:endParaRPr lang="en-US" altLang="zh-CN" dirty="0"/>
          </a:p>
          <a:p>
            <a:r>
              <a:rPr lang="zh-CN" altLang="en-US" dirty="0"/>
              <a:t>其它的仿射变换会</a:t>
            </a:r>
            <a:br>
              <a:rPr lang="zh-CN" altLang="en-US" dirty="0"/>
            </a:br>
            <a:r>
              <a:rPr lang="zh-CN" altLang="en-US" dirty="0"/>
              <a:t>改变对象的形状和</a:t>
            </a:r>
            <a:br>
              <a:rPr lang="zh-CN" altLang="en-US" dirty="0"/>
            </a:br>
            <a:r>
              <a:rPr lang="zh-CN" altLang="en-US" dirty="0"/>
              <a:t>体积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23</a:t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69468"/>
            <a:ext cx="4516381" cy="4038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495800" y="1940868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非刚体变换</a:t>
            </a:r>
            <a:endParaRPr 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49629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缩放（</a:t>
            </a:r>
            <a:r>
              <a:rPr lang="en-US" altLang="zh-CN" dirty="0"/>
              <a:t>scaling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沿每个坐标轴伸展或收缩</a:t>
            </a:r>
            <a:r>
              <a:rPr lang="en-US" altLang="zh-CN" dirty="0"/>
              <a:t>(</a:t>
            </a:r>
            <a:r>
              <a:rPr lang="zh-CN" altLang="en-US" dirty="0"/>
              <a:t>原点为不动点</a:t>
            </a:r>
            <a:r>
              <a:rPr lang="en-US" altLang="zh-CN" dirty="0"/>
              <a:t>)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24</a:t>
            </a:fld>
            <a:endParaRPr lang="es-E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810000" y="4175192"/>
          <a:ext cx="2438400" cy="211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3" imgW="1054080" imgH="914400" progId="Equation.3">
                  <p:embed/>
                </p:oleObj>
              </mc:Choice>
              <mc:Fallback>
                <p:oleObj name="Equation" r:id="rId3" imgW="1054080" imgH="9144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175192"/>
                        <a:ext cx="2438400" cy="211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905000" y="5013392"/>
            <a:ext cx="2209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1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  <a:cs typeface="ＭＳ Ｐゴシック" charset="-128"/>
              </a:defRPr>
            </a:lvl1pPr>
            <a:lvl2pPr marL="571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har char="­"/>
              <a:defRPr sz="26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2pPr>
            <a:lvl3pPr marL="952500" indent="-1905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 baseline="0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kern="0">
                <a:latin typeface="Times New Roman" panose="02020603050405020304" pitchFamily="18" charset="0"/>
              </a:rPr>
              <a:t>S </a:t>
            </a:r>
            <a:r>
              <a:rPr lang="en-US" sz="2000" kern="0">
                <a:latin typeface="Times New Roman" panose="02020603050405020304" pitchFamily="18" charset="0"/>
              </a:rPr>
              <a:t>= </a:t>
            </a:r>
            <a:r>
              <a:rPr lang="en-US" sz="2000" b="1" kern="0">
                <a:latin typeface="Times New Roman" panose="02020603050405020304" pitchFamily="18" charset="0"/>
              </a:rPr>
              <a:t>S</a:t>
            </a:r>
            <a:r>
              <a:rPr lang="en-US" sz="2000" kern="0">
                <a:latin typeface="Times New Roman" panose="02020603050405020304" pitchFamily="18" charset="0"/>
              </a:rPr>
              <a:t>(s</a:t>
            </a:r>
            <a:r>
              <a:rPr lang="en-US" sz="2000" kern="0" baseline="-25000">
                <a:latin typeface="Times New Roman" panose="02020603050405020304" pitchFamily="18" charset="0"/>
              </a:rPr>
              <a:t>x</a:t>
            </a:r>
            <a:r>
              <a:rPr lang="en-US" sz="2000" kern="0">
                <a:latin typeface="Times New Roman" panose="02020603050405020304" pitchFamily="18" charset="0"/>
              </a:rPr>
              <a:t>, s</a:t>
            </a:r>
            <a:r>
              <a:rPr lang="en-US" sz="2000" kern="0" baseline="-25000">
                <a:latin typeface="Times New Roman" panose="02020603050405020304" pitchFamily="18" charset="0"/>
              </a:rPr>
              <a:t>y</a:t>
            </a:r>
            <a:r>
              <a:rPr lang="en-US" sz="2000" kern="0">
                <a:latin typeface="Times New Roman" panose="02020603050405020304" pitchFamily="18" charset="0"/>
              </a:rPr>
              <a:t>, s</a:t>
            </a:r>
            <a:r>
              <a:rPr lang="en-US" sz="2000" kern="0" baseline="-25000">
                <a:latin typeface="Times New Roman" panose="02020603050405020304" pitchFamily="18" charset="0"/>
              </a:rPr>
              <a:t>z</a:t>
            </a:r>
            <a:r>
              <a:rPr lang="en-US" sz="2000" kern="0">
                <a:latin typeface="Times New Roman" panose="02020603050405020304" pitchFamily="18" charset="0"/>
              </a:rPr>
              <a:t>) =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2743200" y="2270192"/>
            <a:ext cx="99097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dirty="0"/>
              <a:t>x’=</a:t>
            </a:r>
            <a:r>
              <a:rPr lang="en-US" dirty="0" err="1"/>
              <a:t>s</a:t>
            </a:r>
            <a:r>
              <a:rPr lang="en-US" baseline="-25000" dirty="0" err="1"/>
              <a:t>x</a:t>
            </a:r>
            <a:r>
              <a:rPr lang="en-US" dirty="0" err="1"/>
              <a:t>x</a:t>
            </a:r>
            <a:endParaRPr lang="en-US" dirty="0"/>
          </a:p>
          <a:p>
            <a:r>
              <a:rPr lang="en-US" dirty="0"/>
              <a:t>y’=</a:t>
            </a:r>
            <a:r>
              <a:rPr lang="en-US" dirty="0" err="1"/>
              <a:t>s</a:t>
            </a:r>
            <a:r>
              <a:rPr lang="en-US" baseline="-25000" dirty="0" err="1"/>
              <a:t>y</a:t>
            </a:r>
            <a:r>
              <a:rPr lang="en-US" dirty="0" err="1"/>
              <a:t>y</a:t>
            </a:r>
            <a:endParaRPr lang="en-US" dirty="0"/>
          </a:p>
          <a:p>
            <a:r>
              <a:rPr lang="en-US" dirty="0"/>
              <a:t>z’=</a:t>
            </a:r>
            <a:r>
              <a:rPr lang="en-US" dirty="0" err="1"/>
              <a:t>s</a:t>
            </a:r>
            <a:r>
              <a:rPr lang="en-US" baseline="-25000" dirty="0" err="1"/>
              <a:t>z</a:t>
            </a:r>
            <a:r>
              <a:rPr lang="en-US" dirty="0" err="1"/>
              <a:t>z</a:t>
            </a:r>
            <a:endParaRPr lang="en-US" dirty="0"/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2743200" y="3565592"/>
            <a:ext cx="966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b="1"/>
              <a:t>p</a:t>
            </a:r>
            <a:r>
              <a:rPr lang="en-US"/>
              <a:t>’=</a:t>
            </a:r>
            <a:r>
              <a:rPr lang="en-US" b="1"/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308843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反射（</a:t>
            </a:r>
            <a:r>
              <a:rPr lang="en-US" altLang="zh-CN" dirty="0"/>
              <a:t>reflection)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特殊的缩放</a:t>
            </a:r>
            <a:endParaRPr lang="en-US" altLang="zh-CN" dirty="0"/>
          </a:p>
          <a:p>
            <a:pPr lvl="1"/>
            <a:r>
              <a:rPr lang="zh-CN" altLang="en-US" dirty="0"/>
              <a:t>缩放系数为负数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25</a:t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3" y="2572524"/>
            <a:ext cx="7253287" cy="390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842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逆变换 </a:t>
            </a:r>
            <a:r>
              <a:rPr lang="en-US" altLang="zh-CN" dirty="0"/>
              <a:t>(Inverse Transformation)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j-lt"/>
                <a:ea typeface="+mj-ea"/>
              </a:rPr>
              <a:t>虽然可以直接计算矩阵的逆，但根据几何</a:t>
            </a:r>
            <a:br>
              <a:rPr lang="zh-CN" altLang="en-US" dirty="0">
                <a:latin typeface="+mj-lt"/>
                <a:ea typeface="+mj-ea"/>
              </a:rPr>
            </a:br>
            <a:r>
              <a:rPr lang="zh-CN" altLang="en-US" dirty="0">
                <a:latin typeface="+mj-lt"/>
                <a:ea typeface="+mj-ea"/>
              </a:rPr>
              <a:t>意义可以给出各种变换的逆</a:t>
            </a:r>
            <a:endParaRPr lang="en-US" altLang="zh-CN" dirty="0">
              <a:latin typeface="+mj-lt"/>
              <a:ea typeface="+mj-ea"/>
            </a:endParaRPr>
          </a:p>
          <a:p>
            <a:pPr lvl="1"/>
            <a:r>
              <a:rPr lang="zh-CN" altLang="en-US" dirty="0">
                <a:latin typeface="+mj-lt"/>
                <a:ea typeface="+mj-ea"/>
              </a:rPr>
              <a:t>平移</a:t>
            </a:r>
            <a:r>
              <a:rPr lang="en-US" dirty="0">
                <a:latin typeface="+mj-lt"/>
                <a:ea typeface="+mj-ea"/>
              </a:rPr>
              <a:t>: </a:t>
            </a:r>
            <a:r>
              <a:rPr lang="en-US" sz="2400" b="1" dirty="0">
                <a:latin typeface="+mj-lt"/>
                <a:ea typeface="+mj-ea"/>
              </a:rPr>
              <a:t>T</a:t>
            </a:r>
            <a:r>
              <a:rPr lang="en-US" sz="3200" baseline="30000" dirty="0">
                <a:latin typeface="+mj-lt"/>
                <a:ea typeface="+mj-ea"/>
              </a:rPr>
              <a:t>-1</a:t>
            </a:r>
            <a:r>
              <a:rPr lang="en-US" sz="2400" dirty="0">
                <a:latin typeface="+mj-lt"/>
                <a:ea typeface="+mj-ea"/>
              </a:rPr>
              <a:t>(d</a:t>
            </a:r>
            <a:r>
              <a:rPr lang="en-US" sz="2400" baseline="-25000" dirty="0">
                <a:latin typeface="+mj-lt"/>
                <a:ea typeface="+mj-ea"/>
              </a:rPr>
              <a:t>x</a:t>
            </a:r>
            <a:r>
              <a:rPr lang="en-US" sz="2400" dirty="0">
                <a:latin typeface="+mj-lt"/>
                <a:ea typeface="+mj-ea"/>
              </a:rPr>
              <a:t>, </a:t>
            </a:r>
            <a:r>
              <a:rPr lang="en-US" sz="2400" dirty="0" err="1">
                <a:latin typeface="+mj-lt"/>
                <a:ea typeface="+mj-ea"/>
              </a:rPr>
              <a:t>d</a:t>
            </a:r>
            <a:r>
              <a:rPr lang="en-US" sz="2400" baseline="-25000" dirty="0" err="1">
                <a:latin typeface="+mj-lt"/>
                <a:ea typeface="+mj-ea"/>
              </a:rPr>
              <a:t>y</a:t>
            </a:r>
            <a:r>
              <a:rPr lang="en-US" sz="2400" dirty="0">
                <a:latin typeface="+mj-lt"/>
                <a:ea typeface="+mj-ea"/>
              </a:rPr>
              <a:t>, </a:t>
            </a:r>
            <a:r>
              <a:rPr lang="en-US" sz="2400" dirty="0" err="1">
                <a:latin typeface="+mj-lt"/>
                <a:ea typeface="+mj-ea"/>
              </a:rPr>
              <a:t>d</a:t>
            </a:r>
            <a:r>
              <a:rPr lang="en-US" sz="2400" baseline="-25000" dirty="0" err="1">
                <a:latin typeface="+mj-lt"/>
                <a:ea typeface="+mj-ea"/>
              </a:rPr>
              <a:t>z</a:t>
            </a:r>
            <a:r>
              <a:rPr lang="en-US" sz="2400" dirty="0">
                <a:latin typeface="+mj-lt"/>
                <a:ea typeface="+mj-ea"/>
              </a:rPr>
              <a:t>)</a:t>
            </a:r>
            <a:r>
              <a:rPr lang="en-US" sz="2000" dirty="0">
                <a:latin typeface="+mj-lt"/>
                <a:ea typeface="+mj-ea"/>
              </a:rPr>
              <a:t> = </a:t>
            </a:r>
            <a:r>
              <a:rPr lang="en-US" sz="2000" b="1" dirty="0">
                <a:latin typeface="+mj-lt"/>
                <a:ea typeface="+mj-ea"/>
              </a:rPr>
              <a:t>T</a:t>
            </a:r>
            <a:r>
              <a:rPr lang="en-US" sz="2000" dirty="0">
                <a:latin typeface="+mj-lt"/>
                <a:ea typeface="+mj-ea"/>
              </a:rPr>
              <a:t>(-d</a:t>
            </a:r>
            <a:r>
              <a:rPr lang="en-US" sz="2000" baseline="-25000" dirty="0">
                <a:latin typeface="+mj-lt"/>
                <a:ea typeface="+mj-ea"/>
              </a:rPr>
              <a:t>x</a:t>
            </a:r>
            <a:r>
              <a:rPr lang="en-US" sz="2000" dirty="0">
                <a:latin typeface="+mj-lt"/>
                <a:ea typeface="+mj-ea"/>
              </a:rPr>
              <a:t>, -</a:t>
            </a:r>
            <a:r>
              <a:rPr lang="en-US" sz="2000" dirty="0" err="1">
                <a:latin typeface="+mj-lt"/>
                <a:ea typeface="+mj-ea"/>
              </a:rPr>
              <a:t>d</a:t>
            </a:r>
            <a:r>
              <a:rPr lang="en-US" sz="2000" baseline="-25000" dirty="0" err="1">
                <a:latin typeface="+mj-lt"/>
                <a:ea typeface="+mj-ea"/>
              </a:rPr>
              <a:t>y</a:t>
            </a:r>
            <a:r>
              <a:rPr lang="en-US" sz="2000" dirty="0">
                <a:latin typeface="+mj-lt"/>
                <a:ea typeface="+mj-ea"/>
              </a:rPr>
              <a:t>, -</a:t>
            </a:r>
            <a:r>
              <a:rPr lang="en-US" sz="2000" dirty="0" err="1">
                <a:latin typeface="+mj-lt"/>
                <a:ea typeface="+mj-ea"/>
              </a:rPr>
              <a:t>d</a:t>
            </a:r>
            <a:r>
              <a:rPr lang="en-US" sz="2000" baseline="-25000" dirty="0" err="1">
                <a:latin typeface="+mj-lt"/>
                <a:ea typeface="+mj-ea"/>
              </a:rPr>
              <a:t>z</a:t>
            </a:r>
            <a:r>
              <a:rPr lang="en-US" sz="2000" dirty="0">
                <a:latin typeface="+mj-lt"/>
                <a:ea typeface="+mj-ea"/>
              </a:rPr>
              <a:t>) </a:t>
            </a:r>
          </a:p>
          <a:p>
            <a:pPr lvl="1"/>
            <a:r>
              <a:rPr lang="zh-CN" altLang="en-US" dirty="0">
                <a:latin typeface="+mj-lt"/>
                <a:ea typeface="+mj-ea"/>
              </a:rPr>
              <a:t>旋转</a:t>
            </a:r>
            <a:r>
              <a:rPr lang="en-US" dirty="0">
                <a:latin typeface="+mj-lt"/>
                <a:ea typeface="+mj-ea"/>
              </a:rPr>
              <a:t>: </a:t>
            </a:r>
            <a:r>
              <a:rPr lang="en-US" b="1" dirty="0">
                <a:latin typeface="+mj-lt"/>
                <a:ea typeface="+mj-ea"/>
              </a:rPr>
              <a:t>R</a:t>
            </a:r>
            <a:r>
              <a:rPr lang="en-US" dirty="0">
                <a:latin typeface="+mj-lt"/>
                <a:ea typeface="+mj-ea"/>
              </a:rPr>
              <a:t> </a:t>
            </a:r>
            <a:r>
              <a:rPr lang="en-US" sz="3200" baseline="30000" dirty="0">
                <a:latin typeface="+mj-lt"/>
                <a:ea typeface="+mj-ea"/>
              </a:rPr>
              <a:t>-1</a:t>
            </a:r>
            <a:r>
              <a:rPr lang="en-US" dirty="0">
                <a:latin typeface="+mj-lt"/>
                <a:ea typeface="+mj-ea"/>
              </a:rPr>
              <a:t>(q) = </a:t>
            </a:r>
            <a:r>
              <a:rPr lang="en-US" b="1" dirty="0">
                <a:latin typeface="+mj-lt"/>
                <a:ea typeface="+mj-ea"/>
              </a:rPr>
              <a:t>R</a:t>
            </a:r>
            <a:r>
              <a:rPr lang="en-US" dirty="0">
                <a:latin typeface="+mj-lt"/>
                <a:ea typeface="+mj-ea"/>
              </a:rPr>
              <a:t>(-q)</a:t>
            </a:r>
          </a:p>
          <a:p>
            <a:pPr lvl="2"/>
            <a:r>
              <a:rPr lang="zh-CN" altLang="en-US" sz="2500" dirty="0">
                <a:latin typeface="+mj-lt"/>
                <a:ea typeface="+mj-ea"/>
              </a:rPr>
              <a:t>对所有旋转矩阵成立</a:t>
            </a:r>
            <a:endParaRPr lang="en-US" altLang="zh-CN" sz="2500" dirty="0">
              <a:latin typeface="+mj-lt"/>
              <a:ea typeface="+mj-ea"/>
            </a:endParaRPr>
          </a:p>
          <a:p>
            <a:pPr lvl="2"/>
            <a:r>
              <a:rPr lang="zh-CN" altLang="en-US" sz="2500" dirty="0">
                <a:latin typeface="+mj-lt"/>
                <a:ea typeface="+mj-ea"/>
              </a:rPr>
              <a:t>注意</a:t>
            </a:r>
            <a:r>
              <a:rPr lang="en-US" sz="2500" dirty="0">
                <a:latin typeface="+mj-lt"/>
                <a:ea typeface="+mj-ea"/>
              </a:rPr>
              <a:t> </a:t>
            </a:r>
            <a:r>
              <a:rPr lang="en-US" sz="2500" dirty="0" err="1">
                <a:latin typeface="+mj-lt"/>
                <a:ea typeface="+mj-ea"/>
              </a:rPr>
              <a:t>cos</a:t>
            </a:r>
            <a:r>
              <a:rPr lang="en-US" sz="2500" dirty="0">
                <a:latin typeface="+mj-lt"/>
                <a:ea typeface="+mj-ea"/>
              </a:rPr>
              <a:t>(-q) = </a:t>
            </a:r>
            <a:r>
              <a:rPr lang="en-US" sz="2500" dirty="0" err="1">
                <a:latin typeface="+mj-lt"/>
                <a:ea typeface="+mj-ea"/>
              </a:rPr>
              <a:t>cos</a:t>
            </a:r>
            <a:r>
              <a:rPr lang="en-US" sz="2500" dirty="0">
                <a:latin typeface="+mj-lt"/>
                <a:ea typeface="+mj-ea"/>
              </a:rPr>
              <a:t>(q), sin(-q)=-sin(q)</a:t>
            </a:r>
          </a:p>
          <a:p>
            <a:pPr lvl="2">
              <a:buFontTx/>
              <a:buNone/>
            </a:pPr>
            <a:r>
              <a:rPr lang="en-US" sz="2400" b="1" dirty="0">
                <a:latin typeface="+mj-lt"/>
                <a:ea typeface="+mj-ea"/>
              </a:rPr>
              <a:t>                  R</a:t>
            </a:r>
            <a:r>
              <a:rPr lang="en-US" sz="2400" dirty="0">
                <a:latin typeface="+mj-lt"/>
                <a:ea typeface="+mj-ea"/>
              </a:rPr>
              <a:t> </a:t>
            </a:r>
            <a:r>
              <a:rPr lang="en-US" sz="3000" baseline="30000" dirty="0">
                <a:latin typeface="+mj-lt"/>
                <a:ea typeface="+mj-ea"/>
              </a:rPr>
              <a:t>-1</a:t>
            </a:r>
            <a:r>
              <a:rPr lang="en-US" sz="2400" dirty="0">
                <a:latin typeface="+mj-lt"/>
                <a:ea typeface="+mj-ea"/>
              </a:rPr>
              <a:t>(q) = </a:t>
            </a:r>
            <a:r>
              <a:rPr lang="en-US" sz="2400" b="1" dirty="0">
                <a:latin typeface="+mj-lt"/>
                <a:ea typeface="+mj-ea"/>
              </a:rPr>
              <a:t>R </a:t>
            </a:r>
            <a:r>
              <a:rPr lang="en-US" sz="3000" baseline="30000" dirty="0">
                <a:latin typeface="+mj-lt"/>
                <a:ea typeface="+mj-ea"/>
              </a:rPr>
              <a:t>T</a:t>
            </a:r>
            <a:r>
              <a:rPr lang="en-US" sz="2400" dirty="0">
                <a:latin typeface="+mj-lt"/>
                <a:ea typeface="+mj-ea"/>
              </a:rPr>
              <a:t>(q)</a:t>
            </a:r>
          </a:p>
          <a:p>
            <a:pPr lvl="1"/>
            <a:r>
              <a:rPr lang="zh-CN" altLang="en-US" sz="3000" dirty="0">
                <a:latin typeface="+mj-lt"/>
                <a:ea typeface="+mj-ea"/>
              </a:rPr>
              <a:t>缩放</a:t>
            </a:r>
            <a:r>
              <a:rPr lang="en-US" sz="3000" dirty="0">
                <a:latin typeface="+mj-lt"/>
                <a:ea typeface="+mj-ea"/>
              </a:rPr>
              <a:t>: </a:t>
            </a:r>
            <a:r>
              <a:rPr lang="en-US" sz="2800" b="1" dirty="0">
                <a:latin typeface="+mj-lt"/>
                <a:ea typeface="+mj-ea"/>
              </a:rPr>
              <a:t>S</a:t>
            </a:r>
            <a:r>
              <a:rPr lang="en-US" sz="2800" baseline="30000" dirty="0">
                <a:latin typeface="+mj-lt"/>
                <a:ea typeface="+mj-ea"/>
              </a:rPr>
              <a:t>-1</a:t>
            </a:r>
            <a:r>
              <a:rPr lang="en-US" sz="2800" dirty="0">
                <a:latin typeface="+mj-lt"/>
                <a:ea typeface="+mj-ea"/>
              </a:rPr>
              <a:t>(</a:t>
            </a:r>
            <a:r>
              <a:rPr lang="en-US" sz="2800" dirty="0" err="1">
                <a:latin typeface="+mj-lt"/>
                <a:ea typeface="+mj-ea"/>
              </a:rPr>
              <a:t>s</a:t>
            </a:r>
            <a:r>
              <a:rPr lang="en-US" sz="2800" baseline="-25000" dirty="0" err="1">
                <a:latin typeface="+mj-lt"/>
                <a:ea typeface="+mj-ea"/>
              </a:rPr>
              <a:t>x</a:t>
            </a:r>
            <a:r>
              <a:rPr lang="en-US" sz="2800" dirty="0">
                <a:latin typeface="+mj-lt"/>
                <a:ea typeface="+mj-ea"/>
              </a:rPr>
              <a:t>, </a:t>
            </a:r>
            <a:r>
              <a:rPr lang="en-US" sz="2800" dirty="0" err="1">
                <a:latin typeface="+mj-lt"/>
                <a:ea typeface="+mj-ea"/>
              </a:rPr>
              <a:t>s</a:t>
            </a:r>
            <a:r>
              <a:rPr lang="en-US" sz="2800" baseline="-25000" dirty="0" err="1">
                <a:latin typeface="+mj-lt"/>
                <a:ea typeface="+mj-ea"/>
              </a:rPr>
              <a:t>y</a:t>
            </a:r>
            <a:r>
              <a:rPr lang="en-US" sz="2800" dirty="0">
                <a:latin typeface="+mj-lt"/>
                <a:ea typeface="+mj-ea"/>
              </a:rPr>
              <a:t>, </a:t>
            </a:r>
            <a:r>
              <a:rPr lang="en-US" sz="2800" dirty="0" err="1">
                <a:latin typeface="+mj-lt"/>
                <a:ea typeface="+mj-ea"/>
              </a:rPr>
              <a:t>s</a:t>
            </a:r>
            <a:r>
              <a:rPr lang="en-US" sz="2800" baseline="-25000" dirty="0" err="1">
                <a:latin typeface="+mj-lt"/>
                <a:ea typeface="+mj-ea"/>
              </a:rPr>
              <a:t>z</a:t>
            </a:r>
            <a:r>
              <a:rPr lang="en-US" sz="2800" dirty="0">
                <a:latin typeface="+mj-lt"/>
                <a:ea typeface="+mj-ea"/>
              </a:rPr>
              <a:t>)</a:t>
            </a:r>
            <a:r>
              <a:rPr lang="en-US" sz="2000" dirty="0">
                <a:latin typeface="+mj-lt"/>
                <a:ea typeface="+mj-ea"/>
              </a:rPr>
              <a:t> = </a:t>
            </a:r>
            <a:r>
              <a:rPr lang="en-US" sz="2800" b="1" dirty="0">
                <a:latin typeface="+mj-lt"/>
                <a:ea typeface="+mj-ea"/>
              </a:rPr>
              <a:t>S</a:t>
            </a:r>
            <a:r>
              <a:rPr lang="en-US" sz="2800" dirty="0">
                <a:latin typeface="+mj-lt"/>
                <a:ea typeface="+mj-ea"/>
              </a:rPr>
              <a:t>(1/</a:t>
            </a:r>
            <a:r>
              <a:rPr lang="en-US" sz="2800" dirty="0" err="1">
                <a:latin typeface="+mj-lt"/>
                <a:ea typeface="+mj-ea"/>
              </a:rPr>
              <a:t>s</a:t>
            </a:r>
            <a:r>
              <a:rPr lang="en-US" sz="2800" baseline="-25000" dirty="0" err="1">
                <a:latin typeface="+mj-lt"/>
                <a:ea typeface="+mj-ea"/>
              </a:rPr>
              <a:t>x</a:t>
            </a:r>
            <a:r>
              <a:rPr lang="en-US" sz="2800" dirty="0">
                <a:latin typeface="+mj-lt"/>
                <a:ea typeface="+mj-ea"/>
              </a:rPr>
              <a:t>, 1/</a:t>
            </a:r>
            <a:r>
              <a:rPr lang="en-US" sz="2800" dirty="0" err="1">
                <a:latin typeface="+mj-lt"/>
                <a:ea typeface="+mj-ea"/>
              </a:rPr>
              <a:t>s</a:t>
            </a:r>
            <a:r>
              <a:rPr lang="en-US" sz="2800" baseline="-25000" dirty="0" err="1">
                <a:latin typeface="+mj-lt"/>
                <a:ea typeface="+mj-ea"/>
              </a:rPr>
              <a:t>y</a:t>
            </a:r>
            <a:r>
              <a:rPr lang="en-US" sz="2800" dirty="0">
                <a:latin typeface="+mj-lt"/>
                <a:ea typeface="+mj-ea"/>
              </a:rPr>
              <a:t>, 1/</a:t>
            </a:r>
            <a:r>
              <a:rPr lang="en-US" sz="2800" dirty="0" err="1">
                <a:latin typeface="+mj-lt"/>
                <a:ea typeface="+mj-ea"/>
              </a:rPr>
              <a:t>s</a:t>
            </a:r>
            <a:r>
              <a:rPr lang="en-US" sz="2800" baseline="-25000" dirty="0" err="1">
                <a:latin typeface="+mj-lt"/>
                <a:ea typeface="+mj-ea"/>
              </a:rPr>
              <a:t>z</a:t>
            </a:r>
            <a:r>
              <a:rPr lang="en-US" sz="2800" dirty="0">
                <a:latin typeface="+mj-lt"/>
                <a:ea typeface="+mj-ea"/>
              </a:rPr>
              <a:t>)</a:t>
            </a:r>
            <a:endParaRPr lang="en-US" dirty="0">
              <a:latin typeface="+mj-lt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3455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变换的复合 </a:t>
            </a:r>
            <a:r>
              <a:rPr lang="en-US" altLang="zh-CN" dirty="0"/>
              <a:t>(Transformation </a:t>
            </a:r>
            <a:r>
              <a:rPr lang="en-US" dirty="0"/>
              <a:t>Concatenation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可以通过把旋转、平移与缩放矩阵相乘从</a:t>
            </a:r>
            <a:br>
              <a:rPr lang="zh-CN" altLang="en-US" dirty="0"/>
            </a:br>
            <a:r>
              <a:rPr lang="zh-CN" altLang="en-US" dirty="0"/>
              <a:t>而形成任意的仿射变换</a:t>
            </a:r>
            <a:endParaRPr lang="en-US" altLang="zh-CN" dirty="0"/>
          </a:p>
          <a:p>
            <a:r>
              <a:rPr lang="zh-CN" altLang="en-US" dirty="0"/>
              <a:t>由于对许多顶点应用同样的变换，因此构</a:t>
            </a:r>
            <a:br>
              <a:rPr lang="zh-CN" altLang="en-US" dirty="0"/>
            </a:br>
            <a:r>
              <a:rPr lang="zh-CN" altLang="en-US" dirty="0"/>
              <a:t>造矩阵</a:t>
            </a:r>
            <a:r>
              <a:rPr lang="en-US" altLang="zh-CN" b="1" dirty="0"/>
              <a:t>M = C B A</a:t>
            </a:r>
            <a:r>
              <a:rPr lang="zh-CN" altLang="en-US" dirty="0"/>
              <a:t>的代价相比于对许多顶点</a:t>
            </a:r>
            <a:br>
              <a:rPr lang="zh-CN" altLang="en-US" dirty="0"/>
            </a:br>
            <a:r>
              <a:rPr lang="en-US" altLang="zh-CN" b="1" dirty="0"/>
              <a:t>p</a:t>
            </a:r>
            <a:r>
              <a:rPr lang="zh-CN" altLang="en-US" dirty="0"/>
              <a:t>计算</a:t>
            </a:r>
            <a:r>
              <a:rPr lang="en-US" altLang="zh-CN" b="1" dirty="0"/>
              <a:t>M p</a:t>
            </a:r>
            <a:r>
              <a:rPr lang="zh-CN" altLang="en-US" dirty="0"/>
              <a:t>的代价是很小的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难点在于如何根据应用程序的要求构造出</a:t>
            </a:r>
            <a:br>
              <a:rPr lang="zh-CN" altLang="en-US" dirty="0"/>
            </a:br>
            <a:r>
              <a:rPr lang="zh-CN" altLang="en-US" dirty="0"/>
              <a:t>满足要求的变换矩阵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27</a:t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4358962"/>
            <a:ext cx="5667375" cy="800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56149"/>
            <a:ext cx="27813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86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变换的顺序</a:t>
            </a:r>
            <a:r>
              <a:rPr lang="en-US" altLang="zh-CN" dirty="0"/>
              <a:t>(Order of Transformations)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注意在右边的矩阵是首先被应用的矩阵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从数学的角度来说，下述表示是等价的</a:t>
            </a:r>
            <a:br>
              <a:rPr lang="zh-CN" altLang="en-US" dirty="0"/>
            </a:br>
            <a:r>
              <a:rPr lang="en-US" b="1" dirty="0">
                <a:latin typeface="Times New Roman" panose="02020603050405020304" pitchFamily="18" charset="0"/>
              </a:rPr>
              <a:t>              p</a:t>
            </a:r>
            <a:r>
              <a:rPr lang="en-US" dirty="0">
                <a:latin typeface="Times New Roman" panose="02020603050405020304" pitchFamily="18" charset="0"/>
              </a:rPr>
              <a:t>’ = </a:t>
            </a:r>
            <a:r>
              <a:rPr lang="en-US" b="1" dirty="0" err="1">
                <a:latin typeface="Times New Roman" panose="02020603050405020304" pitchFamily="18" charset="0"/>
              </a:rPr>
              <a:t>ABCp</a:t>
            </a:r>
            <a:r>
              <a:rPr lang="en-US" dirty="0">
                <a:latin typeface="Times New Roman" panose="02020603050405020304" pitchFamily="18" charset="0"/>
              </a:rPr>
              <a:t> = </a:t>
            </a:r>
            <a:r>
              <a:rPr lang="en-US" b="1" dirty="0">
                <a:latin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</a:rPr>
              <a:t>Cp</a:t>
            </a:r>
            <a:r>
              <a:rPr lang="en-US" dirty="0">
                <a:latin typeface="Times New Roman" panose="02020603050405020304" pitchFamily="18" charset="0"/>
              </a:rPr>
              <a:t>))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r>
              <a:rPr lang="zh-CN" altLang="en-US" dirty="0"/>
              <a:t>变换的顺序是不可交换的</a:t>
            </a:r>
            <a:endParaRPr lang="en-US" altLang="zh-CN" dirty="0"/>
          </a:p>
          <a:p>
            <a:pPr lvl="1"/>
            <a:r>
              <a:rPr lang="zh-CN" altLang="en-US" dirty="0"/>
              <a:t>矩阵乘法不满足交换律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0664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绕原点的一般旋转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绕过原点任一轴旋转</a:t>
            </a:r>
            <a:r>
              <a:rPr lang="en-US" sz="3200" dirty="0">
                <a:latin typeface="Symbol" panose="05050102010706020507" pitchFamily="18" charset="2"/>
              </a:rPr>
              <a:t>q</a:t>
            </a:r>
            <a:r>
              <a:rPr lang="zh-CN" altLang="en-US" dirty="0"/>
              <a:t>角可以分解为绕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zh-CN" altLang="en-US" dirty="0"/>
              <a:t>轴旋转的复合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注意：因为矩阵乘法不具有交换性，因此调换</a:t>
            </a:r>
            <a:r>
              <a:rPr lang="en-US" altLang="zh-CN" dirty="0" err="1"/>
              <a:t>z,y,x</a:t>
            </a:r>
            <a:r>
              <a:rPr lang="zh-CN" altLang="en-US" dirty="0"/>
              <a:t>的顺序将导致不同的旋转效果。调换顺序之后，如果为了得到原来的旋转效果，则旋转角度应相应改变。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29</a:t>
            </a:fld>
            <a:endParaRPr lang="es-ES"/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1828800" y="2590800"/>
            <a:ext cx="467995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3100" b="1" dirty="0"/>
              <a:t>R</a:t>
            </a:r>
            <a:r>
              <a:rPr lang="en-US" sz="3100" dirty="0"/>
              <a:t>(</a:t>
            </a:r>
            <a:r>
              <a:rPr lang="en-US" sz="3100" dirty="0">
                <a:latin typeface="Symbol" panose="05050102010706020507" pitchFamily="18" charset="2"/>
              </a:rPr>
              <a:t>q</a:t>
            </a:r>
            <a:r>
              <a:rPr lang="en-US" sz="3100" dirty="0"/>
              <a:t>) = </a:t>
            </a:r>
            <a:r>
              <a:rPr lang="en-US" sz="3100" b="1" dirty="0" err="1"/>
              <a:t>R</a:t>
            </a:r>
            <a:r>
              <a:rPr lang="en-US" sz="3100" baseline="-25000" dirty="0" err="1"/>
              <a:t>z</a:t>
            </a:r>
            <a:r>
              <a:rPr lang="en-US" sz="3100" dirty="0"/>
              <a:t>(</a:t>
            </a:r>
            <a:r>
              <a:rPr lang="en-US" sz="3100" dirty="0" err="1">
                <a:latin typeface="Symbol" panose="05050102010706020507" pitchFamily="18" charset="2"/>
              </a:rPr>
              <a:t>q</a:t>
            </a:r>
            <a:r>
              <a:rPr lang="en-US" sz="3100" baseline="-25000" dirty="0" err="1"/>
              <a:t>z</a:t>
            </a:r>
            <a:r>
              <a:rPr lang="en-US" sz="3100" dirty="0"/>
              <a:t>) </a:t>
            </a:r>
            <a:r>
              <a:rPr lang="en-US" sz="3100" b="1" dirty="0" err="1"/>
              <a:t>R</a:t>
            </a:r>
            <a:r>
              <a:rPr lang="en-US" sz="3100" baseline="-25000" dirty="0" err="1"/>
              <a:t>y</a:t>
            </a:r>
            <a:r>
              <a:rPr lang="en-US" sz="3100" dirty="0"/>
              <a:t>(</a:t>
            </a:r>
            <a:r>
              <a:rPr lang="en-US" sz="3100" dirty="0" err="1">
                <a:latin typeface="Symbol" panose="05050102010706020507" pitchFamily="18" charset="2"/>
              </a:rPr>
              <a:t>q</a:t>
            </a:r>
            <a:r>
              <a:rPr lang="en-US" sz="3100" baseline="-25000" dirty="0" err="1"/>
              <a:t>y</a:t>
            </a:r>
            <a:r>
              <a:rPr lang="en-US" sz="3100" dirty="0"/>
              <a:t>) </a:t>
            </a:r>
            <a:r>
              <a:rPr lang="en-US" sz="3100" b="1" dirty="0"/>
              <a:t>R</a:t>
            </a:r>
            <a:r>
              <a:rPr lang="en-US" sz="3100" baseline="-25000" dirty="0"/>
              <a:t>x</a:t>
            </a:r>
            <a:r>
              <a:rPr lang="en-US" sz="3100" dirty="0"/>
              <a:t>(</a:t>
            </a:r>
            <a:r>
              <a:rPr lang="en-US" sz="3100" dirty="0" err="1">
                <a:latin typeface="Symbol" panose="05050102010706020507" pitchFamily="18" charset="2"/>
              </a:rPr>
              <a:t>q</a:t>
            </a:r>
            <a:r>
              <a:rPr lang="en-US" sz="3100" baseline="-25000" dirty="0" err="1"/>
              <a:t>x</a:t>
            </a:r>
            <a:r>
              <a:rPr lang="en-US" sz="3100" dirty="0"/>
              <a:t>) </a:t>
            </a:r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914400" y="3505200"/>
            <a:ext cx="60083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800" dirty="0" err="1">
                <a:latin typeface="Symbol" panose="05050102010706020507" pitchFamily="18" charset="2"/>
              </a:rPr>
              <a:t>q</a:t>
            </a:r>
            <a:r>
              <a:rPr lang="en-US" sz="2700" baseline="-25000" dirty="0" err="1">
                <a:latin typeface="+mj-lt"/>
                <a:ea typeface="+mj-ea"/>
              </a:rPr>
              <a:t>x</a:t>
            </a:r>
            <a:r>
              <a:rPr lang="en-US" sz="2700" baseline="-25000" dirty="0">
                <a:latin typeface="+mj-lt"/>
                <a:ea typeface="+mj-ea"/>
              </a:rPr>
              <a:t> </a:t>
            </a:r>
            <a:r>
              <a:rPr lang="en-US" sz="2800" dirty="0" err="1">
                <a:latin typeface="Symbol" panose="05050102010706020507" pitchFamily="18" charset="2"/>
              </a:rPr>
              <a:t>q</a:t>
            </a:r>
            <a:r>
              <a:rPr lang="en-US" sz="2700" baseline="-25000" dirty="0" err="1">
                <a:latin typeface="+mj-lt"/>
                <a:ea typeface="+mj-ea"/>
              </a:rPr>
              <a:t>y</a:t>
            </a:r>
            <a:r>
              <a:rPr lang="en-US" sz="2700" baseline="-25000" dirty="0">
                <a:latin typeface="+mj-lt"/>
                <a:ea typeface="+mj-ea"/>
              </a:rPr>
              <a:t> </a:t>
            </a:r>
            <a:r>
              <a:rPr lang="en-US" sz="2800" dirty="0" err="1">
                <a:latin typeface="Symbol" panose="05050102010706020507" pitchFamily="18" charset="2"/>
              </a:rPr>
              <a:t>q</a:t>
            </a:r>
            <a:r>
              <a:rPr lang="en-US" sz="2700" baseline="-25000" dirty="0" err="1">
                <a:latin typeface="+mj-lt"/>
                <a:ea typeface="+mj-ea"/>
              </a:rPr>
              <a:t>z</a:t>
            </a:r>
            <a:r>
              <a:rPr lang="en-US" sz="2700" baseline="-25000" dirty="0">
                <a:latin typeface="+mj-lt"/>
                <a:ea typeface="+mj-ea"/>
              </a:rPr>
              <a:t> </a:t>
            </a:r>
            <a:r>
              <a:rPr lang="zh-CN" altLang="en-US" sz="2700" dirty="0">
                <a:latin typeface="+mj-lt"/>
                <a:ea typeface="+mj-ea"/>
              </a:rPr>
              <a:t>被称为欧拉角（</a:t>
            </a:r>
            <a:r>
              <a:rPr lang="en-US" sz="2700" dirty="0">
                <a:latin typeface="+mj-lt"/>
                <a:ea typeface="+mj-ea"/>
              </a:rPr>
              <a:t> Euler angles </a:t>
            </a:r>
            <a:r>
              <a:rPr lang="zh-CN" altLang="en-US" sz="2700" dirty="0">
                <a:latin typeface="+mj-lt"/>
                <a:ea typeface="+mj-ea"/>
              </a:rPr>
              <a:t>）</a:t>
            </a:r>
            <a:endParaRPr lang="en-US" sz="27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61602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不动点为</a:t>
            </a:r>
            <a:r>
              <a:rPr lang="en-US" sz="4000" dirty="0" err="1">
                <a:latin typeface="Times New Roman" panose="02020603050405020304" pitchFamily="18" charset="0"/>
              </a:rPr>
              <a:t>p</a:t>
            </a:r>
            <a:r>
              <a:rPr lang="en-US" sz="4000" baseline="-25000" dirty="0" err="1">
                <a:latin typeface="Times New Roman" panose="02020603050405020304" pitchFamily="18" charset="0"/>
              </a:rPr>
              <a:t>f</a:t>
            </a:r>
            <a:r>
              <a:rPr lang="zh-CN" altLang="en-US" dirty="0"/>
              <a:t>的旋转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把不动点移到原点 </a:t>
            </a:r>
            <a:r>
              <a:rPr lang="en-US" b="1" dirty="0"/>
              <a:t>T(</a:t>
            </a:r>
            <a:r>
              <a:rPr lang="en-US" altLang="zh-CN" dirty="0"/>
              <a:t>-</a:t>
            </a:r>
            <a:r>
              <a:rPr lang="en-US" sz="3200" dirty="0" err="1">
                <a:latin typeface="Times New Roman" panose="02020603050405020304" pitchFamily="18" charset="0"/>
              </a:rPr>
              <a:t>p</a:t>
            </a:r>
            <a:r>
              <a:rPr lang="en-US" sz="3200" baseline="-25000" dirty="0" err="1">
                <a:latin typeface="Times New Roman" panose="02020603050405020304" pitchFamily="18" charset="0"/>
              </a:rPr>
              <a:t>f</a:t>
            </a:r>
            <a:r>
              <a:rPr lang="en-US" b="1" dirty="0"/>
              <a:t>)</a:t>
            </a:r>
            <a:endParaRPr lang="en-US" dirty="0"/>
          </a:p>
          <a:p>
            <a:r>
              <a:rPr lang="zh-CN" altLang="en-US" dirty="0"/>
              <a:t>旋转 </a:t>
            </a:r>
            <a:r>
              <a:rPr lang="en-US" b="1" dirty="0"/>
              <a:t>R</a:t>
            </a:r>
            <a:r>
              <a:rPr lang="en-US" dirty="0"/>
              <a:t>(</a:t>
            </a:r>
            <a:r>
              <a:rPr lang="en-US" sz="2800" dirty="0">
                <a:latin typeface="Symbol" panose="05050102010706020507" pitchFamily="18" charset="2"/>
              </a:rPr>
              <a:t>q</a:t>
            </a:r>
            <a:r>
              <a:rPr lang="en-US" dirty="0"/>
              <a:t>)</a:t>
            </a:r>
          </a:p>
          <a:p>
            <a:r>
              <a:rPr lang="zh-CN" altLang="en-US" dirty="0"/>
              <a:t>把不动点移回到原来位置 </a:t>
            </a:r>
            <a:r>
              <a:rPr lang="en-US" b="1" dirty="0"/>
              <a:t>T(</a:t>
            </a:r>
            <a:r>
              <a:rPr lang="en-US" sz="2800" b="1" dirty="0" err="1">
                <a:latin typeface="Times New Roman" panose="02020603050405020304" pitchFamily="18" charset="0"/>
              </a:rPr>
              <a:t>p</a:t>
            </a:r>
            <a:r>
              <a:rPr lang="en-US" sz="2800" b="1" baseline="-25000" dirty="0" err="1">
                <a:latin typeface="Times New Roman" panose="02020603050405020304" pitchFamily="18" charset="0"/>
              </a:rPr>
              <a:t>f</a:t>
            </a:r>
            <a:r>
              <a:rPr lang="en-US" b="1" dirty="0"/>
              <a:t>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30</a:t>
            </a:fld>
            <a:endParaRPr lang="es-ES"/>
          </a:p>
        </p:txBody>
      </p:sp>
      <p:sp>
        <p:nvSpPr>
          <p:cNvPr id="5" name="矩形 4"/>
          <p:cNvSpPr/>
          <p:nvPr/>
        </p:nvSpPr>
        <p:spPr>
          <a:xfrm>
            <a:off x="2286000" y="3276600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sz="3200" b="1" dirty="0">
                <a:solidFill>
                  <a:srgbClr val="000000"/>
                </a:solidFill>
              </a:rPr>
              <a:t>M </a:t>
            </a:r>
            <a:r>
              <a:rPr lang="de-DE" sz="3200" dirty="0">
                <a:solidFill>
                  <a:srgbClr val="000000"/>
                </a:solidFill>
              </a:rPr>
              <a:t>= </a:t>
            </a:r>
            <a:r>
              <a:rPr lang="de-DE" sz="3200" b="1" dirty="0">
                <a:solidFill>
                  <a:srgbClr val="000000"/>
                </a:solidFill>
              </a:rPr>
              <a:t>T(</a:t>
            </a:r>
            <a:r>
              <a:rPr lang="en-US" sz="3200" b="1" dirty="0" err="1"/>
              <a:t>p</a:t>
            </a:r>
            <a:r>
              <a:rPr lang="en-US" sz="3200" b="1" baseline="-25000" dirty="0" err="1"/>
              <a:t>f</a:t>
            </a:r>
            <a:r>
              <a:rPr lang="de-DE" sz="3200" b="1" dirty="0">
                <a:solidFill>
                  <a:srgbClr val="000000"/>
                </a:solidFill>
              </a:rPr>
              <a:t>) R</a:t>
            </a:r>
            <a:r>
              <a:rPr lang="de-DE" sz="3200" dirty="0">
                <a:solidFill>
                  <a:srgbClr val="000000"/>
                </a:solidFill>
              </a:rPr>
              <a:t>(</a:t>
            </a:r>
            <a:r>
              <a:rPr lang="de-DE" sz="3200" dirty="0">
                <a:solidFill>
                  <a:srgbClr val="000000"/>
                </a:solidFill>
                <a:latin typeface="Symbol" panose="05050102010706020507" pitchFamily="18" charset="2"/>
              </a:rPr>
              <a:t>) </a:t>
            </a:r>
            <a:r>
              <a:rPr lang="de-DE" sz="3200" b="1" dirty="0">
                <a:solidFill>
                  <a:srgbClr val="000000"/>
                </a:solidFill>
                <a:latin typeface="Symbol" panose="05050102010706020507" pitchFamily="18" charset="2"/>
              </a:rPr>
              <a:t>T(</a:t>
            </a:r>
            <a:r>
              <a:rPr lang="de-DE" sz="3200" dirty="0">
                <a:solidFill>
                  <a:srgbClr val="000000"/>
                </a:solidFill>
                <a:latin typeface="Symbol" panose="05050102010706020507" pitchFamily="18" charset="2"/>
              </a:rPr>
              <a:t></a:t>
            </a:r>
            <a:r>
              <a:rPr lang="en-US" sz="3200" b="1" dirty="0" err="1"/>
              <a:t>p</a:t>
            </a:r>
            <a:r>
              <a:rPr lang="en-US" sz="3200" b="1" baseline="-25000" dirty="0" err="1"/>
              <a:t>f</a:t>
            </a:r>
            <a:r>
              <a:rPr lang="de-DE" sz="3200" b="1" dirty="0">
                <a:solidFill>
                  <a:srgbClr val="000000"/>
                </a:solidFill>
                <a:latin typeface="Symbol" panose="05050102010706020507" pitchFamily="18" charset="2"/>
              </a:rPr>
              <a:t>)</a:t>
            </a:r>
            <a:br>
              <a:rPr lang="de-DE" sz="3200" dirty="0">
                <a:solidFill>
                  <a:srgbClr val="000000"/>
                </a:solidFill>
                <a:latin typeface="Symbol" panose="05050102010706020507" pitchFamily="18" charset="2"/>
              </a:rPr>
            </a:br>
            <a:br>
              <a:rPr lang="de-DE" sz="3200" dirty="0">
                <a:solidFill>
                  <a:srgbClr val="000000"/>
                </a:solidFill>
                <a:latin typeface="Symbol" panose="05050102010706020507" pitchFamily="18" charset="2"/>
              </a:rPr>
            </a:br>
            <a:endParaRPr lang="en-US" sz="3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4153"/>
            <a:ext cx="7124700" cy="214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79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绕任意轴的旋转 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处理旋转中心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不动点：立方体中心</a:t>
            </a:r>
            <a:r>
              <a:rPr lang="en-US" altLang="zh-CN" b="1" dirty="0"/>
              <a:t>p</a:t>
            </a:r>
            <a:r>
              <a:rPr lang="en-US" b="1" baseline="-25000" dirty="0"/>
              <a:t>0</a:t>
            </a:r>
            <a:endParaRPr lang="en-US" dirty="0"/>
          </a:p>
          <a:p>
            <a:endParaRPr lang="en-US" altLang="zh-CN" dirty="0"/>
          </a:p>
          <a:p>
            <a:r>
              <a:rPr lang="zh-CN" altLang="en-US" dirty="0"/>
              <a:t>旋转轴方向向量：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en-US" altLang="zh-CN" b="1" dirty="0"/>
              <a:t>r</a:t>
            </a:r>
            <a:r>
              <a:rPr lang="en-US" b="1" dirty="0"/>
              <a:t> = p</a:t>
            </a:r>
            <a:r>
              <a:rPr lang="en-US" dirty="0"/>
              <a:t>2 </a:t>
            </a:r>
            <a:r>
              <a:rPr lang="en-US" b="1" dirty="0"/>
              <a:t>- p</a:t>
            </a:r>
            <a:r>
              <a:rPr lang="en-US" dirty="0"/>
              <a:t>1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T(-</a:t>
            </a:r>
            <a:r>
              <a:rPr lang="en-US" altLang="zh-CN" b="1" dirty="0"/>
              <a:t>p</a:t>
            </a:r>
            <a:r>
              <a:rPr lang="en-US" b="1" baseline="-25000" dirty="0"/>
              <a:t>0</a:t>
            </a:r>
            <a:r>
              <a:rPr lang="en-US" b="1" dirty="0"/>
              <a:t>)</a:t>
            </a:r>
            <a:r>
              <a:rPr lang="zh-CN" altLang="en-US" dirty="0"/>
              <a:t>平移不动点到原</a:t>
            </a:r>
            <a:br>
              <a:rPr lang="zh-CN" altLang="en-US" dirty="0"/>
            </a:br>
            <a:r>
              <a:rPr lang="zh-CN" altLang="en-US" dirty="0"/>
              <a:t>点</a:t>
            </a:r>
            <a:br>
              <a:rPr lang="zh-CN" altLang="en-US" dirty="0"/>
            </a:b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31</a:t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885" y="1714500"/>
            <a:ext cx="299531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2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绕任意轴的旋转 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处理旋转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策略：先经过两次旋转使旋转轴</a:t>
            </a:r>
            <a:r>
              <a:rPr lang="en-US" altLang="zh-CN" b="1" dirty="0"/>
              <a:t>r</a:t>
            </a:r>
            <a:r>
              <a:rPr lang="zh-CN" altLang="en-US" dirty="0"/>
              <a:t>与</a:t>
            </a:r>
            <a:r>
              <a:rPr lang="en-US" altLang="zh-CN" dirty="0"/>
              <a:t>z</a:t>
            </a:r>
            <a:r>
              <a:rPr lang="zh-CN" altLang="en-US" dirty="0"/>
              <a:t>轴对</a:t>
            </a:r>
            <a:br>
              <a:rPr lang="zh-CN" altLang="en-US" dirty="0"/>
            </a:br>
            <a:r>
              <a:rPr lang="zh-CN" altLang="en-US" dirty="0"/>
              <a:t>齐，然后绕</a:t>
            </a:r>
            <a:r>
              <a:rPr lang="en-US" altLang="zh-CN" dirty="0"/>
              <a:t>z</a:t>
            </a:r>
            <a:r>
              <a:rPr lang="zh-CN" altLang="en-US" dirty="0"/>
              <a:t>轴旋转角度</a:t>
            </a:r>
            <a:r>
              <a:rPr lang="de-DE" sz="2800" dirty="0">
                <a:solidFill>
                  <a:srgbClr val="000000"/>
                </a:solidFill>
                <a:latin typeface="Symbol" panose="05050102010706020507" pitchFamily="18" charset="2"/>
              </a:rPr>
              <a:t>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32</a:t>
            </a:fld>
            <a:endParaRPr lang="es-E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828800"/>
            <a:ext cx="8705850" cy="255829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057400" y="5446277"/>
            <a:ext cx="5715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+mj-lt"/>
              </a:rPr>
              <a:t>R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= 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R</a:t>
            </a:r>
            <a:r>
              <a:rPr lang="en-US" sz="1800" i="1" dirty="0">
                <a:solidFill>
                  <a:srgbClr val="000000"/>
                </a:solidFill>
                <a:latin typeface="+mj-lt"/>
              </a:rPr>
              <a:t>x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(-</a:t>
            </a:r>
            <a:r>
              <a:rPr lang="de-DE" dirty="0">
                <a:solidFill>
                  <a:srgbClr val="000000"/>
                </a:solidFill>
                <a:latin typeface="Symbol" panose="05050102010706020507" pitchFamily="18" charset="2"/>
              </a:rPr>
              <a:t></a:t>
            </a:r>
            <a:r>
              <a:rPr lang="en-US" sz="1800" i="1" dirty="0">
                <a:solidFill>
                  <a:srgbClr val="000000"/>
                </a:solidFill>
                <a:latin typeface="+mj-lt"/>
              </a:rPr>
              <a:t>x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)</a:t>
            </a:r>
            <a:r>
              <a:rPr lang="en-US" b="1" dirty="0" err="1">
                <a:solidFill>
                  <a:srgbClr val="000000"/>
                </a:solidFill>
                <a:latin typeface="+mj-lt"/>
              </a:rPr>
              <a:t>R</a:t>
            </a:r>
            <a:r>
              <a:rPr lang="en-US" sz="1800" i="1" dirty="0" err="1">
                <a:solidFill>
                  <a:srgbClr val="000000"/>
                </a:solidFill>
                <a:latin typeface="+mj-lt"/>
              </a:rPr>
              <a:t>y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(-</a:t>
            </a:r>
            <a:r>
              <a:rPr lang="de-DE" dirty="0">
                <a:solidFill>
                  <a:srgbClr val="000000"/>
                </a:solidFill>
                <a:latin typeface="Symbol" panose="05050102010706020507" pitchFamily="18" charset="2"/>
              </a:rPr>
              <a:t></a:t>
            </a:r>
            <a:r>
              <a:rPr lang="en-US" sz="1800" i="1" dirty="0">
                <a:solidFill>
                  <a:srgbClr val="000000"/>
                </a:solidFill>
                <a:latin typeface="+mj-lt"/>
              </a:rPr>
              <a:t>y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)</a:t>
            </a:r>
            <a:r>
              <a:rPr lang="en-US" b="1" dirty="0" err="1">
                <a:solidFill>
                  <a:srgbClr val="000000"/>
                </a:solidFill>
                <a:latin typeface="+mj-lt"/>
              </a:rPr>
              <a:t>R</a:t>
            </a:r>
            <a:r>
              <a:rPr lang="en-US" sz="1800" i="1" dirty="0" err="1">
                <a:solidFill>
                  <a:srgbClr val="000000"/>
                </a:solidFill>
                <a:latin typeface="+mj-lt"/>
              </a:rPr>
              <a:t>z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(</a:t>
            </a:r>
            <a:r>
              <a:rPr lang="de-DE" dirty="0">
                <a:solidFill>
                  <a:srgbClr val="000000"/>
                </a:solidFill>
                <a:latin typeface="Symbol" panose="05050102010706020507" pitchFamily="18" charset="2"/>
              </a:rPr>
              <a:t>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) </a:t>
            </a:r>
            <a:r>
              <a:rPr lang="en-US" b="1" dirty="0" err="1">
                <a:solidFill>
                  <a:srgbClr val="000000"/>
                </a:solidFill>
                <a:latin typeface="+mj-lt"/>
              </a:rPr>
              <a:t>R</a:t>
            </a:r>
            <a:r>
              <a:rPr lang="en-US" sz="1800" i="1" dirty="0" err="1">
                <a:solidFill>
                  <a:srgbClr val="000000"/>
                </a:solidFill>
                <a:latin typeface="+mj-lt"/>
              </a:rPr>
              <a:t>y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(</a:t>
            </a:r>
            <a:r>
              <a:rPr lang="de-DE" dirty="0">
                <a:solidFill>
                  <a:srgbClr val="000000"/>
                </a:solidFill>
                <a:latin typeface="Symbol" panose="05050102010706020507" pitchFamily="18" charset="2"/>
              </a:rPr>
              <a:t></a:t>
            </a:r>
            <a:r>
              <a:rPr lang="en-US" sz="1800" i="1" dirty="0">
                <a:solidFill>
                  <a:srgbClr val="000000"/>
                </a:solidFill>
                <a:latin typeface="+mj-lt"/>
              </a:rPr>
              <a:t>y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+mj-lt"/>
              </a:rPr>
              <a:t>R</a:t>
            </a:r>
            <a:r>
              <a:rPr lang="en-US" sz="1800" i="1" dirty="0">
                <a:solidFill>
                  <a:srgbClr val="000000"/>
                </a:solidFill>
                <a:latin typeface="+mj-lt"/>
              </a:rPr>
              <a:t>x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(</a:t>
            </a:r>
            <a:r>
              <a:rPr lang="de-DE" dirty="0">
                <a:solidFill>
                  <a:srgbClr val="000000"/>
                </a:solidFill>
                <a:latin typeface="Symbol" panose="05050102010706020507" pitchFamily="18" charset="2"/>
              </a:rPr>
              <a:t></a:t>
            </a:r>
            <a:r>
              <a:rPr lang="en-US" sz="1800" i="1" dirty="0">
                <a:solidFill>
                  <a:srgbClr val="000000"/>
                </a:solidFill>
                <a:latin typeface="+mj-lt"/>
              </a:rPr>
              <a:t>x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)</a:t>
            </a:r>
            <a:br>
              <a:rPr lang="en-US" sz="1800" dirty="0">
                <a:solidFill>
                  <a:srgbClr val="000000"/>
                </a:solidFill>
                <a:latin typeface="+mj-lt"/>
              </a:rPr>
            </a:br>
            <a:br>
              <a:rPr lang="en-US" sz="1800" dirty="0">
                <a:solidFill>
                  <a:srgbClr val="000000"/>
                </a:solidFill>
                <a:latin typeface="+mj-lt"/>
              </a:rPr>
            </a:b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4731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B5D9-F2E9-49B0-9420-FAB6124B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绕任意轴旋转公式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F981D3-8C31-488E-AE70-6A1F8E402B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绕任意轴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dirty="0"/>
                  <a:t>为归一化的旋转轴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扩展到齐次坐标？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F981D3-8C31-488E-AE70-6A1F8E402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61" t="-2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2FBF5-45C8-4724-B934-7C48FEADB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33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AA1D97-84BE-4CBA-95F0-37B25B3B3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429000"/>
            <a:ext cx="8610600" cy="153973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7711FB0-5710-4469-8DDC-5CC6EC5F49DB}"/>
              </a:ext>
            </a:extLst>
          </p:cNvPr>
          <p:cNvSpPr/>
          <p:nvPr/>
        </p:nvSpPr>
        <p:spPr>
          <a:xfrm>
            <a:off x="685800" y="572443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</a:rPr>
              <a:t>M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b="1" dirty="0">
                <a:solidFill>
                  <a:srgbClr val="000000"/>
                </a:solidFill>
              </a:rPr>
              <a:t>T(p</a:t>
            </a:r>
            <a:r>
              <a:rPr lang="en-US" altLang="zh-CN" sz="1600" dirty="0">
                <a:solidFill>
                  <a:srgbClr val="000000"/>
                </a:solidFill>
              </a:rPr>
              <a:t>0</a:t>
            </a:r>
            <a:r>
              <a:rPr lang="en-US" altLang="zh-CN" b="1" dirty="0">
                <a:solidFill>
                  <a:srgbClr val="000000"/>
                </a:solidFill>
              </a:rPr>
              <a:t>) RT(</a:t>
            </a:r>
            <a:r>
              <a:rPr lang="en-US" altLang="zh-CN" dirty="0">
                <a:solidFill>
                  <a:srgbClr val="000000"/>
                </a:solidFill>
              </a:rPr>
              <a:t>-</a:t>
            </a:r>
            <a:r>
              <a:rPr lang="en-US" altLang="zh-CN" b="1" dirty="0">
                <a:solidFill>
                  <a:srgbClr val="000000"/>
                </a:solidFill>
              </a:rPr>
              <a:t>p</a:t>
            </a:r>
            <a:r>
              <a:rPr lang="en-US" altLang="zh-CN" sz="1600" dirty="0">
                <a:solidFill>
                  <a:srgbClr val="000000"/>
                </a:solidFill>
              </a:rPr>
              <a:t>0</a:t>
            </a:r>
            <a:r>
              <a:rPr lang="en-US" altLang="zh-CN" b="1" dirty="0">
                <a:solidFill>
                  <a:srgbClr val="000000"/>
                </a:solidFill>
              </a:rPr>
              <a:t>)</a:t>
            </a:r>
            <a:br>
              <a:rPr lang="en-US" altLang="zh-CN" dirty="0">
                <a:solidFill>
                  <a:srgbClr val="000000"/>
                </a:solidFill>
              </a:rPr>
            </a:br>
            <a:br>
              <a:rPr lang="en-US" altLang="zh-CN" dirty="0">
                <a:solidFill>
                  <a:srgbClr val="000000"/>
                </a:solidFill>
              </a:rPr>
            </a:b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0347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B5D9-F2E9-49B0-9420-FAB6124B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模型视图变换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981D3-8C31-488E-AE70-6A1F8E40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相机变换（视点变换）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2FBF5-45C8-4724-B934-7C48FEADB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34</a:t>
            </a:fld>
            <a:endParaRPr lang="es-E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72B373-676A-4982-91FA-B88444A93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1800"/>
            <a:ext cx="2622640" cy="16079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E3C91F-24FB-471B-8CB4-940AAF580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160" y="2133600"/>
            <a:ext cx="4809400" cy="369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68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B5D9-F2E9-49B0-9420-FAB6124B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模型视图变换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F981D3-8C31-488E-AE70-6A1F8E40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相机变换（视点变换）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B2FBF5-45C8-4724-B934-7C48FEADB3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35</a:t>
            </a:fld>
            <a:endParaRPr lang="es-E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72B373-676A-4982-91FA-B88444A93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438400"/>
            <a:ext cx="2622640" cy="16079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FE18650-4D78-4FA2-843E-C7C49A1B6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812" y="2026643"/>
            <a:ext cx="2354784" cy="24233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AA2CC1-9429-4E44-A638-E45A0380B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64" y="4564313"/>
            <a:ext cx="7574936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41233"/>
      </p:ext>
    </p:extLst>
  </p:cSld>
  <p:clrMapOvr>
    <a:masterClrMapping/>
  </p:clrMapOvr>
</p:sld>
</file>

<file path=ppt/theme/theme1.xml><?xml version="1.0" encoding="utf-8"?>
<a:theme xmlns:a="http://schemas.openxmlformats.org/drawingml/2006/main" name="AngelICG02">
  <a:themeElements>
    <a:clrScheme name="AngelICG02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AngelICG0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ngelICG0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C:\PPT\BOOK_LECTURE\AngelICG02.ppt</Template>
  <TotalTime>3111</TotalTime>
  <Words>1484</Words>
  <Application>Microsoft Office PowerPoint</Application>
  <PresentationFormat>全屏显示(4:3)</PresentationFormat>
  <Paragraphs>271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楷体</vt:lpstr>
      <vt:lpstr>Arial</vt:lpstr>
      <vt:lpstr>Cambria Math</vt:lpstr>
      <vt:lpstr>Symbol</vt:lpstr>
      <vt:lpstr>Times New Roman</vt:lpstr>
      <vt:lpstr>AngelICG02</vt:lpstr>
      <vt:lpstr>Image</vt:lpstr>
      <vt:lpstr>Equation</vt:lpstr>
      <vt:lpstr>Introduction to  Computer Graphics</vt:lpstr>
      <vt:lpstr>本节内容</vt:lpstr>
      <vt:lpstr>本节内容</vt:lpstr>
      <vt:lpstr>向量</vt:lpstr>
      <vt:lpstr>向量</vt:lpstr>
      <vt:lpstr>向量</vt:lpstr>
      <vt:lpstr>矩阵</vt:lpstr>
      <vt:lpstr>矩阵</vt:lpstr>
      <vt:lpstr>矩阵</vt:lpstr>
      <vt:lpstr>顶点变换的流程</vt:lpstr>
      <vt:lpstr>顶点变换的流程</vt:lpstr>
      <vt:lpstr>模型视图变换</vt:lpstr>
      <vt:lpstr>平移（translation)</vt:lpstr>
      <vt:lpstr>对象的平移</vt:lpstr>
      <vt:lpstr>平移的表示</vt:lpstr>
      <vt:lpstr>平移矩阵</vt:lpstr>
      <vt:lpstr>平移矩阵</vt:lpstr>
      <vt:lpstr>二维旋转（2-dimensional Rotation)</vt:lpstr>
      <vt:lpstr>二维旋转</vt:lpstr>
      <vt:lpstr>绕z轴的旋转</vt:lpstr>
      <vt:lpstr>绕z轴的旋转矩阵</vt:lpstr>
      <vt:lpstr>绕X轴和绕Y轴的旋转矩阵</vt:lpstr>
      <vt:lpstr>刚体变换（Rigid Transformation)</vt:lpstr>
      <vt:lpstr>缩放（scaling）</vt:lpstr>
      <vt:lpstr>反射（reflection)</vt:lpstr>
      <vt:lpstr>逆变换 (Inverse Transformation)</vt:lpstr>
      <vt:lpstr>变换的复合 (Transformation Concatenation)</vt:lpstr>
      <vt:lpstr>变换的顺序(Order of Transformations)</vt:lpstr>
      <vt:lpstr>绕原点的一般旋转</vt:lpstr>
      <vt:lpstr>不动点为pf的旋转</vt:lpstr>
      <vt:lpstr>绕任意轴的旋转  (处理旋转中心)</vt:lpstr>
      <vt:lpstr>绕任意轴的旋转  (处理旋转)</vt:lpstr>
      <vt:lpstr>绕任意轴旋转公式</vt:lpstr>
      <vt:lpstr>模型视图变换</vt:lpstr>
      <vt:lpstr>模型视图变换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</dc:creator>
  <cp:lastModifiedBy>test</cp:lastModifiedBy>
  <cp:revision>184</cp:revision>
  <dcterms:created xsi:type="dcterms:W3CDTF">2011-07-24T21:10:31Z</dcterms:created>
  <dcterms:modified xsi:type="dcterms:W3CDTF">2020-03-24T03:54:11Z</dcterms:modified>
</cp:coreProperties>
</file>