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95" r:id="rId2"/>
    <p:sldId id="272" r:id="rId3"/>
    <p:sldId id="279" r:id="rId4"/>
    <p:sldId id="268" r:id="rId5"/>
    <p:sldId id="280" r:id="rId6"/>
    <p:sldId id="282" r:id="rId7"/>
    <p:sldId id="276" r:id="rId8"/>
    <p:sldId id="269" r:id="rId9"/>
    <p:sldId id="277" r:id="rId10"/>
    <p:sldId id="270" r:id="rId11"/>
    <p:sldId id="283" r:id="rId12"/>
    <p:sldId id="293" r:id="rId13"/>
    <p:sldId id="284" r:id="rId14"/>
    <p:sldId id="271" r:id="rId15"/>
    <p:sldId id="287" r:id="rId16"/>
    <p:sldId id="288" r:id="rId17"/>
    <p:sldId id="289" r:id="rId18"/>
    <p:sldId id="290" r:id="rId19"/>
    <p:sldId id="292" r:id="rId20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02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62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FD16E7C5-1558-42A2-82E2-A8FCF6DBC92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7C578547-67AE-42B0-AD6C-2E9EF534AB4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4859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78A80FE-85DA-4934-AF44-7CDD0186166F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371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79680411-0B18-4379-B88B-87C8A6F30E0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4FD4FFE6-C996-4D1D-8386-742D449F860D}" type="slidenum">
              <a:rPr lang="es-ES"/>
              <a:t>‹#›</a:t>
            </a:fld>
            <a:endParaRPr lang="es-ES"/>
          </a:p>
        </p:txBody>
      </p:sp>
      <p:sp>
        <p:nvSpPr>
          <p:cNvPr id="7" name="Line 5"/>
          <p:cNvSpPr>
            <a:spLocks noChangeShapeType="1"/>
          </p:cNvSpPr>
          <p:nvPr userDrawn="1"/>
        </p:nvSpPr>
        <p:spPr bwMode="auto">
          <a:xfrm>
            <a:off x="1371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1090AED9-50EC-4D19-AB1A-27325B2B098A}" type="slidenum">
              <a:rPr lang="es-ES"/>
              <a:t>‹#›</a:t>
            </a:fld>
            <a:endParaRPr lang="es-ES"/>
          </a:p>
        </p:txBody>
      </p:sp>
      <p:sp>
        <p:nvSpPr>
          <p:cNvPr id="8" name="Line 5"/>
          <p:cNvSpPr>
            <a:spLocks noChangeShapeType="1"/>
          </p:cNvSpPr>
          <p:nvPr userDrawn="1"/>
        </p:nvSpPr>
        <p:spPr bwMode="auto">
          <a:xfrm>
            <a:off x="1371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800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7F01FB-6EF7-4EDB-9E97-23B7BCE68F2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86D18E-A0B0-4645-9EC0-0AC6D7AFB1FD}" type="slidenum">
              <a:rPr lang="es-ES"/>
              <a:t>‹#›</a:t>
            </a:fld>
            <a:endParaRPr lang="es-ES"/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1371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C812C50-9D24-495E-BA7E-1DC2B83ADCC3}" type="slidenum">
              <a:rPr lang="es-ES"/>
              <a:t>‹#›</a:t>
            </a:fld>
            <a:endParaRPr lang="es-ES"/>
          </a:p>
        </p:txBody>
      </p:sp>
      <p:sp>
        <p:nvSpPr>
          <p:cNvPr id="5" name="Line 5"/>
          <p:cNvSpPr>
            <a:spLocks noChangeShapeType="1"/>
          </p:cNvSpPr>
          <p:nvPr userDrawn="1"/>
        </p:nvSpPr>
        <p:spPr bwMode="auto">
          <a:xfrm>
            <a:off x="1371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DA20D70-7BE7-4053-87C6-193C696BAA96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25ABB73-297F-4FC4-BF1A-793F255B5EDC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642AEA81-A804-41B6-B60D-B76EF5F5ACC1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EFD3A08-CD29-4B7C-9D61-0781442FB0B0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1"/>
          <p:cNvGraphicFramePr>
            <a:graphicFrameLocks noChangeAspect="1"/>
          </p:cNvGraphicFramePr>
          <p:nvPr userDrawn="1"/>
        </p:nvGraphicFramePr>
        <p:xfrm>
          <a:off x="-118812" y="152400"/>
          <a:ext cx="1962167" cy="1103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6572250" imgH="3695700" progId="Photoshop.Image.13">
                  <p:embed/>
                </p:oleObj>
              </mc:Choice>
              <mc:Fallback>
                <p:oleObj name="Image" r:id="rId13" imgW="6572250" imgH="3695700" progId="Photoshop.Image.1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8812" y="152400"/>
                        <a:ext cx="1962167" cy="1103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228600"/>
            <a:ext cx="624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s-ES"/>
              <a:t>D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3810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2pPr lvl="1" algn="r">
              <a:defRPr sz="1000">
                <a:latin typeface="Arial" panose="020B0604020202020204" pitchFamily="34" charset="0"/>
              </a:defRPr>
            </a:lvl2pPr>
          </a:lstStyle>
          <a:p>
            <a:pPr lvl="1"/>
            <a:fld id="{9D4ADB00-AF9A-4CA0-9AD6-77D38D1BE3FC}" type="slidenum">
              <a:rPr lang="es-ES"/>
              <a:t>‹#›</a:t>
            </a:fld>
            <a:endParaRPr lang="es-E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7611122" y="66176"/>
            <a:ext cx="1497578" cy="1425289"/>
          </a:xfrm>
          <a:prstGeom prst="rect">
            <a:avLst/>
          </a:prstGeom>
          <a:blipFill dpi="0" rotWithShape="1">
            <a:blip r:embed="rId15">
              <a:alphaModFix amt="60000"/>
            </a:blip>
            <a:srcRect/>
            <a:stretch>
              <a:fillRect/>
            </a:stretch>
          </a:blipFill>
          <a:ln w="9525">
            <a:solidFill>
              <a:srgbClr val="FFFFFF"/>
            </a:solidFill>
            <a:round/>
          </a:ln>
        </p:spPr>
        <p:txBody>
          <a:bodyPr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Times New Roman" panose="02020603050405020304" pitchFamily="18" charset="0"/>
          <a:ea typeface="楷体" panose="02010609060101010101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190500" indent="-190500" algn="l" rtl="0" eaLnBrk="0" fontAlgn="base" hangingPunct="0">
        <a:spcBef>
          <a:spcPct val="20000"/>
        </a:spcBef>
        <a:spcAft>
          <a:spcPct val="0"/>
        </a:spcAft>
        <a:buChar char="•"/>
        <a:defRPr sz="3100">
          <a:solidFill>
            <a:schemeClr val="tx1"/>
          </a:solidFill>
          <a:latin typeface="Times New Roman" panose="02020603050405020304" pitchFamily="18" charset="0"/>
          <a:ea typeface="楷体" panose="02010609060101010101" charset="-122"/>
          <a:cs typeface="Times New Roman" panose="02020603050405020304" pitchFamily="18" charset="0"/>
        </a:defRPr>
      </a:lvl1pPr>
      <a:lvl2pPr marL="571500" indent="-190500" algn="l" rtl="0" eaLnBrk="0" fontAlgn="base" hangingPunct="0">
        <a:spcBef>
          <a:spcPct val="20000"/>
        </a:spcBef>
        <a:spcAft>
          <a:spcPct val="0"/>
        </a:spcAft>
        <a:buChar char="­"/>
        <a:defRPr sz="2600">
          <a:solidFill>
            <a:schemeClr val="tx1"/>
          </a:solidFill>
          <a:latin typeface="Times New Roman" panose="02020603050405020304" pitchFamily="18" charset="0"/>
          <a:ea typeface="楷体" panose="02010609060101010101" charset="-122"/>
          <a:cs typeface="Times New Roman" panose="02020603050405020304" pitchFamily="18" charset="0"/>
        </a:defRPr>
      </a:lvl2pPr>
      <a:lvl3pPr marL="952500" indent="-1905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000">
          <a:solidFill>
            <a:schemeClr val="tx1"/>
          </a:solidFill>
          <a:latin typeface="Times New Roman" panose="02020603050405020304" pitchFamily="18" charset="0"/>
          <a:ea typeface="楷体" panose="02010609060101010101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1066800"/>
          </a:xfrm>
        </p:spPr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Introduction to Computer Graphics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t>1</a:t>
            </a:fld>
            <a:endParaRPr lang="es-ES"/>
          </a:p>
        </p:txBody>
      </p:sp>
      <p:sp>
        <p:nvSpPr>
          <p:cNvPr id="7" name="标题 1"/>
          <p:cNvSpPr txBox="1"/>
          <p:nvPr/>
        </p:nvSpPr>
        <p:spPr bwMode="auto">
          <a:xfrm>
            <a:off x="0" y="2895600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kern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Course Overview</a:t>
            </a:r>
          </a:p>
          <a:p>
            <a:r>
              <a:rPr lang="zh-CN" altLang="en-US" kern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课程概述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9AC54B93-7376-436A-8A3A-EFDF7102CA1A}" type="slidenum">
              <a:rPr lang="es-ES" sz="1000">
                <a:latin typeface="Arial" panose="020B0604020202020204" pitchFamily="34" charset="0"/>
              </a:rPr>
              <a:t>2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Overview 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课程概述）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Theory  + </a:t>
            </a:r>
            <a:r>
              <a:rPr lang="en-US" sz="2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Technology</a:t>
            </a:r>
          </a:p>
          <a:p>
            <a:pPr lvl="1" algn="l">
              <a:buClrTx/>
              <a:buSzTx/>
              <a:buFontTx/>
            </a:pPr>
            <a:r>
              <a:rPr lang="en-US" altLang="zh-CN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Introduce the basic knowledge about computer graphics   (理论)</a:t>
            </a:r>
          </a:p>
          <a:p>
            <a:pPr lvl="1" algn="l">
              <a:buClrTx/>
              <a:buSzTx/>
              <a:buFontTx/>
            </a:pPr>
            <a:r>
              <a:rPr lang="en-US" altLang="zh-CN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Including teaching the OpenGL (a tool to write your 3D programs) 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（技术）</a:t>
            </a:r>
            <a:endParaRPr lang="en-US" altLang="zh-CN" sz="22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9AC54B93-7376-436A-8A3A-EFDF7102CA1A}" type="slidenum">
              <a:rPr lang="es-ES" sz="1000">
                <a:latin typeface="Arial" panose="020B0604020202020204" pitchFamily="34" charset="0"/>
              </a:rPr>
              <a:t>3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 (</a:t>
            </a:r>
            <a:r>
              <a:rPr lang="zh-CN" altLang="en-US" dirty="0"/>
              <a:t>课程概述）</a:t>
            </a:r>
            <a:endParaRPr lang="en-US" altLang="zh-CN" dirty="0"/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学分（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3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学分，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64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学时）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理论</a:t>
            </a:r>
            <a:endParaRPr lang="en-US" altLang="zh-CN" sz="22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lvl="2"/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时间：</a:t>
            </a:r>
            <a:r>
              <a:rPr lang="zh-CN" altLang="en-US" sz="1600" dirty="0"/>
              <a:t>每周周三</a:t>
            </a:r>
            <a:r>
              <a:rPr lang="en-US" altLang="zh-CN" sz="1600" dirty="0"/>
              <a:t>9</a:t>
            </a:r>
            <a:r>
              <a:rPr lang="zh-CN" altLang="en-US" sz="1600" dirty="0"/>
              <a:t>、</a:t>
            </a:r>
            <a:r>
              <a:rPr lang="en-US" altLang="zh-CN" sz="1600" dirty="0"/>
              <a:t>10</a:t>
            </a:r>
            <a:r>
              <a:rPr lang="zh-CN" altLang="en-US" sz="1600" dirty="0"/>
              <a:t>、</a:t>
            </a:r>
            <a:r>
              <a:rPr lang="en-US" altLang="zh-CN" sz="1600" dirty="0"/>
              <a:t>11</a:t>
            </a:r>
            <a:r>
              <a:rPr lang="zh-CN" altLang="en-US" sz="1600" dirty="0"/>
              <a:t>节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lvl="2"/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</a:t>
            </a:r>
            <a:endParaRPr lang="en-US" altLang="zh-CN" sz="22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lvl="2"/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时间：每双周三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7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8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节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762000" lvl="2" indent="0">
              <a:buNone/>
            </a:pP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lvl="2"/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Requiring hard work (about 2h/w to learn, 3h/w to practice) 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建议每周用时 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小时学习，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小时训练编码</a:t>
            </a:r>
            <a:r>
              <a:rPr lang="en-US" altLang="zh-CN" sz="2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9190B182-A0A1-4E8C-9CD3-185635F39EC1}" type="slidenum">
              <a:rPr lang="es-ES" sz="1000">
                <a:latin typeface="Arial" panose="020B0604020202020204" pitchFamily="34" charset="0"/>
              </a:rPr>
              <a:t>4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Objectives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（课程具体目标）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Broad introduction to Computer Graphics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The generation procedure of a image using a computer 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用计算机生成一张图片的过程）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Introduce the details of the key stages of the rendering pipeline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Introduce the details of how to represent or organize a scene  </a:t>
            </a:r>
          </a:p>
          <a:p>
            <a:pPr lvl="1"/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://www.ntu.edu.sg/home/ehchua/programming/opengl/images/Graphics3D_Pip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204"/>
          <a:stretch>
            <a:fillRect/>
          </a:stretch>
        </p:blipFill>
        <p:spPr bwMode="auto">
          <a:xfrm>
            <a:off x="762000" y="4724400"/>
            <a:ext cx="7400925" cy="201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9190B182-A0A1-4E8C-9CD3-185635F39EC1}" type="slidenum">
              <a:rPr lang="es-ES" sz="1000">
                <a:latin typeface="Arial" panose="020B0604020202020204" pitchFamily="34" charset="0"/>
              </a:rPr>
              <a:t>5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Objectives </a:t>
            </a:r>
            <a:r>
              <a:rPr lang="zh-CN" altLang="en-US" dirty="0"/>
              <a:t>（课程具体目标）</a:t>
            </a:r>
            <a:endParaRPr lang="en-US" altLang="zh-CN" dirty="0"/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OpenGL based course</a:t>
            </a:r>
          </a:p>
          <a:p>
            <a:pPr lvl="1"/>
            <a:r>
              <a:rPr lang="en-US" altLang="zh-CN" sz="2600" dirty="0"/>
              <a:t>to write a 3D program (</a:t>
            </a:r>
            <a:r>
              <a:rPr lang="zh-CN" altLang="en-US" sz="2600" dirty="0"/>
              <a:t>怎样写一个</a:t>
            </a:r>
            <a:r>
              <a:rPr lang="en-US" altLang="zh-CN" sz="2600" dirty="0"/>
              <a:t>3D</a:t>
            </a:r>
            <a:r>
              <a:rPr lang="zh-CN" altLang="en-US" sz="2600" dirty="0"/>
              <a:t>程序）</a:t>
            </a:r>
            <a:endParaRPr lang="en-US" altLang="zh-CN" sz="2600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122" name="Picture 2" descr="http://wap.yesky.com/imagelist/2009/198/l1emq18mz91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3" y="30099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952750"/>
            <a:ext cx="3880984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9190B182-A0A1-4E8C-9CD3-185635F39EC1}" type="slidenum">
              <a:rPr lang="es-ES" sz="1000">
                <a:latin typeface="Arial" panose="020B0604020202020204" pitchFamily="34" charset="0"/>
              </a:rPr>
              <a:t>6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Objectives </a:t>
            </a:r>
            <a:r>
              <a:rPr lang="zh-CN" altLang="en-US" dirty="0"/>
              <a:t>（课程具体目标）</a:t>
            </a:r>
            <a:endParaRPr lang="en-US" altLang="zh-CN" dirty="0"/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Introduce the latest techniques on computer graphics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3D Printing</a:t>
            </a:r>
          </a:p>
          <a:p>
            <a:pPr lvl="1"/>
            <a:r>
              <a:rPr lang="en-US" altLang="zh-CN" sz="2600" dirty="0">
                <a:ea typeface="MS PGothic" panose="020B0600070205080204" pitchFamily="34" charset="-128"/>
              </a:rPr>
              <a:t>Virtual Reality Glass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3D Movies</a:t>
            </a:r>
          </a:p>
          <a:p>
            <a:pPr lvl="1"/>
            <a:r>
              <a:rPr lang="en-US" altLang="zh-CN" sz="2600" dirty="0">
                <a:ea typeface="MS PGothic" panose="020B0600070205080204" pitchFamily="34" charset="-128"/>
              </a:rPr>
              <a:t>… </a:t>
            </a:r>
          </a:p>
          <a:p>
            <a:endParaRPr lang="en-US" altLang="zh-CN" dirty="0">
              <a:ea typeface="MS PGothic" panose="020B0600070205080204" pitchFamily="34" charset="-128"/>
            </a:endParaRPr>
          </a:p>
          <a:p>
            <a:endParaRPr lang="en-US" altLang="zh-CN" dirty="0">
              <a:ea typeface="MS PGothic" panose="020B0600070205080204" pitchFamily="34" charset="-128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714" y="1985282"/>
            <a:ext cx="3149600" cy="2362200"/>
          </a:xfrm>
          <a:prstGeom prst="rect">
            <a:avLst/>
          </a:prstGeom>
        </p:spPr>
      </p:pic>
      <p:pic>
        <p:nvPicPr>
          <p:cNvPr id="9218" name="Picture 2" descr="http://www.cghlj.com/uploads/allimg/140303/1-14030310210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509875"/>
            <a:ext cx="3581400" cy="224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baike.diy368.com/uploads/201301/1359165723zMhicBxq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461782"/>
            <a:ext cx="2990151" cy="232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A0A58A4D-7CF2-4BE6-B3A5-679993CA6F70}" type="slidenum">
              <a:rPr lang="es-ES" sz="1000">
                <a:latin typeface="Arial" panose="020B0604020202020204" pitchFamily="34" charset="0"/>
              </a:rPr>
              <a:t>7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300" dirty="0"/>
              <a:t>Prerequisites (</a:t>
            </a:r>
            <a:r>
              <a:rPr lang="zh-CN" altLang="en-US" sz="3300" dirty="0"/>
              <a:t>先修条件）</a:t>
            </a:r>
            <a:endParaRPr lang="en-US" altLang="zh-CN" sz="3300" dirty="0"/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Good programming skills in C (or C++)</a:t>
            </a:r>
          </a:p>
          <a:p>
            <a:pPr lvl="1"/>
            <a:r>
              <a:rPr lang="zh-CN" altLang="en-US" dirty="0"/>
              <a:t>热爱编程，编程基础扎实</a:t>
            </a:r>
          </a:p>
          <a:p>
            <a:r>
              <a:rPr lang="en-US" altLang="zh-CN" dirty="0"/>
              <a:t>Basic Data Structures </a:t>
            </a:r>
            <a:r>
              <a:rPr lang="zh-CN" altLang="en-US" dirty="0"/>
              <a:t>（数据结构基础）</a:t>
            </a:r>
            <a:endParaRPr lang="en-US" altLang="zh-CN" dirty="0"/>
          </a:p>
          <a:p>
            <a:pPr lvl="1"/>
            <a:r>
              <a:rPr lang="en-US" altLang="zh-CN" dirty="0"/>
              <a:t>Linked lists  </a:t>
            </a:r>
          </a:p>
          <a:p>
            <a:pPr lvl="1"/>
            <a:r>
              <a:rPr lang="en-US" altLang="zh-CN" dirty="0"/>
              <a:t>Arrays</a:t>
            </a:r>
          </a:p>
        </p:txBody>
      </p:sp>
      <p:pic>
        <p:nvPicPr>
          <p:cNvPr id="6148" name="Picture 4" descr="http://img.ios114.com/uploads/image/20131114/20131114164603_3705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573018"/>
            <a:ext cx="4376057" cy="314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A0A58A4D-7CF2-4BE6-B3A5-679993CA6F70}" type="slidenum">
              <a:rPr lang="es-ES" sz="1000">
                <a:latin typeface="Arial" panose="020B0604020202020204" pitchFamily="34" charset="0"/>
              </a:rPr>
              <a:t>8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300" dirty="0"/>
              <a:t>Prerequisites (</a:t>
            </a:r>
            <a:r>
              <a:rPr lang="zh-CN" altLang="en-US" sz="3300" dirty="0"/>
              <a:t>先修条件）</a:t>
            </a:r>
            <a:endParaRPr lang="en-US" altLang="zh-CN" sz="3300" dirty="0"/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Geometry </a:t>
            </a:r>
            <a:r>
              <a:rPr lang="zh-CN" altLang="en-US" dirty="0"/>
              <a:t>（空间几何的直觉）</a:t>
            </a:r>
            <a:endParaRPr lang="en-US" altLang="zh-CN" dirty="0"/>
          </a:p>
        </p:txBody>
      </p:sp>
      <p:pic>
        <p:nvPicPr>
          <p:cNvPr id="7170" name="Picture 2" descr="http://picm.photophoto.cn/001/005/006/00500600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71700"/>
            <a:ext cx="3462494" cy="450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://pic26.nipic.com/20121230/8660537_173623368129_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931" y="2743200"/>
            <a:ext cx="4724400" cy="30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A0A58A4D-7CF2-4BE6-B3A5-679993CA6F70}" type="slidenum">
              <a:rPr lang="es-ES" sz="1000">
                <a:latin typeface="Arial" panose="020B0604020202020204" pitchFamily="34" charset="0"/>
              </a:rPr>
              <a:t>9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300" dirty="0">
                <a:ea typeface="MS PGothic" panose="020B0600070205080204" pitchFamily="34" charset="-128"/>
              </a:rPr>
              <a:t>Prerequisites (</a:t>
            </a:r>
            <a:r>
              <a:rPr lang="zh-CN" altLang="en-US" sz="3300" dirty="0">
                <a:ea typeface="MS PGothic" panose="020B0600070205080204" pitchFamily="34" charset="-128"/>
              </a:rPr>
              <a:t>先修条件）</a:t>
            </a:r>
            <a:endParaRPr lang="en-US" altLang="zh-CN" sz="3300" dirty="0">
              <a:ea typeface="MS PGothic" panose="020B0600070205080204" pitchFamily="34" charset="-128"/>
            </a:endParaRP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Solid Linear Algebra </a:t>
            </a:r>
            <a:r>
              <a:rPr lang="zh-CN" altLang="en-US" dirty="0">
                <a:ea typeface="MS PGothic" panose="020B0600070205080204" pitchFamily="34" charset="-128"/>
              </a:rPr>
              <a:t>（扎实的线代功底）</a:t>
            </a:r>
            <a:endParaRPr lang="en-US" altLang="zh-CN" dirty="0">
              <a:ea typeface="MS PGothic" panose="020B0600070205080204" pitchFamily="34" charset="-128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275" y="3977141"/>
            <a:ext cx="2389874" cy="227125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261286"/>
            <a:ext cx="2286000" cy="2335427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 bwMode="auto">
          <a:xfrm rot="19087133">
            <a:off x="4000878" y="3776077"/>
            <a:ext cx="1385072" cy="64490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743297" y="2486134"/>
                <a:ext cx="2739594" cy="9742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=[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  <m:e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  <m:e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m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  <m:e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  <m:e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m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  <m:e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  <m:e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mr>
                      </m:m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97" y="2486134"/>
                <a:ext cx="2739594" cy="974241"/>
              </a:xfrm>
              <a:prstGeom prst="rect">
                <a:avLst/>
              </a:prstGeom>
              <a:blipFill rotWithShape="1">
                <a:blip r:embed="rId4"/>
                <a:stretch>
                  <a:fillRect l="-4" t="-11" r="11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B049617B-ABAC-474F-B28D-9EDEEA21E838}" type="slidenum">
              <a:rPr lang="es-ES" sz="1000">
                <a:latin typeface="Arial" panose="020B0604020202020204" pitchFamily="34" charset="0"/>
              </a:rPr>
              <a:t>10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Grading policy (</a:t>
            </a:r>
            <a:r>
              <a:rPr lang="zh-CN" altLang="en-US" dirty="0">
                <a:ea typeface="MS PGothic" panose="020B0600070205080204" pitchFamily="34" charset="-128"/>
              </a:rPr>
              <a:t>评分标准</a:t>
            </a:r>
            <a:r>
              <a:rPr lang="en-US" altLang="zh-CN" dirty="0"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4~6 </a:t>
            </a:r>
            <a:r>
              <a:rPr lang="en-US" altLang="zh-CN"/>
              <a:t>Experiments 55%</a:t>
            </a:r>
            <a:endParaRPr lang="en-US" altLang="zh-CN" dirty="0"/>
          </a:p>
          <a:p>
            <a:pPr lvl="1"/>
            <a:r>
              <a:rPr lang="en-US" altLang="zh-CN" dirty="0"/>
              <a:t>Interactive </a:t>
            </a:r>
          </a:p>
          <a:p>
            <a:pPr lvl="1"/>
            <a:r>
              <a:rPr lang="en-US" altLang="zh-CN" dirty="0"/>
              <a:t>3D</a:t>
            </a:r>
          </a:p>
          <a:p>
            <a:r>
              <a:rPr lang="en-US" altLang="zh-CN" dirty="0"/>
              <a:t>Exam: 40%</a:t>
            </a:r>
          </a:p>
          <a:p>
            <a:r>
              <a:rPr lang="en-US" altLang="zh-CN" dirty="0"/>
              <a:t> Attendance </a:t>
            </a:r>
            <a:r>
              <a:rPr lang="zh-CN" altLang="en-US" dirty="0"/>
              <a:t>出勤 </a:t>
            </a:r>
            <a:r>
              <a:rPr lang="en-US" altLang="zh-CN" dirty="0"/>
              <a:t>5%</a:t>
            </a:r>
          </a:p>
          <a:p>
            <a:pPr marL="3810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6F6CFCF6-A20A-4413-B1C3-DD246684B9CC}" type="slidenum">
              <a:rPr lang="es-ES" sz="1000">
                <a:latin typeface="Arial" panose="020B0604020202020204" pitchFamily="34" charset="0"/>
              </a:rPr>
              <a:t>11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Textbook(</a:t>
            </a:r>
            <a:r>
              <a:rPr lang="zh-CN" altLang="en-US" dirty="0">
                <a:ea typeface="MS PGothic" panose="020B0600070205080204" pitchFamily="34" charset="-128"/>
              </a:rPr>
              <a:t>教材）</a:t>
            </a:r>
            <a:endParaRPr lang="en-US" altLang="zh-CN" dirty="0">
              <a:ea typeface="MS PGothic" panose="020B0600070205080204" pitchFamily="34" charset="-128"/>
            </a:endParaRP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Interactive Computer Graphics - A Top-Down Approach 5</a:t>
            </a:r>
            <a:r>
              <a:rPr lang="en-US" altLang="zh-CN" sz="2800" baseline="30000" dirty="0"/>
              <a:t>th</a:t>
            </a:r>
            <a:r>
              <a:rPr lang="en-US" altLang="zh-CN" sz="2800" dirty="0"/>
              <a:t> Edition </a:t>
            </a:r>
            <a:r>
              <a:rPr lang="zh-CN" altLang="en-US" sz="2800" dirty="0"/>
              <a:t>（主教材）</a:t>
            </a:r>
            <a:endParaRPr lang="en-US" altLang="zh-CN" sz="2800" dirty="0"/>
          </a:p>
          <a:p>
            <a:pPr lvl="1"/>
            <a:r>
              <a:rPr lang="zh-CN" altLang="en-US" sz="2300" dirty="0"/>
              <a:t>中文版</a:t>
            </a:r>
            <a:r>
              <a:rPr lang="en-US" altLang="zh-CN" sz="2300" dirty="0"/>
              <a:t>《</a:t>
            </a:r>
            <a:r>
              <a:rPr lang="zh-CN" altLang="en-US" sz="2300" dirty="0"/>
              <a:t>交互式计算机图形学</a:t>
            </a:r>
            <a:r>
              <a:rPr lang="en-US" altLang="zh-CN" sz="2300" dirty="0"/>
              <a:t>-</a:t>
            </a:r>
            <a:r>
              <a:rPr lang="zh-CN" altLang="en-US" sz="2300" dirty="0"/>
              <a:t>基于</a:t>
            </a:r>
            <a:r>
              <a:rPr lang="en-US" altLang="zh-CN" sz="2300" dirty="0"/>
              <a:t>OpenGL</a:t>
            </a:r>
            <a:r>
              <a:rPr lang="zh-CN" altLang="en-US" sz="2300" dirty="0"/>
              <a:t>的自顶向下方法</a:t>
            </a:r>
            <a:r>
              <a:rPr lang="en-US" altLang="zh-CN" sz="2300" dirty="0"/>
              <a:t>》</a:t>
            </a:r>
            <a:r>
              <a:rPr lang="zh-CN" altLang="en-US" sz="2300" dirty="0"/>
              <a:t>第</a:t>
            </a:r>
            <a:r>
              <a:rPr lang="en-US" altLang="zh-CN" sz="2300" dirty="0"/>
              <a:t>5</a:t>
            </a:r>
            <a:r>
              <a:rPr lang="zh-CN" altLang="en-US" sz="2300" dirty="0"/>
              <a:t>版   </a:t>
            </a:r>
            <a:endParaRPr lang="en-US" altLang="zh-CN" sz="2300" i="1" u="sng" dirty="0"/>
          </a:p>
          <a:p>
            <a:pPr lvl="1"/>
            <a:endParaRPr lang="en-US" altLang="zh-CN" sz="2300" i="1" u="sng" dirty="0"/>
          </a:p>
          <a:p>
            <a:pPr lvl="1"/>
            <a:endParaRPr lang="en-US" altLang="zh-CN" sz="2300" dirty="0"/>
          </a:p>
          <a:p>
            <a:pPr lvl="1"/>
            <a:endParaRPr lang="en-US" altLang="zh-CN" sz="2300" dirty="0"/>
          </a:p>
          <a:p>
            <a:pPr lvl="1"/>
            <a:endParaRPr lang="en-US" altLang="zh-CN" sz="2300" dirty="0"/>
          </a:p>
          <a:p>
            <a:pPr lvl="1"/>
            <a:endParaRPr lang="en-US" altLang="zh-CN" sz="23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448731"/>
            <a:ext cx="2236340" cy="3190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6F6CFCF6-A20A-4413-B1C3-DD246684B9CC}" type="slidenum">
              <a:rPr lang="es-ES" sz="1000">
                <a:latin typeface="Arial" panose="020B0604020202020204" pitchFamily="34" charset="0"/>
              </a:rPr>
              <a:t>12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Textbook(</a:t>
            </a:r>
            <a:r>
              <a:rPr lang="zh-CN" altLang="en-US" dirty="0">
                <a:ea typeface="MS PGothic" panose="020B0600070205080204" pitchFamily="34" charset="-128"/>
              </a:rPr>
              <a:t>教材）</a:t>
            </a:r>
            <a:endParaRPr lang="en-US" altLang="zh-CN" dirty="0">
              <a:ea typeface="MS PGothic" panose="020B0600070205080204" pitchFamily="34" charset="-128"/>
            </a:endParaRP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Fundamentals of Computer Graphics </a:t>
            </a:r>
            <a:br>
              <a:rPr lang="en-US" altLang="zh-CN" sz="2800" dirty="0"/>
            </a:br>
            <a:r>
              <a:rPr lang="en-US" altLang="zh-CN" sz="2800" dirty="0"/>
              <a:t>4th Edition </a:t>
            </a:r>
            <a:r>
              <a:rPr lang="zh-CN" altLang="en-US" sz="2800" dirty="0"/>
              <a:t>（辅助材料）（</a:t>
            </a:r>
            <a:r>
              <a:rPr lang="en-US" altLang="zh-CN" sz="2800" dirty="0"/>
              <a:t>The Tiger Book</a:t>
            </a:r>
            <a:r>
              <a:rPr lang="zh-CN" altLang="en-US" sz="2800" dirty="0"/>
              <a:t>）</a:t>
            </a:r>
            <a:endParaRPr lang="en-US" altLang="zh-CN" dirty="0"/>
          </a:p>
          <a:p>
            <a:pPr lvl="1"/>
            <a:r>
              <a:rPr lang="zh-CN" altLang="en-US" sz="2300" dirty="0"/>
              <a:t>计算机图形学基础（第四版） </a:t>
            </a:r>
            <a:endParaRPr lang="en-US" altLang="zh-CN" sz="2300" i="1" u="sng" dirty="0"/>
          </a:p>
          <a:p>
            <a:pPr lvl="1"/>
            <a:endParaRPr lang="en-US" altLang="zh-CN" sz="2300" i="1" u="sng" dirty="0"/>
          </a:p>
          <a:p>
            <a:pPr lvl="1"/>
            <a:endParaRPr lang="en-US" altLang="zh-CN" sz="2300" dirty="0"/>
          </a:p>
          <a:p>
            <a:pPr lvl="1"/>
            <a:endParaRPr lang="en-US" altLang="zh-CN" sz="2300" dirty="0"/>
          </a:p>
          <a:p>
            <a:pPr lvl="1"/>
            <a:endParaRPr lang="en-US" altLang="zh-CN" sz="2300" dirty="0"/>
          </a:p>
          <a:p>
            <a:pPr lvl="1"/>
            <a:endParaRPr lang="en-US" altLang="zh-CN" sz="23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260" y="2971034"/>
            <a:ext cx="2549079" cy="32773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6F6CFCF6-A20A-4413-B1C3-DD246684B9CC}" type="slidenum">
              <a:rPr lang="es-ES" sz="1000">
                <a:latin typeface="Arial" panose="020B0604020202020204" pitchFamily="34" charset="0"/>
              </a:rPr>
              <a:t>13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References (</a:t>
            </a:r>
            <a:r>
              <a:rPr lang="zh-CN" altLang="en-US" dirty="0">
                <a:ea typeface="MS PGothic" panose="020B0600070205080204" pitchFamily="34" charset="-128"/>
              </a:rPr>
              <a:t>参考资料）</a:t>
            </a:r>
            <a:endParaRPr lang="en-US" altLang="zh-CN" dirty="0">
              <a:ea typeface="MS PGothic" panose="020B0600070205080204" pitchFamily="34" charset="-128"/>
            </a:endParaRP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The OpenGL Programmer’s Guide (the Redbook) 7</a:t>
            </a:r>
            <a:r>
              <a:rPr lang="en-US" altLang="zh-CN" sz="2800" baseline="30000" dirty="0"/>
              <a:t>th</a:t>
            </a:r>
            <a:r>
              <a:rPr lang="en-US" altLang="zh-CN" sz="2800" dirty="0"/>
              <a:t> Edition</a:t>
            </a:r>
          </a:p>
          <a:p>
            <a:pPr lvl="1"/>
            <a:r>
              <a:rPr lang="en-US" altLang="zh-CN" sz="2300" dirty="0"/>
              <a:t>OpenGL</a:t>
            </a:r>
            <a:r>
              <a:rPr lang="zh-CN" altLang="en-US" sz="2300" dirty="0"/>
              <a:t>编程指南 第七版</a:t>
            </a:r>
            <a:r>
              <a:rPr lang="en-US" altLang="zh-CN" sz="2300" dirty="0"/>
              <a:t> </a:t>
            </a:r>
            <a:r>
              <a:rPr lang="zh-CN" altLang="en-US" sz="2300" dirty="0"/>
              <a:t>（俗称红宝书）</a:t>
            </a:r>
            <a:endParaRPr lang="en-US" altLang="zh-CN" sz="2300" dirty="0"/>
          </a:p>
          <a:p>
            <a:r>
              <a:rPr lang="en-US" altLang="zh-CN" sz="2800" dirty="0"/>
              <a:t>OpenGL A Primer 3</a:t>
            </a:r>
            <a:r>
              <a:rPr lang="en-US" altLang="zh-CN" sz="2800" baseline="30000" dirty="0"/>
              <a:t>rd</a:t>
            </a:r>
            <a:r>
              <a:rPr lang="en-US" altLang="zh-CN" sz="2800" dirty="0"/>
              <a:t> Edition </a:t>
            </a:r>
          </a:p>
          <a:p>
            <a:pPr lvl="1"/>
            <a:r>
              <a:rPr lang="en-US" altLang="zh-CN" sz="2300" dirty="0"/>
              <a:t>OpenGL</a:t>
            </a:r>
            <a:r>
              <a:rPr lang="zh-CN" altLang="en-US" sz="2300" dirty="0"/>
              <a:t>编程基础 第三版</a:t>
            </a:r>
            <a:endParaRPr lang="en-US" altLang="zh-CN" sz="2300" dirty="0"/>
          </a:p>
          <a:p>
            <a:pPr lvl="1"/>
            <a:endParaRPr lang="en-US" altLang="zh-CN" sz="2300" dirty="0"/>
          </a:p>
          <a:p>
            <a:pPr lvl="1"/>
            <a:endParaRPr lang="en-US" altLang="zh-CN" sz="2300" dirty="0"/>
          </a:p>
        </p:txBody>
      </p:sp>
      <p:pic>
        <p:nvPicPr>
          <p:cNvPr id="5" name="图片 10" descr="opengl编程指南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973005"/>
            <a:ext cx="2050910" cy="2754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13" descr="opengl编程基础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962119"/>
            <a:ext cx="1939984" cy="2744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62C5DE29-18B0-44CE-B35A-BD4B3DB90665}" type="slidenum">
              <a:rPr lang="es-ES" sz="1000">
                <a:latin typeface="Arial" panose="020B0604020202020204" pitchFamily="34" charset="0"/>
              </a:rPr>
              <a:t>14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Resources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724400"/>
          </a:xfrm>
        </p:spPr>
        <p:txBody>
          <a:bodyPr/>
          <a:lstStyle/>
          <a:p>
            <a:r>
              <a:rPr lang="en-US" altLang="zh-CN" dirty="0"/>
              <a:t>Teaching Ftp</a:t>
            </a:r>
          </a:p>
          <a:p>
            <a:pPr lvl="1"/>
            <a:r>
              <a:rPr lang="en-US" altLang="zh-CN" dirty="0"/>
              <a:t>ftp://121.192.180.66/</a:t>
            </a:r>
          </a:p>
          <a:p>
            <a:r>
              <a:rPr lang="en-US" altLang="zh-CN" dirty="0"/>
              <a:t>QQ Group</a:t>
            </a:r>
          </a:p>
          <a:p>
            <a:pPr lvl="1"/>
            <a:r>
              <a:rPr lang="en-US" altLang="zh-CN" dirty="0"/>
              <a:t>981151584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09F597F3-D4F3-4B28-B837-7828706EF129}" type="slidenum">
              <a:rPr lang="es-ES" sz="1000">
                <a:latin typeface="Arial" panose="020B0604020202020204" pitchFamily="34" charset="0"/>
              </a:rPr>
              <a:t>15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Outline: Part 1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Part 1: Introduction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Contents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What is Computer Graphics?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Applications Areas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History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Image formation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Basic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6248400" cy="1066800"/>
          </a:xfrm>
        </p:spPr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Outline: Part 2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Part 2: Basic OpenGL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Contents 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Architecture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GLUT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Simple programs in two and three dimensions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Interaction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Outline: Part 3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Part 3: Three-Dimensional Graphics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Contents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Geometry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Transformations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Homogeneous Coordinates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Viewing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Lighting and Shading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Outline: Part 4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Part 4: Implementation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Contents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Approaches (object vs image space)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Implementing the pipeline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Clipping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Line drawing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Polygon Fill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Display issues (color)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Implementing a basic </a:t>
            </a:r>
            <a:r>
              <a:rPr lang="en-US" altLang="zh-CN" dirty="0" err="1">
                <a:ea typeface="MS PGothic" panose="020B0600070205080204" pitchFamily="34" charset="-128"/>
              </a:rPr>
              <a:t>raytracer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endParaRPr lang="en-US" altLang="zh-CN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Outline: Part 5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Part 5: Geometry and Other Graphics Technologies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Bezier Curve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Point Cloud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Mesh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Animation</a:t>
            </a: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…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dlNzNkOWNlZmViZjkzOTk4NDM4M2U0ZWE0YzMyMzMifQ=="/>
</p:tagLst>
</file>

<file path=ppt/theme/theme1.xml><?xml version="1.0" encoding="utf-8"?>
<a:theme xmlns:a="http://schemas.openxmlformats.org/drawingml/2006/main" name="AngelICG02">
  <a:themeElements>
    <a:clrScheme name="AngelICG02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ngelICG0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ctr" anchorCtr="1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ctr" anchorCtr="1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AngelICG0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ngelICG0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C:\PPT\BOOK_LECTURE\AngelICG02.ppt</Template>
  <TotalTime>29</TotalTime>
  <Words>512</Words>
  <Application>Microsoft Office PowerPoint</Application>
  <PresentationFormat>全屏显示(4:3)</PresentationFormat>
  <Paragraphs>126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MS PGothic</vt:lpstr>
      <vt:lpstr>Arial</vt:lpstr>
      <vt:lpstr>Cambria Math</vt:lpstr>
      <vt:lpstr>Times New Roman</vt:lpstr>
      <vt:lpstr>AngelICG02</vt:lpstr>
      <vt:lpstr>Image</vt:lpstr>
      <vt:lpstr>Introduction to Computer Graphics</vt:lpstr>
      <vt:lpstr>Overview (课程概述）</vt:lpstr>
      <vt:lpstr>Overview (课程概述）</vt:lpstr>
      <vt:lpstr>Objectives （课程具体目标）</vt:lpstr>
      <vt:lpstr>Objectives （课程具体目标）</vt:lpstr>
      <vt:lpstr>Objectives （课程具体目标）</vt:lpstr>
      <vt:lpstr>Prerequisites (先修条件）</vt:lpstr>
      <vt:lpstr>Prerequisites (先修条件）</vt:lpstr>
      <vt:lpstr>Prerequisites (先修条件）</vt:lpstr>
      <vt:lpstr>Grading policy (评分标准)</vt:lpstr>
      <vt:lpstr>Textbook(教材）</vt:lpstr>
      <vt:lpstr>Textbook(教材）</vt:lpstr>
      <vt:lpstr>References (参考资料）</vt:lpstr>
      <vt:lpstr>Resources</vt:lpstr>
      <vt:lpstr>Outline: Part 1</vt:lpstr>
      <vt:lpstr>Outline: Part 2</vt:lpstr>
      <vt:lpstr>Outline: Part 3</vt:lpstr>
      <vt:lpstr>Outline: Part 4</vt:lpstr>
      <vt:lpstr>Outline: Part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</dc:creator>
  <cp:lastModifiedBy>Hi</cp:lastModifiedBy>
  <cp:revision>109</cp:revision>
  <dcterms:created xsi:type="dcterms:W3CDTF">2011-07-24T21:10:00Z</dcterms:created>
  <dcterms:modified xsi:type="dcterms:W3CDTF">2026-03-04T06:26:37Z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5FDD373AAE024454BE287C21D38838CF</vt:lpwstr>
  </property>
  <property fmtid="{D5CDD505-2E9C-101B-9397-08002B2CF9AE}" pid="3" name="KSOProductBuildVer">
    <vt:lpwstr>2052-11.1.0.13703</vt:lpwstr>
  </property>
</Properties>
</file>