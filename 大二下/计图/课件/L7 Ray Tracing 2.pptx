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1"/>
  </p:sldMasterIdLst>
  <p:notesMasterIdLst>
    <p:notesMasterId r:id="rId27"/>
  </p:notesMasterIdLst>
  <p:handoutMasterIdLst>
    <p:handoutMasterId r:id="rId28"/>
  </p:handoutMasterIdLst>
  <p:sldIdLst>
    <p:sldId id="256" r:id="rId2"/>
    <p:sldId id="735" r:id="rId3"/>
    <p:sldId id="734" r:id="rId4"/>
    <p:sldId id="772" r:id="rId5"/>
    <p:sldId id="773" r:id="rId6"/>
    <p:sldId id="775" r:id="rId7"/>
    <p:sldId id="776" r:id="rId8"/>
    <p:sldId id="777" r:id="rId9"/>
    <p:sldId id="762" r:id="rId10"/>
    <p:sldId id="763" r:id="rId11"/>
    <p:sldId id="769" r:id="rId12"/>
    <p:sldId id="781" r:id="rId13"/>
    <p:sldId id="778" r:id="rId14"/>
    <p:sldId id="782" r:id="rId15"/>
    <p:sldId id="779" r:id="rId16"/>
    <p:sldId id="783" r:id="rId17"/>
    <p:sldId id="780" r:id="rId18"/>
    <p:sldId id="764" r:id="rId19"/>
    <p:sldId id="765" r:id="rId20"/>
    <p:sldId id="766" r:id="rId21"/>
    <p:sldId id="767" r:id="rId22"/>
    <p:sldId id="786" r:id="rId23"/>
    <p:sldId id="784" r:id="rId24"/>
    <p:sldId id="785" r:id="rId25"/>
    <p:sldId id="770" r:id="rId26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ＭＳ Ｐゴシック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ＭＳ Ｐゴシック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ＭＳ Ｐゴシック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ＭＳ Ｐゴシック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ＭＳ Ｐゴシック" panose="020B0600070205080204" pitchFamily="34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ＭＳ Ｐゴシック" panose="020B0600070205080204" pitchFamily="34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ＭＳ Ｐゴシック" panose="020B0600070205080204" pitchFamily="34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ＭＳ Ｐゴシック" panose="020B0600070205080204" pitchFamily="34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ＭＳ Ｐゴシック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614" autoAdjust="0"/>
    <p:restoredTop sz="82074" autoAdjust="0"/>
  </p:normalViewPr>
  <p:slideViewPr>
    <p:cSldViewPr>
      <p:cViewPr varScale="1">
        <p:scale>
          <a:sx n="70" d="100"/>
          <a:sy n="70" d="100"/>
        </p:scale>
        <p:origin x="1766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10624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zh-CN" altLang="zh-CN"/>
          </a:p>
        </p:txBody>
      </p:sp>
      <p:sp>
        <p:nvSpPr>
          <p:cNvPr id="3072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zh-CN" altLang="zh-CN"/>
          </a:p>
        </p:txBody>
      </p:sp>
      <p:sp>
        <p:nvSpPr>
          <p:cNvPr id="3072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zh-CN" altLang="zh-CN"/>
          </a:p>
        </p:txBody>
      </p:sp>
      <p:sp>
        <p:nvSpPr>
          <p:cNvPr id="3072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FD16E7C5-1558-42A2-82E2-A8FCF6DBC922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3074226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zh-CN" altLang="zh-CN"/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zh-CN" altLang="zh-CN"/>
          </a:p>
        </p:txBody>
      </p:sp>
      <p:sp>
        <p:nvSpPr>
          <p:cNvPr id="1434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26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127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zh-CN" altLang="zh-CN"/>
          </a:p>
        </p:txBody>
      </p:sp>
      <p:sp>
        <p:nvSpPr>
          <p:cNvPr id="1127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7C578547-67AE-42B0-AD6C-2E9EF534AB40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9506447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ＭＳ Ｐゴシック" charset="-128"/>
        <a:cs typeface="ＭＳ Ｐゴシック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ＭＳ Ｐゴシック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ＭＳ Ｐゴシック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ＭＳ Ｐゴシック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ＭＳ Ｐゴシック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辐射强度与辐射率的差异： 辐射强度考虑的辐射源是一个点，辐射率考虑的辐射源是一个面。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578547-67AE-42B0-AD6C-2E9EF534AB40}" type="slidenum">
              <a:rPr lang="en-US" altLang="zh-CN" smtClean="0"/>
              <a:pPr/>
              <a:t>17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245592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5"/>
          <p:cNvSpPr>
            <a:spLocks noChangeShapeType="1"/>
          </p:cNvSpPr>
          <p:nvPr/>
        </p:nvSpPr>
        <p:spPr bwMode="auto">
          <a:xfrm>
            <a:off x="609600" y="1447800"/>
            <a:ext cx="6172200" cy="0"/>
          </a:xfrm>
          <a:prstGeom prst="line">
            <a:avLst/>
          </a:prstGeom>
          <a:noFill/>
          <a:ln w="50800">
            <a:solidFill>
              <a:srgbClr val="FF0000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Times New Roman" charset="0"/>
              <a:ea typeface="+mn-ea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>
              <a:defRPr baseline="0">
                <a:ea typeface="楷体" panose="02010609060101010101" pitchFamily="49" charset="-122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2pPr lvl="1">
              <a:defRPr/>
            </a:lvl2pPr>
          </a:lstStyle>
          <a:p>
            <a:pPr lvl="1"/>
            <a:fld id="{978A80FE-85DA-4934-AF44-7CDD0186166F}" type="slidenum">
              <a:rPr lang="es-ES"/>
              <a:pPr lvl="1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481212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5"/>
          <p:cNvSpPr>
            <a:spLocks noChangeShapeType="1"/>
          </p:cNvSpPr>
          <p:nvPr/>
        </p:nvSpPr>
        <p:spPr bwMode="auto">
          <a:xfrm>
            <a:off x="609600" y="1447800"/>
            <a:ext cx="6172200" cy="0"/>
          </a:xfrm>
          <a:prstGeom prst="line">
            <a:avLst/>
          </a:prstGeom>
          <a:noFill/>
          <a:ln w="50800">
            <a:solidFill>
              <a:srgbClr val="FF0000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Times New Roman" charset="0"/>
              <a:ea typeface="+mn-ea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ea typeface="楷体" panose="02010609060101010101" pitchFamily="49" charset="-122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baseline="0">
                <a:ea typeface="楷体" panose="02010609060101010101" pitchFamily="49" charset="-122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2pPr lvl="1">
              <a:defRPr/>
            </a:lvl2pPr>
          </a:lstStyle>
          <a:p>
            <a:pPr lvl="1"/>
            <a:fld id="{79680411-0B18-4379-B88B-87C8A6F30E05}" type="slidenum">
              <a:rPr lang="es-ES"/>
              <a:pPr lvl="1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701608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5"/>
          <p:cNvSpPr>
            <a:spLocks noChangeShapeType="1"/>
          </p:cNvSpPr>
          <p:nvPr/>
        </p:nvSpPr>
        <p:spPr bwMode="auto">
          <a:xfrm>
            <a:off x="609600" y="1447800"/>
            <a:ext cx="6172200" cy="0"/>
          </a:xfrm>
          <a:prstGeom prst="line">
            <a:avLst/>
          </a:prstGeom>
          <a:noFill/>
          <a:ln w="50800">
            <a:solidFill>
              <a:srgbClr val="FF0000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Times New Roman" charset="0"/>
              <a:ea typeface="+mn-ea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 baseline="0">
                <a:ea typeface="楷体" panose="02010609060101010101" pitchFamily="49" charset="-122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2pPr lvl="1">
              <a:defRPr/>
            </a:lvl2pPr>
          </a:lstStyle>
          <a:p>
            <a:pPr lvl="1"/>
            <a:fld id="{4FD4FFE6-C996-4D1D-8386-742D449F860D}" type="slidenum">
              <a:rPr lang="es-ES"/>
              <a:pPr lvl="1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690073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Line 5"/>
          <p:cNvSpPr>
            <a:spLocks noChangeShapeType="1"/>
          </p:cNvSpPr>
          <p:nvPr/>
        </p:nvSpPr>
        <p:spPr bwMode="auto">
          <a:xfrm>
            <a:off x="609600" y="1447800"/>
            <a:ext cx="6172200" cy="0"/>
          </a:xfrm>
          <a:prstGeom prst="line">
            <a:avLst/>
          </a:prstGeom>
          <a:noFill/>
          <a:ln w="50800">
            <a:solidFill>
              <a:srgbClr val="FF0000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Times New Roman" charset="0"/>
              <a:ea typeface="+mn-ea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ea typeface="楷体" panose="02010609060101010101" pitchFamily="49" charset="-122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524000"/>
            <a:ext cx="3810000" cy="4724400"/>
          </a:xfrm>
        </p:spPr>
        <p:txBody>
          <a:bodyPr/>
          <a:lstStyle>
            <a:lvl1pPr>
              <a:defRPr sz="2800">
                <a:ea typeface="楷体" panose="02010609060101010101" pitchFamily="49" charset="-122"/>
              </a:defRPr>
            </a:lvl1pPr>
            <a:lvl2pPr>
              <a:defRPr sz="2400">
                <a:ea typeface="楷体" panose="02010609060101010101" pitchFamily="49" charset="-122"/>
              </a:defRPr>
            </a:lvl2pPr>
            <a:lvl3pPr>
              <a:defRPr sz="2000">
                <a:ea typeface="楷体" panose="02010609060101010101" pitchFamily="49" charset="-122"/>
              </a:defRPr>
            </a:lvl3pPr>
            <a:lvl4pPr>
              <a:defRPr sz="1800">
                <a:ea typeface="楷体" panose="02010609060101010101" pitchFamily="49" charset="-122"/>
              </a:defRPr>
            </a:lvl4pPr>
            <a:lvl5pPr>
              <a:defRPr sz="1800">
                <a:ea typeface="楷体" panose="02010609060101010101" pitchFamily="49" charset="-122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524000"/>
            <a:ext cx="3810000" cy="4724400"/>
          </a:xfrm>
        </p:spPr>
        <p:txBody>
          <a:bodyPr/>
          <a:lstStyle>
            <a:lvl1pPr>
              <a:defRPr sz="2800">
                <a:ea typeface="楷体" panose="02010609060101010101" pitchFamily="49" charset="-122"/>
              </a:defRPr>
            </a:lvl1pPr>
            <a:lvl2pPr>
              <a:defRPr sz="2400">
                <a:ea typeface="楷体" panose="02010609060101010101" pitchFamily="49" charset="-122"/>
              </a:defRPr>
            </a:lvl2pPr>
            <a:lvl3pPr>
              <a:defRPr sz="2000">
                <a:ea typeface="楷体" panose="02010609060101010101" pitchFamily="49" charset="-122"/>
              </a:defRPr>
            </a:lvl3pPr>
            <a:lvl4pPr>
              <a:defRPr sz="1800">
                <a:ea typeface="楷体" panose="02010609060101010101" pitchFamily="49" charset="-122"/>
              </a:defRPr>
            </a:lvl4pPr>
            <a:lvl5pPr>
              <a:defRPr sz="1800">
                <a:ea typeface="楷体" panose="02010609060101010101" pitchFamily="49" charset="-122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Rectangle 9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2pPr lvl="1">
              <a:defRPr/>
            </a:lvl2pPr>
          </a:lstStyle>
          <a:p>
            <a:pPr lvl="1"/>
            <a:fld id="{1090AED9-50EC-4D19-AB1A-27325B2B098A}" type="slidenum">
              <a:rPr lang="es-ES"/>
              <a:pPr lvl="1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160493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Line 5"/>
          <p:cNvSpPr>
            <a:spLocks noChangeShapeType="1"/>
          </p:cNvSpPr>
          <p:nvPr/>
        </p:nvSpPr>
        <p:spPr bwMode="auto">
          <a:xfrm>
            <a:off x="609600" y="1447800"/>
            <a:ext cx="6172200" cy="0"/>
          </a:xfrm>
          <a:prstGeom prst="line">
            <a:avLst/>
          </a:prstGeom>
          <a:noFill/>
          <a:ln w="50800">
            <a:solidFill>
              <a:srgbClr val="FF0000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Times New Roman" charset="0"/>
              <a:ea typeface="+mn-ea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 baseline="0">
                <a:ea typeface="楷体" panose="02010609060101010101" pitchFamily="49" charset="-122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>
                <a:ea typeface="楷体" panose="02010609060101010101" pitchFamily="49" charset="-122"/>
              </a:defRPr>
            </a:lvl1pPr>
            <a:lvl2pPr>
              <a:defRPr sz="2000">
                <a:ea typeface="楷体" panose="02010609060101010101" pitchFamily="49" charset="-122"/>
              </a:defRPr>
            </a:lvl2pPr>
            <a:lvl3pPr>
              <a:defRPr sz="1800">
                <a:ea typeface="楷体" panose="02010609060101010101" pitchFamily="49" charset="-122"/>
              </a:defRPr>
            </a:lvl3pPr>
            <a:lvl4pPr>
              <a:defRPr sz="1600">
                <a:ea typeface="楷体" panose="02010609060101010101" pitchFamily="49" charset="-122"/>
              </a:defRPr>
            </a:lvl4pPr>
            <a:lvl5pPr>
              <a:defRPr sz="1600">
                <a:ea typeface="楷体" panose="02010609060101010101" pitchFamily="49" charset="-122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>
                <a:ea typeface="楷体" panose="02010609060101010101" pitchFamily="49" charset="-122"/>
              </a:defRPr>
            </a:lvl1pPr>
            <a:lvl2pPr>
              <a:defRPr sz="2000">
                <a:ea typeface="楷体" panose="02010609060101010101" pitchFamily="49" charset="-122"/>
              </a:defRPr>
            </a:lvl2pPr>
            <a:lvl3pPr>
              <a:defRPr sz="1800">
                <a:ea typeface="楷体" panose="02010609060101010101" pitchFamily="49" charset="-122"/>
              </a:defRPr>
            </a:lvl3pPr>
            <a:lvl4pPr>
              <a:defRPr sz="1600">
                <a:ea typeface="楷体" panose="02010609060101010101" pitchFamily="49" charset="-122"/>
              </a:defRPr>
            </a:lvl4pPr>
            <a:lvl5pPr>
              <a:defRPr sz="1600">
                <a:ea typeface="楷体" panose="02010609060101010101" pitchFamily="49" charset="-122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Rectangle 4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2pPr lvl="1">
              <a:defRPr/>
            </a:lvl2pPr>
          </a:lstStyle>
          <a:p>
            <a:pPr lvl="1"/>
            <a:fld id="{9C7F01FB-6EF7-4EDB-9E97-23B7BCE68F25}" type="slidenum">
              <a:rPr lang="es-ES"/>
              <a:pPr lvl="1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155453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ine 5"/>
          <p:cNvSpPr>
            <a:spLocks noChangeShapeType="1"/>
          </p:cNvSpPr>
          <p:nvPr/>
        </p:nvSpPr>
        <p:spPr bwMode="auto">
          <a:xfrm>
            <a:off x="609600" y="1447800"/>
            <a:ext cx="6172200" cy="0"/>
          </a:xfrm>
          <a:prstGeom prst="line">
            <a:avLst/>
          </a:prstGeom>
          <a:noFill/>
          <a:ln w="50800">
            <a:solidFill>
              <a:srgbClr val="FF0000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Times New Roman" charset="0"/>
              <a:ea typeface="+mn-ea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ea typeface="楷体" panose="02010609060101010101" pitchFamily="49" charset="-122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Rectangle 9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2pPr lvl="1">
              <a:defRPr/>
            </a:lvl2pPr>
          </a:lstStyle>
          <a:p>
            <a:pPr lvl="1"/>
            <a:fld id="{9C86D18E-A0B0-4645-9EC0-0AC6D7AFB1FD}" type="slidenum">
              <a:rPr lang="es-ES"/>
              <a:pPr lvl="1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423740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 5"/>
          <p:cNvSpPr>
            <a:spLocks noChangeShapeType="1"/>
          </p:cNvSpPr>
          <p:nvPr/>
        </p:nvSpPr>
        <p:spPr bwMode="auto">
          <a:xfrm>
            <a:off x="609600" y="1447800"/>
            <a:ext cx="6172200" cy="0"/>
          </a:xfrm>
          <a:prstGeom prst="line">
            <a:avLst/>
          </a:prstGeom>
          <a:noFill/>
          <a:ln w="50800">
            <a:solidFill>
              <a:srgbClr val="FF0000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Times New Roman" charset="0"/>
              <a:ea typeface="+mn-ea"/>
            </a:endParaRPr>
          </a:p>
        </p:txBody>
      </p:sp>
      <p:sp>
        <p:nvSpPr>
          <p:cNvPr id="4" name="Rectangle 4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2pPr lvl="1">
              <a:defRPr/>
            </a:lvl2pPr>
          </a:lstStyle>
          <a:p>
            <a:pPr lvl="1"/>
            <a:fld id="{CC812C50-9D24-495E-BA7E-1DC2B83ADCC3}" type="slidenum">
              <a:rPr lang="es-ES"/>
              <a:pPr lvl="1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421203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Line 5"/>
          <p:cNvSpPr>
            <a:spLocks noChangeShapeType="1"/>
          </p:cNvSpPr>
          <p:nvPr/>
        </p:nvSpPr>
        <p:spPr bwMode="auto">
          <a:xfrm>
            <a:off x="609600" y="1447800"/>
            <a:ext cx="6172200" cy="0"/>
          </a:xfrm>
          <a:prstGeom prst="line">
            <a:avLst/>
          </a:prstGeom>
          <a:noFill/>
          <a:ln w="50800">
            <a:solidFill>
              <a:srgbClr val="FF0000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Times New Roman" charset="0"/>
              <a:ea typeface="+mn-ea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 baseline="0">
                <a:ea typeface="楷体" panose="02010609060101010101" pitchFamily="49" charset="-122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>
                <a:ea typeface="楷体" panose="02010609060101010101" pitchFamily="49" charset="-122"/>
              </a:defRPr>
            </a:lvl1pPr>
            <a:lvl2pPr>
              <a:defRPr sz="2800">
                <a:ea typeface="楷体" panose="02010609060101010101" pitchFamily="49" charset="-122"/>
              </a:defRPr>
            </a:lvl2pPr>
            <a:lvl3pPr>
              <a:defRPr sz="2400">
                <a:ea typeface="楷体" panose="02010609060101010101" pitchFamily="49" charset="-122"/>
              </a:defRPr>
            </a:lvl3pPr>
            <a:lvl4pPr>
              <a:defRPr sz="2000">
                <a:ea typeface="楷体" panose="02010609060101010101" pitchFamily="49" charset="-122"/>
              </a:defRPr>
            </a:lvl4pPr>
            <a:lvl5pPr>
              <a:defRPr sz="2000">
                <a:ea typeface="楷体" panose="02010609060101010101" pitchFamily="49" charset="-122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Rectangle 9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2pPr lvl="1">
              <a:defRPr/>
            </a:lvl2pPr>
          </a:lstStyle>
          <a:p>
            <a:pPr lvl="1"/>
            <a:fld id="{0DA20D70-7BE7-4053-87C6-193C696BAA96}" type="slidenum">
              <a:rPr lang="es-ES"/>
              <a:pPr lvl="1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149334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Line 5"/>
          <p:cNvSpPr>
            <a:spLocks noChangeShapeType="1"/>
          </p:cNvSpPr>
          <p:nvPr/>
        </p:nvSpPr>
        <p:spPr bwMode="auto">
          <a:xfrm>
            <a:off x="609600" y="1447800"/>
            <a:ext cx="6172200" cy="0"/>
          </a:xfrm>
          <a:prstGeom prst="line">
            <a:avLst/>
          </a:prstGeom>
          <a:noFill/>
          <a:ln w="50800">
            <a:solidFill>
              <a:srgbClr val="FF0000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Times New Roman" charset="0"/>
              <a:ea typeface="+mn-ea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 baseline="0">
                <a:ea typeface="楷体" panose="02010609060101010101" pitchFamily="49" charset="-122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Rectangle 9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2pPr lvl="1">
              <a:defRPr/>
            </a:lvl2pPr>
          </a:lstStyle>
          <a:p>
            <a:pPr lvl="1"/>
            <a:fld id="{025ABB73-297F-4FC4-BF1A-793F255B5EDC}" type="slidenum">
              <a:rPr lang="es-ES"/>
              <a:pPr lvl="1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363382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5"/>
          <p:cNvSpPr>
            <a:spLocks noChangeShapeType="1"/>
          </p:cNvSpPr>
          <p:nvPr/>
        </p:nvSpPr>
        <p:spPr bwMode="auto">
          <a:xfrm>
            <a:off x="609600" y="1447800"/>
            <a:ext cx="6172200" cy="0"/>
          </a:xfrm>
          <a:prstGeom prst="line">
            <a:avLst/>
          </a:prstGeom>
          <a:noFill/>
          <a:ln w="50800">
            <a:solidFill>
              <a:srgbClr val="FF0000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Times New Roman" charset="0"/>
              <a:ea typeface="+mn-ea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ea typeface="楷体" panose="02010609060101010101" pitchFamily="49" charset="-122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>
                <a:ea typeface="楷体" panose="02010609060101010101" pitchFamily="49" charset="-122"/>
              </a:defRPr>
            </a:lvl1pPr>
            <a:lvl2pPr>
              <a:defRPr>
                <a:ea typeface="楷体" panose="02010609060101010101" pitchFamily="49" charset="-122"/>
              </a:defRPr>
            </a:lvl2pPr>
            <a:lvl3pPr>
              <a:defRPr>
                <a:ea typeface="楷体" panose="02010609060101010101" pitchFamily="49" charset="-122"/>
              </a:defRPr>
            </a:lvl3pPr>
            <a:lvl4pPr>
              <a:defRPr>
                <a:ea typeface="楷体" panose="02010609060101010101" pitchFamily="49" charset="-122"/>
              </a:defRPr>
            </a:lvl4pPr>
            <a:lvl5pPr>
              <a:defRPr>
                <a:ea typeface="楷体" panose="02010609060101010101" pitchFamily="49" charset="-122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2pPr lvl="1">
              <a:defRPr/>
            </a:lvl2pPr>
          </a:lstStyle>
          <a:p>
            <a:pPr lvl="1"/>
            <a:fld id="{642AEA81-A804-41B6-B60D-B76EF5F5ACC1}" type="slidenum">
              <a:rPr lang="es-ES"/>
              <a:pPr lvl="1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767831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5"/>
          <p:cNvSpPr>
            <a:spLocks noChangeShapeType="1"/>
          </p:cNvSpPr>
          <p:nvPr/>
        </p:nvSpPr>
        <p:spPr bwMode="auto">
          <a:xfrm>
            <a:off x="609600" y="1447800"/>
            <a:ext cx="6172200" cy="0"/>
          </a:xfrm>
          <a:prstGeom prst="line">
            <a:avLst/>
          </a:prstGeom>
          <a:noFill/>
          <a:ln w="50800">
            <a:solidFill>
              <a:srgbClr val="FF0000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Times New Roman" charset="0"/>
              <a:ea typeface="+mn-ea"/>
            </a:endParaRPr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228600"/>
            <a:ext cx="1943100" cy="6019800"/>
          </a:xfrm>
        </p:spPr>
        <p:txBody>
          <a:bodyPr vert="eaVert"/>
          <a:lstStyle>
            <a:lvl1pPr>
              <a:defRPr baseline="0">
                <a:ea typeface="楷体" panose="02010609060101010101" pitchFamily="49" charset="-122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28600"/>
            <a:ext cx="5676900" cy="6019800"/>
          </a:xfrm>
        </p:spPr>
        <p:txBody>
          <a:bodyPr vert="eaVert"/>
          <a:lstStyle>
            <a:lvl1pPr>
              <a:defRPr>
                <a:ea typeface="楷体" panose="02010609060101010101" pitchFamily="49" charset="-122"/>
              </a:defRPr>
            </a:lvl1pPr>
            <a:lvl2pPr>
              <a:defRPr>
                <a:ea typeface="楷体" panose="02010609060101010101" pitchFamily="49" charset="-122"/>
              </a:defRPr>
            </a:lvl2pPr>
            <a:lvl3pPr>
              <a:defRPr>
                <a:ea typeface="楷体" panose="02010609060101010101" pitchFamily="49" charset="-122"/>
              </a:defRPr>
            </a:lvl3pPr>
            <a:lvl4pPr>
              <a:defRPr>
                <a:ea typeface="楷体" panose="02010609060101010101" pitchFamily="49" charset="-122"/>
              </a:defRPr>
            </a:lvl4pPr>
            <a:lvl5pPr>
              <a:defRPr>
                <a:ea typeface="楷体" panose="02010609060101010101" pitchFamily="49" charset="-122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2pPr lvl="1">
              <a:defRPr/>
            </a:lvl2pPr>
          </a:lstStyle>
          <a:p>
            <a:pPr lvl="1"/>
            <a:fld id="{2EFD3A08-CD29-4B7C-9D61-0781442FB0B0}" type="slidenum">
              <a:rPr lang="es-ES"/>
              <a:pPr lvl="1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795032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vmlDrawing" Target="../drawings/vmlDrawing1.v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oleObject" Target="../embeddings/oleObject1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对象 1"/>
          <p:cNvGraphicFramePr>
            <a:graphicFrameLocks noChangeAspect="1"/>
          </p:cNvGraphicFramePr>
          <p:nvPr userDrawn="1">
            <p:extLst>
              <p:ext uri="{D42A27DB-BD31-4B8C-83A1-F6EECF244321}">
                <p14:modId xmlns:p14="http://schemas.microsoft.com/office/powerpoint/2010/main" val="1988968689"/>
              </p:ext>
            </p:extLst>
          </p:nvPr>
        </p:nvGraphicFramePr>
        <p:xfrm>
          <a:off x="-118812" y="152400"/>
          <a:ext cx="1962167" cy="11038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64" name="Image" r:id="rId14" imgW="6571429" imgH="3695238" progId="Photoshop.Image.13">
                  <p:embed/>
                </p:oleObj>
              </mc:Choice>
              <mc:Fallback>
                <p:oleObj name="Image" r:id="rId14" imgW="6571429" imgH="3695238" progId="Photoshop.Image.1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-118812" y="152400"/>
                        <a:ext cx="1962167" cy="110389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371600" y="228600"/>
            <a:ext cx="624840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s-ES" dirty="0"/>
              <a:t>D</a:t>
            </a:r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524000"/>
            <a:ext cx="7772400" cy="472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 dirty="0"/>
              <a:t>Click to Edit Master Text Styles</a:t>
            </a:r>
          </a:p>
          <a:p>
            <a:pPr lvl="1"/>
            <a:r>
              <a:rPr lang="es-ES" dirty="0"/>
              <a:t>SECOND LEVEL</a:t>
            </a:r>
          </a:p>
          <a:p>
            <a:pPr lvl="2"/>
            <a:r>
              <a:rPr lang="es-ES" dirty="0"/>
              <a:t>THIRD LEVEL</a:t>
            </a:r>
          </a:p>
        </p:txBody>
      </p:sp>
      <p:sp>
        <p:nvSpPr>
          <p:cNvPr id="12292" name="Rectangle 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077200" y="6324600"/>
            <a:ext cx="3810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2pPr lvl="1" algn="r">
              <a:defRPr sz="1000">
                <a:latin typeface="Arial" panose="020B0604020202020204" pitchFamily="34" charset="0"/>
              </a:defRPr>
            </a:lvl2pPr>
          </a:lstStyle>
          <a:p>
            <a:pPr lvl="1"/>
            <a:fld id="{9D4ADB00-AF9A-4CA0-9AD6-77D38D1BE3FC}" type="slidenum">
              <a:rPr lang="es-ES"/>
              <a:pPr lvl="1"/>
              <a:t>‹#›</a:t>
            </a:fld>
            <a:endParaRPr lang="es-ES"/>
          </a:p>
        </p:txBody>
      </p:sp>
      <p:sp>
        <p:nvSpPr>
          <p:cNvPr id="12293" name="Line 5"/>
          <p:cNvSpPr>
            <a:spLocks noChangeShapeType="1"/>
          </p:cNvSpPr>
          <p:nvPr/>
        </p:nvSpPr>
        <p:spPr bwMode="auto">
          <a:xfrm>
            <a:off x="609600" y="1447800"/>
            <a:ext cx="6172200" cy="0"/>
          </a:xfrm>
          <a:prstGeom prst="line">
            <a:avLst/>
          </a:prstGeom>
          <a:noFill/>
          <a:ln w="50800">
            <a:solidFill>
              <a:srgbClr val="FF0000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Times New Roman" charset="0"/>
              <a:ea typeface="+mn-ea"/>
            </a:endParaRPr>
          </a:p>
        </p:txBody>
      </p:sp>
      <p:sp>
        <p:nvSpPr>
          <p:cNvPr id="6" name="矩形 5"/>
          <p:cNvSpPr>
            <a:spLocks noChangeArrowheads="1"/>
          </p:cNvSpPr>
          <p:nvPr userDrawn="1"/>
        </p:nvSpPr>
        <p:spPr bwMode="auto">
          <a:xfrm>
            <a:off x="7611122" y="66176"/>
            <a:ext cx="1497578" cy="1425289"/>
          </a:xfrm>
          <a:prstGeom prst="rect">
            <a:avLst/>
          </a:prstGeom>
          <a:blipFill dpi="0" rotWithShape="1">
            <a:blip r:embed="rId16">
              <a:alphaModFix amt="60000"/>
            </a:blip>
            <a:srcRect/>
            <a:stretch>
              <a:fillRect/>
            </a:stretch>
          </a:blipFill>
          <a:ln w="9525">
            <a:solidFill>
              <a:srgbClr val="FFFFFF"/>
            </a:solidFill>
            <a:round/>
            <a:headEnd/>
            <a:tailEnd/>
          </a:ln>
        </p:spPr>
        <p:txBody>
          <a:bodyPr/>
          <a:lstStyle>
            <a:defPPr>
              <a:defRPr lang="zh-CN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rgbClr val="0000FF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1pPr>
            <a:lvl2pPr marL="457200" algn="r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rgbClr val="0000FF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2pPr>
            <a:lvl3pPr marL="914400" algn="r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rgbClr val="0000FF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3pPr>
            <a:lvl4pPr marL="1371600" algn="r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rgbClr val="0000FF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4pPr>
            <a:lvl5pPr marL="1828800" algn="r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rgbClr val="0000FF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rgbClr val="0000FF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rgbClr val="0000FF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rgbClr val="0000FF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rgbClr val="0000FF"/>
                </a:solidFill>
                <a:latin typeface="Arial" panose="020B0604020202020204" pitchFamily="34" charset="0"/>
                <a:ea typeface="楷体_GB2312" pitchFamily="49" charset="-122"/>
                <a:cs typeface="+mn-cs"/>
              </a:defRPr>
            </a:lvl9pPr>
          </a:lstStyle>
          <a:p>
            <a:endParaRPr lang="zh-CN" altLang="en-US" sz="135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696" r:id="rId2"/>
    <p:sldLayoutId id="2147483697" r:id="rId3"/>
    <p:sldLayoutId id="2147483698" r:id="rId4"/>
    <p:sldLayoutId id="2147483699" r:id="rId5"/>
    <p:sldLayoutId id="2147483700" r:id="rId6"/>
    <p:sldLayoutId id="2147483701" r:id="rId7"/>
    <p:sldLayoutId id="2147483702" r:id="rId8"/>
    <p:sldLayoutId id="2147483703" r:id="rId9"/>
    <p:sldLayoutId id="2147483704" r:id="rId10"/>
    <p:sldLayoutId id="2147483705" r:id="rId11"/>
  </p:sldLayoutIdLst>
  <p:hf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700" b="1">
          <a:solidFill>
            <a:schemeClr val="accent2"/>
          </a:solidFill>
          <a:latin typeface="+mj-lt"/>
          <a:ea typeface="ＭＳ Ｐゴシック" charset="-128"/>
          <a:cs typeface="ＭＳ Ｐゴシック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700" b="1">
          <a:solidFill>
            <a:schemeClr val="accent2"/>
          </a:solidFill>
          <a:latin typeface="Arial" charset="0"/>
          <a:ea typeface="ＭＳ Ｐゴシック" charset="-128"/>
          <a:cs typeface="ＭＳ Ｐゴシック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700" b="1">
          <a:solidFill>
            <a:schemeClr val="accent2"/>
          </a:solidFill>
          <a:latin typeface="Arial" charset="0"/>
          <a:ea typeface="ＭＳ Ｐゴシック" charset="-128"/>
          <a:cs typeface="ＭＳ Ｐゴシック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700" b="1">
          <a:solidFill>
            <a:schemeClr val="accent2"/>
          </a:solidFill>
          <a:latin typeface="Arial" charset="0"/>
          <a:ea typeface="ＭＳ Ｐゴシック" charset="-128"/>
          <a:cs typeface="ＭＳ Ｐゴシック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700" b="1">
          <a:solidFill>
            <a:schemeClr val="accent2"/>
          </a:solidFill>
          <a:latin typeface="Arial" charset="0"/>
          <a:ea typeface="ＭＳ Ｐゴシック" charset="-128"/>
          <a:cs typeface="ＭＳ Ｐゴシック" charset="-128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3700" b="1">
          <a:solidFill>
            <a:schemeClr val="accent2"/>
          </a:solidFill>
          <a:latin typeface="Arial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3700" b="1">
          <a:solidFill>
            <a:schemeClr val="accent2"/>
          </a:solidFill>
          <a:latin typeface="Arial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3700" b="1">
          <a:solidFill>
            <a:schemeClr val="accent2"/>
          </a:solidFill>
          <a:latin typeface="Arial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3700" b="1">
          <a:solidFill>
            <a:schemeClr val="accent2"/>
          </a:solidFill>
          <a:latin typeface="Arial" charset="0"/>
        </a:defRPr>
      </a:lvl9pPr>
    </p:titleStyle>
    <p:bodyStyle>
      <a:lvl1pPr marL="190500" indent="-190500" algn="l" rtl="0" eaLnBrk="0" fontAlgn="base" hangingPunct="0">
        <a:spcBef>
          <a:spcPct val="20000"/>
        </a:spcBef>
        <a:spcAft>
          <a:spcPct val="0"/>
        </a:spcAft>
        <a:buChar char="•"/>
        <a:defRPr sz="3100" baseline="0">
          <a:solidFill>
            <a:schemeClr val="tx1"/>
          </a:solidFill>
          <a:latin typeface="+mn-lt"/>
          <a:ea typeface="楷体" panose="02010609060101010101" pitchFamily="49" charset="-122"/>
          <a:cs typeface="ＭＳ Ｐゴシック" charset="-128"/>
        </a:defRPr>
      </a:lvl1pPr>
      <a:lvl2pPr marL="571500" indent="-190500" algn="l" rtl="0" eaLnBrk="0" fontAlgn="base" hangingPunct="0">
        <a:spcBef>
          <a:spcPct val="20000"/>
        </a:spcBef>
        <a:spcAft>
          <a:spcPct val="0"/>
        </a:spcAft>
        <a:buChar char="­"/>
        <a:defRPr sz="2600" baseline="0">
          <a:solidFill>
            <a:schemeClr val="tx1"/>
          </a:solidFill>
          <a:latin typeface="+mn-lt"/>
          <a:ea typeface="楷体" panose="02010609060101010101" pitchFamily="49" charset="-122"/>
        </a:defRPr>
      </a:lvl2pPr>
      <a:lvl3pPr marL="952500" indent="-1905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Char char="•"/>
        <a:defRPr sz="2000" baseline="0">
          <a:solidFill>
            <a:schemeClr val="tx1"/>
          </a:solidFill>
          <a:latin typeface="+mn-lt"/>
          <a:ea typeface="楷体" panose="02010609060101010101" pitchFamily="49" charset="-122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 b="1">
          <a:solidFill>
            <a:schemeClr val="tx1"/>
          </a:solidFill>
          <a:latin typeface="+mn-lt"/>
          <a:ea typeface="ＭＳ Ｐゴシック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 b="1">
          <a:solidFill>
            <a:schemeClr val="tx1"/>
          </a:solidFill>
          <a:latin typeface="+mn-lt"/>
          <a:ea typeface="ＭＳ Ｐゴシック" charset="-128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 b="1">
          <a:solidFill>
            <a:schemeClr val="tx1"/>
          </a:solidFill>
          <a:latin typeface="+mn-lt"/>
          <a:ea typeface="ＭＳ Ｐゴシック" charset="-128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 b="1">
          <a:solidFill>
            <a:schemeClr val="tx1"/>
          </a:solidFill>
          <a:latin typeface="+mn-lt"/>
          <a:ea typeface="ＭＳ Ｐゴシック" charset="-128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 b="1">
          <a:solidFill>
            <a:schemeClr val="tx1"/>
          </a:solidFill>
          <a:latin typeface="+mn-lt"/>
          <a:ea typeface="ＭＳ Ｐゴシック" charset="-128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 b="1">
          <a:solidFill>
            <a:schemeClr val="tx1"/>
          </a:solidFill>
          <a:latin typeface="+mn-lt"/>
          <a:ea typeface="ＭＳ Ｐゴシック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hyperlink" Target="http://www.kevinbeason.com/smallpt/#moreinfo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4161750" indent="-24161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lvl="1"/>
            <a:fld id="{D7E68CEF-25EF-4873-B625-D7337D98864B}" type="slidenum">
              <a:rPr lang="es-ES" sz="1000">
                <a:latin typeface="Arial" panose="020B0604020202020204" pitchFamily="34" charset="0"/>
              </a:rPr>
              <a:pPr lvl="1"/>
              <a:t>1</a:t>
            </a:fld>
            <a:endParaRPr lang="es-ES" sz="1000">
              <a:latin typeface="Arial" panose="020B0604020202020204" pitchFamily="34" charset="0"/>
            </a:endParaRPr>
          </a:p>
        </p:txBody>
      </p:sp>
      <p:sp>
        <p:nvSpPr>
          <p:cNvPr id="1536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28600"/>
            <a:ext cx="7772400" cy="1143000"/>
          </a:xfrm>
        </p:spPr>
        <p:txBody>
          <a:bodyPr/>
          <a:lstStyle/>
          <a:p>
            <a:r>
              <a:rPr lang="en-US" altLang="zh-CN" sz="3600" dirty="0">
                <a:ea typeface="ＭＳ Ｐゴシック" panose="020B0600070205080204" pitchFamily="34" charset="-128"/>
              </a:rPr>
              <a:t>Introduction to </a:t>
            </a:r>
            <a:br>
              <a:rPr lang="en-US" altLang="zh-CN" sz="3600" dirty="0">
                <a:ea typeface="ＭＳ Ｐゴシック" panose="020B0600070205080204" pitchFamily="34" charset="-128"/>
              </a:rPr>
            </a:br>
            <a:r>
              <a:rPr lang="en-US" altLang="zh-CN" sz="3600" dirty="0">
                <a:ea typeface="ＭＳ Ｐゴシック" panose="020B0600070205080204" pitchFamily="34" charset="-128"/>
              </a:rPr>
              <a:t>Computer Graphics</a:t>
            </a:r>
          </a:p>
        </p:txBody>
      </p:sp>
      <p:graphicFrame>
        <p:nvGraphicFramePr>
          <p:cNvPr id="7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31098827"/>
              </p:ext>
            </p:extLst>
          </p:nvPr>
        </p:nvGraphicFramePr>
        <p:xfrm>
          <a:off x="6781800" y="133329"/>
          <a:ext cx="2102382" cy="11827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88" name="Image" r:id="rId3" imgW="6571429" imgH="3695238" progId="Photoshop.Image.13">
                  <p:embed/>
                </p:oleObj>
              </mc:Choice>
              <mc:Fallback>
                <p:oleObj name="Image" r:id="rId3" imgW="6571429" imgH="3695238" progId="Photoshop.Image.1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81800" y="133329"/>
                        <a:ext cx="2102382" cy="118278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矩形 1"/>
          <p:cNvSpPr/>
          <p:nvPr/>
        </p:nvSpPr>
        <p:spPr>
          <a:xfrm>
            <a:off x="3052450" y="2993571"/>
            <a:ext cx="3039102" cy="123110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3700" b="1" dirty="0">
                <a:solidFill>
                  <a:schemeClr val="accent2"/>
                </a:solidFill>
                <a:latin typeface="+mj-lt"/>
                <a:cs typeface="ＭＳ Ｐゴシック" charset="-128"/>
              </a:rPr>
              <a:t>Ray Tracing 2</a:t>
            </a:r>
          </a:p>
          <a:p>
            <a:pPr algn="ctr"/>
            <a:r>
              <a:rPr lang="zh-CN" altLang="en-US" sz="3700" b="1" dirty="0">
                <a:solidFill>
                  <a:schemeClr val="accent2"/>
                </a:solidFill>
                <a:latin typeface="+mj-ea"/>
                <a:ea typeface="+mj-ea"/>
                <a:cs typeface="ＭＳ Ｐゴシック" charset="-128"/>
              </a:rPr>
              <a:t>光线跟踪 </a:t>
            </a:r>
            <a:r>
              <a:rPr lang="en-US" altLang="zh-CN" sz="3700" b="1" dirty="0">
                <a:solidFill>
                  <a:schemeClr val="accent2"/>
                </a:solidFill>
                <a:latin typeface="+mj-ea"/>
                <a:ea typeface="+mj-ea"/>
                <a:cs typeface="ＭＳ Ｐゴシック" charset="-128"/>
              </a:rPr>
              <a:t>2</a:t>
            </a:r>
            <a:endParaRPr lang="zh-CN" altLang="en-US" sz="3700" b="1" dirty="0">
              <a:solidFill>
                <a:schemeClr val="accent2"/>
              </a:solidFill>
              <a:latin typeface="+mj-ea"/>
              <a:ea typeface="+mj-ea"/>
              <a:cs typeface="ＭＳ Ｐゴシック" charset="-128"/>
            </a:endParaRP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C124C444-D6A2-4A90-95A4-9C9B385B776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光线跟踪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400" dirty="0">
                <a:solidFill>
                  <a:schemeClr val="accent2"/>
                </a:solidFill>
              </a:rPr>
              <a:t>光线跟踪基本原理</a:t>
            </a:r>
            <a:endParaRPr lang="en-US" altLang="zh-CN" sz="2400" dirty="0">
              <a:solidFill>
                <a:schemeClr val="accent2"/>
              </a:solidFill>
            </a:endParaRPr>
          </a:p>
          <a:p>
            <a:endParaRPr lang="en-US" altLang="zh-CN" sz="2400" dirty="0">
              <a:solidFill>
                <a:schemeClr val="accent2"/>
              </a:solidFill>
            </a:endParaRPr>
          </a:p>
          <a:p>
            <a:r>
              <a:rPr lang="en-US" altLang="zh-CN" sz="2400" dirty="0" err="1">
                <a:solidFill>
                  <a:schemeClr val="accent2"/>
                </a:solidFill>
              </a:rPr>
              <a:t>Whitted</a:t>
            </a:r>
            <a:r>
              <a:rPr lang="en-US" altLang="zh-CN" sz="2400" dirty="0">
                <a:solidFill>
                  <a:schemeClr val="accent2"/>
                </a:solidFill>
              </a:rPr>
              <a:t>-Style </a:t>
            </a:r>
            <a:r>
              <a:rPr lang="zh-CN" altLang="en-US" sz="2400" dirty="0">
                <a:solidFill>
                  <a:schemeClr val="accent2"/>
                </a:solidFill>
              </a:rPr>
              <a:t>光线跟踪</a:t>
            </a:r>
            <a:endParaRPr lang="en-US" altLang="zh-CN" sz="2400" dirty="0">
              <a:solidFill>
                <a:schemeClr val="accent2"/>
              </a:solidFill>
            </a:endParaRPr>
          </a:p>
          <a:p>
            <a:endParaRPr lang="en-US" altLang="zh-CN" sz="2400" dirty="0">
              <a:solidFill>
                <a:schemeClr val="accent2"/>
              </a:solidFill>
            </a:endParaRPr>
          </a:p>
          <a:p>
            <a:r>
              <a:rPr lang="zh-CN" altLang="en-US" sz="2400" dirty="0">
                <a:solidFill>
                  <a:schemeClr val="accent2"/>
                </a:solidFill>
              </a:rPr>
              <a:t>光线跟踪实现细节</a:t>
            </a:r>
            <a:endParaRPr lang="en-US" altLang="zh-CN" sz="2400" dirty="0">
              <a:solidFill>
                <a:schemeClr val="accent2"/>
              </a:solidFill>
            </a:endParaRPr>
          </a:p>
          <a:p>
            <a:pPr lvl="1"/>
            <a:r>
              <a:rPr lang="zh-CN" altLang="en-US" sz="1900" dirty="0">
                <a:solidFill>
                  <a:schemeClr val="accent2"/>
                </a:solidFill>
              </a:rPr>
              <a:t>加速结构</a:t>
            </a:r>
            <a:endParaRPr lang="en-US" altLang="zh-CN" sz="1900" dirty="0">
              <a:solidFill>
                <a:schemeClr val="accent2"/>
              </a:solidFill>
            </a:endParaRPr>
          </a:p>
          <a:p>
            <a:pPr lvl="1"/>
            <a:r>
              <a:rPr lang="zh-CN" altLang="en-US" sz="1900" dirty="0">
                <a:solidFill>
                  <a:schemeClr val="accent2"/>
                </a:solidFill>
              </a:rPr>
              <a:t>抗锯齿</a:t>
            </a:r>
            <a:r>
              <a:rPr lang="en-US" altLang="zh-CN" sz="1900" dirty="0">
                <a:solidFill>
                  <a:schemeClr val="accent2"/>
                </a:solidFill>
              </a:rPr>
              <a:t> </a:t>
            </a:r>
            <a:r>
              <a:rPr lang="zh-CN" altLang="en-US" sz="1900" dirty="0">
                <a:solidFill>
                  <a:schemeClr val="accent2"/>
                </a:solidFill>
              </a:rPr>
              <a:t>（超采样）</a:t>
            </a:r>
            <a:endParaRPr lang="en-US" altLang="zh-CN" sz="1900" dirty="0">
              <a:solidFill>
                <a:schemeClr val="accent2"/>
              </a:solidFill>
            </a:endParaRPr>
          </a:p>
          <a:p>
            <a:pPr lvl="1"/>
            <a:endParaRPr lang="en-US" altLang="zh-CN" sz="2400" dirty="0">
              <a:solidFill>
                <a:schemeClr val="accent2"/>
              </a:solidFill>
            </a:endParaRPr>
          </a:p>
          <a:p>
            <a:r>
              <a:rPr lang="zh-CN" altLang="en-US" sz="2400" dirty="0">
                <a:solidFill>
                  <a:schemeClr val="accent2"/>
                </a:solidFill>
              </a:rPr>
              <a:t>光线跟踪进阶话题</a:t>
            </a:r>
            <a:endParaRPr lang="en-US" altLang="zh-CN" sz="2400" dirty="0">
              <a:solidFill>
                <a:schemeClr val="accent2"/>
              </a:solidFill>
            </a:endParaRPr>
          </a:p>
          <a:p>
            <a:pPr lvl="1"/>
            <a:r>
              <a:rPr lang="zh-CN" altLang="en-US" sz="1900" dirty="0">
                <a:solidFill>
                  <a:schemeClr val="accent2"/>
                </a:solidFill>
              </a:rPr>
              <a:t>辐射度概念</a:t>
            </a:r>
            <a:endParaRPr lang="en-US" altLang="zh-CN" sz="1900" dirty="0">
              <a:solidFill>
                <a:schemeClr val="accent2"/>
              </a:solidFill>
            </a:endParaRPr>
          </a:p>
          <a:p>
            <a:pPr lvl="1"/>
            <a:r>
              <a:rPr lang="zh-CN" altLang="en-US" sz="1900" dirty="0">
                <a:solidFill>
                  <a:schemeClr val="accent2"/>
                </a:solidFill>
              </a:rPr>
              <a:t>渲染方程</a:t>
            </a:r>
            <a:endParaRPr lang="en-US" altLang="zh-CN" sz="1900" dirty="0">
              <a:solidFill>
                <a:schemeClr val="accent2"/>
              </a:solidFill>
            </a:endParaRPr>
          </a:p>
          <a:p>
            <a:pPr lvl="1"/>
            <a:r>
              <a:rPr lang="zh-CN" altLang="en-US" sz="1900" dirty="0">
                <a:solidFill>
                  <a:schemeClr val="accent2"/>
                </a:solidFill>
              </a:rPr>
              <a:t>全局光照明、路径跟踪（</a:t>
            </a:r>
            <a:r>
              <a:rPr lang="en-US" altLang="zh-CN" sz="1900" dirty="0">
                <a:solidFill>
                  <a:schemeClr val="accent2"/>
                </a:solidFill>
              </a:rPr>
              <a:t>Path Tracing</a:t>
            </a:r>
            <a:r>
              <a:rPr lang="zh-CN" altLang="en-US" sz="1900" dirty="0">
                <a:solidFill>
                  <a:schemeClr val="accent2"/>
                </a:solidFill>
              </a:rPr>
              <a:t>）</a:t>
            </a:r>
            <a:endParaRPr lang="en-US" altLang="zh-CN" sz="1900" dirty="0">
              <a:solidFill>
                <a:schemeClr val="accent2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1"/>
            <a:fld id="{79680411-0B18-4379-B88B-87C8A6F30E05}" type="slidenum">
              <a:rPr lang="es-ES" smtClean="0"/>
              <a:pPr lvl="1"/>
              <a:t>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354121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空间加速结构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400" dirty="0"/>
              <a:t>复杂场景需要大量求交计算</a:t>
            </a:r>
            <a:endParaRPr lang="en-US" sz="19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1"/>
            <a:fld id="{79680411-0B18-4379-B88B-87C8A6F30E05}" type="slidenum">
              <a:rPr lang="es-ES" smtClean="0"/>
              <a:pPr lvl="1"/>
              <a:t>3</a:t>
            </a:fld>
            <a:endParaRPr lang="es-E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952DC57B-980E-458F-AFF1-ED0024BB44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6008" y="2362200"/>
            <a:ext cx="3431983" cy="3747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51521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均匀分割网格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sz="19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1"/>
            <a:fld id="{79680411-0B18-4379-B88B-87C8A6F30E05}" type="slidenum">
              <a:rPr lang="es-ES" smtClean="0"/>
              <a:pPr lvl="1"/>
              <a:t>4</a:t>
            </a:fld>
            <a:endParaRPr lang="es-E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615F9EA6-C5C1-4707-8AB1-062A7B7CD9B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8817"/>
          <a:stretch/>
        </p:blipFill>
        <p:spPr>
          <a:xfrm>
            <a:off x="958323" y="2320686"/>
            <a:ext cx="3313812" cy="3193329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5CB9BFD9-494C-4CFD-B227-BF688F270E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0824" y="3917350"/>
            <a:ext cx="869951" cy="459596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50BA8500-F378-4025-B27B-332F4A064A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4132" y="2286000"/>
            <a:ext cx="3222502" cy="3275331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1C661A71-093C-4F55-B1CD-502830CB44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2615" y="3938232"/>
            <a:ext cx="869951" cy="4595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73961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均匀分割网格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400" dirty="0"/>
              <a:t>物体分布不均匀？</a:t>
            </a:r>
            <a:endParaRPr lang="en-US" altLang="zh-CN" sz="2400" dirty="0"/>
          </a:p>
          <a:p>
            <a:r>
              <a:rPr lang="zh-CN" altLang="en-US" sz="2400" dirty="0"/>
              <a:t>更小的网格</a:t>
            </a:r>
            <a:r>
              <a:rPr lang="en-US" altLang="zh-CN" sz="2400" dirty="0"/>
              <a:t>-&gt; </a:t>
            </a:r>
            <a:r>
              <a:rPr lang="zh-CN" altLang="en-US" sz="2400" dirty="0"/>
              <a:t>大量空间和计算浪费</a:t>
            </a:r>
            <a:endParaRPr lang="en-US" sz="19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1"/>
            <a:fld id="{79680411-0B18-4379-B88B-87C8A6F30E05}" type="slidenum">
              <a:rPr lang="es-ES" smtClean="0"/>
              <a:pPr lvl="1"/>
              <a:t>5</a:t>
            </a:fld>
            <a:endParaRPr lang="es-E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0FB54CFA-B88B-4FC6-B74E-32CEEB7F94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5467" y="2514600"/>
            <a:ext cx="3703106" cy="3810000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C40687D0-F636-44FE-B710-6F391D6CE0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4648" y="2514600"/>
            <a:ext cx="3680200" cy="381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04578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Octree</a:t>
            </a:r>
            <a:r>
              <a:rPr lang="zh-CN" altLang="en-US" dirty="0"/>
              <a:t>（八叉树）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400" dirty="0"/>
              <a:t>当子空间为空或者三角形个数较少时，不再细分</a:t>
            </a:r>
            <a:endParaRPr lang="en-US" altLang="zh-CN" sz="2400" dirty="0"/>
          </a:p>
          <a:p>
            <a:r>
              <a:rPr lang="zh-CN" altLang="en-US" sz="2400" dirty="0"/>
              <a:t>每一次细分，原网格一分为八</a:t>
            </a:r>
            <a:r>
              <a:rPr lang="en-US" altLang="zh-CN" sz="2400" dirty="0"/>
              <a:t> -&gt; </a:t>
            </a:r>
            <a:r>
              <a:rPr lang="zh-CN" altLang="en-US" sz="2400" dirty="0"/>
              <a:t>深度加深，指数爆炸</a:t>
            </a:r>
            <a:endParaRPr lang="en-US" altLang="zh-CN" sz="24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1"/>
            <a:fld id="{79680411-0B18-4379-B88B-87C8A6F30E05}" type="slidenum">
              <a:rPr lang="es-ES" smtClean="0"/>
              <a:pPr lvl="1"/>
              <a:t>6</a:t>
            </a:fld>
            <a:endParaRPr lang="es-E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445228E6-5492-4B04-8219-903B146629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9214" y="2521894"/>
            <a:ext cx="3825572" cy="3764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12696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KD Tree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400" dirty="0"/>
              <a:t>每次只分一个维度（每次一分为二）</a:t>
            </a:r>
            <a:endParaRPr lang="en-US" altLang="zh-CN" sz="2400" dirty="0"/>
          </a:p>
          <a:p>
            <a:r>
              <a:rPr lang="zh-CN" altLang="en-US" sz="2400" dirty="0"/>
              <a:t>可能某个三角形会隶属于左右两个空间</a:t>
            </a:r>
            <a:endParaRPr lang="en-US" altLang="zh-CN" sz="24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1"/>
            <a:fld id="{79680411-0B18-4379-B88B-87C8A6F30E05}" type="slidenum">
              <a:rPr lang="es-ES" smtClean="0"/>
              <a:pPr lvl="1"/>
              <a:t>7</a:t>
            </a:fld>
            <a:endParaRPr lang="es-E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B168C5BA-3886-4362-9715-0F5E28E6BE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0800" y="2484885"/>
            <a:ext cx="4195161" cy="4144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48816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BVH (Bounding Volume Hierarchy)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400" dirty="0"/>
              <a:t>类似</a:t>
            </a:r>
            <a:r>
              <a:rPr lang="en-US" altLang="zh-CN" sz="2400" dirty="0"/>
              <a:t>KD Tree</a:t>
            </a:r>
            <a:r>
              <a:rPr lang="zh-CN" altLang="en-US" sz="2400" dirty="0"/>
              <a:t>剖分方式</a:t>
            </a:r>
            <a:endParaRPr lang="en-US" altLang="zh-CN" sz="2400" dirty="0"/>
          </a:p>
          <a:p>
            <a:r>
              <a:rPr lang="zh-CN" altLang="en-US" sz="2400" dirty="0"/>
              <a:t>允许区间重叠，不会出现一个三角形隶属两边的情况</a:t>
            </a:r>
            <a:endParaRPr lang="en-US" altLang="zh-CN" sz="24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1"/>
            <a:fld id="{79680411-0B18-4379-B88B-87C8A6F30E05}" type="slidenum">
              <a:rPr lang="es-ES" smtClean="0"/>
              <a:pPr lvl="1"/>
              <a:t>8</a:t>
            </a:fld>
            <a:endParaRPr lang="es-E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9AFE8F84-04CF-4FB6-AC5A-E7B3EE4031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3614" y="2424142"/>
            <a:ext cx="5736771" cy="3791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49631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抗锯齿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400" dirty="0"/>
              <a:t>随机采样</a:t>
            </a:r>
            <a:endParaRPr lang="en-US" altLang="zh-CN" sz="24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1"/>
            <a:fld id="{79680411-0B18-4379-B88B-87C8A6F30E05}" type="slidenum">
              <a:rPr lang="es-ES" smtClean="0"/>
              <a:pPr lvl="1"/>
              <a:t>9</a:t>
            </a:fld>
            <a:endParaRPr lang="es-E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13C1C329-747A-427B-81F3-FA232F0B56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420" y="2146629"/>
            <a:ext cx="7767611" cy="2166796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31585033-639D-42FC-8443-7B0A9A66CA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3544643" y="2486230"/>
            <a:ext cx="2163573" cy="6122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03526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Whitted</a:t>
            </a:r>
            <a:r>
              <a:rPr lang="en-US" altLang="zh-CN" dirty="0"/>
              <a:t>-Style </a:t>
            </a:r>
            <a:r>
              <a:rPr lang="zh-CN" altLang="en-US" dirty="0"/>
              <a:t>方法的不足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2400" dirty="0" err="1"/>
              <a:t>Whitted</a:t>
            </a:r>
            <a:r>
              <a:rPr lang="en-US" altLang="zh-CN" sz="2400" dirty="0"/>
              <a:t>-Style </a:t>
            </a:r>
            <a:r>
              <a:rPr lang="zh-CN" altLang="en-US" sz="2400" dirty="0"/>
              <a:t>光线跟踪</a:t>
            </a:r>
            <a:endParaRPr lang="en-US" altLang="zh-CN" sz="2400" dirty="0"/>
          </a:p>
          <a:p>
            <a:pPr lvl="1"/>
            <a:r>
              <a:rPr lang="zh-CN" altLang="en-US" sz="1900" dirty="0"/>
              <a:t>对每个点，计算局部光照明</a:t>
            </a:r>
            <a:endParaRPr lang="en-US" altLang="zh-CN" sz="1900" dirty="0"/>
          </a:p>
          <a:p>
            <a:pPr lvl="1"/>
            <a:r>
              <a:rPr lang="zh-CN" altLang="en-US" sz="1900" dirty="0"/>
              <a:t>如果是镜面或者折射面，则继续递归计算</a:t>
            </a:r>
            <a:endParaRPr lang="en-US" altLang="zh-CN" sz="1900" dirty="0"/>
          </a:p>
          <a:p>
            <a:pPr lvl="1"/>
            <a:r>
              <a:rPr lang="zh-CN" altLang="en-US" sz="1900" dirty="0"/>
              <a:t>如果不是镜面或者折射面，则仅包含局部光照明</a:t>
            </a:r>
            <a:endParaRPr lang="en-US" altLang="zh-CN" sz="1900" dirty="0"/>
          </a:p>
          <a:p>
            <a:endParaRPr lang="en-US" altLang="zh-CN" sz="2400" dirty="0"/>
          </a:p>
          <a:p>
            <a:r>
              <a:rPr lang="zh-CN" altLang="en-US" sz="2400" dirty="0"/>
              <a:t>定性、不准确</a:t>
            </a:r>
            <a:endParaRPr lang="en-US" altLang="zh-CN" sz="2400" dirty="0"/>
          </a:p>
          <a:p>
            <a:endParaRPr lang="en-US" altLang="zh-CN" sz="2400" dirty="0"/>
          </a:p>
          <a:p>
            <a:r>
              <a:rPr lang="zh-CN" altLang="en-US" sz="2400" dirty="0"/>
              <a:t>没有反映出完整的全局光照明效果，尤其是当物体表面</a:t>
            </a:r>
            <a:r>
              <a:rPr lang="zh-CN" altLang="en-US" sz="2400"/>
              <a:t>不是镜面或者折射面时</a:t>
            </a:r>
            <a:endParaRPr lang="en-US" altLang="zh-CN" sz="24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1"/>
            <a:fld id="{79680411-0B18-4379-B88B-87C8A6F30E05}" type="slidenum">
              <a:rPr lang="es-ES" smtClean="0"/>
              <a:pPr lvl="1"/>
              <a:t>10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663029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辐射度学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sz="2400" dirty="0"/>
                  <a:t>辐射度学（</a:t>
                </a:r>
                <a:r>
                  <a:rPr lang="en-US" altLang="zh-CN" sz="2400" dirty="0"/>
                  <a:t>Radiometry</a:t>
                </a:r>
                <a:r>
                  <a:rPr lang="zh-CN" altLang="en-US" sz="2400" dirty="0"/>
                  <a:t>）是度量电磁辐射能量传输的学科，也是基于物理着色模型的基础。</a:t>
                </a:r>
                <a:endParaRPr lang="en-US" altLang="zh-CN" sz="2400" dirty="0"/>
              </a:p>
              <a:p>
                <a:r>
                  <a:rPr lang="zh-CN" altLang="en-US" sz="2400" dirty="0"/>
                  <a:t>准确度量光照中的物理量</a:t>
                </a:r>
                <a:endParaRPr lang="en-US" altLang="zh-CN" sz="2400" dirty="0"/>
              </a:p>
              <a:p>
                <a:endParaRPr lang="en-US" altLang="zh-CN" sz="2000" dirty="0"/>
              </a:p>
              <a:p>
                <a:r>
                  <a:rPr lang="zh-CN" altLang="en-US" sz="2400" dirty="0"/>
                  <a:t>能量</a:t>
                </a:r>
                <a:r>
                  <a:rPr lang="en-US" altLang="zh-CN" sz="2400" dirty="0"/>
                  <a:t>(Energy):</a:t>
                </a:r>
                <a:r>
                  <a:rPr lang="zh-CN" altLang="en-US" sz="2400" dirty="0"/>
                  <a:t> 符号</a:t>
                </a:r>
                <a:r>
                  <a:rPr lang="en-US" altLang="zh-CN" sz="2400" dirty="0"/>
                  <a:t>Q</a:t>
                </a:r>
                <a:r>
                  <a:rPr lang="zh-CN" altLang="en-US" sz="2400" dirty="0"/>
                  <a:t>，单位</a:t>
                </a:r>
                <a:r>
                  <a:rPr lang="en-US" altLang="zh-CN" sz="2400" dirty="0"/>
                  <a:t>J</a:t>
                </a:r>
                <a:r>
                  <a:rPr lang="zh-CN" altLang="en-US" sz="2400" dirty="0"/>
                  <a:t>。</a:t>
                </a:r>
                <a:endParaRPr lang="en-US" altLang="zh-CN" sz="2400" dirty="0"/>
              </a:p>
              <a:p>
                <a:endParaRPr lang="en-US" altLang="zh-CN" sz="2000" dirty="0"/>
              </a:p>
              <a:p>
                <a:r>
                  <a:rPr lang="zh-CN" altLang="en-US" sz="2400" dirty="0"/>
                  <a:t>功率</a:t>
                </a:r>
                <a:r>
                  <a:rPr lang="en-US" altLang="zh-CN" sz="2400" dirty="0"/>
                  <a:t>(Power):</a:t>
                </a:r>
                <a:r>
                  <a:rPr lang="zh-CN" altLang="en-US" sz="2400" dirty="0"/>
                  <a:t>单位瓦特（</a:t>
                </a:r>
                <a:r>
                  <a:rPr lang="en-US" altLang="zh-CN" sz="2400" dirty="0"/>
                  <a:t>Watts</a:t>
                </a:r>
                <a:r>
                  <a:rPr lang="zh-CN" altLang="en-US" sz="2400" dirty="0"/>
                  <a:t>），或者焦耳／秒（</a:t>
                </a:r>
                <a:r>
                  <a:rPr lang="en-US" altLang="zh-CN" sz="2400" dirty="0"/>
                  <a:t>J/s</a:t>
                </a:r>
                <a:r>
                  <a:rPr lang="zh-CN" altLang="en-US" sz="2400" dirty="0"/>
                  <a:t>），辐射度学中，辐射功率也被称为辐射通量（</a:t>
                </a:r>
                <a:r>
                  <a:rPr lang="en-US" altLang="zh-CN" sz="2400" dirty="0"/>
                  <a:t>Radiant Flux</a:t>
                </a:r>
                <a:r>
                  <a:rPr lang="zh-CN" altLang="en-US" sz="2400" dirty="0"/>
                  <a:t>）或者通量（</a:t>
                </a:r>
                <a:r>
                  <a:rPr lang="en-US" altLang="zh-CN" sz="2400" dirty="0"/>
                  <a:t>Flux</a:t>
                </a:r>
                <a:r>
                  <a:rPr lang="zh-CN" altLang="en-US" sz="2400" dirty="0"/>
                  <a:t>），指单位时间内通过表面或者空间区域的能量的总量，符号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altLang="zh-CN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Φ</m:t>
                    </m:r>
                  </m:oMath>
                </a14:m>
                <a:endParaRPr lang="en-US" altLang="zh-CN" sz="2400" dirty="0"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altLang="zh-CN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Φ</m:t>
                      </m:r>
                      <m:r>
                        <a:rPr lang="en-US" altLang="zh-CN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𝑑𝑄</m:t>
                          </m:r>
                        </m:num>
                        <m:den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</m:oMath>
                  </m:oMathPara>
                </a14:m>
                <a:endParaRPr lang="en-US" altLang="zh-CN" sz="2400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98" t="-141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1"/>
            <a:fld id="{79680411-0B18-4379-B88B-87C8A6F30E05}" type="slidenum">
              <a:rPr lang="es-ES" smtClean="0"/>
              <a:pPr lvl="1"/>
              <a:t>11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395558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辐照度和幅出度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sz="2400" dirty="0"/>
                  <a:t>辐照度（</a:t>
                </a:r>
                <a:r>
                  <a:rPr lang="en-US" altLang="zh-CN" sz="2400" dirty="0"/>
                  <a:t>Irradiance</a:t>
                </a:r>
                <a:r>
                  <a:rPr lang="zh-CN" altLang="en-US" sz="2400" dirty="0"/>
                  <a:t>），指单位时间内到达单位面积的辐射能量，或到达单位面积的辐射通量，也就是通量对于面积的密度。用符号</a:t>
                </a:r>
                <a:r>
                  <a:rPr lang="en-US" altLang="zh-CN" sz="2400" dirty="0"/>
                  <a:t>E</a:t>
                </a:r>
                <a:r>
                  <a:rPr lang="zh-CN" altLang="en-US" sz="2400" dirty="0"/>
                  <a:t>表示，单位</a:t>
                </a:r>
                <a:r>
                  <a:rPr lang="en-US" altLang="zh-CN" sz="2400" dirty="0"/>
                  <a:t>W/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US" altLang="zh-CN" sz="240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zh-CN" altLang="en-US" sz="2400" dirty="0"/>
                  <a:t>。</a:t>
                </a:r>
                <a:endParaRPr lang="en-US" altLang="zh-CN" sz="2400" dirty="0"/>
              </a:p>
              <a:p>
                <a:endParaRPr lang="en-US" altLang="zh-CN" sz="2400" dirty="0"/>
              </a:p>
              <a:p>
                <a:pPr marL="0" indent="0">
                  <a:buNone/>
                </a:pPr>
                <a:endParaRPr lang="en-US" altLang="zh-CN" sz="2400" dirty="0"/>
              </a:p>
              <a:p>
                <a:pPr marL="0" indent="0">
                  <a:buNone/>
                </a:pPr>
                <a:endParaRPr lang="en-US" altLang="zh-CN" sz="2400" dirty="0"/>
              </a:p>
              <a:p>
                <a:r>
                  <a:rPr lang="zh-CN" altLang="en-US" sz="2400" dirty="0"/>
                  <a:t>考虑入射角度和表面法向的关系</a:t>
                </a:r>
                <a:endParaRPr lang="en-US" altLang="zh-CN" sz="2400" dirty="0"/>
              </a:p>
              <a:p>
                <a:endParaRPr lang="en-US" altLang="zh-CN" sz="1800" dirty="0">
                  <a:ea typeface="Cambria Math" panose="02040503050406030204" pitchFamily="18" charset="0"/>
                </a:endParaRPr>
              </a:p>
              <a:p>
                <a:endParaRPr lang="en-US" altLang="zh-CN" sz="1800" dirty="0">
                  <a:ea typeface="Cambria Math" panose="02040503050406030204" pitchFamily="18" charset="0"/>
                </a:endParaRPr>
              </a:p>
              <a:p>
                <a:endParaRPr lang="en-US" altLang="zh-CN" sz="1800" dirty="0">
                  <a:ea typeface="Cambria Math" panose="02040503050406030204" pitchFamily="18" charset="0"/>
                </a:endParaRPr>
              </a:p>
              <a:p>
                <a:endParaRPr lang="en-US" altLang="zh-CN" sz="1800" dirty="0">
                  <a:ea typeface="Cambria Math" panose="02040503050406030204" pitchFamily="18" charset="0"/>
                </a:endParaRPr>
              </a:p>
              <a:p>
                <a:endParaRPr lang="en-US" altLang="zh-CN" sz="1800" dirty="0">
                  <a:ea typeface="Cambria Math" panose="02040503050406030204" pitchFamily="18" charset="0"/>
                </a:endParaRPr>
              </a:p>
              <a:p>
                <a:endParaRPr lang="en-US" altLang="zh-CN" sz="1800" dirty="0">
                  <a:ea typeface="Cambria Math" panose="02040503050406030204" pitchFamily="18" charset="0"/>
                </a:endParaRPr>
              </a:p>
              <a:p>
                <a:endParaRPr lang="en-US" altLang="zh-CN" sz="1800" dirty="0"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altLang="zh-CN" sz="1800" dirty="0">
                  <a:ea typeface="Cambria Math" panose="02040503050406030204" pitchFamily="18" charset="0"/>
                </a:endParaRPr>
              </a:p>
              <a:p>
                <a:endParaRPr lang="en-US" altLang="zh-CN" sz="2400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98" t="-1419" r="-7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1"/>
            <a:fld id="{79680411-0B18-4379-B88B-87C8A6F30E05}" type="slidenum">
              <a:rPr lang="es-ES" smtClean="0"/>
              <a:pPr lvl="1"/>
              <a:t>12</a:t>
            </a:fld>
            <a:endParaRPr lang="es-E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398D8C17-A8E2-4F9B-A518-E476B47A51D3}"/>
                  </a:ext>
                </a:extLst>
              </p:cNvPr>
              <p:cNvSpPr txBox="1"/>
              <p:nvPr/>
            </p:nvSpPr>
            <p:spPr>
              <a:xfrm>
                <a:off x="3774697" y="2758596"/>
                <a:ext cx="1594604" cy="97520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4400" b="0" i="1" smtClean="0"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lang="zh-CN" altLang="en-US" sz="4400" b="0" dirty="0"/>
                  <a:t> </a:t>
                </a:r>
                <a:r>
                  <a:rPr lang="en-US" altLang="zh-CN" sz="4400" b="0" dirty="0"/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4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44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m:rPr>
                            <m:sty m:val="p"/>
                          </m:rPr>
                          <a:rPr lang="el-GR" altLang="zh-CN" sz="4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Φ</m:t>
                        </m:r>
                      </m:num>
                      <m:den>
                        <m:r>
                          <a:rPr lang="en-US" altLang="zh-CN" sz="4400" b="0" i="1" smtClean="0">
                            <a:latin typeface="Cambria Math" panose="02040503050406030204" pitchFamily="18" charset="0"/>
                          </a:rPr>
                          <m:t>𝑑𝐴</m:t>
                        </m:r>
                      </m:den>
                    </m:f>
                  </m:oMath>
                </a14:m>
                <a:endParaRPr lang="en-US" altLang="zh-CN" sz="4400" b="0" dirty="0"/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398D8C17-A8E2-4F9B-A518-E476B47A51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74697" y="2758596"/>
                <a:ext cx="1594604" cy="975203"/>
              </a:xfrm>
              <a:prstGeom prst="rect">
                <a:avLst/>
              </a:prstGeom>
              <a:blipFill>
                <a:blip r:embed="rId3"/>
                <a:stretch>
                  <a:fillRect t="-2516" b="-1886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图片 6">
            <a:extLst>
              <a:ext uri="{FF2B5EF4-FFF2-40B4-BE49-F238E27FC236}">
                <a16:creationId xmlns:a16="http://schemas.microsoft.com/office/drawing/2014/main" id="{FBEC8FBF-D284-4E1D-BBBA-1CFF4B517C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38400" y="4504275"/>
            <a:ext cx="4976020" cy="2201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15669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辐照度和幅出度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3200" dirty="0"/>
              <a:t>辐出度（</a:t>
            </a:r>
            <a:r>
              <a:rPr lang="en-US" altLang="zh-CN" sz="3200" dirty="0"/>
              <a:t>Radiant </a:t>
            </a:r>
            <a:r>
              <a:rPr lang="en-US" altLang="zh-CN" sz="3200" dirty="0" err="1"/>
              <a:t>Existance</a:t>
            </a:r>
            <a:r>
              <a:rPr lang="zh-CN" altLang="en-US" sz="3200" dirty="0"/>
              <a:t>），也称为辐射出射度、辐射度（</a:t>
            </a:r>
            <a:r>
              <a:rPr lang="en-US" altLang="zh-CN" sz="3200" dirty="0"/>
              <a:t>Radiosity</a:t>
            </a:r>
            <a:r>
              <a:rPr lang="zh-CN" altLang="en-US" sz="3200" dirty="0"/>
              <a:t>），用符号</a:t>
            </a:r>
            <a:r>
              <a:rPr lang="en-US" altLang="zh-CN" sz="3200" dirty="0"/>
              <a:t>M</a:t>
            </a:r>
            <a:r>
              <a:rPr lang="zh-CN" altLang="en-US" sz="3200" dirty="0"/>
              <a:t>表示。辐出度与辐照度类似，唯一的区别在辐出度衡量的是离开表面的通量密度，辐照度衡量的是到达表面的通量密度。辐照度和辐出度都可以称为辐射通量密度（</a:t>
            </a:r>
            <a:r>
              <a:rPr lang="en-US" altLang="zh-CN" sz="3200" dirty="0"/>
              <a:t>Radiant Flux Density</a:t>
            </a:r>
            <a:r>
              <a:rPr lang="zh-CN" altLang="en-US" sz="3200" dirty="0"/>
              <a:t>）。</a:t>
            </a:r>
            <a:endParaRPr lang="en-US" altLang="zh-CN" sz="2400" dirty="0">
              <a:ea typeface="Cambria Math" panose="020405030504060302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1"/>
            <a:fld id="{79680411-0B18-4379-B88B-87C8A6F30E05}" type="slidenum">
              <a:rPr lang="es-ES" smtClean="0"/>
              <a:pPr lvl="1"/>
              <a:t>13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071231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EE8CE01-1402-46E1-B549-438206B433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用辐照度概念理解光衰减和距离的关系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DEF8394-9AEC-4900-A272-BD047A1C53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603AD47-9893-4855-A331-3E322D1C114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1"/>
            <a:fld id="{79680411-0B18-4379-B88B-87C8A6F30E05}" type="slidenum">
              <a:rPr lang="es-ES" smtClean="0"/>
              <a:pPr lvl="1"/>
              <a:t>14</a:t>
            </a:fld>
            <a:endParaRPr lang="es-E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BC5A831C-D801-4B0A-872D-65CE77EE49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8400" y="1670688"/>
            <a:ext cx="4496588" cy="4431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84518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辐射强度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sz="2400" dirty="0"/>
                  <a:t>立体角（</a:t>
                </a:r>
                <a:r>
                  <a:rPr lang="en-US" altLang="zh-CN" sz="2400" dirty="0"/>
                  <a:t>Solid Angle</a:t>
                </a:r>
                <a:r>
                  <a:rPr lang="zh-CN" altLang="en-US" sz="2400" dirty="0"/>
                  <a:t>）：立体角可以看成是弧度的三维扩展。立体角则是度量三维角度的量，用符号</a:t>
                </a:r>
                <a14:m>
                  <m:oMath xmlns:m="http://schemas.openxmlformats.org/officeDocument/2006/math">
                    <m:r>
                      <a:rPr lang="zh-CN" altLang="en-US" sz="2400">
                        <a:latin typeface="Cambria Math" panose="02040503050406030204" pitchFamily="18" charset="0"/>
                      </a:rPr>
                      <m:t>𝜔</m:t>
                    </m:r>
                  </m:oMath>
                </a14:m>
                <a:r>
                  <a:rPr lang="zh-CN" altLang="en-US" sz="2400" dirty="0"/>
                  <a:t>表示，单位为立体弧度（也叫球面度，</a:t>
                </a:r>
                <a:r>
                  <a:rPr lang="en-US" altLang="zh-CN" sz="2400" dirty="0"/>
                  <a:t>Steradian</a:t>
                </a:r>
                <a:r>
                  <a:rPr lang="zh-CN" altLang="en-US" sz="2400" dirty="0"/>
                  <a:t>，简写为</a:t>
                </a:r>
                <a:r>
                  <a:rPr lang="en-US" altLang="zh-CN" sz="2400" dirty="0" err="1"/>
                  <a:t>sr</a:t>
                </a:r>
                <a:r>
                  <a:rPr lang="zh-CN" altLang="en-US" sz="2400" dirty="0"/>
                  <a:t>），等于立体角在单位球上对应的区域的面积</a:t>
                </a:r>
                <a:r>
                  <a:rPr lang="en-US" altLang="zh-CN" sz="2400" dirty="0"/>
                  <a:t>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3200">
                          <a:latin typeface="Cambria Math" panose="02040503050406030204" pitchFamily="18" charset="0"/>
                        </a:rPr>
                        <m:t>𝜔</m:t>
                      </m:r>
                      <m:r>
                        <a:rPr lang="en-US" altLang="zh-CN" sz="320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32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num>
                        <m:den>
                          <m:sSup>
                            <m:sSupPr>
                              <m:ctrlPr>
                                <a:rPr lang="en-US" altLang="zh-CN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3200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p>
                              <m:r>
                                <a:rPr lang="en-US" altLang="zh-CN" sz="3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altLang="zh-CN" sz="2400" dirty="0"/>
              </a:p>
              <a:p>
                <a:r>
                  <a:rPr lang="zh-CN" altLang="en-US" sz="2400" dirty="0"/>
                  <a:t>整个球面的立体角是</a:t>
                </a:r>
                <a:r>
                  <a:rPr lang="en-US" altLang="zh-CN" sz="2400" dirty="0"/>
                  <a:t>4</a:t>
                </a:r>
                <a14:m>
                  <m:oMath xmlns:m="http://schemas.openxmlformats.org/officeDocument/2006/math">
                    <m:r>
                      <a:rPr lang="zh-CN" altLang="en-US" sz="2400" i="1" smtClean="0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zh-CN" altLang="en-US" sz="2400" dirty="0"/>
                  <a:t>，半球面的立体角是</a:t>
                </a:r>
                <a:r>
                  <a:rPr lang="en-US" altLang="zh-CN" sz="2400" dirty="0"/>
                  <a:t>2</a:t>
                </a:r>
                <a14:m>
                  <m:oMath xmlns:m="http://schemas.openxmlformats.org/officeDocument/2006/math">
                    <m:r>
                      <a:rPr lang="zh-CN" altLang="en-US" sz="2400" i="1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zh-CN" altLang="en-US" sz="2400" dirty="0"/>
                  <a:t>。</a:t>
                </a:r>
                <a:endParaRPr lang="en-US" altLang="zh-CN" sz="2400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98" t="-141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1"/>
            <a:fld id="{79680411-0B18-4379-B88B-87C8A6F30E05}" type="slidenum">
              <a:rPr lang="es-ES" smtClean="0"/>
              <a:pPr lvl="1"/>
              <a:t>15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810276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辐射强度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400" dirty="0"/>
              <a:t>辐射强度：指通过单位立体角的辐射通量。用符号</a:t>
            </a:r>
            <a:r>
              <a:rPr lang="en-US" altLang="zh-CN" sz="2400" dirty="0"/>
              <a:t>I</a:t>
            </a:r>
            <a:r>
              <a:rPr lang="zh-CN" altLang="en-US" sz="2400" dirty="0"/>
              <a:t>表示，单位</a:t>
            </a:r>
            <a:r>
              <a:rPr lang="en-US" altLang="zh-CN" sz="2400" dirty="0"/>
              <a:t>W/</a:t>
            </a:r>
            <a:r>
              <a:rPr lang="en-US" altLang="zh-CN" sz="2400" dirty="0" err="1"/>
              <a:t>sr</a:t>
            </a:r>
            <a:r>
              <a:rPr lang="zh-CN" altLang="en-US" sz="2400" dirty="0"/>
              <a:t>。</a:t>
            </a:r>
            <a:endParaRPr lang="en-US" altLang="zh-CN" sz="2400" dirty="0"/>
          </a:p>
          <a:p>
            <a:pPr marL="0" indent="0">
              <a:buNone/>
            </a:pPr>
            <a:endParaRPr lang="en-US" altLang="zh-CN" sz="2400" dirty="0"/>
          </a:p>
          <a:p>
            <a:endParaRPr lang="en-US" altLang="zh-CN" sz="2400" dirty="0"/>
          </a:p>
          <a:p>
            <a:endParaRPr lang="en-US" altLang="zh-CN" sz="2400" dirty="0"/>
          </a:p>
          <a:p>
            <a:endParaRPr lang="en-US" altLang="zh-CN" sz="2400" dirty="0"/>
          </a:p>
          <a:p>
            <a:endParaRPr lang="en-US" altLang="zh-CN" sz="2400" dirty="0"/>
          </a:p>
          <a:p>
            <a:r>
              <a:rPr lang="zh-CN" altLang="en-US" sz="2400" dirty="0"/>
              <a:t>之所以引入辐射强度，是因为有时候要度量通过一个点</a:t>
            </a:r>
            <a:r>
              <a:rPr lang="en-US" altLang="zh-CN" sz="2400" dirty="0"/>
              <a:t>(</a:t>
            </a:r>
            <a:r>
              <a:rPr lang="zh-CN" altLang="en-US" sz="2400" dirty="0"/>
              <a:t>上图中的球心）的通量的密度，但因为点的面积是</a:t>
            </a:r>
            <a:r>
              <a:rPr lang="en-US" altLang="zh-CN" sz="2400" dirty="0"/>
              <a:t>0</a:t>
            </a:r>
            <a:r>
              <a:rPr lang="zh-CN" altLang="en-US" sz="2400" dirty="0"/>
              <a:t>，无法使用辐照度，所以引入辐射强度。辐射强度不会随距离变化而变化，不像点光源的辐照度会随距离增大而衰减，这是因为立体角不会随距离变化而变化</a:t>
            </a:r>
            <a:r>
              <a:rPr lang="zh-CN" altLang="en-US" dirty="0"/>
              <a:t>。</a:t>
            </a:r>
            <a:endParaRPr lang="en-US" altLang="zh-CN" sz="20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1"/>
            <a:fld id="{79680411-0B18-4379-B88B-87C8A6F30E05}" type="slidenum">
              <a:rPr lang="es-ES" smtClean="0"/>
              <a:pPr lvl="1"/>
              <a:t>16</a:t>
            </a:fld>
            <a:endParaRPr lang="es-E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11F73FB2-9D27-4B9A-AE9A-913AC40106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5498" y="2092328"/>
            <a:ext cx="3314502" cy="240015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55903DA2-F9DA-4933-AF88-17DCFC693AF6}"/>
                  </a:ext>
                </a:extLst>
              </p:cNvPr>
              <p:cNvSpPr/>
              <p:nvPr/>
            </p:nvSpPr>
            <p:spPr>
              <a:xfrm>
                <a:off x="2057400" y="2895600"/>
                <a:ext cx="1208536" cy="79361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m:rPr>
                              <m:sty m:val="p"/>
                            </m:rPr>
                            <a:rPr lang="el-GR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Φ</m:t>
                          </m:r>
                        </m:num>
                        <m:den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zh-CN" altLang="en-US">
                              <a:latin typeface="Cambria Math" panose="02040503050406030204" pitchFamily="18" charset="0"/>
                            </a:rPr>
                            <m:t>𝜔</m:t>
                          </m:r>
                        </m:den>
                      </m:f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55903DA2-F9DA-4933-AF88-17DCFC693AF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7400" y="2895600"/>
                <a:ext cx="1208536" cy="79361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2764181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B9F4D7D4-8822-4AC1-AFE8-8776178B14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6256" y="3505200"/>
            <a:ext cx="2913744" cy="251460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辐射率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sz="2400" dirty="0"/>
                  <a:t>我们常需要度量从一个微小面积表面出发，射向某个微小方向的通量（或者来自某个微小方向，照射到微小面积表面的通量），辐射率就是度量这种情况的量。</a:t>
                </a:r>
                <a:endParaRPr lang="en-US" altLang="zh-CN" sz="2400" dirty="0"/>
              </a:p>
              <a:p>
                <a:r>
                  <a:rPr lang="zh-CN" altLang="en-US" sz="2400" dirty="0"/>
                  <a:t>辐射率（</a:t>
                </a:r>
                <a:r>
                  <a:rPr lang="en-US" altLang="zh-CN" sz="2400" dirty="0"/>
                  <a:t>Radiance</a:t>
                </a:r>
                <a:r>
                  <a:rPr lang="zh-CN" altLang="en-US" sz="2400" dirty="0"/>
                  <a:t>），指每单位面积每单位立体角的辐射通量密度。用符号</a:t>
                </a:r>
                <a:r>
                  <a:rPr lang="en-US" altLang="zh-CN" sz="2400" dirty="0"/>
                  <a:t>L</a:t>
                </a:r>
                <a:r>
                  <a:rPr lang="zh-CN" altLang="en-US" sz="2400" dirty="0"/>
                  <a:t>表示，单位</a:t>
                </a:r>
                <a:r>
                  <a:rPr lang="en-US" altLang="zh-CN" sz="2400" dirty="0"/>
                  <a:t>W/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US" altLang="zh-CN" sz="240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sz="2400" dirty="0" err="1"/>
                  <a:t>sr</a:t>
                </a:r>
                <a:r>
                  <a:rPr lang="zh-CN" altLang="en-US" sz="2400" dirty="0"/>
                  <a:t>，定义为：</a:t>
                </a:r>
                <a:endParaRPr lang="en-US" altLang="zh-CN" sz="2400" dirty="0"/>
              </a:p>
              <a:p>
                <a:endParaRPr lang="en-US" altLang="zh-CN" sz="2400" dirty="0"/>
              </a:p>
              <a:p>
                <a:endParaRPr lang="en-US" altLang="zh-CN" sz="2400" dirty="0"/>
              </a:p>
              <a:p>
                <a:endParaRPr lang="en-US" altLang="zh-CN" sz="2400" dirty="0"/>
              </a:p>
              <a:p>
                <a:pPr marL="0" indent="0">
                  <a:buNone/>
                </a:pPr>
                <a:endParaRPr lang="en-US" altLang="zh-CN" sz="2400" dirty="0"/>
              </a:p>
              <a:p>
                <a:pPr marL="0" indent="0">
                  <a:buNone/>
                </a:pPr>
                <a:endParaRPr lang="en-US" altLang="zh-CN" sz="2400" dirty="0"/>
              </a:p>
              <a:p>
                <a:r>
                  <a:rPr lang="zh-CN" altLang="en-US" sz="2400" dirty="0"/>
                  <a:t>辐射率不随距离增加而衰减，实际上就是我们看到的颜色。</a:t>
                </a:r>
                <a:endParaRPr lang="en-US" altLang="zh-CN" sz="2400" dirty="0"/>
              </a:p>
              <a:p>
                <a:pPr marL="0" indent="0">
                  <a:buNone/>
                </a:pPr>
                <a:endParaRPr lang="en-US" altLang="zh-CN" sz="2400" dirty="0"/>
              </a:p>
              <a:p>
                <a:endParaRPr lang="en-US" altLang="zh-CN" sz="1800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4"/>
                <a:stretch>
                  <a:fillRect l="-1098" t="-1032" r="-78" b="-838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1"/>
            <a:fld id="{79680411-0B18-4379-B88B-87C8A6F30E05}" type="slidenum">
              <a:rPr lang="es-ES" smtClean="0"/>
              <a:pPr lvl="1"/>
              <a:t>17</a:t>
            </a:fld>
            <a:endParaRPr lang="es-E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ED52DB44-1B04-4175-BFAF-868E819EC6D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0" y="4038600"/>
            <a:ext cx="2113845" cy="106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078983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BRDF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我们看到一个表面，实际上是周围环境的光照射到表面上，然后表面将一部分光反射到我们眼睛里。</a:t>
            </a:r>
            <a:endParaRPr lang="en-US" altLang="zh-CN" dirty="0"/>
          </a:p>
          <a:p>
            <a:r>
              <a:rPr lang="zh-CN" altLang="en-US" dirty="0"/>
              <a:t>双向反射分布函数</a:t>
            </a:r>
            <a:r>
              <a:rPr lang="en-US" altLang="zh-CN" dirty="0"/>
              <a:t>BRDF</a:t>
            </a:r>
            <a:r>
              <a:rPr lang="zh-CN" altLang="en-US" dirty="0"/>
              <a:t>（</a:t>
            </a:r>
            <a:r>
              <a:rPr lang="en-US" altLang="zh-CN" dirty="0"/>
              <a:t>Bidirectional Reflectance Distribution Function</a:t>
            </a:r>
            <a:r>
              <a:rPr lang="zh-CN" altLang="en-US" dirty="0"/>
              <a:t>）就是描述表面入射光和反射光关系的。</a:t>
            </a:r>
            <a:endParaRPr lang="en-US" altLang="zh-CN" sz="24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1"/>
            <a:fld id="{79680411-0B18-4379-B88B-87C8A6F30E05}" type="slidenum">
              <a:rPr lang="es-ES" smtClean="0"/>
              <a:pPr lvl="1"/>
              <a:t>18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1329016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BRDF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sz="2400" dirty="0"/>
                  <a:t>定义：</a:t>
                </a:r>
                <a:endParaRPr lang="en-US" altLang="zh-CN" sz="2400" dirty="0"/>
              </a:p>
              <a:p>
                <a:endParaRPr lang="en-US" altLang="zh-CN" sz="2400" dirty="0"/>
              </a:p>
              <a:p>
                <a:endParaRPr lang="en-US" altLang="zh-CN" sz="2400" dirty="0"/>
              </a:p>
              <a:p>
                <a:endParaRPr lang="en-US" altLang="zh-CN" sz="2400" dirty="0"/>
              </a:p>
              <a:p>
                <a:endParaRPr lang="en-US" altLang="zh-CN" sz="2400" dirty="0"/>
              </a:p>
              <a:p>
                <a:endParaRPr lang="en-US" altLang="zh-CN" sz="2400" dirty="0"/>
              </a:p>
              <a:p>
                <a:pPr marL="0" indent="0">
                  <a:buNone/>
                </a:pPr>
                <a:endParaRPr lang="en-US" altLang="zh-CN" sz="2400" dirty="0"/>
              </a:p>
              <a:p>
                <a:r>
                  <a:rPr lang="zh-CN" altLang="en-US" sz="2400" dirty="0"/>
                  <a:t>如何理解：入射光</a:t>
                </a:r>
                <a:r>
                  <a:rPr lang="en-US" altLang="zh-CN" sz="2400" dirty="0"/>
                  <a:t>l</a:t>
                </a:r>
                <a:r>
                  <a:rPr lang="zh-CN" altLang="en-US" sz="2400" dirty="0"/>
                  <a:t>打到点</a:t>
                </a:r>
                <a:r>
                  <a:rPr lang="en-US" altLang="zh-CN" sz="2400" dirty="0"/>
                  <a:t>p</a:t>
                </a:r>
                <a:r>
                  <a:rPr lang="zh-CN" altLang="en-US" sz="2400" dirty="0"/>
                  <a:t>的一个微小面元，形成辐照度</a:t>
                </a:r>
                <a:r>
                  <a:rPr lang="en-US" altLang="zh-CN" sz="2400" dirty="0"/>
                  <a:t>E, E</a:t>
                </a:r>
                <a:r>
                  <a:rPr lang="zh-CN" altLang="en-US" sz="2400" dirty="0"/>
                  <a:t>按照一定比例朝</a:t>
                </a:r>
                <a:r>
                  <a:rPr lang="en-US" altLang="zh-CN" sz="2400" dirty="0"/>
                  <a:t>v</a:t>
                </a:r>
                <a:r>
                  <a:rPr lang="zh-CN" altLang="en-US" sz="2400" dirty="0"/>
                  <a:t>方向反射，把这个比值定义为入射方向</a:t>
                </a:r>
                <a:r>
                  <a:rPr lang="en-US" altLang="zh-CN" sz="2400" dirty="0"/>
                  <a:t>l</a:t>
                </a:r>
                <a:r>
                  <a:rPr lang="zh-CN" altLang="en-US" sz="2400" dirty="0"/>
                  <a:t>，出射方向</a:t>
                </a:r>
                <a:r>
                  <a:rPr lang="en-US" altLang="zh-CN" sz="2400" dirty="0"/>
                  <a:t>v</a:t>
                </a:r>
                <a:r>
                  <a:rPr lang="zh-CN" altLang="en-US" sz="2400" dirty="0"/>
                  <a:t>的</a:t>
                </a:r>
                <a:r>
                  <a:rPr lang="en-US" altLang="zh-CN" sz="2400" dirty="0"/>
                  <a:t>BRDF</a:t>
                </a:r>
                <a:r>
                  <a:rPr lang="zh-CN" altLang="en-US" sz="2400" dirty="0"/>
                  <a:t>值。</a:t>
                </a:r>
                <a:endParaRPr lang="en-US" altLang="zh-CN" sz="2400" dirty="0"/>
              </a:p>
              <a:p>
                <a:r>
                  <a:rPr lang="zh-CN" altLang="en-US" sz="2400" dirty="0"/>
                  <a:t>经过推导，朗伯表面的</a:t>
                </a:r>
                <a:r>
                  <a:rPr lang="en-US" altLang="zh-CN" sz="2400" dirty="0"/>
                  <a:t>BRDF=c/</a:t>
                </a:r>
                <a14:m>
                  <m:oMath xmlns:m="http://schemas.openxmlformats.org/officeDocument/2006/math">
                    <m:r>
                      <a:rPr lang="el-GR" altLang="zh-CN" sz="2400" i="1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en-US" altLang="zh-CN" sz="2400" dirty="0"/>
                  <a:t>, c</a:t>
                </a:r>
                <a:r>
                  <a:rPr lang="zh-CN" altLang="en-US" sz="2400" dirty="0"/>
                  <a:t>是</a:t>
                </a:r>
                <a:r>
                  <a:rPr lang="en-US" altLang="zh-CN" sz="2400" dirty="0"/>
                  <a:t>[0,1]</a:t>
                </a:r>
                <a:r>
                  <a:rPr lang="zh-CN" altLang="en-US" sz="2400" dirty="0"/>
                  <a:t>间的常数。</a:t>
                </a:r>
                <a:endParaRPr lang="en-US" altLang="zh-CN" sz="2400" dirty="0"/>
              </a:p>
              <a:p>
                <a:pPr marL="0" indent="0">
                  <a:buNone/>
                </a:pPr>
                <a:endParaRPr lang="en-US" altLang="zh-CN" sz="2400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98" t="-1419" r="-863" b="-258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1"/>
            <a:fld id="{79680411-0B18-4379-B88B-87C8A6F30E05}" type="slidenum">
              <a:rPr lang="es-ES" smtClean="0"/>
              <a:pPr lvl="1"/>
              <a:t>19</a:t>
            </a:fld>
            <a:endParaRPr lang="es-E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4893FDCE-FE04-45F2-A581-37ADABE4EA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7000" y="2349413"/>
            <a:ext cx="4237264" cy="2159173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8413B944-24A4-4334-A2E8-603E463CDA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52701" y="1526149"/>
            <a:ext cx="2286198" cy="998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148660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反射方程与渲染方程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400" dirty="0"/>
              <a:t>反射方程：</a:t>
            </a:r>
            <a:endParaRPr lang="en-US" altLang="zh-CN" sz="2400" dirty="0"/>
          </a:p>
          <a:p>
            <a:pPr marL="0" indent="0">
              <a:buNone/>
            </a:pPr>
            <a:endParaRPr lang="en-US" altLang="zh-CN" sz="2400" dirty="0"/>
          </a:p>
          <a:p>
            <a:endParaRPr lang="en-US" altLang="zh-CN" sz="2400" dirty="0"/>
          </a:p>
          <a:p>
            <a:endParaRPr lang="en-US" altLang="zh-CN" sz="2400" dirty="0"/>
          </a:p>
          <a:p>
            <a:pPr marL="0" indent="0">
              <a:buNone/>
            </a:pPr>
            <a:endParaRPr lang="en-US" altLang="zh-CN" sz="2400" dirty="0"/>
          </a:p>
          <a:p>
            <a:endParaRPr lang="en-US" altLang="zh-CN" sz="2400" dirty="0"/>
          </a:p>
          <a:p>
            <a:r>
              <a:rPr lang="zh-CN" altLang="en-US" sz="2400" dirty="0"/>
              <a:t>渲染方程：</a:t>
            </a:r>
            <a:endParaRPr lang="en-US" altLang="zh-CN" sz="2400" dirty="0"/>
          </a:p>
          <a:p>
            <a:endParaRPr lang="en-US" altLang="zh-CN" sz="2400" dirty="0"/>
          </a:p>
          <a:p>
            <a:endParaRPr lang="en-US" altLang="zh-CN" sz="24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1"/>
            <a:fld id="{79680411-0B18-4379-B88B-87C8A6F30E05}" type="slidenum">
              <a:rPr lang="es-ES" smtClean="0"/>
              <a:pPr lvl="1"/>
              <a:t>20</a:t>
            </a:fld>
            <a:endParaRPr lang="es-E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68A12BA3-C056-4081-B2C5-6A816B0DA0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9665" y="2455432"/>
            <a:ext cx="3449278" cy="175764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8DCFBEDE-0494-4956-BAD7-9D5FB2999FA3}"/>
                  </a:ext>
                </a:extLst>
              </p:cNvPr>
              <p:cNvSpPr txBox="1"/>
              <p:nvPr/>
            </p:nvSpPr>
            <p:spPr>
              <a:xfrm>
                <a:off x="1001212" y="2473439"/>
                <a:ext cx="4349204" cy="86081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  <m:brk m:alnAt="23"/>
                            </m:rPr>
                            <a:rPr lang="el-GR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Ω</m:t>
                          </m:r>
                        </m:sub>
                        <m:sup/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</m:d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</m:d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𝑐𝑜𝑠</m:t>
                          </m:r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a:rPr lang="zh-CN" altLang="en-US" b="0" i="1" smtClean="0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8DCFBEDE-0494-4956-BAD7-9D5FB2999F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1212" y="2473439"/>
                <a:ext cx="4349204" cy="86081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F282CDA9-82D3-4654-9A94-39CB8F90B6F9}"/>
                  </a:ext>
                </a:extLst>
              </p:cNvPr>
              <p:cNvSpPr txBox="1"/>
              <p:nvPr/>
            </p:nvSpPr>
            <p:spPr>
              <a:xfrm>
                <a:off x="1001212" y="4995281"/>
                <a:ext cx="5029903" cy="86081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  <m:brk m:alnAt="23"/>
                            </m:rPr>
                            <a:rPr lang="el-GR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Ω</m:t>
                          </m:r>
                        </m:sub>
                        <m:sup/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</m:d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</m:d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𝑐𝑜𝑠</m:t>
                          </m:r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b="0" i="1" smtClean="0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F282CDA9-82D3-4654-9A94-39CB8F90B6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1212" y="4995281"/>
                <a:ext cx="5029903" cy="86081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7986679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路径跟踪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zh-CN" sz="2400" dirty="0"/>
          </a:p>
          <a:p>
            <a:endParaRPr lang="en-US" altLang="zh-CN" sz="2400" dirty="0"/>
          </a:p>
          <a:p>
            <a:endParaRPr lang="en-US" altLang="zh-CN" sz="2400" dirty="0"/>
          </a:p>
          <a:p>
            <a:endParaRPr lang="en-US" altLang="zh-CN" sz="2400" dirty="0"/>
          </a:p>
          <a:p>
            <a:endParaRPr lang="en-US" altLang="zh-CN" sz="2400" dirty="0"/>
          </a:p>
          <a:p>
            <a:endParaRPr lang="en-US" altLang="zh-CN" sz="2400" dirty="0"/>
          </a:p>
          <a:p>
            <a:endParaRPr lang="en-US" altLang="zh-CN" sz="2400" dirty="0"/>
          </a:p>
          <a:p>
            <a:endParaRPr lang="en-US" altLang="zh-CN" sz="2400" dirty="0"/>
          </a:p>
          <a:p>
            <a:r>
              <a:rPr lang="zh-CN" altLang="en-US" sz="2400" dirty="0"/>
              <a:t>需要进行半球面积分，多次折射之后，引起指数灾难。</a:t>
            </a:r>
            <a:endParaRPr lang="en-US" altLang="zh-CN" sz="24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1"/>
            <a:fld id="{79680411-0B18-4379-B88B-87C8A6F30E05}" type="slidenum">
              <a:rPr lang="es-ES" smtClean="0"/>
              <a:pPr lvl="1"/>
              <a:t>21</a:t>
            </a:fld>
            <a:endParaRPr lang="es-E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532152D7-1B7D-41EC-805D-E1127D04787D}"/>
                  </a:ext>
                </a:extLst>
              </p:cNvPr>
              <p:cNvSpPr txBox="1"/>
              <p:nvPr/>
            </p:nvSpPr>
            <p:spPr>
              <a:xfrm>
                <a:off x="2286000" y="1828800"/>
                <a:ext cx="5029903" cy="86081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  <m:brk m:alnAt="23"/>
                            </m:rPr>
                            <a:rPr lang="el-GR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Ω</m:t>
                          </m:r>
                        </m:sub>
                        <m:sup/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</m:d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</m:d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𝑐𝑜𝑠</m:t>
                          </m:r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b="0" i="1" smtClean="0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532152D7-1B7D-41EC-805D-E1127D0478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6000" y="1828800"/>
                <a:ext cx="5029903" cy="86081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68357087-101E-4AE3-B5B7-F41AC1ED9276}"/>
              </a:ext>
            </a:extLst>
          </p:cNvPr>
          <p:cNvCxnSpPr/>
          <p:nvPr/>
        </p:nvCxnSpPr>
        <p:spPr bwMode="auto">
          <a:xfrm flipH="1">
            <a:off x="2687598" y="2640206"/>
            <a:ext cx="762000" cy="1143000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triangle"/>
          </a:ln>
          <a:effectLst/>
        </p:spPr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42C3EF9B-28DC-4E02-AB19-D1F112241827}"/>
              </a:ext>
            </a:extLst>
          </p:cNvPr>
          <p:cNvSpPr txBox="1"/>
          <p:nvPr/>
        </p:nvSpPr>
        <p:spPr>
          <a:xfrm>
            <a:off x="2133600" y="3897506"/>
            <a:ext cx="1107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+mj-ea"/>
                <a:ea typeface="+mj-ea"/>
              </a:rPr>
              <a:t>自发光</a:t>
            </a:r>
          </a:p>
        </p:txBody>
      </p: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C55CAF89-466E-462F-9BE6-22774D6FAD6C}"/>
              </a:ext>
            </a:extLst>
          </p:cNvPr>
          <p:cNvCxnSpPr>
            <a:cxnSpLocks/>
          </p:cNvCxnSpPr>
          <p:nvPr/>
        </p:nvCxnSpPr>
        <p:spPr bwMode="auto">
          <a:xfrm flipH="1">
            <a:off x="4873023" y="2503293"/>
            <a:ext cx="128727" cy="1249557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triangle"/>
          </a:ln>
          <a:effectLst/>
        </p:spPr>
      </p:cxnSp>
      <p:sp>
        <p:nvSpPr>
          <p:cNvPr id="12" name="文本框 11">
            <a:extLst>
              <a:ext uri="{FF2B5EF4-FFF2-40B4-BE49-F238E27FC236}">
                <a16:creationId xmlns:a16="http://schemas.microsoft.com/office/drawing/2014/main" id="{0AB7B2F6-1905-4DCA-A6FE-264C92781079}"/>
              </a:ext>
            </a:extLst>
          </p:cNvPr>
          <p:cNvSpPr txBox="1"/>
          <p:nvPr/>
        </p:nvSpPr>
        <p:spPr>
          <a:xfrm>
            <a:off x="4383388" y="3897506"/>
            <a:ext cx="9893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+mj-lt"/>
                <a:ea typeface="+mj-ea"/>
              </a:rPr>
              <a:t>BRDF</a:t>
            </a:r>
            <a:endParaRPr lang="zh-CN" altLang="en-US" dirty="0">
              <a:latin typeface="+mj-lt"/>
              <a:ea typeface="+mj-ea"/>
            </a:endParaRPr>
          </a:p>
        </p:txBody>
      </p: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A77912F1-CF86-49FB-BBFC-DC5116CF7420}"/>
              </a:ext>
            </a:extLst>
          </p:cNvPr>
          <p:cNvCxnSpPr>
            <a:cxnSpLocks/>
          </p:cNvCxnSpPr>
          <p:nvPr/>
        </p:nvCxnSpPr>
        <p:spPr bwMode="auto">
          <a:xfrm>
            <a:off x="5694404" y="2503293"/>
            <a:ext cx="907546" cy="1193000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triangle"/>
          </a:ln>
          <a:effectLst/>
        </p:spPr>
      </p:cxnSp>
      <p:sp>
        <p:nvSpPr>
          <p:cNvPr id="16" name="文本框 15">
            <a:extLst>
              <a:ext uri="{FF2B5EF4-FFF2-40B4-BE49-F238E27FC236}">
                <a16:creationId xmlns:a16="http://schemas.microsoft.com/office/drawing/2014/main" id="{4900BB4A-B6D4-4389-8B4D-B301DEC77244}"/>
              </a:ext>
            </a:extLst>
          </p:cNvPr>
          <p:cNvSpPr txBox="1"/>
          <p:nvPr/>
        </p:nvSpPr>
        <p:spPr>
          <a:xfrm>
            <a:off x="6197824" y="3851173"/>
            <a:ext cx="203177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+mj-lt"/>
                <a:ea typeface="+mj-ea"/>
              </a:rPr>
              <a:t>入射辐射率</a:t>
            </a:r>
            <a:endParaRPr lang="en-US" altLang="zh-CN" dirty="0">
              <a:latin typeface="+mj-lt"/>
              <a:ea typeface="+mj-ea"/>
            </a:endParaRPr>
          </a:p>
          <a:p>
            <a:r>
              <a:rPr lang="zh-CN" altLang="en-US" dirty="0">
                <a:latin typeface="+mj-lt"/>
                <a:ea typeface="+mj-ea"/>
              </a:rPr>
              <a:t>考虑递归</a:t>
            </a:r>
          </a:p>
        </p:txBody>
      </p:sp>
    </p:spTree>
    <p:extLst>
      <p:ext uri="{BB962C8B-B14F-4D97-AF65-F5344CB8AC3E}">
        <p14:creationId xmlns:p14="http://schemas.microsoft.com/office/powerpoint/2010/main" val="105716498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2EEEA81-8F4B-4EEE-B35A-F20E8FABDD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蒙特卡洛模拟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BBDF61A-F02F-4F68-A7E1-C6DA6D786E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2B89865-1FBA-468E-92A5-8B0D4EB23A4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1"/>
            <a:fld id="{79680411-0B18-4379-B88B-87C8A6F30E05}" type="slidenum">
              <a:rPr lang="es-ES" smtClean="0"/>
              <a:pPr lvl="1"/>
              <a:t>22</a:t>
            </a:fld>
            <a:endParaRPr lang="es-E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B61F9EC4-0587-4737-B876-CB5C47C740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2215342"/>
            <a:ext cx="4139636" cy="3329706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96936C8B-117D-4582-90D9-68E3051C53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5765" y="2169689"/>
            <a:ext cx="3491935" cy="3433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998493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路径跟踪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zh-CN" sz="2400" dirty="0"/>
          </a:p>
          <a:p>
            <a:endParaRPr lang="en-US" altLang="zh-CN" sz="2400" dirty="0"/>
          </a:p>
          <a:p>
            <a:endParaRPr lang="en-US" altLang="zh-CN" sz="2400" dirty="0"/>
          </a:p>
          <a:p>
            <a:endParaRPr lang="en-US" altLang="zh-CN" sz="2400" dirty="0"/>
          </a:p>
          <a:p>
            <a:endParaRPr lang="en-US" altLang="zh-CN" sz="2400" dirty="0"/>
          </a:p>
          <a:p>
            <a:pPr marL="0" indent="0">
              <a:buNone/>
            </a:pPr>
            <a:endParaRPr lang="en-US" altLang="zh-CN" sz="24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1"/>
            <a:fld id="{79680411-0B18-4379-B88B-87C8A6F30E05}" type="slidenum">
              <a:rPr lang="es-ES" smtClean="0"/>
              <a:pPr lvl="1"/>
              <a:t>23</a:t>
            </a:fld>
            <a:endParaRPr lang="es-E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BBE167AA-7EEB-430C-AC36-84F717E7C4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" y="2057400"/>
            <a:ext cx="6429657" cy="2889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694566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路径跟踪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zh-CN" sz="2400" dirty="0"/>
          </a:p>
          <a:p>
            <a:endParaRPr lang="en-US" altLang="zh-CN" sz="2400" dirty="0"/>
          </a:p>
          <a:p>
            <a:endParaRPr lang="en-US" altLang="zh-CN" sz="2400" dirty="0"/>
          </a:p>
          <a:p>
            <a:endParaRPr lang="en-US" altLang="zh-CN" sz="2400" dirty="0"/>
          </a:p>
          <a:p>
            <a:endParaRPr lang="en-US" altLang="zh-CN" sz="2400" dirty="0"/>
          </a:p>
          <a:p>
            <a:pPr marL="0" indent="0">
              <a:buNone/>
            </a:pPr>
            <a:endParaRPr lang="en-US" altLang="zh-CN" sz="24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1"/>
            <a:fld id="{79680411-0B18-4379-B88B-87C8A6F30E05}" type="slidenum">
              <a:rPr lang="es-ES" smtClean="0"/>
              <a:pPr lvl="1"/>
              <a:t>24</a:t>
            </a:fld>
            <a:endParaRPr lang="es-ES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CB0A393E-4701-4C36-B8BA-4B64548B201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40250"/>
          <a:stretch/>
        </p:blipFill>
        <p:spPr>
          <a:xfrm>
            <a:off x="914400" y="1550116"/>
            <a:ext cx="4721744" cy="2907584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42C2F80C-1806-4F66-B031-9FEA582D22F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59198"/>
          <a:stretch/>
        </p:blipFill>
        <p:spPr>
          <a:xfrm>
            <a:off x="914400" y="4572000"/>
            <a:ext cx="4721744" cy="1943100"/>
          </a:xfrm>
          <a:prstGeom prst="rect">
            <a:avLst/>
          </a:prstGeom>
        </p:spPr>
      </p:pic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F798739D-C027-421B-B897-2AE4834BA71A}"/>
              </a:ext>
            </a:extLst>
          </p:cNvPr>
          <p:cNvCxnSpPr/>
          <p:nvPr/>
        </p:nvCxnSpPr>
        <p:spPr bwMode="auto">
          <a:xfrm flipV="1">
            <a:off x="4114800" y="5029200"/>
            <a:ext cx="2209800" cy="1219200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triangle"/>
          </a:ln>
          <a:effectLst/>
        </p:spPr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13C4DFB7-9585-4882-8CCF-5A4A48ED8FD5}"/>
              </a:ext>
            </a:extLst>
          </p:cNvPr>
          <p:cNvSpPr txBox="1"/>
          <p:nvPr/>
        </p:nvSpPr>
        <p:spPr>
          <a:xfrm>
            <a:off x="6505444" y="4706034"/>
            <a:ext cx="203132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800" dirty="0">
                <a:latin typeface="+mj-ea"/>
                <a:ea typeface="+mj-ea"/>
              </a:rPr>
              <a:t>蒙特卡洛采样解决</a:t>
            </a:r>
            <a:endParaRPr lang="en-US" altLang="zh-CN" sz="1800" dirty="0">
              <a:latin typeface="+mj-ea"/>
              <a:ea typeface="+mj-ea"/>
            </a:endParaRPr>
          </a:p>
          <a:p>
            <a:r>
              <a:rPr lang="zh-CN" altLang="en-US" sz="1800" dirty="0">
                <a:latin typeface="+mj-ea"/>
                <a:ea typeface="+mj-ea"/>
              </a:rPr>
              <a:t>指数爆炸问题</a:t>
            </a:r>
          </a:p>
        </p:txBody>
      </p:sp>
    </p:spTree>
    <p:extLst>
      <p:ext uri="{BB962C8B-B14F-4D97-AF65-F5344CB8AC3E}">
        <p14:creationId xmlns:p14="http://schemas.microsoft.com/office/powerpoint/2010/main" val="73743956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Smallpt:99</a:t>
            </a:r>
            <a:r>
              <a:rPr lang="zh-CN" altLang="en-US" dirty="0"/>
              <a:t>行全局光照明代码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2400" dirty="0">
                <a:solidFill>
                  <a:schemeClr val="accent2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http://www.kevinbeason.com/smallpt/#moreinfo</a:t>
            </a:r>
            <a:endParaRPr lang="en-US" altLang="zh-CN" sz="2400" dirty="0">
              <a:solidFill>
                <a:schemeClr val="accent2"/>
              </a:solidFill>
            </a:endParaRPr>
          </a:p>
          <a:p>
            <a:endParaRPr lang="en-US" altLang="zh-CN" sz="2400" dirty="0">
              <a:solidFill>
                <a:schemeClr val="accent2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1"/>
            <a:fld id="{79680411-0B18-4379-B88B-87C8A6F30E05}" type="slidenum">
              <a:rPr lang="es-ES" smtClean="0"/>
              <a:pPr lvl="1"/>
              <a:t>25</a:t>
            </a:fld>
            <a:endParaRPr lang="es-E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6D082B2D-C944-4FE2-BB24-6520AC7DB3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6531" y="2068286"/>
            <a:ext cx="5870938" cy="4408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5813875"/>
      </p:ext>
    </p:extLst>
  </p:cSld>
  <p:clrMapOvr>
    <a:masterClrMapping/>
  </p:clrMapOvr>
</p:sld>
</file>

<file path=ppt/theme/theme1.xml><?xml version="1.0" encoding="utf-8"?>
<a:theme xmlns:a="http://schemas.openxmlformats.org/drawingml/2006/main" name="AngelICG02">
  <a:themeElements>
    <a:clrScheme name="AngelICG02 1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自定义 1">
      <a:majorFont>
        <a:latin typeface="Times New Roman"/>
        <a:ea typeface="楷体"/>
        <a:cs typeface=""/>
      </a:majorFont>
      <a:minorFont>
        <a:latin typeface="Times New Roman"/>
        <a:ea typeface="楷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square" lIns="91440" tIns="45720" rIns="91440" bIns="45720" numCol="1" anchor="ctr" anchorCtr="1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Times New Roman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square" lIns="91440" tIns="45720" rIns="91440" bIns="45720" numCol="1" anchor="ctr" anchorCtr="1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Times New Roman" charset="0"/>
          </a:defRPr>
        </a:defPPr>
      </a:lstStyle>
    </a:lnDef>
  </a:objectDefaults>
  <a:extraClrSchemeLst>
    <a:extraClrScheme>
      <a:clrScheme name="AngelICG02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ngelICG02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ngelICG02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ngelICG02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ngelICG02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ngelICG02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ngelICG02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C:\PPT\BOOK_LECTURE\AngelICG02.ppt</Template>
  <TotalTime>7398</TotalTime>
  <Words>960</Words>
  <Application>Microsoft Office PowerPoint</Application>
  <PresentationFormat>全屏显示(4:3)</PresentationFormat>
  <Paragraphs>169</Paragraphs>
  <Slides>25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25</vt:i4>
      </vt:variant>
    </vt:vector>
  </HeadingPairs>
  <TitlesOfParts>
    <vt:vector size="31" baseType="lpstr">
      <vt:lpstr>楷体</vt:lpstr>
      <vt:lpstr>Arial</vt:lpstr>
      <vt:lpstr>Cambria Math</vt:lpstr>
      <vt:lpstr>Times New Roman</vt:lpstr>
      <vt:lpstr>AngelICG02</vt:lpstr>
      <vt:lpstr>Image</vt:lpstr>
      <vt:lpstr>Introduction to  Computer Graphics</vt:lpstr>
      <vt:lpstr>光线跟踪</vt:lpstr>
      <vt:lpstr>空间加速结构</vt:lpstr>
      <vt:lpstr>均匀分割网格</vt:lpstr>
      <vt:lpstr>均匀分割网格</vt:lpstr>
      <vt:lpstr>Octree（八叉树）</vt:lpstr>
      <vt:lpstr>KD Tree</vt:lpstr>
      <vt:lpstr>BVH (Bounding Volume Hierarchy)</vt:lpstr>
      <vt:lpstr>抗锯齿</vt:lpstr>
      <vt:lpstr>Whitted-Style 方法的不足</vt:lpstr>
      <vt:lpstr>辐射度学</vt:lpstr>
      <vt:lpstr>辐照度和幅出度</vt:lpstr>
      <vt:lpstr>辐照度和幅出度</vt:lpstr>
      <vt:lpstr>用辐照度概念理解光衰减和距离的关系</vt:lpstr>
      <vt:lpstr>辐射强度</vt:lpstr>
      <vt:lpstr>辐射强度</vt:lpstr>
      <vt:lpstr>辐射率</vt:lpstr>
      <vt:lpstr>BRDF</vt:lpstr>
      <vt:lpstr>BRDF</vt:lpstr>
      <vt:lpstr>反射方程与渲染方程</vt:lpstr>
      <vt:lpstr>路径跟踪</vt:lpstr>
      <vt:lpstr>蒙特卡洛模拟</vt:lpstr>
      <vt:lpstr>路径跟踪</vt:lpstr>
      <vt:lpstr>路径跟踪</vt:lpstr>
      <vt:lpstr>Smallpt:99行全局光照明代码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ming</dc:creator>
  <cp:lastModifiedBy>test</cp:lastModifiedBy>
  <cp:revision>416</cp:revision>
  <dcterms:created xsi:type="dcterms:W3CDTF">2011-07-24T21:10:31Z</dcterms:created>
  <dcterms:modified xsi:type="dcterms:W3CDTF">2020-05-09T02:09:40Z</dcterms:modified>
</cp:coreProperties>
</file>