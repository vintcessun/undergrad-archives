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342" r:id="rId3"/>
    <p:sldId id="401" r:id="rId4"/>
    <p:sldId id="406" r:id="rId5"/>
    <p:sldId id="407" r:id="rId6"/>
    <p:sldId id="403" r:id="rId7"/>
    <p:sldId id="404" r:id="rId8"/>
    <p:sldId id="398" r:id="rId9"/>
    <p:sldId id="399" r:id="rId10"/>
    <p:sldId id="400" r:id="rId11"/>
    <p:sldId id="358" r:id="rId12"/>
    <p:sldId id="341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224A7D"/>
    <a:srgbClr val="00FF00"/>
    <a:srgbClr val="4171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6182" autoAdjust="0"/>
  </p:normalViewPr>
  <p:slideViewPr>
    <p:cSldViewPr snapToGrid="0">
      <p:cViewPr varScale="1">
        <p:scale>
          <a:sx n="82" d="100"/>
          <a:sy n="82" d="100"/>
        </p:scale>
        <p:origin x="10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899AB5-65EE-4BAD-A1C6-CE1AEEDE78F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9D4C2C-B2E8-48C4-9A1C-F85E2374B6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33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2338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251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8183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65099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048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48465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85282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https://www.jasondavies.com/animated-bezier/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8183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11392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99654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568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3805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606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979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546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695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486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5571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759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025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1434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6928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D3D21-EA33-4203-BE34-55D8A4400A9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31ACB-66F3-489D-8BB6-9FDD0213A07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7F0E336-246C-4B97-8F62-DAAFDFC83DD5}"/>
              </a:ext>
            </a:extLst>
          </p:cNvPr>
          <p:cNvCxnSpPr>
            <a:cxnSpLocks/>
          </p:cNvCxnSpPr>
          <p:nvPr userDrawn="1"/>
        </p:nvCxnSpPr>
        <p:spPr>
          <a:xfrm>
            <a:off x="3697356" y="3277319"/>
            <a:ext cx="4750905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 userDrawn="1"/>
        </p:nvSpPr>
        <p:spPr>
          <a:xfrm>
            <a:off x="3857896" y="2353989"/>
            <a:ext cx="43978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</a:t>
            </a:r>
            <a:endParaRPr lang="zh-CN" alt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占位符 20"/>
          <p:cNvSpPr>
            <a:spLocks noGrp="1"/>
          </p:cNvSpPr>
          <p:nvPr>
            <p:ph type="body" sz="quarter" idx="15" hasCustomPrompt="1"/>
          </p:nvPr>
        </p:nvSpPr>
        <p:spPr>
          <a:xfrm>
            <a:off x="3942190" y="3539116"/>
            <a:ext cx="4229240" cy="365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altLang="zh-CN" sz="2000" kern="1200" baseline="0" dirty="0" smtClean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altLang="zh-CN" dirty="0"/>
              <a:t>Speaker</a:t>
            </a:r>
            <a:endParaRPr lang="zh-CN" altLang="en-US" dirty="0"/>
          </a:p>
        </p:txBody>
      </p:sp>
      <p:sp>
        <p:nvSpPr>
          <p:cNvPr id="18" name="文本占位符 20"/>
          <p:cNvSpPr>
            <a:spLocks noGrp="1"/>
          </p:cNvSpPr>
          <p:nvPr>
            <p:ph type="body" sz="quarter" idx="16" hasCustomPrompt="1"/>
          </p:nvPr>
        </p:nvSpPr>
        <p:spPr>
          <a:xfrm>
            <a:off x="3319527" y="4018064"/>
            <a:ext cx="5474566" cy="365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altLang="zh-CN" sz="2000" kern="1200" baseline="0" dirty="0" smtClean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altLang="zh-CN" dirty="0"/>
              <a:t>Contact</a:t>
            </a:r>
            <a:endParaRPr lang="zh-CN" altLang="en-US" dirty="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1110DA11-B97D-47BC-A77E-A8202C06F4D5}"/>
              </a:ext>
            </a:extLst>
          </p:cNvPr>
          <p:cNvCxnSpPr>
            <a:cxnSpLocks/>
          </p:cNvCxnSpPr>
          <p:nvPr userDrawn="1"/>
        </p:nvCxnSpPr>
        <p:spPr>
          <a:xfrm>
            <a:off x="1113183" y="546370"/>
            <a:ext cx="9899374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占位符 20">
            <a:extLst>
              <a:ext uri="{FF2B5EF4-FFF2-40B4-BE49-F238E27FC236}">
                <a16:creationId xmlns:a16="http://schemas.microsoft.com/office/drawing/2014/main" id="{610C3C1F-1423-43F8-8F37-AD0BBF5633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13183" y="181200"/>
            <a:ext cx="9899374" cy="365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altLang="zh-CN" sz="2000" b="1" kern="1200" baseline="0" dirty="0" smtClean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altLang="zh-CN" dirty="0"/>
              <a:t>Main title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9334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FB4CB-BCA2-4E68-9E92-CDFFF06D944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6D861-6D59-4744-9365-9CBE4B5D2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3359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sondavies.com/animated-bezier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B4FFB78-B7F9-4404-BB0D-BFED2223CE5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DF6F0"/>
              </a:clrFrom>
              <a:clrTo>
                <a:srgbClr val="FDF6F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734"/>
          <a:stretch>
            <a:fillRect/>
          </a:stretch>
        </p:blipFill>
        <p:spPr>
          <a:xfrm>
            <a:off x="0" y="4176653"/>
            <a:ext cx="12207123" cy="2713052"/>
          </a:xfrm>
          <a:prstGeom prst="rect">
            <a:avLst/>
          </a:prstGeom>
        </p:spPr>
      </p:pic>
      <p:sp>
        <p:nvSpPr>
          <p:cNvPr id="8" name="文本占位符 4">
            <a:extLst>
              <a:ext uri="{FF2B5EF4-FFF2-40B4-BE49-F238E27FC236}">
                <a16:creationId xmlns:a16="http://schemas.microsoft.com/office/drawing/2014/main" id="{250EEC88-E847-46BE-B2C7-F02F40B70C1F}"/>
              </a:ext>
            </a:extLst>
          </p:cNvPr>
          <p:cNvSpPr>
            <a:spLocks noGrp="1"/>
          </p:cNvSpPr>
          <p:nvPr/>
        </p:nvSpPr>
        <p:spPr>
          <a:xfrm>
            <a:off x="1215876" y="2590191"/>
            <a:ext cx="9775370" cy="36517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zh-CN" sz="2000" kern="1200" baseline="0" dirty="0" smtClean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/>
              <a:t>计算机图形学实验</a:t>
            </a:r>
            <a:r>
              <a:rPr lang="en-US" altLang="zh-CN" sz="2400" b="1" dirty="0"/>
              <a:t>7</a:t>
            </a:r>
            <a:endParaRPr lang="en-US" altLang="zh-CN" sz="2400" dirty="0"/>
          </a:p>
          <a:p>
            <a:r>
              <a:rPr lang="en-US" altLang="zh-CN" sz="2400" dirty="0" err="1"/>
              <a:t>Bézier</a:t>
            </a:r>
            <a:r>
              <a:rPr lang="en-US" altLang="zh-CN" sz="2400" dirty="0"/>
              <a:t> Curve</a:t>
            </a:r>
            <a:endParaRPr lang="en-US" altLang="zh-CN" sz="2400" b="1" dirty="0"/>
          </a:p>
        </p:txBody>
      </p:sp>
      <p:sp>
        <p:nvSpPr>
          <p:cNvPr id="9" name="文本占位符 5">
            <a:extLst>
              <a:ext uri="{FF2B5EF4-FFF2-40B4-BE49-F238E27FC236}">
                <a16:creationId xmlns:a16="http://schemas.microsoft.com/office/drawing/2014/main" id="{06630738-B0B9-4E72-94D8-BBA975CE24BB}"/>
              </a:ext>
            </a:extLst>
          </p:cNvPr>
          <p:cNvSpPr>
            <a:spLocks noGrp="1"/>
          </p:cNvSpPr>
          <p:nvPr/>
        </p:nvSpPr>
        <p:spPr>
          <a:xfrm>
            <a:off x="3474400" y="1853210"/>
            <a:ext cx="5243195" cy="348409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11" name="文本占位符 8">
            <a:extLst>
              <a:ext uri="{FF2B5EF4-FFF2-40B4-BE49-F238E27FC236}">
                <a16:creationId xmlns:a16="http://schemas.microsoft.com/office/drawing/2014/main" id="{39041DB5-2215-4723-9FE5-BBB60616D39C}"/>
              </a:ext>
            </a:extLst>
          </p:cNvPr>
          <p:cNvSpPr>
            <a:spLocks noGrp="1"/>
          </p:cNvSpPr>
          <p:nvPr/>
        </p:nvSpPr>
        <p:spPr>
          <a:xfrm>
            <a:off x="1065417" y="4257555"/>
            <a:ext cx="10061163" cy="353406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13" name="文本占位符 5">
            <a:extLst>
              <a:ext uri="{FF2B5EF4-FFF2-40B4-BE49-F238E27FC236}">
                <a16:creationId xmlns:a16="http://schemas.microsoft.com/office/drawing/2014/main" id="{9E9E7FA8-1336-4B6A-A0BE-6946A01F3CA3}"/>
              </a:ext>
            </a:extLst>
          </p:cNvPr>
          <p:cNvSpPr>
            <a:spLocks noGrp="1"/>
          </p:cNvSpPr>
          <p:nvPr/>
        </p:nvSpPr>
        <p:spPr>
          <a:xfrm>
            <a:off x="3474401" y="1821098"/>
            <a:ext cx="5243195" cy="348409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0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03B6835-5394-48C9-B6AE-DB5608F0ED95}"/>
              </a:ext>
            </a:extLst>
          </p:cNvPr>
          <p:cNvSpPr/>
          <p:nvPr/>
        </p:nvSpPr>
        <p:spPr>
          <a:xfrm>
            <a:off x="573491" y="1067356"/>
            <a:ext cx="110707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Graphics</a:t>
            </a:r>
          </a:p>
        </p:txBody>
      </p:sp>
      <p:pic>
        <p:nvPicPr>
          <p:cNvPr id="1028" name="Picture 4" descr="https://www.xmu.edu.cn/images/logo2.png">
            <a:extLst>
              <a:ext uri="{FF2B5EF4-FFF2-40B4-BE49-F238E27FC236}">
                <a16:creationId xmlns:a16="http://schemas.microsoft.com/office/drawing/2014/main" id="{C0FB6A70-BF8A-4BD5-963D-3BB81FDDE2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8674" y="3807555"/>
            <a:ext cx="3133735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4608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2477E21-642D-4AAD-BE91-566069BD7AA1}"/>
              </a:ext>
            </a:extLst>
          </p:cNvPr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 err="1"/>
              <a:t>Bézier</a:t>
            </a:r>
            <a:r>
              <a:rPr lang="en-US" altLang="zh-CN" sz="3200" dirty="0"/>
              <a:t> Curve</a:t>
            </a:r>
            <a:endParaRPr lang="en-US" altLang="zh-CN" sz="32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855C3AC-CECC-4258-849D-788E6F9F8610}"/>
              </a:ext>
            </a:extLst>
          </p:cNvPr>
          <p:cNvSpPr txBox="1"/>
          <p:nvPr/>
        </p:nvSpPr>
        <p:spPr>
          <a:xfrm>
            <a:off x="1055685" y="1708648"/>
            <a:ext cx="9765552" cy="2792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过往内容回顾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Whitted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Style 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光线跟踪算法实现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2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本次实验说明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实现贝塞尔曲线、曲面生成算法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</a:t>
            </a:r>
            <a:r>
              <a:rPr lang="zh-CN" altLang="en-US" sz="2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作业提交说明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892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CA13F53-980D-4A6B-A0B9-75B107F9A87F}"/>
              </a:ext>
            </a:extLst>
          </p:cNvPr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上节实验内容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C232D3E-AD1B-4E70-9122-24EC012985C7}"/>
              </a:ext>
            </a:extLst>
          </p:cNvPr>
          <p:cNvSpPr txBox="1"/>
          <p:nvPr/>
        </p:nvSpPr>
        <p:spPr>
          <a:xfrm>
            <a:off x="1110864" y="1535227"/>
            <a:ext cx="9765552" cy="4835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cs typeface="Times New Roman" panose="02020603050405020304" pitchFamily="18" charset="0"/>
              </a:rPr>
              <a:t>阅读资料：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cs typeface="Times New Roman" panose="02020603050405020304" pitchFamily="18" charset="0"/>
              </a:rPr>
              <a:t>1</a:t>
            </a:r>
            <a:r>
              <a:rPr lang="zh-CN" altLang="en-US" sz="2400" kern="100" dirty="0">
                <a:cs typeface="Times New Roman" panose="02020603050405020304" pitchFamily="18" charset="0"/>
              </a:rPr>
              <a:t>）课件：</a:t>
            </a:r>
            <a:r>
              <a:rPr lang="en-US" altLang="zh-CN" sz="2400" kern="100" dirty="0">
                <a:cs typeface="Times New Roman" panose="02020603050405020304" pitchFamily="18" charset="0"/>
              </a:rPr>
              <a:t>《L7 Ray Tracing》</a:t>
            </a:r>
            <a:endParaRPr lang="en-US" altLang="zh-CN" sz="2400" dirty="0"/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任务要求：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    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阅读课件，利用</a:t>
            </a: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Eigen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库，在相应的函数下填空，实现以下任务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：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生成光线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实现阴影效果、镜面反射、折射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附加题：</a:t>
            </a:r>
            <a:r>
              <a:rPr lang="zh-CN" altLang="en-US" sz="2000" b="1" dirty="0"/>
              <a:t>在此代码基础上，生成一段小球从天而降的动画，可以考虑加入运动模糊、软阴影效果，小球弹跳符合物理规律。（根据实现情况，期末最终的实验成绩可以*</a:t>
            </a:r>
            <a:r>
              <a:rPr lang="en-US" altLang="zh-CN" sz="2000" b="1" dirty="0"/>
              <a:t>1.05~1.1</a:t>
            </a:r>
            <a:r>
              <a:rPr lang="zh-CN" altLang="en-US" sz="2000" b="1" dirty="0"/>
              <a:t>）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2522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CA13F53-980D-4A6B-A0B9-75B107F9A87F}"/>
              </a:ext>
            </a:extLst>
          </p:cNvPr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光线跟踪算法框架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CABA511-C36B-46A2-93FC-2FCC87173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428" y="1584520"/>
            <a:ext cx="8257143" cy="48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542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CA13F53-980D-4A6B-A0B9-75B107F9A87F}"/>
              </a:ext>
            </a:extLst>
          </p:cNvPr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生成光线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7D1D3CB-A82E-47FB-BEC3-B78C31A2C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7791" y="2518232"/>
            <a:ext cx="7558840" cy="396921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713D1FA-1E8C-4637-9892-E90D0B1980F6}"/>
              </a:ext>
            </a:extLst>
          </p:cNvPr>
          <p:cNvSpPr txBox="1"/>
          <p:nvPr/>
        </p:nvSpPr>
        <p:spPr>
          <a:xfrm>
            <a:off x="568639" y="1224915"/>
            <a:ext cx="10935501" cy="113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cs typeface="Times New Roman" panose="02020603050405020304" pitchFamily="18" charset="0"/>
              </a:rPr>
              <a:t>给定相机中心，成像平面左下角，成像平面竖直方向，成像平面水平方向</a:t>
            </a:r>
            <a:endParaRPr lang="en-US" altLang="zh-CN" sz="2400" kern="100" dirty="0"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cs typeface="Times New Roman" panose="02020603050405020304" pitchFamily="18" charset="0"/>
              </a:rPr>
              <a:t>根据对应的宽高比例将原代码中的</a:t>
            </a:r>
            <a:r>
              <a:rPr lang="en-US" altLang="zh-CN" sz="2400" kern="100" dirty="0">
                <a:cs typeface="Times New Roman" panose="02020603050405020304" pitchFamily="18" charset="0"/>
              </a:rPr>
              <a:t>0.5</a:t>
            </a:r>
            <a:r>
              <a:rPr lang="zh-CN" altLang="en-US" sz="2400" kern="100" dirty="0">
                <a:cs typeface="Times New Roman" panose="02020603050405020304" pitchFamily="18" charset="0"/>
              </a:rPr>
              <a:t>修改成</a:t>
            </a:r>
            <a:r>
              <a:rPr lang="en-US" altLang="zh-CN" sz="2400" kern="100" dirty="0">
                <a:cs typeface="Times New Roman" panose="02020603050405020304" pitchFamily="18" charset="0"/>
              </a:rPr>
              <a:t>u</a:t>
            </a:r>
            <a:r>
              <a:rPr lang="zh-CN" altLang="en-US" sz="2400" kern="100" dirty="0">
                <a:cs typeface="Times New Roman" panose="02020603050405020304" pitchFamily="18" charset="0"/>
              </a:rPr>
              <a:t>和</a:t>
            </a:r>
            <a:r>
              <a:rPr lang="en-US" altLang="zh-CN" sz="2400" kern="100" dirty="0">
                <a:cs typeface="Times New Roman" panose="02020603050405020304" pitchFamily="18" charset="0"/>
              </a:rPr>
              <a:t>v</a:t>
            </a:r>
            <a:r>
              <a:rPr lang="zh-CN" altLang="en-US" sz="2400" kern="100" dirty="0">
                <a:cs typeface="Times New Roman" panose="02020603050405020304" pitchFamily="18" charset="0"/>
              </a:rPr>
              <a:t>就可以获得正确的光线方向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314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CA13F53-980D-4A6B-A0B9-75B107F9A87F}"/>
              </a:ext>
            </a:extLst>
          </p:cNvPr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阴影效果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C232D3E-AD1B-4E70-9122-24EC012985C7}"/>
              </a:ext>
            </a:extLst>
          </p:cNvPr>
          <p:cNvSpPr txBox="1"/>
          <p:nvPr/>
        </p:nvSpPr>
        <p:spPr>
          <a:xfrm>
            <a:off x="1110864" y="1535227"/>
            <a:ext cx="9765552" cy="1128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cs typeface="Times New Roman" panose="02020603050405020304" pitchFamily="18" charset="0"/>
              </a:rPr>
              <a:t>要判断是否为阴影光线只需要将光线在物体上的交点和光源相连接，之后判断这条连线是否和其他物体相交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B7F6CD4-73C0-40EA-89CE-DDCC9488E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171" y="2847425"/>
            <a:ext cx="7169658" cy="37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974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CA13F53-980D-4A6B-A0B9-75B107F9A87F}"/>
              </a:ext>
            </a:extLst>
          </p:cNvPr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 err="1"/>
              <a:t>Whitted</a:t>
            </a:r>
            <a:r>
              <a:rPr lang="zh-CN" altLang="en-US" sz="3200" dirty="0"/>
              <a:t>着色模型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4290D5A-B509-4E4F-938E-8D499A497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857" y="2080145"/>
            <a:ext cx="9114286" cy="36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413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CA13F53-980D-4A6B-A0B9-75B107F9A87F}"/>
              </a:ext>
            </a:extLst>
          </p:cNvPr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本节实验内容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C232D3E-AD1B-4E70-9122-24EC012985C7}"/>
              </a:ext>
            </a:extLst>
          </p:cNvPr>
          <p:cNvSpPr txBox="1"/>
          <p:nvPr/>
        </p:nvSpPr>
        <p:spPr>
          <a:xfrm>
            <a:off x="1110864" y="1535227"/>
            <a:ext cx="9765552" cy="2790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cs typeface="Times New Roman" panose="02020603050405020304" pitchFamily="18" charset="0"/>
              </a:rPr>
              <a:t>阅读资料：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kern="100" dirty="0">
                <a:cs typeface="Times New Roman" panose="02020603050405020304" pitchFamily="18" charset="0"/>
              </a:rPr>
              <a:t>	</a:t>
            </a:r>
            <a:r>
              <a:rPr lang="zh-CN" altLang="en-US" sz="2400" kern="100" dirty="0"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cs typeface="Times New Roman" panose="02020603050405020304" pitchFamily="18" charset="0"/>
              </a:rPr>
              <a:t>1</a:t>
            </a:r>
            <a:r>
              <a:rPr lang="zh-CN" altLang="en-US" sz="2400" kern="100" dirty="0">
                <a:cs typeface="Times New Roman" panose="02020603050405020304" pitchFamily="18" charset="0"/>
              </a:rPr>
              <a:t>）课件：</a:t>
            </a:r>
            <a:r>
              <a:rPr lang="en-US" altLang="zh-CN" sz="2400" kern="100" dirty="0">
                <a:cs typeface="Times New Roman" panose="02020603050405020304" pitchFamily="18" charset="0"/>
              </a:rPr>
              <a:t>《L8 Geometry》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kern="100" dirty="0">
                <a:cs typeface="Times New Roman" panose="02020603050405020304" pitchFamily="18" charset="0"/>
              </a:rPr>
              <a:t>	</a:t>
            </a:r>
            <a:r>
              <a:rPr lang="zh-CN" altLang="en-US" sz="2400" kern="100" dirty="0"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cs typeface="Times New Roman" panose="02020603050405020304" pitchFamily="18" charset="0"/>
              </a:rPr>
              <a:t>2</a:t>
            </a:r>
            <a:r>
              <a:rPr lang="zh-CN" altLang="en-US" sz="2400" kern="100" dirty="0">
                <a:cs typeface="Times New Roman" panose="02020603050405020304" pitchFamily="18" charset="0"/>
              </a:rPr>
              <a:t>）</a:t>
            </a:r>
            <a:r>
              <a:rPr lang="en-US" altLang="zh-CN" sz="2400" b="1" u="sng" kern="100" dirty="0" err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贝塞尔曲线</a:t>
            </a:r>
            <a:endParaRPr lang="en-US" altLang="zh-CN" sz="2400" dirty="0"/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任务要求：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kern="100" dirty="0">
                <a:latin typeface="+mj-lt"/>
                <a:cs typeface="Times New Roman" panose="02020603050405020304" pitchFamily="18" charset="0"/>
              </a:rPr>
              <a:t>	</a:t>
            </a:r>
            <a:r>
              <a:rPr lang="zh-CN" altLang="en-US" sz="2400" kern="100" dirty="0">
                <a:latin typeface="+mj-lt"/>
                <a:cs typeface="Times New Roman" panose="02020603050405020304" pitchFamily="18" charset="0"/>
              </a:rPr>
              <a:t>掌握贝塞尔曲线和曲面的生成算法</a:t>
            </a:r>
            <a:endParaRPr lang="en-US" altLang="zh-CN" sz="2400" kern="100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3647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CA13F53-980D-4A6B-A0B9-75B107F9A87F}"/>
              </a:ext>
            </a:extLst>
          </p:cNvPr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实现贝塞尔曲线生成算法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C232D3E-AD1B-4E70-9122-24EC012985C7}"/>
              </a:ext>
            </a:extLst>
          </p:cNvPr>
          <p:cNvSpPr txBox="1"/>
          <p:nvPr/>
        </p:nvSpPr>
        <p:spPr>
          <a:xfrm>
            <a:off x="1110864" y="1535227"/>
            <a:ext cx="9765552" cy="4452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kern="100" dirty="0">
                <a:cs typeface="Times New Roman" panose="02020603050405020304" pitchFamily="18" charset="0"/>
              </a:rPr>
              <a:t>自行设置</a:t>
            </a:r>
            <a:r>
              <a:rPr lang="en-US" altLang="zh-CN" sz="2400" kern="100" dirty="0">
                <a:cs typeface="Times New Roman" panose="02020603050405020304" pitchFamily="18" charset="0"/>
              </a:rPr>
              <a:t>3</a:t>
            </a:r>
            <a:r>
              <a:rPr lang="zh-CN" altLang="en-US" sz="2400" kern="100" dirty="0">
                <a:cs typeface="Times New Roman" panose="02020603050405020304" pitchFamily="18" charset="0"/>
              </a:rPr>
              <a:t>个控制点，利用</a:t>
            </a:r>
            <a:r>
              <a:rPr lang="en-US" altLang="zh-CN" sz="2400" kern="100" dirty="0">
                <a:cs typeface="Times New Roman" panose="02020603050405020304" pitchFamily="18" charset="0"/>
              </a:rPr>
              <a:t>de </a:t>
            </a:r>
            <a:r>
              <a:rPr lang="en-US" altLang="zh-CN" sz="2400" kern="100" dirty="0" err="1">
                <a:cs typeface="Times New Roman" panose="02020603050405020304" pitchFamily="18" charset="0"/>
              </a:rPr>
              <a:t>Casteljau</a:t>
            </a:r>
            <a:r>
              <a:rPr lang="zh-CN" altLang="en-US" sz="2400" kern="100" dirty="0">
                <a:cs typeface="Times New Roman" panose="02020603050405020304" pitchFamily="18" charset="0"/>
              </a:rPr>
              <a:t>算法生成贝塞尔曲线。要求生成曲线形成过程的</a:t>
            </a:r>
            <a:r>
              <a:rPr lang="zh-CN" altLang="en-US" sz="2400" b="1" u="sng" kern="100" dirty="0">
                <a:solidFill>
                  <a:srgbClr val="FFC000"/>
                </a:solidFill>
                <a:cs typeface="Times New Roman" panose="02020603050405020304" pitchFamily="18" charset="0"/>
              </a:rPr>
              <a:t>动画</a:t>
            </a:r>
            <a:r>
              <a:rPr lang="zh-CN" altLang="en-US" sz="2400" kern="100" dirty="0">
                <a:cs typeface="Times New Roman" panose="02020603050405020304" pitchFamily="18" charset="0"/>
              </a:rPr>
              <a:t>。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kern="100" dirty="0">
                <a:cs typeface="Times New Roman" panose="02020603050405020304" pitchFamily="18" charset="0"/>
              </a:rPr>
              <a:t>在上述基础上，分别增加控制点数为</a:t>
            </a:r>
            <a:r>
              <a:rPr lang="en-US" altLang="zh-CN" sz="2400" kern="100" dirty="0">
                <a:cs typeface="Times New Roman" panose="02020603050405020304" pitchFamily="18" charset="0"/>
              </a:rPr>
              <a:t>4</a:t>
            </a:r>
            <a:r>
              <a:rPr lang="zh-CN" altLang="en-US" sz="2400" kern="100" dirty="0">
                <a:cs typeface="Times New Roman" panose="02020603050405020304" pitchFamily="18" charset="0"/>
              </a:rPr>
              <a:t>、</a:t>
            </a:r>
            <a:r>
              <a:rPr lang="en-US" altLang="zh-CN" sz="2400" kern="100" dirty="0">
                <a:cs typeface="Times New Roman" panose="02020603050405020304" pitchFamily="18" charset="0"/>
              </a:rPr>
              <a:t>5</a:t>
            </a:r>
            <a:r>
              <a:rPr lang="zh-CN" altLang="en-US" sz="2400" kern="100" dirty="0">
                <a:cs typeface="Times New Roman" panose="02020603050405020304" pitchFamily="18" charset="0"/>
              </a:rPr>
              <a:t>、</a:t>
            </a:r>
            <a:r>
              <a:rPr lang="en-US" altLang="zh-CN" sz="2400" kern="100" dirty="0">
                <a:cs typeface="Times New Roman" panose="02020603050405020304" pitchFamily="18" charset="0"/>
              </a:rPr>
              <a:t>6</a:t>
            </a:r>
            <a:r>
              <a:rPr lang="zh-CN" altLang="en-US" sz="2400" kern="100" dirty="0">
                <a:cs typeface="Times New Roman" panose="02020603050405020304" pitchFamily="18" charset="0"/>
              </a:rPr>
              <a:t>、</a:t>
            </a:r>
            <a:r>
              <a:rPr lang="en-US" altLang="zh-CN" sz="2400" kern="100" dirty="0">
                <a:cs typeface="Times New Roman" panose="02020603050405020304" pitchFamily="18" charset="0"/>
              </a:rPr>
              <a:t>7</a:t>
            </a:r>
            <a:r>
              <a:rPr lang="zh-CN" altLang="en-US" sz="2400" kern="100" dirty="0">
                <a:cs typeface="Times New Roman" panose="02020603050405020304" pitchFamily="18" charset="0"/>
              </a:rPr>
              <a:t>、</a:t>
            </a:r>
            <a:r>
              <a:rPr lang="en-US" altLang="zh-CN" sz="2400" kern="100" dirty="0">
                <a:cs typeface="Times New Roman" panose="02020603050405020304" pitchFamily="18" charset="0"/>
              </a:rPr>
              <a:t>8</a:t>
            </a:r>
            <a:r>
              <a:rPr lang="zh-CN" altLang="en-US" sz="2400" kern="100" dirty="0">
                <a:cs typeface="Times New Roman" panose="02020603050405020304" pitchFamily="18" charset="0"/>
              </a:rPr>
              <a:t>，并生成相应的曲线形成</a:t>
            </a:r>
            <a:r>
              <a:rPr lang="zh-CN" altLang="en-US" sz="2400" b="1" u="sng" kern="100" dirty="0">
                <a:solidFill>
                  <a:srgbClr val="FFC000"/>
                </a:solidFill>
                <a:cs typeface="Times New Roman" panose="02020603050405020304" pitchFamily="18" charset="0"/>
              </a:rPr>
              <a:t>动画</a:t>
            </a:r>
            <a:r>
              <a:rPr lang="zh-CN" altLang="en-US" sz="2400" kern="100" dirty="0">
                <a:cs typeface="Times New Roman" panose="02020603050405020304" pitchFamily="18" charset="0"/>
              </a:rPr>
              <a:t>。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kern="100" dirty="0">
                <a:cs typeface="Times New Roman" panose="02020603050405020304" pitchFamily="18" charset="0"/>
              </a:rPr>
              <a:t>自行完善功能，例如提供控制点的选取或移动功能。</a:t>
            </a:r>
            <a:endParaRPr lang="en-US" altLang="zh-CN" sz="2400" kern="100" dirty="0"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endParaRPr lang="en-US" altLang="zh-CN" sz="2400" kern="100" dirty="0"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说明：仅能使用</a:t>
            </a:r>
            <a:r>
              <a:rPr lang="en-US" altLang="zh-CN" sz="2400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OpenGL</a:t>
            </a:r>
            <a:r>
              <a:rPr lang="zh-CN" altLang="en-US" sz="2400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的画点和画线功能，不能直接调用其贝塞尔曲线生成功能。</a:t>
            </a:r>
          </a:p>
        </p:txBody>
      </p:sp>
    </p:spTree>
    <p:extLst>
      <p:ext uri="{BB962C8B-B14F-4D97-AF65-F5344CB8AC3E}">
        <p14:creationId xmlns:p14="http://schemas.microsoft.com/office/powerpoint/2010/main" val="3617786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CA13F53-980D-4A6B-A0B9-75B107F9A87F}"/>
              </a:ext>
            </a:extLst>
          </p:cNvPr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实现贝塞尔曲面生成算法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C232D3E-AD1B-4E70-9122-24EC012985C7}"/>
              </a:ext>
            </a:extLst>
          </p:cNvPr>
          <p:cNvSpPr txBox="1"/>
          <p:nvPr/>
        </p:nvSpPr>
        <p:spPr>
          <a:xfrm>
            <a:off x="1110864" y="1535227"/>
            <a:ext cx="9765552" cy="4452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kern="100" dirty="0">
                <a:cs typeface="Times New Roman" panose="02020603050405020304" pitchFamily="18" charset="0"/>
              </a:rPr>
              <a:t>自行设置</a:t>
            </a:r>
            <a:r>
              <a:rPr lang="en-US" altLang="zh-CN" sz="2400" kern="100" dirty="0">
                <a:cs typeface="Times New Roman" panose="02020603050405020304" pitchFamily="18" charset="0"/>
              </a:rPr>
              <a:t>3*3</a:t>
            </a:r>
            <a:r>
              <a:rPr lang="zh-CN" altLang="en-US" sz="2400" kern="100" dirty="0">
                <a:cs typeface="Times New Roman" panose="02020603050405020304" pitchFamily="18" charset="0"/>
              </a:rPr>
              <a:t>个控制点，利用</a:t>
            </a:r>
            <a:r>
              <a:rPr lang="en-US" altLang="zh-CN" sz="2400" kern="100" dirty="0">
                <a:cs typeface="Times New Roman" panose="02020603050405020304" pitchFamily="18" charset="0"/>
              </a:rPr>
              <a:t>de </a:t>
            </a:r>
            <a:r>
              <a:rPr lang="en-US" altLang="zh-CN" sz="2400" kern="100" dirty="0" err="1">
                <a:cs typeface="Times New Roman" panose="02020603050405020304" pitchFamily="18" charset="0"/>
              </a:rPr>
              <a:t>Casteljau</a:t>
            </a:r>
            <a:r>
              <a:rPr lang="zh-CN" altLang="en-US" sz="2400" kern="100" dirty="0">
                <a:cs typeface="Times New Roman" panose="02020603050405020304" pitchFamily="18" charset="0"/>
              </a:rPr>
              <a:t>算法生成贝塞尔曲面。要求生成曲面形成过程的</a:t>
            </a:r>
            <a:r>
              <a:rPr lang="zh-CN" altLang="en-US" sz="2400" b="1" u="sng" kern="100" dirty="0">
                <a:solidFill>
                  <a:srgbClr val="FFC000"/>
                </a:solidFill>
                <a:cs typeface="Times New Roman" panose="02020603050405020304" pitchFamily="18" charset="0"/>
              </a:rPr>
              <a:t>动画</a:t>
            </a:r>
            <a:r>
              <a:rPr lang="zh-CN" altLang="en-US" sz="2400" kern="100" dirty="0">
                <a:cs typeface="Times New Roman" panose="02020603050405020304" pitchFamily="18" charset="0"/>
              </a:rPr>
              <a:t>。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kern="100" dirty="0">
                <a:cs typeface="Times New Roman" panose="02020603050405020304" pitchFamily="18" charset="0"/>
              </a:rPr>
              <a:t>在上述基础上，分别增加控制点数为</a:t>
            </a:r>
            <a:r>
              <a:rPr lang="en-US" altLang="zh-CN" sz="2400" kern="100" dirty="0">
                <a:cs typeface="Times New Roman" panose="02020603050405020304" pitchFamily="18" charset="0"/>
              </a:rPr>
              <a:t>4*4</a:t>
            </a:r>
            <a:r>
              <a:rPr lang="zh-CN" altLang="en-US" sz="2400" kern="100" dirty="0">
                <a:cs typeface="Times New Roman" panose="02020603050405020304" pitchFamily="18" charset="0"/>
              </a:rPr>
              <a:t>、</a:t>
            </a:r>
            <a:r>
              <a:rPr lang="en-US" altLang="zh-CN" sz="2400" kern="100" dirty="0">
                <a:cs typeface="Times New Roman" panose="02020603050405020304" pitchFamily="18" charset="0"/>
              </a:rPr>
              <a:t>5*5</a:t>
            </a:r>
            <a:r>
              <a:rPr lang="zh-CN" altLang="en-US" sz="2400" kern="100" dirty="0">
                <a:cs typeface="Times New Roman" panose="02020603050405020304" pitchFamily="18" charset="0"/>
              </a:rPr>
              <a:t>并生成相应的曲面形成</a:t>
            </a:r>
            <a:r>
              <a:rPr lang="zh-CN" altLang="en-US" sz="2400" b="1" u="sng" kern="100" dirty="0">
                <a:solidFill>
                  <a:srgbClr val="FFC000"/>
                </a:solidFill>
                <a:cs typeface="Times New Roman" panose="02020603050405020304" pitchFamily="18" charset="0"/>
              </a:rPr>
              <a:t>动画</a:t>
            </a:r>
            <a:r>
              <a:rPr lang="zh-CN" altLang="en-US" sz="2400" kern="100" dirty="0">
                <a:cs typeface="Times New Roman" panose="02020603050405020304" pitchFamily="18" charset="0"/>
              </a:rPr>
              <a:t>。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kern="100" dirty="0">
                <a:cs typeface="Times New Roman" panose="02020603050405020304" pitchFamily="18" charset="0"/>
              </a:rPr>
              <a:t>自行完善功能，例如提供控制点的选取或移动功能；改善生成图形美观程度。</a:t>
            </a:r>
            <a:endParaRPr lang="en-US" altLang="zh-CN" sz="2400" kern="100" dirty="0"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说明：仅能使用</a:t>
            </a:r>
            <a:r>
              <a:rPr lang="en-US" altLang="zh-CN" sz="2400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OpenGL</a:t>
            </a:r>
            <a:r>
              <a:rPr lang="zh-CN" altLang="en-US" sz="2400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的画点、画线和画面功能，不能直接调用其贝塞尔曲面生成功能。</a:t>
            </a:r>
          </a:p>
        </p:txBody>
      </p:sp>
    </p:spTree>
    <p:extLst>
      <p:ext uri="{BB962C8B-B14F-4D97-AF65-F5344CB8AC3E}">
        <p14:creationId xmlns:p14="http://schemas.microsoft.com/office/powerpoint/2010/main" val="3783354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E4A4680-BECE-4315-A245-EB9B0268C84C}"/>
              </a:ext>
            </a:extLst>
          </p:cNvPr>
          <p:cNvSpPr txBox="1"/>
          <p:nvPr/>
        </p:nvSpPr>
        <p:spPr>
          <a:xfrm>
            <a:off x="1055685" y="1708648"/>
            <a:ext cx="5937397" cy="4454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本次实验</a:t>
            </a:r>
            <a:r>
              <a:rPr lang="en-US" altLang="zh-CN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都需要提交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提交方式为：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将代码源文件、可执行文件、实验报告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放到一个文件夹中，文件夹命名格式为：学号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姓名，压缩后上传到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ftp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服务器中相应目录下（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上传作业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曾鸣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/2026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图形学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）。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本次实验作业的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提交截止日期为两周后的周末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6.21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）。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所有作业须在此前提交。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697FC55-0D5A-445E-9BFA-99FD23001A90}"/>
              </a:ext>
            </a:extLst>
          </p:cNvPr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作业提交说明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0206A24-4144-4EEB-A23F-F4D53B776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739" y="2300461"/>
            <a:ext cx="4292023" cy="273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16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7409DC88-AB3A-44FF-9775-932E36BB6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>
                <a:latin typeface="+mj-ea"/>
              </a:rPr>
              <a:t>计算机图形学实验</a:t>
            </a:r>
            <a:r>
              <a:rPr lang="en-US" altLang="zh-CN" dirty="0">
                <a:latin typeface="+mj-ea"/>
              </a:rPr>
              <a:t>7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075C395-3A29-41A4-8ED7-878DD354B6C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DF6F0"/>
              </a:clrFrom>
              <a:clrTo>
                <a:srgbClr val="FDF6F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734"/>
          <a:stretch>
            <a:fillRect/>
          </a:stretch>
        </p:blipFill>
        <p:spPr>
          <a:xfrm>
            <a:off x="0" y="4144948"/>
            <a:ext cx="12207123" cy="2713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629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22296</TotalTime>
  <Words>563</Words>
  <Application>Microsoft Office PowerPoint</Application>
  <PresentationFormat>宽屏</PresentationFormat>
  <Paragraphs>58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等线</vt:lpstr>
      <vt:lpstr>宋体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Face Alignment meets Reconstruction</dc:title>
  <dc:creator>Yinglin Zheng (FA Talent)</dc:creator>
  <cp:lastModifiedBy>义生 庄</cp:lastModifiedBy>
  <cp:revision>1241</cp:revision>
  <dcterms:created xsi:type="dcterms:W3CDTF">2019-10-10T05:31:56Z</dcterms:created>
  <dcterms:modified xsi:type="dcterms:W3CDTF">2026-06-03T07:19:48Z</dcterms:modified>
</cp:coreProperties>
</file>