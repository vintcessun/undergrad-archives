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42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398" r:id="rId16"/>
    <p:sldId id="358" r:id="rId17"/>
    <p:sldId id="34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4A7D"/>
    <a:srgbClr val="00FF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80550" autoAdjust="0"/>
  </p:normalViewPr>
  <p:slideViewPr>
    <p:cSldViewPr snapToGrid="0">
      <p:cViewPr varScale="1">
        <p:scale>
          <a:sx n="81" d="100"/>
          <a:sy n="81" d="100"/>
        </p:scale>
        <p:origin x="13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899AB5-65EE-4BAD-A1C6-CE1AEEDE7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igen.tuxfamily.org/dox-3.3/group__QuickRefPage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80237903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课件上有相应的变换矩阵，希望同学们自行推导，掌握了以后编写实验代码</a:t>
            </a:r>
            <a:endParaRPr lang="en-US" altLang="zh-CN" dirty="0"/>
          </a:p>
          <a:p>
            <a:r>
              <a:rPr lang="en-US" altLang="zh-CN" sz="1200" dirty="0">
                <a:hlinkClick r:id="rId3"/>
              </a:rPr>
              <a:t>Eigen: Quick reference guide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linkClick r:id="rId3"/>
              </a:rPr>
              <a:t>绕任意轴旋转的两种方法简单推导 </a:t>
            </a:r>
            <a:r>
              <a:rPr lang="en-US" altLang="zh-CN" dirty="0">
                <a:hlinkClick r:id="rId3"/>
              </a:rPr>
              <a:t>- </a:t>
            </a:r>
            <a:r>
              <a:rPr lang="zh-CN" altLang="en-US" dirty="0">
                <a:hlinkClick r:id="rId3"/>
              </a:rPr>
              <a:t>知乎 </a:t>
            </a:r>
            <a:r>
              <a:rPr lang="en-US" altLang="zh-CN" dirty="0">
                <a:hlinkClick r:id="rId3"/>
              </a:rPr>
              <a:t>(zhihu.com)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D4C2C-B2E8-48C4-9A1C-F85E2374B6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D3D21-EA33-4203-BE34-55D8A4400A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31ACB-66F3-489D-8BB6-9FDD0213A07A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3697356" y="3277319"/>
            <a:ext cx="47509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 userDrawn="1"/>
        </p:nvSpPr>
        <p:spPr>
          <a:xfrm>
            <a:off x="3857896" y="2353989"/>
            <a:ext cx="4397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Thanks</a:t>
            </a:r>
            <a:endParaRPr lang="zh-CN" altLang="en-US" sz="5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文本占位符 20"/>
          <p:cNvSpPr>
            <a:spLocks noGrp="1"/>
          </p:cNvSpPr>
          <p:nvPr>
            <p:ph type="body" sz="quarter" idx="15" hasCustomPrompt="1"/>
          </p:nvPr>
        </p:nvSpPr>
        <p:spPr>
          <a:xfrm>
            <a:off x="3942190" y="3539116"/>
            <a:ext cx="4229240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Speaker</a:t>
            </a:r>
            <a:endParaRPr lang="zh-CN" altLang="en-US" dirty="0"/>
          </a:p>
        </p:txBody>
      </p:sp>
      <p:sp>
        <p:nvSpPr>
          <p:cNvPr id="18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3319527" y="4018064"/>
            <a:ext cx="5474566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Contact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113183" y="546370"/>
            <a:ext cx="9899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占位符 20"/>
          <p:cNvSpPr>
            <a:spLocks noGrp="1"/>
          </p:cNvSpPr>
          <p:nvPr>
            <p:ph type="body" sz="quarter" idx="14" hasCustomPrompt="1"/>
          </p:nvPr>
        </p:nvSpPr>
        <p:spPr>
          <a:xfrm>
            <a:off x="1113183" y="181200"/>
            <a:ext cx="9899374" cy="365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zh-CN" sz="2000" b="1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en-US" altLang="zh-CN" dirty="0"/>
              <a:t>Main title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FB4CB-BCA2-4E68-9E92-CDFFF06D94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D861-6D59-4744-9365-9CBE4B5D2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eigen.tuxfamily.org/dox-3.3/group__QuickRefPage.html" TargetMode="External"/><Relationship Id="rId1" Type="http://schemas.openxmlformats.org/officeDocument/2006/relationships/hyperlink" Target="https://zhuanlan.zhihu.com/p/293023673" TargetMode="Externa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76653"/>
            <a:ext cx="12207123" cy="2713052"/>
          </a:xfrm>
          <a:prstGeom prst="rect">
            <a:avLst/>
          </a:prstGeom>
        </p:spPr>
      </p:pic>
      <p:sp>
        <p:nvSpPr>
          <p:cNvPr id="8" name="文本占位符 4"/>
          <p:cNvSpPr>
            <a:spLocks noGrp="1"/>
          </p:cNvSpPr>
          <p:nvPr/>
        </p:nvSpPr>
        <p:spPr>
          <a:xfrm>
            <a:off x="1215876" y="2590191"/>
            <a:ext cx="9775370" cy="36517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en-US" altLang="zh-CN" sz="2000" kern="1200" baseline="0" dirty="0" smtClean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计算机图形学实验</a:t>
            </a:r>
            <a:r>
              <a:rPr lang="en-US" altLang="zh-CN" sz="2400" b="1" dirty="0"/>
              <a:t>6</a:t>
            </a:r>
            <a:endParaRPr lang="en-US" altLang="zh-CN" sz="2400" dirty="0"/>
          </a:p>
          <a:p>
            <a:r>
              <a:rPr lang="en-US" altLang="zh-CN" sz="2400" dirty="0"/>
              <a:t>Ray Tracing </a:t>
            </a:r>
            <a:endParaRPr lang="en-US" altLang="zh-CN" sz="2400" b="1" dirty="0"/>
          </a:p>
        </p:txBody>
      </p:sp>
      <p:sp>
        <p:nvSpPr>
          <p:cNvPr id="9" name="文本占位符 5"/>
          <p:cNvSpPr>
            <a:spLocks noGrp="1"/>
          </p:cNvSpPr>
          <p:nvPr/>
        </p:nvSpPr>
        <p:spPr>
          <a:xfrm>
            <a:off x="3474400" y="1853210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1" name="文本占位符 8"/>
          <p:cNvSpPr>
            <a:spLocks noGrp="1"/>
          </p:cNvSpPr>
          <p:nvPr/>
        </p:nvSpPr>
        <p:spPr>
          <a:xfrm>
            <a:off x="1065417" y="4257555"/>
            <a:ext cx="10061163" cy="35340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2000" kern="1200" baseline="0" dirty="0">
                <a:solidFill>
                  <a:schemeClr val="tx1"/>
                </a:solidFill>
                <a:latin typeface="Times New Roman" panose="02020503050405090304" pitchFamily="18" charset="0"/>
                <a:ea typeface="仿宋" panose="02010609060101010101" pitchFamily="49" charset="-122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3" name="文本占位符 5"/>
          <p:cNvSpPr>
            <a:spLocks noGrp="1"/>
          </p:cNvSpPr>
          <p:nvPr/>
        </p:nvSpPr>
        <p:spPr>
          <a:xfrm>
            <a:off x="3474401" y="1821098"/>
            <a:ext cx="5243195" cy="348409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573491" y="1067356"/>
            <a:ext cx="110707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Computer Graphics</a:t>
            </a:r>
            <a:endParaRPr lang="en-US" altLang="zh-CN" sz="3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028" name="Picture 4" descr="https://www.xmu.edu.cn/images/logo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674" y="3807555"/>
            <a:ext cx="313373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Ray Tracing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55685" y="1708648"/>
            <a:ext cx="976555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1.</a:t>
            </a:r>
            <a:r>
              <a:rPr lang="zh-CN" altLang="en-US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过往内容回顾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变换</a:t>
            </a:r>
            <a:endParaRPr lang="zh-CN" altLang="en-US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绕轴旋转和平移</a:t>
            </a:r>
            <a:endParaRPr lang="zh-CN" altLang="en-US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绕任意轴旋转</a:t>
            </a:r>
            <a:endParaRPr lang="zh-CN" altLang="en-US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1257300" lvl="2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  <a:sym typeface="+mn-ea"/>
              </a:rPr>
              <a:t>缩放</a:t>
            </a:r>
            <a:endParaRPr lang="zh-CN" altLang="en-US" sz="2400" kern="100" dirty="0"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2.</a:t>
            </a: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本次实验说明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kern="100" dirty="0" err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Whitted</a:t>
            </a:r>
            <a:r>
              <a:rPr lang="en-US" altLang="zh-CN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 Style </a:t>
            </a: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光线跟踪算法实现（填空）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effectLst/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3.</a:t>
            </a:r>
            <a:r>
              <a:rPr lang="zh-CN" altLang="en-US" sz="2400" kern="100" dirty="0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作业提交说明</a:t>
            </a:r>
            <a:endParaRPr lang="en-US" altLang="zh-CN" sz="2400" kern="100" dirty="0">
              <a:effectLst/>
              <a:latin typeface="Times New Roman" panose="02020503050405090304" pitchFamily="18" charset="0"/>
              <a:ea typeface="黑体" panose="02010609060101010101" pitchFamily="49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变换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110864" y="1535227"/>
            <a:ext cx="9765552" cy="5077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503050405090304" pitchFamily="18" charset="0"/>
              </a:rPr>
              <a:t>阅读资料：</a:t>
            </a:r>
            <a:endParaRPr lang="zh-CN" altLang="en-US" sz="2400" kern="100" dirty="0"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cs typeface="Times New Roman" panose="02020503050405090304" pitchFamily="18" charset="0"/>
              </a:rPr>
              <a:t>）课件：</a:t>
            </a:r>
            <a:r>
              <a:rPr lang="en-US" altLang="zh-CN" sz="2400" kern="100" dirty="0">
                <a:cs typeface="Times New Roman" panose="02020503050405090304" pitchFamily="18" charset="0"/>
              </a:rPr>
              <a:t>《L5 </a:t>
            </a:r>
            <a:r>
              <a:rPr lang="en-US" altLang="zh-CN" sz="2400" kern="100" dirty="0" err="1">
                <a:cs typeface="Times New Roman" panose="02020503050405090304" pitchFamily="18" charset="0"/>
              </a:rPr>
              <a:t>Transformation</a:t>
            </a:r>
            <a:r>
              <a:rPr lang="en-US" altLang="zh-CN" sz="2400" kern="100" dirty="0">
                <a:cs typeface="Times New Roman" panose="02020503050405090304" pitchFamily="18" charset="0"/>
              </a:rPr>
              <a:t>》</a:t>
            </a:r>
            <a:endParaRPr lang="en-US" altLang="zh-CN" sz="2400" kern="100" dirty="0"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cs typeface="Times New Roman" panose="02020503050405090304" pitchFamily="18" charset="0"/>
              </a:rPr>
              <a:t>2</a:t>
            </a:r>
            <a:r>
              <a:rPr lang="zh-CN" altLang="en-US" sz="2400" kern="100" dirty="0">
                <a:cs typeface="Times New Roman" panose="02020503050405090304" pitchFamily="18" charset="0"/>
              </a:rPr>
              <a:t>）</a:t>
            </a:r>
            <a:r>
              <a:rPr lang="en-US" altLang="zh-CN" sz="2400" kern="100" dirty="0">
                <a:cs typeface="Times New Roman" panose="02020503050405090304" pitchFamily="18" charset="0"/>
              </a:rPr>
              <a:t>Eigen</a:t>
            </a:r>
            <a:r>
              <a:rPr lang="zh-CN" altLang="en-US" sz="2400" kern="100" dirty="0">
                <a:cs typeface="Times New Roman" panose="02020503050405090304" pitchFamily="18" charset="0"/>
              </a:rPr>
              <a:t>使用：</a:t>
            </a:r>
            <a:r>
              <a:rPr lang="zh-CN" altLang="en-US" sz="2400" dirty="0">
                <a:hlinkClick r:id="rId1"/>
              </a:rPr>
              <a:t>快速入门</a:t>
            </a:r>
            <a:r>
              <a:rPr lang="en-US" altLang="zh-CN" sz="2400" dirty="0">
                <a:hlinkClick r:id="rId1"/>
              </a:rPr>
              <a:t>Eigen </a:t>
            </a:r>
            <a:r>
              <a:rPr lang="en-US" altLang="zh-CN" sz="2400" dirty="0"/>
              <a:t>(or </a:t>
            </a:r>
            <a:r>
              <a:rPr lang="en-US" altLang="zh-CN" sz="2400" dirty="0">
                <a:hlinkClick r:id="rId2"/>
              </a:rPr>
              <a:t>Eigen: Quick reference guide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任务要求：</a:t>
            </a:r>
            <a:endParaRPr lang="en-US" altLang="zh-CN" sz="2400" kern="100" dirty="0">
              <a:latin typeface="+mj-lt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503050405090304" pitchFamily="18" charset="0"/>
              </a:rPr>
              <a:t>    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在阅读了课件的相关内容后，利用</a:t>
            </a:r>
            <a:r>
              <a:rPr lang="en-US" altLang="zh-CN" sz="2400" kern="100" dirty="0">
                <a:latin typeface="+mj-lt"/>
                <a:cs typeface="Times New Roman" panose="02020503050405090304" pitchFamily="18" charset="0"/>
              </a:rPr>
              <a:t>Eigen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库，编写相应的变换矩阵，实现以下任务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  <a:sym typeface="Wingdings" panose="05000000000000000000" pitchFamily="2" charset="2"/>
              </a:rPr>
              <a:t>：</a:t>
            </a:r>
            <a:endParaRPr lang="en-US" altLang="zh-CN" sz="2400" kern="100" dirty="0">
              <a:latin typeface="+mj-lt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绕轴旋转和平移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绕任意轴旋转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缩放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平移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10863" y="1535227"/>
                <a:ext cx="10119631" cy="640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有点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𝑃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𝑥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 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𝑦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 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𝑧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1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，经过平移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𝑑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0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 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1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63" y="1535227"/>
                <a:ext cx="10119631" cy="640303"/>
              </a:xfrm>
              <a:prstGeom prst="rect">
                <a:avLst/>
              </a:prstGeom>
              <a:blipFill rotWithShape="1">
                <a:blip r:embed="rId1"/>
                <a:stretch>
                  <a:fillRect l="-2" t="-67" r="5" b="-9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58141" y="2915461"/>
                <a:ext cx="3620194" cy="1823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′=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41" y="2915461"/>
                <a:ext cx="3620194" cy="1823448"/>
              </a:xfrm>
              <a:prstGeom prst="rect">
                <a:avLst/>
              </a:prstGeom>
              <a:blipFill rotWithShape="1">
                <a:blip r:embed="rId2"/>
                <a:stretch>
                  <a:fillRect l="-13" t="-10" r="1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5815220" y="2915461"/>
            <a:ext cx="5045220" cy="2143424"/>
            <a:chOff x="2700796" y="4138543"/>
            <a:chExt cx="5045220" cy="214342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04654" y="4138543"/>
              <a:ext cx="2243450" cy="214342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2700796" y="4599344"/>
                  <a:ext cx="1343286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600" i="1" kern="100" smtClean="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600" i="1" kern="10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altLang="zh-CN" sz="3600" i="1" kern="100">
                                <a:latin typeface="Cambria Math" panose="02040503050406030204" pitchFamily="18" charset="0"/>
                                <a:cs typeface="Times New Roman" panose="0202050305040509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36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CN" sz="3600" kern="1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0796" y="4599344"/>
                  <a:ext cx="1343286" cy="92333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6402730" y="4599344"/>
                  <a:ext cx="1343286" cy="92333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36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∗</m:t>
                        </m:r>
                        <m:r>
                          <a:rPr lang="en-US" altLang="zh-CN" sz="3600" i="1" kern="10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altLang="zh-CN" sz="3600" i="1" kern="100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730" y="4599344"/>
                  <a:ext cx="1343286" cy="92333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缩放</a:t>
            </a:r>
            <a:endParaRPr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110863" y="1535227"/>
                <a:ext cx="10119631" cy="640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有点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𝑃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𝑥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 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𝑦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 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𝑧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1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，经过缩放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𝑠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0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, 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得到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cs typeface="Times New Roman" panose="0202050305040509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,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1</m:t>
                    </m:r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)</m:t>
                    </m:r>
                  </m:oMath>
                </a14:m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63" y="1535227"/>
                <a:ext cx="10119631" cy="640303"/>
              </a:xfrm>
              <a:prstGeom prst="rect">
                <a:avLst/>
              </a:prstGeom>
              <a:blipFill rotWithShape="1">
                <a:blip r:embed="rId1"/>
                <a:stretch>
                  <a:fillRect l="-2" t="-67" r="5" b="-9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758141" y="2915461"/>
                <a:ext cx="3620194" cy="1823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 i="1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141" y="2915461"/>
                <a:ext cx="3620194" cy="1823448"/>
              </a:xfrm>
              <a:prstGeom prst="rect">
                <a:avLst/>
              </a:prstGeom>
              <a:blipFill rotWithShape="1">
                <a:blip r:embed="rId2"/>
                <a:stretch>
                  <a:fillRect l="-13" t="-10" r="14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140" y="2915461"/>
            <a:ext cx="2243450" cy="21434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5790282" y="3376262"/>
                <a:ext cx="134328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kern="100" smtClean="0">
                              <a:latin typeface="Cambria Math" panose="02040503050406030204" pitchFamily="18" charset="0"/>
                              <a:cs typeface="Times New Roman" panose="020205030504050903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kern="100">
                              <a:latin typeface="Cambria Math" panose="02040503050406030204" pitchFamily="18" charset="0"/>
                              <a:cs typeface="Times New Roman" panose="020205030504050903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3600" i="1" kern="100">
                              <a:latin typeface="Cambria Math" panose="02040503050406030204" pitchFamily="18" charset="0"/>
                              <a:cs typeface="Times New Roman" panose="0202050305040509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3600" b="0" i="1" kern="100" smtClean="0">
                          <a:latin typeface="Cambria Math" panose="02040503050406030204" pitchFamily="18" charset="0"/>
                          <a:cs typeface="Times New Roman" panose="020205030504050903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36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282" y="3376262"/>
                <a:ext cx="1343286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6" t="-65" r="46" b="-9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9492216" y="3376262"/>
                <a:ext cx="134328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600" b="0" i="1" kern="100" smtClean="0">
                          <a:latin typeface="Cambria Math" panose="02040503050406030204" pitchFamily="18" charset="0"/>
                          <a:cs typeface="Times New Roman" panose="02020503050405090304" pitchFamily="18" charset="0"/>
                        </a:rPr>
                        <m:t>∗</m:t>
                      </m:r>
                      <m:r>
                        <a:rPr lang="en-US" altLang="zh-CN" sz="3600" i="1" kern="100">
                          <a:latin typeface="Cambria Math" panose="02040503050406030204" pitchFamily="18" charset="0"/>
                          <a:cs typeface="Times New Roman" panose="02020503050405090304" pitchFamily="18" charset="0"/>
                        </a:rPr>
                        <m:t>𝑃</m:t>
                      </m:r>
                    </m:oMath>
                  </m:oMathPara>
                </a14:m>
                <a:endParaRPr lang="en-US" altLang="zh-CN" sz="3600" i="1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2216" y="3376262"/>
                <a:ext cx="1343286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8" t="-65" r="37" b="-9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806" y="2915461"/>
            <a:ext cx="2457546" cy="2143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旋转（</a:t>
            </a:r>
            <a:r>
              <a:rPr lang="en-US" altLang="zh-CN" sz="3200" dirty="0"/>
              <a:t>2D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505" y="1687424"/>
            <a:ext cx="7023696" cy="45304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1》P18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旋转（</a:t>
            </a:r>
            <a:r>
              <a:rPr lang="en-US" altLang="zh-CN" sz="3200" dirty="0"/>
              <a:t>3D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1》P20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10864" y="1535227"/>
                <a:ext cx="10618394" cy="1130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在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3D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中的绕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z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轴逆时针旋转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𝜃</m:t>
                    </m:r>
                  </m:oMath>
                </a14:m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z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坐标不变</a:t>
                </a:r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等价于二维平面上绕原点逆时针旋转。</a:t>
                </a:r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64" y="1535227"/>
                <a:ext cx="10618394" cy="1130246"/>
              </a:xfrm>
              <a:prstGeom prst="rect">
                <a:avLst/>
              </a:prstGeom>
              <a:blipFill rotWithShape="1">
                <a:blip r:embed="rId1"/>
                <a:stretch>
                  <a:fillRect l="-2" t="-38" r="2" b="-9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𝑥𝑐𝑜𝑠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𝑦𝑐𝑜𝑠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′=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blipFill rotWithShape="1">
                <a:blip r:embed="rId2"/>
                <a:stretch>
                  <a:fillRect l="-2" t="-20" r="-908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671" y="3053148"/>
            <a:ext cx="3991532" cy="25721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旋转（</a:t>
            </a:r>
            <a:r>
              <a:rPr lang="en-US" altLang="zh-CN" sz="3200" dirty="0"/>
              <a:t>3D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1》P20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10864" y="1535227"/>
                <a:ext cx="10618394" cy="57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在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3D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中的绕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x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轴逆时针旋转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𝜃</m:t>
                    </m:r>
                  </m:oMath>
                </a14:m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x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坐标不变</a:t>
                </a:r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64" y="1535227"/>
                <a:ext cx="10618394" cy="576248"/>
              </a:xfrm>
              <a:prstGeom prst="rect">
                <a:avLst/>
              </a:prstGeom>
              <a:blipFill rotWithShape="1">
                <a:blip r:embed="rId1"/>
                <a:stretch>
                  <a:fillRect l="-2" t="-75" r="2" b="-19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𝑦𝑐𝑜𝑠</m:t>
                              </m:r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𝑧𝑐𝑜𝑠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blipFill rotWithShape="1">
                <a:blip r:embed="rId2"/>
                <a:stretch>
                  <a:fillRect l="-2" t="-20" r="-34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671" y="3053148"/>
            <a:ext cx="3991532" cy="25721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18" y="3078212"/>
            <a:ext cx="3991532" cy="2608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旋转（</a:t>
            </a:r>
            <a:r>
              <a:rPr lang="en-US" altLang="zh-CN" sz="3200" dirty="0"/>
              <a:t>3D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1》P20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10864" y="1535227"/>
                <a:ext cx="10618394" cy="5762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在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3D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中的绕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y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轴逆时针旋转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cs typeface="Times New Roman" panose="02020503050405090304" pitchFamily="18" charset="0"/>
                      </a:rPr>
                      <m:t>𝜃</m:t>
                    </m:r>
                  </m:oMath>
                </a14:m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，</a:t>
                </a:r>
                <a:r>
                  <a:rPr lang="en-US" altLang="zh-CN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y</a:t>
                </a:r>
                <a:r>
                  <a:rPr lang="zh-CN" altLang="en-US" sz="2400" kern="100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坐标不变</a:t>
                </a:r>
                <a:endParaRPr lang="en-US" altLang="zh-CN" sz="2400" kern="100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864" y="1535227"/>
                <a:ext cx="10618394" cy="576248"/>
              </a:xfrm>
              <a:prstGeom prst="rect">
                <a:avLst/>
              </a:prstGeom>
              <a:blipFill rotWithShape="1">
                <a:blip r:embed="rId1"/>
                <a:stretch>
                  <a:fillRect l="-2" t="-75" r="2" b="-194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𝑥𝑐𝑜𝑠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𝑥𝑠𝑖𝑛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𝑧𝑐𝑜𝑠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096" y="3406447"/>
                <a:ext cx="3620194" cy="1572162"/>
              </a:xfrm>
              <a:prstGeom prst="rect">
                <a:avLst/>
              </a:prstGeom>
              <a:blipFill rotWithShape="1">
                <a:blip r:embed="rId2"/>
                <a:stretch>
                  <a:fillRect l="-2" t="-20" r="-6960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671" y="3053148"/>
            <a:ext cx="3991532" cy="25721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418" y="3078212"/>
            <a:ext cx="3991532" cy="260844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61" y="3078212"/>
            <a:ext cx="3837844" cy="25947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838" y="0"/>
            <a:ext cx="9110324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46226" y="6154249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1》P27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1023" y="0"/>
            <a:ext cx="9149953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1》P32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绕任意轴旋转</a:t>
            </a:r>
            <a:endParaRPr lang="zh-CN" altLang="en-US" sz="3200" dirty="0"/>
          </a:p>
        </p:txBody>
      </p:sp>
      <p:sp>
        <p:nvSpPr>
          <p:cNvPr id="6" name="矩形 5"/>
          <p:cNvSpPr/>
          <p:nvPr/>
        </p:nvSpPr>
        <p:spPr>
          <a:xfrm>
            <a:off x="654539" y="6012933"/>
            <a:ext cx="6950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来源：课件</a:t>
            </a:r>
            <a:r>
              <a:rPr lang="en-US" altLang="zh-CN" dirty="0"/>
              <a:t>《L5 Transform 1》P20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640" y="1611114"/>
            <a:ext cx="11094720" cy="43315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本节实验内容</a:t>
            </a:r>
            <a:endParaRPr lang="zh-CN" altLang="en-US" sz="3200" dirty="0"/>
          </a:p>
        </p:txBody>
      </p:sp>
      <p:sp>
        <p:nvSpPr>
          <p:cNvPr id="3" name="文本框 2"/>
          <p:cNvSpPr txBox="1"/>
          <p:nvPr/>
        </p:nvSpPr>
        <p:spPr>
          <a:xfrm>
            <a:off x="1110864" y="1535227"/>
            <a:ext cx="9765552" cy="483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503050405090304" pitchFamily="18" charset="0"/>
              </a:rPr>
              <a:t>阅读资料：</a:t>
            </a:r>
            <a:endParaRPr lang="zh-CN" altLang="en-US" sz="2400" kern="100" dirty="0"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cs typeface="Times New Roman" panose="02020503050405090304" pitchFamily="18" charset="0"/>
              </a:rPr>
              <a:t>（</a:t>
            </a:r>
            <a:r>
              <a:rPr lang="en-US" altLang="zh-CN" sz="2400" kern="100" dirty="0">
                <a:cs typeface="Times New Roman" panose="02020503050405090304" pitchFamily="18" charset="0"/>
              </a:rPr>
              <a:t>1</a:t>
            </a:r>
            <a:r>
              <a:rPr lang="zh-CN" altLang="en-US" sz="2400" kern="100" dirty="0">
                <a:cs typeface="Times New Roman" panose="02020503050405090304" pitchFamily="18" charset="0"/>
              </a:rPr>
              <a:t>）课件：</a:t>
            </a:r>
            <a:r>
              <a:rPr lang="en-US" altLang="zh-CN" sz="2400" kern="100" dirty="0">
                <a:cs typeface="Times New Roman" panose="02020503050405090304" pitchFamily="18" charset="0"/>
              </a:rPr>
              <a:t>《L7 Ray Tracing》</a:t>
            </a:r>
            <a:endParaRPr lang="en-US" altLang="zh-CN" sz="2400" dirty="0"/>
          </a:p>
          <a:p>
            <a:pPr algn="just">
              <a:lnSpc>
                <a:spcPct val="150000"/>
              </a:lnSpc>
            </a:pP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任务要求：</a:t>
            </a:r>
            <a:endParaRPr lang="en-US" altLang="zh-CN" sz="2400" kern="100" dirty="0">
              <a:latin typeface="+mj-lt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kern="100" dirty="0">
                <a:latin typeface="+mj-lt"/>
                <a:cs typeface="Times New Roman" panose="02020503050405090304" pitchFamily="18" charset="0"/>
              </a:rPr>
              <a:t>    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阅读课件，利用</a:t>
            </a:r>
            <a:r>
              <a:rPr lang="en-US" altLang="zh-CN" sz="2400" kern="100" dirty="0">
                <a:latin typeface="+mj-lt"/>
                <a:cs typeface="Times New Roman" panose="02020503050405090304" pitchFamily="18" charset="0"/>
              </a:rPr>
              <a:t>Eigen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</a:rPr>
              <a:t>库，在相应的函数下填空，实现以下任务</a:t>
            </a:r>
            <a:r>
              <a:rPr lang="zh-CN" altLang="en-US" sz="2400" kern="100" dirty="0">
                <a:latin typeface="+mj-lt"/>
                <a:cs typeface="Times New Roman" panose="02020503050405090304" pitchFamily="18" charset="0"/>
                <a:sym typeface="Wingdings" panose="05000000000000000000" pitchFamily="2" charset="2"/>
              </a:rPr>
              <a:t>：</a:t>
            </a:r>
            <a:endParaRPr lang="en-US" altLang="zh-CN" sz="2400" kern="100" dirty="0">
              <a:latin typeface="+mj-lt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生成光线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实现阴影效果、镜面反射、折射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附加题：</a:t>
            </a:r>
            <a:r>
              <a:rPr lang="zh-CN" altLang="en-US" sz="2000" b="1" dirty="0"/>
              <a:t>在此代码基础上，生成一段小球从天而降的动画，可以考虑加入运动模糊、软阴影效果，小球弹跳符合物理规律。（根据实现情况，期末最终的实验成绩可以*</a:t>
            </a:r>
            <a:r>
              <a:rPr lang="en-US" altLang="zh-CN" sz="2000" b="1" dirty="0"/>
              <a:t>1.05~1.1</a:t>
            </a:r>
            <a:r>
              <a:rPr lang="zh-CN" altLang="en-US" sz="2000" b="1" dirty="0"/>
              <a:t>）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5685" y="1708648"/>
            <a:ext cx="5937397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本次实验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提交参考右侧示例</a:t>
            </a:r>
            <a:endParaRPr lang="en-US" altLang="zh-CN" sz="2400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详细提交说明参照实验文档</a:t>
            </a:r>
            <a:endParaRPr lang="en-US" altLang="zh-CN" sz="2400" kern="100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提交方式为：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将代码源文件、可执行文件、实验报告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放到一个文件夹中，文件夹命名格式为：学号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_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姓名，压缩后上传到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ftp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服务器中相应目录下（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上传作业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曾鸣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/2026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图形学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实验</a:t>
            </a:r>
            <a:r>
              <a:rPr lang="en-US" altLang="zh-CN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6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）。</a:t>
            </a:r>
            <a:endParaRPr lang="en-US" altLang="zh-CN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本次实验作业的</a:t>
            </a:r>
            <a:r>
              <a:rPr lang="zh-CN" altLang="en-US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提交截止日期为</a:t>
            </a:r>
            <a:r>
              <a:rPr lang="en-US" altLang="zh-CN" sz="2400" kern="100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5.27</a:t>
            </a:r>
            <a:r>
              <a:rPr lang="zh-CN" altLang="en-US" sz="2400" kern="1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2400" kern="1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8640" y="640140"/>
            <a:ext cx="69508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作业提交说明</a:t>
            </a:r>
            <a:endParaRPr lang="zh-CN" altLang="en-US" sz="32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911" y="1949822"/>
            <a:ext cx="4413285" cy="29583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latin typeface="+mj-ea"/>
              </a:rPr>
              <a:t>计算机图形学实验</a:t>
            </a:r>
            <a:r>
              <a:rPr lang="en-US" altLang="zh-CN" dirty="0">
                <a:latin typeface="+mj-ea"/>
              </a:rPr>
              <a:t>6</a:t>
            </a:r>
            <a:endParaRPr lang="en-US" altLang="zh-CN" dirty="0">
              <a:latin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 cstate="print">
            <a:clrChange>
              <a:clrFrom>
                <a:srgbClr val="FDF6F0"/>
              </a:clrFrom>
              <a:clrTo>
                <a:srgbClr val="FDF6F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34"/>
          <a:stretch>
            <a:fillRect/>
          </a:stretch>
        </p:blipFill>
        <p:spPr>
          <a:xfrm>
            <a:off x="0" y="4144948"/>
            <a:ext cx="12207123" cy="2713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WPS 演示</Application>
  <PresentationFormat>宽屏</PresentationFormat>
  <Paragraphs>103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9" baseType="lpstr">
      <vt:lpstr>Arial</vt:lpstr>
      <vt:lpstr>宋体</vt:lpstr>
      <vt:lpstr>Wingdings</vt:lpstr>
      <vt:lpstr>Times New Roman</vt:lpstr>
      <vt:lpstr>仿宋</vt:lpstr>
      <vt:lpstr>仿宋-简</vt:lpstr>
      <vt:lpstr>黑体</vt:lpstr>
      <vt:lpstr>汉仪中黑KW</vt:lpstr>
      <vt:lpstr>Cambria Math</vt:lpstr>
      <vt:lpstr>Kingsoft Math</vt:lpstr>
      <vt:lpstr>微软雅黑</vt:lpstr>
      <vt:lpstr>汉仪旗黑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Wingdings</vt:lpstr>
      <vt:lpstr>仿宋</vt:lpstr>
      <vt:lpstr>黑体</vt:lpstr>
      <vt:lpstr>DejaVu Math TeX Gyre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Face Alignment meets Reconstruction</dc:title>
  <dc:creator>Yinglin Zheng (FA Talent)</dc:creator>
  <cp:lastModifiedBy>猫弦_</cp:lastModifiedBy>
  <cp:revision>1208</cp:revision>
  <dcterms:created xsi:type="dcterms:W3CDTF">2026-05-16T14:16:21Z</dcterms:created>
  <dcterms:modified xsi:type="dcterms:W3CDTF">2026-05-16T14:16:21Z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81C2FA14996CFFE3BE86066A5F1D7409_42</vt:lpwstr>
  </property>
  <property fmtid="{D5CDD505-2E9C-101B-9397-08002B2CF9AE}" pid="3" name="KSOProductBuildVer">
    <vt:lpwstr>2052-12.1.25869.25869</vt:lpwstr>
  </property>
</Properties>
</file>