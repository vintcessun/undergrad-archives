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7" r:id="rId2"/>
    <p:sldId id="342" r:id="rId3"/>
    <p:sldId id="357" r:id="rId4"/>
    <p:sldId id="360" r:id="rId5"/>
    <p:sldId id="366" r:id="rId6"/>
    <p:sldId id="367" r:id="rId7"/>
    <p:sldId id="368" r:id="rId8"/>
    <p:sldId id="376" r:id="rId9"/>
    <p:sldId id="371" r:id="rId10"/>
    <p:sldId id="372" r:id="rId11"/>
    <p:sldId id="369" r:id="rId12"/>
    <p:sldId id="375" r:id="rId13"/>
    <p:sldId id="374" r:id="rId14"/>
    <p:sldId id="378" r:id="rId15"/>
    <p:sldId id="385" r:id="rId16"/>
    <p:sldId id="396" r:id="rId17"/>
    <p:sldId id="398" r:id="rId18"/>
    <p:sldId id="399" r:id="rId19"/>
    <p:sldId id="400" r:id="rId20"/>
    <p:sldId id="379" r:id="rId21"/>
    <p:sldId id="382" r:id="rId22"/>
    <p:sldId id="386" r:id="rId23"/>
    <p:sldId id="388" r:id="rId24"/>
    <p:sldId id="389" r:id="rId25"/>
    <p:sldId id="363" r:id="rId26"/>
    <p:sldId id="343" r:id="rId27"/>
    <p:sldId id="354" r:id="rId28"/>
    <p:sldId id="341" r:id="rId29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24A7D"/>
    <a:srgbClr val="00FF00"/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75" autoAdjust="0"/>
    <p:restoredTop sz="80960" autoAdjust="0"/>
  </p:normalViewPr>
  <p:slideViewPr>
    <p:cSldViewPr snapToGrid="0">
      <p:cViewPr varScale="1">
        <p:scale>
          <a:sx n="99" d="100"/>
          <a:sy n="99" d="100"/>
        </p:scale>
        <p:origin x="4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99AB5-65EE-4BAD-A1C6-CE1AEEDE78F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D4C2C-B2E8-48C4-9A1C-F85E2374B6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3D21-EA33-4203-BE34-55D8A4400A9B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31ACB-66F3-489D-8BB6-9FDD0213A07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3697356" y="3277319"/>
            <a:ext cx="475090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3857896" y="2353989"/>
            <a:ext cx="4397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endParaRPr lang="zh-CN" alt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占位符 20"/>
          <p:cNvSpPr>
            <a:spLocks noGrp="1"/>
          </p:cNvSpPr>
          <p:nvPr>
            <p:ph type="body" sz="quarter" idx="15" hasCustomPrompt="1"/>
          </p:nvPr>
        </p:nvSpPr>
        <p:spPr>
          <a:xfrm>
            <a:off x="3942190" y="3539116"/>
            <a:ext cx="4229240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altLang="zh-CN" dirty="0"/>
              <a:t>Speaker</a:t>
            </a:r>
            <a:endParaRPr lang="zh-CN" altLang="en-US" dirty="0"/>
          </a:p>
        </p:txBody>
      </p:sp>
      <p:sp>
        <p:nvSpPr>
          <p:cNvPr id="18" name="文本占位符 20"/>
          <p:cNvSpPr>
            <a:spLocks noGrp="1"/>
          </p:cNvSpPr>
          <p:nvPr>
            <p:ph type="body" sz="quarter" idx="16" hasCustomPrompt="1"/>
          </p:nvPr>
        </p:nvSpPr>
        <p:spPr>
          <a:xfrm>
            <a:off x="3319527" y="4018064"/>
            <a:ext cx="5474566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altLang="zh-CN" dirty="0"/>
              <a:t>Contact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113183" y="546370"/>
            <a:ext cx="98993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占位符 20"/>
          <p:cNvSpPr>
            <a:spLocks noGrp="1"/>
          </p:cNvSpPr>
          <p:nvPr>
            <p:ph type="body" sz="quarter" idx="14" hasCustomPrompt="1"/>
          </p:nvPr>
        </p:nvSpPr>
        <p:spPr>
          <a:xfrm>
            <a:off x="1113183" y="181200"/>
            <a:ext cx="9899374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b="1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altLang="zh-CN" dirty="0"/>
              <a:t>Main title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FB4CB-BCA2-4E68-9E92-CDFFF06D9448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DF6F0"/>
              </a:clrFrom>
              <a:clrTo>
                <a:srgbClr val="FDF6F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34"/>
          <a:stretch>
            <a:fillRect/>
          </a:stretch>
        </p:blipFill>
        <p:spPr>
          <a:xfrm>
            <a:off x="0" y="4176653"/>
            <a:ext cx="12207123" cy="2713052"/>
          </a:xfrm>
          <a:prstGeom prst="rect">
            <a:avLst/>
          </a:prstGeom>
        </p:spPr>
      </p:pic>
      <p:sp>
        <p:nvSpPr>
          <p:cNvPr id="8" name="文本占位符 4"/>
          <p:cNvSpPr>
            <a:spLocks noGrp="1"/>
          </p:cNvSpPr>
          <p:nvPr/>
        </p:nvSpPr>
        <p:spPr>
          <a:xfrm>
            <a:off x="1215876" y="2590191"/>
            <a:ext cx="9775370" cy="36517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latin typeface="+mj-ea"/>
              </a:rPr>
              <a:t>计算机图形学实验</a:t>
            </a:r>
            <a:r>
              <a:rPr lang="en-US" altLang="zh-CN" sz="2400" b="1" dirty="0">
                <a:latin typeface="+mj-ea"/>
              </a:rPr>
              <a:t>2</a:t>
            </a:r>
          </a:p>
          <a:p>
            <a:r>
              <a:rPr lang="zh-CN" altLang="en-US" sz="2400" b="1" dirty="0">
                <a:latin typeface="+mj-ea"/>
              </a:rPr>
              <a:t>（</a:t>
            </a:r>
            <a:r>
              <a:rPr lang="en-US" altLang="zh-CN" sz="2400" b="1" dirty="0">
                <a:latin typeface="+mj-ea"/>
              </a:rPr>
              <a:t>OpenGL</a:t>
            </a:r>
            <a:r>
              <a:rPr lang="zh-CN" altLang="en-US" sz="2400" b="1" dirty="0">
                <a:latin typeface="+mj-ea"/>
              </a:rPr>
              <a:t>绘制基础）</a:t>
            </a:r>
            <a:endParaRPr lang="en-US" altLang="zh-CN" sz="2400" b="1" dirty="0">
              <a:latin typeface="+mj-ea"/>
            </a:endParaRPr>
          </a:p>
        </p:txBody>
      </p:sp>
      <p:sp>
        <p:nvSpPr>
          <p:cNvPr id="9" name="文本占位符 5"/>
          <p:cNvSpPr>
            <a:spLocks noGrp="1"/>
          </p:cNvSpPr>
          <p:nvPr/>
        </p:nvSpPr>
        <p:spPr>
          <a:xfrm>
            <a:off x="3474400" y="1853210"/>
            <a:ext cx="5243195" cy="348409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1" name="文本占位符 8"/>
          <p:cNvSpPr>
            <a:spLocks noGrp="1"/>
          </p:cNvSpPr>
          <p:nvPr/>
        </p:nvSpPr>
        <p:spPr>
          <a:xfrm>
            <a:off x="1065417" y="4257555"/>
            <a:ext cx="10061163" cy="353406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3" name="文本占位符 5"/>
          <p:cNvSpPr>
            <a:spLocks noGrp="1"/>
          </p:cNvSpPr>
          <p:nvPr/>
        </p:nvSpPr>
        <p:spPr>
          <a:xfrm>
            <a:off x="3474401" y="1821098"/>
            <a:ext cx="5243195" cy="348409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573491" y="1067356"/>
            <a:ext cx="110707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Graphics</a:t>
            </a:r>
          </a:p>
        </p:txBody>
      </p:sp>
      <p:pic>
        <p:nvPicPr>
          <p:cNvPr id="1028" name="Picture 4" descr="https://www.xmu.edu.cn/images/logo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674" y="3807555"/>
            <a:ext cx="3133735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OpenGL</a:t>
            </a:r>
            <a:r>
              <a:rPr lang="zh-CN" altLang="en-US" sz="3200" dirty="0"/>
              <a:t>绘制基础</a:t>
            </a:r>
            <a:endParaRPr lang="en-US" altLang="zh-CN" sz="3200" dirty="0"/>
          </a:p>
        </p:txBody>
      </p:sp>
      <p:sp>
        <p:nvSpPr>
          <p:cNvPr id="5" name="文本框 4"/>
          <p:cNvSpPr txBox="1"/>
          <p:nvPr/>
        </p:nvSpPr>
        <p:spPr>
          <a:xfrm>
            <a:off x="1055685" y="1708648"/>
            <a:ext cx="9765552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上节内容回顾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旋转的多色圆盘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奥运五环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本次实验说明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绘制</a:t>
            </a:r>
            <a:r>
              <a:rPr lang="en-US" altLang="zh-CN" sz="24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Sierpinski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镂垫程序</a:t>
            </a:r>
            <a:endParaRPr lang="en-US" altLang="zh-CN" sz="2400" kern="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绘制一个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3D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正方体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绘制一个线框球体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实验报告说明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708648"/>
            <a:ext cx="9765552" cy="113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绘制一个实心的圆。要求圆分成若干个扇形，每个扇形颜色不同，同时需要让这个圆盘能够转起来。例如下图：</a:t>
            </a: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Task2 </a:t>
            </a:r>
            <a:r>
              <a:rPr lang="zh-CN" altLang="en-US" sz="3200" dirty="0"/>
              <a:t>旋转的多色圆盘</a:t>
            </a:r>
          </a:p>
        </p:txBody>
      </p:sp>
      <p:pic>
        <p:nvPicPr>
          <p:cNvPr id="2" name="20230403_11091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500156" y="3055820"/>
            <a:ext cx="3019369" cy="31782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5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708648"/>
            <a:ext cx="9765552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如何让画一个圆盘？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使用扇形或者多边形逼近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如何画一个多色的圆盘？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使用不同颜色的扇形进行堆叠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如何让圆盘转起来？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持续更新图形，每次更新都令圆盘旋转一定角度，通过每秒多次更新形成圆盘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转起来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的效果</a:t>
            </a: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整体思路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t="-10903"/>
          <a:stretch>
            <a:fillRect/>
          </a:stretch>
        </p:blipFill>
        <p:spPr>
          <a:xfrm>
            <a:off x="7780327" y="2544668"/>
            <a:ext cx="4018551" cy="3346958"/>
          </a:xfrm>
          <a:custGeom>
            <a:avLst/>
            <a:gdLst>
              <a:gd name="connsiteX0" fmla="*/ 0 w 4018551"/>
              <a:gd name="connsiteY0" fmla="*/ 329053 h 3346958"/>
              <a:gd name="connsiteX1" fmla="*/ 1620883 w 4018551"/>
              <a:gd name="connsiteY1" fmla="*/ 329053 h 3346958"/>
              <a:gd name="connsiteX2" fmla="*/ 1620883 w 4018551"/>
              <a:gd name="connsiteY2" fmla="*/ 509047 h 3346958"/>
              <a:gd name="connsiteX3" fmla="*/ 2365601 w 4018551"/>
              <a:gd name="connsiteY3" fmla="*/ 509047 h 3346958"/>
              <a:gd name="connsiteX4" fmla="*/ 2365601 w 4018551"/>
              <a:gd name="connsiteY4" fmla="*/ 329053 h 3346958"/>
              <a:gd name="connsiteX5" fmla="*/ 4018551 w 4018551"/>
              <a:gd name="connsiteY5" fmla="*/ 329053 h 3346958"/>
              <a:gd name="connsiteX6" fmla="*/ 4018551 w 4018551"/>
              <a:gd name="connsiteY6" fmla="*/ 3346958 h 3346958"/>
              <a:gd name="connsiteX7" fmla="*/ 0 w 4018551"/>
              <a:gd name="connsiteY7" fmla="*/ 3346958 h 3346958"/>
              <a:gd name="connsiteX8" fmla="*/ 1620883 w 4018551"/>
              <a:gd name="connsiteY8" fmla="*/ 0 h 3346958"/>
              <a:gd name="connsiteX9" fmla="*/ 2365601 w 4018551"/>
              <a:gd name="connsiteY9" fmla="*/ 0 h 3346958"/>
              <a:gd name="connsiteX10" fmla="*/ 2365601 w 4018551"/>
              <a:gd name="connsiteY10" fmla="*/ 329053 h 3346958"/>
              <a:gd name="connsiteX11" fmla="*/ 1620883 w 4018551"/>
              <a:gd name="connsiteY11" fmla="*/ 329053 h 3346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18551" h="3346958">
                <a:moveTo>
                  <a:pt x="0" y="329053"/>
                </a:moveTo>
                <a:lnTo>
                  <a:pt x="1620883" y="329053"/>
                </a:lnTo>
                <a:lnTo>
                  <a:pt x="1620883" y="509047"/>
                </a:lnTo>
                <a:lnTo>
                  <a:pt x="2365601" y="509047"/>
                </a:lnTo>
                <a:lnTo>
                  <a:pt x="2365601" y="329053"/>
                </a:lnTo>
                <a:lnTo>
                  <a:pt x="4018551" y="329053"/>
                </a:lnTo>
                <a:lnTo>
                  <a:pt x="4018551" y="3346958"/>
                </a:lnTo>
                <a:lnTo>
                  <a:pt x="0" y="3346958"/>
                </a:lnTo>
                <a:close/>
                <a:moveTo>
                  <a:pt x="1620883" y="0"/>
                </a:moveTo>
                <a:lnTo>
                  <a:pt x="2365601" y="0"/>
                </a:lnTo>
                <a:lnTo>
                  <a:pt x="2365601" y="329053"/>
                </a:lnTo>
                <a:lnTo>
                  <a:pt x="1620883" y="329053"/>
                </a:lnTo>
                <a:close/>
              </a:path>
            </a:pathLst>
          </a:custGeom>
        </p:spPr>
      </p:pic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使用扇形来绘制圆盘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878205" y="1472083"/>
                <a:ext cx="10435589" cy="4419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利用多边形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或三角形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进行近似</a:t>
                </a:r>
                <a:endParaRPr lang="en-US" altLang="zh-CN" sz="240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考虑绘制中心点为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𝑠𝑡𝑎𝑟𝑡</m:t>
                        </m:r>
                      </m:sub>
                    </m:sSub>
                    <m:r>
                      <a:rPr lang="zh-CN" altLang="en-US" sz="240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到</m:t>
                    </m:r>
                    <m:sSub>
                      <m:sSub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𝑒𝑛𝑑</m:t>
                        </m:r>
                      </m:sub>
                    </m:sSub>
                    <m:r>
                      <a:rPr lang="zh-CN" altLang="en-US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zh-CN" altLang="en-US" sz="240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使用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zh-CN" altLang="en-US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个</m:t>
                    </m:r>
                    <m:r>
                      <a:rPr lang="zh-CN" altLang="en-US" sz="240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点</m:t>
                    </m:r>
                    <m:r>
                      <a:rPr lang="zh-CN" altLang="en-US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绘制的</m:t>
                    </m:r>
                  </m:oMath>
                </a14:m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扇形</a:t>
                </a:r>
                <a:endParaRPr lang="en-US" altLang="zh-CN" sz="240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150000"/>
                  </a:lnSpc>
                </a:pP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计算这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个点的坐标来逼近扇形：</a:t>
                </a:r>
                <a:endParaRPr lang="en-US" altLang="zh-CN" sz="240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func>
                      <m:funcPr>
                        <m:ctrlP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altLang="zh-CN" sz="24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24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en-US" altLang="zh-CN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</m:t>
                    </m:r>
                    <m:sSub>
                      <m:sSub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func>
                      <m:funcPr>
                        <m:ctrlP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altLang="zh-CN" sz="24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24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m:rPr>
                        <m:nor/>
                      </m:rPr>
                      <a:rPr lang="en-US" altLang="zh-CN" sz="2400" kern="1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 </m:t>
                    </m:r>
                    <m:sSub>
                      <m:sSubPr>
                        <m:ctrlPr>
                          <a:rPr lang="en-US" altLang="zh-CN" sz="2400" b="0" i="1" kern="10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= ?</m:t>
                    </m:r>
                  </m:oMath>
                </a14:m>
                <a:endParaRPr lang="en-US" altLang="zh-CN" sz="2400" kern="1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800100" lvl="1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把</a:t>
                </a:r>
                <a14:m>
                  <m:oMath xmlns:m="http://schemas.openxmlformats.org/officeDocument/2006/math"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𝑠𝑡𝑎𝑟𝑡</m:t>
                        </m:r>
                      </m:sub>
                    </m:sSub>
                  </m:oMath>
                </a14:m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400" kern="100" dirty="0"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𝑒𝑛𝑑</m:t>
                        </m:r>
                      </m:sub>
                    </m:sSub>
                  </m:oMath>
                </a14:m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均分成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份 </a:t>
                </a:r>
                <a:endParaRPr lang="en-US" altLang="zh-CN" sz="240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150000"/>
                  </a:lnSpc>
                </a:pP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	 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每份是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24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𝑒𝑛𝑑</m:t>
                            </m:r>
                          </m:sub>
                        </m:sSub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24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𝑠𝑡𝑎𝑟𝑡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zh-CN" sz="240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对应第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个点 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𝑠𝑡𝑎𝑟𝑡</m:t>
                        </m:r>
                      </m:sub>
                    </m:sSub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𝑖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×</m:t>
                    </m:r>
                    <m:f>
                      <m:fPr>
                        <m:ctrlP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zh-CN" sz="2400" kern="1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205" y="1472083"/>
                <a:ext cx="10435589" cy="4419543"/>
              </a:xfrm>
              <a:prstGeom prst="rect">
                <a:avLst/>
              </a:prstGeom>
              <a:blipFill>
                <a:blip r:embed="rId4"/>
                <a:stretch>
                  <a:fillRect l="-876" b="-4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对扇形赋予不同的颜色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68640" y="1471793"/>
            <a:ext cx="10435589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4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glColor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系列的函数进行着色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在生成扇形的时候随机生成颜色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存储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种颜色的数组</a:t>
            </a:r>
            <a:endParaRPr lang="en-US" altLang="zh-CN" sz="2400" b="0" i="1" kern="1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68640" y="3521770"/>
            <a:ext cx="695088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glShadeModel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68325" y="4283710"/>
            <a:ext cx="5290185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）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  <a:sym typeface="+mn-ea"/>
              </a:rPr>
              <a:t>GL_FLAT 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  <a:sym typeface="+mn-ea"/>
              </a:rPr>
              <a:t>单一着色，在存在多个不同颜色顶点时通常使用第一个顶点颜色渲染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2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）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  <a:sym typeface="+mn-ea"/>
              </a:rPr>
              <a:t>GL_SMOOTH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zh-CN" sz="2400" kern="100" dirty="0">
                <a:latin typeface="+mj-lt"/>
                <a:cs typeface="Times New Roman" panose="02020603050405020304" pitchFamily="18" charset="0"/>
                <a:sym typeface="+mn-ea"/>
              </a:rPr>
              <a:t>会出现过渡效果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3"/>
          <a:stretch>
            <a:fillRect/>
          </a:stretch>
        </p:blipFill>
        <p:spPr>
          <a:xfrm>
            <a:off x="5858510" y="4025900"/>
            <a:ext cx="6146165" cy="24149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510" y="1324610"/>
            <a:ext cx="5228590" cy="1747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动画的原理：运动图片投影方法</a:t>
            </a:r>
            <a:endParaRPr lang="en-US" altLang="zh-CN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1055685" y="1708648"/>
            <a:ext cx="10435589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屏幕上的运动画面是通过拍摄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大量的图片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，然后以每秒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帧的帧率把它们投影到屏幕上实现的。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尽管观众看到的是每秒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24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帧切换的不同的画面，但大脑会把它们混合成一段平滑的动画。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运动图片投影方法之所以可行的关键原因是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每个帧在显示的时候就已经完成绘制。</a:t>
            </a:r>
            <a:endParaRPr lang="en-US" altLang="zh-CN" sz="2400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68640" y="640140"/>
            <a:ext cx="90809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显示时没绘制完成会发生什么</a:t>
            </a:r>
            <a:r>
              <a:rPr lang="en-US" altLang="zh-CN" sz="3200" dirty="0"/>
              <a:t>(single buffer)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/>
          <a:srcRect r="60536"/>
          <a:stretch>
            <a:fillRect/>
          </a:stretch>
        </p:blipFill>
        <p:spPr>
          <a:xfrm>
            <a:off x="2261986" y="1386280"/>
            <a:ext cx="2311048" cy="4711838"/>
          </a:xfrm>
          <a:prstGeom prst="rect">
            <a:avLst/>
          </a:prstGeom>
        </p:spPr>
      </p:pic>
      <p:cxnSp>
        <p:nvCxnSpPr>
          <p:cNvPr id="14" name="直接连接符 13"/>
          <p:cNvCxnSpPr/>
          <p:nvPr/>
        </p:nvCxnSpPr>
        <p:spPr>
          <a:xfrm>
            <a:off x="5479000" y="1750985"/>
            <a:ext cx="0" cy="4347938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"/>
          <a:srcRect l="40861"/>
          <a:stretch>
            <a:fillRect/>
          </a:stretch>
        </p:blipFill>
        <p:spPr>
          <a:xfrm>
            <a:off x="6466790" y="1386280"/>
            <a:ext cx="3463224" cy="47118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OpenGL</a:t>
            </a:r>
            <a:r>
              <a:rPr lang="zh-CN" altLang="en-US" sz="3200" dirty="0"/>
              <a:t>动画</a:t>
            </a:r>
            <a:r>
              <a:rPr lang="en-US" altLang="zh-CN" sz="3200" dirty="0"/>
              <a:t>=</a:t>
            </a:r>
            <a:r>
              <a:rPr lang="zh-CN" altLang="en-US" sz="3200" dirty="0"/>
              <a:t>重绘</a:t>
            </a:r>
            <a:r>
              <a:rPr lang="en-US" altLang="zh-CN" sz="3200" dirty="0"/>
              <a:t>+</a:t>
            </a:r>
            <a:r>
              <a:rPr lang="zh-CN" altLang="en-US" sz="3200" dirty="0"/>
              <a:t>交换</a:t>
            </a:r>
            <a:endParaRPr lang="en-US" altLang="zh-CN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707046"/>
            <a:ext cx="102870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缓冲区</a:t>
            </a:r>
            <a:endParaRPr lang="en-US" altLang="zh-CN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1055685" y="1708648"/>
            <a:ext cx="10435589" cy="3900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缓冲区是内存空间的一部分，在内存中预留了一定的存储空间，用来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暂时保存输入和输出等 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 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操作的一些数据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，这些预留的空间就叫做缓冲区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缓冲区的主要原因有以下几点：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缓和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设备间速度不匹配的矛盾。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减少对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的中断的频率，放宽对中断响应时间的限制。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提高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设备之间的并行操作程度。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OpenGL</a:t>
            </a:r>
            <a:r>
              <a:rPr lang="zh-CN" altLang="en-US" sz="3200" dirty="0"/>
              <a:t>动画</a:t>
            </a:r>
            <a:r>
              <a:rPr lang="en-US" altLang="zh-CN" sz="3200" dirty="0"/>
              <a:t>=</a:t>
            </a:r>
            <a:r>
              <a:rPr lang="zh-CN" altLang="en-US" sz="3200" dirty="0"/>
              <a:t>重绘</a:t>
            </a:r>
            <a:r>
              <a:rPr lang="en-US" altLang="zh-CN" sz="3200" dirty="0"/>
              <a:t>+</a:t>
            </a:r>
            <a:r>
              <a:rPr lang="zh-CN" altLang="en-US" sz="3200" dirty="0"/>
              <a:t>交换</a:t>
            </a:r>
            <a:endParaRPr lang="en-US" altLang="zh-CN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1055685" y="1708648"/>
            <a:ext cx="10435589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开启双缓冲区：</a:t>
            </a:r>
            <a:r>
              <a:rPr lang="en-US" altLang="zh-CN" sz="2400" kern="100" dirty="0" err="1">
                <a:latin typeface="+mj-lt"/>
                <a:cs typeface="Times New Roman" panose="02020603050405020304" pitchFamily="18" charset="0"/>
              </a:rPr>
              <a:t>glutInitDisplayMode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(GLUT_DOUBLE | GLUT_RGB)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重绘：</a:t>
            </a:r>
            <a:r>
              <a:rPr lang="en-US" altLang="zh-CN" sz="2400" kern="100" dirty="0" err="1">
                <a:latin typeface="+mj-lt"/>
                <a:cs typeface="Times New Roman" panose="02020603050405020304" pitchFamily="18" charset="0"/>
              </a:rPr>
              <a:t>glutIdleFunc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(</a:t>
            </a:r>
            <a:r>
              <a:rPr lang="en-US" altLang="zh-CN" sz="2400" kern="100" dirty="0" err="1">
                <a:latin typeface="+mj-lt"/>
                <a:cs typeface="Times New Roman" panose="02020603050405020304" pitchFamily="18" charset="0"/>
              </a:rPr>
              <a:t>func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)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回调函数，程序空闲时运行</a:t>
            </a:r>
            <a:r>
              <a:rPr lang="en-US" altLang="zh-CN" sz="2400" kern="100" dirty="0" err="1">
                <a:latin typeface="+mj-lt"/>
                <a:cs typeface="Times New Roman" panose="02020603050405020304" pitchFamily="18" charset="0"/>
              </a:rPr>
              <a:t>func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交换：在</a:t>
            </a:r>
            <a:r>
              <a:rPr lang="en-US" altLang="zh-CN" sz="2400" kern="100" dirty="0" err="1">
                <a:latin typeface="+mj-lt"/>
                <a:cs typeface="Times New Roman" panose="02020603050405020304" pitchFamily="18" charset="0"/>
              </a:rPr>
              <a:t>func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里绘制新图像，并进行交换</a:t>
            </a:r>
            <a:r>
              <a:rPr lang="en-US" altLang="zh-CN" sz="2400" dirty="0" err="1"/>
              <a:t>glutSwapBuffers</a:t>
            </a:r>
            <a:r>
              <a:rPr lang="en-US" altLang="zh-CN" sz="2400" dirty="0"/>
              <a:t>()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旋转：</a:t>
            </a:r>
            <a:r>
              <a:rPr lang="en-US" altLang="zh-CN" sz="2400" kern="100" dirty="0" err="1">
                <a:cs typeface="Times New Roman" panose="02020603050405020304" pitchFamily="18" charset="0"/>
              </a:rPr>
              <a:t>glRotatef</a:t>
            </a:r>
            <a:r>
              <a:rPr lang="en-US" altLang="zh-CN" sz="2400" kern="100" dirty="0">
                <a:cs typeface="Times New Roman" panose="02020603050405020304" pitchFamily="18" charset="0"/>
              </a:rPr>
              <a:t>(angle, x, y, z)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5" y="4341955"/>
            <a:ext cx="7905750" cy="21397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708648"/>
            <a:ext cx="9765552" cy="1684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绘制一个奥运五环，要求形状及颜色保持和下图一致，要求颜色重叠部分完全和下图相同（即需要虑颜色的遮挡），且需要保证在改变窗口大小时，五环的样子不发生形变（保持圆环是圆环而不是椭圆）。</a:t>
            </a: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奥运五环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854" y="3429000"/>
            <a:ext cx="4638291" cy="30921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整体思路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68640" y="1518285"/>
            <a:ext cx="7584760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如何让画一个圆环？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用三角形堆叠（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GL_TRIANGLE_STRIP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）或用多边形（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GL_POLYGON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）近似一个圆环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如何实现颜色遮挡？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最直接的思路：人为决定重叠部分的颜色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使用深度测试，让程序决定：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将图形划分为各个部分，开启深度测试，让程序决定重叠部分的颜色。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202604081558(1)">
            <a:hlinkClick r:id="" action="ppaction://media"/>
            <a:extLst>
              <a:ext uri="{FF2B5EF4-FFF2-40B4-BE49-F238E27FC236}">
                <a16:creationId xmlns:a16="http://schemas.microsoft.com/office/drawing/2014/main" id="{3E02F227-9249-464E-A575-61DE15D80C9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53400" y="1694020"/>
            <a:ext cx="3469960" cy="3469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04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程序的关键点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55684" y="1708648"/>
            <a:ext cx="6810233" cy="390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通过</a:t>
            </a:r>
            <a:r>
              <a:rPr lang="en-US" altLang="zh-CN" sz="2400" kern="100" dirty="0" err="1">
                <a:latin typeface="+mj-lt"/>
                <a:cs typeface="Times New Roman" panose="02020603050405020304" pitchFamily="18" charset="0"/>
              </a:rPr>
              <a:t>glTranslatef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来控制各个圆环的相对位置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开启深度测试：</a:t>
            </a:r>
            <a:r>
              <a:rPr lang="en-US" altLang="zh-CN" sz="2400" kern="100" dirty="0" err="1">
                <a:latin typeface="+mj-lt"/>
                <a:cs typeface="Times New Roman" panose="02020603050405020304" pitchFamily="18" charset="0"/>
              </a:rPr>
              <a:t>glEnable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(GL_DEPTH_TEST);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使用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z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坐标表示深度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将左上和右上的环拆成两部分，中上的环拆成三部分，并施加不同的深度进行绘制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在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reshape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时，改变视口的大小，同时改变投影的范围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679" y="3429000"/>
            <a:ext cx="3771112" cy="25140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本次实验目的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55685" y="1708648"/>
            <a:ext cx="9765552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深刻理解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OpenGL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状态机的概念（为什么叫做状态机）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学会使用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OpenGL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绘制基本的图元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学会设置相机的位置、朝向、相机投影矩阵，具体地：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j-lt"/>
              </a:rPr>
              <a:t>能够了解模型视图矩阵（</a:t>
            </a:r>
            <a:r>
              <a:rPr lang="en-US" altLang="zh-CN" dirty="0">
                <a:latin typeface="+mj-lt"/>
              </a:rPr>
              <a:t>GL_MODELVIEW</a:t>
            </a:r>
            <a:r>
              <a:rPr lang="zh-CN" altLang="zh-CN" dirty="0">
                <a:latin typeface="+mj-lt"/>
              </a:rPr>
              <a:t>）和投影矩阵（</a:t>
            </a:r>
            <a:r>
              <a:rPr lang="en-US" altLang="zh-CN" dirty="0">
                <a:latin typeface="+mj-lt"/>
              </a:rPr>
              <a:t>GL_PROJECTION</a:t>
            </a:r>
            <a:r>
              <a:rPr lang="zh-CN" altLang="zh-CN" dirty="0">
                <a:latin typeface="+mj-lt"/>
              </a:rPr>
              <a:t>）各是用来做什么的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j-lt"/>
              </a:rPr>
              <a:t>学会设置上述模型视图矩阵和投影矩阵的相关函数，如</a:t>
            </a:r>
            <a:r>
              <a:rPr lang="en-US" altLang="zh-CN" dirty="0" err="1">
                <a:latin typeface="+mj-lt"/>
              </a:rPr>
              <a:t>gluLookAt</a:t>
            </a:r>
            <a:r>
              <a:rPr lang="zh-CN" altLang="zh-CN" dirty="0">
                <a:latin typeface="+mj-lt"/>
              </a:rPr>
              <a:t>，</a:t>
            </a:r>
            <a:r>
              <a:rPr lang="en-US" altLang="zh-CN" dirty="0" err="1">
                <a:latin typeface="+mj-lt"/>
              </a:rPr>
              <a:t>glOrtho</a:t>
            </a:r>
            <a:r>
              <a:rPr lang="en-US" altLang="zh-CN" dirty="0">
                <a:latin typeface="+mj-lt"/>
              </a:rPr>
              <a:t>, </a:t>
            </a:r>
            <a:r>
              <a:rPr lang="en-US" altLang="zh-CN" dirty="0" err="1">
                <a:latin typeface="+mj-lt"/>
              </a:rPr>
              <a:t>gluPerspective</a:t>
            </a:r>
            <a:r>
              <a:rPr lang="en-US" altLang="zh-CN" dirty="0">
                <a:latin typeface="+mj-lt"/>
              </a:rPr>
              <a:t>, </a:t>
            </a:r>
            <a:r>
              <a:rPr lang="en-US" altLang="zh-CN" dirty="0" err="1">
                <a:latin typeface="+mj-lt"/>
              </a:rPr>
              <a:t>glFrustum</a:t>
            </a:r>
            <a:r>
              <a:rPr lang="zh-CN" altLang="zh-CN" dirty="0">
                <a:latin typeface="+mj-lt"/>
              </a:rPr>
              <a:t>等等都是什么功能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绘制三维模型，理解消隐概念（用什么实现消隐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-&gt;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深度缓冲区）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400" kern="100" dirty="0">
              <a:latin typeface="+mj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2595" y="984310"/>
            <a:ext cx="695088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dirty="0">
                <a:sym typeface="+mn-ea"/>
              </a:rPr>
              <a:t>gluLookAt()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25" y="3078480"/>
            <a:ext cx="9742805" cy="33096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715" y="724535"/>
            <a:ext cx="3396615" cy="20624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285" y="724535"/>
            <a:ext cx="3525520" cy="20840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41360" y="984310"/>
            <a:ext cx="695088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dirty="0">
                <a:sym typeface="+mn-ea"/>
              </a:rPr>
              <a:t>glOrtho()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80" y="3336925"/>
            <a:ext cx="9382125" cy="27095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370" y="408940"/>
            <a:ext cx="4998720" cy="2545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41360" y="984310"/>
            <a:ext cx="695088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dirty="0">
                <a:sym typeface="+mn-ea"/>
              </a:rPr>
              <a:t>gluPerspective()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30" y="3429000"/>
            <a:ext cx="9783445" cy="27565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630" y="748030"/>
            <a:ext cx="4707255" cy="23171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41360" y="984310"/>
            <a:ext cx="695088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dirty="0">
                <a:sym typeface="+mn-ea"/>
              </a:rPr>
              <a:t>glFrustum()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55" y="3429000"/>
            <a:ext cx="9776460" cy="26041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91160"/>
            <a:ext cx="5423535" cy="27463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Task1.</a:t>
            </a:r>
            <a:r>
              <a:rPr lang="zh-CN" altLang="en-US" sz="3200" dirty="0"/>
              <a:t>绘制</a:t>
            </a:r>
            <a:r>
              <a:rPr lang="en-US" altLang="zh-CN" sz="3200" dirty="0" err="1"/>
              <a:t>Sierpinski</a:t>
            </a:r>
            <a:r>
              <a:rPr lang="zh-CN" altLang="en-US" sz="3200" dirty="0"/>
              <a:t>镂垫程序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55685" y="1708648"/>
            <a:ext cx="9765552" cy="5008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阅读资料：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）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《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交互式计算机图形学基于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OpenGL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的自顶向下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》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第五版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,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第二章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要求：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）理解并实现课本程序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2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）为不同三角形设置不同的颜色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3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）为这个镂垫生成动画：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	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①镂垫的颜色随时间不断变化。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	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②在①的基础上增加旋转效果。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	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③在②的基础上增加缩放效果。</a:t>
            </a:r>
          </a:p>
        </p:txBody>
      </p:sp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0497" y="3549939"/>
            <a:ext cx="3018847" cy="297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Task2.</a:t>
            </a:r>
            <a:r>
              <a:rPr lang="zh-CN" altLang="en-US" sz="3200" dirty="0"/>
              <a:t>三维物体绘制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55685" y="1708648"/>
            <a:ext cx="9765552" cy="390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阅读资料：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）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《OpenGL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编程基础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》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第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3-5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章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要求：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）运行示例程序，完成思考题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2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）绘制一个旋转的正方体，完成思考题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	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在上述基础上，实现交互式的相机移动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cs typeface="Times New Roman" panose="02020603050405020304" pitchFamily="18" charset="0"/>
              </a:rPr>
              <a:t>3</a:t>
            </a:r>
            <a:r>
              <a:rPr lang="zh-CN" altLang="en-US" sz="2400" kern="100" dirty="0">
                <a:cs typeface="Times New Roman" panose="02020603050405020304" pitchFamily="18" charset="0"/>
              </a:rPr>
              <a:t>）绘制一个旋转的线框模型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示例程序运行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55685" y="1708648"/>
            <a:ext cx="9765552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运行提供给大家的程序 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projection/projection.exe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，运行情况如图表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2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，调整</a:t>
            </a:r>
            <a:r>
              <a:rPr lang="en-US" altLang="zh-CN" sz="2400" kern="100" dirty="0" err="1">
                <a:latin typeface="+mj-lt"/>
                <a:cs typeface="Times New Roman" panose="02020603050405020304" pitchFamily="18" charset="0"/>
              </a:rPr>
              <a:t>gl</a:t>
            </a:r>
            <a:r>
              <a:rPr lang="en-US" altLang="zh-CN" sz="2400" dirty="0" err="1">
                <a:latin typeface="+mj-lt"/>
              </a:rPr>
              <a:t>Perspective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、 </a:t>
            </a:r>
            <a:r>
              <a:rPr lang="en-US" altLang="zh-CN" sz="2400" kern="100" dirty="0" err="1">
                <a:latin typeface="+mj-lt"/>
                <a:cs typeface="Times New Roman" panose="02020603050405020304" pitchFamily="18" charset="0"/>
              </a:rPr>
              <a:t>gluLookAt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等函数的参数，了解各参数意义。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思考题：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OpenGL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中，三维空间的坐标系是怎么样的？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OpenGL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中，相机的方位是怎么样的？如何调整相机朝向呢？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OpenGL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中，相机可见范围是如何设置的？</a:t>
            </a:r>
          </a:p>
          <a:p>
            <a:pPr algn="just">
              <a:lnSpc>
                <a:spcPct val="150000"/>
              </a:lnSpc>
            </a:pPr>
            <a:endParaRPr lang="zh-CN" altLang="en-US" sz="2400" kern="100" dirty="0">
              <a:latin typeface="+mj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旋转的正方体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55685" y="1708648"/>
            <a:ext cx="9765552" cy="4799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运行提供的示例程序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(exp2-2-1.cpp)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，对程序进行改写：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比较开启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/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不开启深度缓冲区 </a:t>
            </a:r>
            <a:r>
              <a:rPr lang="en-US" altLang="zh-CN" sz="2400" kern="100" dirty="0" err="1">
                <a:latin typeface="+mj-lt"/>
                <a:cs typeface="Times New Roman" panose="02020603050405020304" pitchFamily="18" charset="0"/>
              </a:rPr>
              <a:t>glEnable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(GL_DEPTH_TEST) 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的效果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;</a:t>
            </a:r>
            <a:r>
              <a:rPr lang="zh-CN" altLang="en-US" sz="2400" kern="100" dirty="0">
                <a:cs typeface="Times New Roman" panose="02020603050405020304" pitchFamily="18" charset="0"/>
              </a:rPr>
              <a:t>理解深度缓冲区的作用、用法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让正方体自行旋转，而不是相机旋转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在正方体自行旋转的前提下，实现交互式的相机控制（</a:t>
            </a:r>
            <a:r>
              <a:rPr lang="en-US" altLang="zh-CN" sz="2400" kern="100" dirty="0" err="1">
                <a:latin typeface="+mj-lt"/>
                <a:cs typeface="Times New Roman" panose="02020603050405020304" pitchFamily="18" charset="0"/>
              </a:rPr>
              <a:t>wasd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控制相机的前进后退左右移动，</a:t>
            </a:r>
            <a:r>
              <a:rPr lang="en-US" altLang="zh-CN" sz="2400" kern="100" dirty="0" err="1">
                <a:latin typeface="+mj-lt"/>
                <a:cs typeface="Times New Roman" panose="02020603050405020304" pitchFamily="18" charset="0"/>
              </a:rPr>
              <a:t>qe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实现相机的升降，使用鼠标调整相机的朝向，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L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锁定相机的移动和旋转）</a:t>
            </a:r>
            <a:r>
              <a:rPr lang="zh-CN" altLang="zh-CN" dirty="0"/>
              <a:t> </a:t>
            </a:r>
            <a:endParaRPr lang="en-US" altLang="zh-CN" dirty="0"/>
          </a:p>
          <a:p>
            <a:pPr algn="just">
              <a:lnSpc>
                <a:spcPct val="150000"/>
              </a:lnSpc>
            </a:pPr>
            <a:r>
              <a:rPr lang="zh-CN" altLang="en-US" dirty="0"/>
              <a:t>思考题：</a:t>
            </a:r>
            <a:r>
              <a:rPr lang="zh-CN" altLang="zh-CN" dirty="0"/>
              <a:t>如何实现前后面的遮挡？你需要先自行了解一下深度缓冲区和深度测试的作用。搜索：</a:t>
            </a:r>
            <a:r>
              <a:rPr lang="en-US" altLang="zh-CN" dirty="0"/>
              <a:t>GL_DEPTH_TEST</a:t>
            </a:r>
            <a:r>
              <a:rPr lang="zh-CN" altLang="zh-CN" dirty="0"/>
              <a:t>关键字。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Task3.</a:t>
            </a:r>
            <a:r>
              <a:rPr lang="zh-CN" altLang="en-US" sz="3200" dirty="0"/>
              <a:t>线框球体的绘制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86150" y="1398682"/>
            <a:ext cx="7081150" cy="2239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在不使用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glut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对象的情况下，绘制一个线框球体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添加动画效果，让球体绕圆心旋转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添加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reshape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回调函数，使其不形变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添加交互式的相机控制（同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task2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）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029" name="图片 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04704" y="3812293"/>
            <a:ext cx="2878755" cy="2894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202604081558">
            <a:hlinkClick r:id="" action="ppaction://media"/>
            <a:extLst>
              <a:ext uri="{FF2B5EF4-FFF2-40B4-BE49-F238E27FC236}">
                <a16:creationId xmlns:a16="http://schemas.microsoft.com/office/drawing/2014/main" id="{8AEB3886-7F29-A9C1-B742-BD1CA484651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096000" y="2154845"/>
            <a:ext cx="5840709" cy="3285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708648"/>
            <a:ext cx="5693458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确保提交的可执行文件可以运行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（打分的重要依据）。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注意代码提交源文件即可（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.h, .</a:t>
            </a:r>
            <a:r>
              <a:rPr lang="en-US" altLang="zh-CN" sz="24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cpp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文件），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不要提交整个工程项目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每次实验作业的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提交截止日期为下一次理论课前一天晚上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4.14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作业提交说明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6DF93D0-C969-5670-1CBB-ACFFE556E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850" y="1708648"/>
            <a:ext cx="4632582" cy="344070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21819" y="1697359"/>
            <a:ext cx="9765552" cy="3900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未按时提交扣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分，超时一周则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取消本次作业分数</a:t>
            </a:r>
            <a:endParaRPr lang="en-US" altLang="zh-CN" sz="2400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运行效果不一致扣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未提交可执行文件扣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未提交代码扣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提交了工程扣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 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文档不详细扣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抄袭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本次作业直接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评分标准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933" y="1"/>
            <a:ext cx="3285067" cy="463871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55685" y="1708648"/>
            <a:ext cx="9765552" cy="442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封面整齐。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内容详实，结构合理。</a:t>
            </a:r>
            <a:endParaRPr lang="en-US" altLang="zh-CN" sz="20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Task2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为例 （详见实验说明文档）</a:t>
            </a: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完成。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附带实验流程、原理、关键代码和运行结果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完成。（附带实验流程、原理、关键代码和运行结果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部分完成。（附带实验流程、原理、关键代码和运行结果）</a:t>
            </a:r>
          </a:p>
          <a:p>
            <a:pPr algn="just">
              <a:lnSpc>
                <a:spcPct val="150000"/>
              </a:lnSpc>
            </a:pP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思考题：</a:t>
            </a:r>
          </a:p>
          <a:p>
            <a:pPr algn="just">
              <a:lnSpc>
                <a:spcPct val="150000"/>
              </a:lnSpc>
            </a:pP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如何实现前后面的遮挡？（你需要先自行了解一下深度缓冲区和深度测试的作用。搜索：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GL_DEPTH_TEST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关键字。）</a:t>
            </a:r>
          </a:p>
          <a:p>
            <a:pPr algn="just">
              <a:lnSpc>
                <a:spcPct val="150000"/>
              </a:lnSpc>
            </a:pP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答：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XXXX</a:t>
            </a:r>
            <a:endParaRPr lang="zh-CN" altLang="en-US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报告内容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latin typeface="+mj-ea"/>
              </a:rPr>
              <a:t>计算机图形学实验</a:t>
            </a:r>
            <a:r>
              <a:rPr lang="en-US" altLang="zh-CN" dirty="0">
                <a:latin typeface="+mj-ea"/>
              </a:rPr>
              <a:t>1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DF6F0"/>
              </a:clrFrom>
              <a:clrTo>
                <a:srgbClr val="FDF6F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34"/>
          <a:stretch>
            <a:fillRect/>
          </a:stretch>
        </p:blipFill>
        <p:spPr>
          <a:xfrm>
            <a:off x="0" y="4144948"/>
            <a:ext cx="12207123" cy="271305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g5NjdlYWJmY2I1ZTMzNTg3NjMxNmZhOWM0ZDc3ZD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1510</Words>
  <Application>Microsoft Office PowerPoint</Application>
  <PresentationFormat>宽屏</PresentationFormat>
  <Paragraphs>151</Paragraphs>
  <Slides>28</Slides>
  <Notes>24</Notes>
  <HiddenSlides>0</HiddenSlides>
  <MMClips>3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3" baseType="lpstr">
      <vt:lpstr>等线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Face Alignment meets Reconstruction</dc:title>
  <dc:creator>Yinglin Zheng (FA Talent)</dc:creator>
  <cp:lastModifiedBy>义生 庄</cp:lastModifiedBy>
  <cp:revision>886</cp:revision>
  <dcterms:created xsi:type="dcterms:W3CDTF">2019-10-10T05:31:00Z</dcterms:created>
  <dcterms:modified xsi:type="dcterms:W3CDTF">2026-04-08T08:04:48Z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1551B5B524D34A39888196DA7DCEE32F_12</vt:lpwstr>
  </property>
  <property fmtid="{D5CDD505-2E9C-101B-9397-08002B2CF9AE}" pid="3" name="KSOProductBuildVer">
    <vt:lpwstr>2052-12.1.0.20305</vt:lpwstr>
  </property>
</Properties>
</file>