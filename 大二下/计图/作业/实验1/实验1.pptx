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342" r:id="rId4"/>
    <p:sldId id="357" r:id="rId6"/>
    <p:sldId id="368" r:id="rId7"/>
    <p:sldId id="366" r:id="rId8"/>
    <p:sldId id="364" r:id="rId9"/>
    <p:sldId id="365" r:id="rId10"/>
    <p:sldId id="353" r:id="rId11"/>
    <p:sldId id="355" r:id="rId12"/>
    <p:sldId id="356" r:id="rId13"/>
    <p:sldId id="359" r:id="rId14"/>
    <p:sldId id="367" r:id="rId15"/>
    <p:sldId id="358" r:id="rId16"/>
    <p:sldId id="363" r:id="rId17"/>
    <p:sldId id="343" r:id="rId18"/>
    <p:sldId id="354" r:id="rId19"/>
    <p:sldId id="341" r:id="rId20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24A7D"/>
    <a:srgbClr val="00FF00"/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46" autoAdjust="0"/>
    <p:restoredTop sz="77556" autoAdjust="0"/>
  </p:normalViewPr>
  <p:slideViewPr>
    <p:cSldViewPr snapToGrid="0">
      <p:cViewPr varScale="1">
        <p:scale>
          <a:sx n="81" d="100"/>
          <a:sy n="81" d="100"/>
        </p:scale>
        <p:origin x="11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99AB5-65EE-4BAD-A1C6-CE1AEEDE7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移动相机位置实现图形位置改变</a:t>
            </a:r>
            <a:endParaRPr lang="en-US" altLang="zh-CN" sz="12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如何让圆转起来？  </a:t>
            </a:r>
            <a:r>
              <a:rPr lang="en-US" altLang="zh-CN" dirty="0"/>
              <a:t>OpenGL</a:t>
            </a:r>
            <a:r>
              <a:rPr lang="zh-CN" altLang="en-US" dirty="0"/>
              <a:t>编程指南 （红宝书）</a:t>
            </a:r>
            <a:r>
              <a:rPr lang="en-US" altLang="zh-CN" dirty="0"/>
              <a:t>P16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00" dirty="0">
                <a:latin typeface="Arial" panose="020B0604020202090204" pitchFamily="34" charset="0"/>
              </a:rPr>
              <a:t> </a:t>
            </a:r>
            <a:r>
              <a:rPr lang="zh-CN" altLang="en-US" sz="1200" kern="100" dirty="0">
                <a:latin typeface="Arial" panose="020B0604020202090204" pitchFamily="34" charset="0"/>
              </a:rPr>
              <a:t>如何让五环在拖动窗口大小时不变形？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https://www.jianshu.com/p/82af21eda232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D3D21-EA33-4203-BE34-55D8A4400A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31ACB-66F3-489D-8BB6-9FDD0213A07A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3697356" y="3277319"/>
            <a:ext cx="475090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3857896" y="2353989"/>
            <a:ext cx="4397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Thanks</a:t>
            </a:r>
            <a:endParaRPr lang="zh-CN" altLang="en-US" sz="5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5" name="文本占位符 20"/>
          <p:cNvSpPr>
            <a:spLocks noGrp="1"/>
          </p:cNvSpPr>
          <p:nvPr>
            <p:ph type="body" sz="quarter" idx="15" hasCustomPrompt="1"/>
          </p:nvPr>
        </p:nvSpPr>
        <p:spPr>
          <a:xfrm>
            <a:off x="3942190" y="3539116"/>
            <a:ext cx="4229240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en-US" altLang="zh-CN" dirty="0"/>
              <a:t>Speaker</a:t>
            </a:r>
            <a:endParaRPr lang="zh-CN" altLang="en-US" dirty="0"/>
          </a:p>
        </p:txBody>
      </p:sp>
      <p:sp>
        <p:nvSpPr>
          <p:cNvPr id="18" name="文本占位符 20"/>
          <p:cNvSpPr>
            <a:spLocks noGrp="1"/>
          </p:cNvSpPr>
          <p:nvPr>
            <p:ph type="body" sz="quarter" idx="16" hasCustomPrompt="1"/>
          </p:nvPr>
        </p:nvSpPr>
        <p:spPr>
          <a:xfrm>
            <a:off x="3319527" y="4018064"/>
            <a:ext cx="5474566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en-US" altLang="zh-CN" dirty="0"/>
              <a:t>Contact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1113183" y="546370"/>
            <a:ext cx="98993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占位符 20"/>
          <p:cNvSpPr>
            <a:spLocks noGrp="1"/>
          </p:cNvSpPr>
          <p:nvPr>
            <p:ph type="body" sz="quarter" idx="14" hasCustomPrompt="1"/>
          </p:nvPr>
        </p:nvSpPr>
        <p:spPr>
          <a:xfrm>
            <a:off x="1113183" y="181200"/>
            <a:ext cx="9899374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b="1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en-US" altLang="zh-CN" dirty="0"/>
              <a:t>Main title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clrChange>
              <a:clrFrom>
                <a:srgbClr val="FDF6F0"/>
              </a:clrFrom>
              <a:clrTo>
                <a:srgbClr val="FDF6F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34"/>
          <a:stretch>
            <a:fillRect/>
          </a:stretch>
        </p:blipFill>
        <p:spPr>
          <a:xfrm>
            <a:off x="0" y="4176653"/>
            <a:ext cx="12207123" cy="2713052"/>
          </a:xfrm>
          <a:prstGeom prst="rect">
            <a:avLst/>
          </a:prstGeom>
        </p:spPr>
      </p:pic>
      <p:sp>
        <p:nvSpPr>
          <p:cNvPr id="8" name="文本占位符 4"/>
          <p:cNvSpPr>
            <a:spLocks noGrp="1"/>
          </p:cNvSpPr>
          <p:nvPr/>
        </p:nvSpPr>
        <p:spPr>
          <a:xfrm>
            <a:off x="1215876" y="2590191"/>
            <a:ext cx="9775370" cy="36517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latin typeface="+mj-ea"/>
              </a:rPr>
              <a:t>计算机图形学实验</a:t>
            </a:r>
            <a:r>
              <a:rPr lang="en-US" altLang="zh-CN" sz="2400" b="1" dirty="0">
                <a:latin typeface="+mj-ea"/>
              </a:rPr>
              <a:t>1</a:t>
            </a:r>
            <a:endParaRPr lang="en-US" altLang="zh-CN" sz="2400" b="1" dirty="0">
              <a:latin typeface="+mj-ea"/>
            </a:endParaRPr>
          </a:p>
          <a:p>
            <a:r>
              <a:rPr lang="zh-CN" altLang="en-US" sz="2400" b="1" dirty="0">
                <a:latin typeface="+mj-ea"/>
              </a:rPr>
              <a:t>（</a:t>
            </a:r>
            <a:r>
              <a:rPr lang="en-US" altLang="zh-CN" sz="2400" b="1" dirty="0">
                <a:latin typeface="+mj-ea"/>
              </a:rPr>
              <a:t>OpenGL</a:t>
            </a:r>
            <a:r>
              <a:rPr lang="zh-CN" altLang="en-US" sz="2400" b="1" dirty="0">
                <a:latin typeface="+mj-ea"/>
              </a:rPr>
              <a:t>初步）</a:t>
            </a:r>
            <a:endParaRPr lang="en-US" altLang="zh-CN" sz="2400" b="1" dirty="0">
              <a:latin typeface="+mj-ea"/>
            </a:endParaRPr>
          </a:p>
        </p:txBody>
      </p:sp>
      <p:sp>
        <p:nvSpPr>
          <p:cNvPr id="9" name="文本占位符 5"/>
          <p:cNvSpPr>
            <a:spLocks noGrp="1"/>
          </p:cNvSpPr>
          <p:nvPr/>
        </p:nvSpPr>
        <p:spPr>
          <a:xfrm>
            <a:off x="3474400" y="1853210"/>
            <a:ext cx="5243195" cy="348409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1" name="文本占位符 8"/>
          <p:cNvSpPr>
            <a:spLocks noGrp="1"/>
          </p:cNvSpPr>
          <p:nvPr/>
        </p:nvSpPr>
        <p:spPr>
          <a:xfrm>
            <a:off x="1065417" y="4257555"/>
            <a:ext cx="10061163" cy="353406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2000" kern="1200" baseline="0" dirty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3" name="文本占位符 5"/>
          <p:cNvSpPr>
            <a:spLocks noGrp="1"/>
          </p:cNvSpPr>
          <p:nvPr/>
        </p:nvSpPr>
        <p:spPr>
          <a:xfrm>
            <a:off x="3474401" y="1821098"/>
            <a:ext cx="5243195" cy="348409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573491" y="1067356"/>
            <a:ext cx="110707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Computer Graphics</a:t>
            </a:r>
            <a:endParaRPr lang="en-US" altLang="zh-CN" sz="3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028" name="Picture 4" descr="https://www.xmu.edu.cn/images/logo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674" y="3807555"/>
            <a:ext cx="3133735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OpenGL</a:t>
            </a:r>
            <a:r>
              <a:rPr lang="zh-CN" altLang="en-US" sz="3200" dirty="0"/>
              <a:t>初步</a:t>
            </a:r>
            <a:endParaRPr lang="en-US" altLang="zh-CN" sz="3200" dirty="0"/>
          </a:p>
        </p:txBody>
      </p:sp>
      <p:sp>
        <p:nvSpPr>
          <p:cNvPr id="5" name="文本框 4"/>
          <p:cNvSpPr txBox="1"/>
          <p:nvPr/>
        </p:nvSpPr>
        <p:spPr>
          <a:xfrm>
            <a:off x="1055685" y="1708648"/>
            <a:ext cx="9765552" cy="4455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>
                <a:effectLst/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1.</a:t>
            </a:r>
            <a:r>
              <a:rPr lang="zh-CN" altLang="en-US" sz="2400" kern="100" dirty="0">
                <a:effectLst/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上节内容回顾</a:t>
            </a:r>
            <a:endParaRPr lang="en-US" altLang="zh-CN" sz="2400" kern="100" dirty="0">
              <a:effectLst/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>
                <a:effectLst/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OpenGL</a:t>
            </a:r>
            <a:r>
              <a:rPr lang="zh-CN" altLang="en-US" sz="2400" kern="100" dirty="0">
                <a:effectLst/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环境配置</a:t>
            </a:r>
            <a:endParaRPr lang="en-US" altLang="zh-CN" sz="2400" kern="100" dirty="0">
              <a:effectLst/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effectLst/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绘制圆形、改变顶点颜色、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改变图像在屏幕中的位置</a:t>
            </a:r>
            <a:endParaRPr lang="en-US" altLang="zh-CN" sz="2400" kern="100" dirty="0">
              <a:effectLst/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2.</a:t>
            </a:r>
            <a:r>
              <a:rPr lang="zh-CN" altLang="en-US" sz="2400" kern="10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本次实验说明</a:t>
            </a:r>
            <a:endParaRPr lang="en-US" altLang="zh-CN" sz="2400" kern="100" dirty="0">
              <a:effectLst/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effectLst/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运行提供的示例程序</a:t>
            </a:r>
            <a:endParaRPr lang="en-US" altLang="zh-CN" sz="2400" kern="100" dirty="0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effectLst/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绘制一个实心的圆</a:t>
            </a:r>
            <a:endParaRPr lang="en-US" altLang="zh-CN" sz="2400" kern="100" dirty="0">
              <a:effectLst/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effectLst/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绘制一个奥运五环</a:t>
            </a:r>
            <a:endParaRPr lang="en-US" altLang="zh-CN" sz="2400" kern="100" dirty="0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>
                <a:effectLst/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3.</a:t>
            </a:r>
            <a:r>
              <a:rPr lang="zh-CN" altLang="en-US" sz="2400" kern="100" dirty="0">
                <a:effectLst/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实验报告说明</a:t>
            </a:r>
            <a:endParaRPr lang="en-US" altLang="zh-CN" sz="2400" kern="100" dirty="0">
              <a:effectLst/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5685" y="1708648"/>
            <a:ext cx="9765552" cy="3346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OpenGL</a:t>
            </a:r>
            <a:r>
              <a:rPr lang="zh-CN" altLang="en-US" sz="2400" kern="10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的配置</a:t>
            </a:r>
            <a:endParaRPr lang="en-US" altLang="zh-CN" sz="2400" kern="100" dirty="0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	</a:t>
            </a:r>
            <a:r>
              <a:rPr lang="en-US" altLang="zh-CN" sz="2400" kern="1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[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请务必熟悉此流程，今后每次实验都会用到</a:t>
            </a:r>
            <a:r>
              <a:rPr lang="en-US" altLang="zh-CN" sz="2400" kern="1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]</a:t>
            </a:r>
            <a:endParaRPr lang="en-US" altLang="zh-CN" sz="2400" kern="100" dirty="0">
              <a:solidFill>
                <a:srgbClr val="FF0000"/>
              </a:solidFill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思考题解答与提示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绘制圆形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改变顶点颜色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改变图像在屏幕中的位置</a:t>
            </a:r>
            <a:endParaRPr lang="zh-CN" altLang="en-US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上节内容回顾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b="19262"/>
          <a:stretch>
            <a:fillRect/>
          </a:stretch>
        </p:blipFill>
        <p:spPr>
          <a:xfrm>
            <a:off x="0" y="683578"/>
            <a:ext cx="12192000" cy="54908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圆的绘制</a:t>
            </a:r>
            <a:endParaRPr lang="zh-CN" altLang="en-US" sz="32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7692" y="2060403"/>
            <a:ext cx="2880079" cy="246174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17" y="2060403"/>
            <a:ext cx="2867750" cy="246174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373" y="2060403"/>
            <a:ext cx="3105768" cy="246174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935678" y="4648591"/>
            <a:ext cx="1377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 = 10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5929745" y="4636716"/>
            <a:ext cx="1377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 = 20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413174" y="4630179"/>
            <a:ext cx="1377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 = 1000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5685" y="1708648"/>
            <a:ext cx="9765552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b="0" kern="100" dirty="0"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点的颜色，由当前颜色状态决定 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（</a:t>
            </a:r>
            <a:r>
              <a:rPr lang="en-US" altLang="zh-CN" sz="2400" kern="100" dirty="0" err="1"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glColor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）</a:t>
            </a:r>
            <a:endParaRPr lang="en-US" altLang="zh-CN" sz="2400" b="0" kern="100" dirty="0"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颜色插值</a:t>
            </a:r>
            <a:endParaRPr lang="zh-CN" altLang="en-US" sz="32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7615" y="2288615"/>
            <a:ext cx="7636769" cy="41487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44799" y="1502890"/>
            <a:ext cx="9765552" cy="1684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固定相机位置：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指定图形的绝对位置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使用</a:t>
            </a:r>
            <a:r>
              <a:rPr lang="en-US" altLang="zh-CN" sz="2400" kern="1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glTranslatef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改变图形的相对位置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改变图像在屏幕中的位置</a:t>
            </a:r>
            <a:endParaRPr lang="zh-CN" altLang="en-US" sz="32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5570" y="3465195"/>
            <a:ext cx="3328035" cy="28879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555" y="3465195"/>
            <a:ext cx="3702685" cy="2887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004695" y="6353175"/>
            <a:ext cx="20897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固定相机位置</a:t>
            </a:r>
            <a:endParaRPr lang="zh-CN" altLang="en-US" sz="2400" kern="10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14005" y="6353175"/>
            <a:ext cx="20897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相对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位移</a:t>
            </a:r>
            <a:endParaRPr lang="zh-CN" altLang="en-US" sz="2400" kern="10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5685" y="1708648"/>
            <a:ext cx="9765552" cy="4455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建议阅读资料：</a:t>
            </a:r>
            <a:endParaRPr lang="zh-CN" altLang="en-US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《OpenGL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编程基础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》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第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章</a:t>
            </a:r>
            <a:endParaRPr lang="zh-CN" altLang="en-US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endParaRPr lang="zh-CN" altLang="en-US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要求：</a:t>
            </a:r>
            <a:endParaRPr lang="zh-CN" altLang="en-US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）编写、运行示例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OpenGL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程序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）用鼠标改变窗口大小会发生什么？哪个函数在影响整个过程？</a:t>
            </a:r>
            <a:endParaRPr lang="zh-CN" altLang="en-US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）尝试理解、运行红宝书或者教材中其他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OpenGL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程序</a:t>
            </a:r>
            <a:endParaRPr lang="zh-CN" altLang="en-US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endParaRPr lang="zh-CN" altLang="en-US" sz="2400" kern="100" dirty="0">
              <a:latin typeface="Arial" panose="020B060402020209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85527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Task1 </a:t>
            </a:r>
            <a:r>
              <a:rPr lang="zh-CN" altLang="en-US" sz="3200" dirty="0"/>
              <a:t>运行提供的示例程序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5685" y="1708648"/>
            <a:ext cx="9765552" cy="1128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latin typeface="Arial" panose="020B0604020202090204" pitchFamily="34" charset="0"/>
              </a:rPr>
              <a:t>	</a:t>
            </a:r>
            <a:r>
              <a:rPr lang="zh-CN" altLang="en-US" sz="2400" kern="100" dirty="0">
                <a:latin typeface="Arial" panose="020B0604020202090204" pitchFamily="34" charset="0"/>
              </a:rPr>
              <a:t>绘制一个实心的圆。要求圆分成若干个扇形，每个扇形颜色不同。例如下图：</a:t>
            </a:r>
            <a:endParaRPr lang="en-US" altLang="zh-CN" sz="2400" kern="100" dirty="0">
              <a:latin typeface="Arial" panose="020B060402020209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78528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Task2 </a:t>
            </a:r>
            <a:r>
              <a:rPr lang="zh-CN" altLang="en-US" sz="3200" dirty="0"/>
              <a:t>绘制一个实心的圆</a:t>
            </a:r>
            <a:endParaRPr lang="zh-CN" altLang="en-US" sz="32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6904" y="2837227"/>
            <a:ext cx="2898192" cy="26804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55685" y="5643279"/>
            <a:ext cx="976555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/>
              <a:t>附加题：如何让圆转起来</a:t>
            </a:r>
            <a:r>
              <a:rPr lang="en-US" altLang="zh-CN" sz="2400" dirty="0"/>
              <a:t>?</a:t>
            </a:r>
            <a:r>
              <a:rPr lang="zh-CN" altLang="en-US" sz="2400" dirty="0"/>
              <a:t> </a:t>
            </a:r>
            <a:r>
              <a:rPr lang="en-US" altLang="zh-CN" sz="2400" dirty="0"/>
              <a:t>《OpenGL</a:t>
            </a:r>
            <a:r>
              <a:rPr lang="zh-CN" altLang="en-US" sz="2400" dirty="0"/>
              <a:t>编程指南</a:t>
            </a:r>
            <a:r>
              <a:rPr lang="en-US" altLang="zh-CN" sz="2400" dirty="0"/>
              <a:t>》</a:t>
            </a:r>
            <a:r>
              <a:rPr lang="zh-CN" altLang="en-US" sz="2400" dirty="0"/>
              <a:t>（红宝书）</a:t>
            </a:r>
            <a:r>
              <a:rPr lang="en-US" altLang="zh-CN" sz="2400" dirty="0"/>
              <a:t>P16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5685" y="1708648"/>
            <a:ext cx="9765552" cy="1128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latin typeface="Arial" panose="020B0604020202090204" pitchFamily="34" charset="0"/>
              </a:rPr>
              <a:t>       </a:t>
            </a:r>
            <a:r>
              <a:rPr lang="zh-CN" altLang="en-US" sz="2400" kern="100" dirty="0">
                <a:latin typeface="Arial" panose="020B0604020202090204" pitchFamily="34" charset="0"/>
              </a:rPr>
              <a:t>绘制一个奥运五环，要求形状及颜色保持和下图一致，且要求颜色重叠部分完全和下图相同（即需要虑颜色的遮挡）。</a:t>
            </a:r>
            <a:endParaRPr lang="en-US" altLang="zh-CN" sz="2400" kern="100" dirty="0">
              <a:latin typeface="Arial" panose="020B060402020209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77851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Task3 </a:t>
            </a:r>
            <a:r>
              <a:rPr lang="zh-CN" altLang="en-US" sz="3200" dirty="0"/>
              <a:t>绘制一个奥运五环</a:t>
            </a:r>
            <a:endParaRPr lang="zh-CN" altLang="en-US" sz="32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2412" y="2837227"/>
            <a:ext cx="4494776" cy="300404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55685" y="5643279"/>
            <a:ext cx="976555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Arial" panose="020B0604020202090204" pitchFamily="34" charset="0"/>
              </a:rPr>
              <a:t>附加题：如何让五环在拖动窗口大小时不变形？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5685" y="1708648"/>
            <a:ext cx="10086448" cy="2239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Arial" panose="020B0604020202090204" pitchFamily="34" charset="0"/>
              </a:rPr>
              <a:t>请求一个深度缓存</a:t>
            </a:r>
            <a:endParaRPr lang="en-US" altLang="zh-CN" sz="2400" kern="100" dirty="0">
              <a:latin typeface="Arial" panose="020B060402020209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latin typeface="Arial" panose="020B0604020202090204" pitchFamily="34" charset="0"/>
              </a:rPr>
              <a:t>	</a:t>
            </a:r>
            <a:r>
              <a:rPr lang="en-US" altLang="zh-CN" sz="2400" kern="100" dirty="0" err="1">
                <a:latin typeface="Arial" panose="020B0604020202090204" pitchFamily="34" charset="0"/>
              </a:rPr>
              <a:t>glutInitDisplayMode</a:t>
            </a:r>
            <a:r>
              <a:rPr lang="en-US" altLang="zh-CN" sz="2400" kern="100" dirty="0">
                <a:latin typeface="Arial" panose="020B0604020202090204" pitchFamily="34" charset="0"/>
              </a:rPr>
              <a:t>(GLUT_RGB|GLUT_DOUBLE|GLUT_DEPTH);</a:t>
            </a:r>
            <a:endParaRPr lang="en-US" altLang="zh-CN" sz="2400" kern="100" dirty="0">
              <a:latin typeface="Arial" panose="020B060402020209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Arial" panose="020B0604020202090204" pitchFamily="34" charset="0"/>
              </a:rPr>
              <a:t>清空深度缓存</a:t>
            </a:r>
            <a:endParaRPr lang="en-US" altLang="zh-CN" sz="2400" kern="100" dirty="0">
              <a:latin typeface="Arial" panose="020B060402020209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latin typeface="Arial" panose="020B0604020202090204" pitchFamily="34" charset="0"/>
              </a:rPr>
              <a:t>	</a:t>
            </a:r>
            <a:r>
              <a:rPr lang="en-US" altLang="zh-CN" sz="2400" kern="100" dirty="0" err="1">
                <a:latin typeface="Arial" panose="020B0604020202090204" pitchFamily="34" charset="0"/>
              </a:rPr>
              <a:t>glClear</a:t>
            </a:r>
            <a:r>
              <a:rPr lang="en-US" altLang="zh-CN" sz="2400" kern="100" dirty="0">
                <a:latin typeface="Arial" panose="020B0604020202090204" pitchFamily="34" charset="0"/>
              </a:rPr>
              <a:t>(GL_COLOR_BUFFER_BIT | GL_DEPTH_BUFFER_BIT);</a:t>
            </a:r>
            <a:endParaRPr lang="en-US" altLang="zh-CN" sz="2400" kern="100" dirty="0">
              <a:latin typeface="Arial" panose="020B060402020209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77851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OpenGL</a:t>
            </a:r>
            <a:r>
              <a:rPr lang="zh-CN" altLang="en-US" sz="3200" dirty="0"/>
              <a:t>深度测试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68640" y="640140"/>
            <a:ext cx="77851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OpenGL</a:t>
            </a:r>
            <a:r>
              <a:rPr lang="zh-CN" altLang="en-US" sz="3200" dirty="0"/>
              <a:t>深度测试</a:t>
            </a:r>
            <a:endParaRPr lang="zh-CN" altLang="en-US" sz="3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886" y="1656980"/>
            <a:ext cx="5562210" cy="367130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083769" y="5328284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关闭深度测试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322" y="1656979"/>
            <a:ext cx="5535245" cy="364739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353778" y="5304376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开启深度测试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5685" y="1708648"/>
            <a:ext cx="9765552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本次实验只需要提交</a:t>
            </a:r>
            <a:r>
              <a:rPr lang="en-US" altLang="zh-CN" sz="2400" kern="1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Task2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、</a:t>
            </a:r>
            <a:r>
              <a:rPr lang="en-US" altLang="zh-CN" sz="2400" kern="1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endParaRPr lang="en-US" altLang="zh-CN" sz="2400" kern="1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请根据实验结果，提交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word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版本实验报告，实验报告写明学号姓名，陈述、展示实验结果。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提交方式为：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将代码源文件、可执行文件、实验报告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放到一个文件夹中，文件夹命名格式为：学号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_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姓名，压缩后上传到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ftp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服务器中相应目录下（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上传作业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曾鸣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/2026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图形学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实验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）。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作业提交说明</a:t>
            </a:r>
            <a:endParaRPr lang="zh-CN" altLang="en-US" sz="3200" dirty="0"/>
          </a:p>
        </p:txBody>
      </p:sp>
      <p:sp>
        <p:nvSpPr>
          <p:cNvPr id="2" name="文本框 1"/>
          <p:cNvSpPr txBox="1"/>
          <p:nvPr/>
        </p:nvSpPr>
        <p:spPr>
          <a:xfrm>
            <a:off x="8438606" y="4807132"/>
            <a:ext cx="41539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错误命名：</a:t>
            </a:r>
            <a:endParaRPr lang="en-US" altLang="zh-CN" sz="24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2400" dirty="0">
                <a:latin typeface="+mn-ea"/>
              </a:rPr>
              <a:t>学号</a:t>
            </a:r>
            <a:r>
              <a:rPr lang="en-US" altLang="zh-CN" sz="2400" dirty="0">
                <a:latin typeface="+mn-ea"/>
              </a:rPr>
              <a:t>+</a:t>
            </a:r>
            <a:r>
              <a:rPr lang="zh-CN" altLang="en-US" sz="2400" dirty="0">
                <a:latin typeface="+mn-ea"/>
              </a:rPr>
              <a:t>姓名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 sz="2400" dirty="0">
                <a:latin typeface="+mn-ea"/>
              </a:rPr>
              <a:t>学号</a:t>
            </a:r>
            <a:r>
              <a:rPr lang="en-US" altLang="zh-CN" sz="2400" dirty="0">
                <a:latin typeface="+mn-ea"/>
              </a:rPr>
              <a:t>_</a:t>
            </a:r>
            <a:r>
              <a:rPr lang="zh-CN" altLang="en-US" sz="2400" dirty="0">
                <a:latin typeface="+mn-ea"/>
              </a:rPr>
              <a:t>姓名</a:t>
            </a:r>
            <a:r>
              <a:rPr lang="en-US" altLang="zh-CN" sz="2400" dirty="0">
                <a:latin typeface="+mn-ea"/>
              </a:rPr>
              <a:t>_</a:t>
            </a:r>
            <a:r>
              <a:rPr lang="zh-CN" altLang="en-US" sz="2400" dirty="0">
                <a:latin typeface="+mn-ea"/>
              </a:rPr>
              <a:t>实验</a:t>
            </a:r>
            <a:r>
              <a:rPr lang="en-US" altLang="zh-CN" sz="2400" dirty="0">
                <a:latin typeface="+mn-ea"/>
              </a:rPr>
              <a:t>0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 sz="2400" dirty="0">
                <a:latin typeface="+mn-ea"/>
              </a:rPr>
              <a:t>学号</a:t>
            </a:r>
            <a:r>
              <a:rPr lang="en-US" altLang="zh-CN" sz="2400" dirty="0">
                <a:latin typeface="+mn-ea"/>
              </a:rPr>
              <a:t>_</a:t>
            </a:r>
            <a:r>
              <a:rPr lang="zh-CN" altLang="en-US" sz="2400" dirty="0">
                <a:latin typeface="+mn-ea"/>
              </a:rPr>
              <a:t>姓名</a:t>
            </a:r>
            <a:r>
              <a:rPr lang="en-US" altLang="zh-CN" sz="2400" dirty="0">
                <a:latin typeface="+mn-ea"/>
              </a:rPr>
              <a:t>_lab0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 sz="2400" dirty="0">
                <a:latin typeface="+mn-ea"/>
              </a:rPr>
              <a:t>姓名</a:t>
            </a:r>
            <a:r>
              <a:rPr lang="en-US" altLang="zh-CN" sz="2400" dirty="0">
                <a:latin typeface="+mn-ea"/>
              </a:rPr>
              <a:t>_</a:t>
            </a:r>
            <a:r>
              <a:rPr lang="zh-CN" altLang="en-US" sz="2400" dirty="0">
                <a:latin typeface="+mn-ea"/>
              </a:rPr>
              <a:t>学号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5685" y="1708648"/>
            <a:ext cx="5693458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请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确保提交的可执行文件可以运行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（打分的重要依据）。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注意代码提交源文件即可（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2400" kern="1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cpp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文件），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不要提交整个工程项目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每次实验作业的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提交截止日期为下一次理论课前一天晚上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en-US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作业提交说明</a:t>
            </a:r>
            <a:endParaRPr lang="zh-CN" altLang="en-US" sz="32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9765" y="1568450"/>
            <a:ext cx="4635500" cy="279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21819" y="1697359"/>
            <a:ext cx="9765552" cy="4454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未按时提交扣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10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分，超时一周则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取消本次作业分数</a:t>
            </a:r>
            <a:endParaRPr lang="en-US" altLang="zh-CN" sz="2400" kern="1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运行效果不一致扣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20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分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未提交可执行文件扣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15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分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未提交代码扣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15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分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提交了工程扣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10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分 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文档不详细扣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10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分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做出附加题加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10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分，不做不扣分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抄袭本次作业直接</a:t>
            </a:r>
            <a:r>
              <a:rPr lang="en-US" altLang="zh-CN" sz="2400" kern="1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分</a:t>
            </a:r>
            <a:endParaRPr lang="zh-CN" altLang="en-US" sz="2400" kern="1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评分标准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5685" y="1708648"/>
            <a:ext cx="9765552" cy="5008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封面整齐。</a:t>
            </a:r>
            <a:endParaRPr lang="zh-CN" altLang="en-US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内容详实，结构合理。</a:t>
            </a:r>
            <a:endParaRPr lang="zh-CN" altLang="en-US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以奥运五环为例</a:t>
            </a:r>
            <a:endParaRPr lang="zh-CN" altLang="en-US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①画一个圆环，阐述实现原理和对应代码、运行结果截图。</a:t>
            </a:r>
            <a:endParaRPr lang="zh-CN" altLang="en-US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②画五个环，完成上色和环的位置偏移操作。阐述实现原理和对应代码、运行结果截图。</a:t>
            </a:r>
            <a:endParaRPr lang="zh-CN" altLang="en-US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③实现穿插，阐述穿插实现原理、对应代码、运行结果截图。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④拖动不变形，阐述穿插实现原理、对应代码、运行结果截图。</a:t>
            </a:r>
            <a:endParaRPr lang="zh-CN" altLang="en-US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报告内容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latin typeface="+mj-ea"/>
              </a:rPr>
              <a:t>计算机图形学实验</a:t>
            </a:r>
            <a:r>
              <a:rPr lang="en-US" altLang="zh-CN" dirty="0">
                <a:latin typeface="+mj-ea"/>
              </a:rPr>
              <a:t>1</a:t>
            </a:r>
            <a:endParaRPr lang="en-US" altLang="zh-CN" dirty="0">
              <a:latin typeface="+mj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clrChange>
              <a:clrFrom>
                <a:srgbClr val="FDF6F0"/>
              </a:clrFrom>
              <a:clrTo>
                <a:srgbClr val="FDF6F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34"/>
          <a:stretch>
            <a:fillRect/>
          </a:stretch>
        </p:blipFill>
        <p:spPr>
          <a:xfrm>
            <a:off x="0" y="4144948"/>
            <a:ext cx="12207123" cy="271305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2JiNTU2NDQ4NWRjZmUyNTAxNWM5MTc1ZmY1MDQ0ND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1285</Words>
  <Application>WPS 演示</Application>
  <PresentationFormat>宽屏</PresentationFormat>
  <Paragraphs>125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40" baseType="lpstr">
      <vt:lpstr>Arial</vt:lpstr>
      <vt:lpstr>宋体</vt:lpstr>
      <vt:lpstr>Wingdings</vt:lpstr>
      <vt:lpstr>Times New Roman</vt:lpstr>
      <vt:lpstr>仿宋</vt:lpstr>
      <vt:lpstr>方正仿宋_GBK</vt:lpstr>
      <vt:lpstr>黑体</vt:lpstr>
      <vt:lpstr>汉仪中黑KW</vt:lpstr>
      <vt:lpstr>Cambria Math</vt:lpstr>
      <vt:lpstr>Kingsoft Math</vt:lpstr>
      <vt:lpstr>微软雅黑</vt:lpstr>
      <vt:lpstr>汉仪旗黑</vt:lpstr>
      <vt:lpstr>宋体</vt:lpstr>
      <vt:lpstr>Arial Unicode MS</vt:lpstr>
      <vt:lpstr>等线</vt:lpstr>
      <vt:lpstr>汉仪中等线KW</vt:lpstr>
      <vt:lpstr>Calibri</vt:lpstr>
      <vt:lpstr>Helvetica Neue</vt:lpstr>
      <vt:lpstr>汉仪书宋二KW</vt:lpstr>
      <vt:lpstr>Wingdings</vt:lpstr>
      <vt:lpstr>仿宋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Face Alignment meets Reconstruction</dc:title>
  <dc:creator>Yinglin Zheng (FA Talent)</dc:creator>
  <cp:lastModifiedBy>猫弦_</cp:lastModifiedBy>
  <cp:revision>723</cp:revision>
  <dcterms:created xsi:type="dcterms:W3CDTF">2026-03-24T10:44:25Z</dcterms:created>
  <dcterms:modified xsi:type="dcterms:W3CDTF">2026-03-24T10:44:25Z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270D78B2B5554FD19528103EEB5ED43A_12</vt:lpwstr>
  </property>
  <property fmtid="{D5CDD505-2E9C-101B-9397-08002B2CF9AE}" pid="3" name="KSOProductBuildVer">
    <vt:lpwstr>2052-12.1.25205.25205</vt:lpwstr>
  </property>
</Properties>
</file>