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343" r:id="rId3"/>
    <p:sldId id="348" r:id="rId4"/>
    <p:sldId id="347" r:id="rId5"/>
    <p:sldId id="342" r:id="rId6"/>
    <p:sldId id="349" r:id="rId7"/>
    <p:sldId id="358" r:id="rId8"/>
    <p:sldId id="363" r:id="rId9"/>
    <p:sldId id="364" r:id="rId10"/>
    <p:sldId id="34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4A7D"/>
    <a:srgbClr val="00FF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6" autoAdjust="0"/>
    <p:restoredTop sz="80665" autoAdjust="0"/>
  </p:normalViewPr>
  <p:slideViewPr>
    <p:cSldViewPr snapToGrid="0">
      <p:cViewPr varScale="1">
        <p:scale>
          <a:sx n="101" d="100"/>
          <a:sy n="101" d="100"/>
        </p:scale>
        <p:origin x="6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99AB5-65EE-4BAD-A1C6-CE1AEEDE78F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D4C2C-B2E8-48C4-9A1C-F85E2374B6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状态决定了输入的处理方式。通过调用函数改变</a:t>
            </a:r>
            <a:r>
              <a:rPr lang="en-US" altLang="zh-CN" dirty="0"/>
              <a:t>OpenGL</a:t>
            </a:r>
            <a:r>
              <a:rPr lang="zh-CN" altLang="en-US" dirty="0"/>
              <a:t>的状态从而改变输出的像素。</a:t>
            </a:r>
            <a:endParaRPr lang="en-US" altLang="zh-CN" dirty="0"/>
          </a:p>
          <a:p>
            <a:r>
              <a:rPr lang="zh-CN" altLang="en-US"/>
              <a:t>包括指定颜色、观察条件、材质属性和其他许多变量的函数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状态决定了输入的处理方式。通过调用函数改变</a:t>
            </a:r>
            <a:r>
              <a:rPr lang="en-US" altLang="zh-CN" dirty="0"/>
              <a:t>OpenGL</a:t>
            </a:r>
            <a:r>
              <a:rPr lang="zh-CN" altLang="en-US" dirty="0"/>
              <a:t>的状态从而改变输出的像素。</a:t>
            </a:r>
            <a:endParaRPr lang="en-US" altLang="zh-CN" dirty="0"/>
          </a:p>
          <a:p>
            <a:r>
              <a:rPr lang="zh-CN" altLang="en-US"/>
              <a:t>包括指定颜色、观察条件、材质属性和其他许多变量的函数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状态决定了输入的处理方式。通过调用函数改变</a:t>
            </a:r>
            <a:r>
              <a:rPr lang="en-US" altLang="zh-CN" dirty="0"/>
              <a:t>OpenGL</a:t>
            </a:r>
            <a:r>
              <a:rPr lang="zh-CN" altLang="en-US" dirty="0"/>
              <a:t>的状态从而改变输出的像素。</a:t>
            </a:r>
            <a:endParaRPr lang="en-US" altLang="zh-CN" dirty="0"/>
          </a:p>
          <a:p>
            <a:r>
              <a:rPr lang="zh-CN" altLang="en-US"/>
              <a:t>包括指定颜色、观察条件、材质属性和其他许多变量的函数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3D21-EA33-4203-BE34-55D8A4400A9B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31ACB-66F3-489D-8BB6-9FDD0213A07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697356" y="3277319"/>
            <a:ext cx="47509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7896" y="2353989"/>
            <a:ext cx="4397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Thanks</a:t>
            </a:r>
            <a:endParaRPr lang="zh-CN" alt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3942190" y="3539116"/>
            <a:ext cx="4229240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Speaker</a:t>
            </a:r>
            <a:endParaRPr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3319527" y="4018064"/>
            <a:ext cx="5474566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Contact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113183" y="546370"/>
            <a:ext cx="9899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113183" y="181200"/>
            <a:ext cx="9899374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b="1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Main 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B4CB-BCA2-4E68-9E92-CDFFF06D944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76653"/>
            <a:ext cx="12207123" cy="2713052"/>
          </a:xfrm>
          <a:prstGeom prst="rect">
            <a:avLst/>
          </a:prstGeom>
        </p:spPr>
      </p:pic>
      <p:sp>
        <p:nvSpPr>
          <p:cNvPr id="8" name="文本占位符 4"/>
          <p:cNvSpPr>
            <a:spLocks noGrp="1"/>
          </p:cNvSpPr>
          <p:nvPr/>
        </p:nvSpPr>
        <p:spPr>
          <a:xfrm>
            <a:off x="1215876" y="2590191"/>
            <a:ext cx="9775370" cy="36517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+mj-ea"/>
              </a:rPr>
              <a:t>计算机图形学实验</a:t>
            </a:r>
            <a:r>
              <a:rPr lang="en-US" altLang="zh-CN" sz="2400" b="1" dirty="0">
                <a:latin typeface="+mj-ea"/>
              </a:rPr>
              <a:t>0</a:t>
            </a:r>
          </a:p>
          <a:p>
            <a:r>
              <a:rPr lang="zh-CN" altLang="en-US" sz="2400" b="1" dirty="0">
                <a:latin typeface="+mj-ea"/>
              </a:rPr>
              <a:t>（前置实验）</a:t>
            </a:r>
            <a:endParaRPr lang="en-US" altLang="zh-CN" sz="2400" b="1" dirty="0">
              <a:latin typeface="+mj-ea"/>
            </a:endParaRPr>
          </a:p>
        </p:txBody>
      </p:sp>
      <p:sp>
        <p:nvSpPr>
          <p:cNvPr id="9" name="文本占位符 5"/>
          <p:cNvSpPr>
            <a:spLocks noGrp="1"/>
          </p:cNvSpPr>
          <p:nvPr/>
        </p:nvSpPr>
        <p:spPr>
          <a:xfrm>
            <a:off x="3474400" y="1853210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1" name="文本占位符 8"/>
          <p:cNvSpPr>
            <a:spLocks noGrp="1"/>
          </p:cNvSpPr>
          <p:nvPr/>
        </p:nvSpPr>
        <p:spPr>
          <a:xfrm>
            <a:off x="1065417" y="4257555"/>
            <a:ext cx="10061163" cy="35340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2000" kern="1200" baseline="0" dirty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3" name="文本占位符 5"/>
          <p:cNvSpPr>
            <a:spLocks noGrp="1"/>
          </p:cNvSpPr>
          <p:nvPr/>
        </p:nvSpPr>
        <p:spPr>
          <a:xfrm>
            <a:off x="3474401" y="1821098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73491" y="1067356"/>
            <a:ext cx="110707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Computer Graphics</a:t>
            </a:r>
          </a:p>
        </p:txBody>
      </p:sp>
      <p:pic>
        <p:nvPicPr>
          <p:cNvPr id="1028" name="Picture 4" descr="https://www.xmu.edu.cn/images/logo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674" y="3807555"/>
            <a:ext cx="3133735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157468"/>
            <a:ext cx="9765552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  <a:ea typeface="黑体" panose="02010609060101010101" pitchFamily="49" charset="-122"/>
              </a:rPr>
              <a:t>图形应用程序的三要素</a:t>
            </a:r>
            <a:endParaRPr lang="en-US" altLang="zh-CN" sz="2400" kern="100" dirty="0">
              <a:latin typeface="Arial" panose="020B0604020202090204" pitchFamily="34" charset="0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指定绘制对象</a:t>
            </a:r>
            <a:r>
              <a:rPr lang="en-US" altLang="zh-CN" sz="2400" kern="100" dirty="0">
                <a:latin typeface="Arial" panose="020B0604020202090204" pitchFamily="34" charset="0"/>
              </a:rPr>
              <a:t>	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描述对象的属性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定义这些对象被观察的方式 </a:t>
            </a:r>
            <a:endParaRPr lang="en-US" altLang="zh-CN" sz="2400" kern="100" dirty="0">
              <a:latin typeface="Arial" panose="020B0604020202090204" pitchFamily="34" charset="0"/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latin typeface="Arial" panose="020B0604020202090204" pitchFamily="34" charset="0"/>
                <a:sym typeface="Wingdings" panose="05000000000000000000" pitchFamily="2" charset="2"/>
              </a:rPr>
              <a:t>openGL</a:t>
            </a:r>
            <a:r>
              <a:rPr lang="zh-CN" altLang="en-US" sz="2400" kern="100" dirty="0">
                <a:latin typeface="Arial" panose="020B0604020202090204" pitchFamily="34" charset="0"/>
                <a:sym typeface="Wingdings" panose="05000000000000000000" pitchFamily="2" charset="2"/>
              </a:rPr>
              <a:t>状态机</a:t>
            </a:r>
            <a:endParaRPr lang="en-US" altLang="zh-CN" sz="2400" kern="100" dirty="0">
              <a:latin typeface="Arial" panose="020B060402020209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9275" y="37217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OpenGL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30325" y="4018915"/>
            <a:ext cx="9531985" cy="1724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157468"/>
            <a:ext cx="9765552" cy="279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  <a:ea typeface="黑体" panose="02010609060101010101" pitchFamily="49" charset="-122"/>
              </a:rPr>
              <a:t>绘制流水线（</a:t>
            </a:r>
            <a:r>
              <a:rPr lang="en-US" altLang="zh-CN" sz="2400" kern="100" dirty="0">
                <a:latin typeface="Arial" panose="020B0604020202090204" pitchFamily="34" charset="0"/>
                <a:ea typeface="黑体" panose="02010609060101010101" pitchFamily="49" charset="-122"/>
              </a:rPr>
              <a:t>pipeline model</a:t>
            </a:r>
            <a:r>
              <a:rPr lang="zh-CN" altLang="en-US" sz="2400" kern="100" dirty="0">
                <a:latin typeface="Arial" panose="020B0604020202090204" pitchFamily="34" charset="0"/>
                <a:ea typeface="黑体" panose="02010609060101010101" pitchFamily="49" charset="-122"/>
              </a:rPr>
              <a:t>）</a:t>
            </a:r>
            <a:endParaRPr lang="en-US" altLang="zh-CN" sz="2400" kern="100" dirty="0">
              <a:latin typeface="Arial" panose="020B0604020202090204" pitchFamily="34" charset="0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几何处理器</a:t>
            </a:r>
            <a:endParaRPr lang="en-US" altLang="zh-CN" sz="2400" kern="100" dirty="0">
              <a:latin typeface="Arial" panose="020B060402020209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光栅化器</a:t>
            </a:r>
            <a:endParaRPr lang="en-US" altLang="zh-CN" sz="2400" kern="100" dirty="0">
              <a:latin typeface="Arial" panose="020B060402020209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帧片段处理器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缓存</a:t>
            </a:r>
          </a:p>
        </p:txBody>
      </p:sp>
      <p:sp>
        <p:nvSpPr>
          <p:cNvPr id="5" name="矩形 4"/>
          <p:cNvSpPr/>
          <p:nvPr/>
        </p:nvSpPr>
        <p:spPr>
          <a:xfrm>
            <a:off x="569275" y="37217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OpenGL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1475" y="4347845"/>
            <a:ext cx="11449050" cy="1741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808" y="1190821"/>
            <a:ext cx="6321128" cy="502703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事件和回调函数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Task - OpenGL</a:t>
            </a:r>
            <a:r>
              <a:rPr lang="zh-CN" altLang="en-US" sz="3200" dirty="0"/>
              <a:t>环境配置</a:t>
            </a:r>
            <a:endParaRPr lang="en-US" altLang="zh-CN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055685" y="1708648"/>
            <a:ext cx="9765552" cy="279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effectLst/>
                <a:latin typeface="Arial" panose="020B0604020202090204" pitchFamily="34" charset="0"/>
                <a:ea typeface="黑体" panose="02010609060101010101" pitchFamily="49" charset="-122"/>
              </a:rPr>
              <a:t>配置</a:t>
            </a:r>
            <a:r>
              <a:rPr lang="en-US" altLang="zh-CN" sz="2400" kern="100" dirty="0">
                <a:effectLst/>
                <a:latin typeface="Arial" panose="020B0604020202090204" pitchFamily="34" charset="0"/>
                <a:ea typeface="黑体" panose="02010609060101010101" pitchFamily="49" charset="-122"/>
              </a:rPr>
              <a:t>OpenGL</a:t>
            </a:r>
            <a:r>
              <a:rPr lang="zh-CN" altLang="en-US" sz="2400" kern="100" dirty="0">
                <a:effectLst/>
                <a:latin typeface="Arial" panose="020B0604020202090204" pitchFamily="34" charset="0"/>
                <a:ea typeface="黑体" panose="02010609060101010101" pitchFamily="49" charset="-122"/>
              </a:rPr>
              <a:t>环境</a:t>
            </a:r>
            <a:endParaRPr lang="en-US" altLang="zh-CN" sz="2400" kern="100" dirty="0">
              <a:effectLst/>
              <a:latin typeface="Arial" panose="020B0604020202090204" pitchFamily="34" charset="0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effectLst/>
                <a:latin typeface="Arial" panose="020B0604020202090204" pitchFamily="34" charset="0"/>
                <a:ea typeface="黑体" panose="02010609060101010101" pitchFamily="49" charset="-122"/>
              </a:rPr>
              <a:t>OpenGL</a:t>
            </a:r>
            <a:r>
              <a:rPr lang="zh-CN" altLang="en-US" sz="2400" kern="100" dirty="0">
                <a:effectLst/>
                <a:latin typeface="Arial" panose="020B0604020202090204" pitchFamily="34" charset="0"/>
                <a:ea typeface="黑体" panose="02010609060101010101" pitchFamily="49" charset="-122"/>
              </a:rPr>
              <a:t>环境配置</a:t>
            </a:r>
            <a:endParaRPr lang="en-US" altLang="zh-CN" sz="2400" kern="100" dirty="0">
              <a:effectLst/>
              <a:latin typeface="Arial" panose="020B0604020202090204" pitchFamily="34" charset="0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  <a:ea typeface="黑体" panose="02010609060101010101" pitchFamily="49" charset="-122"/>
              </a:rPr>
              <a:t>编写简单程序进行验证</a:t>
            </a:r>
            <a:endParaRPr lang="en-US" altLang="zh-CN" sz="2400" kern="100" dirty="0">
              <a:effectLst/>
              <a:latin typeface="Arial" panose="020B0604020202090204" pitchFamily="34" charset="0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effectLst/>
                <a:latin typeface="Arial" panose="020B0604020202090204" pitchFamily="34" charset="0"/>
                <a:ea typeface="黑体" panose="02010609060101010101" pitchFamily="49" charset="-122"/>
              </a:rPr>
              <a:t>运行提供的示例程序</a:t>
            </a:r>
            <a:endParaRPr lang="en-US" altLang="zh-CN" sz="2400" kern="100" dirty="0">
              <a:latin typeface="Arial" panose="020B0604020202090204" pitchFamily="34" charset="0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effectLst/>
                <a:latin typeface="Arial" panose="020B0604020202090204" pitchFamily="34" charset="0"/>
                <a:ea typeface="黑体" panose="02010609060101010101" pitchFamily="49" charset="-122"/>
              </a:rPr>
              <a:t>思考，并对示例程序进行改写</a:t>
            </a:r>
            <a:endParaRPr lang="en-US" altLang="zh-CN" sz="2400" kern="100" dirty="0">
              <a:effectLst/>
              <a:latin typeface="Arial" panose="020B060402020209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  <a:ea typeface="黑体" panose="02010609060101010101" pitchFamily="49" charset="-122"/>
              </a:rPr>
              <a:t>图形应用程序的三要素</a:t>
            </a:r>
            <a:endParaRPr lang="en-US" altLang="zh-CN" sz="2400" kern="100" dirty="0">
              <a:latin typeface="Arial" panose="020B0604020202090204" pitchFamily="34" charset="0"/>
              <a:ea typeface="黑体" panose="02010609060101010101" pitchFamily="49" charset="-12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指定绘制对象</a:t>
            </a:r>
            <a:r>
              <a:rPr lang="en-US" altLang="zh-CN" sz="2400" kern="100" dirty="0">
                <a:latin typeface="Arial" panose="020B0604020202090204" pitchFamily="34" charset="0"/>
              </a:rPr>
              <a:t>	</a:t>
            </a:r>
            <a:r>
              <a:rPr lang="en-US" altLang="zh-CN" sz="2400" kern="100" dirty="0">
                <a:latin typeface="Arial" panose="020B0604020202090204" pitchFamily="34" charset="0"/>
                <a:sym typeface="Wingdings" panose="05000000000000000000" pitchFamily="2" charset="2"/>
              </a:rPr>
              <a:t> </a:t>
            </a:r>
            <a:r>
              <a:rPr lang="zh-CN" altLang="en-US" sz="2400" kern="100" dirty="0">
                <a:latin typeface="Arial" panose="020B0604020202090204" pitchFamily="34" charset="0"/>
                <a:sym typeface="Wingdings" panose="05000000000000000000" pitchFamily="2" charset="2"/>
              </a:rPr>
              <a:t>如何画一个圆形？用多边形画？</a:t>
            </a:r>
            <a:endParaRPr lang="en-US" altLang="zh-CN" sz="2400" kern="100" dirty="0">
              <a:latin typeface="Arial" panose="020B060402020209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描述对象的属性 </a:t>
            </a:r>
            <a:r>
              <a:rPr lang="en-US" altLang="zh-CN" sz="2400" kern="100" dirty="0">
                <a:latin typeface="Arial" panose="020B0604020202090204" pitchFamily="34" charset="0"/>
                <a:sym typeface="Wingdings" panose="05000000000000000000" pitchFamily="2" charset="2"/>
              </a:rPr>
              <a:t> </a:t>
            </a:r>
            <a:r>
              <a:rPr lang="zh-CN" altLang="en-US" sz="2400" kern="100" dirty="0">
                <a:latin typeface="Arial" panose="020B0604020202090204" pitchFamily="34" charset="0"/>
                <a:sym typeface="Wingdings" panose="05000000000000000000" pitchFamily="2" charset="2"/>
              </a:rPr>
              <a:t>如何改变顶点的颜色？</a:t>
            </a:r>
            <a:endParaRPr lang="en-US" altLang="zh-CN" sz="2400" kern="100" dirty="0">
              <a:latin typeface="Arial" panose="020B060402020209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Arial" panose="020B0604020202090204" pitchFamily="34" charset="0"/>
              </a:rPr>
              <a:t>定义这些对象被观察的方式 </a:t>
            </a:r>
            <a:r>
              <a:rPr lang="en-US" altLang="zh-CN" sz="2400" kern="100" dirty="0">
                <a:latin typeface="Arial" panose="020B0604020202090204" pitchFamily="34" charset="0"/>
                <a:sym typeface="Wingdings" panose="05000000000000000000" pitchFamily="2" charset="2"/>
              </a:rPr>
              <a:t> </a:t>
            </a:r>
            <a:r>
              <a:rPr lang="zh-CN" altLang="en-US" sz="2400" kern="100" dirty="0">
                <a:latin typeface="Arial" panose="020B0604020202090204" pitchFamily="34" charset="0"/>
                <a:sym typeface="Wingdings" panose="05000000000000000000" pitchFamily="2" charset="2"/>
              </a:rPr>
              <a:t>如何改变图像在屏幕中的位置？</a:t>
            </a:r>
            <a:endParaRPr lang="en-US" altLang="zh-CN" sz="2400" kern="100" dirty="0">
              <a:latin typeface="Arial" panose="020B0604020202090204" pitchFamily="34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zh-CN" altLang="en-US" sz="2400" kern="100" dirty="0">
              <a:latin typeface="Arial" panose="020B0604020202090204" pitchFamily="34" charset="0"/>
            </a:endParaRPr>
          </a:p>
          <a:p>
            <a:pPr algn="just">
              <a:lnSpc>
                <a:spcPct val="150000"/>
              </a:lnSpc>
            </a:pPr>
            <a:endParaRPr lang="zh-CN" altLang="en-US" sz="2400" kern="100" dirty="0">
              <a:latin typeface="Arial" panose="020B060402020209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Arial" panose="020B0604020202090204" pitchFamily="34" charset="0"/>
              </a:rPr>
              <a:t>阅读</a:t>
            </a:r>
            <a:r>
              <a:rPr lang="en-US" altLang="zh-CN" sz="2400" kern="100" dirty="0">
                <a:latin typeface="Arial" panose="020B0604020202090204" pitchFamily="34" charset="0"/>
              </a:rPr>
              <a:t>《OpenGL</a:t>
            </a:r>
            <a:r>
              <a:rPr lang="zh-CN" altLang="en-US" sz="2400" kern="100" dirty="0">
                <a:latin typeface="Arial" panose="020B0604020202090204" pitchFamily="34" charset="0"/>
              </a:rPr>
              <a:t>编程基础</a:t>
            </a:r>
            <a:r>
              <a:rPr lang="en-US" altLang="zh-CN" sz="2400" kern="100" dirty="0">
                <a:latin typeface="Arial" panose="020B0604020202090204" pitchFamily="34" charset="0"/>
              </a:rPr>
              <a:t>》1-2</a:t>
            </a:r>
            <a:r>
              <a:rPr lang="zh-CN" altLang="en-US" sz="2400" kern="100" dirty="0">
                <a:latin typeface="Arial" panose="020B0604020202090204" pitchFamily="34" charset="0"/>
              </a:rPr>
              <a:t>章，对上述问题进行思考，尝试进行编程</a:t>
            </a:r>
            <a:endParaRPr lang="en-US" altLang="zh-CN" sz="2400" kern="100" dirty="0">
              <a:latin typeface="Arial" panose="020B060402020209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对示例程序进行改编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77308" y="1956842"/>
            <a:ext cx="9765552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版本实验报告，实验报告写明学号姓名，陈述、展示实验结果。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提交方式为：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将代码源文件、可执行文件、实验报告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放到一个文件夹中，文件夹命名格式为：学号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姓名，压缩后上传到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ftp://121.192.180.236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）下（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上传作业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曾鸣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/2026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图形学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账号：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密码：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ILoveSoftware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作业提交说明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5693458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确保提交的可执行文件可以运行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（打分的重要依据）。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注意代码提交源文件即可（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.h, .</a:t>
            </a: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文件），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不要提交整个工程项目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每次实验作业的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提交截止日期为下一次理论课前一天晚上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3.17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作业提交说明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342" y="1708648"/>
            <a:ext cx="3879973" cy="252476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9A647EE-4448-6DE9-B04B-9926DAA13A0B}"/>
              </a:ext>
            </a:extLst>
          </p:cNvPr>
          <p:cNvSpPr/>
          <p:nvPr/>
        </p:nvSpPr>
        <p:spPr>
          <a:xfrm>
            <a:off x="7256342" y="3810000"/>
            <a:ext cx="2678233" cy="423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21819" y="1697359"/>
            <a:ext cx="9765552" cy="445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未按时提交扣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分，超时一周则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取消本次作业分数</a:t>
            </a:r>
            <a:endParaRPr lang="en-US" altLang="zh-CN" sz="2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运行效果不一致扣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未提交可执行文件扣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未提交代码扣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提交了工程扣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 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文档不详细扣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做出附加题加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分，不做不扣分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抄袭本次作业直接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评分标准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j-ea"/>
              </a:rPr>
              <a:t>计算机图形学实验</a:t>
            </a:r>
            <a:r>
              <a:rPr lang="en-US" altLang="zh-CN" dirty="0">
                <a:latin typeface="+mj-ea"/>
              </a:rPr>
              <a:t>0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44948"/>
            <a:ext cx="12207123" cy="27130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484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Face Alignment meets Reconstruction</dc:title>
  <dc:creator>Yinglin Zheng (FA Talent)</dc:creator>
  <cp:lastModifiedBy>义生 庄</cp:lastModifiedBy>
  <cp:revision>578</cp:revision>
  <dcterms:created xsi:type="dcterms:W3CDTF">2024-03-07T06:35:53Z</dcterms:created>
  <dcterms:modified xsi:type="dcterms:W3CDTF">2026-03-11T04:17:48Z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27343E671DAFA3C5F476E865CFEF82C0_43</vt:lpwstr>
  </property>
  <property fmtid="{D5CDD505-2E9C-101B-9397-08002B2CF9AE}" pid="3" name="KSOProductBuildVer">
    <vt:lpwstr>2052-6.5.2.8766</vt:lpwstr>
  </property>
</Properties>
</file>