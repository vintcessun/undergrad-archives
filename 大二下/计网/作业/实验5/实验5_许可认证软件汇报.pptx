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大家好，今天我来汇报实验五——利用Socket API实现许可认证软件。
本实验的核心目标是理解应用层文件传输与许可证管理的原理，并亲手实现一套基于UDP/TCP的许可证服务器与客户端通信系统。
接下来我将依次介绍：实验目的、需求分析、系统设计、核心代码实现，以及如何处理客户端崩溃和服务器恢复这两个关键问题。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本实验有三个主要目的。
第一，掌握应用层文件传输原理——也就是了解数据是如何在应用层被组织、发送和确认的。
第二，了解传输层协议选用——TCP和UDP各有优劣，在许可证这种短消息、高频次的场景下，UDP是更好的选择，因为它轻量，不需要建立连接。
第三，动手设计和实现应用层协议——包括消息格式的定义、命令的解析以及完整的通信流程。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这张幻灯片展示了系统的核心业务流程，共五步。
第一步，管理员购买许可证，获得一个10位序列号；
第二步，用户首次使用时输入序列号；
第三步，软件每次运行都向服务器发送验证；
第四步，服务器判断当前使用人数是否已满，并返回授权或拒绝；
第五步，软件根据结果决定是否允许运行。
此外还有两个重要的附加要求：当软件异常退出时，服务器需自动回收该用户占用的许可；当服务器崩溃重启后，已认证的用户不应受到影响。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系统分为两部分：客户端和服务器，通过UDP Socket通信。
客户端的主要函数有：初始化setup、获取票据get_ticket、执行任务do_regular_work、定期验证validate，以及退出前归还票据release_ticket。
服务器端维护一个叫做ticket_array的数组，每个槽位记录持有该票据的进程PID，数组值为0表示槽位空闲。服务器的核心函数是handle_request，根据收到的命令（HELO、GBYE、VALD）分别调用对应的处理函数。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协议设计是本实验的关键环节。我们采用了纯文本的4字符命令格式，共7种消息类型。
HELO是客户端启动时发出的请求，携带当前进程PID；
服务器如果有空闲票据，返回TICK加上"PID.槽位号"；否则返回FAIL。
客户端退出时发送GBYE归还票据，服务器确认后返回THNX。
VALD和GOOD是版本2新增的票据验证机制，用于服务器崩溃后重建状态。
整体设计参考了HTTP方法的思路——命令简短，语义清晰。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这张幻灯片展示了两段核心代码。
左侧是客户端的get_ticket函数：它先构造"HELO PID"消息，通过do_transaction发给服务器，然后判断返回值——如果是TICK开头，就解析出票据保存起来；如果是FAIL，说明没有可用票据，返回失败。
右侧是服务器的do_hello函数：首先检查当前票据数是否已满；如果没满，遍历ticket_array找到一个值为0的空闲槽；然后把客户端PID写入该槽，并返回"TICK PID.槽位号"格式的票据字符串。
底部说明了do_transaction这个工具函数，它把sendto和recvfrom封装在一起，让上层代码非常简洁。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当客户端崩溃时，它不会发送GBYE，票据就会一直占着。这会导致其他用户无法获得许可。
解决方案是在服务器端实现一个叫做ticket_reclaim的定时回收函数。每隔60秒，这个函数会遍历所有非空槽位，向对应PID发送信号0（kill(pid,0)）——这个信号不会实际发送，只是用来检测进程是否存在。如果进程不存在（errno等于ESRCH），就自动释放该槽位。
实现上，我们用SIGALRM信号和alarm函数来驱动这个定时器。为了避免在处理客户端请求时被中断，处理前先暂停alarm，处理完再恢复。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服务器崩溃重启后会有两个严重问题：一是内存状态全部丢失，旧票据变成"伪造票据"；二是可能把已颁发的票据重复分配给新客户端。
解决方案是引入票据验证机制。客户端每隔几秒发送VALD消息来定期"汇报"自己持有的票据。服务器收到VALD后检查对应槽位：如果槽位为空（服务器刚重启），就接受该票据并写回ticket_array，实现状态重建；如果槽位已被另一进程占用，则返回FAIL，客户端需要重新申请。这样服务器就能在不影响已认证用户的前提下逐步恢复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选择UDP而不是TCP的原因在于场景特性。
许可证验证是短消息通信：客户端发一条请求，服务器回一条应答，数据量极小。
UDP不需要建立连接，开销更低；即使偶尔丢包，客户端可以重新发请求，不会造成严重影响。
TCP虽然可靠，但在这种高频、短消息的场景下引入了不必要的连接建立和维护开销。
因此，本实验选用UDP（数据报socket）是完全合理的工程决策。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通过这次实验，我有以下几点主要收获。
第一，协议设计能力。从无到有设计了一套完整的文本协议，理解了命令、参数和响应格式的设计原则。
第二，UDP Socket编程。真正动手用sendto和recvfrom实现了通信，对数据报与流式通信的区别有了深刻认识。
第三，鲁棒性设计思维。客户端崩溃和服务器崩溃是两个不同的问题，需要不同的机制来处理。这让我意识到，一个好的系统设计必须提前考虑各种异常情况。
第四，分布式系统意识。PID在不同机器上可能重复，这是分布式系统中常见的身份识别问题，需要加入主机标识来解决。
以上就是我的汇报，感谢大家聆听，欢迎提问。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82880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38912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694944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950976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207008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4112" y="182880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4112" y="438912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54112" y="694944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4112" y="950976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54112" y="1207008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182880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438912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694944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950976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207008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76" y="182880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6176" y="438912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694944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950976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6176" y="1207008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182880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438912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22208" y="694944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2208" y="950976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22208" y="1207008"/>
            <a:ext cx="109728" cy="109728"/>
          </a:xfrm>
          <a:prstGeom prst="ellipse">
            <a:avLst/>
          </a:prstGeom>
          <a:solidFill>
            <a:srgbClr val="4E9AF1">
              <a:alpha val="40000"/>
            </a:srgbClr>
          </a:solidFill>
          <a:ln w="12700">
            <a:solidFill>
              <a:srgbClr val="4E9AF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7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计算机网络课程实验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Socket API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实现许可认证软件</a:t>
            </a:r>
            <a:endParaRPr lang="en-US" sz="3800" dirty="0"/>
          </a:p>
        </p:txBody>
      </p:sp>
      <p:sp>
        <p:nvSpPr>
          <p:cNvPr id="30" name="Shape 28"/>
          <p:cNvSpPr/>
          <p:nvPr/>
        </p:nvSpPr>
        <p:spPr>
          <a:xfrm>
            <a:off x="411480" y="3017520"/>
            <a:ext cx="2286000" cy="38404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实验五  |  Lab 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3703320"/>
            <a:ext cx="1920240" cy="457200"/>
          </a:xfrm>
          <a:prstGeom prst="rect">
            <a:avLst/>
          </a:prstGeom>
          <a:solidFill>
            <a:srgbClr val="243055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UDP/TCP Socket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703320"/>
            <a:ext cx="1920240" cy="457200"/>
          </a:xfrm>
          <a:prstGeom prst="rect">
            <a:avLst/>
          </a:prstGeom>
          <a:solidFill>
            <a:srgbClr val="243055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6032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许可证协议设计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703320"/>
            <a:ext cx="1920240" cy="457200"/>
          </a:xfrm>
          <a:prstGeom prst="rect">
            <a:avLst/>
          </a:prstGeom>
          <a:solidFill>
            <a:srgbClr val="243055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0916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客户端崩溃处理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703320"/>
            <a:ext cx="1920240" cy="457200"/>
          </a:xfrm>
          <a:prstGeom prst="rect">
            <a:avLst/>
          </a:prstGeom>
          <a:solidFill>
            <a:srgbClr val="243055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5800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服务器恢复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055"/>
          </a:solidFill>
          <a:ln w="12700">
            <a:solidFill>
              <a:srgbClr val="2430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实验目的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658368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1887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掌握应用层文件传输原理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15544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理解如何在应用层设计并实现文件传输流程，包括数据的分段、发送与确认机制。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31720"/>
            <a:ext cx="658368" cy="109728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3172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0432" y="24231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了解传输层协议选用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2788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深入对比 TCP（流式、可靠）与 UDP（数据报、轻量）的特性，并在实际场景中做出合理选择。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566160"/>
            <a:ext cx="658368" cy="10972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66160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36576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应用层协议设计与开发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自行设计许可证通信协议（HELO/TICK/GBYE/THNX/VALD/GOOD），并完整实现客户端与服务器端的协议逻辑。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143000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81912" y="1463040"/>
            <a:ext cx="411480" cy="0"/>
          </a:xfrm>
          <a:prstGeom prst="line">
            <a:avLst/>
          </a:prstGeom>
          <a:noFill/>
          <a:ln w="25400">
            <a:solidFill>
              <a:srgbClr val="B0BE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65960"/>
            <a:ext cx="1572768" cy="2286000"/>
          </a:xfrm>
          <a:prstGeom prst="rect">
            <a:avLst/>
          </a:prstGeom>
          <a:solidFill>
            <a:srgbClr val="243055"/>
          </a:solidFill>
          <a:ln w="12700">
            <a:solidFill>
              <a:srgbClr val="3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57400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管理员购买许可证，输入用户名、口令、类型，获得10位数字序列号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143000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0984" y="1463040"/>
            <a:ext cx="411480" cy="0"/>
          </a:xfrm>
          <a:prstGeom prst="line">
            <a:avLst/>
          </a:prstGeom>
          <a:noFill/>
          <a:ln w="25400">
            <a:solidFill>
              <a:srgbClr val="B0B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0552" y="1965960"/>
            <a:ext cx="1572768" cy="2286000"/>
          </a:xfrm>
          <a:prstGeom prst="rect">
            <a:avLst/>
          </a:prstGeom>
          <a:solidFill>
            <a:srgbClr val="243055"/>
          </a:solidFill>
          <a:ln w="12700">
            <a:solidFill>
              <a:srgbClr val="3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21992" y="2057400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组织用户首次使用软件 A 时，输入序列号激活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143000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0056" y="1463040"/>
            <a:ext cx="411480" cy="0"/>
          </a:xfrm>
          <a:prstGeom prst="line">
            <a:avLst/>
          </a:prstGeom>
          <a:noFill/>
          <a:ln w="25400">
            <a:solidFill>
              <a:srgbClr val="B0BE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9624" y="1965960"/>
            <a:ext cx="1572768" cy="2286000"/>
          </a:xfrm>
          <a:prstGeom prst="rect">
            <a:avLst/>
          </a:prstGeom>
          <a:solidFill>
            <a:srgbClr val="243055"/>
          </a:solidFill>
          <a:ln w="12700">
            <a:solidFill>
              <a:srgbClr val="3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41064" y="2057400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 A 每次运行时，向许可证服务器发送验证请求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16752" y="1143000"/>
            <a:ext cx="640080" cy="640080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39128" y="1463040"/>
            <a:ext cx="411480" cy="0"/>
          </a:xfrm>
          <a:prstGeom prst="line">
            <a:avLst/>
          </a:prstGeom>
          <a:noFill/>
          <a:ln w="25400">
            <a:solidFill>
              <a:srgbClr val="B0BE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68696" y="1965960"/>
            <a:ext cx="1572768" cy="2286000"/>
          </a:xfrm>
          <a:prstGeom prst="rect">
            <a:avLst/>
          </a:prstGeom>
          <a:solidFill>
            <a:srgbClr val="243055"/>
          </a:solidFill>
          <a:ln w="12700">
            <a:solidFill>
              <a:srgbClr val="3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0136" y="2057400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服务器查询使用人数：未到上限 → 授权；已满 → 拒绝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35824" y="1143000"/>
            <a:ext cx="640080" cy="640080"/>
          </a:xfrm>
          <a:prstGeom prst="ellipse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87768" y="1965960"/>
            <a:ext cx="1572768" cy="2286000"/>
          </a:xfrm>
          <a:prstGeom prst="rect">
            <a:avLst/>
          </a:prstGeom>
          <a:solidFill>
            <a:srgbClr val="243055"/>
          </a:solidFill>
          <a:ln w="12700">
            <a:solidFill>
              <a:srgbClr val="3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79208" y="2057400"/>
            <a:ext cx="1389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 A 收到授权后运行；否则提示用户稍后再试并退出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462272"/>
            <a:ext cx="8321040" cy="502920"/>
          </a:xfrm>
          <a:prstGeom prst="rect">
            <a:avLst/>
          </a:prstGeom>
          <a:solidFill>
            <a:srgbClr val="2D3E6B"/>
          </a:solidFill>
          <a:ln w="12700">
            <a:solidFill>
              <a:srgbClr val="F9E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附加要求：软件异常退出时服务器需自动回收许可；服务器崩溃重启后不影响已认证用户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200400" cy="47548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 (lclnt)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setup() — 初始化 PID 与 socket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1396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get_ticket() — 发送 HELO 获取票据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do_regular_work() — 执行核心任务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980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validate() — 定期验证票据合法性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release_ticket() — 归还票据 (GBYE)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30752" y="2542032"/>
            <a:ext cx="1188720" cy="0"/>
          </a:xfrm>
          <a:prstGeom prst="line">
            <a:avLst/>
          </a:prstGeom>
          <a:noFill/>
          <a:ln w="381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HELO / GBYE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/ VALD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09728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097280"/>
            <a:ext cx="3566160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0972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许可证服务器 (lserv)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setup() — 创建 UDP 服务器 socket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66360" y="21396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handle_request() — 分发 HELO/GBYE/VALD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6636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do_hello() — 分配票据槽位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66360" y="2980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do_goodbye() — 验证并释放票据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66360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ticket_reclaim() — 定时回收死进程票据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4462272"/>
            <a:ext cx="356616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4622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数据结构：ticket_array[MAXUSERS]  |  num_tickets_out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应用层协议设计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100584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1051560"/>
            <a:ext cx="100584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发送方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22860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320040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463040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463040" y="1463040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14600" y="1463040"/>
            <a:ext cx="22860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HELO &lt;pid&gt;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32004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请求获取票据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1911096"/>
            <a:ext cx="100584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9110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63040" y="1911096"/>
            <a:ext cx="100584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19110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14600" y="1911096"/>
            <a:ext cx="22860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19110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&lt;pid&gt;.&lt;slot&gt;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911096"/>
            <a:ext cx="32004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9110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成功，返回票据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2359152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3591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463040" y="2359152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3591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514600" y="2359152"/>
            <a:ext cx="22860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23591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 &lt;message&gt;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359152"/>
            <a:ext cx="32004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失败，无可用票据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11480" y="2807208"/>
            <a:ext cx="100584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807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GBYE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463040" y="2807208"/>
            <a:ext cx="100584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08760" y="2807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14600" y="2807208"/>
            <a:ext cx="22860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28072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GBYE &lt;pid&gt;.&lt;slot&gt;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807208"/>
            <a:ext cx="32004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807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归还票据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" y="3255264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255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THNX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463040" y="3255264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08760" y="3255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514600" y="3255264"/>
            <a:ext cx="22860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32552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THNX &lt;message&gt;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3255264"/>
            <a:ext cx="32004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255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归还成功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11480" y="3703320"/>
            <a:ext cx="100584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463040" y="3703320"/>
            <a:ext cx="100584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0876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514600" y="3703320"/>
            <a:ext cx="22860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VALD &lt;pid&gt;.&lt;slot&gt;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3703320"/>
            <a:ext cx="3200400" cy="411480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验证票据合法性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11480" y="4151376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1513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463040" y="4151376"/>
            <a:ext cx="100584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08760" y="41513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2514600" y="4151376"/>
            <a:ext cx="22860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0" y="41513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Valid ticket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46320" y="4151376"/>
            <a:ext cx="32004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41513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票据合法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2D3E6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协议采用4字符命令 + 参数的纯文本格式，简洁高效，类似 HTTP 方法的设计思路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核心代码实现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4160520" cy="347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 — get_ticket()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4160520" cy="2286000"/>
          </a:xfrm>
          <a:prstGeom prst="rect">
            <a:avLst/>
          </a:prstGeom>
          <a:solidFill>
            <a:srgbClr val="1E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397764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sprintf(buf, "HELO %d", pid);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do_transaction(buf);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(strncmp(response,"TICK",4)==0){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strcpy(ticket_buf, response+5);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have_ticket 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  // 成功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(strncmp(response,"FAIL",4)==0)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narrate("Could not get ticket");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-1;  // 失败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3977640" cy="347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 — do_hello()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77640" cy="2286000"/>
          </a:xfrm>
          <a:prstGeom prst="rect">
            <a:avLst/>
          </a:prstGeom>
          <a:solidFill>
            <a:srgbClr val="1E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7947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if(num_tickets_out &gt;= MAXUSERS)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"FAIL no tickets";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查找空闲槽位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for(x=0; x&lt;MAXUSERS &amp;&amp;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ticket_array[x]!=TICKET_AVAIL; x++);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记录 PID，生成票据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ticket_array[x] = atoi(msg_p+5);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sprintf(replybuf,"TICK %d.%d",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ticket_array[x], x);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num_tickets_out++;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replybuf;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794760"/>
            <a:ext cx="8321040" cy="1097280"/>
          </a:xfrm>
          <a:prstGeom prst="rect">
            <a:avLst/>
          </a:prstGeom>
          <a:solidFill>
            <a:srgbClr val="EEF4FF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do_transaction() — 统一发送与接收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sendto() 将消息发送至服务器，再调用 recvfrom() 阻塞等待应答。该函数封装了所有 UDP 通信细节，客户端只需传入命令字符串，返回服务器响应字符串，极大简化了上层逻辑。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E080"/>
          </a:solidFill>
          <a:ln w="12700">
            <a:solidFill>
              <a:srgbClr val="F9E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处理客户端崩溃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F9E080"/>
          </a:solidFill>
          <a:ln w="12700">
            <a:solidFill>
              <a:srgbClr val="F9E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931920" cy="1234440"/>
          </a:xfrm>
          <a:prstGeom prst="rect">
            <a:avLst/>
          </a:prstGeom>
          <a:solidFill>
            <a:srgbClr val="3D1515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问题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EB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客户端程序崩溃或被强制终止后，不会主动发送 GBYE 归还票据，导致对应槽位一直被占用，其他用户无法获得许可。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160520" cy="1234440"/>
          </a:xfrm>
          <a:prstGeom prst="rect">
            <a:avLst/>
          </a:prstGeom>
          <a:solidFill>
            <a:srgbClr val="0D2B1A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解决方案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服务器定时（RECLAIM_INTERVAL = 60s）遍历 ticket_array，对每个非空槽位调用 kill(pid, 0)。若进程不存在（errno == ESRCH），自动释放该槽位。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8321040" cy="365760"/>
          </a:xfrm>
          <a:prstGeom prst="rect">
            <a:avLst/>
          </a:prstGeom>
          <a:solidFill>
            <a:srgbClr val="243055"/>
          </a:solidFill>
          <a:ln w="12700">
            <a:solidFill>
              <a:srgbClr val="24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ticket_reclaim() — 定时回收函数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761488"/>
            <a:ext cx="832104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0720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ticket_reclaim()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 = 0; i &lt; MAXUSERS;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(ticket_array[i] != TICKET_AVAIL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kill(ticket_array[i], 0) == -1 &amp;&amp; errno == ESRCH)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进程已不存在 → 释放槽位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ticket_array[i] = TICKET_AVAIL;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num_tickets_out--;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alarm(RECLAIM_INTERVAL);   // 重置定时器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8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407408"/>
            <a:ext cx="8321040" cy="530352"/>
          </a:xfrm>
          <a:prstGeom prst="rect">
            <a:avLst/>
          </a:prstGeom>
          <a:solidFill>
            <a:srgbClr val="243055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0740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实现方式：在 main() 中使用 signal(SIGALRM, ticket_reclaim) + alarm(60) 注册定时信号；处理普通请求时临时关闭 alarm，处理完后恢复，避免数据竞争。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处理服务器崩溃与恢复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977640" cy="1371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问题1：签名列表丢失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服务器重启后，内存中的 ticket_array 清空，无法识别之前已颁发的票据，持有旧票据的客户端归还时会被认定为伪造票据。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3977640" cy="1371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问题2：重复分配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新客户端连接后，服务器可能将已分配给旧客户端的票据重新分发，导致同一槽位被两个客户端持有。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8321040" cy="38404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786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解决方案：票据验证机制（Ticket Validation）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客户端定期发送 VALD 消息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3741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每隔一定间隔（如5秒）向服务器发送 VALD pid.slot 消息，主动报告当前持有的票据。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21608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75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服务器空槽位接受恢复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9867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若服务器重启后该槽位为空，则认为是自己发过的票据，将其重新写入 ticket_array。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334256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88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冲突拒绝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4599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若槽位已被另一进程占用，则返回 FAIL，持有旧票据的客户端需重新申请。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vs UDP 协议选型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365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2286000" cy="411480"/>
          </a:xfrm>
          <a:prstGeom prst="rect">
            <a:avLst/>
          </a:prstGeom>
          <a:solidFill>
            <a:srgbClr val="243055"/>
          </a:solidFill>
          <a:ln w="12700">
            <a:solidFill>
              <a:srgbClr val="24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051560"/>
            <a:ext cx="2834640" cy="41148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051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TCP（流式）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051560"/>
            <a:ext cx="29260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051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UDP（数据报）✓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228600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087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连接方式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1508760"/>
            <a:ext cx="283464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5087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需要建立连接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1508760"/>
            <a:ext cx="292608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508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无连接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1984248"/>
            <a:ext cx="228600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9842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1984248"/>
            <a:ext cx="283464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984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可靠，保证送达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1984248"/>
            <a:ext cx="292608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9842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不保证，可能丢失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459736"/>
            <a:ext cx="228600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4597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分片/重组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2459736"/>
            <a:ext cx="283464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4597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是，自动处理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2459736"/>
            <a:ext cx="292608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459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否，应用层处理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2935224"/>
            <a:ext cx="228600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352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排序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2935224"/>
            <a:ext cx="283464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9352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2935224"/>
            <a:ext cx="292608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9352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不保证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3410712"/>
            <a:ext cx="228600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4107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34640" y="3410712"/>
            <a:ext cx="283464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4107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大文件、持续流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06440" y="3410712"/>
            <a:ext cx="2926080" cy="438912"/>
          </a:xfrm>
          <a:prstGeom prst="rect">
            <a:avLst/>
          </a:prstGeom>
          <a:solidFill>
            <a:srgbClr val="24305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3410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短消息、实时应用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3886200"/>
            <a:ext cx="228600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86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负载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834640" y="3886200"/>
            <a:ext cx="283464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2E3F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3886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较高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06440" y="3886200"/>
            <a:ext cx="2926080" cy="438912"/>
          </a:xfrm>
          <a:prstGeom prst="rect">
            <a:avLst/>
          </a:prstGeom>
          <a:solidFill>
            <a:srgbClr val="1E2D5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97880" y="3886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较低 ✓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solidFill>
            <a:srgbClr val="0D302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结论：许可证通信属于短消息、高频次场景，丢包可重传，选用 UDP 给网络更少负荷是合理且高效的选择。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实验总结与收获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36576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3977640" cy="1554480"/>
          </a:xfrm>
          <a:prstGeom prst="rect">
            <a:avLst/>
          </a:prstGeom>
          <a:solidFill>
            <a:srgbClr val="24305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70432"/>
            <a:ext cx="397764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协议设计能力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600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从零设计了基于文本命令的应用层协议（HELO/TICK/GBYE/VALD），理解了协议设计的核心要素：命令、参数、响应格式。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3977640" cy="1554480"/>
          </a:xfrm>
          <a:prstGeom prst="rect">
            <a:avLst/>
          </a:prstGeom>
          <a:solidFill>
            <a:srgbClr val="243055"/>
          </a:solidFill>
          <a:ln w="12700">
            <a:solidFill>
              <a:srgbClr val="4E9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3977640" cy="384048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Socket 编程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6002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熟练掌握了 sendto / recvfrom 的使用，理解了数据报与流式通信的本质区别，以及各自的适用场景。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3977640" cy="1554480"/>
          </a:xfrm>
          <a:prstGeom prst="rect">
            <a:avLst/>
          </a:prstGeom>
          <a:solidFill>
            <a:srgbClr val="243055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07792"/>
            <a:ext cx="39776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鲁棒性设计思维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337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SIGALRM + ticket_reclaim 处理客户端崩溃，通过 VALD 验证机制处理服务器崩溃，深刻体会了健壮系统的设计难点。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907792"/>
            <a:ext cx="3977640" cy="1554480"/>
          </a:xfrm>
          <a:prstGeom prst="rect">
            <a:avLst/>
          </a:prstGeom>
          <a:solidFill>
            <a:srgbClr val="243055"/>
          </a:solidFill>
          <a:ln w="12700">
            <a:solidFill>
              <a:srgbClr val="F9E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907792"/>
            <a:ext cx="3977640" cy="384048"/>
          </a:xfrm>
          <a:prstGeom prst="rect">
            <a:avLst/>
          </a:prstGeom>
          <a:solidFill>
            <a:srgbClr val="F9E080"/>
          </a:solidFill>
          <a:ln w="12700">
            <a:solidFill>
              <a:srgbClr val="F9E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9077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分布式系统意识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337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认识到跨机器进程 PID 不唯一的问题，了解了分布式许可证服务器的三种架构方案及各自的优缺点。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实验五：利用Socket API实现许可认证软件</dc:title>
  <dc:subject>PptxGenJS Presentation</dc:subject>
  <dc:creator>PptxGenJS</dc:creator>
  <cp:lastModifiedBy>PptxGenJS</cp:lastModifiedBy>
  <cp:revision>1</cp:revision>
  <dcterms:created xsi:type="dcterms:W3CDTF">2026-04-29T17:25:46Z</dcterms:created>
  <dcterms:modified xsi:type="dcterms:W3CDTF">2026-04-29T17:25:46Z</dcterms:modified>
</cp:coreProperties>
</file>