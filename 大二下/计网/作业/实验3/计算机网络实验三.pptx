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0" y="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5.png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png"/><Relationship Id="rId8" Type="http://schemas.openxmlformats.org/officeDocument/2006/relationships/image" Target="../media/image29.png"/><Relationship Id="rId7" Type="http://schemas.openxmlformats.org/officeDocument/2006/relationships/image" Target="../media/image28.png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39.png"/><Relationship Id="rId17" Type="http://schemas.openxmlformats.org/officeDocument/2006/relationships/image" Target="../media/image38.png"/><Relationship Id="rId16" Type="http://schemas.openxmlformats.org/officeDocument/2006/relationships/image" Target="../media/image37.png"/><Relationship Id="rId15" Type="http://schemas.openxmlformats.org/officeDocument/2006/relationships/image" Target="../media/image36.png"/><Relationship Id="rId14" Type="http://schemas.openxmlformats.org/officeDocument/2006/relationships/image" Target="../media/image35.png"/><Relationship Id="rId13" Type="http://schemas.openxmlformats.org/officeDocument/2006/relationships/image" Target="../media/image34.png"/><Relationship Id="rId12" Type="http://schemas.openxmlformats.org/officeDocument/2006/relationships/image" Target="../media/image33.png"/><Relationship Id="rId11" Type="http://schemas.openxmlformats.org/officeDocument/2006/relationships/image" Target="../media/image32.png"/><Relationship Id="rId10" Type="http://schemas.openxmlformats.org/officeDocument/2006/relationships/image" Target="../media/image31.png"/><Relationship Id="rId1" Type="http://schemas.openxmlformats.org/officeDocument/2006/relationships/image" Target="../media/image2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8.png"/><Relationship Id="rId8" Type="http://schemas.openxmlformats.org/officeDocument/2006/relationships/image" Target="../media/image47.png"/><Relationship Id="rId7" Type="http://schemas.openxmlformats.org/officeDocument/2006/relationships/image" Target="../media/image46.png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9" Type="http://schemas.openxmlformats.org/officeDocument/2006/relationships/slideLayout" Target="../slideLayouts/slideLayout7.xml"/><Relationship Id="rId28" Type="http://schemas.openxmlformats.org/officeDocument/2006/relationships/image" Target="../media/image67.png"/><Relationship Id="rId27" Type="http://schemas.openxmlformats.org/officeDocument/2006/relationships/image" Target="../media/image66.png"/><Relationship Id="rId26" Type="http://schemas.openxmlformats.org/officeDocument/2006/relationships/image" Target="../media/image65.png"/><Relationship Id="rId25" Type="http://schemas.openxmlformats.org/officeDocument/2006/relationships/image" Target="../media/image64.png"/><Relationship Id="rId24" Type="http://schemas.openxmlformats.org/officeDocument/2006/relationships/image" Target="../media/image63.png"/><Relationship Id="rId23" Type="http://schemas.openxmlformats.org/officeDocument/2006/relationships/image" Target="../media/image62.png"/><Relationship Id="rId22" Type="http://schemas.openxmlformats.org/officeDocument/2006/relationships/image" Target="../media/image61.png"/><Relationship Id="rId21" Type="http://schemas.openxmlformats.org/officeDocument/2006/relationships/image" Target="../media/image60.png"/><Relationship Id="rId20" Type="http://schemas.openxmlformats.org/officeDocument/2006/relationships/image" Target="../media/image59.png"/><Relationship Id="rId2" Type="http://schemas.openxmlformats.org/officeDocument/2006/relationships/image" Target="../media/image41.png"/><Relationship Id="rId19" Type="http://schemas.openxmlformats.org/officeDocument/2006/relationships/image" Target="../media/image58.png"/><Relationship Id="rId18" Type="http://schemas.openxmlformats.org/officeDocument/2006/relationships/image" Target="../media/image57.png"/><Relationship Id="rId17" Type="http://schemas.openxmlformats.org/officeDocument/2006/relationships/image" Target="../media/image56.png"/><Relationship Id="rId16" Type="http://schemas.openxmlformats.org/officeDocument/2006/relationships/image" Target="../media/image55.png"/><Relationship Id="rId15" Type="http://schemas.openxmlformats.org/officeDocument/2006/relationships/image" Target="../media/image54.png"/><Relationship Id="rId14" Type="http://schemas.openxmlformats.org/officeDocument/2006/relationships/image" Target="../media/image53.png"/><Relationship Id="rId13" Type="http://schemas.openxmlformats.org/officeDocument/2006/relationships/image" Target="../media/image52.png"/><Relationship Id="rId12" Type="http://schemas.openxmlformats.org/officeDocument/2006/relationships/image" Target="../media/image51.png"/><Relationship Id="rId11" Type="http://schemas.openxmlformats.org/officeDocument/2006/relationships/image" Target="../media/image50.png"/><Relationship Id="rId10" Type="http://schemas.openxmlformats.org/officeDocument/2006/relationships/image" Target="../media/image49.png"/><Relationship Id="rId1" Type="http://schemas.openxmlformats.org/officeDocument/2006/relationships/image" Target="../media/image40.jpe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image" Target="../media/image68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81.png"/><Relationship Id="rId8" Type="http://schemas.openxmlformats.org/officeDocument/2006/relationships/image" Target="../media/image80.png"/><Relationship Id="rId7" Type="http://schemas.openxmlformats.org/officeDocument/2006/relationships/image" Target="../media/image79.png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84.png"/><Relationship Id="rId11" Type="http://schemas.openxmlformats.org/officeDocument/2006/relationships/image" Target="../media/image83.png"/><Relationship Id="rId10" Type="http://schemas.openxmlformats.org/officeDocument/2006/relationships/image" Target="../media/image82.png"/><Relationship Id="rId1" Type="http://schemas.openxmlformats.org/officeDocument/2006/relationships/image" Target="../media/image73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93.png"/><Relationship Id="rId8" Type="http://schemas.openxmlformats.org/officeDocument/2006/relationships/image" Target="../media/image92.png"/><Relationship Id="rId7" Type="http://schemas.openxmlformats.org/officeDocument/2006/relationships/image" Target="../media/image91.png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97.png"/><Relationship Id="rId12" Type="http://schemas.openxmlformats.org/officeDocument/2006/relationships/image" Target="../media/image96.png"/><Relationship Id="rId11" Type="http://schemas.openxmlformats.org/officeDocument/2006/relationships/image" Target="../media/image95.png"/><Relationship Id="rId10" Type="http://schemas.openxmlformats.org/officeDocument/2006/relationships/image" Target="../media/image94.png"/><Relationship Id="rId1" Type="http://schemas.openxmlformats.org/officeDocument/2006/relationships/image" Target="../media/image85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6.png"/><Relationship Id="rId8" Type="http://schemas.openxmlformats.org/officeDocument/2006/relationships/image" Target="../media/image105.png"/><Relationship Id="rId7" Type="http://schemas.openxmlformats.org/officeDocument/2006/relationships/image" Target="../media/image104.png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9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33943" y="2926175"/>
            <a:ext cx="8494871" cy="54654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50" b="1" i="0">
                <a:solidFill>
                  <a:srgbClr val="010F38"/>
                </a:solidFill>
                <a:latin typeface="Noto Sans SC" panose="020B0200000000000000" charset="-122"/>
                <a:ea typeface="Noto Sans SC" panose="020B0200000000000000" charset="-122"/>
              </a:rPr>
              <a:t>计算机网络实验三:PCAP侦听和分析</a:t>
            </a:r>
            <a:endParaRPr sz="4050" b="1" i="0">
              <a:solidFill>
                <a:srgbClr val="010F38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980563" y="3664743"/>
            <a:ext cx="6201537" cy="3857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353B46"/>
                </a:solidFill>
                <a:latin typeface="Noto Sans SC" panose="020B0200000000000000" charset="-122"/>
                <a:ea typeface="Noto Sans SC" panose="020B0200000000000000" charset="-122"/>
              </a:rPr>
              <a:t>网络协议的抓包分析与底层网络流量监听</a:t>
            </a:r>
            <a:endParaRPr sz="2700" b="0" i="0">
              <a:solidFill>
                <a:srgbClr val="353B46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94171" y="5809392"/>
            <a:ext cx="6491668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03092A"/>
                </a:solidFill>
                <a:latin typeface="Noto Sans SC" panose="020B0200000000000000" charset="-122"/>
                <a:ea typeface="Noto Sans SC" panose="020B0200000000000000" charset="-122"/>
              </a:rPr>
              <a:t>汇报人:王子恒|软件工程2024级卓越班|2026年4月</a:t>
            </a:r>
            <a:r>
              <a:rPr lang="en-US" sz="2100" b="0" i="0">
                <a:solidFill>
                  <a:srgbClr val="03092A"/>
                </a:solidFill>
                <a:latin typeface="Noto Sans SC" panose="020B0200000000000000" charset="-122"/>
                <a:ea typeface="Noto Sans SC" panose="020B0200000000000000" charset="-122"/>
              </a:rPr>
              <a:t>17</a:t>
            </a:r>
            <a:r>
              <a:rPr sz="2100" b="0" i="0">
                <a:solidFill>
                  <a:srgbClr val="03092A"/>
                </a:solidFill>
                <a:latin typeface="Noto Sans SC" panose="020B0200000000000000" charset="-122"/>
                <a:ea typeface="Noto Sans SC" panose="020B0200000000000000" charset="-122"/>
              </a:rPr>
              <a:t>日</a:t>
            </a:r>
            <a:endParaRPr sz="2100" b="0" i="0">
              <a:solidFill>
                <a:srgbClr val="03092A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20" y="1232452"/>
            <a:ext cx="10974038" cy="512280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3818" y="4205772"/>
            <a:ext cx="1991391" cy="1943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2530" y="5060505"/>
            <a:ext cx="1039558" cy="10775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2269" y="415575"/>
            <a:ext cx="3424618" cy="54644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00032E"/>
                </a:solidFill>
                <a:latin typeface="Noto Sans SC" panose="020B0200000000000000" charset="-122"/>
                <a:ea typeface="Noto Sans SC" panose="020B0200000000000000" charset="-122"/>
              </a:rPr>
              <a:t>实验目的与环境</a:t>
            </a:r>
            <a:endParaRPr sz="3750" b="1" i="0">
              <a:solidFill>
                <a:srgbClr val="00032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46321" y="1460373"/>
            <a:ext cx="1424368" cy="3857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10535"/>
                </a:solidFill>
                <a:latin typeface="Noto Sans SC" panose="020B0200000000000000" charset="-122"/>
                <a:ea typeface="Noto Sans SC" panose="020B0200000000000000" charset="-122"/>
              </a:rPr>
              <a:t>实验目的</a:t>
            </a:r>
            <a:endParaRPr sz="2700" b="1" i="0">
              <a:solidFill>
                <a:srgbClr val="010535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02647" y="1460373"/>
            <a:ext cx="1424368" cy="3857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6082F"/>
                </a:solidFill>
                <a:latin typeface="Noto Sans SC" panose="020B0200000000000000" charset="-122"/>
                <a:ea typeface="Noto Sans SC" panose="020B0200000000000000" charset="-122"/>
              </a:rPr>
              <a:t>实验环境</a:t>
            </a:r>
            <a:endParaRPr sz="2700" b="1" i="0">
              <a:solidFill>
                <a:srgbClr val="06082F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46226" y="2074259"/>
            <a:ext cx="5018627" cy="243392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1270" algn="just">
              <a:spcBef>
                <a:spcPts val="0"/>
              </a:spcBef>
              <a:spcAft>
                <a:spcPts val="0"/>
              </a:spcAft>
            </a:pPr>
            <a:r>
              <a:rPr sz="1985" b="0" i="0">
                <a:solidFill>
                  <a:srgbClr val="000022"/>
                </a:solidFill>
                <a:latin typeface="Noto Sans SC" panose="020B0200000000000000" charset="-122"/>
                <a:ea typeface="Noto Sans SC" panose="020B0200000000000000" charset="-122"/>
              </a:rPr>
              <a:t>理解数据链路层、网络层、传输层和应</a:t>
            </a:r>
            <a:endParaRPr sz="1985" b="0" i="0">
              <a:solidFill>
                <a:srgbClr val="000022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1270">
              <a:spcBef>
                <a:spcPts val="600"/>
              </a:spcBef>
            </a:pPr>
            <a:r>
              <a:rPr lang="zh-CN" sz="1985">
                <a:latin typeface="Noto Sans SC" panose="020B0200000000000000" charset="-122"/>
                <a:ea typeface="Noto Sans SC" panose="020B0200000000000000" charset="-122"/>
              </a:rPr>
              <a:t>用层的基本原理</a:t>
            </a:r>
            <a:endParaRPr lang="zh-CN" sz="1985">
              <a:latin typeface="Noto Sans SC" panose="020B0200000000000000" charset="-122"/>
              <a:ea typeface="Noto Sans SC" panose="020B0200000000000000" charset="-122"/>
            </a:endParaRPr>
          </a:p>
          <a:p>
            <a:pPr marL="1270">
              <a:spcBef>
                <a:spcPts val="1085"/>
              </a:spcBef>
            </a:pPr>
            <a:r>
              <a:rPr lang="zh-CN" sz="1985">
                <a:latin typeface="Noto Sans SC" panose="020B0200000000000000" charset="-122"/>
                <a:ea typeface="Noto Sans SC" panose="020B0200000000000000" charset="-122"/>
              </a:rPr>
              <a:t>掌握用Wireshark观察网络流量及验证各</a:t>
            </a:r>
            <a:endParaRPr lang="zh-CN" sz="1985">
              <a:latin typeface="Noto Sans SC" panose="020B0200000000000000" charset="-122"/>
              <a:ea typeface="Noto Sans SC" panose="020B0200000000000000" charset="-122"/>
            </a:endParaRPr>
          </a:p>
          <a:p>
            <a:pPr marL="1270">
              <a:spcBef>
                <a:spcPts val="600"/>
              </a:spcBef>
            </a:pPr>
            <a:r>
              <a:rPr lang="zh-CN" sz="1985">
                <a:latin typeface="Noto Sans SC" panose="020B0200000000000000" charset="-122"/>
                <a:ea typeface="Noto Sans SC" panose="020B0200000000000000" charset="-122"/>
              </a:rPr>
              <a:t>种网络协议数据格式</a:t>
            </a:r>
            <a:endParaRPr lang="zh-CN" sz="1985"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spcBef>
                <a:spcPts val="1195"/>
              </a:spcBef>
            </a:pPr>
            <a:r>
              <a:rPr lang="zh-CN" sz="1985">
                <a:latin typeface="Noto Sans SC" panose="020B0200000000000000" charset="-122"/>
                <a:ea typeface="Noto Sans SC" panose="020B0200000000000000" charset="-122"/>
              </a:rPr>
              <a:t>掌握用Libpcap/WinPcap库侦听处理以太网</a:t>
            </a:r>
            <a:endParaRPr lang="zh-CN" sz="1985">
              <a:latin typeface="Noto Sans SC" panose="020B0200000000000000" charset="-122"/>
              <a:ea typeface="Noto Sans SC" panose="020B0200000000000000" charset="-122"/>
            </a:endParaRPr>
          </a:p>
          <a:p>
            <a:pPr marL="1270">
              <a:spcBef>
                <a:spcPts val="255"/>
              </a:spcBef>
            </a:pPr>
            <a:r>
              <a:rPr lang="zh-CN" sz="1985">
                <a:latin typeface="Noto Sans SC" panose="020B0200000000000000" charset="-122"/>
                <a:ea typeface="Noto Sans SC" panose="020B0200000000000000" charset="-122"/>
              </a:rPr>
              <a:t>帧和IP报文,并进行数据统计与解析</a:t>
            </a:r>
            <a:endParaRPr lang="zh-CN" sz="198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74072" y="2074259"/>
            <a:ext cx="3523940" cy="124691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635" algn="just"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操作系统:Windows 11</a:t>
            </a:r>
            <a:endParaRPr sz="202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spcBef>
                <a:spcPts val="1080"/>
              </a:spcBef>
            </a:pPr>
            <a:r>
              <a:rPr lang="zh-CN" sz="2025">
                <a:latin typeface="Noto Sans SC" panose="020B0200000000000000" charset="-122"/>
                <a:ea typeface="Noto Sans SC" panose="020B0200000000000000" charset="-122"/>
              </a:rPr>
              <a:t>编程语言:C++、Python</a:t>
            </a:r>
            <a:endParaRPr lang="zh-CN" sz="2025">
              <a:latin typeface="Noto Sans SC" panose="020B0200000000000000" charset="-122"/>
              <a:ea typeface="Noto Sans SC" panose="020B0200000000000000" charset="-122"/>
            </a:endParaRPr>
          </a:p>
          <a:p>
            <a:pPr marL="27940">
              <a:spcBef>
                <a:spcPts val="880"/>
              </a:spcBef>
            </a:pPr>
            <a:r>
              <a:rPr lang="zh-CN" sz="2025">
                <a:latin typeface="Noto Sans SC" panose="020B0200000000000000" charset="-122"/>
                <a:ea typeface="Noto Sans SC" panose="020B0200000000000000" charset="-122"/>
              </a:rPr>
              <a:t>工具软件:Wireshark、Npcap</a:t>
            </a:r>
            <a:endParaRPr lang="zh-CN" sz="2025"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352" y="2768060"/>
            <a:ext cx="11498340" cy="177117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654" y="4700111"/>
            <a:ext cx="11505357" cy="176126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951" y="930310"/>
            <a:ext cx="11466099" cy="168086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770" y="4864131"/>
            <a:ext cx="2797709" cy="136798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368" y="2939796"/>
            <a:ext cx="2778709" cy="136798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1982" y="1087564"/>
            <a:ext cx="2733482" cy="1361979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0922" y="2942873"/>
            <a:ext cx="440436" cy="50200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29988" y="1163955"/>
            <a:ext cx="429920" cy="49606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02738" y="4879086"/>
            <a:ext cx="453560" cy="4630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9390" y="296227"/>
            <a:ext cx="4942713" cy="41786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9000"/>
              </a:lnSpc>
              <a:spcBef>
                <a:spcPts val="0"/>
              </a:spcBef>
              <a:spcAft>
                <a:spcPts val="0"/>
              </a:spcAft>
            </a:pPr>
            <a:r>
              <a:rPr sz="2775" b="1" i="0">
                <a:solidFill>
                  <a:srgbClr val="000230"/>
                </a:solidFill>
                <a:latin typeface="Noto Sans SC" panose="020B0200000000000000" charset="-122"/>
                <a:ea typeface="Noto Sans SC" panose="020B0200000000000000" charset="-122"/>
              </a:rPr>
              <a:t>第一部分:数据格式与地址验证</a:t>
            </a:r>
            <a:endParaRPr sz="2775" b="1" i="0">
              <a:solidFill>
                <a:srgbClr val="00023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917852" y="1218533"/>
            <a:ext cx="1184052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126"/>
                </a:solidFill>
                <a:latin typeface="Noto Sans SC" panose="020B0200000000000000" charset="-122"/>
                <a:ea typeface="Noto Sans SC" panose="020B0200000000000000" charset="-122"/>
              </a:rPr>
              <a:t>帧格式分析</a:t>
            </a:r>
            <a:endParaRPr sz="1800" b="1" i="0">
              <a:solidFill>
                <a:srgbClr val="000126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917852" y="1555337"/>
            <a:ext cx="5931884" cy="62455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01A"/>
                </a:solidFill>
                <a:latin typeface="Noto Sans SC" panose="020B0200000000000000" charset="-122"/>
                <a:ea typeface="Noto Sans SC" panose="020B0200000000000000" charset="-122"/>
              </a:rPr>
              <a:t>通过Wireshark观察帧的到达时间、总字节数以及协议封装层次</a:t>
            </a:r>
            <a:endParaRPr sz="1650" b="0" i="0">
              <a:solidFill>
                <a:srgbClr val="00001A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spcBef>
                <a:spcPts val="865"/>
              </a:spcBef>
            </a:pPr>
            <a:r>
              <a:rPr lang="zh-CN" sz="1650">
                <a:latin typeface="Noto Sans SC" panose="020B0200000000000000" charset="-122"/>
                <a:ea typeface="Noto Sans SC" panose="020B0200000000000000" charset="-122"/>
              </a:rPr>
              <a:t>eth:ethertype:ip:tcp四层协议栈</a:t>
            </a:r>
            <a:endParaRPr lang="zh-CN" sz="165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917852" y="2963608"/>
            <a:ext cx="1652968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000128"/>
                </a:solidFill>
                <a:latin typeface="Noto Sans SC" panose="020B0200000000000000" charset="-122"/>
                <a:ea typeface="Noto Sans SC" panose="020B0200000000000000" charset="-122"/>
              </a:rPr>
              <a:t>IP报文格式解析</a:t>
            </a:r>
            <a:endParaRPr sz="1725" b="1" i="0">
              <a:solidFill>
                <a:srgbClr val="000128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917852" y="3300412"/>
            <a:ext cx="5589698" cy="93068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01B"/>
                </a:solidFill>
                <a:latin typeface="Noto Sans SC" panose="020B0200000000000000" charset="-122"/>
                <a:ea typeface="Noto Sans SC" panose="020B0200000000000000" charset="-122"/>
              </a:rPr>
              <a:t>验证IPv4版本与20字节头部长度</a:t>
            </a:r>
            <a:endParaRPr sz="1650" b="0" i="0">
              <a:solidFill>
                <a:srgbClr val="00001B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29210">
              <a:spcBef>
                <a:spcPts val="625"/>
              </a:spcBef>
            </a:pPr>
            <a:r>
              <a:rPr lang="zh-CN" sz="1650">
                <a:latin typeface="Noto Sans SC" panose="020B0200000000000000" charset="-122"/>
                <a:ea typeface="Noto Sans SC" panose="020B0200000000000000" charset="-122"/>
              </a:rPr>
              <a:t>载荷长度计算:总长度1500减去头部20等于1480字节</a:t>
            </a:r>
            <a:endParaRPr lang="zh-CN" sz="1650"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spcBef>
                <a:spcPts val="625"/>
              </a:spcBef>
            </a:pPr>
            <a:r>
              <a:rPr lang="zh-CN" sz="1650">
                <a:latin typeface="Noto Sans SC" panose="020B0200000000000000" charset="-122"/>
                <a:ea typeface="Noto Sans SC" panose="020B0200000000000000" charset="-122"/>
              </a:rPr>
              <a:t>验证标志位(Don't fragment不分片标志)与生存期(TTL)</a:t>
            </a:r>
            <a:endParaRPr lang="zh-CN" sz="165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17852" y="4861845"/>
            <a:ext cx="949547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地址验证</a:t>
            </a:r>
            <a:endParaRPr sz="1725" b="1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917090" y="5197887"/>
            <a:ext cx="5903309" cy="93144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通过命令行ipconfig/all获取本机MAC地址和IP地址</a:t>
            </a:r>
            <a:endParaRPr sz="157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635">
              <a:spcBef>
                <a:spcPts val="380"/>
              </a:spcBef>
            </a:pPr>
            <a:r>
              <a:rPr lang="zh-CN" sz="1575">
                <a:latin typeface="Noto Sans SC" panose="020B0200000000000000" charset="-122"/>
                <a:ea typeface="Noto Sans SC" panose="020B0200000000000000" charset="-122"/>
              </a:rPr>
              <a:t>与Wireshark抓包数据中的源MAC地址、源IP地址进行精准比对</a:t>
            </a:r>
            <a:endParaRPr lang="zh-CN" sz="1575">
              <a:latin typeface="Noto Sans SC" panose="020B0200000000000000" charset="-122"/>
              <a:ea typeface="Noto Sans SC" panose="020B0200000000000000" charset="-122"/>
            </a:endParaRPr>
          </a:p>
          <a:p>
            <a:pPr marL="635">
              <a:spcBef>
                <a:spcPts val="625"/>
              </a:spcBef>
            </a:pPr>
            <a:r>
              <a:rPr lang="zh-CN" sz="1575">
                <a:latin typeface="Noto Sans SC" panose="020B0200000000000000" charset="-122"/>
                <a:ea typeface="Noto Sans SC" panose="020B0200000000000000" charset="-122"/>
              </a:rPr>
              <a:t>验证数据流向</a:t>
            </a:r>
            <a:endParaRPr lang="zh-CN" sz="1575"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626" y="1287303"/>
            <a:ext cx="6480081" cy="514216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217" y="1291970"/>
            <a:ext cx="4376818" cy="512930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7874" y="2293725"/>
            <a:ext cx="2080450" cy="135205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3014" y="4101849"/>
            <a:ext cx="882491" cy="85876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0" y="4044145"/>
            <a:ext cx="683799" cy="92597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5877" y="355949"/>
            <a:ext cx="6528244" cy="48215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834"/>
                </a:solidFill>
                <a:latin typeface="Noto Sans SC" panose="020B0200000000000000" charset="-122"/>
                <a:ea typeface="Noto Sans SC" panose="020B0200000000000000" charset="-122"/>
              </a:rPr>
              <a:t>第一部分:TCP与应用层协议分析</a:t>
            </a:r>
            <a:endParaRPr sz="3600" b="1" i="0">
              <a:solidFill>
                <a:srgbClr val="000834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62493" y="1552956"/>
            <a:ext cx="2126265" cy="35366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52D"/>
                </a:solidFill>
                <a:latin typeface="Noto Sans SC" panose="020B0200000000000000" charset="-122"/>
                <a:ea typeface="Noto Sans SC" panose="020B0200000000000000" charset="-122"/>
              </a:rPr>
              <a:t>TCP段格式分析</a:t>
            </a:r>
            <a:endParaRPr sz="2400" b="1" i="0">
              <a:solidFill>
                <a:srgbClr val="00052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29325" y="1552956"/>
            <a:ext cx="2712434" cy="35366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25" b="1" i="0">
                <a:solidFill>
                  <a:srgbClr val="00052D"/>
                </a:solidFill>
                <a:latin typeface="Noto Sans SC" panose="020B0200000000000000" charset="-122"/>
                <a:ea typeface="Noto Sans SC" panose="020B0200000000000000" charset="-122"/>
              </a:rPr>
              <a:t>FTP协议命令与响应</a:t>
            </a:r>
            <a:endParaRPr sz="2325" b="1" i="0">
              <a:solidFill>
                <a:srgbClr val="00052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2577" y="2165318"/>
            <a:ext cx="4046005" cy="280215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215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解价源端口号、</a:t>
            </a:r>
            <a:endParaRPr sz="215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29845">
              <a:spcBef>
                <a:spcPts val="1320"/>
              </a:spcBef>
            </a:pPr>
            <a:r>
              <a:rPr lang="zh-CN" sz="2155">
                <a:latin typeface="Noto Sans SC" panose="020B0200000000000000" charset="-122"/>
                <a:ea typeface="Noto Sans SC" panose="020B0200000000000000" charset="-122"/>
              </a:rPr>
              <a:t>目的端口号</a:t>
            </a:r>
            <a:endParaRPr lang="zh-CN" sz="2155"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spcBef>
                <a:spcPts val="1320"/>
              </a:spcBef>
            </a:pPr>
            <a:r>
              <a:rPr lang="zh-CN" sz="2155">
                <a:latin typeface="Noto Sans SC" panose="020B0200000000000000" charset="-122"/>
                <a:ea typeface="Noto Sans SC" panose="020B0200000000000000" charset="-122"/>
              </a:rPr>
              <a:t>滑动窗口大小参数</a:t>
            </a:r>
            <a:endParaRPr lang="zh-CN" sz="2155"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spcBef>
                <a:spcPts val="1315"/>
              </a:spcBef>
            </a:pPr>
            <a:r>
              <a:rPr lang="zh-CN" sz="2155">
                <a:latin typeface="Noto Sans SC" panose="020B0200000000000000" charset="-122"/>
                <a:ea typeface="Noto Sans SC" panose="020B0200000000000000" charset="-122"/>
              </a:rPr>
              <a:t>使用netstat-p tpc命令查看本</a:t>
            </a:r>
            <a:endParaRPr lang="zh-CN" sz="2155"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spcBef>
                <a:spcPts val="830"/>
              </a:spcBef>
            </a:pPr>
            <a:r>
              <a:rPr lang="zh-CN" sz="2155">
                <a:latin typeface="Noto Sans SC" panose="020B0200000000000000" charset="-122"/>
                <a:ea typeface="Noto Sans SC" panose="020B0200000000000000" charset="-122"/>
              </a:rPr>
              <a:t>机端口,与抓包结果中的端号</a:t>
            </a:r>
            <a:endParaRPr lang="zh-CN" sz="2155">
              <a:latin typeface="Noto Sans SC" panose="020B0200000000000000" charset="-122"/>
              <a:ea typeface="Noto Sans SC" panose="020B0200000000000000" charset="-122"/>
            </a:endParaRPr>
          </a:p>
          <a:p>
            <a:pPr marL="29845">
              <a:spcBef>
                <a:spcPts val="1080"/>
              </a:spcBef>
            </a:pPr>
            <a:r>
              <a:rPr lang="zh-CN" sz="2155">
                <a:latin typeface="Noto Sans SC" panose="020B0200000000000000" charset="-122"/>
                <a:ea typeface="Noto Sans SC" panose="020B0200000000000000" charset="-122"/>
              </a:rPr>
              <a:t>号相互认认</a:t>
            </a:r>
            <a:endParaRPr lang="zh-CN" sz="215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13819" y="2165318"/>
            <a:ext cx="2800350" cy="35366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175" b="0" i="0">
                <a:solidFill>
                  <a:srgbClr val="000122"/>
                </a:solidFill>
                <a:latin typeface="Noto Sans SC" panose="020B0200000000000000" charset="-122"/>
                <a:ea typeface="Noto Sans SC" panose="020B0200000000000000" charset="-122"/>
              </a:rPr>
              <a:t>观察控制连接明文指今</a:t>
            </a:r>
            <a:endParaRPr sz="2175" b="0" i="0">
              <a:solidFill>
                <a:srgbClr val="000122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402603" y="2443924"/>
            <a:ext cx="1006697" cy="22498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11F"/>
                </a:solidFill>
                <a:latin typeface="Noto Sans SC" panose="020B0200000000000000" charset="-122"/>
                <a:ea typeface="Noto Sans SC" panose="020B0200000000000000" charset="-122"/>
              </a:rPr>
              <a:t>FTP客户端</a:t>
            </a:r>
            <a:endParaRPr sz="1500" b="0" i="0">
              <a:solidFill>
                <a:srgbClr val="00011F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14581" y="2625280"/>
            <a:ext cx="3179921" cy="145427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2250" b="0" i="0">
                <a:solidFill>
                  <a:srgbClr val="000121"/>
                </a:solidFill>
                <a:latin typeface="Noto Sans SC" panose="020B0200000000000000" charset="-122"/>
                <a:ea typeface="Noto Sans SC" panose="020B0200000000000000" charset="-122"/>
              </a:rPr>
              <a:t>AUTH TLS(请求安全连接)</a:t>
            </a:r>
            <a:endParaRPr sz="2250" b="0" i="0">
              <a:solidFill>
                <a:srgbClr val="00012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spcBef>
                <a:spcPts val="2050"/>
              </a:spcBef>
            </a:pPr>
            <a:r>
              <a:rPr lang="zh-CN" sz="2250">
                <a:latin typeface="Noto Sans SC" panose="020B0200000000000000" charset="-122"/>
                <a:ea typeface="Noto Sans SC" panose="020B0200000000000000" charset="-122"/>
              </a:rPr>
              <a:t>USER(用户名)</a:t>
            </a:r>
            <a:endParaRPr lang="zh-CN" sz="2250"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spcBef>
                <a:spcPts val="1805"/>
              </a:spcBef>
            </a:pPr>
            <a:r>
              <a:rPr lang="zh-CN" sz="2250">
                <a:latin typeface="Noto Sans SC" panose="020B0200000000000000" charset="-122"/>
                <a:ea typeface="Noto Sans SC" panose="020B0200000000000000" charset="-122"/>
              </a:rPr>
              <a:t>PASS(密码)</a:t>
            </a:r>
            <a:endParaRPr lang="zh-CN" sz="225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14581" y="4370451"/>
            <a:ext cx="3150584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175" b="0" i="0">
                <a:solidFill>
                  <a:srgbClr val="000122"/>
                </a:solidFill>
                <a:latin typeface="Noto Sans SC" panose="020B0200000000000000" charset="-122"/>
                <a:ea typeface="Noto Sans SC" panose="020B0200000000000000" charset="-122"/>
              </a:rPr>
              <a:t>观察服务端响应状码200</a:t>
            </a:r>
            <a:endParaRPr sz="2175" b="0" i="0">
              <a:solidFill>
                <a:srgbClr val="000122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14581" y="4830413"/>
            <a:ext cx="2387917" cy="123853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635" algn="just">
              <a:spcBef>
                <a:spcPts val="0"/>
              </a:spcBef>
              <a:spcAft>
                <a:spcPts val="0"/>
              </a:spcAft>
            </a:pPr>
            <a:r>
              <a:rPr sz="2175" b="0" i="0">
                <a:solidFill>
                  <a:srgbClr val="00011F"/>
                </a:solidFill>
                <a:latin typeface="Noto Sans SC" panose="020B0200000000000000" charset="-122"/>
                <a:ea typeface="Noto Sans SC" panose="020B0200000000000000" charset="-122"/>
              </a:rPr>
              <a:t>227(进入被动模式)</a:t>
            </a:r>
            <a:endParaRPr sz="2175" b="0" i="0">
              <a:solidFill>
                <a:srgbClr val="00011F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spcBef>
                <a:spcPts val="1330"/>
              </a:spcBef>
            </a:pPr>
            <a:r>
              <a:rPr lang="zh-CN" sz="2175">
                <a:latin typeface="Noto Sans SC" panose="020B0200000000000000" charset="-122"/>
                <a:ea typeface="Noto Sans SC" panose="020B0200000000000000" charset="-122"/>
              </a:rPr>
              <a:t>230(登录成功)</a:t>
            </a:r>
            <a:endParaRPr lang="zh-CN" sz="2175">
              <a:latin typeface="Noto Sans SC" panose="020B0200000000000000" charset="-122"/>
              <a:ea typeface="Noto Sans SC" panose="020B0200000000000000" charset="-122"/>
            </a:endParaRPr>
          </a:p>
          <a:p>
            <a:pPr marL="29845">
              <a:spcBef>
                <a:spcPts val="1330"/>
              </a:spcBef>
            </a:pPr>
            <a:r>
              <a:rPr lang="zh-CN" sz="2175">
                <a:latin typeface="Noto Sans SC" panose="020B0200000000000000" charset="-122"/>
                <a:ea typeface="Noto Sans SC" panose="020B0200000000000000" charset="-122"/>
              </a:rPr>
              <a:t>530(登录失败)</a:t>
            </a:r>
            <a:endParaRPr lang="zh-CN" sz="217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64105" y="5045487"/>
            <a:ext cx="1096137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00011D"/>
                </a:solidFill>
                <a:latin typeface="Noto Sans SC" panose="020B0200000000000000" charset="-122"/>
                <a:ea typeface="Noto Sans SC" panose="020B0200000000000000" charset="-122"/>
              </a:rPr>
              <a:t>FTP客户端</a:t>
            </a:r>
            <a:endParaRPr sz="1725" b="0" i="0">
              <a:solidFill>
                <a:srgbClr val="00011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339768" y="5045487"/>
            <a:ext cx="920305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00011C"/>
                </a:solidFill>
                <a:latin typeface="Noto Sans SC" panose="020B0200000000000000" charset="-122"/>
                <a:ea typeface="Noto Sans SC" panose="020B0200000000000000" charset="-122"/>
              </a:rPr>
              <a:t>命令成功</a:t>
            </a:r>
            <a:endParaRPr sz="1725" b="0" i="0">
              <a:solidFill>
                <a:srgbClr val="00011C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670" y="3977514"/>
            <a:ext cx="9924002" cy="123811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270" y="1979273"/>
            <a:ext cx="3224879" cy="158624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2338" y="1976055"/>
            <a:ext cx="3204400" cy="159029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6499" y="1978342"/>
            <a:ext cx="3210632" cy="158391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4941" y="3686841"/>
            <a:ext cx="1953663" cy="526351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7570" y="1292733"/>
            <a:ext cx="1549826" cy="529209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54933" y="5486754"/>
            <a:ext cx="810672" cy="549929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58099" y="5483066"/>
            <a:ext cx="803474" cy="551497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64640" y="5489007"/>
            <a:ext cx="805434" cy="544852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76901" y="5486209"/>
            <a:ext cx="783761" cy="546258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22005" y="5491305"/>
            <a:ext cx="785812" cy="542924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26388" y="5492781"/>
            <a:ext cx="782364" cy="540543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33470" y="5492591"/>
            <a:ext cx="772206" cy="538638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52735" y="2056923"/>
            <a:ext cx="237666" cy="247173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04149" y="2058162"/>
            <a:ext cx="236723" cy="241458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777620" y="4072128"/>
            <a:ext cx="218526" cy="228028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768992" y="2071497"/>
            <a:ext cx="227307" cy="21783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61606" y="507492"/>
            <a:ext cx="9080944" cy="54644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125" b="1" i="0">
                <a:solidFill>
                  <a:srgbClr val="000831"/>
                </a:solidFill>
                <a:latin typeface="Noto Sans SC" panose="020B0200000000000000" charset="-122"/>
                <a:ea typeface="Noto Sans SC" panose="020B0200000000000000" charset="-122"/>
              </a:rPr>
              <a:t>第二部分:TCP机制深度观察(实验设计)</a:t>
            </a:r>
            <a:endParaRPr sz="4125" b="1" i="0">
              <a:solidFill>
                <a:srgbClr val="000831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29512" y="1401413"/>
            <a:ext cx="1038987" cy="28927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>
                <a:solidFill>
                  <a:srgbClr val="00042B"/>
                </a:solidFill>
                <a:latin typeface="Noto Sans SC" panose="020B0200000000000000" charset="-122"/>
                <a:ea typeface="Noto Sans SC" panose="020B0200000000000000" charset="-122"/>
              </a:rPr>
              <a:t>实战思路</a:t>
            </a:r>
            <a:endParaRPr sz="2025" b="1" i="0">
              <a:solidFill>
                <a:srgbClr val="00042B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866263" y="1402175"/>
            <a:ext cx="7426547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9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000222"/>
                </a:solidFill>
                <a:latin typeface="Noto Sans SC" panose="020B0200000000000000" charset="-122"/>
                <a:ea typeface="Noto Sans SC" panose="020B0200000000000000" charset="-122"/>
              </a:rPr>
              <a:t>编写自定义的Python TCP握手与挥手发包器,生成纯净的流量用于Wireshark分析</a:t>
            </a:r>
            <a:endParaRPr sz="1575" b="0" i="0">
              <a:solidFill>
                <a:srgbClr val="000222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428750" y="2257901"/>
            <a:ext cx="2812851" cy="90239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利用socket和threading</a:t>
            </a:r>
            <a:endParaRPr sz="187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28575"/>
            <a:r>
              <a:rPr lang="zh-CN" sz="1875">
                <a:latin typeface="Noto Sans SC" panose="020B0200000000000000" charset="-122"/>
                <a:ea typeface="Noto Sans SC" panose="020B0200000000000000" charset="-122"/>
              </a:rPr>
              <a:t>模块在一个进程内模拟客</a:t>
            </a:r>
            <a:endParaRPr lang="zh-CN" sz="1875">
              <a:latin typeface="Noto Sans SC" panose="020B0200000000000000" charset="-122"/>
              <a:ea typeface="Noto Sans SC" panose="020B0200000000000000" charset="-122"/>
            </a:endParaRPr>
          </a:p>
          <a:p>
            <a:pPr marL="635"/>
            <a:r>
              <a:rPr lang="zh-CN" sz="1875">
                <a:latin typeface="Noto Sans SC" panose="020B0200000000000000" charset="-122"/>
                <a:ea typeface="Noto Sans SC" panose="020B0200000000000000" charset="-122"/>
              </a:rPr>
              <a:t>户端与服务端通信</a:t>
            </a:r>
            <a:endParaRPr lang="zh-CN" sz="187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57750" y="2257901"/>
            <a:ext cx="2478976" cy="90163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在本地回环地址</a:t>
            </a:r>
            <a:endParaRPr sz="187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144145"/>
            <a:r>
              <a:rPr lang="zh-CN" sz="1875">
                <a:latin typeface="Noto Sans SC" panose="020B0200000000000000" charset="-122"/>
                <a:ea typeface="Noto Sans SC" panose="020B0200000000000000" charset="-122"/>
              </a:rPr>
              <a:t>(127.0.0.1)上动态分</a:t>
            </a:r>
            <a:endParaRPr lang="zh-CN" sz="1875">
              <a:latin typeface="Noto Sans SC" panose="020B0200000000000000" charset="-122"/>
              <a:ea typeface="Noto Sans SC" panose="020B0200000000000000" charset="-122"/>
            </a:endParaRPr>
          </a:p>
          <a:p>
            <a:pPr marL="236220"/>
            <a:r>
              <a:rPr lang="zh-CN" sz="1875">
                <a:latin typeface="Noto Sans SC" panose="020B0200000000000000" charset="-122"/>
                <a:ea typeface="Noto Sans SC" panose="020B0200000000000000" charset="-122"/>
              </a:rPr>
              <a:t>配空闲端口建立连接</a:t>
            </a:r>
            <a:endParaRPr lang="zh-CN" sz="187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40922" y="2289333"/>
            <a:ext cx="8641080" cy="93230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脚本运行后自动打印专属</a:t>
            </a:r>
            <a:endParaRPr sz="1950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spcBef>
                <a:spcPts val="130"/>
              </a:spcBef>
            </a:pPr>
            <a:r>
              <a:rPr lang="zh-CN" sz="1950">
                <a:latin typeface="Noto Sans SC" panose="020B0200000000000000" charset="-122"/>
                <a:ea typeface="Noto Sans SC" panose="020B0200000000000000" charset="-122"/>
              </a:rPr>
              <a:t>的Wireshark过滤表达式</a:t>
            </a:r>
            <a:endParaRPr lang="zh-CN" sz="1950">
              <a:latin typeface="Noto Sans SC" panose="020B0200000000000000" charset="-122"/>
              <a:ea typeface="Noto Sans SC" panose="020B0200000000000000" charset="-122"/>
            </a:endParaRPr>
          </a:p>
          <a:p>
            <a:pPr marL="117475">
              <a:spcBef>
                <a:spcPts val="375"/>
              </a:spcBef>
            </a:pPr>
            <a:r>
              <a:rPr lang="zh-CN" sz="1950">
                <a:latin typeface="Noto Sans SC" panose="020B0200000000000000" charset="-122"/>
                <a:ea typeface="Noto Sans SC" panose="020B0200000000000000" charset="-122"/>
              </a:rPr>
              <a:t>(autcp.port==xxxx)(autcp.port == xxxx)(autcp.port==xxxx)</a:t>
            </a:r>
            <a:endParaRPr lang="zh-CN" sz="195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546002" y="3758088"/>
            <a:ext cx="1597247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F5F8FB"/>
                </a:solidFill>
                <a:latin typeface="Noto Sans SC" panose="020B0200000000000000" charset="-122"/>
                <a:ea typeface="Noto Sans SC" panose="020B0200000000000000" charset="-122"/>
              </a:rPr>
              <a:t>抓包避坑指南</a:t>
            </a:r>
            <a:endParaRPr sz="1950" b="1" i="0">
              <a:solidFill>
                <a:srgbClr val="F5F8FB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427797" y="4262723"/>
            <a:ext cx="8924615" cy="64350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000225"/>
                </a:solidFill>
                <a:latin typeface="Noto Sans SC" panose="020B0200000000000000" charset="-122"/>
                <a:ea typeface="Noto Sans SC" panose="020B0200000000000000" charset="-122"/>
              </a:rPr>
              <a:t>关键点:由于数加在本地回坏必须在Wir</a:t>
            </a:r>
            <a:r>
              <a:rPr lang="en-US" sz="2025" b="0" i="0">
                <a:solidFill>
                  <a:srgbClr val="000225"/>
                </a:solidFill>
                <a:latin typeface="Noto Sans SC" panose="020B0200000000000000" charset="-122"/>
                <a:ea typeface="Noto Sans SC" panose="020B0200000000000000" charset="-122"/>
              </a:rPr>
              <a:t>esh</a:t>
            </a:r>
            <a:r>
              <a:rPr sz="2025" b="0" i="0">
                <a:solidFill>
                  <a:srgbClr val="000225"/>
                </a:solidFill>
                <a:latin typeface="Noto Sans SC" panose="020B0200000000000000" charset="-122"/>
                <a:ea typeface="Noto Sans SC" panose="020B0200000000000000" charset="-122"/>
              </a:rPr>
              <a:t>ark中监听虚拟网卡 Adpter forb</a:t>
            </a:r>
            <a:endParaRPr sz="2025" b="0" i="0">
              <a:solidFill>
                <a:srgbClr val="000225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635"/>
            <a:r>
              <a:rPr lang="zh-CN" sz="2025">
                <a:latin typeface="Noto Sans SC" panose="020B0200000000000000" charset="-122"/>
                <a:ea typeface="Noto Sans SC" panose="020B0200000000000000" charset="-122"/>
              </a:rPr>
              <a:t>loopback traffic capture</a:t>
            </a:r>
            <a:endParaRPr lang="zh-CN" sz="202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160678" y="4529518"/>
            <a:ext cx="5436584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000225"/>
                </a:solidFill>
                <a:latin typeface="Noto Sans SC" panose="020B0200000000000000" charset="-122"/>
                <a:ea typeface="Noto Sans SC" panose="020B0200000000000000" charset="-122"/>
              </a:rPr>
              <a:t>(Npcap Loopback Adapter),否则无法捕获流量</a:t>
            </a:r>
            <a:endParaRPr sz="1950" b="0" i="0">
              <a:solidFill>
                <a:srgbClr val="000225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016" y="2066925"/>
            <a:ext cx="3837531" cy="455647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05" y="2070696"/>
            <a:ext cx="3833717" cy="455283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7571" y="2072218"/>
            <a:ext cx="3813714" cy="455169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7922" y="5306091"/>
            <a:ext cx="3493109" cy="103746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509" y="5301692"/>
            <a:ext cx="2974752" cy="103759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7454" y="5519547"/>
            <a:ext cx="2725793" cy="665988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6356" y="3930500"/>
            <a:ext cx="3458718" cy="51452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96497" y="5302902"/>
            <a:ext cx="826865" cy="100269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81233" y="5306949"/>
            <a:ext cx="818140" cy="1003649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146" y="5306472"/>
            <a:ext cx="812920" cy="1003077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49118" y="5308282"/>
            <a:ext cx="757524" cy="1005268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00645" y="5307871"/>
            <a:ext cx="755046" cy="99723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75724" y="5309280"/>
            <a:ext cx="733710" cy="990984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06758" y="5311062"/>
            <a:ext cx="722280" cy="99313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64369" y="1295781"/>
            <a:ext cx="670691" cy="856202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76888" y="1294797"/>
            <a:ext cx="648462" cy="863026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753314" y="1300744"/>
            <a:ext cx="652081" cy="851989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677495" y="5537752"/>
            <a:ext cx="736472" cy="6652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693677" y="5538692"/>
            <a:ext cx="721406" cy="579024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737188" y="5512498"/>
            <a:ext cx="661890" cy="60988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664065" y="3926205"/>
            <a:ext cx="727804" cy="505682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36182" y="3926586"/>
            <a:ext cx="701717" cy="512064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106436" y="3930205"/>
            <a:ext cx="701847" cy="512159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639758" y="3929915"/>
            <a:ext cx="701802" cy="502641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404836" y="3928132"/>
            <a:ext cx="691419" cy="500682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312473" y="3934577"/>
            <a:ext cx="689800" cy="49951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234017" y="3934707"/>
            <a:ext cx="662940" cy="49601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009900" y="694943"/>
            <a:ext cx="5996368" cy="3857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042F"/>
                </a:solidFill>
                <a:latin typeface="Noto Sans SC" panose="020B0200000000000000" charset="-122"/>
                <a:ea typeface="Noto Sans SC" panose="020B0200000000000000" charset="-122"/>
              </a:rPr>
              <a:t>第二部分:TCP机制深度观察(流量分析)</a:t>
            </a:r>
            <a:endParaRPr sz="2700" b="1" i="0">
              <a:solidFill>
                <a:srgbClr val="00042F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252918" y="2227326"/>
            <a:ext cx="1655921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三次握手过程</a:t>
            </a:r>
            <a:endParaRPr sz="2025" b="1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902255" y="2227326"/>
            <a:ext cx="2505837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175" b="1" i="0">
                <a:solidFill>
                  <a:srgbClr val="00032B"/>
                </a:solidFill>
                <a:latin typeface="Noto Sans SC" panose="020B0200000000000000" charset="-122"/>
                <a:ea typeface="Noto Sans SC" panose="020B0200000000000000" charset="-122"/>
              </a:rPr>
              <a:t>滑动窗口与拥塞控制</a:t>
            </a:r>
            <a:endParaRPr sz="2175" b="1" i="0">
              <a:solidFill>
                <a:srgbClr val="00032B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33768" y="2657475"/>
            <a:ext cx="2385631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客户端发送SYN=1,seq=0</a:t>
            </a:r>
            <a:endParaRPr sz="1650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376856" y="2658237"/>
            <a:ext cx="3409950" cy="22498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00011E"/>
                </a:solidFill>
                <a:latin typeface="Noto Sans SC" panose="020B0200000000000000" charset="-122"/>
                <a:ea typeface="Noto Sans SC" panose="020B0200000000000000" charset="-122"/>
              </a:rPr>
              <a:t>TCP通过Win字段对连接进行流量控制</a:t>
            </a:r>
            <a:endParaRPr sz="1575" b="0" i="0">
              <a:solidFill>
                <a:srgbClr val="00011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33768" y="3177921"/>
            <a:ext cx="2708052" cy="53197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2.服务端回复SYN=1,ACK=1,</a:t>
            </a:r>
            <a:endParaRPr sz="1650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635">
              <a:spcBef>
                <a:spcPts val="390"/>
              </a:spcBef>
            </a:pPr>
            <a:r>
              <a:rPr lang="zh-CN" sz="1650">
                <a:latin typeface="Noto Sans SC" panose="020B0200000000000000" charset="-122"/>
                <a:ea typeface="Noto Sans SC" panose="020B0200000000000000" charset="-122"/>
              </a:rPr>
              <a:t>seq=0,ack=1</a:t>
            </a:r>
            <a:endParaRPr lang="zh-CN" sz="165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347519" y="3178683"/>
            <a:ext cx="3204781" cy="22498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00011E"/>
                </a:solidFill>
                <a:latin typeface="Noto Sans SC" panose="020B0200000000000000" charset="-122"/>
                <a:ea typeface="Noto Sans SC" panose="020B0200000000000000" charset="-122"/>
              </a:rPr>
              <a:t>2.确保发送方不超过接收方的窗口值</a:t>
            </a:r>
            <a:endParaRPr sz="1575" b="0" i="0">
              <a:solidFill>
                <a:srgbClr val="00011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405431" y="3973925"/>
            <a:ext cx="2649378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9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00011F"/>
                </a:solidFill>
                <a:latin typeface="Noto Sans SC" panose="020B0200000000000000" charset="-122"/>
                <a:ea typeface="Noto Sans SC" panose="020B0200000000000000" charset="-122"/>
              </a:rPr>
              <a:t>拥塞窗口随网络情况动态改变</a:t>
            </a:r>
            <a:endParaRPr sz="1575" b="0" i="0">
              <a:solidFill>
                <a:srgbClr val="00011F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34530" y="4709541"/>
            <a:ext cx="3263455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11D"/>
                </a:solidFill>
                <a:latin typeface="Noto Sans SC" panose="020B0200000000000000" charset="-122"/>
                <a:ea typeface="Noto Sans SC" panose="020B0200000000000000" charset="-122"/>
              </a:rPr>
              <a:t>3.客户端确认ACK=1,seq=1,ack=1</a:t>
            </a:r>
            <a:endParaRPr sz="1500" b="0" i="0">
              <a:solidFill>
                <a:srgbClr val="00011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318277" y="4709541"/>
            <a:ext cx="3409950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11D"/>
                </a:solidFill>
                <a:latin typeface="Noto Sans SC" panose="020B0200000000000000" charset="-122"/>
                <a:ea typeface="Noto Sans SC" panose="020B0200000000000000" charset="-122"/>
              </a:rPr>
              <a:t>4.初始较小,随后变大以传输更多分组</a:t>
            </a:r>
            <a:endParaRPr sz="1650" b="0" i="0">
              <a:solidFill>
                <a:srgbClr val="00011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920" y="4462557"/>
            <a:ext cx="10480258" cy="17316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8168" y="1762196"/>
            <a:ext cx="5418867" cy="257837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931" y="1763839"/>
            <a:ext cx="4948967" cy="258165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118" y="2870454"/>
            <a:ext cx="2174561" cy="11991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64709" y="968216"/>
            <a:ext cx="7847171" cy="48215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32C"/>
                </a:solidFill>
                <a:latin typeface="Noto Sans SC" panose="020B0200000000000000" charset="-122"/>
                <a:ea typeface="Noto Sans SC" panose="020B0200000000000000" charset="-122"/>
              </a:rPr>
              <a:t>第三部分:PCAP库底层网络侦听(C++)</a:t>
            </a:r>
            <a:endParaRPr sz="3600" b="1" i="0">
              <a:solidFill>
                <a:srgbClr val="00032C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45053" y="1918906"/>
            <a:ext cx="2422302" cy="41786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sz="3075" b="1" i="0">
                <a:solidFill>
                  <a:srgbClr val="000229"/>
                </a:solidFill>
                <a:latin typeface="Noto Sans SC" panose="020B0200000000000000" charset="-122"/>
                <a:ea typeface="Noto Sans SC" panose="020B0200000000000000" charset="-122"/>
              </a:rPr>
              <a:t>70%核心逻辑</a:t>
            </a:r>
            <a:endParaRPr sz="3075" b="1" i="0">
              <a:solidFill>
                <a:srgbClr val="000229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61288" y="2070449"/>
            <a:ext cx="1223581" cy="48215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1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0359E7"/>
                </a:solidFill>
                <a:latin typeface="Noto Sans SC" panose="020B0200000000000000" charset="-122"/>
                <a:ea typeface="Noto Sans SC" panose="020B0200000000000000" charset="-122"/>
              </a:rPr>
              <a:t>30%</a:t>
            </a:r>
            <a:endParaRPr sz="3750" b="1" i="0">
              <a:solidFill>
                <a:srgbClr val="0359E7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18002" y="2472213"/>
            <a:ext cx="5090136" cy="166792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975" b="0" i="0">
                <a:solidFill>
                  <a:srgbClr val="000125"/>
                </a:solidFill>
                <a:latin typeface="Noto Sans SC" panose="020B0200000000000000" charset="-122"/>
                <a:ea typeface="Noto Sans SC" panose="020B0200000000000000" charset="-122"/>
              </a:rPr>
              <a:t>定义Packetlnfo结构体,提取以太网帧头中</a:t>
            </a:r>
            <a:endParaRPr sz="1975" b="0" i="0">
              <a:solidFill>
                <a:srgbClr val="000125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29210">
              <a:spcBef>
                <a:spcPts val="120"/>
              </a:spcBef>
            </a:pPr>
            <a:r>
              <a:rPr lang="zh-CN" sz="1975">
                <a:latin typeface="Noto Sans SC" panose="020B0200000000000000" charset="-122"/>
                <a:ea typeface="Noto Sans SC" panose="020B0200000000000000" charset="-122"/>
              </a:rPr>
              <a:t>的:源MAC、目的MAC、</a:t>
            </a:r>
            <a:endParaRPr lang="zh-CN" sz="1975"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spcBef>
                <a:spcPts val="360"/>
              </a:spcBef>
            </a:pPr>
            <a:r>
              <a:rPr lang="zh-CN" sz="1975">
                <a:latin typeface="Noto Sans SC" panose="020B0200000000000000" charset="-122"/>
                <a:ea typeface="Noto Sans SC" panose="020B0200000000000000" charset="-122"/>
              </a:rPr>
              <a:t>源IP、目的IP及帧长度;</a:t>
            </a:r>
            <a:endParaRPr lang="zh-CN" sz="1975">
              <a:latin typeface="Noto Sans SC" panose="020B0200000000000000" charset="-122"/>
              <a:ea typeface="Noto Sans SC" panose="020B0200000000000000" charset="-122"/>
            </a:endParaRPr>
          </a:p>
          <a:p>
            <a:r>
              <a:rPr lang="zh-CN" sz="1975">
                <a:latin typeface="Noto Sans SC" panose="020B0200000000000000" charset="-122"/>
                <a:ea typeface="Noto Sans SC" panose="020B0200000000000000" charset="-122"/>
              </a:rPr>
              <a:t>利用时间库格式化当前</a:t>
            </a:r>
            <a:endParaRPr lang="zh-CN" sz="1975">
              <a:latin typeface="Noto Sans SC" panose="020B0200000000000000" charset="-122"/>
              <a:ea typeface="Noto Sans SC" panose="020B0200000000000000" charset="-122"/>
            </a:endParaRPr>
          </a:p>
          <a:p>
            <a:pPr marL="29845">
              <a:spcBef>
                <a:spcPts val="370"/>
              </a:spcBef>
            </a:pPr>
            <a:r>
              <a:rPr lang="zh-CN" sz="1975">
                <a:latin typeface="Noto Sans SC" panose="020B0200000000000000" charset="-122"/>
                <a:ea typeface="Noto Sans SC" panose="020B0200000000000000" charset="-122"/>
              </a:rPr>
              <a:t>系统时间</a:t>
            </a:r>
            <a:endParaRPr lang="zh-CN" sz="197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63478" y="2807493"/>
            <a:ext cx="1482947" cy="3857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75" b="1" i="0">
                <a:solidFill>
                  <a:srgbClr val="00022B"/>
                </a:solidFill>
                <a:latin typeface="Noto Sans SC" panose="020B0200000000000000" charset="-122"/>
                <a:ea typeface="Noto Sans SC" panose="020B0200000000000000" charset="-122"/>
              </a:rPr>
              <a:t>侦听目标</a:t>
            </a:r>
            <a:endParaRPr sz="2775" b="1" i="0">
              <a:solidFill>
                <a:srgbClr val="00022B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65669" y="3391471"/>
            <a:ext cx="4262818" cy="62617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985" b="0" i="0">
                <a:solidFill>
                  <a:srgbClr val="000123"/>
                </a:solidFill>
                <a:latin typeface="Noto Sans SC" panose="020B0200000000000000" charset="-122"/>
                <a:ea typeface="Noto Sans SC" panose="020B0200000000000000" charset="-122"/>
              </a:rPr>
              <a:t>使用PCAP库在数据链路层直接监听网</a:t>
            </a:r>
            <a:endParaRPr sz="1985" b="0" i="0">
              <a:solidFill>
                <a:srgbClr val="000123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spcBef>
                <a:spcPts val="375"/>
              </a:spcBef>
            </a:pPr>
            <a:r>
              <a:rPr lang="zh-CN" sz="1985">
                <a:latin typeface="Noto Sans SC" panose="020B0200000000000000" charset="-122"/>
                <a:ea typeface="Noto Sans SC" panose="020B0200000000000000" charset="-122"/>
              </a:rPr>
              <a:t>络数据流</a:t>
            </a:r>
            <a:endParaRPr lang="zh-CN" sz="198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63478" y="4675060"/>
            <a:ext cx="1834705" cy="3857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75" b="1" i="0">
                <a:solidFill>
                  <a:srgbClr val="03072D"/>
                </a:solidFill>
                <a:latin typeface="Noto Sans SC" panose="020B0200000000000000" charset="-122"/>
                <a:ea typeface="Noto Sans SC" panose="020B0200000000000000" charset="-122"/>
              </a:rPr>
              <a:t>统计与输出</a:t>
            </a:r>
            <a:endParaRPr sz="2775" b="1" i="0">
              <a:solidFill>
                <a:srgbClr val="03072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65002" y="5228463"/>
            <a:ext cx="9634204" cy="68808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635" algn="just">
              <a:spcBef>
                <a:spcPts val="0"/>
              </a:spcBef>
              <a:spcAft>
                <a:spcPts val="0"/>
              </a:spcAft>
            </a:pPr>
            <a:r>
              <a:rPr sz="1985" b="0" i="0">
                <a:solidFill>
                  <a:srgbClr val="000122"/>
                </a:solidFill>
                <a:latin typeface="Noto Sans SC" panose="020B0200000000000000" charset="-122"/>
                <a:ea typeface="Noto Sans SC" panose="020B0200000000000000" charset="-122"/>
              </a:rPr>
              <a:t>对捕获的流量按不同MAC地址和IP地址进行分组统计;</a:t>
            </a:r>
            <a:endParaRPr sz="1985" b="0" i="0">
              <a:solidFill>
                <a:srgbClr val="000122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spcBef>
                <a:spcPts val="610"/>
              </a:spcBef>
            </a:pPr>
            <a:r>
              <a:rPr lang="zh-CN" sz="1985">
                <a:latin typeface="Noto Sans SC" panose="020B0200000000000000" charset="-122"/>
                <a:ea typeface="Noto Sans SC" panose="020B0200000000000000" charset="-122"/>
              </a:rPr>
              <a:t>统计Packet数量与Bytes大小;将解折的底层四元组与时间戳数据导出为CSV格式文件</a:t>
            </a:r>
            <a:endParaRPr lang="zh-CN" sz="1985"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58" y="3958305"/>
            <a:ext cx="7836026" cy="259613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949" y="1358397"/>
            <a:ext cx="7832598" cy="249652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3133" y="1374039"/>
            <a:ext cx="3539680" cy="514300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668" y="3965656"/>
            <a:ext cx="7788878" cy="69033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0823" y="5134729"/>
            <a:ext cx="2026253" cy="54351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73013" y="4323970"/>
            <a:ext cx="2025491" cy="533776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79476" y="3600069"/>
            <a:ext cx="2018279" cy="531876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86253" y="2272153"/>
            <a:ext cx="2015585" cy="50032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74646" y="2961132"/>
            <a:ext cx="2016320" cy="45177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25546" y="1635823"/>
            <a:ext cx="1335855" cy="4231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76498" y="5676519"/>
            <a:ext cx="434524" cy="5825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6647" y="450056"/>
            <a:ext cx="4736115" cy="3857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9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00073A"/>
                </a:solidFill>
                <a:latin typeface="Noto Sans SC" panose="020B0200000000000000" charset="-122"/>
                <a:ea typeface="Noto Sans SC" panose="020B0200000000000000" charset="-122"/>
              </a:rPr>
              <a:t>第四部分:应用层协议嗅探与解析</a:t>
            </a:r>
            <a:endParaRPr sz="2550" b="1" i="0">
              <a:solidFill>
                <a:srgbClr val="00073A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7409" y="1522380"/>
            <a:ext cx="1833181" cy="35366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1042F"/>
                </a:solidFill>
                <a:latin typeface="Noto Sans SC" panose="020B0200000000000000" charset="-122"/>
                <a:ea typeface="Noto Sans SC" panose="020B0200000000000000" charset="-122"/>
              </a:rPr>
              <a:t>FTP协议嗅探</a:t>
            </a:r>
            <a:endParaRPr sz="2400" b="1" i="0">
              <a:solidFill>
                <a:srgbClr val="01042F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7409" y="2135505"/>
            <a:ext cx="7898487" cy="145341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635" algn="just"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01042A"/>
                </a:solidFill>
                <a:latin typeface="Noto Sans SC" panose="020B0200000000000000" charset="-122"/>
                <a:ea typeface="Noto Sans SC" panose="020B0200000000000000" charset="-122"/>
              </a:rPr>
              <a:t>监听TCP21端口,捕获USER和PASS后的明文登录名与口令;</a:t>
            </a:r>
            <a:endParaRPr sz="2025" b="0" i="0">
              <a:solidFill>
                <a:srgbClr val="01042A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spcBef>
                <a:spcPts val="2045"/>
              </a:spcBef>
            </a:pPr>
            <a:r>
              <a:rPr lang="zh-CN" sz="2025">
                <a:latin typeface="Noto Sans SC" panose="020B0200000000000000" charset="-122"/>
                <a:ea typeface="Noto Sans SC" panose="020B0200000000000000" charset="-122"/>
              </a:rPr>
              <a:t>利用四元组(源IP/端口、目标IP/端口)作为Session Key缓存状态;</a:t>
            </a:r>
            <a:endParaRPr lang="zh-CN" sz="2025">
              <a:latin typeface="Noto Sans SC" panose="020B0200000000000000" charset="-122"/>
              <a:ea typeface="Noto Sans SC" panose="020B0200000000000000" charset="-122"/>
            </a:endParaRPr>
          </a:p>
          <a:p>
            <a:pPr marL="635"/>
            <a:r>
              <a:rPr lang="zh-CN" sz="2025">
                <a:latin typeface="Noto Sans SC" panose="020B0200000000000000" charset="-122"/>
                <a:ea typeface="Noto Sans SC" panose="020B0200000000000000" charset="-122"/>
              </a:rPr>
              <a:t>通过抓取230(成功)或530(失败)响应码判定结果;</a:t>
            </a:r>
            <a:endParaRPr lang="zh-CN" sz="2025">
              <a:latin typeface="Noto Sans SC" panose="020B0200000000000000" charset="-122"/>
              <a:ea typeface="Noto Sans SC" panose="020B0200000000000000" charset="-122"/>
            </a:endParaRPr>
          </a:p>
          <a:p>
            <a:pPr marL="1270"/>
            <a:r>
              <a:rPr lang="zh-CN" sz="2025">
                <a:latin typeface="Noto Sans SC" panose="020B0200000000000000" charset="-122"/>
                <a:ea typeface="Noto Sans SC" panose="020B0200000000000000" charset="-122"/>
              </a:rPr>
              <a:t>记录到CSV日志</a:t>
            </a:r>
            <a:endParaRPr lang="zh-CN" sz="202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7409" y="4124706"/>
            <a:ext cx="4265771" cy="3535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75" b="1" i="0">
                <a:solidFill>
                  <a:srgbClr val="010431"/>
                </a:solidFill>
                <a:latin typeface="Noto Sans SC" panose="020B0200000000000000" charset="-122"/>
                <a:ea typeface="Noto Sans SC" panose="020B0200000000000000" charset="-122"/>
              </a:rPr>
              <a:t>HTTP/HTTPS(HUSTOJ)嗅探</a:t>
            </a:r>
            <a:endParaRPr sz="2475" b="1" i="0">
              <a:solidFill>
                <a:srgbClr val="010431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8171" y="4737830"/>
            <a:ext cx="7553944" cy="172831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000428"/>
                </a:solidFill>
                <a:latin typeface="Noto Sans SC" panose="020B0200000000000000" charset="-122"/>
                <a:ea typeface="Noto Sans SC" panose="020B0200000000000000" charset="-122"/>
              </a:rPr>
              <a:t>截获明文POS的application/x-www-form-rlencoded登录请求;</a:t>
            </a:r>
            <a:endParaRPr sz="1950" b="0" i="0">
              <a:solidFill>
                <a:srgbClr val="000428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635">
              <a:spcBef>
                <a:spcPts val="2055"/>
              </a:spcBef>
            </a:pPr>
            <a:r>
              <a:rPr lang="zh-CN" sz="1950">
                <a:latin typeface="Noto Sans SC" panose="020B0200000000000000" charset="-122"/>
                <a:ea typeface="Noto Sans SC" panose="020B0200000000000000" charset="-122"/>
              </a:rPr>
              <a:t>识别经JavaScript MD5处理后提交的密码字段;</a:t>
            </a:r>
            <a:endParaRPr lang="zh-CN" sz="1950">
              <a:latin typeface="Noto Sans SC" panose="020B0200000000000000" charset="-122"/>
              <a:ea typeface="Noto Sans SC" panose="020B0200000000000000" charset="-122"/>
            </a:endParaRPr>
          </a:p>
          <a:p>
            <a:r>
              <a:rPr lang="zh-CN" sz="1950">
                <a:latin typeface="Noto Sans SC" panose="020B0200000000000000" charset="-122"/>
                <a:ea typeface="Noto Sans SC" panose="020B0200000000000000" charset="-122"/>
              </a:rPr>
              <a:t>依据服务端返回的脚本特征(如alert或window.location.href)判</a:t>
            </a:r>
            <a:endParaRPr lang="zh-CN" sz="1950">
              <a:latin typeface="Noto Sans SC" panose="020B0200000000000000" charset="-122"/>
              <a:ea typeface="Noto Sans SC" panose="020B0200000000000000" charset="-122"/>
            </a:endParaRPr>
          </a:p>
          <a:p>
            <a:r>
              <a:rPr lang="zh-CN" sz="1950">
                <a:latin typeface="Noto Sans SC" panose="020B0200000000000000" charset="-122"/>
                <a:ea typeface="Noto Sans SC" panose="020B0200000000000000" charset="-122"/>
              </a:rPr>
              <a:t>断验证结果;应对TLS:服务端使用固定自签名证书时,可用Wire</a:t>
            </a:r>
            <a:endParaRPr lang="zh-CN" sz="1950">
              <a:latin typeface="Noto Sans SC" panose="020B0200000000000000" charset="-122"/>
              <a:ea typeface="Noto Sans SC" panose="020B0200000000000000" charset="-122"/>
            </a:endParaRPr>
          </a:p>
          <a:p>
            <a:pPr marL="1270"/>
            <a:r>
              <a:rPr lang="zh-CN" sz="1950">
                <a:latin typeface="Noto Sans SC" panose="020B0200000000000000" charset="-122"/>
                <a:ea typeface="Noto Sans SC" panose="020B0200000000000000" charset="-122"/>
              </a:rPr>
              <a:t>shark导入私钥恢复HTTP内容</a:t>
            </a:r>
            <a:endParaRPr lang="zh-CN" sz="1950"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270" y="3709606"/>
            <a:ext cx="2727839" cy="218036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656" y="3710026"/>
            <a:ext cx="2720721" cy="217847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7296" y="3729894"/>
            <a:ext cx="2716991" cy="216027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" y="5469636"/>
            <a:ext cx="836996" cy="106051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10382" y="1643253"/>
            <a:ext cx="780851" cy="1123664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8992" y="3536382"/>
            <a:ext cx="607980" cy="61276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97238" y="3535299"/>
            <a:ext cx="603618" cy="613124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94552" y="3534401"/>
            <a:ext cx="599408" cy="613679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08652" y="496157"/>
            <a:ext cx="463105" cy="46310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24466" y="276558"/>
            <a:ext cx="309943" cy="309943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28374" y="6253733"/>
            <a:ext cx="294524" cy="2992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010833" y="5378100"/>
            <a:ext cx="180024" cy="46901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91050" y="693420"/>
            <a:ext cx="2980563" cy="45005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25" b="1" i="0">
                <a:solidFill>
                  <a:srgbClr val="00093F"/>
                </a:solidFill>
                <a:latin typeface="Noto Sans SC" panose="020B0200000000000000" charset="-122"/>
                <a:ea typeface="Noto Sans SC" panose="020B0200000000000000" charset="-122"/>
              </a:rPr>
              <a:t>代码实现与开源</a:t>
            </a:r>
            <a:endParaRPr sz="3225" b="1" i="0">
              <a:solidFill>
                <a:srgbClr val="00093F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43156" y="1675447"/>
            <a:ext cx="1247012" cy="3535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25" b="1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代码结构</a:t>
            </a:r>
            <a:endParaRPr sz="2325" b="1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24175" y="2197512"/>
            <a:ext cx="6285071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实验包含C++底层帧解析与Python应用层逻辑还原两套代码体系</a:t>
            </a:r>
            <a:endParaRPr sz="1650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20830" y="3022568"/>
            <a:ext cx="1891855" cy="3535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637"/>
                </a:solidFill>
                <a:latin typeface="Noto Sans SC" panose="020B0200000000000000" charset="-122"/>
                <a:ea typeface="Noto Sans SC" panose="020B0200000000000000" charset="-122"/>
              </a:rPr>
              <a:t>开源托管地址</a:t>
            </a:r>
            <a:endParaRPr sz="2400" b="1" i="0">
              <a:solidFill>
                <a:srgbClr val="000637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591175" y="4218146"/>
            <a:ext cx="833818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仓库二:</a:t>
            </a:r>
            <a:endParaRPr sz="1875" b="1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58175" y="4218146"/>
            <a:ext cx="1469183" cy="62617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234315" algn="just">
              <a:spcBef>
                <a:spcPts val="0"/>
              </a:spcBef>
              <a:spcAft>
                <a:spcPts val="0"/>
              </a:spcAft>
            </a:pPr>
            <a:r>
              <a:rPr sz="191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仓库三:</a:t>
            </a:r>
            <a:endParaRPr sz="1910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spcBef>
                <a:spcPts val="375"/>
              </a:spcBef>
            </a:pPr>
            <a:r>
              <a:rPr lang="zh-CN" sz="1910">
                <a:latin typeface="Noto Sans SC" panose="020B0200000000000000" charset="-122"/>
                <a:ea typeface="Noto Sans SC" panose="020B0200000000000000" charset="-122"/>
              </a:rPr>
              <a:t>FTP协议嗅探</a:t>
            </a:r>
            <a:endParaRPr lang="zh-CN" sz="191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690431" y="4218908"/>
            <a:ext cx="832294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仓库一:</a:t>
            </a:r>
            <a:endParaRPr sz="1950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975669" y="4554950"/>
            <a:ext cx="2219777" cy="93144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HTTP(HUSTOJ)嗅探</a:t>
            </a:r>
            <a:endParaRPr sz="172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147320">
              <a:spcBef>
                <a:spcPts val="620"/>
              </a:spcBef>
            </a:pPr>
            <a:r>
              <a:rPr lang="zh-CN" sz="1725">
                <a:latin typeface="Noto Sans SC" panose="020B0200000000000000" charset="-122"/>
                <a:ea typeface="Noto Sans SC" panose="020B0200000000000000" charset="-122"/>
              </a:rPr>
              <a:t>https://gitee.com/</a:t>
            </a:r>
            <a:endParaRPr lang="zh-CN" sz="1725">
              <a:latin typeface="Noto Sans SC" panose="020B0200000000000000" charset="-122"/>
              <a:ea typeface="Noto Sans SC" panose="020B0200000000000000" charset="-122"/>
            </a:endParaRPr>
          </a:p>
          <a:p>
            <a:pPr marL="88900">
              <a:spcBef>
                <a:spcPts val="385"/>
              </a:spcBef>
            </a:pPr>
            <a:r>
              <a:rPr lang="zh-CN" sz="1725">
                <a:latin typeface="Noto Sans SC" panose="020B0200000000000000" charset="-122"/>
                <a:ea typeface="Noto Sans SC" panose="020B0200000000000000" charset="-122"/>
              </a:rPr>
              <a:t>vintces/hwproject13</a:t>
            </a:r>
            <a:endParaRPr lang="zh-CN" sz="172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33600" y="4555712"/>
            <a:ext cx="2205275" cy="93068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234315" algn="just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PCAP底层统计</a:t>
            </a:r>
            <a:endParaRPr sz="1650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87630">
              <a:spcBef>
                <a:spcPts val="865"/>
              </a:spcBef>
            </a:pPr>
            <a:r>
              <a:rPr lang="zh-CN" sz="1650">
                <a:latin typeface="Noto Sans SC" panose="020B0200000000000000" charset="-122"/>
                <a:ea typeface="Noto Sans SC" panose="020B0200000000000000" charset="-122"/>
              </a:rPr>
              <a:t>https://gitee.com/</a:t>
            </a:r>
            <a:endParaRPr lang="zh-CN" sz="1650"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spcBef>
                <a:spcPts val="385"/>
              </a:spcBef>
            </a:pPr>
            <a:r>
              <a:rPr lang="zh-CN" sz="1650">
                <a:latin typeface="Noto Sans SC" panose="020B0200000000000000" charset="-122"/>
                <a:ea typeface="Noto Sans SC" panose="020B0200000000000000" charset="-122"/>
              </a:rPr>
              <a:t>vintces/hwproject12</a:t>
            </a:r>
            <a:endParaRPr lang="zh-CN" sz="165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965852" y="4923091"/>
            <a:ext cx="2219777" cy="56330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58420" algn="just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262E4D"/>
                </a:solidFill>
                <a:latin typeface="Noto Sans SC" panose="020B0200000000000000" charset="-122"/>
                <a:ea typeface="Noto Sans SC" panose="020B0200000000000000" charset="-122"/>
              </a:rPr>
              <a:t>https://gitee.com/</a:t>
            </a:r>
            <a:endParaRPr sz="1650" b="0" i="0">
              <a:solidFill>
                <a:srgbClr val="262E4D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spcBef>
                <a:spcPts val="385"/>
              </a:spcBef>
            </a:pPr>
            <a:r>
              <a:rPr lang="zh-CN" sz="1650">
                <a:latin typeface="Noto Sans SC" panose="020B0200000000000000" charset="-122"/>
                <a:ea typeface="Noto Sans SC" panose="020B0200000000000000" charset="-122"/>
              </a:rPr>
              <a:t>vintces/hwproject14</a:t>
            </a:r>
            <a:endParaRPr lang="zh-CN" sz="1650"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786" y="3964209"/>
            <a:ext cx="5180780" cy="240944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514" y="1187958"/>
            <a:ext cx="5173990" cy="2396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268" y="3958847"/>
            <a:ext cx="5122545" cy="240892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8792" y="1189534"/>
            <a:ext cx="5121497" cy="239638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9306" y="957929"/>
            <a:ext cx="497740" cy="53092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0034" y="963709"/>
            <a:ext cx="506825" cy="478404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72512" y="3717382"/>
            <a:ext cx="469487" cy="49794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80861" y="3737742"/>
            <a:ext cx="473678" cy="47846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17115" y="293941"/>
            <a:ext cx="1928431" cy="51435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010533"/>
                </a:solidFill>
                <a:latin typeface="Noto Sans SC" panose="020B0200000000000000" charset="-122"/>
                <a:ea typeface="Noto Sans SC" panose="020B0200000000000000" charset="-122"/>
              </a:rPr>
              <a:t>实验总结</a:t>
            </a:r>
            <a:endParaRPr sz="3750" b="1" i="0">
              <a:solidFill>
                <a:srgbClr val="010533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11203" y="1580578"/>
            <a:ext cx="2601087" cy="48215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375" b="1" i="0">
                <a:solidFill>
                  <a:srgbClr val="00032E"/>
                </a:solidFill>
                <a:latin typeface="Noto Sans SC" panose="020B0200000000000000" charset="-122"/>
                <a:ea typeface="Noto Sans SC" panose="020B0200000000000000" charset="-122"/>
              </a:rPr>
              <a:t>理论验证闭环</a:t>
            </a:r>
            <a:endParaRPr sz="3375" b="1" i="0">
              <a:solidFill>
                <a:srgbClr val="00032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09046" y="1580578"/>
            <a:ext cx="2571750" cy="48215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375" b="1" i="0">
                <a:solidFill>
                  <a:srgbClr val="00032C"/>
                </a:solidFill>
                <a:latin typeface="Noto Sans SC" panose="020B0200000000000000" charset="-122"/>
                <a:ea typeface="Noto Sans SC" panose="020B0200000000000000" charset="-122"/>
              </a:rPr>
              <a:t>底层编程实践</a:t>
            </a:r>
            <a:endParaRPr sz="3375" b="1" i="0">
              <a:solidFill>
                <a:srgbClr val="00032C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67632" y="2288571"/>
            <a:ext cx="3883914" cy="88772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0" algn="just"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010224"/>
                </a:solidFill>
                <a:latin typeface="Noto Sans SC" panose="020B0200000000000000" charset="-122"/>
                <a:ea typeface="Noto Sans SC" panose="020B0200000000000000" charset="-122"/>
              </a:rPr>
              <a:t>基于C++PCAP库的开发,深入到数</a:t>
            </a:r>
            <a:endParaRPr sz="1950" b="0" i="0">
              <a:solidFill>
                <a:srgbClr val="010224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1270"/>
            <a:r>
              <a:rPr lang="zh-CN" sz="1950">
                <a:latin typeface="Noto Sans SC" panose="020B0200000000000000" charset="-122"/>
                <a:ea typeface="Noto Sans SC" panose="020B0200000000000000" charset="-122"/>
              </a:rPr>
              <a:t>据链路层;</a:t>
            </a:r>
            <a:endParaRPr lang="zh-CN" sz="1950">
              <a:latin typeface="Noto Sans SC" panose="020B0200000000000000" charset="-122"/>
              <a:ea typeface="Noto Sans SC" panose="020B0200000000000000" charset="-122"/>
            </a:endParaRPr>
          </a:p>
          <a:p>
            <a:r>
              <a:rPr lang="zh-CN" sz="1950">
                <a:latin typeface="Noto Sans SC" panose="020B0200000000000000" charset="-122"/>
                <a:ea typeface="Noto Sans SC" panose="020B0200000000000000" charset="-122"/>
              </a:rPr>
              <a:t>掌握了直接获取并统计网卡流量的能力</a:t>
            </a:r>
            <a:endParaRPr lang="zh-CN" sz="195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11497" y="2289333"/>
            <a:ext cx="3971163" cy="87020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635" algn="just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122"/>
                </a:solidFill>
                <a:latin typeface="Noto Sans SC" panose="020B0200000000000000" charset="-122"/>
                <a:ea typeface="Noto Sans SC" panose="020B0200000000000000" charset="-122"/>
              </a:rPr>
              <a:t>通过Wireshark验证了链路层、网络层</a:t>
            </a:r>
            <a:endParaRPr sz="1800" b="0" i="0">
              <a:solidFill>
                <a:srgbClr val="000122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spcBef>
                <a:spcPts val="125"/>
              </a:spcBef>
            </a:pPr>
            <a:r>
              <a:rPr lang="zh-CN" sz="1800">
                <a:latin typeface="Noto Sans SC" panose="020B0200000000000000" charset="-122"/>
                <a:ea typeface="Noto Sans SC" panose="020B0200000000000000" charset="-122"/>
              </a:rPr>
              <a:t>和传输层的头部格式;直观观测了TCP</a:t>
            </a:r>
            <a:endParaRPr lang="zh-CN" sz="1800">
              <a:latin typeface="Noto Sans SC" panose="020B0200000000000000" charset="-122"/>
              <a:ea typeface="Noto Sans SC" panose="020B0200000000000000" charset="-122"/>
            </a:endParaRPr>
          </a:p>
          <a:p>
            <a:pPr marL="89535"/>
            <a:r>
              <a:rPr lang="zh-CN" sz="1800">
                <a:latin typeface="Noto Sans SC" panose="020B0200000000000000" charset="-122"/>
                <a:ea typeface="Noto Sans SC" panose="020B0200000000000000" charset="-122"/>
              </a:rPr>
              <a:t>连接的建立、断开以及窗口滑动机制</a:t>
            </a:r>
            <a:endParaRPr lang="zh-CN" sz="180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06797" y="4367403"/>
            <a:ext cx="2980563" cy="45005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25" b="1" i="0">
                <a:solidFill>
                  <a:srgbClr val="020733"/>
                </a:solidFill>
                <a:latin typeface="Noto Sans SC" panose="020B0200000000000000" charset="-122"/>
                <a:ea typeface="Noto Sans SC" panose="020B0200000000000000" charset="-122"/>
              </a:rPr>
              <a:t>应用层攻防视角</a:t>
            </a:r>
            <a:endParaRPr sz="3225" b="1" i="0">
              <a:solidFill>
                <a:srgbClr val="020733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20050" y="4367403"/>
            <a:ext cx="1749647" cy="45005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010735"/>
                </a:solidFill>
                <a:latin typeface="Noto Sans SC" panose="020B0200000000000000" charset="-122"/>
                <a:ea typeface="Noto Sans SC" panose="020B0200000000000000" charset="-122"/>
              </a:rPr>
              <a:t>整体收获</a:t>
            </a:r>
            <a:endParaRPr sz="3300" b="1" i="0">
              <a:solidFill>
                <a:srgbClr val="010735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63478" y="5075396"/>
            <a:ext cx="4325540" cy="87020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60960" algn="just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122"/>
                </a:solidFill>
                <a:latin typeface="Noto Sans SC" panose="020B0200000000000000" charset="-122"/>
                <a:ea typeface="Noto Sans SC" panose="020B0200000000000000" charset="-122"/>
              </a:rPr>
              <a:t>利用Python编写嗅探脚本;针对FTP明文</a:t>
            </a:r>
            <a:endParaRPr sz="1800" b="0" i="0">
              <a:solidFill>
                <a:srgbClr val="000122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r>
              <a:rPr lang="zh-CN" sz="1800">
                <a:latin typeface="Noto Sans SC" panose="020B0200000000000000" charset="-122"/>
                <a:ea typeface="Noto Sans SC" panose="020B0200000000000000" charset="-122"/>
              </a:rPr>
              <a:t>文传输与HTTP前端加密体系进行剥离;密</a:t>
            </a:r>
            <a:endParaRPr lang="zh-CN" sz="1800">
              <a:latin typeface="Noto Sans SC" panose="020B0200000000000000" charset="-122"/>
              <a:ea typeface="Noto Sans SC" panose="020B0200000000000000" charset="-122"/>
            </a:endParaRPr>
          </a:p>
          <a:p>
            <a:pPr marL="179070"/>
            <a:r>
              <a:rPr lang="zh-CN" sz="1800">
                <a:latin typeface="Noto Sans SC" panose="020B0200000000000000" charset="-122"/>
                <a:ea typeface="Noto Sans SC" panose="020B0200000000000000" charset="-122"/>
              </a:rPr>
              <a:t>码凭据提取,深化了对网络安全的理解</a:t>
            </a:r>
            <a:endParaRPr lang="zh-CN" sz="180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97922" y="5075396"/>
            <a:ext cx="3840480" cy="56407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121"/>
                </a:solidFill>
                <a:latin typeface="Noto Sans SC" panose="020B0200000000000000" charset="-122"/>
                <a:ea typeface="Noto Sans SC" panose="020B0200000000000000" charset="-122"/>
              </a:rPr>
              <a:t>强化了对网络协议栈纵向结构、数据</a:t>
            </a:r>
            <a:endParaRPr sz="1800" b="0" i="0">
              <a:solidFill>
                <a:srgbClr val="00012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29845">
              <a:spcBef>
                <a:spcPts val="140"/>
              </a:spcBef>
            </a:pPr>
            <a:r>
              <a:rPr lang="zh-CN" sz="1800">
                <a:latin typeface="Noto Sans SC" panose="020B0200000000000000" charset="-122"/>
                <a:ea typeface="Noto Sans SC" panose="020B0200000000000000" charset="-122"/>
              </a:rPr>
              <a:t>封装格式及底层网络编程的实际掌握</a:t>
            </a:r>
            <a:endParaRPr lang="zh-CN" sz="1800"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2081</Words>
  <Application>WPS 演示</Application>
  <PresentationFormat>On-screen Show (16:9)</PresentationFormat>
  <Paragraphs>209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15710668700</cp:lastModifiedBy>
  <cp:revision>6</cp:revision>
  <dcterms:created xsi:type="dcterms:W3CDTF">2013-01-27T09:14:00Z</dcterms:created>
  <dcterms:modified xsi:type="dcterms:W3CDTF">2026-04-16T12:22:18Z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15374BF2F7EE482099C82D8373850354_12</vt:lpwstr>
  </property>
  <property fmtid="{D5CDD505-2E9C-101B-9397-08002B2CF9AE}" pid="3" name="KSOProductBuildVer">
    <vt:lpwstr>2052-12.1.0.25865</vt:lpwstr>
  </property>
</Properties>
</file>