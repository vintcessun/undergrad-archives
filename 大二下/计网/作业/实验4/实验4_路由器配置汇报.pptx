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【开场白】
大家好，我今天要汇报的是实验四——CISCO IOS路由器基本配置实验。
这个实验的主要目标是通过实际操作，理解网络层和路由的基本原理，
并掌握路由器的配置方法。接下来我会分几个部分来介绍这次实验的内容和心得。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【朗读内容】
这次实验的目的主要有以下几点：
第一，理解网络层和路由的基本原理；
第二，掌握路由器的配置方法，包括 IP 协议和地址的配置；
第三，了解在模拟器环境下根据教程配置网络的方法。
在实验要求方面，我们需要使用两个主要工具：
一是 Router eSIM v1.1，用于模拟基本的路由器 IOS 命令操作；
二是 CCNA Network Visualizer 6.0，用于配置静态路由、动态路由和 VLAN；
另外还需要使用思科 Packet Tracer 7.0 进行综合实验。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【朗读内容】
在进行实验之前，我们先回顾路由器的基础知识。
路由器本质上是一台计算机，它包含 CPU、内存（ROM、Flash、NVRAM、RAM四种）、各类接口和控制台端口等组件。
Cisco IOS 是思科的网间网操作系统，它为设备提供基础平台，使数据包可以在不同网络之间路由。
路由器的核心功能是工作在第三层，根据路由表选择最优路径转发数据包，同时也能划分广播域和进行流量管理。
路由器的配置方式有五种，其中第一次配置只能通过 Console 端口进行，配置好 IP 地址之后才能使用其他方式远程配置。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【朗读内容】
在这张幻灯片里，我要介绍 Cisco IOS 的配置模式。
IOS 有四种主要的配置模式，形成一个层次结构：
第一是普通用户模式，提示符是 Router&gt;，只能进行有限查看；
第二是特权用户模式，提示符是 Router#，输入 enable 命令进入，可以全面查看状态；
第三是全局配置模式，输入 config terminal 进入，可以对路由器整体做配置；
第四是接口配置模式，可以对特定接口配置 IP 地址等参数。
下面的表格列出了一些常用命令，比如 show running-config 可以查看当前运行中的配置，no shutdown 用来手工激活端口，copy running-config startup-config 用来保存配置，防止重启后丢失。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【朗读内容】
第四部分是静态路由的配置。
静态路由是由网络管理员手工添加到路由表中的路由条目。它的优点是不占用 CPU 资源和带宽，数据路由路径由管理员指定，安全性较高。但缺点是当网络拓扑发生变化时，需要手动更新路由表，不适合复杂多变的大型网络。
配置静态路由的命令格式是：ip route 目标网络 子网掩码 下一跳地址或出口接口。
比如要让 RouterA 能到达 199.6.13.0 这个网络，就需要配置：ip route 199.6.13.0 255.255.255.0 201.100.11.2，意思是去往这个目标网络，下一跳是 201.100.11.2 这个地址。
对于只有一条出口的末梢网络（Stub Network），可以配置默认路由，用全零的网络地址和掩码来匹配任意目标。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【朗读内容】
接下来介绍动态路由协议 RIP。
相对于静态路由，动态路由协议能让路由器自动学习网络拓扑，自动建立路由表。RIP 协议是其中最简单的一种。
RIP 有几个重要特点：
第一，它是距离向量协议，用跳数作为度量标准，最大跳数是 15，超过就认为不可达；
第二，它每隔 30 秒定期向相邻路由器发送路由更新；
第三，管理距离是 120，比静态路由的 1 要大，所以当静态路由和 RIP 都知道同一个目标时，会优先选择静态路由。
配置 RIP 非常简单，只需要两条命令：router rip 启用协议，然后用 network 命令声明路由器直连的网络即可。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【朗读内容】
第六部分是访问控制列表，也就是 ACL。
ACL 是一个有序的语句集合，用于在路由器接口上过滤数据包，控制哪些流量可以通过，哪些被拒绝。
ACL 分为两种：
标准访问列表，编号 1 到 99，只检查源 IP 地址；
扩展访问列表，编号 100 到 199，可以检查源地址、目标地址、协议类型、端口号等更多条件，控制更加精细。
配置 ACL 的步骤是：先用 access-list 命令创建列表，然后在接口配置模式下用 ip access-group 命令应用，并指定是对入方向还是出方向的流量进行过滤。
右边的示例展示了三种场景：限制特定主机访问某子网、限制某个子网访问另一子网、以及防止特定主机远程登录路由器。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【朗读内容】
第七部分是 VLAN 的配置。
VLAN 即虚拟局域网，是在交换机上实现广播域分割的技术。它允许我们将不同物理位置的设备划分到同一个逻辑网段，从而提高网络的灵活性、安全性和管理效率。
VLAN 的配置主要有四个步骤：
第一步，配置 VTP 域，统一管理 VLAN 信息；
第二步，将交换机之间连接的端口配置为 Trunk 模式，使其能够传输多个 VLAN 的数据；
第三步，在服务器模式的交换机上创建 VLAN；
第四步，将各个接入端口分配到对应的 VLAN。
需要注意的是，不同 VLAN 之间的通信需要借助路由器或者第三层交换机来完成，因为 VLAN 从逻辑上隔离了广播域。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【朗读内容】
最后来总结一下这次实验的收获。
通过这次实验，我有以下几点心得体会：
第一，熟悉了 Cisco IOS 的操作环境。通过在模拟器上大量练习命令，我已经能够熟练地在各种配置模式之间切换，并通过 show 命令诊断网络状态。
第二，深入理解了静态路由和动态路由的区别。静态路由适合简单、稳定的网络环境，而 RIP 这类动态路由协议更适合需要自动适应拓扑变化的场景。两者各有优劣，实际工程中往往结合使用。
第三，ACL 的实验让我理解了网络访问控制的重要性，合理配置 ACL 是保护网络安全的重要手段。
第四，VLAN 的实验让我理解了如何通过逻辑分割来优化网络性能和安全性。
总的来说，这次实验让我把课堂上学到的理论知识和实际操作结合起来，收获很大。谢谢大家！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【结尾】
以上就是我的汇报内容，感谢各位老师和同学的聆听，请问大家有什么问题或建议？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CISCO IOS 路由器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B4D8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基本配置实验汇报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4572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92608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7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实验六  ·  计算机网络课程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01  实验目的与要求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023360" cy="34747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402336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88720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实验目的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384048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理解网络层和路由的基本原理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掌握路由器配置网络和组网的方法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掌握 IP 协议、IP 地址与路由的概念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掌握 IP 协议和路由的基本原理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了解在模拟器下配置网络的方法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4023360" cy="34747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188720"/>
            <a:ext cx="4023360" cy="4114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188720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实验要求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84048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使用 Router eSIM v1.1 模拟器，模拟路由器配置环境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使用 CCNA Network Visualizer 6.0 配置：</a:t>
            </a:r>
            <a:endParaRPr lang="en-US" sz="1400" dirty="0"/>
          </a:p>
          <a:p>
            <a:pPr marL="685800" lvl="1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静态路由</a:t>
            </a:r>
            <a:endParaRPr lang="en-US" sz="1400" dirty="0"/>
          </a:p>
          <a:p>
            <a:pPr marL="685800" lvl="1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动态路由 (RIP)</a:t>
            </a:r>
            <a:endParaRPr lang="en-US" sz="1400" dirty="0"/>
          </a:p>
          <a:p>
            <a:pPr marL="685800" lvl="1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交换机端口 VLAN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使用 Packet Tracer 7.0 进行综合组网实验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02  路由器基础知识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143000"/>
            <a:ext cx="4206240" cy="17373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143000"/>
            <a:ext cx="91440" cy="17373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3444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7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路由器结构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38404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路由器包含 CPU（负责路由选择、协议转换）、内存（ROM/Flash/NVRAM/RAM）、接口（以太网、串行等）、控制台端口等。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4206240" cy="17373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43000"/>
            <a:ext cx="91440" cy="173736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23444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6C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Cisco IOS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600200"/>
            <a:ext cx="38404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网间网操作系统，为路由器和交换机提供基础平台，令信息从一个网络路由交换至另一个网络，版本号由主版本、辅助版本和维护版本三部分组成。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3154680"/>
            <a:ext cx="4206240" cy="17373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3154680"/>
            <a:ext cx="91440" cy="1737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24612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路由器功能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3611880"/>
            <a:ext cx="38404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工作在第 3 层（网络层），互连不同类型的网络，选择最优路径，转发数据包，划分广播域，提供流量管理与访问控制列表过滤功能。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3154680"/>
            <a:ext cx="4206240" cy="17373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3154680"/>
            <a:ext cx="91440" cy="173736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324612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8CAE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配置方式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611880"/>
            <a:ext cx="38404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共 5 种：Console 端口配置（首次必用）、辅助端口配置、Telnet 远程登录、TFTP Server 以及 Network Management Station。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03  Cisco IOS 配置模式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11680" y="2377440"/>
            <a:ext cx="420624" cy="164592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1828800" cy="137160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8872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普通用户模式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60020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D16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Router&gt;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DD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只能查看有限状态，无法修改配置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69664" y="2377440"/>
            <a:ext cx="420624" cy="16459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32304" y="1188720"/>
            <a:ext cx="1828800" cy="13716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32304" y="118872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特权用户模式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32304" y="160020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D16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Router#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32304" y="192024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DD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全面查看状态，可进入配置模式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27648" y="2377440"/>
            <a:ext cx="420624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90288" y="1188720"/>
            <a:ext cx="1828800" cy="13716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0288" y="118872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全局配置模式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90288" y="160020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D16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Router(config)#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90288" y="192024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DD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对路由器整体进行配置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48272" y="1188720"/>
            <a:ext cx="1828800" cy="1371600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48272" y="118872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接口配置模式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48272" y="160020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D16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Router(config-if)#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48272" y="192024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DD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对特定接口进行配置（IP地址等）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2588895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7B6"/>
                </a:solidFill>
              </a:rPr>
              <a:t>常用命令速查</a:t>
            </a:r>
            <a:endParaRPr lang="en-US" sz="1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/>
        </p:nvGraphicFramePr>
        <p:xfrm>
          <a:off x="274320" y="2908935"/>
          <a:ext cx="8595360" cy="1828800"/>
        </p:xfrm>
        <a:graphic>
          <a:graphicData uri="http://schemas.openxmlformats.org/drawingml/2006/table">
            <a:tbl>
              <a:tblPr/>
              <a:tblGrid>
                <a:gridCol w="2560320"/>
                <a:gridCol w="6035040"/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命令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说明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enable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进入特权用户模式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config terminal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进入全局配置模式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show running-config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查看当前运行配置（RAM）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show startup-config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查看启动配置（NVRAM）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show interfaces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查看接口状态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no shutdown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手工开启端口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copy run start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保存配置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04  静态路由配置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114800" cy="37490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411480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概念与特点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393192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由网管人员手工添加到路由表中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不占用路由器 CPU 资源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不占用路由器间带宽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数据路由由管理员指定，更安全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适用于网络拓扑简单、链路单一的场景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拓扑变化时需手动更新路由表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4114800" cy="37490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43000"/>
            <a:ext cx="4114800" cy="3657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14300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配置命令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60020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命令格式：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920240"/>
            <a:ext cx="384048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920240"/>
            <a:ext cx="3840480" cy="54864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FF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ip route [dest_net] [mask]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FF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[next_hop | exit_interface]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256032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示例（RouterA）：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2880360"/>
            <a:ext cx="384048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880360"/>
            <a:ext cx="3840480" cy="68580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FF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RouterA(config)#ip route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FF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199.6.13.0 255.255.255.0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FF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201.100.11.2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365760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默认路由（Stub 网络）：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3977640"/>
            <a:ext cx="384048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977640"/>
            <a:ext cx="3840480" cy="41148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FF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ip route 0.0.0.0 0.0.0.0 172.16.2.2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05  动态路由协议 RIP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143000"/>
            <a:ext cx="2743200" cy="22860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143000"/>
            <a:ext cx="2743200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14300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  距离向量协议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256032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RIP 是距离向量（Distance Vector）路由协议，以跳数（Hop Count）作为度量标准选择路径，最大跳数 15，超过则不可达。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143000"/>
            <a:ext cx="2743200" cy="22860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143000"/>
            <a:ext cx="2743200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14300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  定期更新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664208"/>
            <a:ext cx="256032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默认每隔 30 秒向相邻路由器广播一次路由更新，路由无效时间 180 秒，路由被清除时间 240 秒。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143000"/>
            <a:ext cx="2743200" cy="22860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1143000"/>
            <a:ext cx="2743200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14300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  负载均衡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1664208"/>
            <a:ext cx="256032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在价值相等的路径上最多允许 6 条路径做负载均衡，管理距离为 120。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" y="3520440"/>
            <a:ext cx="868680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5661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配置示例（RouterA）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" y="3886200"/>
            <a:ext cx="84124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0FF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RouterA(config)#router rip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0FF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RouterA(config-router)#network 201.100.11.0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0FF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RouterA(config-router)#network 199.6.13.0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0FF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RouterA(config-router)#exit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06  访问控制列表（ACL）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114800" cy="37490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411480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ACL 类型比较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365760" y="1600200"/>
          <a:ext cx="3840480" cy="1371600"/>
        </p:xfrm>
        <a:graphic>
          <a:graphicData uri="http://schemas.openxmlformats.org/drawingml/2006/table">
            <a:tbl>
              <a:tblPr/>
              <a:tblGrid>
                <a:gridCol w="1280160"/>
                <a:gridCol w="914400"/>
                <a:gridCol w="1645920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类型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序列号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检查内容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标准访问列表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1～99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仅检查源 IP 地址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扩展访问列表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100～199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源地址、目标地址、协议、端口号等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5"/>
          <p:cNvSpPr/>
          <p:nvPr/>
        </p:nvSpPr>
        <p:spPr>
          <a:xfrm>
            <a:off x="365760" y="3063240"/>
            <a:ext cx="384048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ACL 应用步骤：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① 创建 ACL（access-list 命令）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② 在接口模式下应用（ip access-group）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③ 指定方向：in（入）或 out（出）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0" y="1143000"/>
            <a:ext cx="4114800" cy="37490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143000"/>
            <a:ext cx="4114800" cy="3657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54880" y="114300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配置示例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846320" y="160020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标准 ACL — 限制主机访问：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46320" y="1920240"/>
            <a:ext cx="384048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46320" y="1920240"/>
            <a:ext cx="3840480" cy="6858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FF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RouterB(config)#access-list 50 deny host 192.5.5.6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FF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RouterB(config)#access-list 50 permit any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FF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RouterB(config-if)#ip access-group 50 out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846320" y="269748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扩展 ACL — 限制子网访问：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46320" y="3017520"/>
            <a:ext cx="384048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46320" y="3017520"/>
            <a:ext cx="3840480" cy="54864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FF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RouterB(config)#access-list 51 deny 192.5.5.8 255.255.255.248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FF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RouterB(config)#access-list 51 permit any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846320" y="365760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限制 Telnet 登录：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846320" y="3977640"/>
            <a:ext cx="384048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46320" y="3977640"/>
            <a:ext cx="3840480" cy="6858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FF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RouterA(config)#access-list 50 deny host 205.7.5.8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FF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RouterA(config)#access-list 50 permit any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FF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RouterA(config-line)#access-class 50 in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07  VLAN 配置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85953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VLAN（虚拟局域网）是在交换机上提供广播域分段化的技术，允许一组用户共享独立广播域，有效控制广播范围，提高网络安全性与整体性能。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920240"/>
            <a:ext cx="4160520" cy="1234440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920240"/>
            <a:ext cx="411480" cy="1234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920240"/>
            <a:ext cx="41148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B6"/>
                </a:solidFill>
              </a:rPr>
              <a:t>配置 VTP 域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359152"/>
            <a:ext cx="3566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设置 VTP 管理域名，核心交换机设为 Server 模式，分支设为 Client 或 Transparent 模式。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920240"/>
            <a:ext cx="4160520" cy="1234440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920240"/>
            <a:ext cx="411480" cy="1234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920240"/>
            <a:ext cx="41148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②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12080" y="201168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B6"/>
                </a:solidFill>
              </a:rPr>
              <a:t>配置 Trunk 端口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12080" y="2359152"/>
            <a:ext cx="3566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连接两台交换机的接口配置为 Trunk 模式，使用 802.1q 封装，传输多个 VLAN 的数据帧。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337560"/>
            <a:ext cx="4160520" cy="1234440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337560"/>
            <a:ext cx="411480" cy="1234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337560"/>
            <a:ext cx="41148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③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77240" y="342900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B6"/>
                </a:solidFill>
              </a:rPr>
              <a:t>创建 VLAN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3776472"/>
            <a:ext cx="3566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在 Server 模式交换机上创建 VLAN，如 vlan 10 和 vlan 20，并命名。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337560"/>
            <a:ext cx="4160520" cy="1234440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337560"/>
            <a:ext cx="411480" cy="1234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3337560"/>
            <a:ext cx="41148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④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12080" y="342900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B6"/>
                </a:solidFill>
              </a:rPr>
              <a:t>分配端口到 VLAN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12080" y="3776472"/>
            <a:ext cx="3566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将交换机端口配置为 access 模式，并指定所属 VLAN，如 switchport access vlan 10。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4320" y="4663440"/>
            <a:ext cx="8595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77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💡  VLAN 间通信需要路由器或第三层交换机（Layer 3 Switch）进行路由，不同 VLAN 的主机即使在同一物理交换机上也必须经过路由层才能互通。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08  实验总结与心得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1508760"/>
          </a:xfrm>
          <a:prstGeom prst="rect">
            <a:avLst/>
          </a:prstGeom>
          <a:solidFill>
            <a:srgbClr val="0D2137"/>
          </a:solidFill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1605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69848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✅  掌握技能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3886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BDD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熟悉了 Cisco IOS 配置模式切换、路由器基本命令操作及查看路由器运行状态的方法。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160520" cy="1508760"/>
          </a:xfrm>
          <a:prstGeom prst="rect">
            <a:avLst/>
          </a:prstGeom>
          <a:solidFill>
            <a:srgbClr val="0D2137"/>
          </a:solidFill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960120"/>
            <a:ext cx="41605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69848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🔗  路由理解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463040"/>
            <a:ext cx="3886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BDD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深入理解了静态路由与动态路由 RIP 的区别：静态路由安全稳定但需手动维护；RIP 自动学习但管理距离较大。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651760"/>
            <a:ext cx="4160520" cy="1508760"/>
          </a:xfrm>
          <a:prstGeom prst="rect">
            <a:avLst/>
          </a:prstGeom>
          <a:solidFill>
            <a:srgbClr val="0D2137"/>
          </a:solidFill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651760"/>
            <a:ext cx="41605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761488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🛡️  网络安全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3154680"/>
            <a:ext cx="3886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BDD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通过 ACL 实验理解了如何在路由器接口上实现精细的访问控制，包括标准和扩展两种类型。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651760"/>
            <a:ext cx="4160520" cy="1508760"/>
          </a:xfrm>
          <a:prstGeom prst="rect">
            <a:avLst/>
          </a:prstGeom>
          <a:solidFill>
            <a:srgbClr val="0D2137"/>
          </a:solidFill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651760"/>
            <a:ext cx="41605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761488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📡  VLAN 实践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3154680"/>
            <a:ext cx="3886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BDD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掌握了 VTP 协议、Trunk 配置和 VLAN 间路由，理解了广播域分割对网络性能的提升作用。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4434840"/>
            <a:ext cx="8595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5B7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通过本次实验，我深刻体会到网络配置的系统性和严谨性。每一个命令都有其明确的意义，路由器的层次化配置模式也体现了系统安全设计的思想。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谢谢聆听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 &amp; A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7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计算机网络课程  ·  实验四汇报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2820</Words>
  <Application>WPS 演示</Application>
  <PresentationFormat>On-screen Show (16:9)</PresentationFormat>
  <Paragraphs>254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7" baseType="lpstr">
      <vt:lpstr>Arial</vt:lpstr>
      <vt:lpstr>宋体</vt:lpstr>
      <vt:lpstr>Wingdings</vt:lpstr>
      <vt:lpstr>Arial Black</vt:lpstr>
      <vt:lpstr>Arial Black</vt:lpstr>
      <vt:lpstr>Arial Black</vt:lpstr>
      <vt:lpstr>Calibri</vt:lpstr>
      <vt:lpstr>Calibri</vt:lpstr>
      <vt:lpstr>Calibri</vt:lpstr>
      <vt:lpstr>Arial</vt:lpstr>
      <vt:lpstr>Arial</vt:lpstr>
      <vt:lpstr>Consolas</vt:lpstr>
      <vt:lpstr>Consolas</vt:lpstr>
      <vt:lpstr>Consolas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CISCO IOS 路由器基本配置 实验汇报</dc:title>
  <dc:creator>PptxGenJS</dc:creator>
  <dc:subject>PptxGenJS Presentation</dc:subject>
  <cp:lastModifiedBy>15710668700</cp:lastModifiedBy>
  <cp:revision>3</cp:revision>
  <dcterms:created xsi:type="dcterms:W3CDTF">2026-04-29T08:10:00Z</dcterms:created>
  <dcterms:modified xsi:type="dcterms:W3CDTF">2026-04-29T11:09:21Z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C40759DC9A3645768FCDE26987D8605B_12</vt:lpwstr>
  </property>
  <property fmtid="{D5CDD505-2E9C-101B-9397-08002B2CF9AE}" pid="3" name="KSOProductBuildVer">
    <vt:lpwstr>2052-12.1.0.25865</vt:lpwstr>
  </property>
</Properties>
</file>