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74" r:id="rId5"/>
    <p:sldId id="277" r:id="rId6"/>
    <p:sldId id="285" r:id="rId7"/>
    <p:sldId id="286" r:id="rId8"/>
    <p:sldId id="287" r:id="rId9"/>
    <p:sldId id="288" r:id="rId10"/>
    <p:sldId id="289" r:id="rId11"/>
    <p:sldId id="290" r:id="rId12"/>
    <p:sldId id="291" r:id="rId13"/>
    <p:sldId id="292" r:id="rId14"/>
    <p:sldId id="293" r:id="rId15"/>
    <p:sldId id="275" r:id="rId16"/>
    <p:sldId id="294" r:id="rId17"/>
    <p:sldId id="259" r:id="rId18"/>
    <p:sldId id="260" r:id="rId19"/>
    <p:sldId id="270" r:id="rId20"/>
    <p:sldId id="276" r:id="rId21"/>
    <p:sldId id="295" r:id="rId22"/>
    <p:sldId id="296" r:id="rId23"/>
    <p:sldId id="297" r:id="rId24"/>
    <p:sldId id="298" r:id="rId25"/>
    <p:sldId id="299" r:id="rId26"/>
    <p:sldId id="300" r:id="rId27"/>
    <p:sldId id="301" r:id="rId28"/>
    <p:sldId id="302" r:id="rId29"/>
    <p:sldId id="303" r:id="rId30"/>
    <p:sldId id="304" r:id="rId31"/>
    <p:sldId id="279" r:id="rId32"/>
    <p:sldId id="280" r:id="rId33"/>
    <p:sldId id="281" r:id="rId34"/>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p:scale>
          <a:sx n="100" d="100"/>
          <a:sy n="100" d="100"/>
        </p:scale>
        <p:origin x="1352" y="67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66.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a:xfrm>
            <a:off x="381000" y="685800"/>
            <a:ext cx="6096000" cy="3429000"/>
          </a:xfrm>
        </p:spPr>
      </p:sp>
      <p:sp>
        <p:nvSpPr>
          <p:cNvPr id="1433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zh-CN" dirty="0"/>
          </a:p>
        </p:txBody>
      </p:sp>
      <p:sp>
        <p:nvSpPr>
          <p:cNvPr id="143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B093EB02-05DE-4FBA-B58C-F692575D24CC}" type="slidenum">
              <a:rPr lang="en-US" altLang="zh-CN" sz="1200"/>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ChangeArrowheads="1" noTextEdit="1"/>
          </p:cNvSpPr>
          <p:nvPr>
            <p:ph type="sldImg"/>
          </p:nvPr>
        </p:nvSpPr>
        <p:spPr>
          <a:xfrm>
            <a:off x="381000" y="685800"/>
            <a:ext cx="6096000" cy="3429000"/>
          </a:xfrm>
        </p:spPr>
      </p:sp>
      <p:sp>
        <p:nvSpPr>
          <p:cNvPr id="163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p:txBody>
      </p:sp>
      <p:sp>
        <p:nvSpPr>
          <p:cNvPr id="163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57613F8B-ADDB-4B1F-9D32-9C1905D19790}" type="slidenum">
              <a:rPr lang="en-US" altLang="zh-CN" sz="1200"/>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ChangeArrowheads="1" noTextEdit="1"/>
          </p:cNvSpPr>
          <p:nvPr>
            <p:ph type="sldImg"/>
          </p:nvPr>
        </p:nvSpPr>
        <p:spPr>
          <a:xfrm>
            <a:off x="381000" y="685800"/>
            <a:ext cx="6096000" cy="3429000"/>
          </a:xfrm>
        </p:spPr>
      </p:sp>
      <p:sp>
        <p:nvSpPr>
          <p:cNvPr id="163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p:txBody>
      </p:sp>
      <p:sp>
        <p:nvSpPr>
          <p:cNvPr id="163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57613F8B-ADDB-4B1F-9D32-9C1905D19790}" type="slidenum">
              <a:rPr lang="en-US" altLang="zh-CN" sz="1200"/>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ChangeArrowheads="1" noTextEdit="1"/>
          </p:cNvSpPr>
          <p:nvPr>
            <p:ph type="sldImg"/>
          </p:nvPr>
        </p:nvSpPr>
        <p:spPr>
          <a:xfrm>
            <a:off x="381000" y="685800"/>
            <a:ext cx="6096000" cy="3429000"/>
          </a:xfrm>
        </p:spPr>
      </p:sp>
      <p:sp>
        <p:nvSpPr>
          <p:cNvPr id="163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p:txBody>
      </p:sp>
      <p:sp>
        <p:nvSpPr>
          <p:cNvPr id="163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57613F8B-ADDB-4B1F-9D32-9C1905D19790}" type="slidenum">
              <a:rPr lang="en-US" altLang="zh-CN" sz="1200"/>
            </a:fld>
            <a:endParaRPr lang="en-US" altLang="zh-CN"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E22AE938-3C14-4393-BB4F-5B268C47B9B1}" type="slidenum">
              <a:rPr lang="en-US" altLang="zh-CN" sz="1200"/>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bwMode="auto">
          <a:xfrm>
            <a:off x="759460" y="2074545"/>
            <a:ext cx="10673080" cy="1307465"/>
          </a:xfrm>
          <a:prstGeom prst="rect">
            <a:avLst/>
          </a:prstGeom>
          <a:noFill/>
          <a:ln>
            <a:noFill/>
          </a:ln>
          <a:effectLst/>
        </p:spPr>
        <p:txBody>
          <a:bodyPr anchor="ctr" anchorCtr="1"/>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algn="ctr">
              <a:defRPr/>
            </a:pPr>
            <a:r>
              <a:rPr lang="zh-CN" altLang="en-US" sz="4800" dirty="0">
                <a:solidFill>
                  <a:srgbClr val="274FA2"/>
                </a:solidFill>
                <a:effectLst/>
                <a:latin typeface="微软雅黑" panose="020B0503020204020204" charset="-122"/>
                <a:ea typeface="微软雅黑" panose="020B0503020204020204" charset="-122"/>
              </a:rPr>
              <a:t>模拟卷讲解</a:t>
            </a:r>
            <a:endParaRPr lang="zh-CN" altLang="en-US" sz="4800" dirty="0">
              <a:solidFill>
                <a:srgbClr val="274FA2"/>
              </a:solidFill>
              <a:effectLst/>
              <a:latin typeface="微软雅黑" panose="020B0503020204020204" charset="-122"/>
              <a:ea typeface="微软雅黑" panose="020B0503020204020204" charset="-122"/>
            </a:endParaRPr>
          </a:p>
        </p:txBody>
      </p:sp>
      <p:pic>
        <p:nvPicPr>
          <p:cNvPr id="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9663" y="4395515"/>
            <a:ext cx="3704252" cy="24624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535324" y="881244"/>
            <a:ext cx="9029701" cy="1941195"/>
            <a:chOff x="1588525" y="1245110"/>
            <a:chExt cx="6071296" cy="1057491"/>
          </a:xfrm>
        </p:grpSpPr>
        <p:sp>
          <p:nvSpPr>
            <p:cNvPr id="3" name="Text Placeholder 4"/>
            <p:cNvSpPr txBox="1">
              <a:spLocks noChangeArrowheads="1"/>
            </p:cNvSpPr>
            <p:nvPr/>
          </p:nvSpPr>
          <p:spPr bwMode="auto">
            <a:xfrm>
              <a:off x="1592795" y="1245110"/>
              <a:ext cx="6067026" cy="647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一、主定理求递归时间复杂度</a:t>
              </a:r>
              <a:endParaRPr lang="zh-CN" altLang="en-US" b="1" dirty="0">
                <a:solidFill>
                  <a:srgbClr val="C00000"/>
                </a:solidFill>
                <a:latin typeface="微软雅黑" panose="020B0503020204020204" charset="-122"/>
                <a:ea typeface="微软雅黑" panose="020B0503020204020204" charset="-122"/>
              </a:endParaRPr>
            </a:p>
          </p:txBody>
        </p:sp>
        <p:sp>
          <p:nvSpPr>
            <p:cNvPr id="11" name="Text Placeholder 4"/>
            <p:cNvSpPr txBox="1">
              <a:spLocks noChangeArrowheads="1"/>
            </p:cNvSpPr>
            <p:nvPr/>
          </p:nvSpPr>
          <p:spPr bwMode="auto">
            <a:xfrm>
              <a:off x="1588525" y="1735631"/>
              <a:ext cx="4910833" cy="566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二、渐近记号</a:t>
              </a:r>
              <a:r>
                <a:rPr lang="en-US" altLang="zh-CN" b="1" dirty="0">
                  <a:solidFill>
                    <a:srgbClr val="C00000"/>
                  </a:solidFill>
                  <a:latin typeface="微软雅黑" panose="020B0503020204020204" charset="-122"/>
                  <a:ea typeface="微软雅黑" panose="020B0503020204020204" charset="-122"/>
                </a:rPr>
                <a:t>O</a:t>
              </a:r>
              <a:r>
                <a:rPr lang="zh-CN" altLang="en-US" b="1" dirty="0">
                  <a:solidFill>
                    <a:srgbClr val="C00000"/>
                  </a:solidFill>
                  <a:latin typeface="微软雅黑" panose="020B0503020204020204" charset="-122"/>
                  <a:ea typeface="微软雅黑" panose="020B0503020204020204" charset="-122"/>
                </a:rPr>
                <a:t>的定义</a:t>
              </a:r>
              <a:endParaRPr lang="zh-CN" altLang="en-US" b="1" dirty="0">
                <a:solidFill>
                  <a:srgbClr val="C00000"/>
                </a:solidFill>
                <a:latin typeface="微软雅黑" panose="020B0503020204020204" charset="-122"/>
                <a:ea typeface="微软雅黑" panose="020B0503020204020204" charset="-122"/>
              </a:endParaRPr>
            </a:p>
          </p:txBody>
        </p:sp>
      </p:grpSp>
      <p:sp>
        <p:nvSpPr>
          <p:cNvPr id="2" name="Text Placeholder 4"/>
          <p:cNvSpPr txBox="1">
            <a:spLocks noChangeArrowheads="1"/>
          </p:cNvSpPr>
          <p:nvPr/>
        </p:nvSpPr>
        <p:spPr bwMode="auto">
          <a:xfrm>
            <a:off x="2415560" y="3765691"/>
            <a:ext cx="6126741" cy="1189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endParaRPr lang="zh-CN" altLang="en-US" b="1" dirty="0">
              <a:solidFill>
                <a:schemeClr val="bg1">
                  <a:lumMod val="65000"/>
                </a:schemeClr>
              </a:solidFill>
              <a:latin typeface="微软雅黑" panose="020B0503020204020204" charset="-122"/>
              <a:ea typeface="微软雅黑" panose="020B0503020204020204" charset="-122"/>
            </a:endParaRPr>
          </a:p>
        </p:txBody>
      </p:sp>
      <p:sp>
        <p:nvSpPr>
          <p:cNvPr id="5" name="文本框 4"/>
          <p:cNvSpPr txBox="1"/>
          <p:nvPr>
            <p:custDataLst>
              <p:tags r:id="rId1"/>
            </p:custDataLst>
          </p:nvPr>
        </p:nvSpPr>
        <p:spPr>
          <a:xfrm>
            <a:off x="535305" y="116840"/>
            <a:ext cx="5985510" cy="645160"/>
          </a:xfrm>
          <a:prstGeom prst="rect">
            <a:avLst/>
          </a:prstGeom>
          <a:noFill/>
        </p:spPr>
        <p:txBody>
          <a:bodyPr wrap="square" rtlCol="0">
            <a:spAutoFit/>
          </a:bodyPr>
          <a:lstStyle/>
          <a:p>
            <a:r>
              <a:rPr lang="en-US" altLang="zh-CN" sz="3600" b="1" dirty="0">
                <a:solidFill>
                  <a:srgbClr val="274FA2"/>
                </a:solidFill>
                <a:latin typeface="微软雅黑" panose="020B0503020204020204" charset="-122"/>
                <a:ea typeface="微软雅黑" panose="020B0503020204020204" charset="-122"/>
                <a:cs typeface="+mj-cs"/>
              </a:rPr>
              <a:t>Outline——</a:t>
            </a:r>
            <a:r>
              <a:rPr lang="zh-CN" altLang="en-US" sz="3600" b="1" dirty="0">
                <a:solidFill>
                  <a:srgbClr val="274FA2"/>
                </a:solidFill>
                <a:latin typeface="微软雅黑" panose="020B0503020204020204" charset="-122"/>
                <a:ea typeface="微软雅黑" panose="020B0503020204020204" charset="-122"/>
                <a:cs typeface="+mj-cs"/>
              </a:rPr>
              <a:t>选择题</a:t>
            </a:r>
            <a:endParaRPr lang="zh-CN" altLang="en-US" sz="3600" b="1" dirty="0">
              <a:solidFill>
                <a:srgbClr val="274FA2"/>
              </a:solidFill>
              <a:latin typeface="微软雅黑" panose="020B0503020204020204" charset="-122"/>
              <a:ea typeface="微软雅黑" panose="020B0503020204020204" charset="-122"/>
              <a:cs typeface="+mj-cs"/>
            </a:endParaRPr>
          </a:p>
        </p:txBody>
      </p:sp>
      <p:sp>
        <p:nvSpPr>
          <p:cNvPr id="4" name="Text Placeholder 4"/>
          <p:cNvSpPr txBox="1">
            <a:spLocks noChangeArrowheads="1"/>
          </p:cNvSpPr>
          <p:nvPr/>
        </p:nvSpPr>
        <p:spPr bwMode="auto">
          <a:xfrm>
            <a:off x="541675" y="2726552"/>
            <a:ext cx="730377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三、分治法适用问题</a:t>
            </a:r>
            <a:endParaRPr lang="zh-CN" altLang="en-US" b="1" dirty="0">
              <a:solidFill>
                <a:schemeClr val="bg1">
                  <a:lumMod val="65000"/>
                </a:schemeClr>
              </a:solidFill>
              <a:latin typeface="微软雅黑" panose="020B0503020204020204" charset="-122"/>
              <a:ea typeface="微软雅黑" panose="020B0503020204020204" charset="-122"/>
            </a:endParaRPr>
          </a:p>
        </p:txBody>
      </p:sp>
      <p:sp>
        <p:nvSpPr>
          <p:cNvPr id="6" name="Text Placeholder 4"/>
          <p:cNvSpPr txBox="1">
            <a:spLocks noChangeArrowheads="1"/>
          </p:cNvSpPr>
          <p:nvPr/>
        </p:nvSpPr>
        <p:spPr bwMode="auto">
          <a:xfrm>
            <a:off x="535325" y="3677782"/>
            <a:ext cx="730377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四、分治法核心思想</a:t>
            </a:r>
            <a:endParaRPr lang="zh-CN" altLang="en-US" b="1" dirty="0">
              <a:solidFill>
                <a:srgbClr val="C00000"/>
              </a:solidFill>
              <a:latin typeface="微软雅黑" panose="020B0503020204020204" charset="-122"/>
              <a:ea typeface="微软雅黑" panose="020B0503020204020204" charset="-122"/>
            </a:endParaRPr>
          </a:p>
        </p:txBody>
      </p:sp>
      <p:sp>
        <p:nvSpPr>
          <p:cNvPr id="9" name="Text Placeholder 4"/>
          <p:cNvSpPr txBox="1">
            <a:spLocks noChangeArrowheads="1"/>
          </p:cNvSpPr>
          <p:nvPr/>
        </p:nvSpPr>
        <p:spPr bwMode="auto">
          <a:xfrm>
            <a:off x="535325" y="4718547"/>
            <a:ext cx="730377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五、备忘录方法</a:t>
            </a:r>
            <a:endParaRPr lang="zh-CN" altLang="en-US" b="1" dirty="0">
              <a:solidFill>
                <a:srgbClr val="C00000"/>
              </a:solidFill>
              <a:latin typeface="微软雅黑" panose="020B0503020204020204" charset="-122"/>
              <a:ea typeface="微软雅黑" panose="020B0503020204020204" charset="-122"/>
            </a:endParaRPr>
          </a:p>
        </p:txBody>
      </p:sp>
      <p:sp>
        <p:nvSpPr>
          <p:cNvPr id="8" name="Text Placeholder 4"/>
          <p:cNvSpPr txBox="1">
            <a:spLocks noChangeArrowheads="1"/>
          </p:cNvSpPr>
          <p:nvPr/>
        </p:nvSpPr>
        <p:spPr bwMode="auto">
          <a:xfrm>
            <a:off x="6360815" y="2822437"/>
            <a:ext cx="730377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八、回溯法效率影响因素</a:t>
            </a:r>
            <a:endParaRPr lang="zh-CN" altLang="en-US" b="1" dirty="0">
              <a:solidFill>
                <a:schemeClr val="bg1">
                  <a:lumMod val="65000"/>
                </a:schemeClr>
              </a:solidFill>
              <a:latin typeface="微软雅黑" panose="020B0503020204020204" charset="-122"/>
              <a:ea typeface="微软雅黑" panose="020B0503020204020204" charset="-122"/>
            </a:endParaRPr>
          </a:p>
        </p:txBody>
      </p:sp>
      <p:sp>
        <p:nvSpPr>
          <p:cNvPr id="10" name="Text Placeholder 4"/>
          <p:cNvSpPr txBox="1">
            <a:spLocks noChangeArrowheads="1"/>
          </p:cNvSpPr>
          <p:nvPr/>
        </p:nvSpPr>
        <p:spPr bwMode="auto">
          <a:xfrm>
            <a:off x="6360815" y="3765412"/>
            <a:ext cx="730377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九、拉斯维加斯算法特点</a:t>
            </a:r>
            <a:endParaRPr lang="zh-CN" altLang="en-US" b="1" dirty="0">
              <a:solidFill>
                <a:srgbClr val="C00000"/>
              </a:solidFill>
              <a:latin typeface="微软雅黑" panose="020B0503020204020204" charset="-122"/>
              <a:ea typeface="微软雅黑" panose="020B0503020204020204" charset="-122"/>
            </a:endParaRPr>
          </a:p>
        </p:txBody>
      </p:sp>
      <p:sp>
        <p:nvSpPr>
          <p:cNvPr id="12" name="Text Placeholder 4"/>
          <p:cNvSpPr txBox="1">
            <a:spLocks noChangeArrowheads="1"/>
          </p:cNvSpPr>
          <p:nvPr/>
        </p:nvSpPr>
        <p:spPr bwMode="auto">
          <a:xfrm>
            <a:off x="6360795" y="4718685"/>
            <a:ext cx="591439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十、随机化快排随机基准的作用</a:t>
            </a:r>
            <a:endParaRPr lang="zh-CN" altLang="en-US" b="1" dirty="0">
              <a:solidFill>
                <a:srgbClr val="C00000"/>
              </a:solidFill>
              <a:latin typeface="微软雅黑" panose="020B0503020204020204" charset="-122"/>
              <a:ea typeface="微软雅黑" panose="020B0503020204020204" charset="-122"/>
            </a:endParaRPr>
          </a:p>
        </p:txBody>
      </p:sp>
      <p:grpSp>
        <p:nvGrpSpPr>
          <p:cNvPr id="17" name="组合 16"/>
          <p:cNvGrpSpPr/>
          <p:nvPr/>
        </p:nvGrpSpPr>
        <p:grpSpPr>
          <a:xfrm>
            <a:off x="6360814" y="881245"/>
            <a:ext cx="9029701" cy="1941195"/>
            <a:chOff x="1588525" y="1228160"/>
            <a:chExt cx="6071296" cy="1057491"/>
          </a:xfrm>
        </p:grpSpPr>
        <p:sp>
          <p:nvSpPr>
            <p:cNvPr id="18" name="Text Placeholder 4"/>
            <p:cNvSpPr txBox="1">
              <a:spLocks noChangeArrowheads="1"/>
            </p:cNvSpPr>
            <p:nvPr/>
          </p:nvSpPr>
          <p:spPr bwMode="auto">
            <a:xfrm>
              <a:off x="1592795" y="1228160"/>
              <a:ext cx="6067026" cy="647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六、</a:t>
              </a:r>
              <a:r>
                <a:rPr lang="en-US" altLang="zh-CN" b="1" dirty="0">
                  <a:solidFill>
                    <a:srgbClr val="C00000"/>
                  </a:solidFill>
                  <a:latin typeface="微软雅黑" panose="020B0503020204020204" charset="-122"/>
                  <a:ea typeface="微软雅黑" panose="020B0503020204020204" charset="-122"/>
                </a:rPr>
                <a:t>LCS</a:t>
              </a:r>
              <a:r>
                <a:rPr lang="zh-CN" altLang="en-US" b="1" dirty="0">
                  <a:solidFill>
                    <a:srgbClr val="C00000"/>
                  </a:solidFill>
                  <a:latin typeface="微软雅黑" panose="020B0503020204020204" charset="-122"/>
                  <a:ea typeface="微软雅黑" panose="020B0503020204020204" charset="-122"/>
                </a:rPr>
                <a:t>问题比较对象</a:t>
              </a:r>
              <a:endParaRPr lang="zh-CN" altLang="en-US" b="1" dirty="0">
                <a:solidFill>
                  <a:srgbClr val="C00000"/>
                </a:solidFill>
                <a:latin typeface="微软雅黑" panose="020B0503020204020204" charset="-122"/>
                <a:ea typeface="微软雅黑" panose="020B0503020204020204" charset="-122"/>
              </a:endParaRPr>
            </a:p>
          </p:txBody>
        </p:sp>
        <p:sp>
          <p:nvSpPr>
            <p:cNvPr id="19" name="Text Placeholder 4"/>
            <p:cNvSpPr txBox="1">
              <a:spLocks noChangeArrowheads="1"/>
            </p:cNvSpPr>
            <p:nvPr/>
          </p:nvSpPr>
          <p:spPr bwMode="auto">
            <a:xfrm>
              <a:off x="1588525" y="1718681"/>
              <a:ext cx="4910833" cy="566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七、贪心算法基本要素</a:t>
              </a:r>
              <a:endParaRPr lang="zh-CN" altLang="en-US" b="1" dirty="0">
                <a:solidFill>
                  <a:srgbClr val="C00000"/>
                </a:solidFill>
                <a:latin typeface="微软雅黑" panose="020B0503020204020204" charset="-122"/>
                <a:ea typeface="微软雅黑" panose="020B0503020204020204"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(1) </a:t>
            </a:r>
            <a:r>
              <a:rPr lang="zh-CN" altLang="en-US" sz="3600" b="1" dirty="0">
                <a:solidFill>
                  <a:srgbClr val="274FA2"/>
                </a:solidFill>
                <a:latin typeface="微软雅黑" panose="020B0503020204020204" charset="-122"/>
                <a:ea typeface="微软雅黑" panose="020B0503020204020204" charset="-122"/>
                <a:cs typeface="+mj-cs"/>
                <a:sym typeface="+mn-ea"/>
              </a:rPr>
              <a:t>主定理求递归时间复杂度</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785" y="1000125"/>
            <a:ext cx="10581005" cy="850265"/>
          </a:xfrm>
          <a:prstGeom prst="rect">
            <a:avLst/>
          </a:prstGeom>
        </p:spPr>
      </p:pic>
      <p:pic>
        <p:nvPicPr>
          <p:cNvPr id="7" name="图片 6"/>
          <p:cNvPicPr>
            <a:picLocks noChangeAspect="1"/>
          </p:cNvPicPr>
          <p:nvPr/>
        </p:nvPicPr>
        <p:blipFill>
          <a:blip r:embed="rId2"/>
          <a:stretch>
            <a:fillRect/>
          </a:stretch>
        </p:blipFill>
        <p:spPr>
          <a:xfrm>
            <a:off x="565785" y="1948815"/>
            <a:ext cx="8481695" cy="2365375"/>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565785" y="4679315"/>
                <a:ext cx="10627360" cy="1638300"/>
              </a:xfrm>
              <a:prstGeom prst="rect">
                <a:avLst/>
              </a:prstGeom>
              <a:noFill/>
            </p:spPr>
            <p:txBody>
              <a:bodyPr wrap="square" rtlCol="0">
                <a:spAutoFit/>
              </a:bodyPr>
              <a:lstStyle/>
              <a:p>
                <a:r>
                  <a:rPr lang="zh-CN" altLang="en-US" sz="2000">
                    <a:latin typeface="宋体" panose="02010600030101010101" pitchFamily="2" charset="-122"/>
                    <a:ea typeface="宋体" panose="02010600030101010101" pitchFamily="2" charset="-122"/>
                    <a:cs typeface="宋体" panose="02010600030101010101" pitchFamily="2" charset="-122"/>
                  </a:rPr>
                  <a:t>答案：</a:t>
                </a:r>
                <a:r>
                  <a:rPr lang="en-US" altLang="zh-CN" sz="2000">
                    <a:latin typeface="宋体" panose="02010600030101010101" pitchFamily="2" charset="-122"/>
                    <a:ea typeface="宋体" panose="02010600030101010101" pitchFamily="2" charset="-122"/>
                    <a:cs typeface="宋体" panose="02010600030101010101" pitchFamily="2" charset="-122"/>
                  </a:rPr>
                  <a:t>B</a:t>
                </a:r>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递归式 </a:t>
                </a:r>
                <a:r>
                  <a:rPr lang="en-US" altLang="zh-CN" sz="2000">
                    <a:latin typeface="宋体" panose="02010600030101010101" pitchFamily="2" charset="-122"/>
                    <a:ea typeface="宋体" panose="02010600030101010101" pitchFamily="2" charset="-122"/>
                    <a:cs typeface="宋体" panose="02010600030101010101" pitchFamily="2" charset="-122"/>
                  </a:rPr>
                  <a:t>T(n)=2T(n/2)+n </a:t>
                </a:r>
                <a:r>
                  <a:rPr lang="zh-CN" altLang="en-US" sz="2000">
                    <a:latin typeface="宋体" panose="02010600030101010101" pitchFamily="2" charset="-122"/>
                    <a:ea typeface="宋体" panose="02010600030101010101" pitchFamily="2" charset="-122"/>
                    <a:cs typeface="宋体" panose="02010600030101010101" pitchFamily="2" charset="-122"/>
                  </a:rPr>
                  <a:t>符合主定理情形2：</a:t>
                </a:r>
                <a:r>
                  <a:rPr lang="en-US" altLang="zh-CN" sz="2000">
                    <a:latin typeface="宋体" panose="02010600030101010101" pitchFamily="2" charset="-122"/>
                    <a:ea typeface="宋体" panose="02010600030101010101" pitchFamily="2" charset="-122"/>
                    <a:cs typeface="宋体" panose="02010600030101010101" pitchFamily="2" charset="-122"/>
                  </a:rPr>
                  <a:t>a=2,b=2,f(n)=n，</a:t>
                </a:r>
                <a:r>
                  <a:rPr lang="zh-CN" altLang="en-US" sz="2000">
                    <a:latin typeface="宋体" panose="02010600030101010101" pitchFamily="2" charset="-122"/>
                    <a:ea typeface="宋体" panose="02010600030101010101" pitchFamily="2" charset="-122"/>
                    <a:cs typeface="宋体" panose="02010600030101010101" pitchFamily="2" charset="-122"/>
                  </a:rPr>
                  <a:t>且 </a:t>
                </a:r>
                <a:r>
                  <a:rPr lang="en-US" altLang="zh-CN" sz="2000">
                    <a:latin typeface="宋体" panose="02010600030101010101" pitchFamily="2" charset="-122"/>
                    <a:ea typeface="宋体" panose="02010600030101010101" pitchFamily="2" charset="-122"/>
                    <a:cs typeface="宋体" panose="02010600030101010101" pitchFamily="2" charset="-122"/>
                  </a:rPr>
                  <a:t>f(n)=n=</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e>
                      <m:sup>
                        <m:func>
                          <m:func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uncPr>
                          <m:fNa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m:rPr>
                                    <m:sty m:val="p"/>
                                  </m:rPr>
                                  <a:rPr lang="en-US" altLang="zh-CN" sz="2000">
                                    <a:latin typeface="Cambria Math" panose="02040503050406030204" pitchFamily="18" charset="0"/>
                                    <a:ea typeface="宋体" panose="02010600030101010101" pitchFamily="2" charset="-122"/>
                                    <a:cs typeface="Cambria Math" panose="02040503050406030204" pitchFamily="18" charset="0"/>
                                  </a:rPr>
                                  <m:t>log</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𝑏</m:t>
                                </m:r>
                              </m:sub>
                            </m:sSub>
                          </m:fName>
                          <m:e>
                            <m:r>
                              <a:rPr lang="en-US" altLang="zh-CN" sz="2000" i="1">
                                <a:latin typeface="Cambria Math" panose="02040503050406030204" pitchFamily="18" charset="0"/>
                                <a:ea typeface="宋体" panose="02010600030101010101" pitchFamily="2" charset="-122"/>
                                <a:cs typeface="Cambria Math" panose="02040503050406030204" pitchFamily="18" charset="0"/>
                              </a:rPr>
                              <m:t>𝑎</m:t>
                            </m:r>
                          </m:e>
                        </m:func>
                      </m:sup>
                    </m:sSup>
                  </m:oMath>
                </a14:m>
                <a:r>
                  <a:rPr lang="en-US" altLang="zh-CN" sz="200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oMath>
                </a14:m>
                <a:r>
                  <a:rPr lang="en-US" altLang="zh-CN" sz="2000">
                    <a:latin typeface="宋体" panose="02010600030101010101" pitchFamily="2" charset="-122"/>
                    <a:ea typeface="宋体" panose="02010600030101010101" pitchFamily="2" charset="-122"/>
                    <a:cs typeface="宋体" panose="02010600030101010101" pitchFamily="2" charset="-122"/>
                  </a:rPr>
                  <a:t>。</a:t>
                </a:r>
                <a:endParaRPr lang="en-US" altLang="zh-CN"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因此 </a:t>
                </a:r>
                <a:r>
                  <a:rPr lang="en-US" altLang="zh-CN" sz="2000">
                    <a:latin typeface="宋体" panose="02010600030101010101" pitchFamily="2" charset="-122"/>
                    <a:ea typeface="宋体" panose="02010600030101010101" pitchFamily="2" charset="-122"/>
                    <a:cs typeface="宋体" panose="02010600030101010101" pitchFamily="2" charset="-122"/>
                  </a:rPr>
                  <a:t>T(n)=O(</a:t>
                </a:r>
                <a14:m>
                  <m:oMath xmlns:m="http://schemas.openxmlformats.org/officeDocument/2006/math">
                    <m:func>
                      <m:func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uncPr>
                      <m:fName>
                        <m:r>
                          <m:rPr>
                            <m:sty m:val="p"/>
                          </m:rPr>
                          <a:rPr lang="en-US" altLang="zh-CN" sz="2000">
                            <a:latin typeface="Cambria Math" panose="02040503050406030204" pitchFamily="18" charset="0"/>
                            <a:ea typeface="宋体" panose="02010600030101010101" pitchFamily="2" charset="-122"/>
                            <a:cs typeface="Cambria Math" panose="02040503050406030204" pitchFamily="18" charset="0"/>
                          </a:rPr>
                          <m:t>nlog</m:t>
                        </m:r>
                      </m:fName>
                      <m:e>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e>
                    </m:func>
                  </m:oMath>
                </a14:m>
                <a:r>
                  <a:rPr lang="en-US" altLang="zh-CN" sz="2000">
                    <a:latin typeface="宋体" panose="02010600030101010101" pitchFamily="2" charset="-122"/>
                    <a:ea typeface="宋体" panose="02010600030101010101" pitchFamily="2" charset="-122"/>
                    <a:cs typeface="宋体" panose="02010600030101010101" pitchFamily="2" charset="-122"/>
                  </a:rPr>
                  <a:t>)。</a:t>
                </a:r>
                <a:endParaRPr lang="en-US" altLang="zh-CN" sz="200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565785" y="4679315"/>
                <a:ext cx="10627360" cy="163830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(2) </a:t>
            </a:r>
            <a:r>
              <a:rPr lang="zh-CN" altLang="en-US" sz="3600" b="1" dirty="0">
                <a:solidFill>
                  <a:srgbClr val="274FA2"/>
                </a:solidFill>
                <a:latin typeface="微软雅黑" panose="020B0503020204020204" charset="-122"/>
                <a:ea typeface="微软雅黑" panose="020B0503020204020204" charset="-122"/>
                <a:cs typeface="+mj-cs"/>
                <a:sym typeface="+mn-ea"/>
              </a:rPr>
              <a:t>渐近记号O的定义</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6" name="图片 5"/>
          <p:cNvPicPr>
            <a:picLocks noChangeAspect="1"/>
          </p:cNvPicPr>
          <p:nvPr/>
        </p:nvPicPr>
        <p:blipFill>
          <a:blip r:embed="rId1"/>
          <a:stretch>
            <a:fillRect/>
          </a:stretch>
        </p:blipFill>
        <p:spPr>
          <a:xfrm>
            <a:off x="565785" y="1000125"/>
            <a:ext cx="10661650" cy="1835785"/>
          </a:xfrm>
          <a:prstGeom prst="rect">
            <a:avLst/>
          </a:prstGeom>
        </p:spPr>
      </p:pic>
      <p:sp>
        <p:nvSpPr>
          <p:cNvPr id="8" name="文本框 7"/>
          <p:cNvSpPr txBox="1"/>
          <p:nvPr/>
        </p:nvSpPr>
        <p:spPr>
          <a:xfrm>
            <a:off x="565785" y="3074035"/>
            <a:ext cx="10627360" cy="3035935"/>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根据渐近上界记号 </a:t>
            </a:r>
            <a:r>
              <a:rPr lang="en-US" altLang="zh-CN" sz="2000">
                <a:latin typeface="宋体" panose="02010600030101010101" pitchFamily="2" charset="-122"/>
                <a:ea typeface="宋体" panose="02010600030101010101" pitchFamily="2" charset="-122"/>
                <a:cs typeface="宋体" panose="02010600030101010101" pitchFamily="2" charset="-122"/>
              </a:rPr>
              <a:t>O </a:t>
            </a:r>
            <a:r>
              <a:rPr lang="zh-CN" altLang="en-US" sz="2000">
                <a:latin typeface="宋体" panose="02010600030101010101" pitchFamily="2" charset="-122"/>
                <a:ea typeface="宋体" panose="02010600030101010101" pitchFamily="2" charset="-122"/>
                <a:cs typeface="宋体" panose="02010600030101010101" pitchFamily="2" charset="-122"/>
              </a:rPr>
              <a:t>的标准定义：</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选项</a:t>
            </a:r>
            <a:r>
              <a:rPr lang="en-US" altLang="zh-CN" sz="2000">
                <a:latin typeface="宋体" panose="02010600030101010101" pitchFamily="2" charset="-122"/>
                <a:ea typeface="宋体" panose="02010600030101010101" pitchFamily="2" charset="-122"/>
                <a:cs typeface="宋体" panose="02010600030101010101" pitchFamily="2" charset="-122"/>
              </a:rPr>
              <a:t>A</a:t>
            </a:r>
            <a:r>
              <a:rPr lang="zh-CN" altLang="en-US" sz="2000">
                <a:latin typeface="宋体" panose="02010600030101010101" pitchFamily="2" charset="-122"/>
                <a:ea typeface="宋体" panose="02010600030101010101" pitchFamily="2" charset="-122"/>
                <a:cs typeface="宋体" panose="02010600030101010101" pitchFamily="2" charset="-122"/>
              </a:rPr>
              <a:t>描述正确，其他选项不等式方向错误或使用“任何正常数”不符合定义。</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9" name="图片 8"/>
          <p:cNvPicPr>
            <a:picLocks noChangeAspect="1"/>
          </p:cNvPicPr>
          <p:nvPr/>
        </p:nvPicPr>
        <p:blipFill>
          <a:blip r:embed="rId2"/>
          <a:stretch>
            <a:fillRect/>
          </a:stretch>
        </p:blipFill>
        <p:spPr>
          <a:xfrm>
            <a:off x="626110" y="4456430"/>
            <a:ext cx="9898380" cy="668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77500" lnSpcReduction="1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(3) 分治法适用问题</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785" y="1000125"/>
            <a:ext cx="10253345" cy="802640"/>
          </a:xfrm>
          <a:prstGeom prst="rect">
            <a:avLst/>
          </a:prstGeom>
        </p:spPr>
      </p:pic>
      <p:sp>
        <p:nvSpPr>
          <p:cNvPr id="8" name="文本框 7"/>
          <p:cNvSpPr txBox="1"/>
          <p:nvPr/>
        </p:nvSpPr>
        <p:spPr>
          <a:xfrm>
            <a:off x="565785" y="2169160"/>
            <a:ext cx="10627360" cy="3035935"/>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D</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分治法要求子问题相互独立且与原问题性质相同。</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en-US" altLang="zh-CN" sz="2000">
                <a:latin typeface="宋体" panose="02010600030101010101" pitchFamily="2" charset="-122"/>
                <a:ea typeface="宋体" panose="02010600030101010101" pitchFamily="2" charset="-122"/>
                <a:cs typeface="宋体" panose="02010600030101010101" pitchFamily="2" charset="-122"/>
              </a:rPr>
              <a:t>A、B、C（</a:t>
            </a:r>
            <a:r>
              <a:rPr lang="zh-CN" altLang="en-US" sz="2000">
                <a:latin typeface="宋体" panose="02010600030101010101" pitchFamily="2" charset="-122"/>
                <a:ea typeface="宋体" panose="02010600030101010101" pitchFamily="2" charset="-122"/>
                <a:cs typeface="宋体" panose="02010600030101010101" pitchFamily="2" charset="-122"/>
              </a:rPr>
              <a:t>大整数乘法、</a:t>
            </a:r>
            <a:r>
              <a:rPr lang="en-US" altLang="zh-CN" sz="2000">
                <a:latin typeface="宋体" panose="02010600030101010101" pitchFamily="2" charset="-122"/>
                <a:ea typeface="宋体" panose="02010600030101010101" pitchFamily="2" charset="-122"/>
                <a:cs typeface="宋体" panose="02010600030101010101" pitchFamily="2" charset="-122"/>
              </a:rPr>
              <a:t>Strassen</a:t>
            </a:r>
            <a:r>
              <a:rPr lang="zh-CN" altLang="en-US" sz="2000">
                <a:latin typeface="宋体" panose="02010600030101010101" pitchFamily="2" charset="-122"/>
                <a:ea typeface="宋体" panose="02010600030101010101" pitchFamily="2" charset="-122"/>
                <a:cs typeface="宋体" panose="02010600030101010101" pitchFamily="2" charset="-122"/>
              </a:rPr>
              <a:t>矩阵乘法、合并排序）均可用分治高效求解。</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en-US" altLang="zh-CN" sz="2000">
                <a:latin typeface="宋体" panose="02010600030101010101" pitchFamily="2" charset="-122"/>
                <a:ea typeface="宋体" panose="02010600030101010101" pitchFamily="2" charset="-122"/>
                <a:cs typeface="宋体" panose="02010600030101010101" pitchFamily="2" charset="-122"/>
              </a:rPr>
              <a:t>D（0/1</a:t>
            </a:r>
            <a:r>
              <a:rPr lang="zh-CN" altLang="en-US" sz="2000">
                <a:latin typeface="宋体" panose="02010600030101010101" pitchFamily="2" charset="-122"/>
                <a:ea typeface="宋体" panose="02010600030101010101" pitchFamily="2" charset="-122"/>
                <a:cs typeface="宋体" panose="02010600030101010101" pitchFamily="2" charset="-122"/>
              </a:rPr>
              <a:t>背包问题）子问题不独立（物品选择相互影响），分治会导致大量重复计算，通常用动态规划或回溯。</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77500" lnSpcReduction="1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(4) 分治法核心思想</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785" y="1000125"/>
            <a:ext cx="10684510" cy="714375"/>
          </a:xfrm>
          <a:prstGeom prst="rect">
            <a:avLst/>
          </a:prstGeom>
        </p:spPr>
      </p:pic>
      <p:sp>
        <p:nvSpPr>
          <p:cNvPr id="8" name="文本框 7"/>
          <p:cNvSpPr txBox="1"/>
          <p:nvPr/>
        </p:nvSpPr>
        <p:spPr>
          <a:xfrm>
            <a:off x="565785" y="2169160"/>
            <a:ext cx="10627360" cy="3035935"/>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题干描述“将问题分解为相互独立的子问题，通过求解子问题的解得到原问题的解”正是分治法的定义。动态规划、贪心、回溯均不强调“子问题相互独立”。</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(5) 备忘录方法</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785" y="1000125"/>
            <a:ext cx="10570845" cy="1527175"/>
          </a:xfrm>
          <a:prstGeom prst="rect">
            <a:avLst/>
          </a:prstGeom>
        </p:spPr>
      </p:pic>
      <p:sp>
        <p:nvSpPr>
          <p:cNvPr id="8" name="文本框 7"/>
          <p:cNvSpPr txBox="1"/>
          <p:nvPr/>
        </p:nvSpPr>
        <p:spPr>
          <a:xfrm>
            <a:off x="565785" y="3107055"/>
            <a:ext cx="10627360" cy="3035935"/>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B</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备忘录方法是动态规划的变形，采用</a:t>
            </a:r>
            <a:r>
              <a:rPr lang="zh-CN" altLang="en-US" sz="2000" b="1">
                <a:latin typeface="宋体" panose="02010600030101010101" pitchFamily="2" charset="-122"/>
                <a:ea typeface="宋体" panose="02010600030101010101" pitchFamily="2" charset="-122"/>
                <a:cs typeface="宋体" panose="02010600030101010101" pitchFamily="2" charset="-122"/>
              </a:rPr>
              <a:t>自顶向下</a:t>
            </a:r>
            <a:r>
              <a:rPr lang="zh-CN" altLang="en-US" sz="2000">
                <a:latin typeface="宋体" panose="02010600030101010101" pitchFamily="2" charset="-122"/>
                <a:ea typeface="宋体" panose="02010600030101010101" pitchFamily="2" charset="-122"/>
                <a:cs typeface="宋体" panose="02010600030101010101" pitchFamily="2" charset="-122"/>
              </a:rPr>
              <a:t>的求解方式（</a:t>
            </a:r>
            <a:r>
              <a:rPr lang="zh-CN" altLang="en-US" sz="2000" b="1">
                <a:latin typeface="宋体" panose="02010600030101010101" pitchFamily="2" charset="-122"/>
                <a:ea typeface="宋体" panose="02010600030101010101" pitchFamily="2" charset="-122"/>
                <a:cs typeface="宋体" panose="02010600030101010101" pitchFamily="2" charset="-122"/>
              </a:rPr>
              <a:t>递归+记忆化</a:t>
            </a:r>
            <a:r>
              <a:rPr lang="zh-CN" altLang="en-US" sz="2000">
                <a:latin typeface="宋体" panose="02010600030101010101" pitchFamily="2" charset="-122"/>
                <a:ea typeface="宋体" panose="02010600030101010101" pitchFamily="2" charset="-122"/>
                <a:cs typeface="宋体" panose="02010600030101010101" pitchFamily="2" charset="-122"/>
              </a:rPr>
              <a:t>），而</a:t>
            </a:r>
            <a:r>
              <a:rPr lang="en-US" altLang="zh-CN" sz="2000">
                <a:latin typeface="宋体" panose="02010600030101010101" pitchFamily="2" charset="-122"/>
                <a:ea typeface="宋体" panose="02010600030101010101" pitchFamily="2" charset="-122"/>
                <a:cs typeface="宋体" panose="02010600030101010101" pitchFamily="2" charset="-122"/>
              </a:rPr>
              <a:t>B</a:t>
            </a:r>
            <a:r>
              <a:rPr lang="zh-CN" altLang="en-US" sz="2000">
                <a:latin typeface="宋体" panose="02010600030101010101" pitchFamily="2" charset="-122"/>
                <a:ea typeface="宋体" panose="02010600030101010101" pitchFamily="2" charset="-122"/>
                <a:cs typeface="宋体" panose="02010600030101010101" pitchFamily="2" charset="-122"/>
              </a:rPr>
              <a:t>说“自底向上”是错误的。</a:t>
            </a:r>
            <a:r>
              <a:rPr lang="en-US" altLang="zh-CN" sz="2000">
                <a:latin typeface="宋体" panose="02010600030101010101" pitchFamily="2" charset="-122"/>
                <a:ea typeface="宋体" panose="02010600030101010101" pitchFamily="2" charset="-122"/>
                <a:cs typeface="宋体" panose="02010600030101010101" pitchFamily="2" charset="-122"/>
              </a:rPr>
              <a:t>A、C、D</a:t>
            </a:r>
            <a:r>
              <a:rPr lang="zh-CN" altLang="en-US" sz="2000">
                <a:latin typeface="宋体" panose="02010600030101010101" pitchFamily="2" charset="-122"/>
                <a:ea typeface="宋体" panose="02010600030101010101" pitchFamily="2" charset="-122"/>
                <a:cs typeface="宋体" panose="02010600030101010101" pitchFamily="2" charset="-122"/>
              </a:rPr>
              <a:t>均正确。</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(6) LCS问题比较对象</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150" y="1000125"/>
            <a:ext cx="10336530" cy="1840230"/>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565785" y="3107055"/>
                <a:ext cx="10627360" cy="3263900"/>
              </a:xfrm>
              <a:prstGeom prst="rect">
                <a:avLst/>
              </a:prstGeom>
              <a:noFill/>
            </p:spPr>
            <p:txBody>
              <a:bodyPr wrap="square" rtlCol="0">
                <a:noAutofit/>
              </a:bodyPr>
              <a:lstStyle/>
              <a:p>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C</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r>
                  <a:rPr lang="zh-CN" altLang="en-US" sz="2000" dirty="0">
                    <a:latin typeface="宋体" panose="02010600030101010101" pitchFamily="2" charset="-122"/>
                    <a:ea typeface="宋体" panose="02010600030101010101" pitchFamily="2" charset="-122"/>
                    <a:cs typeface="宋体" panose="02010600030101010101" pitchFamily="2" charset="-122"/>
                  </a:rPr>
                  <a:t>解析：</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r>
                  <a:rPr lang="zh-CN" altLang="en-US" sz="2000" dirty="0">
                    <a:latin typeface="宋体" panose="02010600030101010101" pitchFamily="2" charset="-122"/>
                    <a:ea typeface="宋体" panose="02010600030101010101" pitchFamily="2" charset="-122"/>
                    <a:cs typeface="宋体" panose="02010600030101010101" pitchFamily="2" charset="-122"/>
                  </a:rPr>
                  <a:t>最长公共子序列的动态规划递推式为：</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zh-CN" altLang="en-US" sz="2000" dirty="0">
                    <a:latin typeface="宋体" panose="02010600030101010101" pitchFamily="2" charset="-122"/>
                    <a:ea typeface="宋体" panose="02010600030101010101" pitchFamily="2" charset="-122"/>
                    <a:cs typeface="宋体" panose="02010600030101010101" pitchFamily="2" charset="-122"/>
                  </a:rPr>
                  <a:t>若</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𝑦</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oMath>
                </a14:m>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，则 </a:t>
                </a:r>
                <a:r>
                  <a:rPr lang="en-US" altLang="zh-CN" sz="2000" dirty="0" err="1">
                    <a:latin typeface="宋体" panose="02010600030101010101" pitchFamily="2" charset="-122"/>
                    <a:ea typeface="宋体" panose="02010600030101010101" pitchFamily="2" charset="-122"/>
                    <a:cs typeface="宋体" panose="02010600030101010101" pitchFamily="2" charset="-122"/>
                  </a:rPr>
                  <a:t>dp</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err="1">
                    <a:latin typeface="宋体" panose="02010600030101010101" pitchFamily="2" charset="-122"/>
                    <a:ea typeface="宋体" panose="02010600030101010101" pitchFamily="2" charset="-122"/>
                    <a:cs typeface="宋体" panose="02010600030101010101" pitchFamily="2" charset="-122"/>
                  </a:rPr>
                  <a:t>i</a:t>
                </a:r>
                <a:r>
                  <a:rPr lang="en-US" altLang="zh-CN" sz="2000" dirty="0">
                    <a:latin typeface="宋体" panose="02010600030101010101" pitchFamily="2" charset="-122"/>
                    <a:ea typeface="宋体" panose="02010600030101010101" pitchFamily="2" charset="-122"/>
                    <a:cs typeface="宋体" panose="02010600030101010101" pitchFamily="2" charset="-122"/>
                  </a:rPr>
                  <a:t>][j]=</a:t>
                </a:r>
                <a:r>
                  <a:rPr lang="en-US" altLang="zh-CN" sz="2000" dirty="0" err="1">
                    <a:latin typeface="宋体" panose="02010600030101010101" pitchFamily="2" charset="-122"/>
                    <a:ea typeface="宋体" panose="02010600030101010101" pitchFamily="2" charset="-122"/>
                    <a:cs typeface="宋体" panose="02010600030101010101" pitchFamily="2" charset="-122"/>
                  </a:rPr>
                  <a:t>dp</a:t>
                </a:r>
                <a:r>
                  <a:rPr lang="en-US" altLang="zh-CN" sz="2000" dirty="0">
                    <a:latin typeface="宋体" panose="02010600030101010101" pitchFamily="2" charset="-122"/>
                    <a:ea typeface="宋体" panose="02010600030101010101" pitchFamily="2" charset="-122"/>
                    <a:cs typeface="宋体" panose="02010600030101010101" pitchFamily="2" charset="-122"/>
                  </a:rPr>
                  <a:t>[i−1][j−1]+1</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zh-CN" altLang="en-US" sz="2000" dirty="0">
                    <a:latin typeface="宋体" panose="02010600030101010101" pitchFamily="2" charset="-122"/>
                    <a:ea typeface="宋体" panose="02010600030101010101" pitchFamily="2" charset="-122"/>
                    <a:cs typeface="宋体" panose="02010600030101010101" pitchFamily="2" charset="-122"/>
                  </a:rPr>
                  <a:t>否则 </a:t>
                </a:r>
                <a:r>
                  <a:rPr lang="en-US" altLang="zh-CN" sz="2000" dirty="0" err="1">
                    <a:latin typeface="宋体" panose="02010600030101010101" pitchFamily="2" charset="-122"/>
                    <a:ea typeface="宋体" panose="02010600030101010101" pitchFamily="2" charset="-122"/>
                    <a:cs typeface="宋体" panose="02010600030101010101" pitchFamily="2" charset="-122"/>
                  </a:rPr>
                  <a:t>dp</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err="1">
                    <a:latin typeface="宋体" panose="02010600030101010101" pitchFamily="2" charset="-122"/>
                    <a:ea typeface="宋体" panose="02010600030101010101" pitchFamily="2" charset="-122"/>
                    <a:cs typeface="宋体" panose="02010600030101010101" pitchFamily="2" charset="-122"/>
                  </a:rPr>
                  <a:t>i</a:t>
                </a:r>
                <a:r>
                  <a:rPr lang="en-US" altLang="zh-CN" sz="2000" dirty="0">
                    <a:latin typeface="宋体" panose="02010600030101010101" pitchFamily="2" charset="-122"/>
                    <a:ea typeface="宋体" panose="02010600030101010101" pitchFamily="2" charset="-122"/>
                    <a:cs typeface="宋体" panose="02010600030101010101" pitchFamily="2" charset="-122"/>
                  </a:rPr>
                  <a:t>][j]=max(</a:t>
                </a:r>
                <a:r>
                  <a:rPr lang="en-US" altLang="zh-CN" sz="2000" dirty="0" err="1">
                    <a:latin typeface="宋体" panose="02010600030101010101" pitchFamily="2" charset="-122"/>
                    <a:ea typeface="宋体" panose="02010600030101010101" pitchFamily="2" charset="-122"/>
                    <a:cs typeface="宋体" panose="02010600030101010101" pitchFamily="2" charset="-122"/>
                  </a:rPr>
                  <a:t>dp</a:t>
                </a:r>
                <a:r>
                  <a:rPr lang="en-US" altLang="zh-CN" sz="2000" dirty="0">
                    <a:latin typeface="宋体" panose="02010600030101010101" pitchFamily="2" charset="-122"/>
                    <a:ea typeface="宋体" panose="02010600030101010101" pitchFamily="2" charset="-122"/>
                    <a:cs typeface="宋体" panose="02010600030101010101" pitchFamily="2" charset="-122"/>
                  </a:rPr>
                  <a:t>[i−1][j],</a:t>
                </a:r>
                <a:r>
                  <a:rPr lang="en-US" altLang="zh-CN" sz="2000" dirty="0" err="1">
                    <a:latin typeface="宋体" panose="02010600030101010101" pitchFamily="2" charset="-122"/>
                    <a:ea typeface="宋体" panose="02010600030101010101" pitchFamily="2" charset="-122"/>
                    <a:cs typeface="宋体" panose="02010600030101010101" pitchFamily="2" charset="-122"/>
                  </a:rPr>
                  <a:t>dp</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err="1">
                    <a:latin typeface="宋体" panose="02010600030101010101" pitchFamily="2" charset="-122"/>
                    <a:ea typeface="宋体" panose="02010600030101010101" pitchFamily="2" charset="-122"/>
                    <a:cs typeface="宋体" panose="02010600030101010101" pitchFamily="2" charset="-122"/>
                  </a:rPr>
                  <a:t>i</a:t>
                </a:r>
                <a:r>
                  <a:rPr lang="en-US" altLang="zh-CN" sz="2000" dirty="0">
                    <a:latin typeface="宋体" panose="02010600030101010101" pitchFamily="2" charset="-122"/>
                    <a:ea typeface="宋体" panose="02010600030101010101" pitchFamily="2" charset="-122"/>
                    <a:cs typeface="宋体" panose="02010600030101010101" pitchFamily="2" charset="-122"/>
                  </a:rPr>
                  <a:t>][j−1])</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r>
                  <a:rPr lang="zh-CN" altLang="en-US" sz="2000" dirty="0">
                    <a:latin typeface="宋体" panose="02010600030101010101" pitchFamily="2" charset="-122"/>
                    <a:ea typeface="宋体" panose="02010600030101010101" pitchFamily="2" charset="-122"/>
                    <a:cs typeface="宋体" panose="02010600030101010101" pitchFamily="2" charset="-122"/>
                  </a:rPr>
                  <a:t>当两个字符不相等时，算法需要比较两个子问题的解（即 </a:t>
                </a:r>
                <a:r>
                  <a:rPr lang="en-US" altLang="zh-CN" sz="2000" dirty="0" err="1">
                    <a:latin typeface="宋体" panose="02010600030101010101" pitchFamily="2" charset="-122"/>
                    <a:ea typeface="宋体" panose="02010600030101010101" pitchFamily="2" charset="-122"/>
                    <a:cs typeface="宋体" panose="02010600030101010101" pitchFamily="2" charset="-122"/>
                  </a:rPr>
                  <a:t>dp</a:t>
                </a:r>
                <a:r>
                  <a:rPr lang="en-US" altLang="zh-CN" sz="2000" dirty="0">
                    <a:latin typeface="宋体" panose="02010600030101010101" pitchFamily="2" charset="-122"/>
                    <a:ea typeface="宋体" panose="02010600030101010101" pitchFamily="2" charset="-122"/>
                    <a:cs typeface="宋体" panose="02010600030101010101" pitchFamily="2" charset="-122"/>
                  </a:rPr>
                  <a:t>[i−1][j] </a:t>
                </a:r>
                <a:r>
                  <a:rPr lang="zh-CN" altLang="en-US" sz="2000" dirty="0">
                    <a:latin typeface="宋体" panose="02010600030101010101" pitchFamily="2" charset="-122"/>
                    <a:ea typeface="宋体" panose="02010600030101010101" pitchFamily="2" charset="-122"/>
                    <a:cs typeface="宋体" panose="02010600030101010101" pitchFamily="2" charset="-122"/>
                  </a:rPr>
                  <a:t>和 </a:t>
                </a:r>
                <a:r>
                  <a:rPr lang="en-US" altLang="zh-CN" sz="2000" dirty="0" err="1">
                    <a:latin typeface="宋体" panose="02010600030101010101" pitchFamily="2" charset="-122"/>
                    <a:ea typeface="宋体" panose="02010600030101010101" pitchFamily="2" charset="-122"/>
                    <a:cs typeface="宋体" panose="02010600030101010101" pitchFamily="2" charset="-122"/>
                  </a:rPr>
                  <a:t>dp</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err="1">
                    <a:latin typeface="宋体" panose="02010600030101010101" pitchFamily="2" charset="-122"/>
                    <a:ea typeface="宋体" panose="02010600030101010101" pitchFamily="2" charset="-122"/>
                    <a:cs typeface="宋体" panose="02010600030101010101" pitchFamily="2" charset="-122"/>
                  </a:rPr>
                  <a:t>i</a:t>
                </a:r>
                <a:r>
                  <a:rPr lang="en-US" altLang="zh-CN" sz="2000" dirty="0">
                    <a:latin typeface="宋体" panose="02010600030101010101" pitchFamily="2" charset="-122"/>
                    <a:ea typeface="宋体" panose="02010600030101010101" pitchFamily="2" charset="-122"/>
                    <a:cs typeface="宋体" panose="02010600030101010101" pitchFamily="2" charset="-122"/>
                  </a:rPr>
                  <a:t>][j−1]），</a:t>
                </a:r>
                <a:r>
                  <a:rPr lang="zh-CN" altLang="en-US" sz="2000" dirty="0">
                    <a:latin typeface="宋体" panose="02010600030101010101" pitchFamily="2" charset="-122"/>
                    <a:ea typeface="宋体" panose="02010600030101010101" pitchFamily="2" charset="-122"/>
                    <a:cs typeface="宋体" panose="02010600030101010101" pitchFamily="2" charset="-122"/>
                  </a:rPr>
                  <a:t>这两个值分别表示两个子序列的</a:t>
                </a:r>
                <a:r>
                  <a:rPr lang="en-US" altLang="zh-CN" sz="2000" dirty="0">
                    <a:latin typeface="宋体" panose="02010600030101010101" pitchFamily="2" charset="-122"/>
                    <a:ea typeface="宋体" panose="02010600030101010101" pitchFamily="2" charset="-122"/>
                    <a:cs typeface="宋体" panose="02010600030101010101" pitchFamily="2" charset="-122"/>
                  </a:rPr>
                  <a:t>LCS</a:t>
                </a:r>
                <a:r>
                  <a:rPr lang="zh-CN" altLang="en-US" sz="2000" dirty="0">
                    <a:latin typeface="宋体" panose="02010600030101010101" pitchFamily="2" charset="-122"/>
                    <a:ea typeface="宋体" panose="02010600030101010101" pitchFamily="2" charset="-122"/>
                    <a:cs typeface="宋体" panose="02010600030101010101" pitchFamily="2" charset="-122"/>
                  </a:rPr>
                  <a:t>长度。因此，算法核心是比较“子序列的长度”，从而决定取哪一个更大。</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565785" y="3107055"/>
                <a:ext cx="10627360" cy="326390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(7) 贪心算法基本要素</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150" y="1000125"/>
            <a:ext cx="10606405" cy="924560"/>
          </a:xfrm>
          <a:prstGeom prst="rect">
            <a:avLst/>
          </a:prstGeom>
        </p:spPr>
      </p:pic>
      <p:sp>
        <p:nvSpPr>
          <p:cNvPr id="8" name="文本框 7"/>
          <p:cNvSpPr txBox="1"/>
          <p:nvPr/>
        </p:nvSpPr>
        <p:spPr>
          <a:xfrm>
            <a:off x="565150" y="2391410"/>
            <a:ext cx="10627360" cy="3035935"/>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贪心算法需同时具备：</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cs typeface="宋体" panose="02010600030101010101" pitchFamily="2" charset="-122"/>
              </a:rPr>
              <a:t>最优子结构性质（问题的最优解包含子问题的最优解）</a:t>
            </a:r>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cs typeface="宋体" panose="02010600030101010101" pitchFamily="2" charset="-122"/>
              </a:rPr>
              <a:t>贪心选择性质（局部最优能导向全局最优）</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indent="0">
              <a:buFont typeface="Arial" panose="020B0604020202020204" pitchFamily="34" charse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indent="0">
              <a:buFont typeface="Arial" panose="020B0604020202020204" pitchFamily="34" charset="0"/>
              <a:buNone/>
            </a:pPr>
            <a:r>
              <a:rPr lang="zh-CN" altLang="en-US" sz="2000">
                <a:latin typeface="宋体" panose="02010600030101010101" pitchFamily="2" charset="-122"/>
                <a:ea typeface="宋体" panose="02010600030101010101" pitchFamily="2" charset="-122"/>
                <a:cs typeface="宋体" panose="02010600030101010101" pitchFamily="2" charset="-122"/>
              </a:rPr>
              <a:t>重叠子问题是动态规划的特征，故排除</a:t>
            </a:r>
            <a:r>
              <a:rPr lang="en-US" altLang="zh-CN" sz="2000">
                <a:latin typeface="宋体" panose="02010600030101010101" pitchFamily="2" charset="-122"/>
                <a:ea typeface="宋体" panose="02010600030101010101" pitchFamily="2" charset="-122"/>
                <a:cs typeface="宋体" panose="02010600030101010101" pitchFamily="2" charset="-122"/>
              </a:rPr>
              <a:t>B、C、D。</a:t>
            </a:r>
            <a:endParaRPr lang="en-US" altLang="zh-CN"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77500" lnSpcReduction="1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(8) 回溯法效率影响因素</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785" y="1000125"/>
            <a:ext cx="10686415" cy="1424940"/>
          </a:xfrm>
          <a:prstGeom prst="rect">
            <a:avLst/>
          </a:prstGeom>
        </p:spPr>
      </p:pic>
      <p:sp>
        <p:nvSpPr>
          <p:cNvPr id="8" name="文本框 7"/>
          <p:cNvSpPr txBox="1"/>
          <p:nvPr/>
        </p:nvSpPr>
        <p:spPr>
          <a:xfrm>
            <a:off x="565150" y="2935605"/>
            <a:ext cx="10627360" cy="3530600"/>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B</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回溯法效率主要取决于：</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cs typeface="宋体" panose="02010600030101010101" pitchFamily="2" charset="-122"/>
              </a:rPr>
              <a:t>生成 </a:t>
            </a:r>
            <a:r>
              <a:rPr lang="en-US" altLang="zh-CN" sz="2000">
                <a:latin typeface="宋体" panose="02010600030101010101" pitchFamily="2" charset="-122"/>
                <a:ea typeface="宋体" panose="02010600030101010101" pitchFamily="2" charset="-122"/>
                <a:cs typeface="宋体" panose="02010600030101010101" pitchFamily="2" charset="-122"/>
              </a:rPr>
              <a:t>x[k] </a:t>
            </a:r>
            <a:r>
              <a:rPr lang="zh-CN" altLang="en-US" sz="2000">
                <a:latin typeface="宋体" panose="02010600030101010101" pitchFamily="2" charset="-122"/>
                <a:ea typeface="宋体" panose="02010600030101010101" pitchFamily="2" charset="-122"/>
                <a:cs typeface="宋体" panose="02010600030101010101" pitchFamily="2" charset="-122"/>
              </a:rPr>
              <a:t>的时间（</a:t>
            </a:r>
            <a:r>
              <a:rPr lang="en-US" altLang="zh-CN" sz="2000">
                <a:latin typeface="宋体" panose="02010600030101010101" pitchFamily="2" charset="-122"/>
                <a:ea typeface="宋体" panose="02010600030101010101" pitchFamily="2" charset="-122"/>
                <a:cs typeface="宋体" panose="02010600030101010101" pitchFamily="2" charset="-122"/>
              </a:rPr>
              <a:t>A）</a:t>
            </a:r>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cs typeface="宋体" panose="02010600030101010101" pitchFamily="2" charset="-122"/>
              </a:rPr>
              <a:t>约束函数和上界函数的计算时间（</a:t>
            </a:r>
            <a:r>
              <a:rPr lang="en-US" altLang="zh-CN" sz="2000">
                <a:latin typeface="宋体" panose="02010600030101010101" pitchFamily="2" charset="-122"/>
                <a:ea typeface="宋体" panose="02010600030101010101" pitchFamily="2" charset="-122"/>
                <a:cs typeface="宋体" panose="02010600030101010101" pitchFamily="2" charset="-122"/>
              </a:rPr>
              <a:t>C）</a:t>
            </a:r>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cs typeface="宋体" panose="02010600030101010101" pitchFamily="2" charset="-122"/>
              </a:rPr>
              <a:t>满足约束的节点个数（</a:t>
            </a:r>
            <a:r>
              <a:rPr lang="en-US" altLang="zh-CN" sz="2000">
                <a:latin typeface="宋体" panose="02010600030101010101" pitchFamily="2" charset="-122"/>
                <a:ea typeface="宋体" panose="02010600030101010101" pitchFamily="2" charset="-122"/>
                <a:cs typeface="宋体" panose="02010600030101010101" pitchFamily="2" charset="-122"/>
              </a:rPr>
              <a:t>D）</a:t>
            </a:r>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而问题的解空间形式（如排列树、子集树）是固定的算法框架，不是影响效率的可变因素，故选</a:t>
            </a:r>
            <a:r>
              <a:rPr lang="en-US" altLang="zh-CN" sz="2000">
                <a:latin typeface="宋体" panose="02010600030101010101" pitchFamily="2" charset="-122"/>
                <a:ea typeface="宋体" panose="02010600030101010101" pitchFamily="2" charset="-122"/>
                <a:cs typeface="宋体" panose="02010600030101010101" pitchFamily="2" charset="-122"/>
              </a:rPr>
              <a:t>B。</a:t>
            </a:r>
            <a:endParaRPr lang="en-US" altLang="zh-CN"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77500" lnSpcReduction="1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(9) 拉斯维加斯算法特点</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150" y="1000125"/>
            <a:ext cx="10574020" cy="1432560"/>
          </a:xfrm>
          <a:prstGeom prst="rect">
            <a:avLst/>
          </a:prstGeom>
        </p:spPr>
      </p:pic>
      <p:sp>
        <p:nvSpPr>
          <p:cNvPr id="8" name="文本框 7"/>
          <p:cNvSpPr txBox="1"/>
          <p:nvPr/>
        </p:nvSpPr>
        <p:spPr>
          <a:xfrm>
            <a:off x="565150" y="2935605"/>
            <a:ext cx="10627360" cy="3035935"/>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拉斯维加斯算法：总是给出正确解，但运行时间是随机的（不确定）。</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蒙特卡罗算法：运行时间确定，但可能给出错误解（有一定概率）。</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77500" lnSpcReduction="1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en-US" altLang="zh-CN" sz="3600" b="1">
                <a:solidFill>
                  <a:srgbClr val="274FA2"/>
                </a:solidFill>
                <a:latin typeface="微软雅黑" panose="020B0503020204020204" charset="-122"/>
                <a:ea typeface="微软雅黑" panose="020B0503020204020204" charset="-122"/>
                <a:sym typeface="+mn-ea"/>
              </a:rPr>
              <a:t>(10) 随机化快排随机基准的作用</a:t>
            </a:r>
            <a:endParaRPr lang="zh-CN" altLang="zh-CN" sz="3600" b="1">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65785" y="1000125"/>
            <a:ext cx="10611485" cy="1435100"/>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565150" y="2935605"/>
                <a:ext cx="10627360" cy="3035935"/>
              </a:xfrm>
              <a:prstGeom prst="rect">
                <a:avLst/>
              </a:prstGeom>
              <a:noFill/>
            </p:spPr>
            <p:txBody>
              <a:bodyPr wrap="square" rtlCol="0">
                <a:noAutofit/>
              </a:bodyPr>
              <a:lstStyle/>
              <a:p>
                <a:r>
                  <a:rPr lang="zh-CN" altLang="en-US" sz="2000">
                    <a:latin typeface="宋体" panose="02010600030101010101" pitchFamily="2" charset="-122"/>
                    <a:ea typeface="宋体" panose="02010600030101010101" pitchFamily="2" charset="-122"/>
                    <a:cs typeface="宋体" panose="02010600030101010101" pitchFamily="2" charset="-122"/>
                    <a:sym typeface="+mn-ea"/>
                  </a:rPr>
                  <a:t>答案：</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B</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解析：</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随机化快速排序中，随机选择基准元素可避免最坏情况（如已有序或逆序），使算法在最坏情况下的时间复杂度期望降至 </a:t>
                </a:r>
                <a:r>
                  <a:rPr lang="en-US" altLang="zh-CN" sz="2000">
                    <a:latin typeface="宋体" panose="02010600030101010101" pitchFamily="2" charset="-122"/>
                    <a:ea typeface="宋体" panose="02010600030101010101" pitchFamily="2" charset="-122"/>
                    <a:cs typeface="宋体" panose="02010600030101010101" pitchFamily="2" charset="-122"/>
                  </a:rPr>
                  <a:t>O(</a:t>
                </a:r>
                <a14:m>
                  <m:oMath xmlns:m="http://schemas.openxmlformats.org/officeDocument/2006/math">
                    <m:func>
                      <m:func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uncPr>
                      <m:fName>
                        <m:r>
                          <m:rPr>
                            <m:sty m:val="p"/>
                          </m:rPr>
                          <a:rPr lang="en-US" altLang="zh-CN" sz="2000">
                            <a:latin typeface="Cambria Math" panose="02040503050406030204" pitchFamily="18" charset="0"/>
                            <a:ea typeface="宋体" panose="02010600030101010101" pitchFamily="2" charset="-122"/>
                            <a:cs typeface="Cambria Math" panose="02040503050406030204" pitchFamily="18" charset="0"/>
                          </a:rPr>
                          <m:t>nlog</m:t>
                        </m:r>
                      </m:fName>
                      <m:e>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e>
                    </m:func>
                  </m:oMath>
                </a14:m>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而不是改变空间复杂度或稳定性。</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565150" y="2935605"/>
                <a:ext cx="10627360" cy="303593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581169" y="1173979"/>
            <a:ext cx="9029701" cy="2036447"/>
            <a:chOff x="1588525" y="1245110"/>
            <a:chExt cx="6071296" cy="1109381"/>
          </a:xfrm>
        </p:grpSpPr>
        <p:sp>
          <p:nvSpPr>
            <p:cNvPr id="3" name="Text Placeholder 4"/>
            <p:cNvSpPr txBox="1">
              <a:spLocks noChangeArrowheads="1"/>
            </p:cNvSpPr>
            <p:nvPr/>
          </p:nvSpPr>
          <p:spPr bwMode="auto">
            <a:xfrm>
              <a:off x="1592795" y="1245110"/>
              <a:ext cx="6067026" cy="647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一、分治算法三个步骤 + 归并排序示例</a:t>
              </a:r>
              <a:endParaRPr lang="zh-CN" altLang="en-US" b="1" dirty="0">
                <a:solidFill>
                  <a:srgbClr val="C00000"/>
                </a:solidFill>
                <a:latin typeface="微软雅黑" panose="020B0503020204020204" charset="-122"/>
                <a:ea typeface="微软雅黑" panose="020B0503020204020204" charset="-122"/>
              </a:endParaRPr>
            </a:p>
          </p:txBody>
        </p:sp>
        <p:sp>
          <p:nvSpPr>
            <p:cNvPr id="11" name="Text Placeholder 4"/>
            <p:cNvSpPr txBox="1">
              <a:spLocks noChangeArrowheads="1"/>
            </p:cNvSpPr>
            <p:nvPr/>
          </p:nvSpPr>
          <p:spPr bwMode="auto">
            <a:xfrm>
              <a:off x="1588525" y="1787521"/>
              <a:ext cx="4910833" cy="566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二、</a:t>
              </a:r>
              <a:r>
                <a:rPr lang="zh-CN" altLang="en-US" b="1" dirty="0">
                  <a:solidFill>
                    <a:srgbClr val="C00000"/>
                  </a:solidFill>
                  <a:latin typeface="微软雅黑" panose="020B0503020204020204" charset="-122"/>
                  <a:ea typeface="微软雅黑" panose="020B0503020204020204" charset="-122"/>
                  <a:sym typeface="+mn-ea"/>
                </a:rPr>
                <a:t>随机化快速排序</a:t>
              </a:r>
              <a:endParaRPr lang="zh-CN" altLang="en-US" b="1" dirty="0">
                <a:solidFill>
                  <a:srgbClr val="C00000"/>
                </a:solidFill>
                <a:latin typeface="微软雅黑" panose="020B0503020204020204" charset="-122"/>
                <a:ea typeface="微软雅黑" panose="020B0503020204020204" charset="-122"/>
                <a:sym typeface="+mn-ea"/>
              </a:endParaRPr>
            </a:p>
          </p:txBody>
        </p:sp>
      </p:grpSp>
      <p:sp>
        <p:nvSpPr>
          <p:cNvPr id="2" name="Text Placeholder 4"/>
          <p:cNvSpPr txBox="1">
            <a:spLocks noChangeArrowheads="1"/>
          </p:cNvSpPr>
          <p:nvPr/>
        </p:nvSpPr>
        <p:spPr bwMode="auto">
          <a:xfrm>
            <a:off x="2415560" y="3765691"/>
            <a:ext cx="6126741" cy="1189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endParaRPr lang="zh-CN" altLang="en-US" b="1" dirty="0">
              <a:solidFill>
                <a:schemeClr val="bg1">
                  <a:lumMod val="65000"/>
                </a:schemeClr>
              </a:solidFill>
              <a:latin typeface="微软雅黑" panose="020B0503020204020204" charset="-122"/>
              <a:ea typeface="微软雅黑" panose="020B0503020204020204" charset="-122"/>
            </a:endParaRPr>
          </a:p>
        </p:txBody>
      </p:sp>
      <p:sp>
        <p:nvSpPr>
          <p:cNvPr id="5" name="文本框 4"/>
          <p:cNvSpPr txBox="1"/>
          <p:nvPr>
            <p:custDataLst>
              <p:tags r:id="rId1"/>
            </p:custDataLst>
          </p:nvPr>
        </p:nvSpPr>
        <p:spPr>
          <a:xfrm>
            <a:off x="535305" y="116840"/>
            <a:ext cx="5985510" cy="645160"/>
          </a:xfrm>
          <a:prstGeom prst="rect">
            <a:avLst/>
          </a:prstGeom>
          <a:noFill/>
        </p:spPr>
        <p:txBody>
          <a:bodyPr wrap="square" rtlCol="0">
            <a:spAutoFit/>
          </a:bodyPr>
          <a:lstStyle/>
          <a:p>
            <a:r>
              <a:rPr lang="en-US" altLang="zh-CN" sz="3600" b="1" dirty="0">
                <a:solidFill>
                  <a:srgbClr val="274FA2"/>
                </a:solidFill>
                <a:latin typeface="微软雅黑" panose="020B0503020204020204" charset="-122"/>
                <a:ea typeface="微软雅黑" panose="020B0503020204020204" charset="-122"/>
                <a:cs typeface="+mj-cs"/>
              </a:rPr>
              <a:t>Outline——</a:t>
            </a:r>
            <a:r>
              <a:rPr lang="zh-CN" altLang="en-US" sz="3600" b="1" dirty="0">
                <a:solidFill>
                  <a:srgbClr val="274FA2"/>
                </a:solidFill>
                <a:latin typeface="微软雅黑" panose="020B0503020204020204" charset="-122"/>
                <a:ea typeface="微软雅黑" panose="020B0503020204020204" charset="-122"/>
                <a:cs typeface="+mj-cs"/>
              </a:rPr>
              <a:t>简答题</a:t>
            </a:r>
            <a:endParaRPr lang="zh-CN" altLang="en-US" sz="3600" b="1" dirty="0">
              <a:solidFill>
                <a:srgbClr val="274FA2"/>
              </a:solidFill>
              <a:latin typeface="微软雅黑" panose="020B0503020204020204" charset="-122"/>
              <a:ea typeface="微软雅黑" panose="020B0503020204020204" charset="-122"/>
              <a:cs typeface="+mj-cs"/>
            </a:endParaRPr>
          </a:p>
        </p:txBody>
      </p:sp>
      <p:sp>
        <p:nvSpPr>
          <p:cNvPr id="4" name="Text Placeholder 4"/>
          <p:cNvSpPr txBox="1">
            <a:spLocks noChangeArrowheads="1"/>
          </p:cNvSpPr>
          <p:nvPr/>
        </p:nvSpPr>
        <p:spPr bwMode="auto">
          <a:xfrm>
            <a:off x="1581150" y="3032760"/>
            <a:ext cx="8150225"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三、队列式与优先队列式分支限界法区别</a:t>
            </a:r>
            <a:endParaRPr lang="zh-CN" altLang="en-US" b="1" dirty="0">
              <a:solidFill>
                <a:schemeClr val="bg1">
                  <a:lumMod val="65000"/>
                </a:schemeClr>
              </a:solidFill>
              <a:latin typeface="微软雅黑" panose="020B0503020204020204" charset="-122"/>
              <a:ea typeface="微软雅黑" panose="020B0503020204020204" charset="-122"/>
            </a:endParaRPr>
          </a:p>
        </p:txBody>
      </p:sp>
      <p:sp>
        <p:nvSpPr>
          <p:cNvPr id="6" name="Text Placeholder 4"/>
          <p:cNvSpPr txBox="1">
            <a:spLocks noChangeArrowheads="1"/>
          </p:cNvSpPr>
          <p:nvPr/>
        </p:nvSpPr>
        <p:spPr bwMode="auto">
          <a:xfrm>
            <a:off x="1581150" y="3914775"/>
            <a:ext cx="949198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四、随机化算法思想；拉斯维加斯 </a:t>
            </a:r>
            <a:r>
              <a:rPr lang="en-US" altLang="zh-CN" b="1" dirty="0">
                <a:solidFill>
                  <a:srgbClr val="C00000"/>
                </a:solidFill>
                <a:latin typeface="微软雅黑" panose="020B0503020204020204" charset="-122"/>
                <a:ea typeface="微软雅黑" panose="020B0503020204020204" charset="-122"/>
              </a:rPr>
              <a:t>vs </a:t>
            </a:r>
            <a:r>
              <a:rPr lang="zh-CN" altLang="en-US" b="1" dirty="0">
                <a:solidFill>
                  <a:srgbClr val="C00000"/>
                </a:solidFill>
                <a:latin typeface="微软雅黑" panose="020B0503020204020204" charset="-122"/>
                <a:ea typeface="微软雅黑" panose="020B0503020204020204" charset="-122"/>
              </a:rPr>
              <a:t>蒙特卡罗</a:t>
            </a:r>
            <a:endParaRPr lang="zh-CN" altLang="en-US" b="1" dirty="0">
              <a:solidFill>
                <a:srgbClr val="C00000"/>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zh-CN" altLang="en-US" sz="3600" b="1" dirty="0">
                <a:solidFill>
                  <a:srgbClr val="274FA2"/>
                </a:solidFill>
                <a:latin typeface="微软雅黑" panose="020B0503020204020204" charset="-122"/>
                <a:ea typeface="微软雅黑" panose="020B0503020204020204" charset="-122"/>
                <a:sym typeface="+mn-ea"/>
              </a:rPr>
              <a:t>一</a:t>
            </a:r>
            <a:r>
              <a:rPr lang="zh-CN" altLang="zh-CN" sz="3600" b="1" dirty="0">
                <a:solidFill>
                  <a:srgbClr val="274FA2"/>
                </a:solidFill>
                <a:latin typeface="微软雅黑" panose="020B0503020204020204" charset="-122"/>
                <a:ea typeface="微软雅黑" panose="020B0503020204020204" charset="-122"/>
                <a:sym typeface="+mn-ea"/>
              </a:rPr>
              <a:t>、</a:t>
            </a:r>
            <a:r>
              <a:rPr lang="zh-CN" altLang="en-US" sz="3600" b="1" dirty="0">
                <a:solidFill>
                  <a:srgbClr val="274FA2"/>
                </a:solidFill>
                <a:latin typeface="微软雅黑" panose="020B0503020204020204" charset="-122"/>
                <a:ea typeface="微软雅黑" panose="020B0503020204020204" charset="-122"/>
              </a:rPr>
              <a:t>分治算法三个步骤 + 归并排序示例</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6" name="文本框 5"/>
          <p:cNvSpPr txBox="1"/>
          <p:nvPr/>
        </p:nvSpPr>
        <p:spPr>
          <a:xfrm>
            <a:off x="565785" y="1000125"/>
            <a:ext cx="10626725" cy="4708981"/>
          </a:xfrm>
          <a:prstGeom prst="rect">
            <a:avLst/>
          </a:prstGeom>
          <a:noFill/>
        </p:spPr>
        <p:txBody>
          <a:bodyPr wrap="square" rtlCol="0">
            <a:spAutoFit/>
          </a:bodyPr>
          <a:lstStyle/>
          <a:p>
            <a:r>
              <a:rPr lang="zh-CN" altLang="en-US" sz="2000">
                <a:latin typeface="宋体" panose="02010600030101010101" pitchFamily="2" charset="-122"/>
                <a:ea typeface="宋体" panose="02010600030101010101" pitchFamily="2" charset="-122"/>
                <a:cs typeface="宋体" panose="02010600030101010101" pitchFamily="2" charset="-122"/>
              </a:rPr>
              <a:t>题目</a:t>
            </a:r>
            <a:r>
              <a:rPr lang="en-US" altLang="zh-CN" sz="2000">
                <a:latin typeface="宋体" panose="02010600030101010101" pitchFamily="2" charset="-122"/>
                <a:ea typeface="宋体" panose="02010600030101010101" pitchFamily="2" charset="-122"/>
                <a:cs typeface="宋体" panose="02010600030101010101" pitchFamily="2" charset="-122"/>
              </a:rPr>
              <a:t>1</a:t>
            </a:r>
            <a:r>
              <a:rPr lang="zh-CN" altLang="en-US" sz="2000">
                <a:latin typeface="宋体" panose="02010600030101010101" pitchFamily="2" charset="-122"/>
                <a:ea typeface="宋体" panose="02010600030101010101" pitchFamily="2" charset="-122"/>
                <a:cs typeface="宋体" panose="02010600030101010101" pitchFamily="2" charset="-122"/>
              </a:rPr>
              <a:t>：请简述分治算法的三个基本步骤，并以归并排序为例说明如何应用该思想。</a:t>
            </a:r>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答案：</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三个基本步骤（</a:t>
            </a:r>
            <a:r>
              <a:rPr lang="en-US" altLang="zh-CN" sz="2000">
                <a:latin typeface="宋体" panose="02010600030101010101" pitchFamily="2" charset="-122"/>
                <a:ea typeface="宋体" panose="02010600030101010101" pitchFamily="2" charset="-122"/>
                <a:cs typeface="宋体" panose="02010600030101010101" pitchFamily="2" charset="-122"/>
              </a:rPr>
              <a:t>3</a:t>
            </a:r>
            <a:r>
              <a:rPr lang="zh-CN" altLang="en-US" sz="2000">
                <a:latin typeface="宋体" panose="02010600030101010101" pitchFamily="2" charset="-122"/>
                <a:ea typeface="宋体" panose="02010600030101010101" pitchFamily="2" charset="-122"/>
                <a:cs typeface="宋体" panose="02010600030101010101" pitchFamily="2" charset="-122"/>
              </a:rPr>
              <a:t>分）</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① 分解：将原问题划分为若干子问题；</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② 解决：递归求解子问题；</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③ 合并：将子问题的解合并为原问题的解</a:t>
            </a:r>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以归并排序为例（</a:t>
            </a:r>
            <a:r>
              <a:rPr lang="en-US" altLang="zh-CN" sz="2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分）：</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① 将数组分成两半；</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② 对子数组排序；</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③ 合并两个有序子数组。</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zh-CN" altLang="en-US" sz="3600" b="1" dirty="0">
                <a:solidFill>
                  <a:srgbClr val="274FA2"/>
                </a:solidFill>
                <a:latin typeface="微软雅黑" panose="020B0503020204020204" charset="-122"/>
                <a:ea typeface="微软雅黑" panose="020B0503020204020204" charset="-122"/>
                <a:sym typeface="+mn-ea"/>
              </a:rPr>
              <a:t>二</a:t>
            </a:r>
            <a:r>
              <a:rPr lang="zh-CN" altLang="zh-CN" sz="3600" b="1" dirty="0">
                <a:solidFill>
                  <a:srgbClr val="274FA2"/>
                </a:solidFill>
                <a:latin typeface="微软雅黑" panose="020B0503020204020204" charset="-122"/>
                <a:ea typeface="微软雅黑" panose="020B0503020204020204" charset="-122"/>
                <a:sym typeface="+mn-ea"/>
              </a:rPr>
              <a:t>、</a:t>
            </a:r>
            <a:r>
              <a:rPr lang="zh-CN" altLang="en-US" sz="3600" b="1" dirty="0">
                <a:solidFill>
                  <a:srgbClr val="274FA2"/>
                </a:solidFill>
                <a:latin typeface="微软雅黑" panose="020B0503020204020204" charset="-122"/>
                <a:ea typeface="微软雅黑" panose="020B0503020204020204" charset="-122"/>
                <a:sym typeface="+mn-ea"/>
              </a:rPr>
              <a:t>随机化快速排序</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6" name="文本框 5"/>
          <p:cNvSpPr txBox="1"/>
          <p:nvPr/>
        </p:nvSpPr>
        <p:spPr>
          <a:xfrm>
            <a:off x="565785" y="861172"/>
            <a:ext cx="10626725" cy="5940088"/>
          </a:xfrm>
          <a:prstGeom prst="rect">
            <a:avLst/>
          </a:prstGeom>
          <a:noFill/>
        </p:spPr>
        <p:txBody>
          <a:bodyPr wrap="square" rtlCol="0">
            <a:spAutoFit/>
          </a:bodyPr>
          <a:lstStyle/>
          <a:p>
            <a:r>
              <a:rPr lang="zh-CN" altLang="en-US" sz="2000">
                <a:latin typeface="宋体" panose="02010600030101010101" pitchFamily="2" charset="-122"/>
                <a:ea typeface="宋体" panose="02010600030101010101" pitchFamily="2" charset="-122"/>
                <a:cs typeface="宋体" panose="02010600030101010101" pitchFamily="2" charset="-122"/>
              </a:rPr>
              <a:t>题目</a:t>
            </a:r>
            <a:r>
              <a:rPr lang="en-US" altLang="zh-CN" sz="2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：在随机化快速排序中，为什么随机选择基准能提高算法的平均性能？结合时间复杂度的分析进行说明。</a:t>
            </a:r>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答案：</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避免最坏情况（</a:t>
            </a:r>
            <a:r>
              <a:rPr lang="en-US" altLang="zh-CN" sz="2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分）：</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如果总是固定选择第一个或最后一个元素作为基准，</a:t>
            </a:r>
            <a:endParaRPr lang="en-US" altLang="zh-CN"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当输入数组已经有序或接近有序时，时间复杂度</a:t>
            </a:r>
            <a:endParaRPr lang="en-US" altLang="zh-CN"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递归式为</a:t>
            </a:r>
            <a:r>
              <a:rPr lang="en-US" altLang="zh-CN" sz="2000">
                <a:latin typeface="宋体" panose="02010600030101010101" pitchFamily="2" charset="-122"/>
                <a:ea typeface="宋体" panose="02010600030101010101" pitchFamily="2" charset="-122"/>
                <a:cs typeface="宋体" panose="02010600030101010101" pitchFamily="2" charset="-122"/>
              </a:rPr>
              <a:t>T(n)=T(n-1)+O(n)</a:t>
            </a:r>
            <a:r>
              <a:rPr lang="zh-CN" altLang="en-US" sz="2000">
                <a:latin typeface="宋体" panose="02010600030101010101" pitchFamily="2" charset="-122"/>
                <a:ea typeface="宋体" panose="02010600030101010101" pitchFamily="2" charset="-122"/>
                <a:cs typeface="宋体" panose="02010600030101010101" pitchFamily="2" charset="-122"/>
              </a:rPr>
              <a:t>，时间复杂度为</a:t>
            </a:r>
            <a:r>
              <a:rPr lang="en-US" altLang="zh-CN" sz="2000">
                <a:latin typeface="宋体" panose="02010600030101010101" pitchFamily="2" charset="-122"/>
                <a:ea typeface="宋体" panose="02010600030101010101" pitchFamily="2" charset="-122"/>
                <a:cs typeface="宋体" panose="02010600030101010101" pitchFamily="2" charset="-122"/>
              </a:rPr>
              <a:t>O(n^2)</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en-US" altLang="zh-CN"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而随机选择基准使得算法在绝大多数情况下能均匀</a:t>
            </a:r>
            <a:endParaRPr lang="en-US" altLang="zh-CN"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划分数组，降低出现最坏情况的概率。</a:t>
            </a:r>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en-US" altLang="zh-CN"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期望时间复杂度分析（</a:t>
            </a:r>
            <a:r>
              <a:rPr lang="en-US" altLang="zh-CN" sz="2000">
                <a:latin typeface="宋体" panose="02010600030101010101" pitchFamily="2" charset="-122"/>
                <a:ea typeface="宋体" panose="02010600030101010101" pitchFamily="2" charset="-122"/>
                <a:cs typeface="宋体" panose="02010600030101010101" pitchFamily="2" charset="-122"/>
              </a:rPr>
              <a:t>3</a:t>
            </a:r>
            <a:r>
              <a:rPr lang="zh-CN" altLang="en-US" sz="2000">
                <a:latin typeface="宋体" panose="02010600030101010101" pitchFamily="2" charset="-122"/>
                <a:ea typeface="宋体" panose="02010600030101010101" pitchFamily="2" charset="-122"/>
                <a:cs typeface="宋体" panose="02010600030101010101" pitchFamily="2" charset="-122"/>
              </a:rPr>
              <a:t>分）：</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每次随机选择基准，划分后的左右子数组的期望大小接近平衡，时间复杂度递归式为</a:t>
            </a:r>
            <a:r>
              <a:rPr lang="en-US" altLang="zh-CN" sz="2000">
                <a:latin typeface="宋体" panose="02010600030101010101" pitchFamily="2" charset="-122"/>
                <a:ea typeface="宋体" panose="02010600030101010101" pitchFamily="2" charset="-122"/>
                <a:cs typeface="宋体" panose="02010600030101010101" pitchFamily="2" charset="-122"/>
              </a:rPr>
              <a:t>T(n)=2T(n/2)+O(n)</a:t>
            </a:r>
            <a:r>
              <a:rPr lang="zh-CN" altLang="en-US" sz="2000">
                <a:latin typeface="宋体" panose="02010600030101010101" pitchFamily="2" charset="-122"/>
                <a:ea typeface="宋体" panose="02010600030101010101" pitchFamily="2" charset="-122"/>
                <a:cs typeface="宋体" panose="02010600030101010101" pitchFamily="2" charset="-122"/>
              </a:rPr>
              <a:t>，时间复杂度为</a:t>
            </a:r>
            <a:r>
              <a:rPr lang="en-US" altLang="zh-CN" sz="2000">
                <a:latin typeface="宋体" panose="02010600030101010101" pitchFamily="2" charset="-122"/>
                <a:ea typeface="宋体" panose="02010600030101010101" pitchFamily="2" charset="-122"/>
                <a:cs typeface="宋体" panose="02010600030101010101" pitchFamily="2" charset="-122"/>
              </a:rPr>
              <a:t>O(nlog⁡n)</a:t>
            </a:r>
            <a:r>
              <a:rPr lang="zh-CN" altLang="en-US" sz="2000">
                <a:latin typeface="宋体" panose="02010600030101010101" pitchFamily="2" charset="-122"/>
                <a:ea typeface="宋体" panose="02010600030101010101" pitchFamily="2" charset="-122"/>
                <a:cs typeface="宋体" panose="02010600030101010101" pitchFamily="2" charset="-122"/>
              </a:rPr>
              <a:t>。相较于固定基准的最坏</a:t>
            </a:r>
            <a:r>
              <a:rPr lang="en-US" altLang="zh-CN" sz="2000">
                <a:latin typeface="宋体" panose="02010600030101010101" pitchFamily="2" charset="-122"/>
                <a:ea typeface="宋体" panose="02010600030101010101" pitchFamily="2" charset="-122"/>
                <a:cs typeface="宋体" panose="02010600030101010101" pitchFamily="2" charset="-122"/>
              </a:rPr>
              <a:t>O(n2)</a:t>
            </a:r>
            <a:r>
              <a:rPr lang="zh-CN" altLang="en-US" sz="2000">
                <a:latin typeface="宋体" panose="02010600030101010101" pitchFamily="2" charset="-122"/>
                <a:ea typeface="宋体" panose="02010600030101010101" pitchFamily="2" charset="-122"/>
                <a:cs typeface="宋体" panose="02010600030101010101" pitchFamily="2" charset="-122"/>
              </a:rPr>
              <a:t>，随机化版本的平均性能更优。</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6621057" y="2074839"/>
            <a:ext cx="4685511" cy="3323431"/>
          </a:xfrm>
          <a:prstGeom prst="rect">
            <a:avLst/>
          </a:prstGeom>
        </p:spPr>
      </p:pic>
      <p:sp>
        <p:nvSpPr>
          <p:cNvPr id="8" name="文本框 7"/>
          <p:cNvSpPr txBox="1"/>
          <p:nvPr/>
        </p:nvSpPr>
        <p:spPr>
          <a:xfrm>
            <a:off x="6010425" y="1267781"/>
            <a:ext cx="6109446" cy="707886"/>
          </a:xfrm>
          <a:prstGeom prst="rect">
            <a:avLst/>
          </a:prstGeom>
          <a:noFill/>
        </p:spPr>
        <p:txBody>
          <a:bodyPr wrap="square">
            <a:spAutoFit/>
          </a:bodyPr>
          <a:lstStyle/>
          <a:p>
            <a:r>
              <a:rPr lang="zh-CN" altLang="en-US" sz="2000">
                <a:solidFill>
                  <a:srgbClr val="FF0000"/>
                </a:solidFill>
                <a:latin typeface="宋体" panose="02010600030101010101" pitchFamily="2" charset="-122"/>
                <a:ea typeface="宋体" panose="02010600030101010101" pitchFamily="2" charset="-122"/>
              </a:rPr>
              <a:t>每一次划分只将问题规模减少</a:t>
            </a:r>
            <a:r>
              <a:rPr lang="en-US" altLang="zh-CN" sz="2000">
                <a:solidFill>
                  <a:srgbClr val="FF0000"/>
                </a:solidFill>
                <a:latin typeface="宋体" panose="02010600030101010101" pitchFamily="2" charset="-122"/>
                <a:ea typeface="宋体" panose="02010600030101010101" pitchFamily="2" charset="-122"/>
              </a:rPr>
              <a:t>1</a:t>
            </a:r>
            <a:r>
              <a:rPr lang="zh-CN" altLang="en-US" sz="2000">
                <a:solidFill>
                  <a:srgbClr val="FF0000"/>
                </a:solidFill>
                <a:latin typeface="宋体" panose="02010600030101010101" pitchFamily="2" charset="-122"/>
                <a:ea typeface="宋体" panose="02010600030101010101" pitchFamily="2" charset="-122"/>
              </a:rPr>
              <a:t>，树的深度变成了</a:t>
            </a:r>
            <a:r>
              <a:rPr lang="en-US" altLang="zh-CN" sz="2000">
                <a:solidFill>
                  <a:srgbClr val="FF0000"/>
                </a:solidFill>
                <a:latin typeface="宋体" panose="02010600030101010101" pitchFamily="2" charset="-122"/>
                <a:ea typeface="宋体" panose="02010600030101010101" pitchFamily="2" charset="-122"/>
              </a:rPr>
              <a:t>n</a:t>
            </a:r>
            <a:r>
              <a:rPr lang="zh-CN" altLang="en-US" sz="2000">
                <a:solidFill>
                  <a:srgbClr val="FF0000"/>
                </a:solidFill>
                <a:latin typeface="宋体" panose="02010600030101010101" pitchFamily="2" charset="-122"/>
                <a:ea typeface="宋体" panose="02010600030101010101" pitchFamily="2" charset="-122"/>
              </a:rPr>
              <a:t>，而每层总划分代价 </a:t>
            </a:r>
            <a:r>
              <a:rPr lang="en-US" altLang="zh-CN" sz="2000">
                <a:solidFill>
                  <a:srgbClr val="FF0000"/>
                </a:solidFill>
                <a:latin typeface="宋体" panose="02010600030101010101" pitchFamily="2" charset="-122"/>
                <a:ea typeface="宋体" panose="02010600030101010101" pitchFamily="2" charset="-122"/>
              </a:rPr>
              <a:t>O(n)</a:t>
            </a:r>
            <a:r>
              <a:rPr lang="zh-CN" altLang="en-US" sz="2000">
                <a:solidFill>
                  <a:srgbClr val="FF0000"/>
                </a:solidFill>
                <a:latin typeface="宋体" panose="02010600030101010101" pitchFamily="2" charset="-122"/>
                <a:ea typeface="宋体" panose="02010600030101010101" pitchFamily="2" charset="-122"/>
              </a:rPr>
              <a:t>，因此复杂度变成</a:t>
            </a:r>
            <a:r>
              <a:rPr lang="en-US" altLang="zh-CN" sz="2000">
                <a:solidFill>
                  <a:srgbClr val="FF0000"/>
                </a:solidFill>
                <a:latin typeface="宋体" panose="02010600030101010101" pitchFamily="2" charset="-122"/>
                <a:ea typeface="宋体" panose="02010600030101010101" pitchFamily="2" charset="-122"/>
              </a:rPr>
              <a:t>O(n^2)</a:t>
            </a:r>
            <a:endParaRPr lang="zh-CN" altLang="en-US" sz="200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zh-CN" altLang="en-US" sz="3600" b="1" dirty="0">
                <a:solidFill>
                  <a:srgbClr val="274FA2"/>
                </a:solidFill>
                <a:latin typeface="微软雅黑" panose="020B0503020204020204" charset="-122"/>
                <a:ea typeface="微软雅黑" panose="020B0503020204020204" charset="-122"/>
                <a:sym typeface="+mn-ea"/>
              </a:rPr>
              <a:t>三</a:t>
            </a:r>
            <a:r>
              <a:rPr lang="zh-CN" altLang="zh-CN" sz="3600" b="1" dirty="0">
                <a:solidFill>
                  <a:srgbClr val="274FA2"/>
                </a:solidFill>
                <a:latin typeface="微软雅黑" panose="020B0503020204020204" charset="-122"/>
                <a:ea typeface="微软雅黑" panose="020B0503020204020204" charset="-122"/>
                <a:sym typeface="+mn-ea"/>
              </a:rPr>
              <a:t>、</a:t>
            </a:r>
            <a:r>
              <a:rPr lang="zh-CN" altLang="en-US" sz="3600" b="1" dirty="0">
                <a:solidFill>
                  <a:srgbClr val="274FA2"/>
                </a:solidFill>
                <a:latin typeface="微软雅黑" panose="020B0503020204020204" charset="-122"/>
                <a:ea typeface="微软雅黑" panose="020B0503020204020204" charset="-122"/>
              </a:rPr>
              <a:t>队列式与优先队列式分支限界法区别</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6" name="文本框 5"/>
          <p:cNvSpPr txBox="1"/>
          <p:nvPr/>
        </p:nvSpPr>
        <p:spPr>
          <a:xfrm>
            <a:off x="565785" y="1000125"/>
            <a:ext cx="10626725" cy="1323439"/>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cs typeface="宋体" panose="02010600030101010101" pitchFamily="2" charset="-122"/>
              </a:rPr>
              <a:t>题目</a:t>
            </a:r>
            <a:r>
              <a:rPr lang="en-US" altLang="zh-CN" sz="2000" dirty="0">
                <a:latin typeface="宋体" panose="02010600030101010101" pitchFamily="2" charset="-122"/>
                <a:ea typeface="宋体" panose="02010600030101010101" pitchFamily="2" charset="-122"/>
                <a:cs typeface="宋体" panose="02010600030101010101" pitchFamily="2" charset="-122"/>
              </a:rPr>
              <a:t>3</a:t>
            </a:r>
            <a:r>
              <a:rPr lang="zh-CN" altLang="en-US" sz="2000" dirty="0">
                <a:latin typeface="宋体" panose="02010600030101010101" pitchFamily="2" charset="-122"/>
                <a:ea typeface="宋体" panose="02010600030101010101" pitchFamily="2" charset="-122"/>
                <a:cs typeface="宋体" panose="02010600030101010101" pitchFamily="2" charset="-122"/>
              </a:rPr>
              <a:t>：请简述队列式分支限界法和优先队列式分支限界法的区别。</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2" name="表格 1"/>
          <p:cNvGraphicFramePr>
            <a:graphicFrameLocks noGrp="1"/>
          </p:cNvGraphicFramePr>
          <p:nvPr/>
        </p:nvGraphicFramePr>
        <p:xfrm>
          <a:off x="565785" y="2114534"/>
          <a:ext cx="9734625" cy="3443583"/>
        </p:xfrm>
        <a:graphic>
          <a:graphicData uri="http://schemas.openxmlformats.org/drawingml/2006/table">
            <a:tbl>
              <a:tblPr>
                <a:tableStyleId>{5C22544A-7EE6-4342-B048-85BDC9FD1C3A}</a:tableStyleId>
              </a:tblPr>
              <a:tblGrid>
                <a:gridCol w="1696321"/>
                <a:gridCol w="3980711"/>
                <a:gridCol w="4057593"/>
              </a:tblGrid>
              <a:tr h="479025">
                <a:tc>
                  <a:txBody>
                    <a:bodyPr/>
                    <a:lstStyle/>
                    <a:p>
                      <a:pPr>
                        <a:lnSpc>
                          <a:spcPct val="120000"/>
                        </a:lnSpc>
                        <a:spcBef>
                          <a:spcPts val="600"/>
                        </a:spcBef>
                        <a:spcAft>
                          <a:spcPts val="600"/>
                        </a:spcAft>
                        <a:buNone/>
                      </a:pPr>
                      <a:r>
                        <a:rPr lang="zh-CN" sz="1200">
                          <a:effectLst/>
                        </a:rPr>
                        <a:t>对比维度</a:t>
                      </a:r>
                      <a:endParaRPr lang="zh-CN" sz="1100">
                        <a:effectLst/>
                        <a:latin typeface="Arial" panose="020B0604020202020204" pitchFamily="34" charset="0"/>
                        <a:ea typeface="等线" panose="02010600030101010101" pitchFamily="2" charset="-122"/>
                      </a:endParaRPr>
                    </a:p>
                  </a:txBody>
                  <a:tcPr marL="68580" marR="68580" marT="0" marB="0"/>
                </a:tc>
                <a:tc>
                  <a:txBody>
                    <a:bodyPr/>
                    <a:lstStyle/>
                    <a:p>
                      <a:pPr>
                        <a:lnSpc>
                          <a:spcPct val="120000"/>
                        </a:lnSpc>
                        <a:spcBef>
                          <a:spcPts val="600"/>
                        </a:spcBef>
                        <a:spcAft>
                          <a:spcPts val="600"/>
                        </a:spcAft>
                        <a:buNone/>
                      </a:pPr>
                      <a:r>
                        <a:rPr lang="zh-CN" sz="1200">
                          <a:effectLst/>
                        </a:rPr>
                        <a:t>队列式分支限界法</a:t>
                      </a:r>
                      <a:endParaRPr lang="zh-CN" sz="1100">
                        <a:effectLst/>
                        <a:latin typeface="Arial" panose="020B0604020202020204" pitchFamily="34" charset="0"/>
                        <a:ea typeface="等线" panose="02010600030101010101" pitchFamily="2" charset="-122"/>
                      </a:endParaRPr>
                    </a:p>
                  </a:txBody>
                  <a:tcPr marL="68580" marR="68580" marT="0" marB="0"/>
                </a:tc>
                <a:tc>
                  <a:txBody>
                    <a:bodyPr/>
                    <a:lstStyle/>
                    <a:p>
                      <a:pPr>
                        <a:lnSpc>
                          <a:spcPct val="120000"/>
                        </a:lnSpc>
                        <a:spcBef>
                          <a:spcPts val="600"/>
                        </a:spcBef>
                        <a:spcAft>
                          <a:spcPts val="600"/>
                        </a:spcAft>
                        <a:buNone/>
                      </a:pPr>
                      <a:r>
                        <a:rPr lang="zh-CN" sz="1200">
                          <a:effectLst/>
                        </a:rPr>
                        <a:t>优先队列式分支限界法</a:t>
                      </a:r>
                      <a:endParaRPr lang="zh-CN" sz="1100">
                        <a:effectLst/>
                        <a:latin typeface="Arial" panose="020B0604020202020204" pitchFamily="34" charset="0"/>
                        <a:ea typeface="等线" panose="02010600030101010101" pitchFamily="2" charset="-122"/>
                      </a:endParaRPr>
                    </a:p>
                  </a:txBody>
                  <a:tcPr marL="68580" marR="68580" marT="0" marB="0"/>
                </a:tc>
              </a:tr>
              <a:tr h="479025">
                <a:tc>
                  <a:txBody>
                    <a:bodyPr/>
                    <a:lstStyle/>
                    <a:p>
                      <a:pPr>
                        <a:lnSpc>
                          <a:spcPct val="120000"/>
                        </a:lnSpc>
                        <a:spcBef>
                          <a:spcPts val="600"/>
                        </a:spcBef>
                        <a:spcAft>
                          <a:spcPts val="600"/>
                        </a:spcAft>
                        <a:buNone/>
                      </a:pPr>
                      <a:r>
                        <a:rPr lang="zh-CN" sz="1200">
                          <a:effectLst/>
                        </a:rPr>
                        <a:t>数据结构</a:t>
                      </a:r>
                      <a:endParaRPr lang="zh-CN" sz="1100">
                        <a:effectLst/>
                        <a:latin typeface="Arial" panose="020B0604020202020204" pitchFamily="34" charset="0"/>
                        <a:ea typeface="等线" panose="02010600030101010101" pitchFamily="2" charset="-122"/>
                      </a:endParaRPr>
                    </a:p>
                  </a:txBody>
                  <a:tcPr marL="68580" marR="68580" marT="0" marB="0" anchor="ctr"/>
                </a:tc>
                <a:tc>
                  <a:txBody>
                    <a:bodyPr/>
                    <a:lstStyle/>
                    <a:p>
                      <a:pPr>
                        <a:lnSpc>
                          <a:spcPct val="120000"/>
                        </a:lnSpc>
                        <a:spcBef>
                          <a:spcPts val="600"/>
                        </a:spcBef>
                        <a:spcAft>
                          <a:spcPts val="600"/>
                        </a:spcAft>
                        <a:buNone/>
                      </a:pPr>
                      <a:r>
                        <a:rPr lang="zh-CN" sz="1200">
                          <a:effectLst/>
                        </a:rPr>
                        <a:t>普通队列（先进先出）</a:t>
                      </a:r>
                      <a:endParaRPr lang="zh-CN" sz="1100">
                        <a:effectLst/>
                        <a:latin typeface="Arial" panose="020B0604020202020204" pitchFamily="34" charset="0"/>
                        <a:ea typeface="等线" panose="02010600030101010101" pitchFamily="2" charset="-122"/>
                      </a:endParaRPr>
                    </a:p>
                  </a:txBody>
                  <a:tcPr marL="68580" marR="68580" marT="0" marB="0"/>
                </a:tc>
                <a:tc>
                  <a:txBody>
                    <a:bodyPr/>
                    <a:lstStyle/>
                    <a:p>
                      <a:pPr>
                        <a:lnSpc>
                          <a:spcPct val="120000"/>
                        </a:lnSpc>
                        <a:spcBef>
                          <a:spcPts val="600"/>
                        </a:spcBef>
                        <a:spcAft>
                          <a:spcPts val="600"/>
                        </a:spcAft>
                        <a:buNone/>
                      </a:pPr>
                      <a:r>
                        <a:rPr lang="zh-CN" sz="1200">
                          <a:effectLst/>
                        </a:rPr>
                        <a:t>优先队列（按优先级出队）</a:t>
                      </a:r>
                      <a:endParaRPr lang="zh-CN" sz="1100">
                        <a:effectLst/>
                        <a:latin typeface="Arial" panose="020B0604020202020204" pitchFamily="34" charset="0"/>
                        <a:ea typeface="等线" panose="02010600030101010101" pitchFamily="2" charset="-122"/>
                      </a:endParaRPr>
                    </a:p>
                  </a:txBody>
                  <a:tcPr marL="68580" marR="68580" marT="0" marB="0"/>
                </a:tc>
              </a:tr>
              <a:tr h="1003254">
                <a:tc>
                  <a:txBody>
                    <a:bodyPr/>
                    <a:lstStyle/>
                    <a:p>
                      <a:pPr>
                        <a:lnSpc>
                          <a:spcPct val="120000"/>
                        </a:lnSpc>
                        <a:spcBef>
                          <a:spcPts val="600"/>
                        </a:spcBef>
                        <a:spcAft>
                          <a:spcPts val="600"/>
                        </a:spcAft>
                        <a:buNone/>
                      </a:pPr>
                      <a:r>
                        <a:rPr lang="zh-CN" sz="1200">
                          <a:effectLst/>
                        </a:rPr>
                        <a:t>搜索策略</a:t>
                      </a:r>
                      <a:endParaRPr lang="zh-CN" sz="1100">
                        <a:effectLst/>
                        <a:latin typeface="Arial" panose="020B0604020202020204" pitchFamily="34" charset="0"/>
                        <a:ea typeface="等线" panose="02010600030101010101" pitchFamily="2" charset="-122"/>
                      </a:endParaRPr>
                    </a:p>
                  </a:txBody>
                  <a:tcPr marL="68580" marR="68580" marT="0" marB="0" anchor="ctr"/>
                </a:tc>
                <a:tc>
                  <a:txBody>
                    <a:bodyPr/>
                    <a:lstStyle/>
                    <a:p>
                      <a:pPr>
                        <a:lnSpc>
                          <a:spcPct val="120000"/>
                        </a:lnSpc>
                        <a:spcBef>
                          <a:spcPts val="600"/>
                        </a:spcBef>
                        <a:spcAft>
                          <a:spcPts val="600"/>
                        </a:spcAft>
                        <a:buNone/>
                      </a:pPr>
                      <a:r>
                        <a:rPr lang="zh-CN" sz="1200">
                          <a:effectLst/>
                        </a:rPr>
                        <a:t>广度优先搜索，按入队列顺序扩展，无优先级</a:t>
                      </a:r>
                      <a:endParaRPr lang="zh-CN" sz="1100">
                        <a:effectLst/>
                        <a:latin typeface="Arial" panose="020B0604020202020204" pitchFamily="34" charset="0"/>
                        <a:ea typeface="等线" panose="02010600030101010101" pitchFamily="2" charset="-122"/>
                      </a:endParaRPr>
                    </a:p>
                  </a:txBody>
                  <a:tcPr marL="68580" marR="68580" marT="0" marB="0"/>
                </a:tc>
                <a:tc>
                  <a:txBody>
                    <a:bodyPr/>
                    <a:lstStyle/>
                    <a:p>
                      <a:pPr>
                        <a:lnSpc>
                          <a:spcPct val="120000"/>
                        </a:lnSpc>
                        <a:spcBef>
                          <a:spcPts val="600"/>
                        </a:spcBef>
                        <a:spcAft>
                          <a:spcPts val="600"/>
                        </a:spcAft>
                        <a:buNone/>
                      </a:pPr>
                      <a:r>
                        <a:rPr lang="zh-CN" sz="1200">
                          <a:effectLst/>
                        </a:rPr>
                        <a:t>最佳优先搜索，优先扩展限界值最优的节点</a:t>
                      </a:r>
                      <a:endParaRPr lang="zh-CN" sz="1100">
                        <a:effectLst/>
                        <a:latin typeface="Arial" panose="020B0604020202020204" pitchFamily="34" charset="0"/>
                        <a:ea typeface="等线" panose="02010600030101010101" pitchFamily="2" charset="-122"/>
                      </a:endParaRPr>
                    </a:p>
                  </a:txBody>
                  <a:tcPr marL="68580" marR="68580" marT="0" marB="0"/>
                </a:tc>
              </a:tr>
              <a:tr h="479025">
                <a:tc>
                  <a:txBody>
                    <a:bodyPr/>
                    <a:lstStyle/>
                    <a:p>
                      <a:pPr>
                        <a:lnSpc>
                          <a:spcPct val="120000"/>
                        </a:lnSpc>
                        <a:spcBef>
                          <a:spcPts val="600"/>
                        </a:spcBef>
                        <a:spcAft>
                          <a:spcPts val="600"/>
                        </a:spcAft>
                        <a:buNone/>
                      </a:pPr>
                      <a:r>
                        <a:rPr lang="zh-CN" sz="1200">
                          <a:effectLst/>
                        </a:rPr>
                        <a:t>效率</a:t>
                      </a:r>
                      <a:endParaRPr lang="zh-CN" sz="1100">
                        <a:effectLst/>
                        <a:latin typeface="Arial" panose="020B0604020202020204" pitchFamily="34" charset="0"/>
                        <a:ea typeface="等线" panose="02010600030101010101" pitchFamily="2" charset="-122"/>
                      </a:endParaRPr>
                    </a:p>
                  </a:txBody>
                  <a:tcPr marL="68580" marR="68580" marT="0" marB="0" anchor="ctr"/>
                </a:tc>
                <a:tc>
                  <a:txBody>
                    <a:bodyPr/>
                    <a:lstStyle/>
                    <a:p>
                      <a:pPr>
                        <a:lnSpc>
                          <a:spcPct val="120000"/>
                        </a:lnSpc>
                        <a:spcBef>
                          <a:spcPts val="600"/>
                        </a:spcBef>
                        <a:spcAft>
                          <a:spcPts val="600"/>
                        </a:spcAft>
                        <a:buNone/>
                      </a:pPr>
                      <a:r>
                        <a:rPr lang="zh-CN" sz="1200">
                          <a:effectLst/>
                        </a:rPr>
                        <a:t>可能需扩展更多节点</a:t>
                      </a:r>
                      <a:endParaRPr lang="zh-CN" sz="1100">
                        <a:effectLst/>
                        <a:latin typeface="Arial" panose="020B0604020202020204" pitchFamily="34" charset="0"/>
                        <a:ea typeface="等线" panose="02010600030101010101" pitchFamily="2" charset="-122"/>
                      </a:endParaRPr>
                    </a:p>
                  </a:txBody>
                  <a:tcPr marL="68580" marR="68580" marT="0" marB="0"/>
                </a:tc>
                <a:tc>
                  <a:txBody>
                    <a:bodyPr/>
                    <a:lstStyle/>
                    <a:p>
                      <a:pPr>
                        <a:lnSpc>
                          <a:spcPct val="120000"/>
                        </a:lnSpc>
                        <a:spcBef>
                          <a:spcPts val="600"/>
                        </a:spcBef>
                        <a:spcAft>
                          <a:spcPts val="600"/>
                        </a:spcAft>
                        <a:buNone/>
                      </a:pPr>
                      <a:r>
                        <a:rPr lang="zh-CN" sz="1200">
                          <a:effectLst/>
                        </a:rPr>
                        <a:t>通常更快找到最优解，减少搜索空间</a:t>
                      </a:r>
                      <a:endParaRPr lang="zh-CN" sz="1100">
                        <a:effectLst/>
                        <a:latin typeface="Arial" panose="020B0604020202020204" pitchFamily="34" charset="0"/>
                        <a:ea typeface="等线" panose="02010600030101010101" pitchFamily="2" charset="-122"/>
                      </a:endParaRPr>
                    </a:p>
                  </a:txBody>
                  <a:tcPr marL="68580" marR="68580" marT="0" marB="0"/>
                </a:tc>
              </a:tr>
              <a:tr h="1003254">
                <a:tc>
                  <a:txBody>
                    <a:bodyPr/>
                    <a:lstStyle/>
                    <a:p>
                      <a:pPr>
                        <a:lnSpc>
                          <a:spcPct val="120000"/>
                        </a:lnSpc>
                        <a:spcBef>
                          <a:spcPts val="600"/>
                        </a:spcBef>
                        <a:spcAft>
                          <a:spcPts val="600"/>
                        </a:spcAft>
                        <a:buNone/>
                      </a:pPr>
                      <a:r>
                        <a:rPr lang="zh-CN" sz="1200">
                          <a:effectLst/>
                        </a:rPr>
                        <a:t>应用范围</a:t>
                      </a:r>
                      <a:endParaRPr lang="zh-CN" sz="1100">
                        <a:effectLst/>
                        <a:latin typeface="Arial" panose="020B0604020202020204" pitchFamily="34" charset="0"/>
                        <a:ea typeface="等线" panose="02010600030101010101" pitchFamily="2" charset="-122"/>
                      </a:endParaRPr>
                    </a:p>
                  </a:txBody>
                  <a:tcPr marL="68580" marR="68580" marT="0" marB="0" anchor="ctr"/>
                </a:tc>
                <a:tc>
                  <a:txBody>
                    <a:bodyPr/>
                    <a:lstStyle/>
                    <a:p>
                      <a:pPr>
                        <a:lnSpc>
                          <a:spcPct val="120000"/>
                        </a:lnSpc>
                        <a:spcBef>
                          <a:spcPts val="600"/>
                        </a:spcBef>
                        <a:spcAft>
                          <a:spcPts val="600"/>
                        </a:spcAft>
                        <a:buNone/>
                      </a:pPr>
                      <a:r>
                        <a:rPr lang="zh-CN" sz="1200">
                          <a:effectLst/>
                        </a:rPr>
                        <a:t>找出满足约束条件的一个解</a:t>
                      </a:r>
                      <a:endParaRPr lang="zh-CN" sz="1100">
                        <a:effectLst/>
                        <a:latin typeface="Arial" panose="020B0604020202020204" pitchFamily="34" charset="0"/>
                        <a:ea typeface="等线" panose="02010600030101010101" pitchFamily="2" charset="-122"/>
                      </a:endParaRPr>
                    </a:p>
                  </a:txBody>
                  <a:tcPr marL="68580" marR="68580" marT="0" marB="0"/>
                </a:tc>
                <a:tc>
                  <a:txBody>
                    <a:bodyPr/>
                    <a:lstStyle/>
                    <a:p>
                      <a:pPr>
                        <a:lnSpc>
                          <a:spcPct val="120000"/>
                        </a:lnSpc>
                        <a:spcBef>
                          <a:spcPts val="600"/>
                        </a:spcBef>
                        <a:spcAft>
                          <a:spcPts val="600"/>
                        </a:spcAft>
                        <a:buNone/>
                      </a:pPr>
                      <a:r>
                        <a:rPr lang="zh-CN" sz="1200">
                          <a:effectLst/>
                        </a:rPr>
                        <a:t>在满足约束条件的解中找出使某一目标函数值达到极大或者极小的解</a:t>
                      </a:r>
                      <a:endParaRPr lang="zh-CN" sz="1100">
                        <a:effectLst/>
                        <a:latin typeface="Arial" panose="020B0604020202020204" pitchFamily="34" charset="0"/>
                        <a:ea typeface="等线" panose="02010600030101010101" pitchFamily="2" charset="-122"/>
                      </a:endParaRPr>
                    </a:p>
                  </a:txBody>
                  <a:tcPr marL="68580" marR="68580" marT="0" marB="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zh-CN" sz="3600" b="1" dirty="0">
                <a:solidFill>
                  <a:srgbClr val="274FA2"/>
                </a:solidFill>
                <a:latin typeface="微软雅黑" panose="020B0503020204020204" charset="-122"/>
                <a:ea typeface="微软雅黑" panose="020B0503020204020204" charset="-122"/>
                <a:cs typeface="+mj-cs"/>
                <a:sym typeface="+mn-ea"/>
              </a:rPr>
              <a:t>四、随机化算法思想；拉斯维加斯 vs 蒙特卡罗</a:t>
            </a:r>
            <a:endParaRPr lang="en-US" altLang="zh-CN" sz="3600" b="1" dirty="0">
              <a:solidFill>
                <a:srgbClr val="274FA2"/>
              </a:solidFill>
              <a:latin typeface="微软雅黑" panose="020B0503020204020204" charset="-122"/>
              <a:ea typeface="微软雅黑" panose="020B0503020204020204" charset="-122"/>
              <a:cs typeface="+mj-cs"/>
            </a:endParaRPr>
          </a:p>
        </p:txBody>
      </p:sp>
      <p:pic>
        <p:nvPicPr>
          <p:cNvPr id="2" name="图片 1"/>
          <p:cNvPicPr>
            <a:picLocks noChangeAspect="1"/>
          </p:cNvPicPr>
          <p:nvPr/>
        </p:nvPicPr>
        <p:blipFill>
          <a:blip r:embed="rId1"/>
          <a:stretch>
            <a:fillRect/>
          </a:stretch>
        </p:blipFill>
        <p:spPr>
          <a:xfrm>
            <a:off x="695325" y="917575"/>
            <a:ext cx="10869930" cy="799465"/>
          </a:xfrm>
          <a:prstGeom prst="rect">
            <a:avLst/>
          </a:prstGeom>
        </p:spPr>
      </p:pic>
      <p:sp>
        <p:nvSpPr>
          <p:cNvPr id="5" name="文本框 4"/>
          <p:cNvSpPr txBox="1"/>
          <p:nvPr/>
        </p:nvSpPr>
        <p:spPr>
          <a:xfrm>
            <a:off x="835660" y="2097405"/>
            <a:ext cx="10357485" cy="3599815"/>
          </a:xfrm>
          <a:prstGeom prst="rect">
            <a:avLst/>
          </a:prstGeom>
        </p:spPr>
        <p:txBody>
          <a:bodyPr wrap="square">
            <a:spAutoFit/>
          </a:bodyPr>
          <a:lstStyle/>
          <a:p>
            <a:pPr defTabSz="266700">
              <a:lnSpc>
                <a:spcPct val="140000"/>
              </a:lnSpc>
              <a:spcBef>
                <a:spcPct val="0"/>
              </a:spcBef>
              <a:spcAft>
                <a:spcPct val="0"/>
              </a:spcAft>
            </a:pPr>
            <a:r>
              <a:rPr lang="en-US" altLang="zh-CN" sz="2000" b="0">
                <a:latin typeface="宋体" panose="02010600030101010101" pitchFamily="2" charset="-122"/>
                <a:ea typeface="宋体" panose="02010600030101010101" pitchFamily="2" charset="-122"/>
              </a:rPr>
              <a:t>1.</a:t>
            </a:r>
            <a:r>
              <a:rPr lang="zh-CN" altLang="en-US" sz="2000" b="0">
                <a:latin typeface="宋体" panose="02010600030101010101" pitchFamily="2" charset="-122"/>
                <a:ea typeface="宋体" panose="02010600030101010101" pitchFamily="2" charset="-122"/>
              </a:rPr>
              <a:t>基本思想：</a:t>
            </a:r>
            <a:endParaRPr lang="zh-CN" altLang="en-US" sz="2000" b="0">
              <a:latin typeface="宋体" panose="02010600030101010101" pitchFamily="2" charset="-122"/>
              <a:ea typeface="宋体" panose="02010600030101010101" pitchFamily="2" charset="-122"/>
            </a:endParaRPr>
          </a:p>
          <a:p>
            <a:pPr lvl="1" defTabSz="266700">
              <a:lnSpc>
                <a:spcPct val="120000"/>
              </a:lnSpc>
              <a:spcBef>
                <a:spcPct val="0"/>
              </a:spcBef>
              <a:spcAft>
                <a:spcPct val="0"/>
              </a:spcAft>
            </a:pPr>
            <a:r>
              <a:rPr lang="zh-CN" altLang="en-US" sz="2000" b="0">
                <a:latin typeface="宋体" panose="02010600030101010101" pitchFamily="2" charset="-122"/>
                <a:ea typeface="宋体" panose="02010600030101010101" pitchFamily="2" charset="-122"/>
              </a:rPr>
              <a:t>随机化算法</a:t>
            </a:r>
            <a:r>
              <a:rPr lang="zh-CN" altLang="en-US" sz="2000" b="1">
                <a:latin typeface="宋体" panose="02010600030101010101" pitchFamily="2" charset="-122"/>
                <a:ea typeface="宋体" panose="02010600030101010101" pitchFamily="2" charset="-122"/>
              </a:rPr>
              <a:t>通过引入随机性来改进算法性能或简化设计</a:t>
            </a:r>
            <a:r>
              <a:rPr lang="zh-CN" altLang="en-US" sz="2000" b="0">
                <a:latin typeface="宋体" panose="02010600030101010101" pitchFamily="2" charset="-122"/>
                <a:ea typeface="宋体" panose="02010600030101010101" pitchFamily="2" charset="-122"/>
              </a:rPr>
              <a:t>，其运行结果或时间依赖于随机选择，通常具有较好的平均性能或概率性正确性。</a:t>
            </a:r>
            <a:endParaRPr lang="zh-CN" altLang="en-US" sz="2000" b="0">
              <a:latin typeface="宋体" panose="02010600030101010101" pitchFamily="2" charset="-122"/>
              <a:ea typeface="宋体" panose="02010600030101010101" pitchFamily="2" charset="-122"/>
            </a:endParaRPr>
          </a:p>
          <a:p>
            <a:pPr algn="l" defTabSz="266700">
              <a:lnSpc>
                <a:spcPct val="140000"/>
              </a:lnSpc>
              <a:buClrTx/>
              <a:buSzTx/>
              <a:buFontTx/>
            </a:pPr>
            <a:r>
              <a:rPr lang="en-US" altLang="zh-CN" sz="2000" b="0">
                <a:latin typeface="宋体" panose="02010600030101010101" pitchFamily="2" charset="-122"/>
                <a:ea typeface="宋体" panose="02010600030101010101" pitchFamily="2" charset="-122"/>
              </a:rPr>
              <a:t>2.</a:t>
            </a:r>
            <a:r>
              <a:rPr lang="zh-CN" altLang="en-US" sz="2000" b="0">
                <a:latin typeface="宋体" panose="02010600030101010101" pitchFamily="2" charset="-122"/>
                <a:ea typeface="宋体" panose="02010600030101010101" pitchFamily="2" charset="-122"/>
              </a:rPr>
              <a:t>算法区别：</a:t>
            </a:r>
            <a:endParaRPr lang="zh-CN" altLang="en-US" sz="2000" b="0">
              <a:latin typeface="宋体" panose="02010600030101010101" pitchFamily="2" charset="-122"/>
              <a:ea typeface="宋体" panose="02010600030101010101" pitchFamily="2" charset="-122"/>
            </a:endParaRPr>
          </a:p>
          <a:p>
            <a:pPr lvl="1" defTabSz="266700">
              <a:lnSpc>
                <a:spcPct val="120000"/>
              </a:lnSpc>
              <a:spcBef>
                <a:spcPct val="0"/>
              </a:spcBef>
              <a:spcAft>
                <a:spcPct val="0"/>
              </a:spcAft>
            </a:pPr>
            <a:r>
              <a:rPr lang="zh-CN" altLang="en-US" sz="2000" b="1">
                <a:latin typeface="宋体" panose="02010600030101010101" pitchFamily="2" charset="-122"/>
                <a:ea typeface="宋体" panose="02010600030101010101" pitchFamily="2" charset="-122"/>
              </a:rPr>
              <a:t>拉斯维加斯算法：</a:t>
            </a:r>
            <a:r>
              <a:rPr lang="zh-CN" altLang="en-US" sz="2000" b="0">
                <a:latin typeface="宋体" panose="02010600030101010101" pitchFamily="2" charset="-122"/>
                <a:ea typeface="宋体" panose="02010600030101010101" pitchFamily="2" charset="-122"/>
              </a:rPr>
              <a:t>结果必然正确，但运行时间随机（如随机化快速排序的基准选择）；</a:t>
            </a:r>
            <a:endParaRPr lang="zh-CN" altLang="en-US" sz="2000" b="0">
              <a:latin typeface="宋体" panose="02010600030101010101" pitchFamily="2" charset="-122"/>
              <a:ea typeface="宋体" panose="02010600030101010101" pitchFamily="2" charset="-122"/>
            </a:endParaRPr>
          </a:p>
          <a:p>
            <a:pPr lvl="1" defTabSz="266700">
              <a:lnSpc>
                <a:spcPct val="120000"/>
              </a:lnSpc>
              <a:spcBef>
                <a:spcPct val="0"/>
              </a:spcBef>
              <a:spcAft>
                <a:spcPct val="0"/>
              </a:spcAft>
            </a:pPr>
            <a:r>
              <a:rPr lang="zh-CN" altLang="en-US" sz="2000" b="1">
                <a:latin typeface="宋体" panose="02010600030101010101" pitchFamily="2" charset="-122"/>
                <a:ea typeface="宋体" panose="02010600030101010101" pitchFamily="2" charset="-122"/>
              </a:rPr>
              <a:t>蒙特卡罗算法：</a:t>
            </a:r>
            <a:r>
              <a:rPr lang="zh-CN" altLang="en-US" sz="2000" b="0">
                <a:latin typeface="宋体" panose="02010600030101010101" pitchFamily="2" charset="-122"/>
                <a:ea typeface="宋体" panose="02010600030101010101" pitchFamily="2" charset="-122"/>
              </a:rPr>
              <a:t>运行时间固定，但结果可能错误（如素数检测的</a:t>
            </a:r>
            <a:r>
              <a:rPr lang="en-US" altLang="zh-CN" sz="2000" b="0">
                <a:latin typeface="宋体" panose="02010600030101010101" pitchFamily="2" charset="-122"/>
                <a:ea typeface="宋体" panose="02010600030101010101" pitchFamily="2" charset="-122"/>
              </a:rPr>
              <a:t>Miller-Rabin</a:t>
            </a:r>
            <a:r>
              <a:rPr lang="zh-CN" altLang="en-US" sz="2000" b="0">
                <a:latin typeface="宋体" panose="02010600030101010101" pitchFamily="2" charset="-122"/>
                <a:ea typeface="宋体" panose="02010600030101010101" pitchFamily="2" charset="-122"/>
              </a:rPr>
              <a:t>算法）。</a:t>
            </a:r>
            <a:endParaRPr lang="zh-CN" altLang="en-US" sz="2000" b="0">
              <a:latin typeface="宋体" panose="02010600030101010101" pitchFamily="2" charset="-122"/>
              <a:ea typeface="宋体" panose="02010600030101010101" pitchFamily="2" charset="-122"/>
            </a:endParaRPr>
          </a:p>
          <a:p>
            <a:pPr algn="l" defTabSz="266700">
              <a:lnSpc>
                <a:spcPct val="140000"/>
              </a:lnSpc>
              <a:buClrTx/>
              <a:buSzTx/>
              <a:buFontTx/>
            </a:pPr>
            <a:r>
              <a:rPr lang="en-US" altLang="zh-CN" sz="2000" b="0">
                <a:latin typeface="宋体" panose="02010600030101010101" pitchFamily="2" charset="-122"/>
                <a:ea typeface="宋体" panose="02010600030101010101" pitchFamily="2" charset="-122"/>
              </a:rPr>
              <a:t>3.</a:t>
            </a:r>
            <a:r>
              <a:rPr lang="zh-CN" altLang="en-US" sz="2000" b="0">
                <a:latin typeface="宋体" panose="02010600030101010101" pitchFamily="2" charset="-122"/>
                <a:ea typeface="宋体" panose="02010600030101010101" pitchFamily="2" charset="-122"/>
              </a:rPr>
              <a:t>应用实例：</a:t>
            </a:r>
            <a:endParaRPr lang="zh-CN" altLang="en-US" sz="2000" b="0">
              <a:latin typeface="宋体" panose="02010600030101010101" pitchFamily="2" charset="-122"/>
              <a:ea typeface="宋体" panose="02010600030101010101" pitchFamily="2" charset="-122"/>
            </a:endParaRPr>
          </a:p>
          <a:p>
            <a:pPr lvl="1" defTabSz="266700">
              <a:lnSpc>
                <a:spcPct val="120000"/>
              </a:lnSpc>
              <a:spcBef>
                <a:spcPct val="0"/>
              </a:spcBef>
              <a:spcAft>
                <a:spcPct val="0"/>
              </a:spcAft>
            </a:pPr>
            <a:r>
              <a:rPr lang="zh-CN" altLang="en-US" sz="2000" b="1">
                <a:latin typeface="宋体" panose="02010600030101010101" pitchFamily="2" charset="-122"/>
                <a:ea typeface="宋体" panose="02010600030101010101" pitchFamily="2" charset="-122"/>
              </a:rPr>
              <a:t>拉斯维加斯：</a:t>
            </a:r>
            <a:r>
              <a:rPr lang="zh-CN" altLang="en-US" sz="2000" b="0">
                <a:latin typeface="宋体" panose="02010600030101010101" pitchFamily="2" charset="-122"/>
                <a:ea typeface="宋体" panose="02010600030101010101" pitchFamily="2" charset="-122"/>
              </a:rPr>
              <a:t>随机化快速排序（保证正确排序，时间复杂度期望</a:t>
            </a:r>
            <a:r>
              <a:rPr lang="en-US" altLang="zh-CN" sz="2000" b="0">
                <a:latin typeface="宋体" panose="02010600030101010101" pitchFamily="2" charset="-122"/>
                <a:ea typeface="宋体" panose="02010600030101010101" pitchFamily="2" charset="-122"/>
              </a:rPr>
              <a:t>O(n log n)</a:t>
            </a:r>
            <a:r>
              <a:rPr lang="zh-CN" altLang="en-US" sz="2000" b="0">
                <a:latin typeface="宋体" panose="02010600030101010101" pitchFamily="2" charset="-122"/>
                <a:ea typeface="宋体" panose="02010600030101010101" pitchFamily="2" charset="-122"/>
              </a:rPr>
              <a:t>）；</a:t>
            </a:r>
            <a:endParaRPr lang="zh-CN" altLang="en-US" sz="2000" b="0">
              <a:latin typeface="宋体" panose="02010600030101010101" pitchFamily="2" charset="-122"/>
              <a:ea typeface="宋体" panose="02010600030101010101" pitchFamily="2" charset="-122"/>
            </a:endParaRPr>
          </a:p>
          <a:p>
            <a:pPr lvl="1" defTabSz="266700">
              <a:lnSpc>
                <a:spcPct val="120000"/>
              </a:lnSpc>
              <a:spcBef>
                <a:spcPct val="0"/>
              </a:spcBef>
              <a:spcAft>
                <a:spcPct val="0"/>
              </a:spcAft>
            </a:pPr>
            <a:r>
              <a:rPr lang="zh-CN" altLang="en-US" sz="2000" b="1">
                <a:latin typeface="宋体" panose="02010600030101010101" pitchFamily="2" charset="-122"/>
                <a:ea typeface="宋体" panose="02010600030101010101" pitchFamily="2" charset="-122"/>
              </a:rPr>
              <a:t>蒙特卡罗：</a:t>
            </a:r>
            <a:r>
              <a:rPr lang="zh-CN" altLang="en-US" sz="2000" b="0">
                <a:latin typeface="宋体" panose="02010600030101010101" pitchFamily="2" charset="-122"/>
                <a:ea typeface="宋体" panose="02010600030101010101" pitchFamily="2" charset="-122"/>
              </a:rPr>
              <a:t>近似计数问题（如估算集合大小，允许一定误差）。</a:t>
            </a:r>
            <a:endParaRPr lang="zh-CN" altLang="en-US" sz="2000" b="0">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581169" y="1001894"/>
            <a:ext cx="9029701" cy="1941195"/>
            <a:chOff x="1588525" y="1245110"/>
            <a:chExt cx="6071296" cy="1057491"/>
          </a:xfrm>
        </p:grpSpPr>
        <p:sp>
          <p:nvSpPr>
            <p:cNvPr id="3" name="Text Placeholder 4"/>
            <p:cNvSpPr txBox="1">
              <a:spLocks noChangeArrowheads="1"/>
            </p:cNvSpPr>
            <p:nvPr/>
          </p:nvSpPr>
          <p:spPr bwMode="auto">
            <a:xfrm>
              <a:off x="1592795" y="1245110"/>
              <a:ext cx="6067026" cy="647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一、找第2大元素（分治法）</a:t>
              </a:r>
              <a:endParaRPr lang="zh-CN" altLang="en-US" b="1" dirty="0">
                <a:solidFill>
                  <a:srgbClr val="C00000"/>
                </a:solidFill>
                <a:latin typeface="微软雅黑" panose="020B0503020204020204" charset="-122"/>
                <a:ea typeface="微软雅黑" panose="020B0503020204020204" charset="-122"/>
              </a:endParaRPr>
            </a:p>
          </p:txBody>
        </p:sp>
        <p:sp>
          <p:nvSpPr>
            <p:cNvPr id="11" name="Text Placeholder 4"/>
            <p:cNvSpPr txBox="1">
              <a:spLocks noChangeArrowheads="1"/>
            </p:cNvSpPr>
            <p:nvPr/>
          </p:nvSpPr>
          <p:spPr bwMode="auto">
            <a:xfrm>
              <a:off x="1588525" y="1735631"/>
              <a:ext cx="4910833" cy="566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二、最少会场数安排（贪心）</a:t>
              </a:r>
              <a:endParaRPr lang="zh-CN" altLang="en-US" b="1" dirty="0">
                <a:solidFill>
                  <a:srgbClr val="C00000"/>
                </a:solidFill>
                <a:latin typeface="微软雅黑" panose="020B0503020204020204" charset="-122"/>
                <a:ea typeface="微软雅黑" panose="020B0503020204020204" charset="-122"/>
              </a:endParaRPr>
            </a:p>
          </p:txBody>
        </p:sp>
      </p:grpSp>
      <p:sp>
        <p:nvSpPr>
          <p:cNvPr id="2" name="Text Placeholder 4"/>
          <p:cNvSpPr txBox="1">
            <a:spLocks noChangeArrowheads="1"/>
          </p:cNvSpPr>
          <p:nvPr/>
        </p:nvSpPr>
        <p:spPr bwMode="auto">
          <a:xfrm>
            <a:off x="2415560" y="3765691"/>
            <a:ext cx="6126741" cy="1189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endParaRPr lang="zh-CN" altLang="en-US" b="1" dirty="0">
              <a:solidFill>
                <a:schemeClr val="bg1">
                  <a:lumMod val="65000"/>
                </a:schemeClr>
              </a:solidFill>
              <a:latin typeface="微软雅黑" panose="020B0503020204020204" charset="-122"/>
              <a:ea typeface="微软雅黑" panose="020B0503020204020204" charset="-122"/>
            </a:endParaRPr>
          </a:p>
        </p:txBody>
      </p:sp>
      <p:sp>
        <p:nvSpPr>
          <p:cNvPr id="5" name="文本框 4"/>
          <p:cNvSpPr txBox="1"/>
          <p:nvPr>
            <p:custDataLst>
              <p:tags r:id="rId1"/>
            </p:custDataLst>
          </p:nvPr>
        </p:nvSpPr>
        <p:spPr>
          <a:xfrm>
            <a:off x="535305" y="116840"/>
            <a:ext cx="5985510" cy="645160"/>
          </a:xfrm>
          <a:prstGeom prst="rect">
            <a:avLst/>
          </a:prstGeom>
          <a:noFill/>
        </p:spPr>
        <p:txBody>
          <a:bodyPr wrap="square" rtlCol="0">
            <a:spAutoFit/>
          </a:bodyPr>
          <a:lstStyle/>
          <a:p>
            <a:r>
              <a:rPr lang="en-US" altLang="zh-CN" sz="3600" b="1" dirty="0">
                <a:solidFill>
                  <a:srgbClr val="274FA2"/>
                </a:solidFill>
                <a:latin typeface="微软雅黑" panose="020B0503020204020204" charset="-122"/>
                <a:ea typeface="微软雅黑" panose="020B0503020204020204" charset="-122"/>
                <a:cs typeface="+mj-cs"/>
              </a:rPr>
              <a:t>Outline——</a:t>
            </a:r>
            <a:r>
              <a:rPr lang="zh-CN" altLang="en-US" sz="3600" b="1" dirty="0">
                <a:solidFill>
                  <a:srgbClr val="274FA2"/>
                </a:solidFill>
                <a:latin typeface="微软雅黑" panose="020B0503020204020204" charset="-122"/>
                <a:ea typeface="微软雅黑" panose="020B0503020204020204" charset="-122"/>
                <a:cs typeface="+mj-cs"/>
              </a:rPr>
              <a:t>算法设计题</a:t>
            </a:r>
            <a:endParaRPr lang="zh-CN" altLang="en-US" sz="3600" b="1" dirty="0">
              <a:solidFill>
                <a:srgbClr val="274FA2"/>
              </a:solidFill>
              <a:latin typeface="微软雅黑" panose="020B0503020204020204" charset="-122"/>
              <a:ea typeface="微软雅黑" panose="020B0503020204020204" charset="-122"/>
              <a:cs typeface="+mj-cs"/>
            </a:endParaRPr>
          </a:p>
        </p:txBody>
      </p:sp>
      <p:sp>
        <p:nvSpPr>
          <p:cNvPr id="4" name="Text Placeholder 4"/>
          <p:cNvSpPr txBox="1">
            <a:spLocks noChangeArrowheads="1"/>
          </p:cNvSpPr>
          <p:nvPr/>
        </p:nvSpPr>
        <p:spPr bwMode="auto">
          <a:xfrm>
            <a:off x="1587520" y="2745602"/>
            <a:ext cx="730377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三、0/1背包问题（分支限界法）</a:t>
            </a:r>
            <a:endParaRPr lang="zh-CN" altLang="en-US" b="1" dirty="0">
              <a:solidFill>
                <a:schemeClr val="bg1">
                  <a:lumMod val="65000"/>
                </a:schemeClr>
              </a:solidFill>
              <a:latin typeface="微软雅黑" panose="020B0503020204020204" charset="-122"/>
              <a:ea typeface="微软雅黑" panose="020B0503020204020204" charset="-122"/>
            </a:endParaRPr>
          </a:p>
        </p:txBody>
      </p:sp>
      <p:sp>
        <p:nvSpPr>
          <p:cNvPr id="6" name="Text Placeholder 4"/>
          <p:cNvSpPr txBox="1">
            <a:spLocks noChangeArrowheads="1"/>
          </p:cNvSpPr>
          <p:nvPr/>
        </p:nvSpPr>
        <p:spPr bwMode="auto">
          <a:xfrm>
            <a:off x="1581150" y="3617595"/>
            <a:ext cx="8523605"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四、连续邮资问题（回溯法）</a:t>
            </a:r>
            <a:endParaRPr lang="zh-CN" altLang="en-US" b="1" dirty="0">
              <a:solidFill>
                <a:srgbClr val="C00000"/>
              </a:solidFill>
              <a:latin typeface="微软雅黑" panose="020B0503020204020204" charset="-122"/>
              <a:ea typeface="微软雅黑" panose="020B0503020204020204" charset="-122"/>
            </a:endParaRPr>
          </a:p>
        </p:txBody>
      </p:sp>
      <p:sp>
        <p:nvSpPr>
          <p:cNvPr id="9" name="Text Placeholder 4"/>
          <p:cNvSpPr txBox="1">
            <a:spLocks noChangeArrowheads="1"/>
          </p:cNvSpPr>
          <p:nvPr/>
        </p:nvSpPr>
        <p:spPr bwMode="auto">
          <a:xfrm>
            <a:off x="1581170" y="4552812"/>
            <a:ext cx="7303770" cy="104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defRPr sz="3200">
                <a:solidFill>
                  <a:schemeClr val="tx1"/>
                </a:solidFill>
                <a:latin typeface="Calibri" panose="020F0502020204030204" charset="0"/>
                <a:ea typeface="宋体" panose="02010600030101010101" pitchFamily="2" charset="-122"/>
              </a:defRPr>
            </a:lvl1pPr>
            <a:lvl2pPr defTabSz="685800">
              <a:defRPr sz="2800">
                <a:solidFill>
                  <a:schemeClr val="tx1"/>
                </a:solidFill>
                <a:latin typeface="Calibri" panose="020F0502020204030204" charset="0"/>
                <a:ea typeface="宋体" panose="02010600030101010101" pitchFamily="2" charset="-122"/>
              </a:defRPr>
            </a:lvl2pPr>
            <a:lvl3pPr defTabSz="685800">
              <a:defRPr sz="2400">
                <a:solidFill>
                  <a:schemeClr val="tx1"/>
                </a:solidFill>
                <a:latin typeface="Calibri" panose="020F0502020204030204" charset="0"/>
                <a:ea typeface="宋体" panose="02010600030101010101" pitchFamily="2" charset="-122"/>
              </a:defRPr>
            </a:lvl3pPr>
            <a:lvl4pPr defTabSz="685800">
              <a:defRPr sz="2000">
                <a:solidFill>
                  <a:schemeClr val="tx1"/>
                </a:solidFill>
                <a:latin typeface="Calibri" panose="020F0502020204030204" charset="0"/>
                <a:ea typeface="宋体" panose="02010600030101010101" pitchFamily="2" charset="-122"/>
              </a:defRPr>
            </a:lvl4pPr>
            <a:lvl5pPr defTabSz="685800">
              <a:defRPr sz="2000">
                <a:solidFill>
                  <a:schemeClr val="tx1"/>
                </a:solidFill>
                <a:latin typeface="Calibri" panose="020F0502020204030204" charset="0"/>
                <a:ea typeface="宋体" panose="02010600030101010101" pitchFamily="2" charset="-122"/>
              </a:defRPr>
            </a:lvl5pPr>
            <a:lvl6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6pPr>
            <a:lvl7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7pPr>
            <a:lvl8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8pPr>
            <a:lvl9pPr defTabSz="685800" eaLnBrk="0" fontAlgn="base" hangingPunct="0">
              <a:spcAft>
                <a:spcPct val="0"/>
              </a:spcAft>
              <a:buChar char="»"/>
              <a:defRPr sz="2000">
                <a:solidFill>
                  <a:schemeClr val="tx1"/>
                </a:solidFill>
                <a:latin typeface="Calibri" panose="020F0502020204030204" charset="0"/>
                <a:ea typeface="宋体" panose="02010600030101010101" pitchFamily="2" charset="-122"/>
              </a:defRPr>
            </a:lvl9pPr>
          </a:lstStyle>
          <a:p>
            <a:pPr indent="-257175" eaLnBrk="1" hangingPunct="1">
              <a:spcBef>
                <a:spcPct val="20000"/>
              </a:spcBef>
            </a:pPr>
            <a:r>
              <a:rPr lang="zh-CN" altLang="en-US" b="1" dirty="0">
                <a:solidFill>
                  <a:srgbClr val="C00000"/>
                </a:solidFill>
                <a:latin typeface="微软雅黑" panose="020B0503020204020204" charset="-122"/>
                <a:ea typeface="微软雅黑" panose="020B0503020204020204" charset="-122"/>
              </a:rPr>
              <a:t>五、</a:t>
            </a:r>
            <a:r>
              <a:rPr lang="en-US" altLang="zh-CN" b="1" dirty="0">
                <a:solidFill>
                  <a:srgbClr val="C00000"/>
                </a:solidFill>
                <a:latin typeface="微软雅黑" panose="020B0503020204020204" charset="-122"/>
                <a:ea typeface="微软雅黑" panose="020B0503020204020204" charset="-122"/>
              </a:rPr>
              <a:t>m</a:t>
            </a:r>
            <a:r>
              <a:rPr lang="zh-CN" altLang="en-US" b="1" dirty="0">
                <a:solidFill>
                  <a:srgbClr val="C00000"/>
                </a:solidFill>
                <a:latin typeface="微软雅黑" panose="020B0503020204020204" charset="-122"/>
                <a:ea typeface="微软雅黑" panose="020B0503020204020204" charset="-122"/>
              </a:rPr>
              <a:t>个不相交子段最大和（动态规划）</a:t>
            </a:r>
            <a:endParaRPr lang="zh-CN" altLang="en-US" b="1" dirty="0">
              <a:solidFill>
                <a:srgbClr val="C00000"/>
              </a:solidFill>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1198880"/>
          </a:xfrm>
          <a:prstGeom prst="rect">
            <a:avLst/>
          </a:prstGeom>
          <a:noFill/>
        </p:spPr>
        <p:txBody>
          <a:bodyPr wrap="square" rtlCol="0">
            <a:spAutoFit/>
          </a:bodyPr>
          <a:lstStyle/>
          <a:p>
            <a:r>
              <a:rPr lang="zh-CN" sz="3600" b="1" dirty="0">
                <a:solidFill>
                  <a:srgbClr val="274FA2"/>
                </a:solidFill>
                <a:latin typeface="微软雅黑" panose="020B0503020204020204" charset="-122"/>
                <a:ea typeface="微软雅黑" panose="020B0503020204020204" charset="-122"/>
                <a:cs typeface="+mj-cs"/>
                <a:sym typeface="+mn-ea"/>
              </a:rPr>
              <a:t>一、找第2大元素（分治法）</a:t>
            </a:r>
            <a:endParaRPr lang="zh-CN" altLang="en-US" sz="3600" b="1" dirty="0">
              <a:solidFill>
                <a:srgbClr val="C00000"/>
              </a:solidFill>
              <a:latin typeface="微软雅黑" panose="020B0503020204020204" charset="-122"/>
              <a:ea typeface="微软雅黑" panose="020B0503020204020204" charset="-122"/>
            </a:endParaRPr>
          </a:p>
          <a:p>
            <a:endParaRPr lang="zh-CN" sz="3600" b="1" dirty="0">
              <a:solidFill>
                <a:srgbClr val="274FA2"/>
              </a:solidFill>
              <a:latin typeface="微软雅黑" panose="020B0503020204020204" charset="-122"/>
              <a:ea typeface="微软雅黑" panose="020B0503020204020204" charset="-122"/>
              <a:cs typeface="+mj-cs"/>
            </a:endParaRPr>
          </a:p>
        </p:txBody>
      </p:sp>
      <p:pic>
        <p:nvPicPr>
          <p:cNvPr id="5" name="图片 4"/>
          <p:cNvPicPr>
            <a:picLocks noChangeAspect="1"/>
          </p:cNvPicPr>
          <p:nvPr/>
        </p:nvPicPr>
        <p:blipFill>
          <a:blip r:embed="rId1"/>
          <a:stretch>
            <a:fillRect/>
          </a:stretch>
        </p:blipFill>
        <p:spPr>
          <a:xfrm>
            <a:off x="758825" y="2099310"/>
            <a:ext cx="10442575" cy="734060"/>
          </a:xfrm>
          <a:prstGeom prst="rect">
            <a:avLst/>
          </a:prstGeom>
        </p:spPr>
      </p:pic>
      <p:sp>
        <p:nvSpPr>
          <p:cNvPr id="7" name="文本框 6"/>
          <p:cNvSpPr txBox="1"/>
          <p:nvPr/>
        </p:nvSpPr>
        <p:spPr>
          <a:xfrm>
            <a:off x="1377315" y="3429000"/>
            <a:ext cx="9500870" cy="1322070"/>
          </a:xfrm>
          <a:prstGeom prst="rect">
            <a:avLst/>
          </a:prstGeom>
          <a:noFill/>
        </p:spPr>
        <p:txBody>
          <a:bodyPr wrap="square" rtlCol="0">
            <a:spAutoFit/>
          </a:bodyPr>
          <a:lstStyle/>
          <a:p>
            <a:r>
              <a:rPr lang="zh-CN" altLang="en-US" sz="2000" b="1">
                <a:latin typeface="宋体" panose="02010600030101010101" pitchFamily="2" charset="-122"/>
                <a:ea typeface="宋体" panose="02010600030101010101" pitchFamily="2" charset="-122"/>
                <a:sym typeface="+mn-ea"/>
              </a:rPr>
              <a:t>分解：</a:t>
            </a:r>
            <a:r>
              <a:rPr lang="zh-CN" altLang="en-US" sz="2000">
                <a:latin typeface="宋体" panose="02010600030101010101" pitchFamily="2" charset="-122"/>
                <a:ea typeface="宋体" panose="02010600030101010101" pitchFamily="2" charset="-122"/>
                <a:sym typeface="+mn-ea"/>
              </a:rPr>
              <a:t>将数组分为两个子数组，在子数组中递归求解最大值和次大值。</a:t>
            </a:r>
            <a:r>
              <a:rPr lang="en-US" altLang="zh-CN" sz="2000">
                <a:latin typeface="宋体" panose="02010600030101010101" pitchFamily="2" charset="-122"/>
                <a:ea typeface="宋体" panose="02010600030101010101" pitchFamily="2" charset="-122"/>
                <a:sym typeface="+mn-ea"/>
              </a:rPr>
              <a:t>	</a:t>
            </a:r>
            <a:r>
              <a:rPr lang="zh-CN" altLang="en-US" sz="2000">
                <a:latin typeface="宋体" panose="02010600030101010101" pitchFamily="2" charset="-122"/>
                <a:ea typeface="宋体" panose="02010600030101010101" pitchFamily="2" charset="-122"/>
                <a:sym typeface="+mn-ea"/>
              </a:rPr>
              <a:t>（分到什么程度 =&gt; 子问题足够简单）</a:t>
            </a:r>
            <a:endParaRPr lang="zh-CN" altLang="en-US" sz="2000">
              <a:latin typeface="宋体" panose="02010600030101010101" pitchFamily="2" charset="-122"/>
              <a:ea typeface="宋体" panose="02010600030101010101" pitchFamily="2" charset="-122"/>
            </a:endParaRPr>
          </a:p>
          <a:p>
            <a:endParaRPr lang="zh-CN" altLang="en-US" sz="2000" b="1">
              <a:latin typeface="宋体" panose="02010600030101010101" pitchFamily="2" charset="-122"/>
              <a:ea typeface="宋体" panose="02010600030101010101" pitchFamily="2" charset="-122"/>
              <a:cs typeface="宋体" panose="02010600030101010101" pitchFamily="2" charset="-122"/>
            </a:endParaRPr>
          </a:p>
          <a:p>
            <a:r>
              <a:rPr lang="zh-CN" altLang="en-US" sz="2000" b="1">
                <a:latin typeface="宋体" panose="02010600030101010101" pitchFamily="2" charset="-122"/>
                <a:ea typeface="宋体" panose="02010600030101010101" pitchFamily="2" charset="-122"/>
                <a:cs typeface="宋体" panose="02010600030101010101" pitchFamily="2" charset="-122"/>
              </a:rPr>
              <a:t>合并：</a:t>
            </a:r>
            <a:r>
              <a:rPr lang="zh-CN" altLang="en-US" sz="2000">
                <a:latin typeface="宋体" panose="02010600030101010101" pitchFamily="2" charset="-122"/>
                <a:ea typeface="宋体" panose="02010600030101010101" pitchFamily="2" charset="-122"/>
                <a:cs typeface="宋体" panose="02010600030101010101" pitchFamily="2" charset="-122"/>
              </a:rPr>
              <a:t>比较两个子数组的最大</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次大值。</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2"/>
          <a:srcRect b="61983"/>
          <a:stretch>
            <a:fillRect/>
          </a:stretch>
        </p:blipFill>
        <p:spPr>
          <a:xfrm>
            <a:off x="662305" y="944245"/>
            <a:ext cx="10433685" cy="8045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0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2" name="文本框 1"/>
          <p:cNvSpPr txBox="1"/>
          <p:nvPr/>
        </p:nvSpPr>
        <p:spPr>
          <a:xfrm>
            <a:off x="231775" y="752475"/>
            <a:ext cx="7332980" cy="5990590"/>
          </a:xfrm>
          <a:prstGeom prst="rect">
            <a:avLst/>
          </a:prstGeom>
          <a:solidFill>
            <a:srgbClr val="F9FAFA"/>
          </a:solidFill>
        </p:spPr>
        <p:txBody>
          <a:bodyPr wrap="square">
            <a:spAutoFit/>
          </a:bodyPr>
          <a:lstStyle/>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Function FindSecondLargest(arr):</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If length of arr &lt; 2:</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Return None</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Function DivideConquer(left, right):</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If left == right:			</a:t>
            </a:r>
            <a:r>
              <a:rPr lang="en-US" altLang="zh-CN" sz="1600" b="0">
                <a:solidFill>
                  <a:schemeClr val="accent6"/>
                </a:solidFill>
                <a:latin typeface="宋体" panose="02010600030101010101" pitchFamily="2" charset="-122"/>
                <a:ea typeface="宋体" panose="02010600030101010101" pitchFamily="2" charset="-122"/>
              </a:rPr>
              <a:t>//1.</a:t>
            </a:r>
            <a:r>
              <a:rPr lang="zh-CN" altLang="en-US" sz="1600" b="0">
                <a:solidFill>
                  <a:schemeClr val="accent6"/>
                </a:solidFill>
                <a:latin typeface="宋体" panose="02010600030101010101" pitchFamily="2" charset="-122"/>
                <a:ea typeface="宋体" panose="02010600030101010101" pitchFamily="2" charset="-122"/>
              </a:rPr>
              <a:t>区间只有一个元素</a:t>
            </a:r>
            <a:endParaRPr lang="en-US" altLang="zh-CN" sz="1600" b="0">
              <a:solidFill>
                <a:schemeClr val="accent6"/>
              </a:solidFill>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Return (arr[left], -∞)			//</a:t>
            </a:r>
            <a:r>
              <a:rPr lang="zh-CN" altLang="en-US" sz="1600" b="0">
                <a:latin typeface="宋体" panose="02010600030101010101" pitchFamily="2" charset="-122"/>
                <a:ea typeface="宋体" panose="02010600030101010101" pitchFamily="2" charset="-122"/>
              </a:rPr>
              <a:t>没有次大值，用负无穷表示</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If right - left == 1:	</a:t>
            </a:r>
            <a:r>
              <a:rPr lang="en-US" altLang="zh-CN" sz="1600" b="0">
                <a:solidFill>
                  <a:schemeClr val="accent6"/>
                </a:solidFill>
                <a:latin typeface="宋体" panose="02010600030101010101" pitchFamily="2" charset="-122"/>
                <a:ea typeface="宋体" panose="02010600030101010101" pitchFamily="2" charset="-122"/>
              </a:rPr>
              <a:t>//2.</a:t>
            </a:r>
            <a:r>
              <a:rPr lang="zh-CN" altLang="en-US" sz="1600" b="0">
                <a:solidFill>
                  <a:schemeClr val="accent6"/>
                </a:solidFill>
                <a:latin typeface="宋体" panose="02010600030101010101" pitchFamily="2" charset="-122"/>
                <a:ea typeface="宋体" panose="02010600030101010101" pitchFamily="2" charset="-122"/>
              </a:rPr>
              <a:t>区间两个元素，返回最大值次大值</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a ← arr[left]</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b ← arr[right]</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Return (max(a, b), min(a, b))</a:t>
            </a:r>
            <a:endParaRPr lang="en-US" altLang="zh-CN" sz="1600" b="0">
              <a:latin typeface="宋体" panose="02010600030101010101" pitchFamily="2" charset="-122"/>
              <a:ea typeface="宋体" panose="02010600030101010101" pitchFamily="2" charset="-122"/>
            </a:endParaRPr>
          </a:p>
          <a:p>
            <a:pPr marL="2743200" lvl="6" indent="457200" defTabSz="266700">
              <a:lnSpc>
                <a:spcPct val="120000"/>
              </a:lnSpc>
              <a:spcBef>
                <a:spcPct val="0"/>
              </a:spcBef>
              <a:spcAft>
                <a:spcPct val="0"/>
              </a:spcAft>
            </a:pPr>
            <a:r>
              <a:rPr lang="en-US" altLang="zh-CN" sz="1600" b="0">
                <a:solidFill>
                  <a:schemeClr val="accent6"/>
                </a:solidFill>
                <a:latin typeface="宋体" panose="02010600030101010101" pitchFamily="2" charset="-122"/>
                <a:ea typeface="宋体" panose="02010600030101010101" pitchFamily="2" charset="-122"/>
              </a:rPr>
              <a:t>//3.</a:t>
            </a:r>
            <a:r>
              <a:rPr lang="zh-CN" altLang="en-US" sz="1600" b="0">
                <a:solidFill>
                  <a:schemeClr val="accent6"/>
                </a:solidFill>
                <a:latin typeface="宋体" panose="02010600030101010101" pitchFamily="2" charset="-122"/>
                <a:ea typeface="宋体" panose="02010600030101010101" pitchFamily="2" charset="-122"/>
              </a:rPr>
              <a:t>区间有多个元素，分解区间递归求解</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mid ← (left + right) // 2</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(L1, L2) ← DivideConquer(left, mid) 		//</a:t>
            </a:r>
            <a:r>
              <a:rPr lang="zh-CN" altLang="en-US" sz="1600" b="0">
                <a:latin typeface="宋体" panose="02010600030101010101" pitchFamily="2" charset="-122"/>
                <a:ea typeface="宋体" panose="02010600030101010101" pitchFamily="2" charset="-122"/>
              </a:rPr>
              <a:t>递归左半区间</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(R1, R2) ← DivideConquer(mid + 1, right)	//</a:t>
            </a:r>
            <a:r>
              <a:rPr lang="zh-CN" altLang="en-US" sz="1600" b="0">
                <a:latin typeface="宋体" panose="02010600030101010101" pitchFamily="2" charset="-122"/>
                <a:ea typeface="宋体" panose="02010600030101010101" pitchFamily="2" charset="-122"/>
              </a:rPr>
              <a:t>递归右半区间</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If L1 &gt; R1:</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Return (L1, max(R1, L2))</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Else If R1 &gt; L1:</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Return (R1, max(L1, R2))</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Else:</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b="0">
                <a:latin typeface="宋体" panose="02010600030101010101" pitchFamily="2" charset="-122"/>
                <a:ea typeface="宋体" panose="02010600030101010101" pitchFamily="2" charset="-122"/>
              </a:rPr>
              <a:t>            Return (L1, max(L2, R2))</a:t>
            </a:r>
            <a:endParaRPr lang="en-US" altLang="zh-CN" sz="1600" b="0">
              <a:latin typeface="宋体" panose="02010600030101010101" pitchFamily="2" charset="-122"/>
              <a:ea typeface="宋体" panose="02010600030101010101" pitchFamily="2" charset="-122"/>
            </a:endParaRPr>
          </a:p>
        </p:txBody>
      </p:sp>
      <p:sp>
        <p:nvSpPr>
          <p:cNvPr id="5" name="文本框 4"/>
          <p:cNvSpPr txBox="1"/>
          <p:nvPr/>
        </p:nvSpPr>
        <p:spPr>
          <a:xfrm>
            <a:off x="6267450" y="5198745"/>
            <a:ext cx="5702300" cy="1544320"/>
          </a:xfrm>
          <a:prstGeom prst="rect">
            <a:avLst/>
          </a:prstGeom>
          <a:solidFill>
            <a:srgbClr val="F9FAFA"/>
          </a:solidFill>
          <a:ln>
            <a:solidFill>
              <a:schemeClr val="bg1">
                <a:lumMod val="95000"/>
              </a:schemeClr>
            </a:solidFill>
          </a:ln>
        </p:spPr>
        <p:txBody>
          <a:bodyPr wrap="square" rtlCol="0" anchor="t">
            <a:noAutofit/>
          </a:bodyPr>
          <a:lstStyle/>
          <a:p>
            <a:pPr defTabSz="266700">
              <a:lnSpc>
                <a:spcPct val="120000"/>
              </a:lnSpc>
              <a:spcBef>
                <a:spcPct val="0"/>
              </a:spcBef>
              <a:spcAft>
                <a:spcPct val="0"/>
              </a:spcAft>
            </a:pPr>
            <a:r>
              <a:rPr lang="en-US" altLang="zh-CN" sz="1600">
                <a:latin typeface="宋体" panose="02010600030101010101" pitchFamily="2" charset="-122"/>
                <a:ea typeface="宋体" panose="02010600030101010101" pitchFamily="2" charset="-122"/>
                <a:sym typeface="+mn-ea"/>
              </a:rPr>
              <a:t>    (max1, max2) ← DivideConquer(0, length(arr) - 1)</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a:latin typeface="宋体" panose="02010600030101010101" pitchFamily="2" charset="-122"/>
                <a:ea typeface="宋体" panose="02010600030101010101" pitchFamily="2" charset="-122"/>
                <a:sym typeface="+mn-ea"/>
              </a:rPr>
              <a:t>    If max2 == -∞:		//</a:t>
            </a:r>
            <a:r>
              <a:rPr lang="zh-CN" altLang="en-US" sz="1600">
                <a:latin typeface="宋体" panose="02010600030101010101" pitchFamily="2" charset="-122"/>
                <a:ea typeface="宋体" panose="02010600030101010101" pitchFamily="2" charset="-122"/>
                <a:sym typeface="+mn-ea"/>
              </a:rPr>
              <a:t>检查次大值是否存在</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a:latin typeface="宋体" panose="02010600030101010101" pitchFamily="2" charset="-122"/>
                <a:ea typeface="宋体" panose="02010600030101010101" pitchFamily="2" charset="-122"/>
                <a:sym typeface="+mn-ea"/>
              </a:rPr>
              <a:t>        Return None</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a:latin typeface="宋体" panose="02010600030101010101" pitchFamily="2" charset="-122"/>
                <a:ea typeface="宋体" panose="02010600030101010101" pitchFamily="2" charset="-122"/>
                <a:sym typeface="+mn-ea"/>
              </a:rPr>
              <a:t>    Else:</a:t>
            </a:r>
            <a:endParaRPr lang="en-US" altLang="zh-CN" sz="1600"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sz="1600">
                <a:latin typeface="宋体" panose="02010600030101010101" pitchFamily="2" charset="-122"/>
                <a:ea typeface="宋体" panose="02010600030101010101" pitchFamily="2" charset="-122"/>
                <a:sym typeface="+mn-ea"/>
              </a:rPr>
              <a:t>        Return max2</a:t>
            </a:r>
            <a:endParaRPr lang="en-US" altLang="zh-CN" sz="1600">
              <a:latin typeface="宋体" panose="02010600030101010101" pitchFamily="2" charset="-122"/>
              <a:ea typeface="宋体" panose="02010600030101010101" pitchFamily="2" charset="-122"/>
              <a:sym typeface="+mn-ea"/>
            </a:endParaRPr>
          </a:p>
        </p:txBody>
      </p:sp>
      <p:sp>
        <p:nvSpPr>
          <p:cNvPr id="7" name="文本框 6"/>
          <p:cNvSpPr txBox="1"/>
          <p:nvPr/>
        </p:nvSpPr>
        <p:spPr>
          <a:xfrm>
            <a:off x="8067040" y="902970"/>
            <a:ext cx="3622040" cy="1788795"/>
          </a:xfrm>
          <a:prstGeom prst="rect">
            <a:avLst/>
          </a:prstGeom>
          <a:ln>
            <a:solidFill>
              <a:schemeClr val="bg1">
                <a:lumMod val="95000"/>
              </a:schemeClr>
            </a:solidFill>
          </a:ln>
        </p:spPr>
        <p:txBody>
          <a:bodyPr wrap="square">
            <a:spAutoFit/>
          </a:bodyPr>
          <a:lstStyle/>
          <a:p>
            <a:pPr defTabSz="266700">
              <a:lnSpc>
                <a:spcPct val="120000"/>
              </a:lnSpc>
              <a:spcBef>
                <a:spcPct val="0"/>
              </a:spcBef>
              <a:spcAft>
                <a:spcPct val="0"/>
              </a:spcAft>
            </a:pPr>
            <a:r>
              <a:rPr lang="zh-CN" altLang="en-US" sz="2000" b="1">
                <a:latin typeface="宋体" panose="02010600030101010101" pitchFamily="2" charset="-122"/>
                <a:ea typeface="宋体" panose="02010600030101010101" pitchFamily="2" charset="-122"/>
              </a:rPr>
              <a:t>时间复杂度分析：</a:t>
            </a:r>
            <a:br>
              <a:rPr lang="zh-CN" altLang="en-US" b="0">
                <a:latin typeface="宋体" panose="02010600030101010101" pitchFamily="2" charset="-122"/>
                <a:ea typeface="宋体" panose="02010600030101010101" pitchFamily="2" charset="-122"/>
              </a:rPr>
            </a:br>
            <a:r>
              <a:rPr lang="zh-CN" altLang="en-US" b="0">
                <a:latin typeface="宋体" panose="02010600030101010101" pitchFamily="2" charset="-122"/>
                <a:ea typeface="宋体" panose="02010600030101010101" pitchFamily="2" charset="-122"/>
              </a:rPr>
              <a:t>每次将问题分解为两个子问题，合并时间为常数，递归式为</a:t>
            </a:r>
            <a:r>
              <a:rPr lang="en-US" altLang="zh-CN" b="0">
                <a:latin typeface="宋体" panose="02010600030101010101" pitchFamily="2" charset="-122"/>
                <a:ea typeface="宋体" panose="02010600030101010101" pitchFamily="2" charset="-122"/>
              </a:rPr>
              <a:t> T(n)=2T(n/2)+O(1)</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zh-CN" altLang="en-US" b="0">
                <a:latin typeface="宋体" panose="02010600030101010101" pitchFamily="2" charset="-122"/>
                <a:ea typeface="宋体" panose="02010600030101010101" pitchFamily="2" charset="-122"/>
              </a:rPr>
              <a:t>时间复杂度为</a:t>
            </a:r>
            <a:r>
              <a:rPr lang="en-US" altLang="zh-CN" b="0">
                <a:latin typeface="宋体" panose="02010600030101010101" pitchFamily="2" charset="-122"/>
                <a:ea typeface="宋体" panose="02010600030101010101" pitchFamily="2" charset="-122"/>
              </a:rPr>
              <a:t> O(n</a:t>
            </a:r>
            <a:r>
              <a:rPr lang="en-US" altLang="zh-CN" b="0" baseline="30000">
                <a:latin typeface="宋体" panose="02010600030101010101" pitchFamily="2" charset="-122"/>
                <a:ea typeface="宋体" panose="02010600030101010101" pitchFamily="2" charset="-122"/>
              </a:rPr>
              <a:t>log</a:t>
            </a:r>
            <a:r>
              <a:rPr lang="en-US" altLang="zh-CN" b="0" baseline="-25000">
                <a:latin typeface="宋体" panose="02010600030101010101" pitchFamily="2" charset="-122"/>
                <a:ea typeface="宋体" panose="02010600030101010101" pitchFamily="2" charset="-122"/>
              </a:rPr>
              <a:t>2</a:t>
            </a:r>
            <a:r>
              <a:rPr lang="en-US" altLang="zh-CN" b="0" baseline="30000">
                <a:latin typeface="宋体" panose="02010600030101010101" pitchFamily="2" charset="-122"/>
                <a:ea typeface="宋体" panose="02010600030101010101" pitchFamily="2" charset="-122"/>
              </a:rPr>
              <a:t>2</a:t>
            </a:r>
            <a:r>
              <a:rPr lang="en-US" altLang="zh-CN" b="0">
                <a:latin typeface="宋体" panose="02010600030101010101" pitchFamily="2" charset="-122"/>
                <a:ea typeface="宋体" panose="02010600030101010101" pitchFamily="2" charset="-122"/>
              </a:rPr>
              <a:t>)=O(n)</a:t>
            </a:r>
            <a:endParaRPr lang="en-US" altLang="zh-CN" b="0">
              <a:latin typeface="宋体" panose="02010600030101010101" pitchFamily="2" charset="-122"/>
              <a:ea typeface="宋体" panose="02010600030101010101" pitchFamily="2" charset="-122"/>
            </a:endParaRPr>
          </a:p>
        </p:txBody>
      </p:sp>
      <p:sp>
        <p:nvSpPr>
          <p:cNvPr id="8" name="文本框 7"/>
          <p:cNvSpPr txBox="1"/>
          <p:nvPr/>
        </p:nvSpPr>
        <p:spPr>
          <a:xfrm>
            <a:off x="565785" y="116840"/>
            <a:ext cx="10627360" cy="1198880"/>
          </a:xfrm>
          <a:prstGeom prst="rect">
            <a:avLst/>
          </a:prstGeom>
          <a:noFill/>
        </p:spPr>
        <p:txBody>
          <a:bodyPr wrap="square" rtlCol="0">
            <a:spAutoFit/>
          </a:bodyPr>
          <a:lstStyle/>
          <a:p>
            <a:r>
              <a:rPr lang="zh-CN" sz="3600" b="1" dirty="0">
                <a:solidFill>
                  <a:srgbClr val="274FA2"/>
                </a:solidFill>
                <a:latin typeface="微软雅黑" panose="020B0503020204020204" charset="-122"/>
                <a:ea typeface="微软雅黑" panose="020B0503020204020204" charset="-122"/>
                <a:cs typeface="+mj-cs"/>
                <a:sym typeface="+mn-ea"/>
              </a:rPr>
              <a:t>一、找第2大元素（分治法）</a:t>
            </a:r>
            <a:endParaRPr lang="zh-CN" altLang="en-US" sz="3600" b="1" dirty="0">
              <a:solidFill>
                <a:srgbClr val="C00000"/>
              </a:solidFill>
              <a:latin typeface="微软雅黑" panose="020B0503020204020204" charset="-122"/>
              <a:ea typeface="微软雅黑" panose="020B0503020204020204" charset="-122"/>
            </a:endParaRPr>
          </a:p>
          <a:p>
            <a:endParaRPr lang="zh-CN" sz="3600" b="1" dirty="0">
              <a:solidFill>
                <a:srgbClr val="274FA2"/>
              </a:solidFill>
              <a:latin typeface="微软雅黑" panose="020B0503020204020204" charset="-122"/>
              <a:ea typeface="微软雅黑" panose="020B0503020204020204" charset="-122"/>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5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565785" y="116840"/>
            <a:ext cx="10627360" cy="645160"/>
          </a:xfrm>
          <a:prstGeom prst="rect">
            <a:avLst/>
          </a:prstGeom>
          <a:noFill/>
        </p:spPr>
        <p:txBody>
          <a:bodyPr wrap="square" rtlCol="0">
            <a:spAutoFit/>
          </a:bodyPr>
          <a:lstStyle/>
          <a:p>
            <a:r>
              <a:rPr lang="zh-CN" sz="3600" b="1" dirty="0">
                <a:solidFill>
                  <a:srgbClr val="274FA2"/>
                </a:solidFill>
                <a:latin typeface="微软雅黑" panose="020B0503020204020204" charset="-122"/>
                <a:ea typeface="微软雅黑" panose="020B0503020204020204" charset="-122"/>
                <a:cs typeface="+mj-cs"/>
                <a:sym typeface="+mn-ea"/>
              </a:rPr>
              <a:t>二、最少会场数安排（贪心）</a:t>
            </a:r>
            <a:endParaRPr lang="zh-CN" sz="3600" b="1" dirty="0">
              <a:solidFill>
                <a:srgbClr val="274FA2"/>
              </a:solidFill>
              <a:latin typeface="微软雅黑" panose="020B0503020204020204" charset="-122"/>
              <a:ea typeface="微软雅黑" panose="020B0503020204020204" charset="-122"/>
              <a:cs typeface="+mj-cs"/>
            </a:endParaRPr>
          </a:p>
        </p:txBody>
      </p:sp>
      <p:sp>
        <p:nvSpPr>
          <p:cNvPr id="9" name="文本框 8"/>
          <p:cNvSpPr txBox="1"/>
          <p:nvPr/>
        </p:nvSpPr>
        <p:spPr>
          <a:xfrm>
            <a:off x="793750" y="3180080"/>
            <a:ext cx="11036300" cy="1014730"/>
          </a:xfrm>
          <a:prstGeom prst="rect">
            <a:avLst/>
          </a:prstGeom>
          <a:noFill/>
        </p:spPr>
        <p:txBody>
          <a:bodyPr wrap="square" rtlCol="0">
            <a:spAutoFit/>
          </a:bodyPr>
          <a:lstStyle/>
          <a:p>
            <a:pPr marL="0" indent="0" latinLnBrk="0">
              <a:lnSpc>
                <a:spcPct val="150000"/>
              </a:lnSpc>
            </a:pPr>
            <a:r>
              <a:rPr lang="zh-CN" altLang="en-US" sz="2000" b="1" dirty="0">
                <a:latin typeface="宋体" panose="02010600030101010101" pitchFamily="2" charset="-122"/>
                <a:ea typeface="宋体" panose="02010600030101010101" pitchFamily="2" charset="-122"/>
              </a:rPr>
              <a:t>贪心策略：</a:t>
            </a:r>
            <a:r>
              <a:rPr lang="zh-CN" altLang="en-US" sz="2000" dirty="0">
                <a:latin typeface="宋体" panose="02010600030101010101" pitchFamily="2" charset="-122"/>
                <a:ea typeface="宋体" panose="02010600030101010101" pitchFamily="2" charset="-122"/>
              </a:rPr>
              <a:t>按</a:t>
            </a:r>
            <a:r>
              <a:rPr lang="zh-CN" altLang="en-US" sz="2000" b="1" dirty="0">
                <a:latin typeface="宋体" panose="02010600030101010101" pitchFamily="2" charset="-122"/>
                <a:ea typeface="宋体" panose="02010600030101010101" pitchFamily="2" charset="-122"/>
              </a:rPr>
              <a:t>左端点排序</a:t>
            </a:r>
            <a:r>
              <a:rPr lang="zh-CN" altLang="en-US" sz="2000" dirty="0">
                <a:latin typeface="宋体" panose="02010600030101010101" pitchFamily="2" charset="-122"/>
                <a:ea typeface="宋体" panose="02010600030101010101" pitchFamily="2" charset="-122"/>
              </a:rPr>
              <a:t>，如果有会议室空闲则当前活动使用该会议室，否则再新开一个会场。</a:t>
            </a:r>
            <a:endParaRPr lang="zh-CN" altLang="en-US" sz="2000" dirty="0">
              <a:latin typeface="宋体" panose="02010600030101010101" pitchFamily="2" charset="-122"/>
              <a:ea typeface="宋体" panose="02010600030101010101" pitchFamily="2" charset="-122"/>
            </a:endParaRPr>
          </a:p>
          <a:p>
            <a:pPr marL="0" indent="0" latinLnBrk="0">
              <a:lnSpc>
                <a:spcPct val="150000"/>
              </a:lnSpc>
            </a:pPr>
            <a:r>
              <a:rPr lang="zh-CN" altLang="en-US" sz="2000" b="1" dirty="0">
                <a:latin typeface="宋体" panose="02010600030101010101" pitchFamily="2" charset="-122"/>
                <a:ea typeface="宋体" panose="02010600030101010101" pitchFamily="2" charset="-122"/>
              </a:rPr>
              <a:t>算法实现：</a:t>
            </a:r>
            <a:endParaRPr lang="zh-CN" altLang="en-US" sz="2000" b="1"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793750" y="1266190"/>
            <a:ext cx="10611485" cy="11372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6420" y="1111250"/>
            <a:ext cx="11153140" cy="4899025"/>
          </a:xfrm>
          <a:prstGeom prst="rect">
            <a:avLst/>
          </a:prstGeom>
        </p:spPr>
        <p:txBody>
          <a:bodyPr wrap="square">
            <a:spAutoFit/>
          </a:bodyPr>
          <a:lstStyle/>
          <a:p>
            <a:pPr>
              <a:spcBef>
                <a:spcPct val="0"/>
              </a:spcBef>
              <a:spcAft>
                <a:spcPct val="60000"/>
              </a:spcAft>
            </a:pPr>
            <a:r>
              <a:rPr lang="zh-CN" altLang="en-US" sz="2000" b="1" dirty="0">
                <a:latin typeface="宋体" panose="02010600030101010101" pitchFamily="2" charset="-122"/>
                <a:ea typeface="宋体" panose="02010600030101010101" pitchFamily="2" charset="-122"/>
                <a:cs typeface="宋体" panose="02010600030101010101" pitchFamily="2" charset="-122"/>
              </a:rPr>
              <a:t>方法一：</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dirty="0">
                <a:latin typeface="宋体" panose="02010600030101010101" pitchFamily="2" charset="-122"/>
                <a:ea typeface="宋体" panose="02010600030101010101" pitchFamily="2" charset="-122"/>
                <a:cs typeface="宋体" panose="02010600030101010101" pitchFamily="2" charset="-122"/>
              </a:rPr>
              <a:t>假设有 </a:t>
            </a:r>
            <a:r>
              <a:rPr lang="en-US" altLang="zh-CN" sz="2000" dirty="0">
                <a:latin typeface="宋体" panose="02010600030101010101" pitchFamily="2" charset="-122"/>
                <a:ea typeface="宋体" panose="02010600030101010101" pitchFamily="2" charset="-122"/>
                <a:cs typeface="宋体" panose="02010600030101010101" pitchFamily="2" charset="-122"/>
              </a:rPr>
              <a:t>k </a:t>
            </a:r>
            <a:r>
              <a:rPr lang="zh-CN" altLang="en-US" sz="2000" dirty="0">
                <a:latin typeface="宋体" panose="02010600030101010101" pitchFamily="2" charset="-122"/>
                <a:ea typeface="宋体" panose="02010600030101010101" pitchFamily="2" charset="-122"/>
                <a:cs typeface="宋体" panose="02010600030101010101" pitchFamily="2" charset="-122"/>
              </a:rPr>
              <a:t>个活动，每个活动有 </a:t>
            </a:r>
            <a:r>
              <a:rPr lang="en-US" altLang="zh-CN" sz="2000" dirty="0">
                <a:latin typeface="宋体" panose="02010600030101010101" pitchFamily="2" charset="-122"/>
                <a:ea typeface="宋体" panose="02010600030101010101" pitchFamily="2" charset="-122"/>
                <a:cs typeface="宋体" panose="02010600030101010101" pitchFamily="2" charset="-122"/>
              </a:rPr>
              <a:t>start </a:t>
            </a:r>
            <a:r>
              <a:rPr lang="zh-CN" altLang="en-US" sz="2000" dirty="0">
                <a:latin typeface="宋体" panose="02010600030101010101" pitchFamily="2" charset="-122"/>
                <a:ea typeface="宋体" panose="02010600030101010101" pitchFamily="2" charset="-122"/>
                <a:cs typeface="宋体" panose="02010600030101010101" pitchFamily="2" charset="-122"/>
              </a:rPr>
              <a:t>和 </a:t>
            </a:r>
            <a:r>
              <a:rPr lang="en-US" altLang="zh-CN" sz="2000" dirty="0">
                <a:latin typeface="宋体" panose="02010600030101010101" pitchFamily="2" charset="-122"/>
                <a:ea typeface="宋体" panose="02010600030101010101" pitchFamily="2" charset="-122"/>
                <a:cs typeface="宋体" panose="02010600030101010101" pitchFamily="2" charset="-122"/>
              </a:rPr>
              <a:t>end </a:t>
            </a:r>
            <a:r>
              <a:rPr lang="zh-CN" altLang="en-US" sz="2000" dirty="0">
                <a:latin typeface="宋体" panose="02010600030101010101" pitchFamily="2" charset="-122"/>
                <a:ea typeface="宋体" panose="02010600030101010101" pitchFamily="2" charset="-122"/>
                <a:cs typeface="宋体" panose="02010600030101010101" pitchFamily="2" charset="-122"/>
              </a:rPr>
              <a:t>属性。</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indent="0">
              <a:spcBef>
                <a:spcPct val="0"/>
              </a:spcBef>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1.</a:t>
            </a:r>
            <a:r>
              <a:rPr lang="zh-CN" altLang="en-US" sz="2000" b="1" dirty="0">
                <a:latin typeface="宋体" panose="02010600030101010101" pitchFamily="2" charset="-122"/>
                <a:ea typeface="宋体" panose="02010600030101010101" pitchFamily="2" charset="-122"/>
                <a:cs typeface="宋体" panose="02010600030101010101" pitchFamily="2" charset="-122"/>
              </a:rPr>
              <a:t>排序：</a:t>
            </a:r>
            <a:r>
              <a:rPr lang="zh-CN" altLang="en-US" sz="2000" dirty="0">
                <a:latin typeface="宋体" panose="02010600030101010101" pitchFamily="2" charset="-122"/>
                <a:ea typeface="宋体" panose="02010600030101010101" pitchFamily="2" charset="-122"/>
                <a:cs typeface="宋体" panose="02010600030101010101" pitchFamily="2" charset="-122"/>
              </a:rPr>
              <a:t> 将所有的 </a:t>
            </a:r>
            <a:r>
              <a:rPr lang="en-US" altLang="zh-CN" sz="2000" dirty="0">
                <a:latin typeface="宋体" panose="02010600030101010101" pitchFamily="2" charset="-122"/>
                <a:ea typeface="宋体" panose="02010600030101010101" pitchFamily="2" charset="-122"/>
                <a:cs typeface="宋体" panose="02010600030101010101" pitchFamily="2" charset="-122"/>
              </a:rPr>
              <a:t>k </a:t>
            </a:r>
            <a:r>
              <a:rPr lang="zh-CN" altLang="en-US" sz="2000" dirty="0">
                <a:latin typeface="宋体" panose="02010600030101010101" pitchFamily="2" charset="-122"/>
                <a:ea typeface="宋体" panose="02010600030101010101" pitchFamily="2" charset="-122"/>
                <a:cs typeface="宋体" panose="02010600030101010101" pitchFamily="2" charset="-122"/>
              </a:rPr>
              <a:t>个活动按照</a:t>
            </a:r>
            <a:r>
              <a:rPr lang="zh-CN" altLang="en-US" sz="2000" b="1" dirty="0">
                <a:latin typeface="宋体" panose="02010600030101010101" pitchFamily="2" charset="-122"/>
                <a:ea typeface="宋体" panose="02010600030101010101" pitchFamily="2" charset="-122"/>
                <a:cs typeface="宋体" panose="02010600030101010101" pitchFamily="2" charset="-122"/>
              </a:rPr>
              <a:t>开始时间</a:t>
            </a:r>
            <a:r>
              <a:rPr lang="zh-CN" altLang="en-US" sz="2000" dirty="0">
                <a:latin typeface="宋体" panose="02010600030101010101" pitchFamily="2" charset="-122"/>
                <a:ea typeface="宋体" panose="02010600030101010101" pitchFamily="2" charset="-122"/>
                <a:cs typeface="宋体" panose="02010600030101010101" pitchFamily="2" charset="-122"/>
              </a:rPr>
              <a:t>从小到大进行排序。</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indent="0">
              <a:spcBef>
                <a:spcPct val="0"/>
              </a:spcBef>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2.</a:t>
            </a:r>
            <a:r>
              <a:rPr lang="zh-CN" altLang="en-US" sz="2000" b="1" dirty="0">
                <a:latin typeface="宋体" panose="02010600030101010101" pitchFamily="2" charset="-122"/>
                <a:ea typeface="宋体" panose="02010600030101010101" pitchFamily="2" charset="-122"/>
                <a:cs typeface="宋体" panose="02010600030101010101" pitchFamily="2" charset="-122"/>
              </a:rPr>
              <a:t>初始化会场：</a:t>
            </a:r>
            <a:r>
              <a:rPr lang="zh-CN" altLang="en-US" sz="2000" dirty="0">
                <a:latin typeface="宋体" panose="02010600030101010101" pitchFamily="2" charset="-122"/>
                <a:ea typeface="宋体" panose="02010600030101010101" pitchFamily="2" charset="-122"/>
                <a:cs typeface="宋体" panose="02010600030101010101" pitchFamily="2" charset="-122"/>
              </a:rPr>
              <a:t> 记录</a:t>
            </a:r>
            <a:r>
              <a:rPr lang="zh-CN" altLang="en-US" sz="2000" b="1" dirty="0">
                <a:latin typeface="宋体" panose="02010600030101010101" pitchFamily="2" charset="-122"/>
                <a:ea typeface="宋体" panose="02010600030101010101" pitchFamily="2" charset="-122"/>
                <a:cs typeface="宋体" panose="02010600030101010101" pitchFamily="2" charset="-122"/>
              </a:rPr>
              <a:t>所有</a:t>
            </a:r>
            <a:r>
              <a:rPr lang="zh-CN" altLang="en-US" sz="2000" dirty="0">
                <a:latin typeface="宋体" panose="02010600030101010101" pitchFamily="2" charset="-122"/>
                <a:ea typeface="宋体" panose="02010600030101010101" pitchFamily="2" charset="-122"/>
                <a:cs typeface="宋体" panose="02010600030101010101" pitchFamily="2" charset="-122"/>
              </a:rPr>
              <a:t>正在使用中的会场的</a:t>
            </a:r>
            <a:r>
              <a:rPr lang="zh-CN" altLang="en-US" sz="2000" b="1" dirty="0">
                <a:latin typeface="宋体" panose="02010600030101010101" pitchFamily="2" charset="-122"/>
                <a:ea typeface="宋体" panose="02010600030101010101" pitchFamily="2" charset="-122"/>
                <a:cs typeface="宋体" panose="02010600030101010101" pitchFamily="2" charset="-122"/>
              </a:rPr>
              <a:t>结束时间</a:t>
            </a:r>
            <a:r>
              <a:rPr lang="zh-CN" altLang="en-US" sz="2000" dirty="0">
                <a:latin typeface="宋体" panose="02010600030101010101" pitchFamily="2" charset="-122"/>
                <a:ea typeface="宋体" panose="02010600030101010101" pitchFamily="2" charset="-122"/>
                <a:cs typeface="宋体" panose="02010600030101010101" pitchFamily="2" charset="-122"/>
              </a:rPr>
              <a:t>。</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indent="457200">
              <a:spcBef>
                <a:spcPct val="0"/>
              </a:spcBef>
              <a:buNone/>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使用</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最小堆</a:t>
            </a: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记录，堆顶元素表示：目前所有会场中，结束时间最早的那个会场的时间</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indent="0">
              <a:spcBef>
                <a:spcPct val="0"/>
              </a:spcBef>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3.</a:t>
            </a:r>
            <a:r>
              <a:rPr lang="zh-CN" altLang="en-US" sz="2000" b="1" dirty="0">
                <a:latin typeface="宋体" panose="02010600030101010101" pitchFamily="2" charset="-122"/>
                <a:ea typeface="宋体" panose="02010600030101010101" pitchFamily="2" charset="-122"/>
                <a:cs typeface="宋体" panose="02010600030101010101" pitchFamily="2" charset="-122"/>
              </a:rPr>
              <a:t>遍历分配阶段：</a:t>
            </a:r>
            <a:r>
              <a:rPr lang="zh-CN" altLang="en-US" sz="2000" dirty="0">
                <a:latin typeface="宋体" panose="02010600030101010101" pitchFamily="2" charset="-122"/>
                <a:ea typeface="宋体" panose="02010600030101010101" pitchFamily="2" charset="-122"/>
                <a:cs typeface="宋体" panose="02010600030101010101" pitchFamily="2" charset="-122"/>
              </a:rPr>
              <a:t> </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indent="0">
              <a:spcBef>
                <a:spcPct val="0"/>
              </a:spcBef>
              <a:buNone/>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依次拿出排序好的活动，对比它与</a:t>
            </a:r>
            <a:r>
              <a:rPr lang="zh-CN" altLang="en-US" sz="2000" b="1" dirty="0">
                <a:latin typeface="宋体" panose="02010600030101010101" pitchFamily="2" charset="-122"/>
                <a:ea typeface="宋体" panose="02010600030101010101" pitchFamily="2" charset="-122"/>
                <a:cs typeface="宋体" panose="02010600030101010101" pitchFamily="2" charset="-122"/>
              </a:rPr>
              <a:t>“最早空闲会场”</a:t>
            </a:r>
            <a:r>
              <a:rPr lang="zh-CN" altLang="en-US" sz="2000" dirty="0">
                <a:latin typeface="宋体" panose="02010600030101010101" pitchFamily="2" charset="-122"/>
                <a:ea typeface="宋体" panose="02010600030101010101" pitchFamily="2" charset="-122"/>
                <a:cs typeface="宋体" panose="02010600030101010101" pitchFamily="2" charset="-122"/>
              </a:rPr>
              <a:t>的时间：</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lvl="1" indent="0">
              <a:spcBef>
                <a:spcPct val="0"/>
              </a:spcBef>
              <a:buFont typeface="Arial" panose="020B0604020202020204"/>
              <a:buNone/>
            </a:pPr>
            <a:r>
              <a:rPr lang="zh-CN" altLang="en-US" sz="2000" dirty="0">
                <a:latin typeface="宋体" panose="02010600030101010101" pitchFamily="2" charset="-122"/>
                <a:ea typeface="宋体" panose="02010600030101010101" pitchFamily="2" charset="-122"/>
                <a:cs typeface="宋体" panose="02010600030101010101" pitchFamily="2" charset="-122"/>
              </a:rPr>
              <a:t>找出目前所有会场中，结束时间最早的那个会场的时间（即最小堆的堆顶元素）。</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lvl="1" indent="0">
              <a:spcBef>
                <a:spcPct val="0"/>
              </a:spcBef>
              <a:buFont typeface="Arial" panose="020B0604020202020204"/>
              <a:buNone/>
            </a:pPr>
            <a:r>
              <a:rPr lang="zh-CN" altLang="en-US" sz="2000" dirty="0">
                <a:latin typeface="宋体" panose="02010600030101010101" pitchFamily="2" charset="-122"/>
                <a:ea typeface="宋体" panose="02010600030101010101" pitchFamily="2" charset="-122"/>
                <a:cs typeface="宋体" panose="02010600030101010101" pitchFamily="2" charset="-122"/>
              </a:rPr>
              <a:t>情况 </a:t>
            </a:r>
            <a:r>
              <a:rPr lang="en-US" altLang="zh-CN" sz="2000" dirty="0">
                <a:latin typeface="宋体" panose="02010600030101010101" pitchFamily="2" charset="-122"/>
                <a:ea typeface="宋体" panose="02010600030101010101" pitchFamily="2" charset="-122"/>
                <a:cs typeface="宋体" panose="02010600030101010101" pitchFamily="2" charset="-122"/>
              </a:rPr>
              <a:t>A</a:t>
            </a:r>
            <a:r>
              <a:rPr lang="zh-CN" altLang="en-US" sz="2000" dirty="0">
                <a:latin typeface="宋体" panose="02010600030101010101" pitchFamily="2" charset="-122"/>
                <a:ea typeface="宋体" panose="02010600030101010101" pitchFamily="2" charset="-122"/>
                <a:cs typeface="宋体" panose="02010600030101010101" pitchFamily="2" charset="-122"/>
              </a:rPr>
              <a:t>（能安排进去）： 如果当前活动的 </a:t>
            </a:r>
            <a:r>
              <a:rPr lang="en-US" altLang="zh-CN" sz="2000" dirty="0">
                <a:latin typeface="宋体" panose="02010600030101010101" pitchFamily="2" charset="-122"/>
                <a:ea typeface="宋体" panose="02010600030101010101" pitchFamily="2" charset="-122"/>
                <a:cs typeface="宋体" panose="02010600030101010101" pitchFamily="2" charset="-122"/>
              </a:rPr>
              <a:t>start &gt;= </a:t>
            </a:r>
            <a:r>
              <a:rPr lang="zh-CN" altLang="en-US" sz="2000" dirty="0">
                <a:latin typeface="宋体" panose="02010600030101010101" pitchFamily="2" charset="-122"/>
                <a:ea typeface="宋体" panose="02010600030101010101" pitchFamily="2" charset="-122"/>
                <a:cs typeface="宋体" panose="02010600030101010101" pitchFamily="2" charset="-122"/>
              </a:rPr>
              <a:t>最早的结束时间，说明这个最早空闲的会场可以接纳当前活动。就把该会场的结束时间更新为当前活动的 </a:t>
            </a:r>
            <a:r>
              <a:rPr lang="en-US" altLang="zh-CN" sz="2000" dirty="0">
                <a:latin typeface="宋体" panose="02010600030101010101" pitchFamily="2" charset="-122"/>
                <a:ea typeface="宋体" panose="02010600030101010101" pitchFamily="2" charset="-122"/>
                <a:cs typeface="宋体" panose="02010600030101010101" pitchFamily="2" charset="-122"/>
              </a:rPr>
              <a:t>end</a:t>
            </a:r>
            <a:r>
              <a:rPr lang="zh-CN" altLang="en-US" sz="2000" dirty="0">
                <a:latin typeface="宋体" panose="02010600030101010101" pitchFamily="2" charset="-122"/>
                <a:ea typeface="宋体" panose="02010600030101010101" pitchFamily="2" charset="-122"/>
                <a:cs typeface="宋体" panose="02010600030101010101" pitchFamily="2" charset="-122"/>
              </a:rPr>
              <a:t>。（弹出堆顶元素，将当前活动会场压入堆）</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lvl="1" indent="0">
              <a:spcBef>
                <a:spcPct val="0"/>
              </a:spcBef>
              <a:buFont typeface="Arial" panose="020B0604020202020204"/>
              <a:buNone/>
            </a:pPr>
            <a:r>
              <a:rPr lang="zh-CN" altLang="en-US" sz="2000" dirty="0">
                <a:latin typeface="宋体" panose="02010600030101010101" pitchFamily="2" charset="-122"/>
                <a:ea typeface="宋体" panose="02010600030101010101" pitchFamily="2" charset="-122"/>
                <a:cs typeface="宋体" panose="02010600030101010101" pitchFamily="2" charset="-122"/>
              </a:rPr>
              <a:t>情况 </a:t>
            </a:r>
            <a:r>
              <a:rPr lang="en-US" altLang="zh-CN" sz="2000" dirty="0">
                <a:latin typeface="宋体" panose="02010600030101010101" pitchFamily="2" charset="-122"/>
                <a:ea typeface="宋体" panose="02010600030101010101" pitchFamily="2" charset="-122"/>
                <a:cs typeface="宋体" panose="02010600030101010101" pitchFamily="2" charset="-122"/>
              </a:rPr>
              <a:t>B</a:t>
            </a:r>
            <a:r>
              <a:rPr lang="zh-CN" altLang="en-US" sz="2000" dirty="0">
                <a:latin typeface="宋体" panose="02010600030101010101" pitchFamily="2" charset="-122"/>
                <a:ea typeface="宋体" panose="02010600030101010101" pitchFamily="2" charset="-122"/>
                <a:cs typeface="宋体" panose="02010600030101010101" pitchFamily="2" charset="-122"/>
              </a:rPr>
              <a:t>（安排不进去）： 如果当前活动的 </a:t>
            </a:r>
            <a:r>
              <a:rPr lang="en-US" altLang="zh-CN" sz="2000" dirty="0">
                <a:latin typeface="宋体" panose="02010600030101010101" pitchFamily="2" charset="-122"/>
                <a:ea typeface="宋体" panose="02010600030101010101" pitchFamily="2" charset="-122"/>
                <a:cs typeface="宋体" panose="02010600030101010101" pitchFamily="2" charset="-122"/>
              </a:rPr>
              <a:t>start &lt; </a:t>
            </a:r>
            <a:r>
              <a:rPr lang="zh-CN" altLang="en-US" sz="2000" dirty="0">
                <a:latin typeface="宋体" panose="02010600030101010101" pitchFamily="2" charset="-122"/>
                <a:ea typeface="宋体" panose="02010600030101010101" pitchFamily="2" charset="-122"/>
                <a:cs typeface="宋体" panose="02010600030101010101" pitchFamily="2" charset="-122"/>
              </a:rPr>
              <a:t>最早的结束时间，说明哪怕是最早空出来的会场，此时也还在被占用。因此，所有已开的会场都在忙，此时必须新开一个会场，并记录这个新会场的结束时间为当前活动的 </a:t>
            </a:r>
            <a:r>
              <a:rPr lang="en-US" altLang="zh-CN" sz="2000" dirty="0">
                <a:latin typeface="宋体" panose="02010600030101010101" pitchFamily="2" charset="-122"/>
                <a:ea typeface="宋体" panose="02010600030101010101" pitchFamily="2" charset="-122"/>
                <a:cs typeface="宋体" panose="02010600030101010101" pitchFamily="2" charset="-122"/>
              </a:rPr>
              <a:t>end</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将当前活动会场压入堆</a:t>
            </a:r>
            <a:r>
              <a:rPr lang="zh-CN" altLang="en-US" sz="2000" dirty="0">
                <a:latin typeface="宋体" panose="02010600030101010101" pitchFamily="2" charset="-122"/>
                <a:ea typeface="宋体" panose="02010600030101010101" pitchFamily="2" charset="-122"/>
                <a:cs typeface="宋体" panose="02010600030101010101" pitchFamily="2" charset="-122"/>
              </a:rPr>
              <a:t>）</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indent="0">
              <a:spcBef>
                <a:spcPct val="0"/>
              </a:spcBef>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4.</a:t>
            </a:r>
            <a:r>
              <a:rPr lang="zh-CN" altLang="en-US" sz="2000" b="1" dirty="0">
                <a:latin typeface="宋体" panose="02010600030101010101" pitchFamily="2" charset="-122"/>
                <a:ea typeface="宋体" panose="02010600030101010101" pitchFamily="2" charset="-122"/>
                <a:cs typeface="宋体" panose="02010600030101010101" pitchFamily="2" charset="-122"/>
              </a:rPr>
              <a:t>得出结果：</a:t>
            </a:r>
            <a:r>
              <a:rPr lang="zh-CN" altLang="en-US" sz="2000" dirty="0">
                <a:latin typeface="宋体" panose="02010600030101010101" pitchFamily="2" charset="-122"/>
                <a:ea typeface="宋体" panose="02010600030101010101" pitchFamily="2" charset="-122"/>
                <a:cs typeface="宋体" panose="02010600030101010101" pitchFamily="2" charset="-122"/>
              </a:rPr>
              <a:t> 遍历完所有活动后，记录下来的会场数量就是所需的最少会场数。（最小堆</a:t>
            </a:r>
            <a:r>
              <a:rPr lang="en-US" altLang="zh-CN" sz="2000" dirty="0">
                <a:latin typeface="宋体" panose="02010600030101010101" pitchFamily="2" charset="-122"/>
                <a:ea typeface="宋体" panose="02010600030101010101" pitchFamily="2" charset="-122"/>
                <a:cs typeface="宋体" panose="02010600030101010101" pitchFamily="2" charset="-122"/>
              </a:rPr>
              <a:t>size</a:t>
            </a:r>
            <a:r>
              <a:rPr lang="zh-CN" altLang="en-US" sz="2000" dirty="0">
                <a:latin typeface="宋体" panose="02010600030101010101" pitchFamily="2" charset="-122"/>
                <a:ea typeface="宋体" panose="02010600030101010101" pitchFamily="2" charset="-122"/>
                <a:cs typeface="宋体" panose="02010600030101010101" pitchFamily="2" charset="-122"/>
              </a:rPr>
              <a:t>）</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565785" y="116840"/>
            <a:ext cx="10627360" cy="645160"/>
          </a:xfrm>
          <a:prstGeom prst="rect">
            <a:avLst/>
          </a:prstGeom>
          <a:noFill/>
        </p:spPr>
        <p:txBody>
          <a:bodyPr wrap="square" rtlCol="0">
            <a:spAutoFit/>
          </a:bodyPr>
          <a:lstStyle/>
          <a:p>
            <a:r>
              <a:rPr lang="zh-CN" sz="3600" b="1" dirty="0">
                <a:solidFill>
                  <a:srgbClr val="274FA2"/>
                </a:solidFill>
                <a:latin typeface="微软雅黑" panose="020B0503020204020204" charset="-122"/>
                <a:ea typeface="微软雅黑" panose="020B0503020204020204" charset="-122"/>
                <a:cs typeface="+mj-cs"/>
                <a:sym typeface="+mn-ea"/>
              </a:rPr>
              <a:t>二、最少会场数安排（贪心）</a:t>
            </a:r>
            <a:endParaRPr lang="zh-CN" sz="3600" b="1" dirty="0">
              <a:solidFill>
                <a:srgbClr val="274FA2"/>
              </a:solidFill>
              <a:latin typeface="微软雅黑" panose="020B0503020204020204" charset="-122"/>
              <a:ea typeface="微软雅黑" panose="020B0503020204020204" charset="-122"/>
              <a:cs typeface="+mj-cs"/>
            </a:endParaRPr>
          </a:p>
        </p:txBody>
      </p:sp>
      <p:pic>
        <p:nvPicPr>
          <p:cNvPr id="4" name="图片 3"/>
          <p:cNvPicPr>
            <a:picLocks noChangeAspect="1"/>
          </p:cNvPicPr>
          <p:nvPr/>
        </p:nvPicPr>
        <p:blipFill>
          <a:blip r:embed="rId1"/>
          <a:srcRect t="11247"/>
          <a:stretch>
            <a:fillRect/>
          </a:stretch>
        </p:blipFill>
        <p:spPr>
          <a:xfrm>
            <a:off x="6871970" y="116840"/>
            <a:ext cx="5195570" cy="13061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bwMode="auto">
          <a:xfrm>
            <a:off x="10878397" y="6611939"/>
            <a:ext cx="1344083" cy="217487"/>
          </a:xfrm>
          <a:prstGeom prst="rect">
            <a:avLst/>
          </a:prstGeom>
          <a:noFill/>
          <a:ln w="9525">
            <a:noFill/>
            <a:miter lim="800000"/>
          </a:ln>
          <a:effectLst/>
        </p:spPr>
        <p:txBody>
          <a:bodyPr vert="horz" wrap="square" lIns="91440" tIns="45720" rIns="91440" bIns="45720" numCol="1" anchor="t" anchorCtr="0" compatLnSpc="1">
            <a:normAutofit fontScale="80000" lnSpcReduction="20000"/>
          </a:bodyPr>
          <a:lstStyle>
            <a:defPPr>
              <a:defRPr lang="zh-CN"/>
            </a:defPPr>
            <a:lvl1pPr algn="r" rtl="0" eaLnBrk="0" fontAlgn="base" hangingPunct="0">
              <a:spcBef>
                <a:spcPct val="0"/>
              </a:spcBef>
              <a:spcAft>
                <a:spcPct val="0"/>
              </a:spcAft>
              <a:defRPr sz="1200" kern="1200">
                <a:solidFill>
                  <a:srgbClr val="000000"/>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fld id="{50611F1F-B0D0-4543-BE4D-C428D4BCA17B}" type="slidenum">
              <a:rPr lang="en-US" altLang="zh-CN" smtClean="0"/>
            </a:fld>
            <a:endParaRPr lang="en-US" altLang="zh-CN" sz="1200">
              <a:solidFill>
                <a:srgbClr val="000000"/>
              </a:solidFill>
              <a:latin typeface="微软雅黑" panose="020B0503020204020204" charset="-122"/>
              <a:ea typeface="微软雅黑" panose="020B0503020204020204" charset="-122"/>
            </a:endParaRPr>
          </a:p>
        </p:txBody>
      </p:sp>
      <p:sp>
        <p:nvSpPr>
          <p:cNvPr id="2" name="文本框 1"/>
          <p:cNvSpPr txBox="1"/>
          <p:nvPr/>
        </p:nvSpPr>
        <p:spPr>
          <a:xfrm>
            <a:off x="5384800" y="1149985"/>
            <a:ext cx="6807200" cy="5073650"/>
          </a:xfrm>
          <a:prstGeom prst="rect">
            <a:avLst/>
          </a:prstGeom>
        </p:spPr>
        <p:txBody>
          <a:bodyPr wrap="square">
            <a:spAutoFit/>
          </a:bodyPr>
          <a:lstStyle/>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Function MinMeetingRooms(intervals):</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events ← empty list</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For each (start, end) in intervals:</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Append (start, +1) to events  </a:t>
            </a:r>
            <a:r>
              <a:rPr lang="en-US" altLang="zh-CN" b="0">
                <a:solidFill>
                  <a:schemeClr val="accent2"/>
                </a:solidFill>
                <a:latin typeface="宋体" panose="02010600030101010101" pitchFamily="2" charset="-122"/>
                <a:ea typeface="宋体" panose="02010600030101010101" pitchFamily="2" charset="-122"/>
              </a:rPr>
              <a:t>// </a:t>
            </a:r>
            <a:r>
              <a:rPr lang="zh-CN" altLang="en-US" b="0">
                <a:solidFill>
                  <a:schemeClr val="accent2"/>
                </a:solidFill>
                <a:latin typeface="宋体" panose="02010600030101010101" pitchFamily="2" charset="-122"/>
                <a:ea typeface="宋体" panose="02010600030101010101" pitchFamily="2" charset="-122"/>
              </a:rPr>
              <a:t>活动开始</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Append (end, -1) to events    </a:t>
            </a:r>
            <a:r>
              <a:rPr lang="en-US" altLang="zh-CN" b="0">
                <a:solidFill>
                  <a:schemeClr val="accent2"/>
                </a:solidFill>
                <a:latin typeface="宋体" panose="02010600030101010101" pitchFamily="2" charset="-122"/>
                <a:ea typeface="宋体" panose="02010600030101010101" pitchFamily="2" charset="-122"/>
              </a:rPr>
              <a:t>// </a:t>
            </a:r>
            <a:r>
              <a:rPr lang="zh-CN" altLang="en-US" b="0">
                <a:solidFill>
                  <a:schemeClr val="accent2"/>
                </a:solidFill>
                <a:latin typeface="宋体" panose="02010600030101010101" pitchFamily="2" charset="-122"/>
                <a:ea typeface="宋体" panose="02010600030101010101" pitchFamily="2" charset="-122"/>
              </a:rPr>
              <a:t>活动结束</a:t>
            </a:r>
            <a:endParaRPr lang="en-US" altLang="zh-CN" b="0">
              <a:solidFill>
                <a:schemeClr val="accent2"/>
              </a:solidFill>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a:t>
            </a:r>
            <a:r>
              <a:rPr lang="en-US" altLang="zh-CN">
                <a:solidFill>
                  <a:schemeClr val="accent2"/>
                </a:solidFill>
                <a:latin typeface="宋体" panose="02010600030101010101" pitchFamily="2" charset="-122"/>
                <a:ea typeface="宋体" panose="02010600030101010101" pitchFamily="2" charset="-122"/>
                <a:sym typeface="+mn-ea"/>
              </a:rPr>
              <a:t>//</a:t>
            </a:r>
            <a:r>
              <a:rPr lang="zh-CN" altLang="en-US">
                <a:solidFill>
                  <a:schemeClr val="accent2"/>
                </a:solidFill>
                <a:latin typeface="宋体" panose="02010600030101010101" pitchFamily="2" charset="-122"/>
                <a:ea typeface="宋体" panose="02010600030101010101" pitchFamily="2" charset="-122"/>
                <a:sym typeface="+mn-ea"/>
              </a:rPr>
              <a:t>事件按时间升序排序，优先处理结束事件</a:t>
            </a:r>
            <a:endParaRPr lang="en-US" altLang="zh-CN" b="0">
              <a:solidFill>
                <a:schemeClr val="accent2"/>
              </a:solidFill>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Sort events by time;		</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If times are equal, sort by delta (end before start)</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max_rooms ← 0</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current_rooms ← 0</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For each (time, delta) in events:		</a:t>
            </a:r>
            <a:r>
              <a:rPr lang="en-US" altLang="zh-CN" b="0">
                <a:solidFill>
                  <a:schemeClr val="accent2"/>
                </a:solidFill>
                <a:latin typeface="宋体" panose="02010600030101010101" pitchFamily="2" charset="-122"/>
                <a:ea typeface="宋体" panose="02010600030101010101" pitchFamily="2" charset="-122"/>
              </a:rPr>
              <a:t>//</a:t>
            </a:r>
            <a:r>
              <a:rPr lang="zh-CN" altLang="en-US" b="0">
                <a:solidFill>
                  <a:schemeClr val="accent2"/>
                </a:solidFill>
                <a:latin typeface="宋体" panose="02010600030101010101" pitchFamily="2" charset="-122"/>
                <a:ea typeface="宋体" panose="02010600030101010101" pitchFamily="2" charset="-122"/>
              </a:rPr>
              <a:t>遍历事件</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current_rooms ← current_rooms + delta</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If delta == +1:			</a:t>
            </a:r>
            <a:r>
              <a:rPr lang="en-US" altLang="zh-CN" b="0">
                <a:solidFill>
                  <a:schemeClr val="accent2"/>
                </a:solidFill>
                <a:latin typeface="宋体" panose="02010600030101010101" pitchFamily="2" charset="-122"/>
                <a:ea typeface="宋体" panose="02010600030101010101" pitchFamily="2" charset="-122"/>
              </a:rPr>
              <a:t>//</a:t>
            </a:r>
            <a:r>
              <a:rPr lang="zh-CN" altLang="en-US" b="0">
                <a:solidFill>
                  <a:schemeClr val="accent2"/>
                </a:solidFill>
                <a:latin typeface="宋体" panose="02010600030101010101" pitchFamily="2" charset="-122"/>
                <a:ea typeface="宋体" panose="02010600030101010101" pitchFamily="2" charset="-122"/>
              </a:rPr>
              <a:t>记录遍历过程中的最大会场数</a:t>
            </a:r>
            <a:endParaRPr lang="en-US" altLang="zh-CN" b="0">
              <a:latin typeface="宋体" panose="02010600030101010101" pitchFamily="2" charset="-122"/>
              <a:ea typeface="宋体" panose="02010600030101010101" pitchFamily="2" charset="-122"/>
            </a:endParaRPr>
          </a:p>
          <a:p>
            <a:pPr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            max_rooms ← max(max_rooms, current_rooms)</a:t>
            </a:r>
            <a:endParaRPr lang="en-US" altLang="zh-CN" b="0">
              <a:latin typeface="宋体" panose="02010600030101010101" pitchFamily="2" charset="-122"/>
              <a:ea typeface="宋体" panose="02010600030101010101" pitchFamily="2" charset="-122"/>
            </a:endParaRPr>
          </a:p>
          <a:p>
            <a:pPr marL="0" indent="305435" defTabSz="266700">
              <a:lnSpc>
                <a:spcPct val="120000"/>
              </a:lnSpc>
              <a:spcBef>
                <a:spcPct val="0"/>
              </a:spcBef>
              <a:spcAft>
                <a:spcPct val="0"/>
              </a:spcAft>
            </a:pPr>
            <a:r>
              <a:rPr lang="en-US" altLang="zh-CN" b="0">
                <a:latin typeface="宋体" panose="02010600030101010101" pitchFamily="2" charset="-122"/>
                <a:ea typeface="宋体" panose="02010600030101010101" pitchFamily="2" charset="-122"/>
              </a:rPr>
              <a:t>Return max_rooms</a:t>
            </a:r>
            <a:endParaRPr lang="en-US" altLang="zh-CN" b="0">
              <a:latin typeface="宋体" panose="02010600030101010101" pitchFamily="2" charset="-122"/>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211455" y="1209675"/>
            <a:ext cx="5011420" cy="4596130"/>
          </a:xfrm>
          <a:prstGeom prst="rect">
            <a:avLst/>
          </a:prstGeom>
          <a:ln>
            <a:solidFill>
              <a:schemeClr val="bg2"/>
            </a:solidFill>
          </a:ln>
        </p:spPr>
      </p:pic>
      <p:sp>
        <p:nvSpPr>
          <p:cNvPr id="7" name="文本框 6"/>
          <p:cNvSpPr txBox="1"/>
          <p:nvPr/>
        </p:nvSpPr>
        <p:spPr>
          <a:xfrm>
            <a:off x="565785" y="116840"/>
            <a:ext cx="10627360" cy="645160"/>
          </a:xfrm>
          <a:prstGeom prst="rect">
            <a:avLst/>
          </a:prstGeom>
          <a:noFill/>
        </p:spPr>
        <p:txBody>
          <a:bodyPr wrap="square" rtlCol="0">
            <a:spAutoFit/>
          </a:bodyPr>
          <a:lstStyle/>
          <a:p>
            <a:r>
              <a:rPr lang="zh-CN" sz="3600" b="1" dirty="0">
                <a:solidFill>
                  <a:srgbClr val="274FA2"/>
                </a:solidFill>
                <a:latin typeface="微软雅黑" panose="020B0503020204020204" charset="-122"/>
                <a:ea typeface="微软雅黑" panose="020B0503020204020204" charset="-122"/>
                <a:cs typeface="+mj-cs"/>
                <a:sym typeface="+mn-ea"/>
              </a:rPr>
              <a:t>二、最少会场数安排（贪心）</a:t>
            </a:r>
            <a:endParaRPr lang="zh-CN" sz="3600" b="1" dirty="0">
              <a:solidFill>
                <a:srgbClr val="274FA2"/>
              </a:solidFill>
              <a:latin typeface="微软雅黑" panose="020B0503020204020204" charset="-122"/>
              <a:ea typeface="微软雅黑" panose="020B0503020204020204" charset="-122"/>
              <a:cs typeface="+mj-cs"/>
            </a:endParaRPr>
          </a:p>
        </p:txBody>
      </p:sp>
      <p:sp>
        <p:nvSpPr>
          <p:cNvPr id="10" name="文本框 9"/>
          <p:cNvSpPr txBox="1"/>
          <p:nvPr/>
        </p:nvSpPr>
        <p:spPr>
          <a:xfrm>
            <a:off x="338455" y="762000"/>
            <a:ext cx="10967720" cy="398780"/>
          </a:xfrm>
          <a:prstGeom prst="rect">
            <a:avLst/>
          </a:prstGeom>
        </p:spPr>
        <p:txBody>
          <a:bodyPr wrap="square">
            <a:spAutoFit/>
          </a:bodyPr>
          <a:lstStyle/>
          <a:p>
            <a:pPr>
              <a:spcBef>
                <a:spcPct val="0"/>
              </a:spcBef>
              <a:spcAft>
                <a:spcPct val="60000"/>
              </a:spcAft>
            </a:pPr>
            <a:r>
              <a:rPr lang="zh-CN" altLang="en-US" sz="2000" b="1" dirty="0">
                <a:latin typeface="宋体" panose="02010600030101010101" pitchFamily="2" charset="-122"/>
                <a:ea typeface="宋体" panose="02010600030101010101" pitchFamily="2" charset="-122"/>
                <a:cs typeface="宋体" panose="02010600030101010101" pitchFamily="2" charset="-122"/>
              </a:rPr>
              <a:t>方法二：</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zh-CN" sz="3600" b="1" dirty="0">
                <a:solidFill>
                  <a:srgbClr val="274FA2"/>
                </a:solidFill>
                <a:latin typeface="微软雅黑" panose="020B0503020204020204" charset="-122"/>
                <a:ea typeface="微软雅黑" panose="020B0503020204020204" charset="-122"/>
                <a:sym typeface="+mn-ea"/>
              </a:rPr>
              <a:t>三、</a:t>
            </a:r>
            <a:r>
              <a:rPr lang="zh-CN" altLang="en-US" sz="3600" b="1" dirty="0">
                <a:solidFill>
                  <a:srgbClr val="274FA2"/>
                </a:solidFill>
                <a:latin typeface="微软雅黑" panose="020B0503020204020204" charset="-122"/>
                <a:ea typeface="微软雅黑" panose="020B0503020204020204" charset="-122"/>
              </a:rPr>
              <a:t>0/1背包问题（分支限界法）</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6" name="文本框 5"/>
          <p:cNvSpPr txBox="1"/>
          <p:nvPr/>
        </p:nvSpPr>
        <p:spPr>
          <a:xfrm>
            <a:off x="565785" y="1000125"/>
            <a:ext cx="10626725" cy="1014730"/>
          </a:xfrm>
          <a:prstGeom prst="rect">
            <a:avLst/>
          </a:prstGeom>
          <a:noFill/>
        </p:spPr>
        <p:txBody>
          <a:bodyPr wrap="square" rtlCol="0">
            <a:spAutoFit/>
          </a:bodyPr>
          <a:lstStyle/>
          <a:p>
            <a:r>
              <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rPr>
              <a:t>给定 </a:t>
            </a:r>
            <a:r>
              <a:rPr lang="en-US" altLang="zh-CN" sz="2000" b="1">
                <a:solidFill>
                  <a:schemeClr val="accent1"/>
                </a:solidFill>
                <a:latin typeface="宋体" panose="02010600030101010101" pitchFamily="2" charset="-122"/>
                <a:ea typeface="宋体" panose="02010600030101010101" pitchFamily="2" charset="-122"/>
                <a:cs typeface="宋体" panose="02010600030101010101" pitchFamily="2" charset="-122"/>
              </a:rPr>
              <a:t>n </a:t>
            </a:r>
            <a:r>
              <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rPr>
              <a:t>种物品，每种物品都有重量 </a:t>
            </a:r>
            <a:r>
              <a:rPr lang="en-US" altLang="zh-CN" sz="2000" b="1">
                <a:solidFill>
                  <a:schemeClr val="accent1"/>
                </a:solidFill>
                <a:latin typeface="宋体" panose="02010600030101010101" pitchFamily="2" charset="-122"/>
                <a:ea typeface="宋体" panose="02010600030101010101" pitchFamily="2" charset="-122"/>
                <a:cs typeface="宋体" panose="02010600030101010101" pitchFamily="2" charset="-122"/>
              </a:rPr>
              <a:t>w</a:t>
            </a:r>
            <a:r>
              <a:rPr lang="en-US" altLang="zh-CN" sz="2000" b="1" baseline="-25000">
                <a:solidFill>
                  <a:schemeClr val="accent1"/>
                </a:solidFill>
                <a:latin typeface="宋体" panose="02010600030101010101" pitchFamily="2" charset="-122"/>
                <a:ea typeface="宋体" panose="02010600030101010101" pitchFamily="2" charset="-122"/>
                <a:cs typeface="宋体" panose="02010600030101010101" pitchFamily="2" charset="-122"/>
              </a:rPr>
              <a:t>i</a:t>
            </a:r>
            <a:r>
              <a:rPr lang="en-US" altLang="zh-CN" sz="2000" b="1">
                <a:solidFill>
                  <a:schemeClr val="accent1"/>
                </a:solidFill>
                <a:latin typeface="宋体" panose="02010600030101010101" pitchFamily="2" charset="-122"/>
                <a:ea typeface="宋体" panose="02010600030101010101" pitchFamily="2" charset="-122"/>
                <a:cs typeface="宋体" panose="02010600030101010101" pitchFamily="2" charset="-122"/>
              </a:rPr>
              <a:t> </a:t>
            </a:r>
            <a:r>
              <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rPr>
              <a:t>和价值 </a:t>
            </a:r>
            <a:r>
              <a:rPr lang="en-US" altLang="zh-CN" sz="2000" b="1">
                <a:solidFill>
                  <a:schemeClr val="accent1"/>
                </a:solidFill>
                <a:latin typeface="宋体" panose="02010600030101010101" pitchFamily="2" charset="-122"/>
                <a:ea typeface="宋体" panose="02010600030101010101" pitchFamily="2" charset="-122"/>
                <a:cs typeface="宋体" panose="02010600030101010101" pitchFamily="2" charset="-122"/>
              </a:rPr>
              <a:t>v</a:t>
            </a:r>
            <a:r>
              <a:rPr lang="en-US" altLang="zh-CN" sz="2000" b="1" baseline="-25000">
                <a:solidFill>
                  <a:schemeClr val="accent1"/>
                </a:solidFill>
                <a:latin typeface="宋体" panose="02010600030101010101" pitchFamily="2" charset="-122"/>
                <a:ea typeface="宋体" panose="02010600030101010101" pitchFamily="2" charset="-122"/>
                <a:cs typeface="宋体" panose="02010600030101010101" pitchFamily="2" charset="-122"/>
              </a:rPr>
              <a:t>i</a:t>
            </a:r>
            <a:r>
              <a:rPr lang="en-US" altLang="zh-CN" sz="2000" b="1">
                <a:solidFill>
                  <a:schemeClr val="accent1"/>
                </a:solidFill>
                <a:latin typeface="宋体" panose="02010600030101010101" pitchFamily="2" charset="-122"/>
                <a:ea typeface="宋体" panose="02010600030101010101" pitchFamily="2" charset="-122"/>
                <a:cs typeface="宋体" panose="02010600030101010101" pitchFamily="2" charset="-122"/>
              </a:rPr>
              <a:t>，</a:t>
            </a:r>
            <a:r>
              <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rPr>
              <a:t>每种物品都只有一个。背包容</a:t>
            </a:r>
            <a:endPar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endParaRPr>
          </a:p>
          <a:p>
            <a:r>
              <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rPr>
              <a:t>量为 </a:t>
            </a:r>
            <a:r>
              <a:rPr lang="en-US" altLang="zh-CN" sz="2000" b="1">
                <a:solidFill>
                  <a:schemeClr val="accent1"/>
                </a:solidFill>
                <a:latin typeface="宋体" panose="02010600030101010101" pitchFamily="2" charset="-122"/>
                <a:ea typeface="宋体" panose="02010600030101010101" pitchFamily="2" charset="-122"/>
                <a:cs typeface="宋体" panose="02010600030101010101" pitchFamily="2" charset="-122"/>
              </a:rPr>
              <a:t>W，</a:t>
            </a:r>
            <a:r>
              <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rPr>
              <a:t>使用分支限界法求解在不超过背包容量的前提下将哪些物品装入背包，才可以使背</a:t>
            </a:r>
            <a:endPar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endParaRPr>
          </a:p>
          <a:p>
            <a:r>
              <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rPr>
              <a:t>包内的物品价值之和最大。</a:t>
            </a:r>
            <a:endParaRPr lang="zh-CN" altLang="en-US" sz="2000" b="1">
              <a:solidFill>
                <a:schemeClr val="accent1"/>
              </a:solidFill>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565785" y="3226435"/>
            <a:ext cx="10628630" cy="2861310"/>
          </a:xfrm>
          <a:prstGeom prst="rect">
            <a:avLst/>
          </a:prstGeom>
          <a:noFill/>
        </p:spPr>
        <p:txBody>
          <a:bodyPr wrap="square" rtlCol="0">
            <a:spAutoFit/>
          </a:bodyPr>
          <a:lstStyle/>
          <a:p>
            <a:pPr algn="l">
              <a:buClrTx/>
              <a:buSzTx/>
              <a:buFontTx/>
            </a:pPr>
            <a:r>
              <a:rPr lang="zh-CN" altLang="en-US" sz="2000" b="1">
                <a:latin typeface="宋体" panose="02010600030101010101" pitchFamily="2" charset="-122"/>
                <a:ea typeface="宋体" panose="02010600030101010101" pitchFamily="2" charset="-122"/>
                <a:cs typeface="宋体" panose="02010600030101010101" pitchFamily="2" charset="-122"/>
              </a:rPr>
              <a:t>首先，将所有物品按照单位重量价值（即 </a:t>
            </a:r>
            <a:r>
              <a:rPr lang="en-US" altLang="zh-CN" sz="2000" b="1">
                <a:latin typeface="宋体" panose="02010600030101010101" pitchFamily="2" charset="-122"/>
                <a:ea typeface="宋体" panose="02010600030101010101" pitchFamily="2" charset="-122"/>
                <a:cs typeface="宋体" panose="02010600030101010101" pitchFamily="2" charset="-122"/>
              </a:rPr>
              <a:t>v</a:t>
            </a:r>
            <a:r>
              <a:rPr lang="en-US" altLang="zh-CN" sz="2000" b="1" baseline="-25000">
                <a:latin typeface="宋体" panose="02010600030101010101" pitchFamily="2" charset="-122"/>
                <a:ea typeface="宋体" panose="02010600030101010101" pitchFamily="2" charset="-122"/>
                <a:cs typeface="宋体" panose="02010600030101010101" pitchFamily="2" charset="-122"/>
              </a:rPr>
              <a:t>i</a:t>
            </a:r>
            <a:r>
              <a:rPr lang="en-US" altLang="zh-CN" sz="2000" b="1">
                <a:latin typeface="宋体" panose="02010600030101010101" pitchFamily="2" charset="-122"/>
                <a:ea typeface="宋体" panose="02010600030101010101" pitchFamily="2" charset="-122"/>
                <a:cs typeface="宋体" panose="02010600030101010101" pitchFamily="2" charset="-122"/>
              </a:rPr>
              <a:t>/w</a:t>
            </a:r>
            <a:r>
              <a:rPr lang="en-US" altLang="zh-CN" sz="2000" b="1" baseline="-25000">
                <a:latin typeface="宋体" panose="02010600030101010101" pitchFamily="2" charset="-122"/>
                <a:ea typeface="宋体" panose="02010600030101010101" pitchFamily="2" charset="-122"/>
                <a:cs typeface="宋体" panose="02010600030101010101" pitchFamily="2" charset="-122"/>
              </a:rPr>
              <a:t>i</a:t>
            </a:r>
            <a:r>
              <a:rPr lang="en-US" altLang="zh-CN" sz="2000" b="1">
                <a:latin typeface="宋体" panose="02010600030101010101" pitchFamily="2" charset="-122"/>
                <a:ea typeface="宋体" panose="02010600030101010101" pitchFamily="2" charset="-122"/>
                <a:cs typeface="宋体" panose="02010600030101010101" pitchFamily="2" charset="-122"/>
              </a:rPr>
              <a:t>）</a:t>
            </a:r>
            <a:r>
              <a:rPr lang="zh-CN" altLang="en-US" sz="2000" b="1">
                <a:latin typeface="宋体" panose="02010600030101010101" pitchFamily="2" charset="-122"/>
                <a:ea typeface="宋体" panose="02010600030101010101" pitchFamily="2" charset="-122"/>
                <a:cs typeface="宋体" panose="02010600030101010101" pitchFamily="2" charset="-122"/>
              </a:rPr>
              <a:t>从大到小进行排序。因为在计算上界时，会使用贪心策略。单位价值越高，越优先考虑，这样计算出来的上界最紧凑，剪枝效果最好。</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pPr algn="l">
              <a:buClrTx/>
              <a:buSzTx/>
              <a:buFontTx/>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algn="l">
              <a:buClrTx/>
              <a:buSzTx/>
              <a:buFontTx/>
            </a:pPr>
            <a:r>
              <a:rPr lang="zh-CN" altLang="en-US" sz="2000" b="1">
                <a:latin typeface="宋体" panose="02010600030101010101" pitchFamily="2" charset="-122"/>
                <a:ea typeface="宋体" panose="02010600030101010101" pitchFamily="2" charset="-122"/>
                <a:cs typeface="宋体" panose="02010600030101010101" pitchFamily="2" charset="-122"/>
              </a:rPr>
              <a:t>限界函数</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pPr algn="l">
              <a:buClrTx/>
              <a:buSzTx/>
              <a:buFontTx/>
            </a:pPr>
            <a:r>
              <a:rPr lang="zh-CN" altLang="en-US" sz="2000">
                <a:latin typeface="宋体" panose="02010600030101010101" pitchFamily="2" charset="-122"/>
                <a:ea typeface="宋体" panose="02010600030101010101" pitchFamily="2" charset="-122"/>
                <a:cs typeface="宋体" panose="02010600030101010101" pitchFamily="2" charset="-122"/>
              </a:rPr>
              <a:t>假设当前已经处理了前 </a:t>
            </a:r>
            <a:r>
              <a:rPr lang="en-US" altLang="zh-CN" sz="2000">
                <a:latin typeface="宋体" panose="02010600030101010101" pitchFamily="2" charset="-122"/>
                <a:ea typeface="宋体" panose="02010600030101010101" pitchFamily="2" charset="-122"/>
                <a:cs typeface="宋体" panose="02010600030101010101" pitchFamily="2" charset="-122"/>
              </a:rPr>
              <a:t>i </a:t>
            </a:r>
            <a:r>
              <a:rPr lang="zh-CN" altLang="en-US" sz="2000">
                <a:latin typeface="宋体" panose="02010600030101010101" pitchFamily="2" charset="-122"/>
                <a:ea typeface="宋体" panose="02010600030101010101" pitchFamily="2" charset="-122"/>
                <a:cs typeface="宋体" panose="02010600030101010101" pitchFamily="2" charset="-122"/>
              </a:rPr>
              <a:t>个物品的状态，背包剩余容量为 </a:t>
            </a:r>
            <a:r>
              <a:rPr lang="en-US" altLang="zh-CN" sz="2000">
                <a:latin typeface="宋体" panose="02010600030101010101" pitchFamily="2" charset="-122"/>
                <a:ea typeface="宋体" panose="02010600030101010101" pitchFamily="2" charset="-122"/>
                <a:cs typeface="宋体" panose="02010600030101010101" pitchFamily="2" charset="-122"/>
              </a:rPr>
              <a:t>r。</a:t>
            </a:r>
            <a:r>
              <a:rPr lang="zh-CN" altLang="en-US" sz="2000">
                <a:latin typeface="宋体" panose="02010600030101010101" pitchFamily="2" charset="-122"/>
                <a:ea typeface="宋体" panose="02010600030101010101" pitchFamily="2" charset="-122"/>
                <a:cs typeface="宋体" panose="02010600030101010101" pitchFamily="2" charset="-122"/>
              </a:rPr>
              <a:t>我们允许将后续的物品拆分（即可取</a:t>
            </a:r>
            <a:r>
              <a:rPr lang="en-US" altLang="zh-CN" sz="2000">
                <a:latin typeface="宋体" panose="02010600030101010101" pitchFamily="2" charset="-122"/>
                <a:ea typeface="宋体" panose="02010600030101010101" pitchFamily="2" charset="-122"/>
                <a:cs typeface="宋体" panose="02010600030101010101" pitchFamily="2" charset="-122"/>
              </a:rPr>
              <a:t>0.1/0.2/...</a:t>
            </a:r>
            <a:r>
              <a:rPr lang="zh-CN" altLang="en-US" sz="2000">
                <a:latin typeface="宋体" panose="02010600030101010101" pitchFamily="2" charset="-122"/>
                <a:ea typeface="宋体" panose="02010600030101010101" pitchFamily="2" charset="-122"/>
                <a:cs typeface="宋体" panose="02010600030101010101" pitchFamily="2" charset="-122"/>
              </a:rPr>
              <a:t>个）来塞满背包。</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algn="l">
              <a:buClrTx/>
              <a:buSzTx/>
              <a:buFontTx/>
            </a:pPr>
            <a:r>
              <a:rPr lang="zh-CN" altLang="en-US" sz="2000">
                <a:latin typeface="宋体" panose="02010600030101010101" pitchFamily="2" charset="-122"/>
                <a:ea typeface="宋体" panose="02010600030101010101" pitchFamily="2" charset="-122"/>
                <a:cs typeface="宋体" panose="02010600030101010101" pitchFamily="2" charset="-122"/>
              </a:rPr>
              <a:t>由于“允许拆分”算出来的总价值</a:t>
            </a:r>
            <a:r>
              <a:rPr lang="en-US" altLang="zh-CN" sz="2000">
                <a:latin typeface="宋体" panose="02010600030101010101" pitchFamily="2" charset="-122"/>
                <a:ea typeface="宋体" panose="02010600030101010101" pitchFamily="2" charset="-122"/>
                <a:cs typeface="宋体" panose="02010600030101010101" pitchFamily="2" charset="-122"/>
              </a:rPr>
              <a:t> UB</a:t>
            </a:r>
            <a:r>
              <a:rPr lang="zh-CN" altLang="en-US" sz="2000">
                <a:latin typeface="宋体" panose="02010600030101010101" pitchFamily="2" charset="-122"/>
                <a:ea typeface="宋体" panose="02010600030101010101" pitchFamily="2" charset="-122"/>
                <a:cs typeface="宋体" panose="02010600030101010101" pitchFamily="2" charset="-122"/>
              </a:rPr>
              <a:t>，必然</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不允许拆分的 0-1 背包所能达到的最大价值，因此如果一个节点的 </a:t>
            </a:r>
            <a:r>
              <a:rPr lang="en-US" altLang="zh-CN" sz="2000">
                <a:latin typeface="宋体" panose="02010600030101010101" pitchFamily="2" charset="-122"/>
                <a:ea typeface="宋体" panose="02010600030101010101" pitchFamily="2" charset="-122"/>
                <a:cs typeface="宋体" panose="02010600030101010101" pitchFamily="2" charset="-122"/>
              </a:rPr>
              <a:t>UB </a:t>
            </a:r>
            <a:r>
              <a:rPr lang="zh-CN" altLang="en-US" sz="2000">
                <a:latin typeface="宋体" panose="02010600030101010101" pitchFamily="2" charset="-122"/>
                <a:ea typeface="宋体" panose="02010600030101010101" pitchFamily="2" charset="-122"/>
                <a:cs typeface="宋体" panose="02010600030101010101" pitchFamily="2" charset="-122"/>
              </a:rPr>
              <a:t>已经 </a:t>
            </a:r>
            <a:r>
              <a:rPr lang="en-US" altLang="zh-CN" sz="2000">
                <a:latin typeface="宋体" panose="02010600030101010101" pitchFamily="2" charset="-122"/>
                <a:ea typeface="宋体" panose="02010600030101010101" pitchFamily="2" charset="-122"/>
                <a:cs typeface="宋体" panose="02010600030101010101" pitchFamily="2" charset="-122"/>
              </a:rPr>
              <a:t>≤ </a:t>
            </a:r>
            <a:r>
              <a:rPr lang="zh-CN" altLang="en-US" sz="2000">
                <a:latin typeface="宋体" panose="02010600030101010101" pitchFamily="2" charset="-122"/>
                <a:ea typeface="宋体" panose="02010600030101010101" pitchFamily="2" charset="-122"/>
                <a:cs typeface="宋体" panose="02010600030101010101" pitchFamily="2" charset="-122"/>
              </a:rPr>
              <a:t>当前找到的已知可行解的最大价值 </a:t>
            </a:r>
            <a:r>
              <a:rPr lang="en-US" altLang="zh-CN" sz="2000">
                <a:latin typeface="宋体" panose="02010600030101010101" pitchFamily="2" charset="-122"/>
                <a:ea typeface="宋体" panose="02010600030101010101" pitchFamily="2" charset="-122"/>
                <a:cs typeface="宋体" panose="02010600030101010101" pitchFamily="2" charset="-122"/>
              </a:rPr>
              <a:t>bestV，</a:t>
            </a:r>
            <a:r>
              <a:rPr lang="zh-CN" altLang="en-US" sz="2000">
                <a:latin typeface="宋体" panose="02010600030101010101" pitchFamily="2" charset="-122"/>
                <a:ea typeface="宋体" panose="02010600030101010101" pitchFamily="2" charset="-122"/>
                <a:cs typeface="宋体" panose="02010600030101010101" pitchFamily="2" charset="-122"/>
              </a:rPr>
              <a:t>说明这个分支再怎么走也不可能超越现有的最优解了，直接剪枝。</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zh-CN" sz="3600" b="1" dirty="0">
                <a:solidFill>
                  <a:srgbClr val="274FA2"/>
                </a:solidFill>
                <a:latin typeface="微软雅黑" panose="020B0503020204020204" charset="-122"/>
                <a:ea typeface="微软雅黑" panose="020B0503020204020204" charset="-122"/>
                <a:sym typeface="+mn-ea"/>
              </a:rPr>
              <a:t>三、</a:t>
            </a:r>
            <a:r>
              <a:rPr lang="zh-CN" altLang="en-US" sz="3600" b="1" dirty="0">
                <a:solidFill>
                  <a:srgbClr val="274FA2"/>
                </a:solidFill>
                <a:latin typeface="微软雅黑" panose="020B0503020204020204" charset="-122"/>
                <a:ea typeface="微软雅黑" panose="020B0503020204020204" charset="-122"/>
              </a:rPr>
              <a:t>0/1背包问题（分支限界法）</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2" name="文本框 1"/>
          <p:cNvSpPr txBox="1"/>
          <p:nvPr/>
        </p:nvSpPr>
        <p:spPr>
          <a:xfrm>
            <a:off x="1016000" y="1504315"/>
            <a:ext cx="8890000" cy="4166870"/>
          </a:xfrm>
          <a:prstGeom prst="rect">
            <a:avLst/>
          </a:prstGeom>
        </p:spPr>
        <p:txBody>
          <a:bodyPr wrap="square">
            <a:spAutoFit/>
          </a:bodyPr>
          <a:lstStyle/>
          <a:p>
            <a:pPr>
              <a:spcBef>
                <a:spcPct val="0"/>
              </a:spcBef>
              <a:spcAft>
                <a:spcPct val="60000"/>
              </a:spcAft>
            </a:pPr>
            <a:r>
              <a:rPr lang="zh-CN" altLang="en-US" sz="2000" b="1">
                <a:latin typeface="宋体" panose="02010600030101010101" pitchFamily="2" charset="-122"/>
                <a:ea typeface="宋体" panose="02010600030101010101" pitchFamily="2" charset="-122"/>
                <a:cs typeface="宋体" panose="02010600030101010101" pitchFamily="2" charset="-122"/>
              </a:rPr>
              <a:t>搜索策略</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rPr>
              <a:t>通常采用优先队列来实现，队列中存放的是尚未扩展的节点。</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每个节点通常包含以下信息：</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indent="0">
              <a:spcBef>
                <a:spcPct val="0"/>
              </a:spcBef>
              <a:buFont typeface="Arial" panose="020B0604020202020204"/>
              <a:buNone/>
            </a:pPr>
            <a:r>
              <a:rPr lang="en-US" altLang="zh-CN" sz="2000">
                <a:latin typeface="宋体" panose="02010600030101010101" pitchFamily="2" charset="-122"/>
                <a:ea typeface="宋体" panose="02010600030101010101" pitchFamily="2" charset="-122"/>
                <a:cs typeface="宋体" panose="02010600030101010101" pitchFamily="2" charset="-122"/>
                <a:sym typeface="+mn-ea"/>
              </a:rPr>
              <a:t>level</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：当前处理到第几个物品（即树的层数）。</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indent="0">
              <a:spcBef>
                <a:spcPct val="0"/>
              </a:spcBef>
              <a:buFont typeface="Arial" panose="020B0604020202020204"/>
              <a:buNone/>
            </a:pPr>
            <a:r>
              <a:rPr lang="en-US" altLang="zh-CN" sz="2000">
                <a:latin typeface="宋体" panose="02010600030101010101" pitchFamily="2" charset="-122"/>
                <a:ea typeface="宋体" panose="02010600030101010101" pitchFamily="2" charset="-122"/>
                <a:cs typeface="宋体" panose="02010600030101010101" pitchFamily="2" charset="-122"/>
                <a:sym typeface="+mn-ea"/>
              </a:rPr>
              <a:t>cw</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：当前背包内物品的总重量（</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Current Weight</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indent="0">
              <a:spcBef>
                <a:spcPct val="0"/>
              </a:spcBef>
              <a:buFont typeface="Arial" panose="020B0604020202020204"/>
              <a:buNone/>
            </a:pPr>
            <a:r>
              <a:rPr lang="en-US" altLang="zh-CN" sz="2000">
                <a:latin typeface="宋体" panose="02010600030101010101" pitchFamily="2" charset="-122"/>
                <a:ea typeface="宋体" panose="02010600030101010101" pitchFamily="2" charset="-122"/>
                <a:cs typeface="宋体" panose="02010600030101010101" pitchFamily="2" charset="-122"/>
                <a:sym typeface="+mn-ea"/>
              </a:rPr>
              <a:t>cv</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：当前背包内物品的总价值（</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Current Value</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indent="0">
              <a:spcBef>
                <a:spcPct val="0"/>
              </a:spcBef>
              <a:buFont typeface="Arial" panose="020B0604020202020204"/>
              <a:buNone/>
            </a:pPr>
            <a:r>
              <a:rPr lang="en-US" altLang="zh-CN" sz="2000">
                <a:latin typeface="宋体" panose="02010600030101010101" pitchFamily="2" charset="-122"/>
                <a:ea typeface="宋体" panose="02010600030101010101" pitchFamily="2" charset="-122"/>
                <a:cs typeface="宋体" panose="02010600030101010101" pitchFamily="2" charset="-122"/>
                <a:sym typeface="+mn-ea"/>
              </a:rPr>
              <a:t>ub</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：当前节点的价值上界（</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Upper Bound</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000">
              <a:latin typeface="宋体" panose="02010600030101010101" pitchFamily="2" charset="-122"/>
              <a:ea typeface="宋体" panose="02010600030101010101" pitchFamily="2" charset="-122"/>
              <a:cs typeface="宋体" panose="02010600030101010101" pitchFamily="2" charset="-122"/>
              <a:sym typeface="+mn-ea"/>
            </a:endParaRPr>
          </a:p>
          <a:p>
            <a:pPr indent="0">
              <a:spcBef>
                <a:spcPct val="0"/>
              </a:spcBef>
              <a:buFont typeface="Arial" panose="020B0604020202020204"/>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rPr>
              <a:t>优先级取决于节点的 </a:t>
            </a:r>
            <a:r>
              <a:rPr lang="en-US" altLang="zh-CN" sz="2000">
                <a:latin typeface="宋体" panose="02010600030101010101" pitchFamily="2" charset="-122"/>
                <a:ea typeface="宋体" panose="02010600030101010101" pitchFamily="2" charset="-122"/>
                <a:cs typeface="宋体" panose="02010600030101010101" pitchFamily="2" charset="-122"/>
              </a:rPr>
              <a:t>UB </a:t>
            </a:r>
            <a:r>
              <a:rPr lang="zh-CN" altLang="en-US" sz="2000">
                <a:latin typeface="宋体" panose="02010600030101010101" pitchFamily="2" charset="-122"/>
                <a:ea typeface="宋体" panose="02010600030101010101" pitchFamily="2" charset="-122"/>
                <a:cs typeface="宋体" panose="02010600030101010101" pitchFamily="2" charset="-122"/>
              </a:rPr>
              <a:t>值。每次从队列中取出的，都是当前 </a:t>
            </a:r>
            <a:r>
              <a:rPr lang="en-US" altLang="zh-CN" sz="2000">
                <a:latin typeface="宋体" panose="02010600030101010101" pitchFamily="2" charset="-122"/>
                <a:ea typeface="宋体" panose="02010600030101010101" pitchFamily="2" charset="-122"/>
                <a:cs typeface="宋体" panose="02010600030101010101" pitchFamily="2" charset="-122"/>
              </a:rPr>
              <a:t>UB </a:t>
            </a:r>
            <a:r>
              <a:rPr lang="zh-CN" altLang="en-US" sz="2000">
                <a:latin typeface="宋体" panose="02010600030101010101" pitchFamily="2" charset="-122"/>
                <a:ea typeface="宋体" panose="02010600030101010101" pitchFamily="2" charset="-122"/>
                <a:cs typeface="宋体" panose="02010600030101010101" pitchFamily="2" charset="-122"/>
              </a:rPr>
              <a:t>最大的节点。</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spcAft>
                <a:spcPct val="60000"/>
              </a:spcAft>
            </a:pPr>
            <a:r>
              <a:rPr lang="zh-CN" altLang="en-US" sz="2000">
                <a:latin typeface="宋体" panose="02010600030101010101" pitchFamily="2" charset="-122"/>
                <a:ea typeface="宋体" panose="02010600030101010101" pitchFamily="2" charset="-122"/>
                <a:cs typeface="宋体" panose="02010600030101010101" pitchFamily="2" charset="-122"/>
              </a:rPr>
              <a:t>节点的数据结构</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zh-CN" sz="3600" b="1" dirty="0">
                <a:solidFill>
                  <a:srgbClr val="274FA2"/>
                </a:solidFill>
                <a:latin typeface="微软雅黑" panose="020B0503020204020204" charset="-122"/>
                <a:ea typeface="微软雅黑" panose="020B0503020204020204" charset="-122"/>
                <a:sym typeface="+mn-ea"/>
              </a:rPr>
              <a:t>三、</a:t>
            </a:r>
            <a:r>
              <a:rPr lang="zh-CN" altLang="en-US" sz="3600" b="1" dirty="0">
                <a:solidFill>
                  <a:srgbClr val="274FA2"/>
                </a:solidFill>
                <a:latin typeface="微软雅黑" panose="020B0503020204020204" charset="-122"/>
                <a:ea typeface="微软雅黑" panose="020B0503020204020204" charset="-122"/>
              </a:rPr>
              <a:t>0/1背包问题（分支限界法）</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2" name="文本框 1"/>
          <p:cNvSpPr txBox="1"/>
          <p:nvPr/>
        </p:nvSpPr>
        <p:spPr>
          <a:xfrm>
            <a:off x="1016000" y="1351915"/>
            <a:ext cx="10499725" cy="4591050"/>
          </a:xfrm>
          <a:prstGeom prst="rect">
            <a:avLst/>
          </a:prstGeom>
        </p:spPr>
        <p:txBody>
          <a:bodyPr wrap="square">
            <a:spAutoFit/>
          </a:bodyPr>
          <a:lstStyle/>
          <a:p>
            <a:pPr>
              <a:spcBef>
                <a:spcPct val="0"/>
              </a:spcBef>
              <a:spcAft>
                <a:spcPct val="60000"/>
              </a:spcAft>
            </a:pPr>
            <a:r>
              <a:rPr lang="zh-CN" altLang="en-US" sz="2000" b="1">
                <a:latin typeface="宋体" panose="02010600030101010101" pitchFamily="2" charset="-122"/>
                <a:ea typeface="宋体" panose="02010600030101010101" pitchFamily="2" charset="-122"/>
                <a:cs typeface="宋体" panose="02010600030101010101" pitchFamily="2" charset="-122"/>
              </a:rPr>
              <a:t>算法设计</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rPr>
              <a:t>初始化：计算根节点的 </a:t>
            </a:r>
            <a:r>
              <a:rPr lang="en-US" altLang="zh-CN" sz="2000">
                <a:latin typeface="宋体" panose="02010600030101010101" pitchFamily="2" charset="-122"/>
                <a:ea typeface="宋体" panose="02010600030101010101" pitchFamily="2" charset="-122"/>
                <a:cs typeface="宋体" panose="02010600030101010101" pitchFamily="2" charset="-122"/>
              </a:rPr>
              <a:t>UB</a:t>
            </a:r>
            <a:r>
              <a:rPr lang="zh-CN" altLang="en-US" sz="2000">
                <a:latin typeface="宋体" panose="02010600030101010101" pitchFamily="2" charset="-122"/>
                <a:ea typeface="宋体" panose="02010600030101010101" pitchFamily="2" charset="-122"/>
                <a:cs typeface="宋体" panose="02010600030101010101" pitchFamily="2" charset="-122"/>
              </a:rPr>
              <a:t>，将根节点放入优先队列中，初始化全局最大价值 </a:t>
            </a:r>
            <a:r>
              <a:rPr lang="en-US" altLang="zh-CN" sz="2000">
                <a:latin typeface="宋体" panose="02010600030101010101" pitchFamily="2" charset="-122"/>
                <a:ea typeface="宋体" panose="02010600030101010101" pitchFamily="2" charset="-122"/>
                <a:cs typeface="宋体" panose="02010600030101010101" pitchFamily="2" charset="-122"/>
              </a:rPr>
              <a:t>bestV = 0。</a:t>
            </a:r>
            <a:endParaRPr lang="en-US" altLang="zh-CN" sz="2000">
              <a:latin typeface="宋体" panose="02010600030101010101" pitchFamily="2" charset="-122"/>
              <a:ea typeface="宋体" panose="02010600030101010101" pitchFamily="2" charset="-122"/>
              <a:cs typeface="宋体" panose="02010600030101010101" pitchFamily="2" charset="-122"/>
            </a:endParaRPr>
          </a:p>
          <a:p>
            <a:pPr>
              <a:spcBef>
                <a:spcPct val="0"/>
              </a:spcBef>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rPr>
              <a:t>循环扩展：只要队列不为空，取出队列中 </a:t>
            </a:r>
            <a:r>
              <a:rPr lang="en-US" altLang="zh-CN" sz="2000">
                <a:latin typeface="宋体" panose="02010600030101010101" pitchFamily="2" charset="-122"/>
                <a:ea typeface="宋体" panose="02010600030101010101" pitchFamily="2" charset="-122"/>
                <a:cs typeface="宋体" panose="02010600030101010101" pitchFamily="2" charset="-122"/>
              </a:rPr>
              <a:t>UB </a:t>
            </a:r>
            <a:r>
              <a:rPr lang="zh-CN" altLang="en-US" sz="2000">
                <a:latin typeface="宋体" panose="02010600030101010101" pitchFamily="2" charset="-122"/>
                <a:ea typeface="宋体" panose="02010600030101010101" pitchFamily="2" charset="-122"/>
                <a:cs typeface="宋体" panose="02010600030101010101" pitchFamily="2" charset="-122"/>
              </a:rPr>
              <a:t>最大的节点作为当前扩展节点。</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rPr>
              <a:t>扩展左孩子（装入当前物品 </a:t>
            </a:r>
            <a:r>
              <a:rPr lang="en-US" altLang="zh-CN" sz="2000">
                <a:latin typeface="宋体" panose="02010600030101010101" pitchFamily="2" charset="-122"/>
                <a:ea typeface="宋体" panose="02010600030101010101" pitchFamily="2" charset="-122"/>
                <a:cs typeface="宋体" panose="02010600030101010101" pitchFamily="2" charset="-122"/>
              </a:rPr>
              <a:t>i）：</a:t>
            </a:r>
            <a:r>
              <a:rPr lang="zh-CN" altLang="en-US" sz="2000">
                <a:latin typeface="宋体" panose="02010600030101010101" pitchFamily="2" charset="-122"/>
                <a:ea typeface="宋体" panose="02010600030101010101" pitchFamily="2" charset="-122"/>
                <a:cs typeface="宋体" panose="02010600030101010101" pitchFamily="2" charset="-122"/>
              </a:rPr>
              <a:t>检查是否超重：若 </a:t>
            </a:r>
            <a:r>
              <a:rPr lang="en-US" altLang="zh-CN" sz="2000">
                <a:latin typeface="宋体" panose="02010600030101010101" pitchFamily="2" charset="-122"/>
                <a:ea typeface="宋体" panose="02010600030101010101" pitchFamily="2" charset="-122"/>
                <a:cs typeface="宋体" panose="02010600030101010101" pitchFamily="2" charset="-122"/>
              </a:rPr>
              <a:t>cw + w</a:t>
            </a:r>
            <a:r>
              <a:rPr lang="en-US" altLang="zh-CN" sz="2000" baseline="-25000">
                <a:latin typeface="宋体" panose="02010600030101010101" pitchFamily="2" charset="-122"/>
                <a:ea typeface="宋体" panose="02010600030101010101" pitchFamily="2" charset="-122"/>
                <a:cs typeface="宋体" panose="02010600030101010101" pitchFamily="2" charset="-122"/>
              </a:rPr>
              <a:t>i</a:t>
            </a:r>
            <a:r>
              <a:rPr lang="en-US" altLang="zh-CN" sz="2000">
                <a:latin typeface="宋体" panose="02010600030101010101" pitchFamily="2" charset="-122"/>
                <a:ea typeface="宋体" panose="02010600030101010101" pitchFamily="2" charset="-122"/>
                <a:cs typeface="宋体" panose="02010600030101010101" pitchFamily="2" charset="-122"/>
              </a:rPr>
              <a:t> ≤ W，</a:t>
            </a:r>
            <a:r>
              <a:rPr lang="zh-CN" altLang="en-US" sz="2000">
                <a:latin typeface="宋体" panose="02010600030101010101" pitchFamily="2" charset="-122"/>
                <a:ea typeface="宋体" panose="02010600030101010101" pitchFamily="2" charset="-122"/>
                <a:cs typeface="宋体" panose="02010600030101010101" pitchFamily="2" charset="-122"/>
              </a:rPr>
              <a:t>则左孩子可以放入。计算左孩子的 </a:t>
            </a:r>
            <a:r>
              <a:rPr lang="en-US" altLang="zh-CN" sz="2000">
                <a:latin typeface="宋体" panose="02010600030101010101" pitchFamily="2" charset="-122"/>
                <a:ea typeface="宋体" panose="02010600030101010101" pitchFamily="2" charset="-122"/>
                <a:cs typeface="宋体" panose="02010600030101010101" pitchFamily="2" charset="-122"/>
              </a:rPr>
              <a:t>cv_{left} = cv + v</a:t>
            </a:r>
            <a:r>
              <a:rPr lang="en-US" altLang="zh-CN" sz="2000" baseline="-25000">
                <a:latin typeface="宋体" panose="02010600030101010101" pitchFamily="2" charset="-122"/>
                <a:ea typeface="宋体" panose="02010600030101010101" pitchFamily="2" charset="-122"/>
                <a:cs typeface="宋体" panose="02010600030101010101" pitchFamily="2" charset="-122"/>
              </a:rPr>
              <a:t>i</a:t>
            </a:r>
            <a:r>
              <a:rPr lang="en-US" altLang="zh-CN" sz="2000">
                <a:latin typeface="宋体" panose="02010600030101010101" pitchFamily="2" charset="-122"/>
                <a:ea typeface="宋体" panose="02010600030101010101" pitchFamily="2" charset="-122"/>
                <a:cs typeface="宋体" panose="02010600030101010101" pitchFamily="2" charset="-122"/>
              </a:rPr>
              <a:t>，cw_{left} = cw + w</a:t>
            </a:r>
            <a:r>
              <a:rPr lang="en-US" altLang="zh-CN" sz="2000" baseline="-25000">
                <a:latin typeface="宋体" panose="02010600030101010101" pitchFamily="2" charset="-122"/>
                <a:ea typeface="宋体" panose="02010600030101010101" pitchFamily="2" charset="-122"/>
                <a:cs typeface="宋体" panose="02010600030101010101" pitchFamily="2" charset="-122"/>
              </a:rPr>
              <a:t>i</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如果 </a:t>
            </a:r>
            <a:r>
              <a:rPr lang="en-US" altLang="zh-CN" sz="2000">
                <a:latin typeface="宋体" panose="02010600030101010101" pitchFamily="2" charset="-122"/>
                <a:ea typeface="宋体" panose="02010600030101010101" pitchFamily="2" charset="-122"/>
                <a:cs typeface="宋体" panose="02010600030101010101" pitchFamily="2" charset="-122"/>
              </a:rPr>
              <a:t>cv_{left} &gt; bestV，</a:t>
            </a:r>
            <a:r>
              <a:rPr lang="zh-CN" altLang="en-US" sz="2000">
                <a:latin typeface="宋体" panose="02010600030101010101" pitchFamily="2" charset="-122"/>
                <a:ea typeface="宋体" panose="02010600030101010101" pitchFamily="2" charset="-122"/>
                <a:cs typeface="宋体" panose="02010600030101010101" pitchFamily="2" charset="-122"/>
              </a:rPr>
              <a:t>更新 </a:t>
            </a:r>
            <a:r>
              <a:rPr lang="en-US" altLang="zh-CN" sz="2000">
                <a:latin typeface="宋体" panose="02010600030101010101" pitchFamily="2" charset="-122"/>
                <a:ea typeface="宋体" panose="02010600030101010101" pitchFamily="2" charset="-122"/>
                <a:cs typeface="宋体" panose="02010600030101010101" pitchFamily="2" charset="-122"/>
              </a:rPr>
              <a:t>bestV = cv_{left}。</a:t>
            </a:r>
            <a:r>
              <a:rPr lang="zh-CN" altLang="en-US" sz="2000">
                <a:latin typeface="宋体" panose="02010600030101010101" pitchFamily="2" charset="-122"/>
                <a:ea typeface="宋体" panose="02010600030101010101" pitchFamily="2" charset="-122"/>
                <a:cs typeface="宋体" panose="02010600030101010101" pitchFamily="2" charset="-122"/>
              </a:rPr>
              <a:t>计算左孩子的 </a:t>
            </a:r>
            <a:r>
              <a:rPr lang="en-US" altLang="zh-CN" sz="2000">
                <a:latin typeface="宋体" panose="02010600030101010101" pitchFamily="2" charset="-122"/>
                <a:ea typeface="宋体" panose="02010600030101010101" pitchFamily="2" charset="-122"/>
                <a:cs typeface="宋体" panose="02010600030101010101" pitchFamily="2" charset="-122"/>
              </a:rPr>
              <a:t>ub，</a:t>
            </a:r>
            <a:r>
              <a:rPr lang="zh-CN" altLang="en-US" sz="2000">
                <a:latin typeface="宋体" panose="02010600030101010101" pitchFamily="2" charset="-122"/>
                <a:ea typeface="宋体" panose="02010600030101010101" pitchFamily="2" charset="-122"/>
                <a:cs typeface="宋体" panose="02010600030101010101" pitchFamily="2" charset="-122"/>
              </a:rPr>
              <a:t>若 </a:t>
            </a:r>
            <a:r>
              <a:rPr lang="en-US" altLang="zh-CN" sz="2000">
                <a:latin typeface="宋体" panose="02010600030101010101" pitchFamily="2" charset="-122"/>
                <a:ea typeface="宋体" panose="02010600030101010101" pitchFamily="2" charset="-122"/>
                <a:cs typeface="宋体" panose="02010600030101010101" pitchFamily="2" charset="-122"/>
              </a:rPr>
              <a:t>ub &gt; bestV，</a:t>
            </a:r>
            <a:r>
              <a:rPr lang="zh-CN" altLang="en-US" sz="2000">
                <a:latin typeface="宋体" panose="02010600030101010101" pitchFamily="2" charset="-122"/>
                <a:ea typeface="宋体" panose="02010600030101010101" pitchFamily="2" charset="-122"/>
                <a:cs typeface="宋体" panose="02010600030101010101" pitchFamily="2" charset="-122"/>
              </a:rPr>
              <a:t>将左孩子移入队列。</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rPr>
              <a:t>扩展右孩子（不装入当前物品 </a:t>
            </a:r>
            <a:r>
              <a:rPr lang="en-US" altLang="zh-CN" sz="2000">
                <a:latin typeface="宋体" panose="02010600030101010101" pitchFamily="2" charset="-122"/>
                <a:ea typeface="宋体" panose="02010600030101010101" pitchFamily="2" charset="-122"/>
                <a:cs typeface="宋体" panose="02010600030101010101" pitchFamily="2" charset="-122"/>
              </a:rPr>
              <a:t>i）：</a:t>
            </a:r>
            <a:r>
              <a:rPr lang="zh-CN" altLang="en-US" sz="2000">
                <a:latin typeface="宋体" panose="02010600030101010101" pitchFamily="2" charset="-122"/>
                <a:ea typeface="宋体" panose="02010600030101010101" pitchFamily="2" charset="-122"/>
                <a:cs typeface="宋体" panose="02010600030101010101" pitchFamily="2" charset="-122"/>
              </a:rPr>
              <a:t>重量不变 </a:t>
            </a:r>
            <a:r>
              <a:rPr lang="en-US" altLang="zh-CN" sz="2000">
                <a:latin typeface="宋体" panose="02010600030101010101" pitchFamily="2" charset="-122"/>
                <a:ea typeface="宋体" panose="02010600030101010101" pitchFamily="2" charset="-122"/>
                <a:cs typeface="宋体" panose="02010600030101010101" pitchFamily="2" charset="-122"/>
              </a:rPr>
              <a:t>cw_{right} = cw，</a:t>
            </a:r>
            <a:r>
              <a:rPr lang="zh-CN" altLang="en-US" sz="2000">
                <a:latin typeface="宋体" panose="02010600030101010101" pitchFamily="2" charset="-122"/>
                <a:ea typeface="宋体" panose="02010600030101010101" pitchFamily="2" charset="-122"/>
                <a:cs typeface="宋体" panose="02010600030101010101" pitchFamily="2" charset="-122"/>
              </a:rPr>
              <a:t>价值不变 </a:t>
            </a:r>
            <a:r>
              <a:rPr lang="en-US" altLang="zh-CN" sz="2000">
                <a:latin typeface="宋体" panose="02010600030101010101" pitchFamily="2" charset="-122"/>
                <a:ea typeface="宋体" panose="02010600030101010101" pitchFamily="2" charset="-122"/>
                <a:cs typeface="宋体" panose="02010600030101010101" pitchFamily="2" charset="-122"/>
              </a:rPr>
              <a:t>cv_{right} = cv。</a:t>
            </a:r>
            <a:r>
              <a:rPr lang="zh-CN" altLang="en-US" sz="2000">
                <a:latin typeface="宋体" panose="02010600030101010101" pitchFamily="2" charset="-122"/>
                <a:ea typeface="宋体" panose="02010600030101010101" pitchFamily="2" charset="-122"/>
                <a:cs typeface="宋体" panose="02010600030101010101" pitchFamily="2" charset="-122"/>
              </a:rPr>
              <a:t>计算右孩子的 </a:t>
            </a:r>
            <a:r>
              <a:rPr lang="en-US" altLang="zh-CN" sz="2000">
                <a:latin typeface="宋体" panose="02010600030101010101" pitchFamily="2" charset="-122"/>
                <a:ea typeface="宋体" panose="02010600030101010101" pitchFamily="2" charset="-122"/>
                <a:cs typeface="宋体" panose="02010600030101010101" pitchFamily="2" charset="-122"/>
              </a:rPr>
              <a:t>ub。</a:t>
            </a:r>
            <a:r>
              <a:rPr lang="zh-CN" altLang="en-US" sz="2000">
                <a:latin typeface="宋体" panose="02010600030101010101" pitchFamily="2" charset="-122"/>
                <a:ea typeface="宋体" panose="02010600030101010101" pitchFamily="2" charset="-122"/>
                <a:cs typeface="宋体" panose="02010600030101010101" pitchFamily="2" charset="-122"/>
              </a:rPr>
              <a:t>若 </a:t>
            </a:r>
            <a:r>
              <a:rPr lang="en-US" altLang="zh-CN" sz="2000">
                <a:latin typeface="宋体" panose="02010600030101010101" pitchFamily="2" charset="-122"/>
                <a:ea typeface="宋体" panose="02010600030101010101" pitchFamily="2" charset="-122"/>
                <a:cs typeface="宋体" panose="02010600030101010101" pitchFamily="2" charset="-122"/>
              </a:rPr>
              <a:t>ub &gt; bestV，</a:t>
            </a:r>
            <a:r>
              <a:rPr lang="zh-CN" altLang="en-US" sz="2000">
                <a:latin typeface="宋体" panose="02010600030101010101" pitchFamily="2" charset="-122"/>
                <a:ea typeface="宋体" panose="02010600030101010101" pitchFamily="2" charset="-122"/>
                <a:cs typeface="宋体" panose="02010600030101010101" pitchFamily="2" charset="-122"/>
              </a:rPr>
              <a:t>将右孩子移入队列。</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a:spcBef>
                <a:spcPct val="0"/>
              </a:spcBef>
            </a:pPr>
            <a:r>
              <a:rPr lang="zh-CN" altLang="en-US" sz="2000">
                <a:latin typeface="宋体" panose="02010600030101010101" pitchFamily="2" charset="-122"/>
                <a:ea typeface="宋体" panose="02010600030101010101" pitchFamily="2" charset="-122"/>
                <a:cs typeface="宋体" panose="02010600030101010101" pitchFamily="2" charset="-122"/>
              </a:rPr>
              <a:t>结束条件：当队列为空，或者当前取出的节点 </a:t>
            </a:r>
            <a:r>
              <a:rPr lang="en-US" altLang="zh-CN" sz="2000">
                <a:latin typeface="宋体" panose="02010600030101010101" pitchFamily="2" charset="-122"/>
                <a:ea typeface="宋体" panose="02010600030101010101" pitchFamily="2" charset="-122"/>
                <a:cs typeface="宋体" panose="02010600030101010101" pitchFamily="2" charset="-122"/>
              </a:rPr>
              <a:t>ub ≤ bestV </a:t>
            </a:r>
            <a:r>
              <a:rPr lang="zh-CN" altLang="en-US" sz="2000">
                <a:latin typeface="宋体" panose="02010600030101010101" pitchFamily="2" charset="-122"/>
                <a:ea typeface="宋体" panose="02010600030101010101" pitchFamily="2" charset="-122"/>
                <a:cs typeface="宋体" panose="02010600030101010101" pitchFamily="2" charset="-122"/>
              </a:rPr>
              <a:t>时，搜索结束。此时的 </a:t>
            </a:r>
            <a:r>
              <a:rPr lang="en-US" altLang="zh-CN" sz="2000">
                <a:latin typeface="宋体" panose="02010600030101010101" pitchFamily="2" charset="-122"/>
                <a:ea typeface="宋体" panose="02010600030101010101" pitchFamily="2" charset="-122"/>
                <a:cs typeface="宋体" panose="02010600030101010101" pitchFamily="2" charset="-122"/>
              </a:rPr>
              <a:t>bestV </a:t>
            </a:r>
            <a:r>
              <a:rPr lang="zh-CN" altLang="en-US" sz="2000">
                <a:latin typeface="宋体" panose="02010600030101010101" pitchFamily="2" charset="-122"/>
                <a:ea typeface="宋体" panose="02010600030101010101" pitchFamily="2" charset="-122"/>
                <a:cs typeface="宋体" panose="02010600030101010101" pitchFamily="2" charset="-122"/>
              </a:rPr>
              <a:t>即为最优解。</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zh-CN" sz="3600" b="1" dirty="0">
                <a:solidFill>
                  <a:srgbClr val="274FA2"/>
                </a:solidFill>
                <a:latin typeface="微软雅黑" panose="020B0503020204020204" charset="-122"/>
                <a:ea typeface="微软雅黑" panose="020B0503020204020204" charset="-122"/>
                <a:sym typeface="+mn-ea"/>
              </a:rPr>
              <a:t>三、 </a:t>
            </a:r>
            <a:r>
              <a:rPr lang="en-US" altLang="zh-CN" sz="3600" b="1" dirty="0">
                <a:solidFill>
                  <a:srgbClr val="274FA2"/>
                </a:solidFill>
                <a:latin typeface="微软雅黑" panose="020B0503020204020204" charset="-122"/>
                <a:ea typeface="微软雅黑" panose="020B0503020204020204" charset="-122"/>
                <a:sym typeface="+mn-ea"/>
              </a:rPr>
              <a:t>0/1</a:t>
            </a:r>
            <a:r>
              <a:rPr lang="zh-CN" altLang="en-US" sz="3600" b="1" dirty="0">
                <a:solidFill>
                  <a:srgbClr val="274FA2"/>
                </a:solidFill>
                <a:latin typeface="微软雅黑" panose="020B0503020204020204" charset="-122"/>
                <a:ea typeface="微软雅黑" panose="020B0503020204020204" charset="-122"/>
                <a:sym typeface="+mn-ea"/>
              </a:rPr>
              <a:t>背包</a:t>
            </a:r>
            <a:r>
              <a:rPr lang="zh-CN" altLang="zh-CN" sz="3600" b="1" dirty="0">
                <a:solidFill>
                  <a:srgbClr val="274FA2"/>
                </a:solidFill>
                <a:latin typeface="微软雅黑" panose="020B0503020204020204" charset="-122"/>
                <a:ea typeface="微软雅黑" panose="020B0503020204020204" charset="-122"/>
                <a:sym typeface="+mn-ea"/>
              </a:rPr>
              <a:t>问题</a:t>
            </a:r>
            <a:endParaRPr lang="zh-CN" altLang="zh-CN" sz="3600" b="1" dirty="0">
              <a:solidFill>
                <a:srgbClr val="274FA2"/>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stretch>
            <a:fillRect/>
          </a:stretch>
        </p:blipFill>
        <p:spPr>
          <a:xfrm>
            <a:off x="4857750" y="116840"/>
            <a:ext cx="5967730" cy="650811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en-US" sz="3600" b="1" dirty="0">
                <a:solidFill>
                  <a:srgbClr val="274FA2"/>
                </a:solidFill>
                <a:latin typeface="微软雅黑" panose="020B0503020204020204" charset="-122"/>
                <a:ea typeface="微软雅黑" panose="020B0503020204020204" charset="-122"/>
                <a:sym typeface="+mn-ea"/>
              </a:rPr>
              <a:t>四、</a:t>
            </a:r>
            <a:r>
              <a:rPr lang="zh-CN" altLang="en-US" sz="3600" b="1" dirty="0">
                <a:solidFill>
                  <a:srgbClr val="274FA2"/>
                </a:solidFill>
                <a:latin typeface="微软雅黑" panose="020B0503020204020204" charset="-122"/>
                <a:ea typeface="微软雅黑" panose="020B0503020204020204" charset="-122"/>
              </a:rPr>
              <a:t>连续邮资问题（回溯法）</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2" name="文本框 1"/>
          <p:cNvSpPr txBox="1"/>
          <p:nvPr/>
        </p:nvSpPr>
        <p:spPr>
          <a:xfrm>
            <a:off x="898525" y="893474"/>
            <a:ext cx="10394315" cy="1014730"/>
          </a:xfrm>
          <a:prstGeom prst="rect">
            <a:avLst/>
          </a:prstGeom>
        </p:spPr>
        <p:txBody>
          <a:bodyPr wrap="square">
            <a:spAutoFit/>
          </a:bodyPr>
          <a:lstStyle/>
          <a:p>
            <a:r>
              <a:rPr lang="zh-CN" altLang="en-US" sz="2000" b="1" dirty="0">
                <a:solidFill>
                  <a:schemeClr val="accent1"/>
                </a:solidFill>
                <a:latin typeface="宋体" panose="02010600030101010101" pitchFamily="2" charset="-122"/>
                <a:ea typeface="宋体" panose="02010600030101010101" pitchFamily="2" charset="-122"/>
              </a:rPr>
              <a:t>使用回溯法求解连续邮资问题：假设国家发行了 </a:t>
            </a:r>
            <a:r>
              <a:rPr lang="en-US" altLang="zh-CN" sz="2000" b="1" dirty="0">
                <a:solidFill>
                  <a:schemeClr val="accent1"/>
                </a:solidFill>
                <a:latin typeface="宋体" panose="02010600030101010101" pitchFamily="2" charset="-122"/>
                <a:ea typeface="宋体" panose="02010600030101010101" pitchFamily="2" charset="-122"/>
              </a:rPr>
              <a:t>n </a:t>
            </a:r>
            <a:r>
              <a:rPr lang="zh-CN" altLang="en-US" sz="2000" b="1" dirty="0">
                <a:solidFill>
                  <a:schemeClr val="accent1"/>
                </a:solidFill>
                <a:latin typeface="宋体" panose="02010600030101010101" pitchFamily="2" charset="-122"/>
                <a:ea typeface="宋体" panose="02010600030101010101" pitchFamily="2" charset="-122"/>
              </a:rPr>
              <a:t>种不同面值的邮票，并且规定每张信封上最多只允许贴 </a:t>
            </a:r>
            <a:r>
              <a:rPr lang="en-US" altLang="zh-CN" sz="2000" b="1" dirty="0">
                <a:solidFill>
                  <a:schemeClr val="accent1"/>
                </a:solidFill>
                <a:latin typeface="宋体" panose="02010600030101010101" pitchFamily="2" charset="-122"/>
                <a:ea typeface="宋体" panose="02010600030101010101" pitchFamily="2" charset="-122"/>
              </a:rPr>
              <a:t>m </a:t>
            </a:r>
            <a:r>
              <a:rPr lang="zh-CN" altLang="en-US" sz="2000" b="1" dirty="0">
                <a:solidFill>
                  <a:schemeClr val="accent1"/>
                </a:solidFill>
                <a:latin typeface="宋体" panose="02010600030101010101" pitchFamily="2" charset="-122"/>
                <a:ea typeface="宋体" panose="02010600030101010101" pitchFamily="2" charset="-122"/>
              </a:rPr>
              <a:t>张邮票。连续邮资问题要求对于给定的 </a:t>
            </a:r>
            <a:r>
              <a:rPr lang="en-US" altLang="zh-CN" sz="2000" b="1" dirty="0">
                <a:solidFill>
                  <a:schemeClr val="accent1"/>
                </a:solidFill>
                <a:latin typeface="宋体" panose="02010600030101010101" pitchFamily="2" charset="-122"/>
                <a:ea typeface="宋体" panose="02010600030101010101" pitchFamily="2" charset="-122"/>
              </a:rPr>
              <a:t>n </a:t>
            </a:r>
            <a:r>
              <a:rPr lang="zh-CN" altLang="en-US" sz="2000" b="1" dirty="0">
                <a:solidFill>
                  <a:schemeClr val="accent1"/>
                </a:solidFill>
                <a:latin typeface="宋体" panose="02010600030101010101" pitchFamily="2" charset="-122"/>
                <a:ea typeface="宋体" panose="02010600030101010101" pitchFamily="2" charset="-122"/>
              </a:rPr>
              <a:t>和 </a:t>
            </a:r>
            <a:r>
              <a:rPr lang="en-US" altLang="zh-CN" sz="2000" b="1" dirty="0">
                <a:solidFill>
                  <a:schemeClr val="accent1"/>
                </a:solidFill>
                <a:latin typeface="宋体" panose="02010600030101010101" pitchFamily="2" charset="-122"/>
                <a:ea typeface="宋体" panose="02010600030101010101" pitchFamily="2" charset="-122"/>
              </a:rPr>
              <a:t>m </a:t>
            </a:r>
            <a:r>
              <a:rPr lang="zh-CN" altLang="en-US" sz="2000" b="1" dirty="0">
                <a:solidFill>
                  <a:schemeClr val="accent1"/>
                </a:solidFill>
                <a:latin typeface="宋体" panose="02010600030101010101" pitchFamily="2" charset="-122"/>
                <a:ea typeface="宋体" panose="02010600030101010101" pitchFamily="2" charset="-122"/>
              </a:rPr>
              <a:t>的值，给出邮票面值的最佳设计，在 </a:t>
            </a:r>
            <a:r>
              <a:rPr lang="en-US" altLang="zh-CN" sz="2000" b="1" dirty="0">
                <a:solidFill>
                  <a:schemeClr val="accent1"/>
                </a:solidFill>
                <a:latin typeface="宋体" panose="02010600030101010101" pitchFamily="2" charset="-122"/>
                <a:ea typeface="宋体" panose="02010600030101010101" pitchFamily="2" charset="-122"/>
              </a:rPr>
              <a:t>1 </a:t>
            </a:r>
            <a:r>
              <a:rPr lang="zh-CN" altLang="en-US" sz="2000" b="1" dirty="0">
                <a:solidFill>
                  <a:schemeClr val="accent1"/>
                </a:solidFill>
                <a:latin typeface="宋体" panose="02010600030101010101" pitchFamily="2" charset="-122"/>
                <a:ea typeface="宋体" panose="02010600030101010101" pitchFamily="2" charset="-122"/>
              </a:rPr>
              <a:t>张信封上可贴出从邮资 </a:t>
            </a:r>
            <a:r>
              <a:rPr lang="en-US" altLang="zh-CN" sz="2000" b="1" dirty="0">
                <a:solidFill>
                  <a:schemeClr val="accent1"/>
                </a:solidFill>
                <a:latin typeface="宋体" panose="02010600030101010101" pitchFamily="2" charset="-122"/>
                <a:ea typeface="宋体" panose="02010600030101010101" pitchFamily="2" charset="-122"/>
              </a:rPr>
              <a:t>1 </a:t>
            </a:r>
            <a:r>
              <a:rPr lang="zh-CN" altLang="en-US" sz="2000" b="1" dirty="0">
                <a:solidFill>
                  <a:schemeClr val="accent1"/>
                </a:solidFill>
                <a:latin typeface="宋体" panose="02010600030101010101" pitchFamily="2" charset="-122"/>
                <a:ea typeface="宋体" panose="02010600030101010101" pitchFamily="2" charset="-122"/>
              </a:rPr>
              <a:t>开始，增量为 </a:t>
            </a:r>
            <a:r>
              <a:rPr lang="en-US" altLang="zh-CN" sz="2000" b="1" dirty="0">
                <a:solidFill>
                  <a:schemeClr val="accent1"/>
                </a:solidFill>
                <a:latin typeface="宋体" panose="02010600030101010101" pitchFamily="2" charset="-122"/>
                <a:ea typeface="宋体" panose="02010600030101010101" pitchFamily="2" charset="-122"/>
              </a:rPr>
              <a:t>1 </a:t>
            </a:r>
            <a:r>
              <a:rPr lang="zh-CN" altLang="en-US" sz="2000" b="1" dirty="0">
                <a:solidFill>
                  <a:schemeClr val="accent1"/>
                </a:solidFill>
                <a:latin typeface="宋体" panose="02010600030101010101" pitchFamily="2" charset="-122"/>
                <a:ea typeface="宋体" panose="02010600030101010101" pitchFamily="2" charset="-122"/>
              </a:rPr>
              <a:t>的最大连续邮资区间。</a:t>
            </a:r>
            <a:endParaRPr lang="zh-CN" altLang="en-US" sz="2000" b="1" dirty="0">
              <a:solidFill>
                <a:schemeClr val="accent1"/>
              </a:solidFill>
              <a:latin typeface="宋体" panose="02010600030101010101" pitchFamily="2" charset="-122"/>
              <a:ea typeface="宋体" panose="02010600030101010101" pitchFamily="2" charset="-122"/>
            </a:endParaRPr>
          </a:p>
        </p:txBody>
      </p:sp>
      <p:sp>
        <p:nvSpPr>
          <p:cNvPr id="4" name="文本框 3" descr="7b0a202020202262756c6c6574223a20227b5c2263617465676f727949645c223a5c225c222c5c2274656d706c61746549645c223a32303233313731347d220a7d0a"/>
          <p:cNvSpPr txBox="1"/>
          <p:nvPr/>
        </p:nvSpPr>
        <p:spPr>
          <a:xfrm>
            <a:off x="898525" y="2113569"/>
            <a:ext cx="10394315" cy="5016758"/>
          </a:xfrm>
          <a:prstGeom prst="rect">
            <a:avLst/>
          </a:prstGeom>
        </p:spPr>
        <p:txBody>
          <a:bodyPr wrap="square">
            <a:spAutoFit/>
          </a:bodyPr>
          <a:lstStyle/>
          <a:p>
            <a:r>
              <a:rPr lang="zh-CN" altLang="en-US" sz="2000" dirty="0">
                <a:solidFill>
                  <a:srgbClr val="000000"/>
                </a:solidFill>
                <a:latin typeface="宋体" panose="02010600030101010101" pitchFamily="2" charset="-122"/>
                <a:ea typeface="宋体" panose="02010600030101010101" pitchFamily="2" charset="-122"/>
              </a:rPr>
              <a:t>假设用数组 </a:t>
            </a:r>
            <a:r>
              <a:rPr lang="en-US" altLang="zh-CN" sz="2000" dirty="0">
                <a:solidFill>
                  <a:srgbClr val="000000"/>
                </a:solidFill>
                <a:latin typeface="宋体" panose="02010600030101010101" pitchFamily="2" charset="-122"/>
                <a:ea typeface="宋体" panose="02010600030101010101" pitchFamily="2" charset="-122"/>
              </a:rPr>
              <a:t>x[n] </a:t>
            </a:r>
            <a:r>
              <a:rPr lang="zh-CN" altLang="en-US" sz="2000" dirty="0">
                <a:solidFill>
                  <a:srgbClr val="000000"/>
                </a:solidFill>
                <a:latin typeface="宋体" panose="02010600030101010101" pitchFamily="2" charset="-122"/>
                <a:ea typeface="宋体" panose="02010600030101010101" pitchFamily="2" charset="-122"/>
              </a:rPr>
              <a:t>来存储这 </a:t>
            </a:r>
            <a:r>
              <a:rPr lang="en-US" altLang="zh-CN" sz="2000" dirty="0">
                <a:solidFill>
                  <a:srgbClr val="000000"/>
                </a:solidFill>
                <a:latin typeface="宋体" panose="02010600030101010101" pitchFamily="2" charset="-122"/>
                <a:ea typeface="宋体" panose="02010600030101010101" pitchFamily="2" charset="-122"/>
              </a:rPr>
              <a:t>n </a:t>
            </a:r>
            <a:r>
              <a:rPr lang="zh-CN" altLang="en-US" sz="2000" dirty="0">
                <a:solidFill>
                  <a:srgbClr val="000000"/>
                </a:solidFill>
                <a:latin typeface="宋体" panose="02010600030101010101" pitchFamily="2" charset="-122"/>
                <a:ea typeface="宋体" panose="02010600030101010101" pitchFamily="2" charset="-122"/>
              </a:rPr>
              <a:t>种邮票的面值（从小到大排序）：</a:t>
            </a:r>
            <a:endParaRPr lang="zh-CN" altLang="en-US" sz="2000" dirty="0">
              <a:solidFill>
                <a:srgbClr val="000000"/>
              </a:solidFill>
              <a:latin typeface="宋体" panose="02010600030101010101" pitchFamily="2" charset="-122"/>
              <a:ea typeface="宋体" panose="02010600030101010101" pitchFamily="2" charset="-122"/>
            </a:endParaRPr>
          </a:p>
          <a:p>
            <a:pPr marL="800100" lvl="1" indent="-342900">
              <a:buFont typeface="Wingdings" panose="05000000000000000000" charset="0"/>
              <a:buChar char="Ø"/>
            </a:pPr>
            <a:r>
              <a:rPr lang="zh-CN" altLang="en-US" sz="2000" dirty="0">
                <a:solidFill>
                  <a:srgbClr val="000000"/>
                </a:solidFill>
                <a:latin typeface="宋体" panose="02010600030101010101" pitchFamily="2" charset="-122"/>
                <a:ea typeface="宋体" panose="02010600030101010101" pitchFamily="2" charset="-122"/>
              </a:rPr>
              <a:t>初始确定：</a:t>
            </a:r>
            <a:r>
              <a:rPr lang="en-US" altLang="zh-CN" sz="2000" dirty="0">
                <a:solidFill>
                  <a:srgbClr val="000000"/>
                </a:solidFill>
                <a:latin typeface="宋体" panose="02010600030101010101" pitchFamily="2" charset="-122"/>
                <a:ea typeface="宋体" panose="02010600030101010101" pitchFamily="2" charset="-122"/>
              </a:rPr>
              <a:t>x[1] </a:t>
            </a:r>
            <a:r>
              <a:rPr lang="zh-CN" altLang="en-US" sz="2000" dirty="0">
                <a:solidFill>
                  <a:srgbClr val="000000"/>
                </a:solidFill>
                <a:latin typeface="宋体" panose="02010600030101010101" pitchFamily="2" charset="-122"/>
                <a:ea typeface="宋体" panose="02010600030101010101" pitchFamily="2" charset="-122"/>
              </a:rPr>
              <a:t>必须等于 1。因为如果面值没有 1，那么邮资 1 就无法凑出来。</a:t>
            </a:r>
            <a:endParaRPr lang="zh-CN" altLang="en-US" sz="2000" dirty="0">
              <a:solidFill>
                <a:srgbClr val="000000"/>
              </a:solidFill>
              <a:latin typeface="宋体" panose="02010600030101010101" pitchFamily="2" charset="-122"/>
              <a:ea typeface="宋体" panose="02010600030101010101" pitchFamily="2" charset="-122"/>
            </a:endParaRPr>
          </a:p>
          <a:p>
            <a:pPr marL="800100" lvl="1" indent="-342900">
              <a:buFont typeface="Wingdings" panose="05000000000000000000" charset="0"/>
              <a:buChar char="Ø"/>
            </a:pPr>
            <a:r>
              <a:rPr lang="zh-CN" altLang="en-US" sz="2000" dirty="0">
                <a:solidFill>
                  <a:srgbClr val="000000"/>
                </a:solidFill>
                <a:latin typeface="宋体" panose="02010600030101010101" pitchFamily="2" charset="-122"/>
                <a:ea typeface="宋体" panose="02010600030101010101" pitchFamily="2" charset="-122"/>
              </a:rPr>
              <a:t>第 </a:t>
            </a:r>
            <a:r>
              <a:rPr lang="en-US" altLang="zh-CN" sz="2000" dirty="0" err="1">
                <a:solidFill>
                  <a:srgbClr val="000000"/>
                </a:solidFill>
                <a:latin typeface="宋体" panose="02010600030101010101" pitchFamily="2" charset="-122"/>
                <a:ea typeface="宋体" panose="02010600030101010101" pitchFamily="2" charset="-122"/>
              </a:rPr>
              <a:t>i</a:t>
            </a:r>
            <a:r>
              <a:rPr lang="en-US" altLang="zh-CN" sz="2000" dirty="0">
                <a:solidFill>
                  <a:srgbClr val="000000"/>
                </a:solidFill>
                <a:latin typeface="宋体" panose="02010600030101010101" pitchFamily="2" charset="-122"/>
                <a:ea typeface="宋体" panose="02010600030101010101" pitchFamily="2" charset="-122"/>
              </a:rPr>
              <a:t> </a:t>
            </a:r>
            <a:r>
              <a:rPr lang="zh-CN" altLang="en-US" sz="2000" dirty="0">
                <a:solidFill>
                  <a:srgbClr val="000000"/>
                </a:solidFill>
                <a:latin typeface="宋体" panose="02010600030101010101" pitchFamily="2" charset="-122"/>
                <a:ea typeface="宋体" panose="02010600030101010101" pitchFamily="2" charset="-122"/>
              </a:rPr>
              <a:t>种邮票面值 </a:t>
            </a:r>
            <a:r>
              <a:rPr lang="en-US" altLang="zh-CN" sz="2000" dirty="0">
                <a:solidFill>
                  <a:srgbClr val="000000"/>
                </a:solidFill>
                <a:latin typeface="宋体" panose="02010600030101010101" pitchFamily="2" charset="-122"/>
                <a:ea typeface="宋体" panose="02010600030101010101" pitchFamily="2" charset="-122"/>
              </a:rPr>
              <a:t>x[</a:t>
            </a:r>
            <a:r>
              <a:rPr lang="en-US" altLang="zh-CN" sz="2000" dirty="0" err="1">
                <a:solidFill>
                  <a:srgbClr val="000000"/>
                </a:solidFill>
                <a:latin typeface="宋体" panose="02010600030101010101" pitchFamily="2" charset="-122"/>
                <a:ea typeface="宋体" panose="02010600030101010101" pitchFamily="2" charset="-122"/>
              </a:rPr>
              <a:t>i</a:t>
            </a:r>
            <a:r>
              <a:rPr lang="en-US" altLang="zh-CN" sz="2000" dirty="0">
                <a:solidFill>
                  <a:srgbClr val="000000"/>
                </a:solidFill>
                <a:latin typeface="宋体" panose="02010600030101010101" pitchFamily="2" charset="-122"/>
                <a:ea typeface="宋体" panose="02010600030101010101" pitchFamily="2" charset="-122"/>
              </a:rPr>
              <a:t>] </a:t>
            </a:r>
            <a:r>
              <a:rPr lang="zh-CN" altLang="en-US" sz="2000" dirty="0">
                <a:solidFill>
                  <a:srgbClr val="000000"/>
                </a:solidFill>
                <a:latin typeface="宋体" panose="02010600030101010101" pitchFamily="2" charset="-122"/>
                <a:ea typeface="宋体" panose="02010600030101010101" pitchFamily="2" charset="-122"/>
              </a:rPr>
              <a:t>的取值范围：</a:t>
            </a:r>
            <a:endParaRPr lang="zh-CN" altLang="en-US" sz="2000" dirty="0">
              <a:solidFill>
                <a:srgbClr val="000000"/>
              </a:solidFill>
              <a:latin typeface="宋体" panose="02010600030101010101" pitchFamily="2" charset="-122"/>
              <a:ea typeface="宋体" panose="02010600030101010101" pitchFamily="2" charset="-122"/>
            </a:endParaRPr>
          </a:p>
          <a:p>
            <a:pPr marL="1257300" lvl="2" indent="-342900">
              <a:buFont typeface="Wingdings" panose="05000000000000000000" charset="0"/>
              <a:buChar char="p"/>
            </a:pPr>
            <a:r>
              <a:rPr lang="zh-CN" altLang="en-US" sz="2000" dirty="0">
                <a:solidFill>
                  <a:srgbClr val="000000"/>
                </a:solidFill>
                <a:latin typeface="宋体" panose="02010600030101010101" pitchFamily="2" charset="-122"/>
                <a:ea typeface="宋体" panose="02010600030101010101" pitchFamily="2" charset="-122"/>
              </a:rPr>
              <a:t>下界：由于面值递增，必然有 </a:t>
            </a:r>
            <a:r>
              <a:rPr lang="en-US" altLang="zh-CN" sz="2000" dirty="0">
                <a:solidFill>
                  <a:srgbClr val="000000"/>
                </a:solidFill>
                <a:latin typeface="宋体" panose="02010600030101010101" pitchFamily="2" charset="-122"/>
                <a:ea typeface="宋体" panose="02010600030101010101" pitchFamily="2" charset="-122"/>
              </a:rPr>
              <a:t>x[</a:t>
            </a:r>
            <a:r>
              <a:rPr lang="en-US" altLang="zh-CN" sz="2000" dirty="0" err="1">
                <a:solidFill>
                  <a:srgbClr val="000000"/>
                </a:solidFill>
                <a:latin typeface="宋体" panose="02010600030101010101" pitchFamily="2" charset="-122"/>
                <a:ea typeface="宋体" panose="02010600030101010101" pitchFamily="2" charset="-122"/>
              </a:rPr>
              <a:t>i</a:t>
            </a:r>
            <a:r>
              <a:rPr lang="en-US" altLang="zh-CN" sz="2000" dirty="0">
                <a:solidFill>
                  <a:srgbClr val="000000"/>
                </a:solidFill>
                <a:latin typeface="宋体" panose="02010600030101010101" pitchFamily="2" charset="-122"/>
                <a:ea typeface="宋体" panose="02010600030101010101" pitchFamily="2" charset="-122"/>
              </a:rPr>
              <a:t>] ≥ x[i-1] + 1。</a:t>
            </a:r>
            <a:endParaRPr lang="en-US" altLang="zh-CN" sz="2000" dirty="0">
              <a:solidFill>
                <a:srgbClr val="000000"/>
              </a:solidFill>
              <a:latin typeface="宋体" panose="02010600030101010101" pitchFamily="2" charset="-122"/>
              <a:ea typeface="宋体" panose="02010600030101010101" pitchFamily="2" charset="-122"/>
            </a:endParaRPr>
          </a:p>
          <a:p>
            <a:pPr marL="1257300" lvl="2" indent="-342900">
              <a:buFont typeface="Wingdings" panose="05000000000000000000" charset="0"/>
              <a:buChar char="p"/>
            </a:pPr>
            <a:r>
              <a:rPr lang="zh-CN" altLang="en-US" sz="2000" dirty="0">
                <a:solidFill>
                  <a:srgbClr val="000000"/>
                </a:solidFill>
                <a:latin typeface="宋体" panose="02010600030101010101" pitchFamily="2" charset="-122"/>
                <a:ea typeface="宋体" panose="02010600030101010101" pitchFamily="2" charset="-122"/>
              </a:rPr>
              <a:t>上界：假设前 </a:t>
            </a:r>
            <a:r>
              <a:rPr lang="en-US" altLang="zh-CN" sz="2000" dirty="0">
                <a:solidFill>
                  <a:srgbClr val="000000"/>
                </a:solidFill>
                <a:latin typeface="宋体" panose="02010600030101010101" pitchFamily="2" charset="-122"/>
                <a:ea typeface="宋体" panose="02010600030101010101" pitchFamily="2" charset="-122"/>
              </a:rPr>
              <a:t>i-1 </a:t>
            </a:r>
            <a:r>
              <a:rPr lang="zh-CN" altLang="en-US" sz="2000" dirty="0">
                <a:solidFill>
                  <a:srgbClr val="000000"/>
                </a:solidFill>
                <a:latin typeface="宋体" panose="02010600030101010101" pitchFamily="2" charset="-122"/>
                <a:ea typeface="宋体" panose="02010600030101010101" pitchFamily="2" charset="-122"/>
              </a:rPr>
              <a:t>种邮票能凑出的最大连续邮资为 </a:t>
            </a:r>
            <a:r>
              <a:rPr lang="en-US" altLang="zh-CN" sz="2000" dirty="0" err="1">
                <a:solidFill>
                  <a:srgbClr val="000000"/>
                </a:solidFill>
                <a:latin typeface="宋体" panose="02010600030101010101" pitchFamily="2" charset="-122"/>
                <a:ea typeface="宋体" panose="02010600030101010101" pitchFamily="2" charset="-122"/>
              </a:rPr>
              <a:t>prev_max</a:t>
            </a:r>
            <a:r>
              <a:rPr lang="zh-CN" altLang="en-US" sz="2000" dirty="0">
                <a:solidFill>
                  <a:srgbClr val="000000"/>
                </a:solidFill>
                <a:latin typeface="宋体" panose="02010600030101010101" pitchFamily="2" charset="-122"/>
                <a:ea typeface="宋体" panose="02010600030101010101" pitchFamily="2" charset="-122"/>
              </a:rPr>
              <a:t>，那么新邮票的面值 </a:t>
            </a:r>
            <a:r>
              <a:rPr lang="en-US" altLang="zh-CN" sz="2000" dirty="0">
                <a:solidFill>
                  <a:srgbClr val="000000"/>
                </a:solidFill>
                <a:latin typeface="宋体" panose="02010600030101010101" pitchFamily="2" charset="-122"/>
                <a:ea typeface="宋体" panose="02010600030101010101" pitchFamily="2" charset="-122"/>
              </a:rPr>
              <a:t>x[</a:t>
            </a:r>
            <a:r>
              <a:rPr lang="en-US" altLang="zh-CN" sz="2000" dirty="0" err="1">
                <a:solidFill>
                  <a:srgbClr val="000000"/>
                </a:solidFill>
                <a:latin typeface="宋体" panose="02010600030101010101" pitchFamily="2" charset="-122"/>
                <a:ea typeface="宋体" panose="02010600030101010101" pitchFamily="2" charset="-122"/>
              </a:rPr>
              <a:t>i</a:t>
            </a:r>
            <a:r>
              <a:rPr lang="en-US" altLang="zh-CN" sz="2000" dirty="0">
                <a:solidFill>
                  <a:srgbClr val="000000"/>
                </a:solidFill>
                <a:latin typeface="宋体" panose="02010600030101010101" pitchFamily="2" charset="-122"/>
                <a:ea typeface="宋体" panose="02010600030101010101" pitchFamily="2" charset="-122"/>
              </a:rPr>
              <a:t>] </a:t>
            </a:r>
            <a:r>
              <a:rPr lang="zh-CN" altLang="en-US" sz="2000" dirty="0">
                <a:solidFill>
                  <a:srgbClr val="000000"/>
                </a:solidFill>
                <a:latin typeface="宋体" panose="02010600030101010101" pitchFamily="2" charset="-122"/>
                <a:ea typeface="宋体" panose="02010600030101010101" pitchFamily="2" charset="-122"/>
              </a:rPr>
              <a:t>绝对不能超过 </a:t>
            </a:r>
            <a:r>
              <a:rPr lang="en-US" altLang="zh-CN" sz="2000" dirty="0" err="1">
                <a:solidFill>
                  <a:srgbClr val="000000"/>
                </a:solidFill>
                <a:latin typeface="宋体" panose="02010600030101010101" pitchFamily="2" charset="-122"/>
                <a:ea typeface="宋体" panose="02010600030101010101" pitchFamily="2" charset="-122"/>
              </a:rPr>
              <a:t>prev_max</a:t>
            </a:r>
            <a:r>
              <a:rPr lang="en-US" altLang="zh-CN" sz="2000" dirty="0">
                <a:solidFill>
                  <a:srgbClr val="000000"/>
                </a:solidFill>
                <a:latin typeface="宋体" panose="02010600030101010101" pitchFamily="2" charset="-122"/>
                <a:ea typeface="宋体" panose="02010600030101010101" pitchFamily="2" charset="-122"/>
              </a:rPr>
              <a:t> + 1。</a:t>
            </a:r>
            <a:r>
              <a:rPr lang="zh-CN" altLang="en-US" sz="2000" dirty="0">
                <a:solidFill>
                  <a:srgbClr val="000000"/>
                </a:solidFill>
                <a:latin typeface="宋体" panose="02010600030101010101" pitchFamily="2" charset="-122"/>
                <a:ea typeface="宋体" panose="02010600030101010101" pitchFamily="2" charset="-122"/>
              </a:rPr>
              <a:t>因为如果 </a:t>
            </a:r>
            <a:r>
              <a:rPr lang="en-US" altLang="zh-CN" sz="2000" dirty="0">
                <a:solidFill>
                  <a:srgbClr val="000000"/>
                </a:solidFill>
                <a:latin typeface="宋体" panose="02010600030101010101" pitchFamily="2" charset="-122"/>
                <a:ea typeface="宋体" panose="02010600030101010101" pitchFamily="2" charset="-122"/>
              </a:rPr>
              <a:t>x[</a:t>
            </a:r>
            <a:r>
              <a:rPr lang="en-US" altLang="zh-CN" sz="2000" dirty="0" err="1">
                <a:solidFill>
                  <a:srgbClr val="000000"/>
                </a:solidFill>
                <a:latin typeface="宋体" panose="02010600030101010101" pitchFamily="2" charset="-122"/>
                <a:ea typeface="宋体" panose="02010600030101010101" pitchFamily="2" charset="-122"/>
              </a:rPr>
              <a:t>i</a:t>
            </a:r>
            <a:r>
              <a:rPr lang="en-US" altLang="zh-CN" sz="2000" dirty="0">
                <a:solidFill>
                  <a:srgbClr val="000000"/>
                </a:solidFill>
                <a:latin typeface="宋体" panose="02010600030101010101" pitchFamily="2" charset="-122"/>
                <a:ea typeface="宋体" panose="02010600030101010101" pitchFamily="2" charset="-122"/>
              </a:rPr>
              <a:t>] &gt; </a:t>
            </a:r>
            <a:r>
              <a:rPr lang="en-US" altLang="zh-CN" sz="2000" dirty="0" err="1">
                <a:solidFill>
                  <a:srgbClr val="000000"/>
                </a:solidFill>
                <a:latin typeface="宋体" panose="02010600030101010101" pitchFamily="2" charset="-122"/>
                <a:ea typeface="宋体" panose="02010600030101010101" pitchFamily="2" charset="-122"/>
              </a:rPr>
              <a:t>prev_max</a:t>
            </a:r>
            <a:r>
              <a:rPr lang="en-US" altLang="zh-CN" sz="2000" dirty="0">
                <a:solidFill>
                  <a:srgbClr val="000000"/>
                </a:solidFill>
                <a:latin typeface="宋体" panose="02010600030101010101" pitchFamily="2" charset="-122"/>
                <a:ea typeface="宋体" panose="02010600030101010101" pitchFamily="2" charset="-122"/>
              </a:rPr>
              <a:t> + 1，</a:t>
            </a:r>
            <a:r>
              <a:rPr lang="zh-CN" altLang="en-US" sz="2000" dirty="0">
                <a:solidFill>
                  <a:srgbClr val="000000"/>
                </a:solidFill>
                <a:latin typeface="宋体" panose="02010600030101010101" pitchFamily="2" charset="-122"/>
                <a:ea typeface="宋体" panose="02010600030101010101" pitchFamily="2" charset="-122"/>
              </a:rPr>
              <a:t>那么邮资 </a:t>
            </a:r>
            <a:r>
              <a:rPr lang="en-US" altLang="zh-CN" sz="2000" dirty="0" err="1">
                <a:solidFill>
                  <a:srgbClr val="000000"/>
                </a:solidFill>
                <a:latin typeface="宋体" panose="02010600030101010101" pitchFamily="2" charset="-122"/>
                <a:ea typeface="宋体" panose="02010600030101010101" pitchFamily="2" charset="-122"/>
              </a:rPr>
              <a:t>prev_max</a:t>
            </a:r>
            <a:r>
              <a:rPr lang="en-US" altLang="zh-CN" sz="2000" dirty="0">
                <a:solidFill>
                  <a:srgbClr val="000000"/>
                </a:solidFill>
                <a:latin typeface="宋体" panose="02010600030101010101" pitchFamily="2" charset="-122"/>
                <a:ea typeface="宋体" panose="02010600030101010101" pitchFamily="2" charset="-122"/>
              </a:rPr>
              <a:t> + 1 </a:t>
            </a:r>
            <a:r>
              <a:rPr lang="zh-CN" altLang="en-US" sz="2000" dirty="0">
                <a:solidFill>
                  <a:srgbClr val="000000"/>
                </a:solidFill>
                <a:latin typeface="宋体" panose="02010600030101010101" pitchFamily="2" charset="-122"/>
                <a:ea typeface="宋体" panose="02010600030101010101" pitchFamily="2" charset="-122"/>
              </a:rPr>
              <a:t>既无法靠前 </a:t>
            </a:r>
            <a:r>
              <a:rPr lang="en-US" altLang="zh-CN" sz="2000" dirty="0">
                <a:solidFill>
                  <a:srgbClr val="000000"/>
                </a:solidFill>
                <a:latin typeface="宋体" panose="02010600030101010101" pitchFamily="2" charset="-122"/>
                <a:ea typeface="宋体" panose="02010600030101010101" pitchFamily="2" charset="-122"/>
              </a:rPr>
              <a:t>i-1 </a:t>
            </a:r>
            <a:r>
              <a:rPr lang="zh-CN" altLang="en-US" sz="2000" dirty="0">
                <a:solidFill>
                  <a:srgbClr val="000000"/>
                </a:solidFill>
                <a:latin typeface="宋体" panose="02010600030101010101" pitchFamily="2" charset="-122"/>
                <a:ea typeface="宋体" panose="02010600030101010101" pitchFamily="2" charset="-122"/>
              </a:rPr>
              <a:t>种邮票凑齐（因为它们最大只能凑到 </a:t>
            </a:r>
            <a:r>
              <a:rPr lang="en-US" altLang="zh-CN" sz="2000" dirty="0" err="1">
                <a:solidFill>
                  <a:srgbClr val="000000"/>
                </a:solidFill>
                <a:latin typeface="宋体" panose="02010600030101010101" pitchFamily="2" charset="-122"/>
                <a:ea typeface="宋体" panose="02010600030101010101" pitchFamily="2" charset="-122"/>
              </a:rPr>
              <a:t>prev_max</a:t>
            </a:r>
            <a:r>
              <a:rPr lang="en-US" altLang="zh-CN" sz="2000" dirty="0">
                <a:solidFill>
                  <a:srgbClr val="000000"/>
                </a:solidFill>
                <a:latin typeface="宋体" panose="02010600030101010101" pitchFamily="2" charset="-122"/>
                <a:ea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也无法靠加入新邮票 </a:t>
            </a:r>
            <a:r>
              <a:rPr lang="en-US" altLang="zh-CN" sz="2000" dirty="0">
                <a:solidFill>
                  <a:srgbClr val="000000"/>
                </a:solidFill>
                <a:latin typeface="宋体" panose="02010600030101010101" pitchFamily="2" charset="-122"/>
                <a:ea typeface="宋体" panose="02010600030101010101" pitchFamily="2" charset="-122"/>
              </a:rPr>
              <a:t>x[</a:t>
            </a:r>
            <a:r>
              <a:rPr lang="en-US" altLang="zh-CN" sz="2000" dirty="0" err="1">
                <a:solidFill>
                  <a:srgbClr val="000000"/>
                </a:solidFill>
                <a:latin typeface="宋体" panose="02010600030101010101" pitchFamily="2" charset="-122"/>
                <a:ea typeface="宋体" panose="02010600030101010101" pitchFamily="2" charset="-122"/>
              </a:rPr>
              <a:t>i</a:t>
            </a:r>
            <a:r>
              <a:rPr lang="en-US" altLang="zh-CN" sz="2000" dirty="0">
                <a:solidFill>
                  <a:srgbClr val="000000"/>
                </a:solidFill>
                <a:latin typeface="宋体" panose="02010600030101010101" pitchFamily="2" charset="-122"/>
                <a:ea typeface="宋体" panose="02010600030101010101" pitchFamily="2" charset="-122"/>
              </a:rPr>
              <a:t>] </a:t>
            </a:r>
            <a:r>
              <a:rPr lang="zh-CN" altLang="en-US" sz="2000" dirty="0">
                <a:solidFill>
                  <a:srgbClr val="000000"/>
                </a:solidFill>
                <a:latin typeface="宋体" panose="02010600030101010101" pitchFamily="2" charset="-122"/>
                <a:ea typeface="宋体" panose="02010600030101010101" pitchFamily="2" charset="-122"/>
              </a:rPr>
              <a:t>凑齐（因为新邮票太大了）。这样区间就断开了。</a:t>
            </a:r>
            <a:endParaRPr lang="en-US" altLang="zh-CN" sz="2000" dirty="0">
              <a:solidFill>
                <a:srgbClr val="000000"/>
              </a:solidFill>
              <a:latin typeface="宋体" panose="02010600030101010101" pitchFamily="2" charset="-122"/>
              <a:ea typeface="宋体" panose="02010600030101010101" pitchFamily="2" charset="-122"/>
            </a:endParaRPr>
          </a:p>
          <a:p>
            <a:pPr marL="1257300" lvl="2" indent="-342900">
              <a:buFont typeface="Wingdings" panose="05000000000000000000" charset="0"/>
              <a:buChar char="p"/>
            </a:pPr>
            <a:endParaRPr lang="en-US" altLang="zh-CN" sz="2000" dirty="0">
              <a:solidFill>
                <a:srgbClr val="000000"/>
              </a:solidFill>
              <a:latin typeface="宋体" panose="02010600030101010101" pitchFamily="2" charset="-122"/>
              <a:ea typeface="宋体" panose="02010600030101010101" pitchFamily="2" charset="-122"/>
            </a:endParaRPr>
          </a:p>
          <a:p>
            <a:pPr marL="1257300" lvl="2" indent="-342900">
              <a:buFont typeface="Wingdings" panose="05000000000000000000" charset="0"/>
              <a:buChar char="p"/>
            </a:pPr>
            <a:endParaRPr lang="en-US" altLang="zh-CN" sz="2000" dirty="0">
              <a:solidFill>
                <a:srgbClr val="000000"/>
              </a:solidFill>
              <a:latin typeface="宋体" panose="02010600030101010101" pitchFamily="2" charset="-122"/>
              <a:ea typeface="宋体" panose="02010600030101010101" pitchFamily="2" charset="-122"/>
            </a:endParaRPr>
          </a:p>
          <a:p>
            <a:r>
              <a:rPr lang="zh-CN" altLang="en-US" sz="2000" dirty="0">
                <a:solidFill>
                  <a:srgbClr val="000000"/>
                </a:solidFill>
                <a:latin typeface="宋体" panose="02010600030101010101" pitchFamily="2" charset="-122"/>
                <a:ea typeface="宋体" panose="02010600030101010101" pitchFamily="2" charset="-122"/>
              </a:rPr>
              <a:t>定义 </a:t>
            </a:r>
            <a:r>
              <a:rPr lang="en-US" altLang="zh-CN" sz="2000" dirty="0">
                <a:solidFill>
                  <a:srgbClr val="000000"/>
                </a:solidFill>
                <a:latin typeface="宋体" panose="02010600030101010101" pitchFamily="2" charset="-122"/>
                <a:ea typeface="宋体" panose="02010600030101010101" pitchFamily="2" charset="-122"/>
              </a:rPr>
              <a:t>dp[k] </a:t>
            </a:r>
            <a:r>
              <a:rPr lang="zh-CN" altLang="en-US" sz="2000" dirty="0">
                <a:solidFill>
                  <a:srgbClr val="000000"/>
                </a:solidFill>
                <a:latin typeface="宋体" panose="02010600030101010101" pitchFamily="2" charset="-122"/>
                <a:ea typeface="宋体" panose="02010600030101010101" pitchFamily="2" charset="-122"/>
              </a:rPr>
              <a:t>表示凑出邮资 </a:t>
            </a:r>
            <a:r>
              <a:rPr lang="en-US" altLang="zh-CN" sz="2000" dirty="0">
                <a:solidFill>
                  <a:srgbClr val="000000"/>
                </a:solidFill>
                <a:latin typeface="宋体" panose="02010600030101010101" pitchFamily="2" charset="-122"/>
                <a:ea typeface="宋体" panose="02010600030101010101" pitchFamily="2" charset="-122"/>
              </a:rPr>
              <a:t>k </a:t>
            </a:r>
            <a:r>
              <a:rPr lang="zh-CN" altLang="en-US" sz="2000" dirty="0">
                <a:solidFill>
                  <a:srgbClr val="000000"/>
                </a:solidFill>
                <a:latin typeface="宋体" panose="02010600030101010101" pitchFamily="2" charset="-122"/>
                <a:ea typeface="宋体" panose="02010600030101010101" pitchFamily="2" charset="-122"/>
              </a:rPr>
              <a:t>所需的最少邮票张数。</a:t>
            </a:r>
            <a:endParaRPr lang="zh-CN" altLang="en-US" sz="2000" dirty="0">
              <a:solidFill>
                <a:srgbClr val="000000"/>
              </a:solidFill>
              <a:latin typeface="宋体" panose="02010600030101010101" pitchFamily="2" charset="-122"/>
              <a:ea typeface="宋体" panose="02010600030101010101" pitchFamily="2" charset="-122"/>
            </a:endParaRPr>
          </a:p>
          <a:p>
            <a:r>
              <a:rPr lang="zh-CN" altLang="en-US" sz="2000" dirty="0">
                <a:solidFill>
                  <a:srgbClr val="000000"/>
                </a:solidFill>
                <a:latin typeface="宋体" panose="02010600030101010101" pitchFamily="2" charset="-122"/>
                <a:ea typeface="宋体" panose="02010600030101010101" pitchFamily="2" charset="-122"/>
              </a:rPr>
              <a:t>状态转移方程：</a:t>
            </a:r>
            <a:r>
              <a:rPr lang="en-US" altLang="zh-CN" sz="2000" dirty="0">
                <a:solidFill>
                  <a:srgbClr val="000000"/>
                </a:solidFill>
                <a:latin typeface="宋体" panose="02010600030101010101" pitchFamily="2" charset="-122"/>
                <a:ea typeface="宋体" panose="02010600030101010101" pitchFamily="2" charset="-122"/>
              </a:rPr>
              <a:t>dp[k] = min</a:t>
            </a:r>
            <a:r>
              <a:rPr lang="en-US" altLang="zh-CN" sz="2000" baseline="-25000" dirty="0">
                <a:solidFill>
                  <a:srgbClr val="000000"/>
                </a:solidFill>
                <a:latin typeface="宋体" panose="02010600030101010101" pitchFamily="2" charset="-122"/>
                <a:ea typeface="宋体" panose="02010600030101010101" pitchFamily="2" charset="-122"/>
              </a:rPr>
              <a:t>1≤i≤k</a:t>
            </a:r>
            <a:r>
              <a:rPr lang="en-US" altLang="zh-CN" sz="2000" dirty="0">
                <a:solidFill>
                  <a:srgbClr val="000000"/>
                </a:solidFill>
                <a:latin typeface="宋体" panose="02010600030101010101" pitchFamily="2" charset="-122"/>
                <a:ea typeface="宋体" panose="02010600030101010101" pitchFamily="2" charset="-122"/>
              </a:rPr>
              <a:t>(dp[k], dp[k - x[</a:t>
            </a:r>
            <a:r>
              <a:rPr lang="en-US" altLang="zh-CN" sz="2000" dirty="0" err="1">
                <a:solidFill>
                  <a:srgbClr val="000000"/>
                </a:solidFill>
                <a:latin typeface="宋体" panose="02010600030101010101" pitchFamily="2" charset="-122"/>
                <a:ea typeface="宋体" panose="02010600030101010101" pitchFamily="2" charset="-122"/>
              </a:rPr>
              <a:t>i</a:t>
            </a:r>
            <a:r>
              <a:rPr lang="en-US" altLang="zh-CN" sz="2000" dirty="0">
                <a:solidFill>
                  <a:srgbClr val="000000"/>
                </a:solidFill>
                <a:latin typeface="宋体" panose="02010600030101010101" pitchFamily="2" charset="-122"/>
                <a:ea typeface="宋体" panose="02010600030101010101" pitchFamily="2" charset="-122"/>
              </a:rPr>
              <a:t>]] + 1)</a:t>
            </a:r>
            <a:endParaRPr lang="en-US" altLang="zh-CN" sz="2000" dirty="0">
              <a:solidFill>
                <a:srgbClr val="000000"/>
              </a:solidFill>
              <a:latin typeface="宋体" panose="02010600030101010101" pitchFamily="2" charset="-122"/>
              <a:ea typeface="宋体" panose="02010600030101010101" pitchFamily="2" charset="-122"/>
            </a:endParaRPr>
          </a:p>
          <a:p>
            <a:r>
              <a:rPr lang="zh-CN" altLang="en-US" sz="2000" dirty="0">
                <a:solidFill>
                  <a:srgbClr val="000000"/>
                </a:solidFill>
                <a:latin typeface="宋体" panose="02010600030101010101" pitchFamily="2" charset="-122"/>
                <a:ea typeface="宋体" panose="02010600030101010101" pitchFamily="2" charset="-122"/>
              </a:rPr>
              <a:t>从 </a:t>
            </a:r>
            <a:r>
              <a:rPr lang="en-US" altLang="zh-CN" sz="2000" dirty="0">
                <a:solidFill>
                  <a:srgbClr val="000000"/>
                </a:solidFill>
                <a:latin typeface="宋体" panose="02010600030101010101" pitchFamily="2" charset="-122"/>
                <a:ea typeface="宋体" panose="02010600030101010101" pitchFamily="2" charset="-122"/>
              </a:rPr>
              <a:t>k = 1 </a:t>
            </a:r>
            <a:r>
              <a:rPr lang="zh-CN" altLang="en-US" sz="2000" dirty="0">
                <a:solidFill>
                  <a:srgbClr val="000000"/>
                </a:solidFill>
                <a:latin typeface="宋体" panose="02010600030101010101" pitchFamily="2" charset="-122"/>
                <a:ea typeface="宋体" panose="02010600030101010101" pitchFamily="2" charset="-122"/>
              </a:rPr>
              <a:t>开始向后递增计算，一旦发现某个 </a:t>
            </a:r>
            <a:r>
              <a:rPr lang="en-US" altLang="zh-CN" sz="2000" dirty="0">
                <a:solidFill>
                  <a:srgbClr val="000000"/>
                </a:solidFill>
                <a:latin typeface="宋体" panose="02010600030101010101" pitchFamily="2" charset="-122"/>
                <a:ea typeface="宋体" panose="02010600030101010101" pitchFamily="2" charset="-122"/>
              </a:rPr>
              <a:t>dp[k] &gt; m（</a:t>
            </a:r>
            <a:r>
              <a:rPr lang="zh-CN" altLang="en-US" sz="2000" dirty="0">
                <a:solidFill>
                  <a:srgbClr val="000000"/>
                </a:solidFill>
                <a:latin typeface="宋体" panose="02010600030101010101" pitchFamily="2" charset="-122"/>
                <a:ea typeface="宋体" panose="02010600030101010101" pitchFamily="2" charset="-122"/>
              </a:rPr>
              <a:t>需要的张数超过了限制），说明邮资 </a:t>
            </a:r>
            <a:r>
              <a:rPr lang="en-US" altLang="zh-CN" sz="2000" dirty="0">
                <a:solidFill>
                  <a:srgbClr val="000000"/>
                </a:solidFill>
                <a:latin typeface="宋体" panose="02010600030101010101" pitchFamily="2" charset="-122"/>
                <a:ea typeface="宋体" panose="02010600030101010101" pitchFamily="2" charset="-122"/>
              </a:rPr>
              <a:t>k </a:t>
            </a:r>
            <a:r>
              <a:rPr lang="zh-CN" altLang="en-US" sz="2000" dirty="0">
                <a:solidFill>
                  <a:srgbClr val="000000"/>
                </a:solidFill>
                <a:latin typeface="宋体" panose="02010600030101010101" pitchFamily="2" charset="-122"/>
                <a:ea typeface="宋体" panose="02010600030101010101" pitchFamily="2" charset="-122"/>
              </a:rPr>
              <a:t>凑不出来了。那么当前的最大连续邮资就是 </a:t>
            </a:r>
            <a:r>
              <a:rPr lang="en-US" altLang="zh-CN" sz="2000" dirty="0">
                <a:solidFill>
                  <a:srgbClr val="000000"/>
                </a:solidFill>
                <a:latin typeface="宋体" panose="02010600030101010101" pitchFamily="2" charset="-122"/>
                <a:ea typeface="宋体" panose="02010600030101010101" pitchFamily="2" charset="-122"/>
              </a:rPr>
              <a:t>k - 1。</a:t>
            </a:r>
            <a:endParaRPr lang="en-US" altLang="zh-CN" sz="2000" dirty="0">
              <a:solidFill>
                <a:srgbClr val="000000"/>
              </a:solidFill>
              <a:latin typeface="宋体" panose="02010600030101010101" pitchFamily="2" charset="-122"/>
              <a:ea typeface="宋体" panose="02010600030101010101" pitchFamily="2" charset="-122"/>
            </a:endParaRPr>
          </a:p>
          <a:p>
            <a:pPr marL="342900" indent="-342900">
              <a:buFont typeface="Wingdings" panose="05000000000000000000" charset="0"/>
              <a:buChar char="p"/>
            </a:pPr>
            <a:endParaRPr lang="en-US" altLang="zh-CN" sz="2000"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en-US" sz="3600" b="1" dirty="0">
                <a:solidFill>
                  <a:srgbClr val="274FA2"/>
                </a:solidFill>
                <a:latin typeface="微软雅黑" panose="020B0503020204020204" charset="-122"/>
                <a:ea typeface="微软雅黑" panose="020B0503020204020204" charset="-122"/>
                <a:sym typeface="+mn-ea"/>
              </a:rPr>
              <a:t>四、连续邮资</a:t>
            </a:r>
            <a:r>
              <a:rPr lang="zh-CN" altLang="zh-CN" sz="3600" b="1" dirty="0">
                <a:solidFill>
                  <a:srgbClr val="274FA2"/>
                </a:solidFill>
                <a:latin typeface="微软雅黑" panose="020B0503020204020204" charset="-122"/>
                <a:ea typeface="微软雅黑" panose="020B0503020204020204" charset="-122"/>
                <a:sym typeface="+mn-ea"/>
              </a:rPr>
              <a:t>问题</a:t>
            </a:r>
            <a:endParaRPr lang="zh-CN" altLang="zh-CN" sz="3600" b="1" dirty="0">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5879465" y="0"/>
            <a:ext cx="5838189"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en-US" sz="3600" b="1" dirty="0">
                <a:solidFill>
                  <a:srgbClr val="274FA2"/>
                </a:solidFill>
                <a:latin typeface="微软雅黑" panose="020B0503020204020204" charset="-122"/>
                <a:ea typeface="微软雅黑" panose="020B0503020204020204" charset="-122"/>
                <a:sym typeface="+mn-ea"/>
              </a:rPr>
              <a:t>五、</a:t>
            </a:r>
            <a:r>
              <a:rPr lang="en-US" altLang="zh-CN" sz="3600" b="1" dirty="0">
                <a:solidFill>
                  <a:srgbClr val="274FA2"/>
                </a:solidFill>
                <a:latin typeface="微软雅黑" panose="020B0503020204020204" charset="-122"/>
                <a:ea typeface="微软雅黑" panose="020B0503020204020204" charset="-122"/>
              </a:rPr>
              <a:t>m</a:t>
            </a:r>
            <a:r>
              <a:rPr lang="zh-CN" altLang="en-US" sz="3600" b="1" dirty="0">
                <a:solidFill>
                  <a:srgbClr val="274FA2"/>
                </a:solidFill>
                <a:latin typeface="微软雅黑" panose="020B0503020204020204" charset="-122"/>
                <a:ea typeface="微软雅黑" panose="020B0503020204020204" charset="-122"/>
              </a:rPr>
              <a:t>个不相交子段最大和（动态规划）</a:t>
            </a:r>
            <a:endParaRPr lang="zh-CN" altLang="zh-CN" sz="3600" b="1" dirty="0">
              <a:solidFill>
                <a:srgbClr val="274FA2"/>
              </a:solidFill>
              <a:latin typeface="微软雅黑" panose="020B0503020204020204" charset="-122"/>
              <a:ea typeface="微软雅黑" panose="020B0503020204020204" charset="-122"/>
              <a:sym typeface="+mn-ea"/>
            </a:endParaRPr>
          </a:p>
        </p:txBody>
      </p:sp>
      <p:sp>
        <p:nvSpPr>
          <p:cNvPr id="4" name="文本框 3"/>
          <p:cNvSpPr txBox="1"/>
          <p:nvPr/>
        </p:nvSpPr>
        <p:spPr>
          <a:xfrm>
            <a:off x="565785" y="1030008"/>
            <a:ext cx="11284470" cy="707886"/>
          </a:xfrm>
          <a:prstGeom prst="rect">
            <a:avLst/>
          </a:prstGeom>
          <a:noFill/>
        </p:spPr>
        <p:txBody>
          <a:bodyPr wrap="square">
            <a:spAutoFit/>
          </a:bodyPr>
          <a:lstStyle/>
          <a:p>
            <a:r>
              <a:rPr lang="zh-CN" altLang="en-US" sz="2000" b="1" dirty="0">
                <a:solidFill>
                  <a:schemeClr val="accent1"/>
                </a:solidFill>
                <a:latin typeface="宋体" panose="02010600030101010101" pitchFamily="2" charset="-122"/>
                <a:ea typeface="宋体" panose="02010600030101010101" pitchFamily="2" charset="-122"/>
              </a:rPr>
              <a:t>给定由</a:t>
            </a:r>
            <a:r>
              <a:rPr lang="en-US" altLang="zh-CN" sz="2000" b="1" dirty="0">
                <a:solidFill>
                  <a:schemeClr val="accent1"/>
                </a:solidFill>
                <a:latin typeface="宋体" panose="02010600030101010101" pitchFamily="2" charset="-122"/>
                <a:ea typeface="宋体" panose="02010600030101010101" pitchFamily="2" charset="-122"/>
              </a:rPr>
              <a:t>n</a:t>
            </a:r>
            <a:r>
              <a:rPr lang="zh-CN" altLang="en-US" sz="2000" b="1" dirty="0">
                <a:solidFill>
                  <a:schemeClr val="accent1"/>
                </a:solidFill>
                <a:latin typeface="宋体" panose="02010600030101010101" pitchFamily="2" charset="-122"/>
                <a:ea typeface="宋体" panose="02010600030101010101" pitchFamily="2" charset="-122"/>
              </a:rPr>
              <a:t>个整数</a:t>
            </a:r>
            <a:r>
              <a:rPr lang="en-US" altLang="zh-CN" sz="2000" b="1" dirty="0">
                <a:solidFill>
                  <a:schemeClr val="accent1"/>
                </a:solidFill>
                <a:latin typeface="宋体" panose="02010600030101010101" pitchFamily="2" charset="-122"/>
                <a:ea typeface="宋体" panose="02010600030101010101" pitchFamily="2" charset="-122"/>
              </a:rPr>
              <a:t>(</a:t>
            </a:r>
            <a:r>
              <a:rPr lang="zh-CN" altLang="en-US" sz="2000" b="1" dirty="0">
                <a:solidFill>
                  <a:schemeClr val="accent1"/>
                </a:solidFill>
                <a:latin typeface="宋体" panose="02010600030101010101" pitchFamily="2" charset="-122"/>
                <a:ea typeface="宋体" panose="02010600030101010101" pitchFamily="2" charset="-122"/>
              </a:rPr>
              <a:t>可能为负数</a:t>
            </a:r>
            <a:r>
              <a:rPr lang="en-US" altLang="zh-CN" sz="2000" b="1" dirty="0">
                <a:solidFill>
                  <a:schemeClr val="accent1"/>
                </a:solidFill>
                <a:latin typeface="宋体" panose="02010600030101010101" pitchFamily="2" charset="-122"/>
                <a:ea typeface="宋体" panose="02010600030101010101" pitchFamily="2" charset="-122"/>
              </a:rPr>
              <a:t>)</a:t>
            </a:r>
            <a:r>
              <a:rPr lang="zh-CN" altLang="en-US" sz="2000" b="1" dirty="0">
                <a:solidFill>
                  <a:schemeClr val="accent1"/>
                </a:solidFill>
                <a:latin typeface="宋体" panose="02010600030101010101" pitchFamily="2" charset="-122"/>
                <a:ea typeface="宋体" panose="02010600030101010101" pitchFamily="2" charset="-122"/>
              </a:rPr>
              <a:t>组成的序列</a:t>
            </a:r>
            <a:r>
              <a:rPr lang="en-US" altLang="zh-CN" sz="2000" b="1" dirty="0">
                <a:solidFill>
                  <a:schemeClr val="accent1"/>
                </a:solidFill>
                <a:latin typeface="宋体" panose="02010600030101010101" pitchFamily="2" charset="-122"/>
                <a:ea typeface="宋体" panose="02010600030101010101" pitchFamily="2" charset="-122"/>
              </a:rPr>
              <a:t>a1,a2,a3……an</a:t>
            </a:r>
            <a:r>
              <a:rPr lang="zh-CN" altLang="en-US" sz="2000" b="1" dirty="0">
                <a:solidFill>
                  <a:schemeClr val="accent1"/>
                </a:solidFill>
                <a:latin typeface="宋体" panose="02010600030101010101" pitchFamily="2" charset="-122"/>
                <a:ea typeface="宋体" panose="02010600030101010101" pitchFamily="2" charset="-122"/>
              </a:rPr>
              <a:t>，以及一个正整数</a:t>
            </a:r>
            <a:r>
              <a:rPr lang="en-US" altLang="zh-CN" sz="2000" b="1" dirty="0">
                <a:solidFill>
                  <a:schemeClr val="accent1"/>
                </a:solidFill>
                <a:latin typeface="宋体" panose="02010600030101010101" pitchFamily="2" charset="-122"/>
                <a:ea typeface="宋体" panose="02010600030101010101" pitchFamily="2" charset="-122"/>
              </a:rPr>
              <a:t>m</a:t>
            </a:r>
            <a:r>
              <a:rPr lang="zh-CN" altLang="en-US" sz="2000" b="1" dirty="0">
                <a:solidFill>
                  <a:schemeClr val="accent1"/>
                </a:solidFill>
                <a:latin typeface="宋体" panose="02010600030101010101" pitchFamily="2" charset="-122"/>
                <a:ea typeface="宋体" panose="02010600030101010101" pitchFamily="2" charset="-122"/>
              </a:rPr>
              <a:t>，要求确定此序列的</a:t>
            </a:r>
            <a:r>
              <a:rPr lang="en-US" altLang="zh-CN" sz="2000" b="1" dirty="0">
                <a:solidFill>
                  <a:schemeClr val="accent1"/>
                </a:solidFill>
                <a:latin typeface="宋体" panose="02010600030101010101" pitchFamily="2" charset="-122"/>
                <a:ea typeface="宋体" panose="02010600030101010101" pitchFamily="2" charset="-122"/>
              </a:rPr>
              <a:t>m</a:t>
            </a:r>
            <a:r>
              <a:rPr lang="zh-CN" altLang="en-US" sz="2000" b="1" dirty="0">
                <a:solidFill>
                  <a:schemeClr val="accent1"/>
                </a:solidFill>
                <a:latin typeface="宋体" panose="02010600030101010101" pitchFamily="2" charset="-122"/>
                <a:ea typeface="宋体" panose="02010600030101010101" pitchFamily="2" charset="-122"/>
              </a:rPr>
              <a:t>个不相交子段，使其总和达到最大。</a:t>
            </a:r>
            <a:endParaRPr lang="zh-CN" altLang="en-US" sz="2000" b="1" dirty="0">
              <a:solidFill>
                <a:schemeClr val="accent1"/>
              </a:solidFill>
              <a:latin typeface="宋体" panose="02010600030101010101" pitchFamily="2" charset="-122"/>
              <a:ea typeface="宋体" panose="02010600030101010101" pitchFamily="2" charset="-122"/>
            </a:endParaRPr>
          </a:p>
        </p:txBody>
      </p:sp>
      <p:sp>
        <p:nvSpPr>
          <p:cNvPr id="6" name="文本框 5"/>
          <p:cNvSpPr txBox="1"/>
          <p:nvPr/>
        </p:nvSpPr>
        <p:spPr>
          <a:xfrm>
            <a:off x="453765" y="2156154"/>
            <a:ext cx="11284470" cy="3784600"/>
          </a:xfrm>
          <a:prstGeom prst="rect">
            <a:avLst/>
          </a:prstGeom>
          <a:noFill/>
        </p:spPr>
        <p:txBody>
          <a:bodyPr wrap="square">
            <a:spAutoFit/>
          </a:bodyPr>
          <a:lstStyle/>
          <a:p>
            <a:r>
              <a:rPr lang="zh-CN" altLang="en-US" sz="2000" b="1" dirty="0">
                <a:latin typeface="宋体" panose="02010600030101010101" pitchFamily="2" charset="-122"/>
                <a:ea typeface="宋体" panose="02010600030101010101" pitchFamily="2" charset="-122"/>
              </a:rPr>
              <a:t>状态定义</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dp[</a:t>
            </a:r>
            <a:r>
              <a:rPr lang="en-US" altLang="zh-CN" sz="2000" dirty="0" err="1">
                <a:latin typeface="宋体" panose="02010600030101010101" pitchFamily="2" charset="-122"/>
                <a:ea typeface="宋体" panose="02010600030101010101" pitchFamily="2" charset="-122"/>
              </a:rPr>
              <a:t>i</a:t>
            </a:r>
            <a:r>
              <a:rPr lang="en-US" altLang="zh-CN" sz="2000" dirty="0">
                <a:latin typeface="宋体" panose="02010600030101010101" pitchFamily="2" charset="-122"/>
                <a:ea typeface="宋体" panose="02010600030101010101" pitchFamily="2" charset="-122"/>
              </a:rPr>
              <a:t>][j] </a:t>
            </a:r>
            <a:r>
              <a:rPr lang="zh-CN" altLang="en-US" sz="2000" dirty="0">
                <a:latin typeface="宋体" panose="02010600030101010101" pitchFamily="2" charset="-122"/>
                <a:ea typeface="宋体" panose="02010600030101010101" pitchFamily="2" charset="-122"/>
              </a:rPr>
              <a:t>表示在前 </a:t>
            </a:r>
            <a:r>
              <a:rPr lang="en-US" altLang="zh-CN" sz="2000" dirty="0">
                <a:latin typeface="宋体" panose="02010600030101010101" pitchFamily="2" charset="-122"/>
                <a:ea typeface="宋体" panose="02010600030101010101" pitchFamily="2" charset="-122"/>
              </a:rPr>
              <a:t>j </a:t>
            </a:r>
            <a:r>
              <a:rPr lang="zh-CN" altLang="en-US" sz="2000" dirty="0">
                <a:latin typeface="宋体" panose="02010600030101010101" pitchFamily="2" charset="-122"/>
                <a:ea typeface="宋体" panose="02010600030101010101" pitchFamily="2" charset="-122"/>
              </a:rPr>
              <a:t>个元素中，挑出 </a:t>
            </a:r>
            <a:r>
              <a:rPr lang="en-US" altLang="zh-CN" sz="2000" dirty="0" err="1">
                <a:latin typeface="宋体" panose="02010600030101010101" pitchFamily="2" charset="-122"/>
                <a:ea typeface="宋体" panose="02010600030101010101" pitchFamily="2" charset="-122"/>
              </a:rPr>
              <a:t>i</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个不相交子段，且第 </a:t>
            </a:r>
            <a:r>
              <a:rPr lang="en-US" altLang="zh-CN" sz="2000" dirty="0" err="1">
                <a:latin typeface="宋体" panose="02010600030101010101" pitchFamily="2" charset="-122"/>
                <a:ea typeface="宋体" panose="02010600030101010101" pitchFamily="2" charset="-122"/>
              </a:rPr>
              <a:t>i</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个子段必须包含元素 </a:t>
            </a:r>
            <a:r>
              <a:rPr lang="en-US" altLang="zh-CN" sz="2000" dirty="0" err="1">
                <a:latin typeface="宋体" panose="02010600030101010101" pitchFamily="2" charset="-122"/>
                <a:ea typeface="宋体" panose="02010600030101010101" pitchFamily="2" charset="-122"/>
              </a:rPr>
              <a:t>aj</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时能达到的最大总和。</a:t>
            </a:r>
            <a:endParaRPr lang="en-US" altLang="zh-CN" sz="2000" dirty="0">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状态转移方程：</a:t>
            </a:r>
            <a:endParaRPr lang="en-US" altLang="zh-CN" sz="2000" b="1" dirty="0">
              <a:latin typeface="宋体" panose="02010600030101010101" pitchFamily="2" charset="-122"/>
              <a:ea typeface="宋体" panose="02010600030101010101" pitchFamily="2" charset="-122"/>
            </a:endParaRPr>
          </a:p>
          <a:p>
            <a:r>
              <a:rPr lang="zh-CN" altLang="en-US" sz="2000" dirty="0">
                <a:latin typeface="宋体" panose="02010600030101010101" pitchFamily="2" charset="-122"/>
                <a:ea typeface="宋体" panose="02010600030101010101" pitchFamily="2" charset="-122"/>
              </a:rPr>
              <a:t>当决定要把元素 </a:t>
            </a:r>
            <a:r>
              <a:rPr lang="en-US" altLang="zh-CN" sz="2000" dirty="0" err="1">
                <a:latin typeface="宋体" panose="02010600030101010101" pitchFamily="2" charset="-122"/>
                <a:ea typeface="宋体" panose="02010600030101010101" pitchFamily="2" charset="-122"/>
              </a:rPr>
              <a:t>aj</a:t>
            </a:r>
            <a:r>
              <a:rPr lang="zh-CN" altLang="en-US" sz="2000" dirty="0">
                <a:latin typeface="宋体" panose="02010600030101010101" pitchFamily="2" charset="-122"/>
                <a:ea typeface="宋体" panose="02010600030101010101" pitchFamily="2" charset="-122"/>
              </a:rPr>
              <a:t> 加入第 </a:t>
            </a:r>
            <a:r>
              <a:rPr lang="en-US" altLang="zh-CN" sz="2000" dirty="0" err="1">
                <a:latin typeface="宋体" panose="02010600030101010101" pitchFamily="2" charset="-122"/>
                <a:ea typeface="宋体" panose="02010600030101010101" pitchFamily="2" charset="-122"/>
              </a:rPr>
              <a:t>i</a:t>
            </a:r>
            <a:r>
              <a:rPr lang="zh-CN" altLang="en-US" sz="2000" dirty="0">
                <a:latin typeface="宋体" panose="02010600030101010101" pitchFamily="2" charset="-122"/>
                <a:ea typeface="宋体" panose="02010600030101010101" pitchFamily="2" charset="-122"/>
              </a:rPr>
              <a:t> 个子段时，面临着两种选择：</a:t>
            </a:r>
            <a:endParaRPr lang="en-US" altLang="zh-CN" sz="2000" dirty="0">
              <a:latin typeface="宋体" panose="02010600030101010101" pitchFamily="2" charset="-122"/>
              <a:ea typeface="宋体" panose="02010600030101010101" pitchFamily="2" charset="-122"/>
            </a:endParaRPr>
          </a:p>
          <a:p>
            <a:r>
              <a:rPr lang="zh-CN" altLang="en-US" sz="2000" dirty="0">
                <a:latin typeface="宋体" panose="02010600030101010101" pitchFamily="2" charset="-122"/>
                <a:ea typeface="宋体" panose="02010600030101010101" pitchFamily="2" charset="-122"/>
              </a:rPr>
              <a:t>接在已有子段后面：</a:t>
            </a:r>
            <a:r>
              <a:rPr lang="en-US" altLang="zh-CN" sz="2000" dirty="0" err="1">
                <a:latin typeface="宋体" panose="02010600030101010101" pitchFamily="2" charset="-122"/>
                <a:ea typeface="宋体" panose="02010600030101010101" pitchFamily="2" charset="-122"/>
              </a:rPr>
              <a:t>aj</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紧跟在 </a:t>
            </a:r>
            <a:r>
              <a:rPr lang="en-US" altLang="zh-CN" sz="2000" dirty="0">
                <a:latin typeface="宋体" panose="02010600030101010101" pitchFamily="2" charset="-122"/>
                <a:ea typeface="宋体" panose="02010600030101010101" pitchFamily="2" charset="-122"/>
              </a:rPr>
              <a:t>a{j-1} </a:t>
            </a:r>
            <a:r>
              <a:rPr lang="zh-CN" altLang="en-US" sz="2000" dirty="0">
                <a:latin typeface="宋体" panose="02010600030101010101" pitchFamily="2" charset="-122"/>
                <a:ea typeface="宋体" panose="02010600030101010101" pitchFamily="2" charset="-122"/>
              </a:rPr>
              <a:t>后面，作为第 </a:t>
            </a:r>
            <a:r>
              <a:rPr lang="en-US" altLang="zh-CN" sz="2000" dirty="0" err="1">
                <a:latin typeface="宋体" panose="02010600030101010101" pitchFamily="2" charset="-122"/>
                <a:ea typeface="宋体" panose="02010600030101010101" pitchFamily="2" charset="-122"/>
              </a:rPr>
              <a:t>i</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个子段的延伸。此时的总和是 </a:t>
            </a:r>
            <a:r>
              <a:rPr lang="en-US" altLang="zh-CN" sz="2000" dirty="0">
                <a:latin typeface="宋体" panose="02010600030101010101" pitchFamily="2" charset="-122"/>
                <a:ea typeface="宋体" panose="02010600030101010101" pitchFamily="2" charset="-122"/>
              </a:rPr>
              <a:t>dp[</a:t>
            </a:r>
            <a:r>
              <a:rPr lang="en-US" altLang="zh-CN" sz="2000" dirty="0" err="1">
                <a:latin typeface="宋体" panose="02010600030101010101" pitchFamily="2" charset="-122"/>
                <a:ea typeface="宋体" panose="02010600030101010101" pitchFamily="2" charset="-122"/>
              </a:rPr>
              <a:t>i</a:t>
            </a:r>
            <a:r>
              <a:rPr lang="en-US" altLang="zh-CN" sz="2000" dirty="0">
                <a:latin typeface="宋体" panose="02010600030101010101" pitchFamily="2" charset="-122"/>
                <a:ea typeface="宋体" panose="02010600030101010101" pitchFamily="2" charset="-122"/>
              </a:rPr>
              <a:t>][j-1] + </a:t>
            </a:r>
            <a:r>
              <a:rPr lang="en-US" altLang="zh-CN" sz="2000" dirty="0" err="1">
                <a:latin typeface="宋体" panose="02010600030101010101" pitchFamily="2" charset="-122"/>
                <a:ea typeface="宋体" panose="02010600030101010101" pitchFamily="2" charset="-122"/>
              </a:rPr>
              <a:t>aj</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r>
              <a:rPr lang="zh-CN" altLang="en-US" sz="2000" dirty="0">
                <a:latin typeface="宋体" panose="02010600030101010101" pitchFamily="2" charset="-122"/>
                <a:ea typeface="宋体" panose="02010600030101010101" pitchFamily="2" charset="-122"/>
              </a:rPr>
              <a:t>自己作为新子段：自己作为第 </a:t>
            </a:r>
            <a:r>
              <a:rPr lang="en-US" altLang="zh-CN" sz="2000" dirty="0" err="1">
                <a:latin typeface="宋体" panose="02010600030101010101" pitchFamily="2" charset="-122"/>
                <a:ea typeface="宋体" panose="02010600030101010101" pitchFamily="2" charset="-122"/>
              </a:rPr>
              <a:t>i</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个子段的起点。那么前 </a:t>
            </a:r>
            <a:r>
              <a:rPr lang="en-US" altLang="zh-CN" sz="2000" dirty="0">
                <a:latin typeface="宋体" panose="02010600030101010101" pitchFamily="2" charset="-122"/>
                <a:ea typeface="宋体" panose="02010600030101010101" pitchFamily="2" charset="-122"/>
              </a:rPr>
              <a:t>i-1 </a:t>
            </a:r>
            <a:r>
              <a:rPr lang="zh-CN" altLang="en-US" sz="2000" dirty="0">
                <a:latin typeface="宋体" panose="02010600030101010101" pitchFamily="2" charset="-122"/>
                <a:ea typeface="宋体" panose="02010600030101010101" pitchFamily="2" charset="-122"/>
              </a:rPr>
              <a:t>个子段必须在 </a:t>
            </a:r>
            <a:r>
              <a:rPr lang="en-US" altLang="zh-CN" sz="2000" dirty="0" err="1">
                <a:latin typeface="宋体" panose="02010600030101010101" pitchFamily="2" charset="-122"/>
                <a:ea typeface="宋体" panose="02010600030101010101" pitchFamily="2" charset="-122"/>
              </a:rPr>
              <a:t>aj</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之前的某个位置 </a:t>
            </a:r>
            <a:r>
              <a:rPr lang="en-US" altLang="zh-CN" sz="2000" dirty="0">
                <a:latin typeface="宋体" panose="02010600030101010101" pitchFamily="2" charset="-122"/>
                <a:ea typeface="宋体" panose="02010600030101010101" pitchFamily="2" charset="-122"/>
              </a:rPr>
              <a:t>t </a:t>
            </a:r>
            <a:r>
              <a:rPr lang="zh-CN" altLang="en-US" sz="2000" dirty="0">
                <a:latin typeface="宋体" panose="02010600030101010101" pitchFamily="2" charset="-122"/>
                <a:ea typeface="宋体" panose="02010600030101010101" pitchFamily="2" charset="-122"/>
              </a:rPr>
              <a:t>就已经结束。此时的总和是</a:t>
            </a:r>
            <a:r>
              <a:rPr lang="en-US" altLang="zh-CN" sz="2000" dirty="0">
                <a:latin typeface="宋体" panose="02010600030101010101" pitchFamily="2" charset="-122"/>
                <a:ea typeface="宋体" panose="02010600030101010101" pitchFamily="2" charset="-122"/>
              </a:rPr>
              <a:t> max</a:t>
            </a:r>
            <a:r>
              <a:rPr lang="en-US" altLang="zh-CN" sz="2000" baseline="-25000" dirty="0">
                <a:latin typeface="宋体" panose="02010600030101010101" pitchFamily="2" charset="-122"/>
                <a:ea typeface="宋体" panose="02010600030101010101" pitchFamily="2" charset="-122"/>
              </a:rPr>
              <a:t>i-1 </a:t>
            </a:r>
            <a:r>
              <a:rPr lang="zh-CN" altLang="en-US" sz="2000" baseline="-25000" dirty="0">
                <a:latin typeface="宋体" panose="02010600030101010101" pitchFamily="2" charset="-122"/>
                <a:ea typeface="宋体" panose="02010600030101010101" pitchFamily="2" charset="-122"/>
              </a:rPr>
              <a:t>≤ </a:t>
            </a:r>
            <a:r>
              <a:rPr lang="en-US" altLang="zh-CN" sz="2000" baseline="-25000" dirty="0">
                <a:latin typeface="宋体" panose="02010600030101010101" pitchFamily="2" charset="-122"/>
                <a:ea typeface="宋体" panose="02010600030101010101" pitchFamily="2" charset="-122"/>
              </a:rPr>
              <a:t>t &lt; j </a:t>
            </a:r>
            <a:r>
              <a:rPr lang="en-US" altLang="zh-CN" sz="2000" dirty="0">
                <a:latin typeface="宋体" panose="02010600030101010101" pitchFamily="2" charset="-122"/>
                <a:ea typeface="宋体" panose="02010600030101010101" pitchFamily="2" charset="-122"/>
              </a:rPr>
              <a:t>dp[i-1][t] + </a:t>
            </a:r>
            <a:r>
              <a:rPr lang="en-US" altLang="zh-CN" sz="2000" dirty="0" err="1">
                <a:latin typeface="宋体" panose="02010600030101010101" pitchFamily="2" charset="-122"/>
                <a:ea typeface="宋体" panose="02010600030101010101" pitchFamily="2" charset="-122"/>
              </a:rPr>
              <a:t>aj</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r>
              <a:rPr lang="zh-CN" altLang="en-US" sz="2000" dirty="0">
                <a:latin typeface="宋体" panose="02010600030101010101" pitchFamily="2" charset="-122"/>
                <a:ea typeface="宋体" panose="02010600030101010101" pitchFamily="2" charset="-122"/>
              </a:rPr>
              <a:t>综上，状态转移方程为</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b="1" dirty="0">
                <a:latin typeface="宋体" panose="02010600030101010101" pitchFamily="2" charset="-122"/>
                <a:ea typeface="宋体" panose="02010600030101010101" pitchFamily="2" charset="-122"/>
                <a:cs typeface="宋体" panose="02010600030101010101" pitchFamily="2" charset="-122"/>
              </a:rPr>
              <a:t>dp[</a:t>
            </a:r>
            <a:r>
              <a:rPr lang="en-US" altLang="zh-CN" sz="2000" b="1" dirty="0" err="1">
                <a:latin typeface="宋体" panose="02010600030101010101" pitchFamily="2" charset="-122"/>
                <a:ea typeface="宋体" panose="02010600030101010101" pitchFamily="2" charset="-122"/>
                <a:cs typeface="宋体" panose="02010600030101010101" pitchFamily="2" charset="-122"/>
              </a:rPr>
              <a:t>i</a:t>
            </a:r>
            <a:r>
              <a:rPr lang="en-US" altLang="zh-CN" sz="2000" b="1" dirty="0">
                <a:latin typeface="宋体" panose="02010600030101010101" pitchFamily="2" charset="-122"/>
                <a:ea typeface="宋体" panose="02010600030101010101" pitchFamily="2" charset="-122"/>
                <a:cs typeface="宋体" panose="02010600030101010101" pitchFamily="2" charset="-122"/>
              </a:rPr>
              <a:t>][j] = max(dp[</a:t>
            </a:r>
            <a:r>
              <a:rPr lang="en-US" altLang="zh-CN" sz="2000" b="1" dirty="0" err="1">
                <a:latin typeface="宋体" panose="02010600030101010101" pitchFamily="2" charset="-122"/>
                <a:ea typeface="宋体" panose="02010600030101010101" pitchFamily="2" charset="-122"/>
                <a:cs typeface="宋体" panose="02010600030101010101" pitchFamily="2" charset="-122"/>
              </a:rPr>
              <a:t>i</a:t>
            </a:r>
            <a:r>
              <a:rPr lang="en-US" altLang="zh-CN" sz="2000" b="1" dirty="0">
                <a:latin typeface="宋体" panose="02010600030101010101" pitchFamily="2" charset="-122"/>
                <a:ea typeface="宋体" panose="02010600030101010101" pitchFamily="2" charset="-122"/>
                <a:cs typeface="宋体" panose="02010600030101010101" pitchFamily="2" charset="-122"/>
              </a:rPr>
              <a:t>][j-1], max</a:t>
            </a:r>
            <a:r>
              <a:rPr lang="en-US" altLang="zh-CN" sz="2000" b="1" baseline="-25000" dirty="0">
                <a:latin typeface="宋体" panose="02010600030101010101" pitchFamily="2" charset="-122"/>
                <a:ea typeface="宋体" panose="02010600030101010101" pitchFamily="2" charset="-122"/>
                <a:cs typeface="宋体" panose="02010600030101010101" pitchFamily="2" charset="-122"/>
              </a:rPr>
              <a:t>i-1 </a:t>
            </a:r>
            <a:r>
              <a:rPr lang="zh-CN" altLang="en-US" sz="2000" b="1" baseline="-25000" dirty="0">
                <a:latin typeface="宋体" panose="02010600030101010101" pitchFamily="2" charset="-122"/>
                <a:ea typeface="宋体" panose="02010600030101010101" pitchFamily="2" charset="-122"/>
                <a:cs typeface="宋体" panose="02010600030101010101" pitchFamily="2" charset="-122"/>
              </a:rPr>
              <a:t>≤ </a:t>
            </a:r>
            <a:r>
              <a:rPr lang="en-US" altLang="zh-CN" sz="2000" b="1" baseline="-25000" dirty="0">
                <a:latin typeface="宋体" panose="02010600030101010101" pitchFamily="2" charset="-122"/>
                <a:ea typeface="宋体" panose="02010600030101010101" pitchFamily="2" charset="-122"/>
                <a:cs typeface="宋体" panose="02010600030101010101" pitchFamily="2" charset="-122"/>
              </a:rPr>
              <a:t>t &lt; j</a:t>
            </a:r>
            <a:r>
              <a:rPr lang="en-US" altLang="zh-CN" sz="2000" b="1" dirty="0">
                <a:latin typeface="宋体" panose="02010600030101010101" pitchFamily="2" charset="-122"/>
                <a:ea typeface="宋体" panose="02010600030101010101" pitchFamily="2" charset="-122"/>
                <a:cs typeface="宋体" panose="02010600030101010101" pitchFamily="2" charset="-122"/>
              </a:rPr>
              <a:t> dp[i-1][t]) + </a:t>
            </a:r>
            <a:r>
              <a:rPr lang="en-US" altLang="zh-CN" sz="2000" b="1" dirty="0" err="1">
                <a:latin typeface="宋体" panose="02010600030101010101" pitchFamily="2" charset="-122"/>
                <a:ea typeface="宋体" panose="02010600030101010101" pitchFamily="2" charset="-122"/>
                <a:cs typeface="宋体" panose="02010600030101010101" pitchFamily="2" charset="-122"/>
              </a:rPr>
              <a:t>aj</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endParaRPr lang="zh-CN" altLang="en-US" sz="20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5785" y="116840"/>
            <a:ext cx="10627360" cy="645160"/>
          </a:xfrm>
          <a:prstGeom prst="rect">
            <a:avLst/>
          </a:prstGeom>
          <a:noFill/>
        </p:spPr>
        <p:txBody>
          <a:bodyPr wrap="square" rtlCol="0">
            <a:spAutoFit/>
          </a:bodyPr>
          <a:lstStyle/>
          <a:p>
            <a:r>
              <a:rPr lang="zh-CN" altLang="en-US" sz="3600" b="1">
                <a:solidFill>
                  <a:srgbClr val="274FA2"/>
                </a:solidFill>
                <a:latin typeface="微软雅黑" panose="020B0503020204020204" charset="-122"/>
                <a:ea typeface="微软雅黑" panose="020B0503020204020204" charset="-122"/>
                <a:sym typeface="+mn-ea"/>
              </a:rPr>
              <a:t>五、</a:t>
            </a:r>
            <a:r>
              <a:rPr lang="en-US" altLang="zh-CN" sz="3600" b="1">
                <a:solidFill>
                  <a:srgbClr val="274FA2"/>
                </a:solidFill>
                <a:latin typeface="微软雅黑" panose="020B0503020204020204" charset="-122"/>
                <a:ea typeface="微软雅黑" panose="020B0503020204020204" charset="-122"/>
              </a:rPr>
              <a:t>m</a:t>
            </a:r>
            <a:r>
              <a:rPr lang="zh-CN" altLang="en-US" sz="3600" b="1" dirty="0">
                <a:solidFill>
                  <a:srgbClr val="274FA2"/>
                </a:solidFill>
                <a:latin typeface="微软雅黑" panose="020B0503020204020204" charset="-122"/>
                <a:ea typeface="微软雅黑" panose="020B0503020204020204" charset="-122"/>
              </a:rPr>
              <a:t>个不相交子段最大和（动态规划）</a:t>
            </a:r>
            <a:endParaRPr lang="zh-CN" altLang="zh-CN" sz="3600" b="1" dirty="0">
              <a:solidFill>
                <a:srgbClr val="274FA2"/>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2667928" y="694465"/>
            <a:ext cx="7373379" cy="616353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RESOURCE_RECORD_KEY" val="{&quot;29&quot;:[5005324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6527</Words>
  <Application>WPS 演示</Application>
  <PresentationFormat>宽屏</PresentationFormat>
  <Paragraphs>419</Paragraphs>
  <Slides>31</Slides>
  <Notes>30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31</vt:i4>
      </vt:variant>
    </vt:vector>
  </HeadingPairs>
  <TitlesOfParts>
    <vt:vector size="46" baseType="lpstr">
      <vt:lpstr>Arial</vt:lpstr>
      <vt:lpstr>宋体</vt:lpstr>
      <vt:lpstr>Wingdings</vt:lpstr>
      <vt:lpstr>Wingdings</vt:lpstr>
      <vt:lpstr>黑体</vt:lpstr>
      <vt:lpstr>华文新魏</vt:lpstr>
      <vt:lpstr>微软雅黑</vt:lpstr>
      <vt:lpstr>Verdana</vt:lpstr>
      <vt:lpstr>Calibri</vt:lpstr>
      <vt:lpstr>Cambria Math</vt:lpstr>
      <vt:lpstr>Arial Unicode MS</vt:lpstr>
      <vt:lpstr>等线</vt:lpstr>
      <vt:lpstr>Arial</vt:lpstr>
      <vt:lpstr>MS PGothic</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WPS_1628072806</cp:lastModifiedBy>
  <cp:revision>211</cp:revision>
  <dcterms:created xsi:type="dcterms:W3CDTF">2019-06-19T02:08:00Z</dcterms:created>
  <dcterms:modified xsi:type="dcterms:W3CDTF">2026-06-02T08:23:44Z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208AA89CF77F479FA8EE8844841A9D3C_13</vt:lpwstr>
  </property>
</Properties>
</file>