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611" r:id="rId3"/>
    <p:sldId id="653" r:id="rId4"/>
    <p:sldId id="618" r:id="rId5"/>
    <p:sldId id="630" r:id="rId6"/>
    <p:sldId id="659" r:id="rId7"/>
    <p:sldId id="633" r:id="rId8"/>
    <p:sldId id="658" r:id="rId9"/>
    <p:sldId id="632" r:id="rId10"/>
    <p:sldId id="660" r:id="rId11"/>
    <p:sldId id="634" r:id="rId12"/>
    <p:sldId id="664" r:id="rId13"/>
    <p:sldId id="661" r:id="rId14"/>
    <p:sldId id="593" r:id="rId15"/>
    <p:sldId id="649" r:id="rId16"/>
    <p:sldId id="290" r:id="rId17"/>
    <p:sldId id="662" r:id="rId18"/>
    <p:sldId id="604" r:id="rId19"/>
    <p:sldId id="663" r:id="rId20"/>
    <p:sldId id="380" r:id="rId2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3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990099"/>
    <a:srgbClr val="0066FF"/>
    <a:srgbClr val="B2B2B2"/>
    <a:srgbClr val="6699FF"/>
    <a:srgbClr val="00FF99"/>
    <a:srgbClr val="FF006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77" autoAdjust="0"/>
    <p:restoredTop sz="86395" autoAdjust="0"/>
  </p:normalViewPr>
  <p:slideViewPr>
    <p:cSldViewPr showGuides="1">
      <p:cViewPr varScale="1">
        <p:scale>
          <a:sx n="110" d="100"/>
          <a:sy n="110" d="100"/>
        </p:scale>
        <p:origin x="1008" y="168"/>
      </p:cViewPr>
      <p:guideLst>
        <p:guide orient="horz" pos="2160"/>
        <p:guide pos="2841"/>
      </p:guideLst>
    </p:cSldViewPr>
  </p:slideViewPr>
  <p:outlineViewPr>
    <p:cViewPr>
      <p:scale>
        <a:sx n="33" d="100"/>
        <a:sy n="33" d="100"/>
      </p:scale>
      <p:origin x="0" y="-1507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1812" y="-72"/>
      </p:cViewPr>
      <p:guideLst>
        <p:guide orient="horz" pos="2880"/>
        <p:guide pos="2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B8B62230-3B97-4B84-AC18-37DD9020389C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50305040509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84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50305040509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584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584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50305040509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84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503050405090304" pitchFamily="18" charset="0"/>
              </a:defRPr>
            </a:lvl1pPr>
          </a:lstStyle>
          <a:p>
            <a:pPr>
              <a:defRPr/>
            </a:pPr>
            <a:fld id="{FD7F642C-5E11-47CB-B9C0-F65FF8F20E5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RMI/1786244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F3F14260-A5AB-4B03-9B39-D90D5D208A79}" type="slidenum">
              <a:rPr lang="en-US" altLang="zh-CN" smtClean="0">
                <a:latin typeface="Times New Roman" panose="02020503050405090304" pitchFamily="18" charset="0"/>
              </a:rPr>
              <a:t>1</a:t>
            </a:fld>
            <a:endParaRPr lang="en-US" altLang="zh-CN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7F642C-5E11-47CB-B9C0-F65FF8F20E5B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备注占位符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30149810-C651-4EEF-855E-13BCE10E954C}" type="slidenum">
              <a:rPr lang="en-US" altLang="zh-CN" smtClean="0">
                <a:latin typeface="Times New Roman" panose="02020503050405090304" pitchFamily="18" charset="0"/>
              </a:rPr>
              <a:t>3</a:t>
            </a:fld>
            <a:endParaRPr lang="en-US" altLang="zh-CN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GB" altLang="zh-CN" sz="1200" b="0" i="0" kern="12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+mn-cs"/>
              </a:rPr>
              <a:t>TIOBE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+mn-cs"/>
              </a:rPr>
              <a:t>编程社区指数（</a:t>
            </a:r>
            <a:r>
              <a:rPr kumimoji="1" lang="en-GB" altLang="zh-CN" sz="1200" b="0" i="0" kern="12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+mn-cs"/>
              </a:rPr>
              <a:t>The TIOBE Programming Community index</a:t>
            </a:r>
            <a:r>
              <a:rPr kumimoji="1" lang="zh-CN" altLang="en-GB" sz="1200" b="0" i="0" kern="12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+mn-cs"/>
              </a:rPr>
              <a:t>）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+mn-cs"/>
              </a:rPr>
              <a:t>是编程语言流行度的指标，该榜单每月更新一次，指数是根据网络搜索引擎对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+mn-cs"/>
              </a:rPr>
              <a:t>含有该语言名称的查询结果的数量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+mn-cs"/>
              </a:rPr>
              <a:t>计算出来的。包括流行的搜索引擎，如谷歌、必应、雅虎、维基百科、亚马逊、</a:t>
            </a:r>
            <a:r>
              <a:rPr kumimoji="1" lang="en-GB" altLang="zh-CN" sz="1200" b="0" i="0" kern="12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+mn-cs"/>
              </a:rPr>
              <a:t>YouTube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+mn-cs"/>
              </a:rPr>
              <a:t>和百度都用于指数计算。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7F642C-5E11-47CB-B9C0-F65FF8F20E5B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5" name="备注占位符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/>
              <a:t>J2EE</a:t>
            </a:r>
            <a:r>
              <a:rPr lang="zh-CN" altLang="en-US"/>
              <a:t>是一套针对企业级分布式应用的计算环境。它定义了动态</a:t>
            </a:r>
            <a:r>
              <a:rPr lang="en-US" altLang="zh-CN"/>
              <a:t>Web</a:t>
            </a:r>
            <a:r>
              <a:rPr lang="zh-CN" altLang="en-US"/>
              <a:t>页面功能（</a:t>
            </a:r>
            <a:r>
              <a:rPr lang="en-US" altLang="zh-CN"/>
              <a:t>Servlet</a:t>
            </a:r>
            <a:r>
              <a:rPr lang="zh-CN" altLang="en-US"/>
              <a:t>和</a:t>
            </a:r>
            <a:r>
              <a:rPr lang="en-US" altLang="zh-CN"/>
              <a:t>Jsp</a:t>
            </a:r>
            <a:r>
              <a:rPr lang="zh-CN" altLang="en-US"/>
              <a:t>）、数据库访问（</a:t>
            </a:r>
            <a:r>
              <a:rPr lang="en-US" altLang="zh-CN"/>
              <a:t>JDBC</a:t>
            </a:r>
            <a:r>
              <a:rPr lang="zh-CN" altLang="en-US"/>
              <a:t>）、商业组件（</a:t>
            </a:r>
            <a:r>
              <a:rPr lang="en-US" altLang="zh-CN"/>
              <a:t>EJB</a:t>
            </a:r>
            <a:r>
              <a:rPr lang="zh-CN" altLang="en-US"/>
              <a:t>）、异步消息传输机制（</a:t>
            </a:r>
            <a:r>
              <a:rPr lang="en-US" altLang="zh-CN"/>
              <a:t>JMS</a:t>
            </a:r>
            <a:r>
              <a:rPr lang="zh-CN" altLang="en-US"/>
              <a:t>）、名称和目录定位服务（</a:t>
            </a:r>
            <a:r>
              <a:rPr lang="en-US" altLang="zh-CN"/>
              <a:t>JNDI</a:t>
            </a:r>
            <a:r>
              <a:rPr lang="zh-CN" altLang="en-US"/>
              <a:t>）、与子系统的连接器（</a:t>
            </a:r>
            <a:r>
              <a:rPr lang="en-US" altLang="zh-CN"/>
              <a:t>JCA</a:t>
            </a:r>
            <a:r>
              <a:rPr lang="zh-CN" altLang="en-US"/>
              <a:t>）和安全服务等。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JDBC, </a:t>
            </a:r>
            <a:r>
              <a:rPr lang="zh-CN" altLang="en-US"/>
              <a:t>全称为</a:t>
            </a:r>
            <a:r>
              <a:rPr lang="en-US" altLang="zh-CN"/>
              <a:t>Java DataBase Connectivity standard</a:t>
            </a:r>
          </a:p>
          <a:p>
            <a:endParaRPr lang="en-US" altLang="zh-CN"/>
          </a:p>
          <a:p>
            <a:r>
              <a:rPr lang="en-US" altLang="zh-CN"/>
              <a:t>JaveEE</a:t>
            </a:r>
            <a:r>
              <a:rPr lang="zh-CN" altLang="en-US"/>
              <a:t>的内容划分：纵向从前端到数据库、横向是各种功能类似的框架</a:t>
            </a:r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B93B5B7C-19D5-4C59-A0EE-0BD2B27BEAFB}" type="slidenum">
              <a:rPr lang="en-US" altLang="zh-CN" smtClean="0">
                <a:latin typeface="Times New Roman" panose="02020503050405090304" pitchFamily="18" charset="0"/>
              </a:rPr>
              <a:t>5</a:t>
            </a:fld>
            <a:endParaRPr lang="en-US" altLang="zh-CN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3" name="备注占位符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hlinkClick r:id="rId3"/>
              </a:rPr>
              <a:t>RMI</a:t>
            </a:r>
            <a:r>
              <a:rPr lang="zh-CN" altLang="en-US"/>
              <a:t>（</a:t>
            </a:r>
            <a:r>
              <a:rPr lang="en-US" altLang="zh-CN"/>
              <a:t>Remote Method Invocation</a:t>
            </a:r>
            <a:r>
              <a:rPr lang="zh-CN" altLang="en-US"/>
              <a:t>，远程方法调用）是</a:t>
            </a:r>
            <a:r>
              <a:rPr lang="en-US" altLang="zh-CN"/>
              <a:t>Java</a:t>
            </a:r>
            <a:r>
              <a:rPr lang="zh-CN" altLang="en-US"/>
              <a:t>的分布式对象标准，允许位于不同主机上的</a:t>
            </a:r>
            <a:r>
              <a:rPr lang="en-US" altLang="zh-CN"/>
              <a:t>Java</a:t>
            </a:r>
            <a:r>
              <a:rPr lang="zh-CN" altLang="en-US"/>
              <a:t>类之间进行通信。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JNDI</a:t>
            </a:r>
            <a:r>
              <a:rPr lang="zh-CN" altLang="en-US"/>
              <a:t>用于执行名字和目录服务。它提供了一致的模型来存取和操作企业级的资源，如</a:t>
            </a:r>
            <a:r>
              <a:rPr lang="en-US" altLang="zh-CN"/>
              <a:t>DNS</a:t>
            </a:r>
            <a:r>
              <a:rPr lang="zh-CN" altLang="en-US"/>
              <a:t>和</a:t>
            </a:r>
            <a:r>
              <a:rPr lang="en-US" altLang="zh-CN"/>
              <a:t>LDAP</a:t>
            </a:r>
            <a:r>
              <a:rPr lang="zh-CN" altLang="en-US"/>
              <a:t>、本地文件系统、应用服务器中的对象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新内容：</a:t>
            </a:r>
            <a:r>
              <a:rPr lang="en-US" altLang="zh-CN"/>
              <a:t>JavaFX</a:t>
            </a:r>
            <a:endParaRPr lang="zh-CN" altLang="en-US"/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4BB77ADC-201F-4BA0-96EA-78E4CBA55EB3}" type="slidenum">
              <a:rPr lang="en-US" altLang="zh-CN" smtClean="0">
                <a:latin typeface="Times New Roman" panose="02020503050405090304" pitchFamily="18" charset="0"/>
              </a:rPr>
              <a:t>6</a:t>
            </a:fld>
            <a:endParaRPr lang="en-US" altLang="zh-CN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5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6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F37AB4A3-6A43-4D6C-98F5-905D3FBDED42}" type="slidenum">
              <a:rPr lang="en-US" altLang="zh-CN" smtClean="0">
                <a:latin typeface="Times New Roman" panose="02020503050405090304" pitchFamily="18" charset="0"/>
              </a:rPr>
              <a:t>8</a:t>
            </a:fld>
            <a:endParaRPr lang="en-US" altLang="zh-CN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483" name="备注占位符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dirty="0"/>
              <a:t>micro edition</a:t>
            </a:r>
            <a:endParaRPr lang="zh-CN" altLang="en-US" dirty="0"/>
          </a:p>
        </p:txBody>
      </p:sp>
      <p:sp>
        <p:nvSpPr>
          <p:cNvPr id="2048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B4CC568F-0800-42D1-9D57-A3BA277F6D48}" type="slidenum">
              <a:rPr lang="en-US" altLang="zh-CN" smtClean="0">
                <a:latin typeface="Times New Roman" panose="02020503050405090304" pitchFamily="18" charset="0"/>
              </a:rPr>
              <a:t>9</a:t>
            </a:fld>
            <a:endParaRPr lang="en-US" altLang="zh-CN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7F2B7FDC-28D9-4FD1-8BE9-5EBED816D312}" type="slidenum">
              <a:rPr lang="en-US" altLang="zh-CN" smtClean="0">
                <a:latin typeface="Times New Roman" panose="02020503050405090304" pitchFamily="18" charset="0"/>
              </a:rPr>
              <a:t>10</a:t>
            </a:fld>
            <a:endParaRPr lang="en-US" altLang="zh-CN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579" name="备注占位符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/>
              <a:t>一、然而</a:t>
            </a:r>
            <a:r>
              <a:rPr lang="en-US" altLang="zh-CN"/>
              <a:t>Java</a:t>
            </a:r>
            <a:r>
              <a:rPr lang="zh-CN" altLang="en-US"/>
              <a:t>是平台无关的，天生支持多线程。</a:t>
            </a:r>
            <a:r>
              <a:rPr lang="en-US" altLang="zh-CN"/>
              <a:t>C++</a:t>
            </a:r>
            <a:r>
              <a:rPr lang="zh-CN" altLang="en-US"/>
              <a:t>直到</a:t>
            </a:r>
            <a:r>
              <a:rPr lang="en-US" altLang="zh-CN"/>
              <a:t>11</a:t>
            </a:r>
            <a:r>
              <a:rPr lang="zh-CN" altLang="en-US"/>
              <a:t>才支持多线程，因为</a:t>
            </a:r>
            <a:r>
              <a:rPr lang="en-US" altLang="zh-CN"/>
              <a:t>C++</a:t>
            </a:r>
            <a:r>
              <a:rPr lang="zh-CN" altLang="en-US"/>
              <a:t>本身只是一门语言，而多线程是跟操作系统相关的，例如：</a:t>
            </a:r>
            <a:r>
              <a:rPr lang="en-US" altLang="zh-CN"/>
              <a:t>windows</a:t>
            </a:r>
            <a:r>
              <a:rPr lang="zh-CN" altLang="en-US"/>
              <a:t>编程中的多线程。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二、教学进度就按上面的顺序进行（建议没有选</a:t>
            </a:r>
            <a:r>
              <a:rPr lang="en-US" altLang="zh-CN"/>
              <a:t>JavaEE</a:t>
            </a:r>
            <a:r>
              <a:rPr lang="zh-CN" altLang="en-US"/>
              <a:t>课的同学，在学习本课程的同时，自学完成一个</a:t>
            </a:r>
            <a:r>
              <a:rPr lang="en-US" altLang="zh-CN"/>
              <a:t>JSP</a:t>
            </a:r>
            <a:r>
              <a:rPr lang="zh-CN" altLang="en-US"/>
              <a:t>小项目）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三、课程内容只是</a:t>
            </a:r>
            <a:r>
              <a:rPr lang="en-US" altLang="zh-CN"/>
              <a:t>JavaSE</a:t>
            </a:r>
            <a:r>
              <a:rPr lang="zh-CN" altLang="en-US"/>
              <a:t>的核心部分，还有很多高级主题（不讲）比如：反射机制、</a:t>
            </a:r>
            <a:r>
              <a:rPr lang="en-US" altLang="zh-CN"/>
              <a:t>lambda</a:t>
            </a:r>
            <a:r>
              <a:rPr lang="zh-CN" altLang="en-US"/>
              <a:t>、</a:t>
            </a:r>
            <a:r>
              <a:rPr lang="en-US" altLang="zh-CN"/>
              <a:t>Applet</a:t>
            </a:r>
            <a:r>
              <a:rPr lang="zh-CN" altLang="en-US"/>
              <a:t>等等</a:t>
            </a:r>
          </a:p>
        </p:txBody>
      </p:sp>
      <p:sp>
        <p:nvSpPr>
          <p:cNvPr id="2458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CB472D1C-1C80-474D-AB9B-C13AE19593E5}" type="slidenum">
              <a:rPr lang="en-US" altLang="zh-CN" smtClean="0">
                <a:latin typeface="Times New Roman" panose="02020503050405090304" pitchFamily="18" charset="0"/>
              </a:rPr>
              <a:t>11</a:t>
            </a:fld>
            <a:endParaRPr lang="en-US" altLang="zh-CN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备注占位符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/>
              <a:t>《</a:t>
            </a:r>
            <a:r>
              <a:rPr lang="zh-CN" altLang="en-US"/>
              <a:t>数据库</a:t>
            </a:r>
            <a:r>
              <a:rPr lang="en-US" altLang="zh-CN"/>
              <a:t>》for JDBC</a:t>
            </a:r>
          </a:p>
          <a:p>
            <a:r>
              <a:rPr lang="en-US" altLang="zh-CN"/>
              <a:t>《</a:t>
            </a:r>
            <a:r>
              <a:rPr lang="zh-CN" altLang="en-US"/>
              <a:t>操作系统</a:t>
            </a:r>
            <a:r>
              <a:rPr lang="en-US" altLang="zh-CN"/>
              <a:t>》for </a:t>
            </a:r>
            <a:r>
              <a:rPr lang="zh-CN" altLang="en-US"/>
              <a:t>多线程</a:t>
            </a:r>
            <a:endParaRPr lang="en-US" altLang="zh-CN"/>
          </a:p>
          <a:p>
            <a:r>
              <a:rPr lang="en-US" altLang="zh-CN"/>
              <a:t>《</a:t>
            </a:r>
            <a:r>
              <a:rPr lang="zh-CN" altLang="en-US"/>
              <a:t>数据结构</a:t>
            </a:r>
            <a:r>
              <a:rPr lang="en-US" altLang="zh-CN"/>
              <a:t>》for </a:t>
            </a:r>
            <a:r>
              <a:rPr lang="zh-CN" altLang="en-US"/>
              <a:t>泛型</a:t>
            </a:r>
            <a:endParaRPr lang="en-US" altLang="zh-CN"/>
          </a:p>
          <a:p>
            <a:r>
              <a:rPr lang="en-US" altLang="zh-CN"/>
              <a:t>《</a:t>
            </a:r>
            <a:r>
              <a:rPr lang="zh-CN" altLang="en-US"/>
              <a:t>计算机网络</a:t>
            </a:r>
            <a:r>
              <a:rPr lang="en-US" altLang="zh-CN"/>
              <a:t>》for </a:t>
            </a:r>
            <a:r>
              <a:rPr lang="zh-CN" altLang="en-US"/>
              <a:t>网络编程</a:t>
            </a:r>
            <a:endParaRPr lang="en-US" altLang="zh-CN"/>
          </a:p>
          <a:p>
            <a:r>
              <a:rPr lang="en-US" altLang="zh-CN"/>
              <a:t>《</a:t>
            </a:r>
            <a:r>
              <a:rPr lang="zh-CN" altLang="en-US"/>
              <a:t>计算机组成原理</a:t>
            </a:r>
            <a:r>
              <a:rPr lang="en-US" altLang="zh-CN"/>
              <a:t>》《</a:t>
            </a:r>
            <a:r>
              <a:rPr lang="zh-CN" altLang="en-US"/>
              <a:t>编译原理</a:t>
            </a:r>
            <a:r>
              <a:rPr lang="en-US" altLang="zh-CN"/>
              <a:t>》for JRE</a:t>
            </a:r>
            <a:r>
              <a:rPr lang="zh-CN" altLang="en-US"/>
              <a:t>和</a:t>
            </a:r>
            <a:r>
              <a:rPr lang="en-US" altLang="zh-CN"/>
              <a:t>JDK</a:t>
            </a:r>
          </a:p>
          <a:p>
            <a:r>
              <a:rPr lang="en-US" altLang="zh-CN"/>
              <a:t>《</a:t>
            </a:r>
            <a:r>
              <a:rPr lang="zh-CN" altLang="en-US"/>
              <a:t>操作系统</a:t>
            </a:r>
            <a:r>
              <a:rPr lang="en-US" altLang="zh-CN"/>
              <a:t>》for </a:t>
            </a:r>
            <a:r>
              <a:rPr lang="zh-CN" altLang="en-US"/>
              <a:t>事件处理、</a:t>
            </a:r>
            <a:r>
              <a:rPr lang="en-US" altLang="zh-CN"/>
              <a:t>IO</a:t>
            </a:r>
            <a:r>
              <a:rPr lang="zh-CN" altLang="en-US"/>
              <a:t>、异常处理</a:t>
            </a:r>
            <a:endParaRPr lang="en-US" altLang="zh-CN"/>
          </a:p>
          <a:p>
            <a:r>
              <a:rPr lang="en-US" altLang="zh-CN"/>
              <a:t>《</a:t>
            </a:r>
            <a:r>
              <a:rPr lang="zh-CN" altLang="en-US"/>
              <a:t>计算机图形学</a:t>
            </a:r>
            <a:r>
              <a:rPr lang="en-US" altLang="zh-CN"/>
              <a:t>》for </a:t>
            </a:r>
            <a:r>
              <a:rPr lang="zh-CN" altLang="en-US"/>
              <a:t>图形界面与绘图</a:t>
            </a:r>
          </a:p>
          <a:p>
            <a:endParaRPr lang="zh-CN" altLang="en-US"/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ABEA4F7E-313C-4985-83B8-E9E5385EDE60}" type="slidenum">
              <a:rPr lang="en-US" altLang="zh-CN" smtClean="0">
                <a:latin typeface="Times New Roman" panose="02020503050405090304" pitchFamily="18" charset="0"/>
              </a:rPr>
              <a:t>12</a:t>
            </a:fld>
            <a:endParaRPr lang="en-US" altLang="zh-CN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699" name="备注占位符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/>
              <a:t>教材不等于</a:t>
            </a:r>
            <a:r>
              <a:rPr lang="en-US" altLang="zh-CN"/>
              <a:t>Java</a:t>
            </a:r>
            <a:r>
              <a:rPr lang="zh-CN" altLang="en-US"/>
              <a:t>语言本身，类似于</a:t>
            </a:r>
            <a:r>
              <a:rPr lang="en-US" altLang="zh-CN"/>
              <a:t>C++</a:t>
            </a:r>
            <a:r>
              <a:rPr lang="zh-CN" altLang="en-US"/>
              <a:t>标准，</a:t>
            </a:r>
            <a:r>
              <a:rPr lang="en-US" altLang="zh-CN"/>
              <a:t>Java</a:t>
            </a:r>
            <a:r>
              <a:rPr lang="zh-CN" altLang="en-US"/>
              <a:t>本身也是作为一种标准而提出的</a:t>
            </a:r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0415151B-F2F0-4F8E-BCF6-E92E93B8F2F0}" type="slidenum">
              <a:rPr lang="en-US" altLang="zh-CN" smtClean="0">
                <a:latin typeface="Times New Roman" panose="02020503050405090304" pitchFamily="18" charset="0"/>
              </a:rPr>
              <a:t>14</a:t>
            </a:fld>
            <a:endParaRPr lang="en-US" altLang="zh-CN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备注占位符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java</a:t>
            </a:r>
            <a:r>
              <a:rPr lang="zh-CN" altLang="en-US"/>
              <a:t>已被</a:t>
            </a:r>
            <a:r>
              <a:rPr lang="en-US" altLang="zh-CN"/>
              <a:t>oracle</a:t>
            </a:r>
            <a:r>
              <a:rPr lang="zh-CN" altLang="en-US"/>
              <a:t>公司收购）第三链接是教程、第四个是</a:t>
            </a:r>
            <a:r>
              <a:rPr lang="en-US" altLang="zh-CN"/>
              <a:t>Java API doc</a:t>
            </a:r>
            <a:endParaRPr lang="zh-CN" altLang="en-US"/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493009DD-BF24-46E9-9C0C-5F29BCE58C2F}" type="slidenum">
              <a:rPr lang="en-US" altLang="zh-CN" smtClean="0">
                <a:latin typeface="Times New Roman" panose="02020503050405090304" pitchFamily="18" charset="0"/>
              </a:rPr>
              <a:t>15</a:t>
            </a:fld>
            <a:endParaRPr lang="en-US" altLang="zh-CN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7D2DC0B9-19BB-4FFC-AE5F-7BEDFE0D32DC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7" name="备注占位符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/>
              <a:t>动脑：听课</a:t>
            </a:r>
            <a:endParaRPr lang="en-US" altLang="zh-CN"/>
          </a:p>
          <a:p>
            <a:r>
              <a:rPr lang="zh-CN" altLang="en-US"/>
              <a:t>动手：做实验</a:t>
            </a:r>
            <a:endParaRPr lang="en-US" altLang="zh-CN"/>
          </a:p>
          <a:p>
            <a:r>
              <a:rPr lang="zh-CN" altLang="en-US"/>
              <a:t>动嘴：</a:t>
            </a:r>
            <a:r>
              <a:rPr lang="en-US" altLang="zh-CN"/>
              <a:t>teamwork</a:t>
            </a:r>
            <a:endParaRPr lang="zh-CN" altLang="en-US"/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BF754FFD-0E6E-413B-AD93-1004E2956C69}" type="slidenum">
              <a:rPr lang="en-US" altLang="zh-CN" smtClean="0">
                <a:latin typeface="Times New Roman" panose="02020503050405090304" pitchFamily="18" charset="0"/>
              </a:rPr>
              <a:t>18</a:t>
            </a:fld>
            <a:endParaRPr lang="en-US" altLang="zh-CN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/>
              <a:t>学校要求：缺席达到三分之一上者，不允许参加期末考核</a:t>
            </a:r>
            <a:endParaRPr lang="en-US" altLang="zh-CN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4668D540-EACE-49CB-A970-9FC76E80286F}" type="slidenum">
              <a:rPr lang="en-US" altLang="zh-CN" smtClean="0">
                <a:latin typeface="Times New Roman" panose="02020503050405090304" pitchFamily="18" charset="0"/>
              </a:rPr>
              <a:t>20</a:t>
            </a:fld>
            <a:endParaRPr lang="en-US" altLang="zh-CN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8ACC69-9A22-4A10-9D51-8347A45C3FCD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F00CB5-34D3-4171-A275-CA334617C858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BF2E36-7342-4990-A810-639B3A44E561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679C91-166A-4D4B-9240-6FBDE9526E8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1BE47D-73D3-44FA-B76F-C7127E8AA3EA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2716F1-8B5F-4633-B458-DA842E416B83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0A4FFC-1716-4F76-92A2-57904093807A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B4B189-626B-457D-943A-FF56571D44F9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ECB5E8-8459-4696-9E9F-A019F5E7898B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8555A6-30AC-4B26-81BB-896D873F2D77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2EBD9E-83CE-4C5E-9BC5-77F59236D9C6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32EBD9E-83CE-4C5E-9BC5-77F59236D9C6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tiff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GI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8313" y="1773238"/>
            <a:ext cx="7772400" cy="1143000"/>
          </a:xfrm>
          <a:noFill/>
        </p:spPr>
        <p:txBody>
          <a:bodyPr anchor="ctr"/>
          <a:lstStyle/>
          <a:p>
            <a:pPr eaLnBrk="1" hangingPunct="1"/>
            <a:r>
              <a:rPr lang="en-US" altLang="zh-CN" sz="5400" b="1" dirty="0">
                <a:solidFill>
                  <a:srgbClr val="FF0066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    Java</a:t>
            </a:r>
            <a:r>
              <a:rPr lang="zh-CN" altLang="en-US" sz="5400" b="1" dirty="0">
                <a:solidFill>
                  <a:srgbClr val="FF0066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程序设计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4000" dirty="0">
                <a:solidFill>
                  <a:srgbClr val="0000CC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软件工程系</a:t>
            </a:r>
            <a:endParaRPr lang="en-US" altLang="zh-CN" sz="4000" dirty="0">
              <a:solidFill>
                <a:srgbClr val="0000CC"/>
              </a:solidFill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eaLnBrk="1" hangingPunct="1"/>
            <a:r>
              <a:rPr lang="en-US" altLang="zh-CN" sz="4000" dirty="0">
                <a:solidFill>
                  <a:srgbClr val="0000CC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2025-2026</a:t>
            </a:r>
            <a:r>
              <a:rPr lang="zh-CN" altLang="en-US" sz="4000" dirty="0">
                <a:solidFill>
                  <a:srgbClr val="0000CC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春季学期</a:t>
            </a:r>
            <a:endParaRPr lang="en-US" altLang="zh-CN" sz="4000" dirty="0">
              <a:solidFill>
                <a:srgbClr val="0000CC"/>
              </a:solidFill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eaLnBrk="1" hangingPunct="1"/>
            <a:endParaRPr lang="en-US" altLang="zh-CN" sz="4000" dirty="0">
              <a:solidFill>
                <a:srgbClr val="0000CC"/>
              </a:solidFill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eaLnBrk="1" hangingPunct="1"/>
            <a:endParaRPr lang="en-US" altLang="zh-CN" sz="4000" dirty="0">
              <a:solidFill>
                <a:srgbClr val="0000CC"/>
              </a:solidFill>
              <a:latin typeface="Times New Roman" panose="02020503050405090304" pitchFamily="18" charset="0"/>
              <a:ea typeface="楷体-简" panose="02010600040101010101" charset="-122"/>
            </a:endParaRPr>
          </a:p>
        </p:txBody>
      </p:sp>
      <p:pic>
        <p:nvPicPr>
          <p:cNvPr id="6148" name="Picture 5" descr="jav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0"/>
            <a:ext cx="2233613" cy="251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7088" y="260350"/>
            <a:ext cx="7772400" cy="1143000"/>
          </a:xfrm>
          <a:noFill/>
        </p:spPr>
        <p:txBody>
          <a:bodyPr anchor="ctr"/>
          <a:lstStyle/>
          <a:p>
            <a:pPr eaLnBrk="1" hangingPunct="1"/>
            <a:r>
              <a:rPr lang="zh-CN" altLang="en-US" sz="4000" dirty="0">
                <a:solidFill>
                  <a:srgbClr val="FF0066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联系方式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7501" y="1403350"/>
            <a:ext cx="8281987" cy="5040313"/>
          </a:xfrm>
        </p:spPr>
        <p:txBody>
          <a:bodyPr>
            <a:normAutofit/>
          </a:bodyPr>
          <a:lstStyle/>
          <a:p>
            <a:pPr marL="571500" indent="-571500" algn="l" eaLnBrk="1" hangingPunct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主讲</a:t>
            </a:r>
            <a:endParaRPr lang="en-US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marL="1028700" lvl="1" indent="-5715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王美红</a:t>
            </a:r>
            <a:r>
              <a:rPr lang="en-US" altLang="zh-CN" dirty="0">
                <a:latin typeface="Times New Roman" panose="02020503050405090304" pitchFamily="18" charset="0"/>
                <a:ea typeface="楷体-简" panose="02010600040101010101" charset="-122"/>
              </a:rPr>
              <a:t>	 </a:t>
            </a: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邮箱</a:t>
            </a:r>
            <a:r>
              <a:rPr lang="en-US" altLang="zh-CN" dirty="0">
                <a:latin typeface="Times New Roman" panose="02020503050405090304" pitchFamily="18" charset="0"/>
                <a:ea typeface="楷体-简" panose="02010600040101010101" charset="-122"/>
              </a:rPr>
              <a:t>: wangmh@xmu.edu.cn</a:t>
            </a: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； 电话</a:t>
            </a:r>
            <a:r>
              <a:rPr lang="en-US" altLang="zh-CN" dirty="0">
                <a:latin typeface="Times New Roman" panose="02020503050405090304" pitchFamily="18" charset="0"/>
                <a:ea typeface="楷体-简" panose="02010600040101010101" charset="-122"/>
              </a:rPr>
              <a:t>:</a:t>
            </a: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 </a:t>
            </a:r>
            <a:r>
              <a:rPr lang="en-US" altLang="zh-CN" dirty="0">
                <a:latin typeface="Times New Roman" panose="02020503050405090304" pitchFamily="18" charset="0"/>
                <a:ea typeface="楷体-简" panose="02010600040101010101" charset="-122"/>
              </a:rPr>
              <a:t>13799286518</a:t>
            </a:r>
          </a:p>
          <a:p>
            <a:pPr marL="457200" indent="-4572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教学助理</a:t>
            </a:r>
            <a:endParaRPr lang="en-US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marL="914400" lvl="1" indent="-45720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郑宇辉  邮箱: </a:t>
            </a:r>
            <a:r>
              <a:rPr lang="en-US" altLang="zh-CN" dirty="0">
                <a:latin typeface="Times New Roman" panose="02020503050405090304" pitchFamily="18" charset="0"/>
                <a:ea typeface="楷体-简" panose="02010600040101010101" charset="-122"/>
              </a:rPr>
              <a:t> </a:t>
            </a: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  <a:sym typeface="+mn-ea"/>
              </a:rPr>
              <a:t>yhz@xmu.edu.cn</a:t>
            </a: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; </a:t>
            </a:r>
            <a:r>
              <a:rPr lang="en-US" altLang="zh-CN" dirty="0">
                <a:latin typeface="Times New Roman" panose="02020503050405090304" pitchFamily="18" charset="0"/>
                <a:ea typeface="楷体-简" panose="02010600040101010101" charset="-122"/>
              </a:rPr>
              <a:t> </a:t>
            </a: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电话: 18060238218</a:t>
            </a:r>
          </a:p>
          <a:p>
            <a:pPr marL="914400" lvl="1" indent="-45720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吴克青 邮箱：kqwu@xmu.edu.cn;电话：18359252215</a:t>
            </a:r>
            <a:endParaRPr lang="en-US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marL="914400" lvl="1" indent="-4572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吴滢洁 邮箱：</a:t>
            </a:r>
            <a:r>
              <a:rPr lang="en-US" altLang="zh-CN" dirty="0">
                <a:latin typeface="Times New Roman" panose="02020503050405090304" pitchFamily="18" charset="0"/>
                <a:ea typeface="楷体-简" panose="02010600040101010101" charset="-122"/>
              </a:rPr>
              <a:t>1031220679@qq.com  </a:t>
            </a: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电话：</a:t>
            </a:r>
            <a:r>
              <a:rPr lang="en-US" altLang="zh-CN" dirty="0">
                <a:latin typeface="Times New Roman" panose="02020503050405090304" pitchFamily="18" charset="0"/>
                <a:ea typeface="楷体-简" panose="02010600040101010101" charset="-122"/>
              </a:rPr>
              <a:t>18959279810</a:t>
            </a:r>
          </a:p>
          <a:p>
            <a:pPr marL="914400" lvl="1" indent="-45720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endParaRPr lang="zh-CN" altLang="en-US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marL="914400" lvl="1" indent="-457200" algn="l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algn="l" eaLnBrk="1" hangingPunct="1">
              <a:lnSpc>
                <a:spcPct val="150000"/>
              </a:lnSpc>
            </a:pPr>
            <a:endParaRPr lang="en-US" altLang="zh-CN" sz="2000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algn="l" eaLnBrk="1" hangingPunct="1">
              <a:lnSpc>
                <a:spcPct val="150000"/>
              </a:lnSpc>
              <a:spcBef>
                <a:spcPct val="30000"/>
              </a:spcBef>
              <a:buClr>
                <a:srgbClr val="FFFF99"/>
              </a:buClr>
              <a:buFont typeface="Wingdings" panose="05000000000000000000" pitchFamily="2" charset="2"/>
              <a:buNone/>
            </a:pPr>
            <a:endParaRPr lang="en-US" altLang="zh-CN" sz="2000" dirty="0">
              <a:latin typeface="Times New Roman" panose="02020503050405090304" pitchFamily="18" charset="0"/>
              <a:ea typeface="楷体-简" panose="02010600040101010101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D877F03-6AD6-7C7E-758A-E035982DE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986" y="4869160"/>
            <a:ext cx="1744977" cy="1988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32435" y="274638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内容</a:t>
            </a:r>
            <a:endParaRPr lang="zh-CN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5963" y="1700808"/>
            <a:ext cx="5499100" cy="3323332"/>
          </a:xfrm>
        </p:spPr>
        <p:txBody>
          <a:bodyPr>
            <a:normAutofit fontScale="82500" lnSpcReduction="20000"/>
          </a:bodyPr>
          <a:lstStyle/>
          <a:p>
            <a:pPr eaLnBrk="1" hangingPunct="1">
              <a:lnSpc>
                <a:spcPct val="170000"/>
              </a:lnSpc>
            </a:pPr>
            <a:r>
              <a:rPr lang="en-US" altLang="zh-CN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Java</a:t>
            </a:r>
            <a:r>
              <a:rPr lang="zh-CN" altLang="en-US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简介</a:t>
            </a:r>
            <a:endParaRPr lang="en-US" altLang="zh-CN" dirty="0">
              <a:solidFill>
                <a:srgbClr val="0070C0"/>
              </a:solidFill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eaLnBrk="1" hangingPunct="1">
              <a:lnSpc>
                <a:spcPct val="170000"/>
              </a:lnSpc>
            </a:pP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教学内容与目标</a:t>
            </a:r>
            <a:endParaRPr lang="en-US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eaLnBrk="1" hangingPunct="1">
              <a:lnSpc>
                <a:spcPct val="170000"/>
              </a:lnSpc>
            </a:pP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教材、</a:t>
            </a:r>
            <a:r>
              <a:rPr lang="zh-CN" altLang="zh-CN" dirty="0">
                <a:latin typeface="Times New Roman" panose="02020503050405090304" pitchFamily="18" charset="0"/>
                <a:ea typeface="楷体-简" panose="02010600040101010101" charset="-122"/>
              </a:rPr>
              <a:t>参考书</a:t>
            </a: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、教学平台</a:t>
            </a:r>
            <a:endParaRPr lang="en-US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eaLnBrk="1" hangingPunct="1">
              <a:lnSpc>
                <a:spcPct val="170000"/>
              </a:lnSpc>
            </a:pP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教学方式</a:t>
            </a:r>
            <a:endParaRPr lang="zh-CN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eaLnBrk="1" hangingPunct="1">
              <a:lnSpc>
                <a:spcPct val="170000"/>
              </a:lnSpc>
            </a:pPr>
            <a:r>
              <a:rPr lang="zh-CN" altLang="zh-CN" dirty="0">
                <a:latin typeface="Times New Roman" panose="02020503050405090304" pitchFamily="18" charset="0"/>
                <a:ea typeface="楷体-简" panose="02010600040101010101" charset="-122"/>
              </a:rPr>
              <a:t>成绩</a:t>
            </a: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比例</a:t>
            </a:r>
            <a:endParaRPr lang="zh-CN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482985"/>
            <a:ext cx="3685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dirty="0"/>
              <a:t>https://</a:t>
            </a:r>
            <a:r>
              <a:rPr lang="en-GB" altLang="zh-CN" dirty="0" err="1"/>
              <a:t>www.tiobe.com</a:t>
            </a:r>
            <a:r>
              <a:rPr lang="en-GB" altLang="zh-CN" dirty="0"/>
              <a:t>/</a:t>
            </a:r>
            <a:r>
              <a:rPr lang="en-GB" altLang="zh-CN" dirty="0" err="1"/>
              <a:t>tiobe</a:t>
            </a:r>
            <a:r>
              <a:rPr lang="en-GB" altLang="zh-CN" dirty="0"/>
              <a:t>-index/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276016" y="404680"/>
            <a:ext cx="36663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GB" altLang="zh-CN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TIOBE 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2026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年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2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月排名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703297" y="-120111"/>
            <a:ext cx="7886700" cy="132556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dirty="0">
                <a:solidFill>
                  <a:srgbClr val="FF000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Java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简介</a:t>
            </a:r>
            <a:endParaRPr lang="en-US" altLang="zh-CN" sz="4000" dirty="0">
              <a:solidFill>
                <a:srgbClr val="FF0000"/>
              </a:solidFill>
              <a:latin typeface="Times New Roman" panose="02020503050405090304" pitchFamily="18" charset="0"/>
              <a:ea typeface="楷体-简" panose="02010600040101010101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41A02C6-30E2-F326-D072-85F611F48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927900"/>
            <a:ext cx="6699166" cy="5516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dirty="0">
                <a:solidFill>
                  <a:srgbClr val="FF000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Java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简介</a:t>
            </a:r>
            <a:endParaRPr lang="en-US" altLang="zh-CN" sz="4000" dirty="0">
              <a:solidFill>
                <a:srgbClr val="FF0000"/>
              </a:solidFill>
              <a:latin typeface="Times New Roman" panose="02020503050405090304" pitchFamily="18" charset="0"/>
              <a:ea typeface="楷体-简" panose="02010600040101010101" charset="-122"/>
            </a:endParaRPr>
          </a:p>
        </p:txBody>
      </p:sp>
      <p:sp>
        <p:nvSpPr>
          <p:cNvPr id="12293" name="内容占位符 1"/>
          <p:cNvSpPr>
            <a:spLocks noGrp="1" noChangeArrowheads="1"/>
          </p:cNvSpPr>
          <p:nvPr>
            <p:ph idx="1"/>
          </p:nvPr>
        </p:nvSpPr>
        <p:spPr>
          <a:xfrm>
            <a:off x="996950" y="1556792"/>
            <a:ext cx="7150100" cy="3341688"/>
          </a:xfrm>
        </p:spPr>
        <p:txBody>
          <a:bodyPr>
            <a:normAutofit fontScale="900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7030A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Java</a:t>
            </a:r>
            <a:r>
              <a:rPr lang="zh-CN" altLang="en-US" sz="2800" dirty="0">
                <a:solidFill>
                  <a:srgbClr val="7030A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平台的三个版本：</a:t>
            </a:r>
            <a:endParaRPr lang="en-US" altLang="zh-CN" sz="2800" dirty="0">
              <a:solidFill>
                <a:srgbClr val="7030A0"/>
              </a:solidFill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latin typeface="Times New Roman" panose="02020503050405090304" pitchFamily="18" charset="0"/>
                <a:ea typeface="楷体-简" panose="02010600040101010101" charset="-122"/>
              </a:rPr>
              <a:t>Java SE  </a:t>
            </a:r>
            <a:r>
              <a:rPr lang="zh-CN" altLang="en-US" sz="2400" dirty="0">
                <a:latin typeface="Times New Roman" panose="02020503050405090304" pitchFamily="18" charset="0"/>
                <a:ea typeface="楷体-简" panose="02010600040101010101" charset="-122"/>
              </a:rPr>
              <a:t>主要用于开发桌面应用软件</a:t>
            </a:r>
            <a:endParaRPr lang="en-US" altLang="zh-CN" sz="2400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latin typeface="Times New Roman" panose="02020503050405090304" pitchFamily="18" charset="0"/>
                <a:ea typeface="楷体-简" panose="02010600040101010101" charset="-122"/>
              </a:rPr>
              <a:t>Java ME  </a:t>
            </a:r>
            <a:r>
              <a:rPr lang="zh-CN" altLang="en-US" sz="2400" dirty="0">
                <a:latin typeface="Times New Roman" panose="02020503050405090304" pitchFamily="18" charset="0"/>
                <a:ea typeface="楷体-简" panose="02010600040101010101" charset="-122"/>
              </a:rPr>
              <a:t>嵌入式开发，比如手机应用程序</a:t>
            </a:r>
            <a:endParaRPr lang="en-US" altLang="zh-CN" sz="2400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latin typeface="Times New Roman" panose="02020503050405090304" pitchFamily="18" charset="0"/>
                <a:ea typeface="楷体-简" panose="02010600040101010101" charset="-122"/>
              </a:rPr>
              <a:t>Java EE  </a:t>
            </a:r>
            <a:r>
              <a:rPr lang="zh-CN" altLang="en-US" sz="2400" dirty="0">
                <a:latin typeface="Times New Roman" panose="02020503050405090304" pitchFamily="18" charset="0"/>
                <a:ea typeface="楷体-简" panose="02010600040101010101" charset="-122"/>
              </a:rPr>
              <a:t>从事分布式网络应用程序的开发</a:t>
            </a:r>
            <a:endParaRPr lang="en-US" altLang="zh-CN" sz="2400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dirty="0">
                <a:latin typeface="Times New Roman" panose="02020503050405090304" pitchFamily="18" charset="0"/>
                <a:ea typeface="楷体-简" panose="02010600040101010101" charset="-122"/>
              </a:rPr>
              <a:t>JSP: Web</a:t>
            </a: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程序的开发</a:t>
            </a:r>
            <a:endParaRPr lang="en-US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dirty="0">
                <a:latin typeface="Times New Roman" panose="02020503050405090304" pitchFamily="18" charset="0"/>
                <a:ea typeface="楷体-简" panose="02010600040101010101" charset="-122"/>
              </a:rPr>
              <a:t>EJB: </a:t>
            </a: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商业组件</a:t>
            </a:r>
            <a:endParaRPr lang="en-US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dirty="0">
                <a:latin typeface="Times New Roman" panose="02020503050405090304" pitchFamily="18" charset="0"/>
                <a:ea typeface="楷体-简" panose="02010600040101010101" charset="-122"/>
              </a:rPr>
              <a:t>JDBC: </a:t>
            </a: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编写与数据库相关的软件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J2SE API</a:t>
            </a:r>
            <a:endParaRPr lang="zh-CN" altLang="en-US" dirty="0">
              <a:solidFill>
                <a:srgbClr val="0070C0"/>
              </a:solidFill>
              <a:latin typeface="Times New Roman" panose="02020503050405090304" pitchFamily="18" charset="0"/>
              <a:ea typeface="楷体-简" panose="02010600040101010101" charset="-122"/>
            </a:endParaRPr>
          </a:p>
        </p:txBody>
      </p:sp>
      <p:pic>
        <p:nvPicPr>
          <p:cNvPr id="14339" name="图片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526" y="1340768"/>
            <a:ext cx="7416824" cy="4852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5" y="1773238"/>
            <a:ext cx="6800850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J2EE</a:t>
            </a:r>
            <a:r>
              <a:rPr lang="zh-CN" altLang="en-US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上解决方案的系统框架图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Times New Roman" panose="02020503050405090304" pitchFamily="18" charset="0"/>
                <a:ea typeface="楷体-简" panose="02010600040101010101" charset="-122"/>
              </a:rPr>
              <a:t>JavaEE</a:t>
            </a: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应用</a:t>
            </a:r>
          </a:p>
        </p:txBody>
      </p:sp>
      <p:pic>
        <p:nvPicPr>
          <p:cNvPr id="17411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5294" y="3501008"/>
            <a:ext cx="1409700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图片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770348"/>
            <a:ext cx="612298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图片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356992"/>
            <a:ext cx="1584325" cy="243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7932" y="3140968"/>
            <a:ext cx="2927412" cy="136815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7311" y="4075521"/>
            <a:ext cx="2927412" cy="12798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503050405090304" pitchFamily="18" charset="0"/>
                <a:ea typeface="楷体-简" panose="02010600040101010101" charset="-122"/>
              </a:rPr>
              <a:t>JavaME</a:t>
            </a: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应用</a:t>
            </a:r>
          </a:p>
        </p:txBody>
      </p:sp>
      <p:pic>
        <p:nvPicPr>
          <p:cNvPr id="19459" name="图片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863" y="1628775"/>
            <a:ext cx="2708275" cy="461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内容</a:t>
            </a:r>
            <a:endParaRPr lang="zh-CN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3568" y="1628800"/>
            <a:ext cx="5499100" cy="3035300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170000"/>
              </a:lnSpc>
            </a:pPr>
            <a:r>
              <a:rPr lang="en-US" altLang="zh-CN" dirty="0">
                <a:latin typeface="Times New Roman" panose="02020503050405090304" pitchFamily="18" charset="0"/>
                <a:ea typeface="楷体-简" panose="02010600040101010101" charset="-122"/>
              </a:rPr>
              <a:t>Java</a:t>
            </a: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简介</a:t>
            </a:r>
            <a:endParaRPr lang="en-US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eaLnBrk="1" hangingPunct="1">
              <a:lnSpc>
                <a:spcPct val="170000"/>
              </a:lnSpc>
            </a:pPr>
            <a:r>
              <a:rPr lang="zh-CN" altLang="en-US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教学内容与目标</a:t>
            </a:r>
            <a:endParaRPr lang="en-US" altLang="zh-CN" dirty="0">
              <a:solidFill>
                <a:srgbClr val="0070C0"/>
              </a:solidFill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eaLnBrk="1" hangingPunct="1">
              <a:lnSpc>
                <a:spcPct val="170000"/>
              </a:lnSpc>
            </a:pP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教材、</a:t>
            </a:r>
            <a:r>
              <a:rPr lang="zh-CN" altLang="zh-CN" dirty="0">
                <a:latin typeface="Times New Roman" panose="02020503050405090304" pitchFamily="18" charset="0"/>
                <a:ea typeface="楷体-简" panose="02010600040101010101" charset="-122"/>
              </a:rPr>
              <a:t>参考书</a:t>
            </a: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、教学平台</a:t>
            </a:r>
            <a:endParaRPr lang="en-US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eaLnBrk="1" hangingPunct="1">
              <a:lnSpc>
                <a:spcPct val="170000"/>
              </a:lnSpc>
            </a:pP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教学方式</a:t>
            </a:r>
            <a:endParaRPr lang="zh-CN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eaLnBrk="1" hangingPunct="1">
              <a:lnSpc>
                <a:spcPct val="170000"/>
              </a:lnSpc>
            </a:pPr>
            <a:r>
              <a:rPr lang="zh-CN" altLang="zh-CN" dirty="0">
                <a:latin typeface="Times New Roman" panose="02020503050405090304" pitchFamily="18" charset="0"/>
                <a:ea typeface="楷体-简" panose="02010600040101010101" charset="-122"/>
              </a:rPr>
              <a:t>成绩</a:t>
            </a: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比例</a:t>
            </a:r>
            <a:endParaRPr lang="zh-CN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 dirty="0">
                <a:solidFill>
                  <a:srgbClr val="FF000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学习内容与目标</a:t>
            </a:r>
            <a:endParaRPr lang="en-US" altLang="zh-CN" sz="4000" dirty="0">
              <a:solidFill>
                <a:srgbClr val="FF0000"/>
              </a:solidFill>
              <a:latin typeface="Times New Roman" panose="02020503050405090304" pitchFamily="18" charset="0"/>
              <a:ea typeface="楷体-简" panose="02010600040101010101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19430" y="1834515"/>
            <a:ext cx="8229600" cy="385508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  <a:defRPr/>
            </a:pPr>
            <a:r>
              <a:rPr lang="en-US" altLang="zh-CN" sz="3600" dirty="0">
                <a:latin typeface="Times New Roman" panose="02020503050405090304" pitchFamily="18" charset="0"/>
                <a:ea typeface="楷体-简" panose="02010600040101010101" charset="-122"/>
              </a:rPr>
              <a:t> </a:t>
            </a:r>
            <a:r>
              <a:rPr lang="zh-CN" altLang="en-US" sz="3600" dirty="0">
                <a:latin typeface="Times New Roman" panose="02020503050405090304" pitchFamily="18" charset="0"/>
                <a:ea typeface="楷体-简" panose="02010600040101010101" charset="-122"/>
              </a:rPr>
              <a:t>掌握</a:t>
            </a:r>
            <a:r>
              <a:rPr lang="en-US" altLang="zh-CN" sz="3600" dirty="0">
                <a:latin typeface="Times New Roman" panose="02020503050405090304" pitchFamily="18" charset="0"/>
                <a:ea typeface="楷体-简" panose="02010600040101010101" charset="-122"/>
              </a:rPr>
              <a:t>J2SE</a:t>
            </a:r>
            <a:r>
              <a:rPr lang="zh-CN" altLang="en-US" sz="3600" dirty="0">
                <a:latin typeface="Times New Roman" panose="02020503050405090304" pitchFamily="18" charset="0"/>
                <a:ea typeface="楷体-简" panose="02010600040101010101" charset="-122"/>
              </a:rPr>
              <a:t>的核心部分：</a:t>
            </a:r>
            <a:endParaRPr lang="en-US" altLang="zh-CN" sz="3600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marL="0" indent="0">
              <a:buFontTx/>
              <a:buNone/>
              <a:defRPr/>
            </a:pPr>
            <a:endParaRPr lang="en-US" altLang="zh-CN" sz="800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>
              <a:defRPr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Java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语言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：数据类型、运算符、语句、方法调用</a:t>
            </a:r>
            <a:endParaRPr lang="en-US" altLang="zh-CN" sz="2400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面向对象</a:t>
            </a:r>
            <a:r>
              <a:rPr lang="zh-CN" altLang="en-US" sz="2400" dirty="0">
                <a:latin typeface="Times New Roman" panose="02020503050405090304" pitchFamily="18" charset="0"/>
                <a:ea typeface="楷体-简" panose="02010600040101010101" charset="-122"/>
              </a:rPr>
              <a:t>：封装、继承、多态</a:t>
            </a:r>
            <a:endParaRPr lang="en-US" altLang="zh-CN" sz="2400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常用类</a:t>
            </a:r>
            <a:r>
              <a:rPr lang="zh-CN" altLang="en-US" sz="2400" dirty="0">
                <a:latin typeface="Times New Roman" panose="02020503050405090304" pitchFamily="18" charset="0"/>
                <a:ea typeface="楷体-简" panose="02010600040101010101" charset="-122"/>
              </a:rPr>
              <a:t>：</a:t>
            </a:r>
            <a:r>
              <a:rPr lang="en-US" altLang="zh-CN" sz="2400" dirty="0">
                <a:latin typeface="Times New Roman" panose="02020503050405090304" pitchFamily="18" charset="0"/>
                <a:ea typeface="楷体-简" panose="02010600040101010101" charset="-122"/>
              </a:rPr>
              <a:t>Math</a:t>
            </a:r>
            <a:r>
              <a:rPr lang="zh-CN" altLang="en-US" sz="2400" dirty="0">
                <a:latin typeface="Times New Roman" panose="02020503050405090304" pitchFamily="18" charset="0"/>
                <a:ea typeface="楷体-简" panose="02010600040101010101" charset="-122"/>
              </a:rPr>
              <a:t>、</a:t>
            </a:r>
            <a:r>
              <a:rPr lang="en-US" altLang="zh-CN" sz="2400" dirty="0">
                <a:latin typeface="Times New Roman" panose="02020503050405090304" pitchFamily="18" charset="0"/>
                <a:ea typeface="楷体-简" panose="02010600040101010101" charset="-122"/>
              </a:rPr>
              <a:t>String</a:t>
            </a:r>
            <a:r>
              <a:rPr lang="zh-CN" altLang="en-US" sz="2400" dirty="0">
                <a:latin typeface="Times New Roman" panose="02020503050405090304" pitchFamily="18" charset="0"/>
                <a:ea typeface="楷体-简" panose="02010600040101010101" charset="-122"/>
              </a:rPr>
              <a:t>、泛型</a:t>
            </a:r>
            <a:endParaRPr lang="en-US" altLang="zh-CN" sz="2400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图形用户界面</a:t>
            </a:r>
            <a:r>
              <a:rPr lang="zh-CN" altLang="en-US" sz="2400" dirty="0">
                <a:latin typeface="Times New Roman" panose="02020503050405090304" pitchFamily="18" charset="0"/>
                <a:ea typeface="楷体-简" panose="02010600040101010101" charset="-122"/>
              </a:rPr>
              <a:t>：交互式窗口、事件处理、绘图</a:t>
            </a:r>
            <a:endParaRPr lang="en-US" altLang="zh-CN" sz="2400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其他内容</a:t>
            </a:r>
            <a:r>
              <a:rPr lang="zh-CN" altLang="en-US" sz="2400" dirty="0">
                <a:latin typeface="Times New Roman" panose="02020503050405090304" pitchFamily="18" charset="0"/>
                <a:ea typeface="楷体-简" panose="02010600040101010101" charset="-122"/>
              </a:rPr>
              <a:t>：</a:t>
            </a:r>
            <a:r>
              <a:rPr lang="en-US" altLang="zh-CN" sz="2400" dirty="0">
                <a:latin typeface="Times New Roman" panose="02020503050405090304" pitchFamily="18" charset="0"/>
                <a:ea typeface="楷体-简" panose="02010600040101010101" charset="-122"/>
              </a:rPr>
              <a:t>I/O</a:t>
            </a:r>
            <a:r>
              <a:rPr lang="zh-CN" altLang="en-US" sz="2400" dirty="0">
                <a:latin typeface="Times New Roman" panose="02020503050405090304" pitchFamily="18" charset="0"/>
                <a:ea typeface="楷体-简" panose="02010600040101010101" charset="-122"/>
              </a:rPr>
              <a:t>、</a:t>
            </a:r>
            <a:r>
              <a:rPr lang="en-US" altLang="zh-CN" sz="2400" dirty="0">
                <a:latin typeface="Times New Roman" panose="02020503050405090304" pitchFamily="18" charset="0"/>
                <a:ea typeface="楷体-简" panose="02010600040101010101" charset="-122"/>
              </a:rPr>
              <a:t>JDBC</a:t>
            </a:r>
            <a:r>
              <a:rPr lang="zh-CN" altLang="en-US" sz="2400" dirty="0">
                <a:latin typeface="Times New Roman" panose="02020503050405090304" pitchFamily="18" charset="0"/>
                <a:ea typeface="楷体-简" panose="02010600040101010101" charset="-122"/>
              </a:rPr>
              <a:t>、多线程、网络编程、异常处理</a:t>
            </a:r>
            <a:endParaRPr lang="en-US" altLang="zh-CN" sz="2400" dirty="0">
              <a:latin typeface="Times New Roman" panose="02020503050405090304" pitchFamily="18" charset="0"/>
              <a:ea typeface="楷体-简" panose="0201060004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24"/>
          <p:cNvSpPr/>
          <p:nvPr/>
        </p:nvSpPr>
        <p:spPr>
          <a:xfrm>
            <a:off x="1712913" y="2822575"/>
            <a:ext cx="5616575" cy="93027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 dirty="0">
                <a:solidFill>
                  <a:srgbClr val="FF000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课程体系</a:t>
            </a:r>
            <a:endParaRPr lang="en-US" altLang="zh-CN" sz="4000" dirty="0">
              <a:solidFill>
                <a:srgbClr val="FF0000"/>
              </a:solidFill>
              <a:latin typeface="Times New Roman" panose="02020503050405090304" pitchFamily="18" charset="0"/>
              <a:ea typeface="楷体-简" panose="0201060004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22625" y="1582738"/>
            <a:ext cx="1219200" cy="609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/>
              <a:t>JavaEE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364163" y="4468813"/>
            <a:ext cx="1030287" cy="6096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/>
              <a:t>数据库</a:t>
            </a:r>
          </a:p>
        </p:txBody>
      </p:sp>
      <p:sp>
        <p:nvSpPr>
          <p:cNvPr id="9" name="矩形: 圆角 8"/>
          <p:cNvSpPr/>
          <p:nvPr/>
        </p:nvSpPr>
        <p:spPr>
          <a:xfrm>
            <a:off x="2951163" y="1417638"/>
            <a:ext cx="3241675" cy="93027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5607" name="箭头: 上 2"/>
          <p:cNvSpPr>
            <a:spLocks noChangeArrowheads="1"/>
          </p:cNvSpPr>
          <p:nvPr/>
        </p:nvSpPr>
        <p:spPr bwMode="auto">
          <a:xfrm>
            <a:off x="4414838" y="2370138"/>
            <a:ext cx="287337" cy="619125"/>
          </a:xfrm>
          <a:prstGeom prst="upArrow">
            <a:avLst>
              <a:gd name="adj1" fmla="val 50000"/>
              <a:gd name="adj2" fmla="val 5013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08" name="箭头: 上 10"/>
          <p:cNvSpPr>
            <a:spLocks noChangeArrowheads="1"/>
          </p:cNvSpPr>
          <p:nvPr/>
        </p:nvSpPr>
        <p:spPr bwMode="auto">
          <a:xfrm>
            <a:off x="4419600" y="3611563"/>
            <a:ext cx="282575" cy="747712"/>
          </a:xfrm>
          <a:prstGeom prst="upArrow">
            <a:avLst>
              <a:gd name="adj1" fmla="val 50000"/>
              <a:gd name="adj2" fmla="val 5017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559425" y="2997200"/>
            <a:ext cx="1236663" cy="60801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/>
              <a:t>数据结构</a:t>
            </a:r>
          </a:p>
        </p:txBody>
      </p:sp>
      <p:sp>
        <p:nvSpPr>
          <p:cNvPr id="14" name="矩形 13"/>
          <p:cNvSpPr/>
          <p:nvPr/>
        </p:nvSpPr>
        <p:spPr>
          <a:xfrm>
            <a:off x="2433638" y="4473575"/>
            <a:ext cx="1347787" cy="6096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/>
              <a:t>计算机网络</a:t>
            </a:r>
          </a:p>
        </p:txBody>
      </p:sp>
      <p:sp>
        <p:nvSpPr>
          <p:cNvPr id="15" name="矩形 14"/>
          <p:cNvSpPr/>
          <p:nvPr/>
        </p:nvSpPr>
        <p:spPr>
          <a:xfrm>
            <a:off x="3659188" y="5876925"/>
            <a:ext cx="1825625" cy="5619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/>
              <a:t>计算机组成原理 </a:t>
            </a:r>
          </a:p>
        </p:txBody>
      </p:sp>
      <p:sp>
        <p:nvSpPr>
          <p:cNvPr id="16" name="矩形 15"/>
          <p:cNvSpPr/>
          <p:nvPr/>
        </p:nvSpPr>
        <p:spPr>
          <a:xfrm>
            <a:off x="3944938" y="5183188"/>
            <a:ext cx="1219200" cy="6096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/>
              <a:t>操作系统</a:t>
            </a:r>
          </a:p>
        </p:txBody>
      </p:sp>
      <p:sp>
        <p:nvSpPr>
          <p:cNvPr id="17" name="矩形 16"/>
          <p:cNvSpPr/>
          <p:nvPr/>
        </p:nvSpPr>
        <p:spPr>
          <a:xfrm>
            <a:off x="3944938" y="4468813"/>
            <a:ext cx="1219200" cy="6096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/>
              <a:t>编译原理</a:t>
            </a:r>
          </a:p>
        </p:txBody>
      </p:sp>
      <p:sp>
        <p:nvSpPr>
          <p:cNvPr id="18" name="矩形 17"/>
          <p:cNvSpPr/>
          <p:nvPr/>
        </p:nvSpPr>
        <p:spPr>
          <a:xfrm>
            <a:off x="2001838" y="2995613"/>
            <a:ext cx="1690687" cy="6096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/>
              <a:t>计算机图形学</a:t>
            </a:r>
          </a:p>
        </p:txBody>
      </p:sp>
      <p:sp>
        <p:nvSpPr>
          <p:cNvPr id="23" name="矩形: 圆角 22"/>
          <p:cNvSpPr/>
          <p:nvPr/>
        </p:nvSpPr>
        <p:spPr>
          <a:xfrm>
            <a:off x="2200275" y="4365625"/>
            <a:ext cx="4481513" cy="2159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4702175" y="1582738"/>
            <a:ext cx="1219200" cy="609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/>
              <a:t>JavaME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962400" y="2995613"/>
            <a:ext cx="1219200" cy="609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/>
              <a:t>JavaSE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内容</a:t>
            </a:r>
            <a:endParaRPr lang="zh-CN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911350"/>
            <a:ext cx="5499100" cy="303530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dirty="0">
                <a:latin typeface="Times New Roman" panose="02020503050405090304" pitchFamily="18" charset="0"/>
                <a:ea typeface="楷体-简" panose="02010600040101010101" charset="-122"/>
              </a:rPr>
              <a:t>Java</a:t>
            </a: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简介</a:t>
            </a:r>
            <a:endParaRPr lang="en-US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教学内容与目标</a:t>
            </a:r>
            <a:endParaRPr lang="en-US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教材、</a:t>
            </a:r>
            <a:r>
              <a:rPr lang="zh-CN" altLang="zh-CN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参考书</a:t>
            </a:r>
            <a:r>
              <a:rPr lang="zh-CN" altLang="en-US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、教学平台</a:t>
            </a:r>
            <a:endParaRPr lang="en-US" altLang="zh-CN" dirty="0">
              <a:solidFill>
                <a:srgbClr val="0070C0"/>
              </a:solidFill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教学方式</a:t>
            </a:r>
            <a:endParaRPr lang="zh-CN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zh-CN" dirty="0">
                <a:latin typeface="Times New Roman" panose="02020503050405090304" pitchFamily="18" charset="0"/>
                <a:ea typeface="楷体-简" panose="02010600040101010101" charset="-122"/>
              </a:rPr>
              <a:t>成绩</a:t>
            </a: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比例</a:t>
            </a:r>
            <a:endParaRPr lang="zh-CN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6" descr="Javaå¤§å­¦å®ç¨æç¨ï¼ç¬¬4çï¼&#10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2413" y="3767138"/>
            <a:ext cx="2778126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7663" y="287338"/>
            <a:ext cx="2974976" cy="298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Rectangle 2"/>
          <p:cNvSpPr txBox="1">
            <a:spLocks noChangeArrowheads="1"/>
          </p:cNvSpPr>
          <p:nvPr/>
        </p:nvSpPr>
        <p:spPr bwMode="auto">
          <a:xfrm>
            <a:off x="552450" y="3446463"/>
            <a:ext cx="491966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600">
                <a:solidFill>
                  <a:srgbClr val="FF0066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参考书</a:t>
            </a:r>
          </a:p>
        </p:txBody>
      </p:sp>
      <p:sp>
        <p:nvSpPr>
          <p:cNvPr id="286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5536" y="1009650"/>
            <a:ext cx="4919662" cy="1143000"/>
          </a:xfrm>
          <a:noFill/>
        </p:spPr>
        <p:txBody>
          <a:bodyPr anchor="ctr"/>
          <a:lstStyle/>
          <a:p>
            <a:pPr eaLnBrk="1" hangingPunct="1"/>
            <a:r>
              <a:rPr lang="zh-CN" altLang="en-US" sz="4000" dirty="0">
                <a:solidFill>
                  <a:srgbClr val="FF0066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教材</a:t>
            </a:r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23728" y="1895475"/>
            <a:ext cx="6078538" cy="3743325"/>
          </a:xfrm>
        </p:spPr>
        <p:txBody>
          <a:bodyPr>
            <a:normAutofit fontScale="77500" lnSpcReduction="20000"/>
          </a:bodyPr>
          <a:lstStyle/>
          <a:p>
            <a:pPr algn="l" eaLnBrk="1" hangingPunct="1">
              <a:lnSpc>
                <a:spcPct val="105000"/>
              </a:lnSpc>
              <a:buFontTx/>
              <a:buChar char="•"/>
            </a:pPr>
            <a:r>
              <a:rPr lang="en-US" altLang="zh-CN" sz="2800" b="1" dirty="0">
                <a:latin typeface="Times New Roman" panose="02020503050405090304" pitchFamily="18" charset="0"/>
                <a:ea typeface="楷体-简" panose="02010600040101010101" charset="-122"/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JAVA HOW TO PROGRAM 11</a:t>
            </a:r>
            <a:r>
              <a:rPr lang="en-US" altLang="zh-CN" sz="2800" b="1" baseline="30000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th</a:t>
            </a:r>
            <a:endParaRPr lang="en-US" altLang="zh-CN" sz="2800" b="1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algn="l" eaLnBrk="1" hangingPunct="1">
              <a:lnSpc>
                <a:spcPct val="105000"/>
              </a:lnSpc>
              <a:buFontTx/>
              <a:buChar char="•"/>
            </a:pPr>
            <a:endParaRPr lang="en-US" altLang="zh-CN" sz="2800" b="1" baseline="30000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algn="l" eaLnBrk="1" hangingPunct="1">
              <a:lnSpc>
                <a:spcPct val="105000"/>
              </a:lnSpc>
              <a:buFontTx/>
              <a:buChar char="•"/>
            </a:pPr>
            <a:endParaRPr lang="en-US" altLang="zh-CN" sz="2800" b="1" baseline="30000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algn="l" eaLnBrk="1" hangingPunct="1">
              <a:lnSpc>
                <a:spcPct val="105000"/>
              </a:lnSpc>
              <a:buFontTx/>
              <a:buChar char="•"/>
            </a:pPr>
            <a:endParaRPr lang="en-US" altLang="zh-CN" sz="2800" b="1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algn="l" eaLnBrk="1" hangingPunct="1">
              <a:lnSpc>
                <a:spcPct val="105000"/>
              </a:lnSpc>
              <a:buFontTx/>
              <a:buChar char="•"/>
            </a:pPr>
            <a:endParaRPr lang="en-US" altLang="zh-CN" sz="2800" b="1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algn="l" eaLnBrk="1" hangingPunct="1">
              <a:lnSpc>
                <a:spcPct val="105000"/>
              </a:lnSpc>
              <a:buFontTx/>
              <a:buChar char="•"/>
            </a:pPr>
            <a:endParaRPr lang="en-US" altLang="zh-CN" sz="2800" b="1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algn="l" eaLnBrk="1" hangingPunct="1">
              <a:lnSpc>
                <a:spcPct val="105000"/>
              </a:lnSpc>
              <a:buFontTx/>
              <a:buChar char="•"/>
            </a:pPr>
            <a:r>
              <a:rPr lang="en-US" altLang="zh-CN" sz="2800" b="1" dirty="0">
                <a:latin typeface="Times New Roman" panose="02020503050405090304" pitchFamily="18" charset="0"/>
                <a:ea typeface="楷体-简" panose="02010600040101010101" charset="-122"/>
              </a:rPr>
              <a:t> </a:t>
            </a:r>
            <a:r>
              <a:rPr lang="zh-CN" altLang="en-US" b="1" dirty="0">
                <a:latin typeface="Times New Roman" panose="02020503050405090304" pitchFamily="18" charset="0"/>
                <a:ea typeface="楷体-简" panose="02010600040101010101" charset="-122"/>
              </a:rPr>
              <a:t>国内教材：</a:t>
            </a:r>
            <a:r>
              <a:rPr lang="en-US" altLang="zh-CN" sz="2000" b="1" dirty="0">
                <a:latin typeface="Times New Roman" panose="02020503050405090304" pitchFamily="18" charset="0"/>
                <a:ea typeface="楷体-简" panose="02010600040101010101" charset="-122"/>
              </a:rPr>
              <a:t>JAVA</a:t>
            </a:r>
            <a:r>
              <a:rPr lang="zh-CN" altLang="en-US" sz="2000" b="1" dirty="0">
                <a:latin typeface="Times New Roman" panose="02020503050405090304" pitchFamily="18" charset="0"/>
                <a:ea typeface="楷体-简" panose="02010600040101010101" charset="-122"/>
              </a:rPr>
              <a:t>大学实用教程</a:t>
            </a:r>
            <a:endParaRPr lang="en-US" altLang="zh-CN" sz="2000" b="1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algn="l" eaLnBrk="1" hangingPunct="1">
              <a:lnSpc>
                <a:spcPct val="105000"/>
              </a:lnSpc>
            </a:pPr>
            <a:r>
              <a:rPr lang="zh-CN" altLang="en-US" sz="2000" b="1" dirty="0">
                <a:latin typeface="Times New Roman" panose="02020503050405090304" pitchFamily="18" charset="0"/>
                <a:ea typeface="楷体-简" panose="02010600040101010101" charset="-122"/>
              </a:rPr>
              <a:t>                         耿祥义 张跃平编著</a:t>
            </a:r>
            <a:r>
              <a:rPr lang="en-US" altLang="zh-CN" sz="2000" b="1" dirty="0">
                <a:latin typeface="Times New Roman" panose="02020503050405090304" pitchFamily="18" charset="0"/>
                <a:ea typeface="楷体-简" panose="02010600040101010101" charset="-122"/>
              </a:rPr>
              <a:t> 4</a:t>
            </a:r>
            <a:r>
              <a:rPr lang="en-US" altLang="zh-CN" sz="2000" b="1" baseline="30000" dirty="0">
                <a:latin typeface="Times New Roman" panose="02020503050405090304" pitchFamily="18" charset="0"/>
                <a:ea typeface="楷体-简" panose="02010600040101010101" charset="-122"/>
              </a:rPr>
              <a:t>th</a:t>
            </a:r>
            <a:endParaRPr lang="en-US" altLang="zh-CN" sz="2000" b="1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algn="l" eaLnBrk="1" hangingPunct="1">
              <a:lnSpc>
                <a:spcPct val="105000"/>
              </a:lnSpc>
              <a:buFontTx/>
              <a:buChar char="•"/>
            </a:pPr>
            <a:endParaRPr lang="en-US" altLang="zh-CN" sz="800" b="1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algn="l" eaLnBrk="1" hangingPunct="1">
              <a:lnSpc>
                <a:spcPct val="105000"/>
              </a:lnSpc>
              <a:buFontTx/>
              <a:buChar char="•"/>
            </a:pPr>
            <a:r>
              <a:rPr lang="en-US" altLang="zh-CN" sz="2800" b="1" dirty="0">
                <a:latin typeface="Times New Roman" panose="02020503050405090304" pitchFamily="18" charset="0"/>
                <a:ea typeface="楷体-简" panose="02010600040101010101" charset="-122"/>
              </a:rPr>
              <a:t> </a:t>
            </a:r>
            <a:r>
              <a:rPr lang="zh-CN" altLang="en-US" b="1" dirty="0">
                <a:latin typeface="Times New Roman" panose="02020503050405090304" pitchFamily="18" charset="0"/>
                <a:ea typeface="楷体-简" panose="02010600040101010101" charset="-122"/>
              </a:rPr>
              <a:t>国外教材：</a:t>
            </a:r>
            <a:r>
              <a:rPr lang="en-US" altLang="zh-CN" sz="2000" b="1" dirty="0" err="1">
                <a:latin typeface="Times New Roman" panose="02020503050405090304" pitchFamily="18" charset="0"/>
                <a:ea typeface="楷体-简" panose="02010600040101010101" charset="-122"/>
              </a:rPr>
              <a:t>THINKing</a:t>
            </a:r>
            <a:r>
              <a:rPr lang="en-US" altLang="zh-CN" sz="2000" b="1" dirty="0">
                <a:latin typeface="Times New Roman" panose="02020503050405090304" pitchFamily="18" charset="0"/>
                <a:ea typeface="楷体-简" panose="02010600040101010101" charset="-122"/>
              </a:rPr>
              <a:t> in JAVA 4</a:t>
            </a:r>
            <a:r>
              <a:rPr lang="en-US" altLang="zh-CN" sz="2000" b="1" baseline="30000" dirty="0">
                <a:latin typeface="Times New Roman" panose="02020503050405090304" pitchFamily="18" charset="0"/>
                <a:ea typeface="楷体-简" panose="02010600040101010101" charset="-122"/>
              </a:rPr>
              <a:t>th</a:t>
            </a:r>
            <a:endParaRPr lang="en-US" altLang="zh-CN" sz="2000" b="1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algn="l" eaLnBrk="1" hangingPunct="1">
              <a:lnSpc>
                <a:spcPct val="105000"/>
              </a:lnSpc>
              <a:buFontTx/>
              <a:buChar char="•"/>
            </a:pPr>
            <a:endParaRPr lang="en-US" altLang="zh-CN" sz="1600" b="1" dirty="0">
              <a:latin typeface="Times New Roman" panose="02020503050405090304" pitchFamily="18" charset="0"/>
              <a:ea typeface="楷体-简" panose="02010600040101010101" charset="-122"/>
            </a:endParaRPr>
          </a:p>
        </p:txBody>
      </p:sp>
      <p:pic>
        <p:nvPicPr>
          <p:cNvPr id="28679" name="图片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300" y="3541713"/>
            <a:ext cx="2297113" cy="298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4000" dirty="0">
                <a:solidFill>
                  <a:srgbClr val="FF000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参考资料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50593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>
                <a:solidFill>
                  <a:srgbClr val="00B05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网络资源</a:t>
            </a:r>
            <a:endParaRPr lang="en-US" altLang="zh-CN" sz="2800" dirty="0">
              <a:solidFill>
                <a:srgbClr val="00B050"/>
              </a:solidFill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lvl="1" eaLnBrk="1" hangingPunct="1">
              <a:defRPr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Java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官网：</a:t>
            </a:r>
            <a:endParaRPr lang="en-US" altLang="zh-CN" sz="2400" b="1" dirty="0">
              <a:solidFill>
                <a:srgbClr val="0070C0"/>
              </a:solidFill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marL="457200" lvl="1" indent="0" eaLnBrk="1" hangingPunct="1">
              <a:buFontTx/>
              <a:buNone/>
              <a:defRPr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    </a:t>
            </a:r>
            <a:r>
              <a:rPr lang="en-US" altLang="zh-CN" sz="2400" dirty="0">
                <a:latin typeface="Times New Roman" panose="02020503050405090304" pitchFamily="18" charset="0"/>
                <a:ea typeface="楷体-简" panose="02010600040101010101" charset="-122"/>
              </a:rPr>
              <a:t>https://</a:t>
            </a:r>
            <a:r>
              <a:rPr lang="en-US" altLang="zh-CN" sz="2400" dirty="0" err="1">
                <a:latin typeface="Times New Roman" panose="02020503050405090304" pitchFamily="18" charset="0"/>
                <a:ea typeface="楷体-简" panose="02010600040101010101" charset="-122"/>
              </a:rPr>
              <a:t>www.java.com</a:t>
            </a:r>
            <a:r>
              <a:rPr lang="en-US" altLang="zh-CN" sz="2400" dirty="0">
                <a:latin typeface="Times New Roman" panose="02020503050405090304" pitchFamily="18" charset="0"/>
                <a:ea typeface="楷体-简" panose="02010600040101010101" charset="-122"/>
              </a:rPr>
              <a:t>/</a:t>
            </a:r>
            <a:r>
              <a:rPr lang="en-US" altLang="zh-CN" sz="2400" dirty="0" err="1">
                <a:latin typeface="Times New Roman" panose="02020503050405090304" pitchFamily="18" charset="0"/>
                <a:ea typeface="楷体-简" panose="02010600040101010101" charset="-122"/>
              </a:rPr>
              <a:t>zh_CN</a:t>
            </a:r>
            <a:r>
              <a:rPr lang="en-US" altLang="zh-CN" sz="2400" dirty="0">
                <a:latin typeface="Times New Roman" panose="02020503050405090304" pitchFamily="18" charset="0"/>
                <a:ea typeface="楷体-简" panose="02010600040101010101" charset="-122"/>
              </a:rPr>
              <a:t>/ </a:t>
            </a:r>
          </a:p>
          <a:p>
            <a:pPr marL="457200" lvl="1" indent="0" eaLnBrk="1" hangingPunct="1">
              <a:buFontTx/>
              <a:buNone/>
              <a:defRPr/>
            </a:pPr>
            <a:r>
              <a:rPr lang="en-US" altLang="zh-CN" sz="2400" dirty="0">
                <a:latin typeface="Times New Roman" panose="02020503050405090304" pitchFamily="18" charset="0"/>
                <a:ea typeface="楷体-简" panose="02010600040101010101" charset="-122"/>
              </a:rPr>
              <a:t>    https://</a:t>
            </a:r>
            <a:r>
              <a:rPr lang="en-US" altLang="zh-CN" sz="2400" dirty="0" err="1">
                <a:latin typeface="Times New Roman" panose="02020503050405090304" pitchFamily="18" charset="0"/>
                <a:ea typeface="楷体-简" panose="02010600040101010101" charset="-122"/>
              </a:rPr>
              <a:t>developer.oracle.com</a:t>
            </a:r>
            <a:r>
              <a:rPr lang="en-US" altLang="zh-CN" sz="2400" dirty="0">
                <a:latin typeface="Times New Roman" panose="02020503050405090304" pitchFamily="18" charset="0"/>
                <a:ea typeface="楷体-简" panose="02010600040101010101" charset="-122"/>
              </a:rPr>
              <a:t>/java/</a:t>
            </a:r>
          </a:p>
          <a:p>
            <a:pPr lvl="1" eaLnBrk="1" hangingPunct="1">
              <a:defRPr/>
            </a:pPr>
            <a:r>
              <a:rPr lang="zh-CN" altLang="en-US" sz="2400" b="1" dirty="0">
                <a:solidFill>
                  <a:srgbClr val="FF33CC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官方文档：</a:t>
            </a:r>
            <a:endParaRPr lang="fi-FI" altLang="zh-CN" sz="2400" b="1" dirty="0">
              <a:solidFill>
                <a:srgbClr val="FF33CC"/>
              </a:solidFill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marL="457200" lvl="1" indent="0" eaLnBrk="1" hangingPunct="1">
              <a:buFontTx/>
              <a:buNone/>
              <a:defRPr/>
            </a:pPr>
            <a:r>
              <a:rPr lang="fi-FI" altLang="zh-CN" sz="2400" b="1" dirty="0">
                <a:solidFill>
                  <a:srgbClr val="FF33CC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    </a:t>
            </a:r>
            <a:r>
              <a:rPr lang="fi-FI" altLang="zh-CN" sz="2000" dirty="0" err="1">
                <a:latin typeface="Times New Roman" panose="02020503050405090304" pitchFamily="18" charset="0"/>
                <a:ea typeface="楷体-简" panose="02010600040101010101" charset="-122"/>
              </a:rPr>
              <a:t>https</a:t>
            </a:r>
            <a:r>
              <a:rPr lang="fi-FI" altLang="zh-CN" sz="2000" dirty="0">
                <a:latin typeface="Times New Roman" panose="02020503050405090304" pitchFamily="18" charset="0"/>
                <a:ea typeface="楷体-简" panose="02010600040101010101" charset="-122"/>
              </a:rPr>
              <a:t>://</a:t>
            </a:r>
            <a:r>
              <a:rPr lang="fi-FI" altLang="zh-CN" sz="2000" dirty="0" err="1">
                <a:latin typeface="Times New Roman" panose="02020503050405090304" pitchFamily="18" charset="0"/>
                <a:ea typeface="楷体-简" panose="02010600040101010101" charset="-122"/>
              </a:rPr>
              <a:t>docs.oracle.com</a:t>
            </a:r>
            <a:r>
              <a:rPr lang="fi-FI" altLang="zh-CN" sz="2000" dirty="0">
                <a:latin typeface="Times New Roman" panose="02020503050405090304" pitchFamily="18" charset="0"/>
                <a:ea typeface="楷体-简" panose="02010600040101010101" charset="-122"/>
              </a:rPr>
              <a:t>/</a:t>
            </a:r>
            <a:r>
              <a:rPr lang="fi-FI" altLang="zh-CN" sz="2000" dirty="0" err="1">
                <a:latin typeface="Times New Roman" panose="02020503050405090304" pitchFamily="18" charset="0"/>
                <a:ea typeface="楷体-简" panose="02010600040101010101" charset="-122"/>
              </a:rPr>
              <a:t>javase</a:t>
            </a:r>
            <a:r>
              <a:rPr lang="fi-FI" altLang="zh-CN" sz="2000" dirty="0">
                <a:latin typeface="Times New Roman" panose="02020503050405090304" pitchFamily="18" charset="0"/>
                <a:ea typeface="楷体-简" panose="02010600040101010101" charset="-122"/>
              </a:rPr>
              <a:t>/</a:t>
            </a:r>
            <a:r>
              <a:rPr lang="fi-FI" altLang="zh-CN" sz="2000" dirty="0" err="1">
                <a:latin typeface="Times New Roman" panose="02020503050405090304" pitchFamily="18" charset="0"/>
                <a:ea typeface="楷体-简" panose="02010600040101010101" charset="-122"/>
              </a:rPr>
              <a:t>tutorial</a:t>
            </a:r>
            <a:r>
              <a:rPr lang="fi-FI" altLang="zh-CN" sz="2000" dirty="0">
                <a:latin typeface="Times New Roman" panose="02020503050405090304" pitchFamily="18" charset="0"/>
                <a:ea typeface="楷体-简" panose="02010600040101010101" charset="-122"/>
              </a:rPr>
              <a:t>/</a:t>
            </a:r>
          </a:p>
          <a:p>
            <a:pPr marL="457200" lvl="1" indent="0" eaLnBrk="1" hangingPunct="1">
              <a:buFontTx/>
              <a:buNone/>
              <a:defRPr/>
            </a:pPr>
            <a:r>
              <a:rPr lang="fi-FI" altLang="zh-CN" sz="2000" dirty="0">
                <a:latin typeface="Times New Roman" panose="02020503050405090304" pitchFamily="18" charset="0"/>
                <a:ea typeface="楷体-简" panose="02010600040101010101" charset="-122"/>
              </a:rPr>
              <a:t>     </a:t>
            </a:r>
            <a:r>
              <a:rPr lang="fi-FI" altLang="zh-CN" sz="2000" dirty="0" err="1">
                <a:latin typeface="Times New Roman" panose="02020503050405090304" pitchFamily="18" charset="0"/>
                <a:ea typeface="楷体-简" panose="02010600040101010101" charset="-122"/>
              </a:rPr>
              <a:t>https</a:t>
            </a:r>
            <a:r>
              <a:rPr lang="fi-FI" altLang="zh-CN" sz="2000" dirty="0">
                <a:latin typeface="Times New Roman" panose="02020503050405090304" pitchFamily="18" charset="0"/>
                <a:ea typeface="楷体-简" panose="02010600040101010101" charset="-122"/>
              </a:rPr>
              <a:t>://</a:t>
            </a:r>
            <a:r>
              <a:rPr lang="fi-FI" altLang="zh-CN" sz="2000" dirty="0" err="1">
                <a:latin typeface="Times New Roman" panose="02020503050405090304" pitchFamily="18" charset="0"/>
                <a:ea typeface="楷体-简" panose="02010600040101010101" charset="-122"/>
              </a:rPr>
              <a:t>docs.oracle.com</a:t>
            </a:r>
            <a:r>
              <a:rPr lang="fi-FI" altLang="zh-CN" sz="2000" dirty="0">
                <a:latin typeface="Times New Roman" panose="02020503050405090304" pitchFamily="18" charset="0"/>
                <a:ea typeface="楷体-简" panose="02010600040101010101" charset="-122"/>
              </a:rPr>
              <a:t>/en/</a:t>
            </a:r>
            <a:r>
              <a:rPr lang="fi-FI" altLang="zh-CN" sz="2000" dirty="0" err="1">
                <a:latin typeface="Times New Roman" panose="02020503050405090304" pitchFamily="18" charset="0"/>
                <a:ea typeface="楷体-简" panose="02010600040101010101" charset="-122"/>
              </a:rPr>
              <a:t>java</a:t>
            </a:r>
            <a:r>
              <a:rPr lang="fi-FI" altLang="zh-CN" sz="2000" dirty="0">
                <a:latin typeface="Times New Roman" panose="02020503050405090304" pitchFamily="18" charset="0"/>
                <a:ea typeface="楷体-简" panose="02010600040101010101" charset="-122"/>
              </a:rPr>
              <a:t>/</a:t>
            </a:r>
            <a:r>
              <a:rPr lang="fi-FI" altLang="zh-CN" sz="2000" dirty="0" err="1">
                <a:latin typeface="Times New Roman" panose="02020503050405090304" pitchFamily="18" charset="0"/>
                <a:ea typeface="楷体-简" panose="02010600040101010101" charset="-122"/>
              </a:rPr>
              <a:t>javase</a:t>
            </a:r>
            <a:r>
              <a:rPr lang="fi-FI" altLang="zh-CN" sz="2000" dirty="0">
                <a:latin typeface="Times New Roman" panose="02020503050405090304" pitchFamily="18" charset="0"/>
                <a:ea typeface="楷体-简" panose="02010600040101010101" charset="-122"/>
              </a:rPr>
              <a:t>/1</a:t>
            </a:r>
            <a:r>
              <a:rPr lang="en-US" altLang="zh-CN" sz="2000" dirty="0">
                <a:latin typeface="Times New Roman" panose="02020503050405090304" pitchFamily="18" charset="0"/>
                <a:ea typeface="楷体-简" panose="02010600040101010101" charset="-122"/>
              </a:rPr>
              <a:t>8</a:t>
            </a:r>
            <a:r>
              <a:rPr lang="fi-FI" altLang="zh-CN" sz="2000" dirty="0">
                <a:latin typeface="Times New Roman" panose="02020503050405090304" pitchFamily="18" charset="0"/>
                <a:ea typeface="楷体-简" panose="02010600040101010101" charset="-122"/>
              </a:rPr>
              <a:t>/</a:t>
            </a:r>
            <a:r>
              <a:rPr lang="fi-FI" altLang="zh-CN" sz="2000" dirty="0" err="1">
                <a:latin typeface="Times New Roman" panose="02020503050405090304" pitchFamily="18" charset="0"/>
                <a:ea typeface="楷体-简" panose="02010600040101010101" charset="-122"/>
              </a:rPr>
              <a:t>docs</a:t>
            </a:r>
            <a:r>
              <a:rPr lang="fi-FI" altLang="zh-CN" sz="2000" dirty="0">
                <a:latin typeface="Times New Roman" panose="02020503050405090304" pitchFamily="18" charset="0"/>
                <a:ea typeface="楷体-简" panose="02010600040101010101" charset="-122"/>
              </a:rPr>
              <a:t>/</a:t>
            </a:r>
            <a:r>
              <a:rPr lang="fi-FI" altLang="zh-CN" sz="2000" dirty="0" err="1">
                <a:latin typeface="Times New Roman" panose="02020503050405090304" pitchFamily="18" charset="0"/>
                <a:ea typeface="楷体-简" panose="02010600040101010101" charset="-122"/>
              </a:rPr>
              <a:t>api</a:t>
            </a:r>
            <a:r>
              <a:rPr lang="fi-FI" altLang="zh-CN" sz="2000" dirty="0">
                <a:latin typeface="Times New Roman" panose="02020503050405090304" pitchFamily="18" charset="0"/>
                <a:ea typeface="楷体-简" panose="02010600040101010101" charset="-122"/>
              </a:rPr>
              <a:t>/</a:t>
            </a:r>
            <a:r>
              <a:rPr lang="fi-FI" altLang="zh-CN" sz="2000" dirty="0" err="1">
                <a:latin typeface="Times New Roman" panose="02020503050405090304" pitchFamily="18" charset="0"/>
                <a:ea typeface="楷体-简" panose="02010600040101010101" charset="-122"/>
              </a:rPr>
              <a:t>index.html</a:t>
            </a:r>
            <a:endParaRPr lang="fi-FI" altLang="zh-CN" sz="2000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lvl="1" eaLnBrk="1" hangingPunct="1"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开发者论坛：</a:t>
            </a:r>
            <a:endParaRPr lang="en-US" altLang="zh-CN" sz="2400" b="1" dirty="0">
              <a:solidFill>
                <a:srgbClr val="0070C0"/>
              </a:solidFill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marL="457200" lvl="1" indent="0" eaLnBrk="1" hangingPunct="1">
              <a:buFontTx/>
              <a:buNone/>
              <a:defRPr/>
            </a:pPr>
            <a:r>
              <a:rPr lang="en-US" altLang="zh-CN" sz="2400" dirty="0">
                <a:latin typeface="Times New Roman" panose="02020503050405090304" pitchFamily="18" charset="0"/>
                <a:ea typeface="楷体-简" panose="02010600040101010101" charset="-122"/>
              </a:rPr>
              <a:t>    </a:t>
            </a:r>
            <a:r>
              <a:rPr lang="en-US" altLang="zh-CN" sz="2400" dirty="0" err="1">
                <a:latin typeface="Times New Roman" panose="02020503050405090304" pitchFamily="18" charset="0"/>
                <a:ea typeface="楷体-简" panose="02010600040101010101" charset="-122"/>
              </a:rPr>
              <a:t>cnblogs</a:t>
            </a:r>
            <a:endParaRPr lang="en-US" altLang="zh-CN" sz="2400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marL="457200" lvl="1" indent="0" eaLnBrk="1" hangingPunct="1">
              <a:buFontTx/>
              <a:buNone/>
              <a:defRPr/>
            </a:pPr>
            <a:r>
              <a:rPr lang="en-US" altLang="zh-CN" sz="2400" dirty="0">
                <a:latin typeface="Times New Roman" panose="02020503050405090304" pitchFamily="18" charset="0"/>
                <a:ea typeface="楷体-简" panose="02010600040101010101" charset="-122"/>
              </a:rPr>
              <a:t>    CSDN</a:t>
            </a:r>
          </a:p>
          <a:p>
            <a:pPr marL="457200" lvl="1" indent="0" eaLnBrk="1" hangingPunct="1">
              <a:buFontTx/>
              <a:buNone/>
              <a:defRPr/>
            </a:pPr>
            <a:r>
              <a:rPr lang="en-US" altLang="zh-CN" sz="2400" dirty="0">
                <a:latin typeface="Times New Roman" panose="02020503050405090304" pitchFamily="18" charset="0"/>
                <a:ea typeface="楷体-简" panose="02010600040101010101" charset="-122"/>
              </a:rPr>
              <a:t>    …</a:t>
            </a:r>
            <a:endParaRPr lang="zh-CN" altLang="en-US" sz="2400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marL="17145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600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200" dirty="0">
              <a:latin typeface="Times New Roman" panose="02020503050405090304" pitchFamily="18" charset="0"/>
              <a:ea typeface="楷体-简" panose="0201060004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5605" y="274638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solidFill>
                  <a:srgbClr val="FF000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教学平台</a:t>
            </a:r>
            <a:endParaRPr lang="zh-CN" altLang="zh-CN" sz="4000" dirty="0">
              <a:solidFill>
                <a:srgbClr val="FF0000"/>
              </a:solidFill>
              <a:latin typeface="Times New Roman" panose="02020503050405090304" pitchFamily="18" charset="0"/>
              <a:ea typeface="楷体-简" panose="02010600040101010101" charset="-122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605" y="1676400"/>
            <a:ext cx="7932738" cy="41449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数字化教学平台</a:t>
            </a:r>
            <a:endParaRPr lang="en-US" altLang="zh-CN" dirty="0">
              <a:solidFill>
                <a:srgbClr val="0070C0"/>
              </a:solidFill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lvl="1">
              <a:defRPr/>
            </a:pPr>
            <a:r>
              <a:rPr lang="en-US" altLang="zh-CN" sz="2000" dirty="0" err="1">
                <a:latin typeface="Times New Roman" panose="02020503050405090304" pitchFamily="18" charset="0"/>
                <a:ea typeface="楷体-简" panose="02010600040101010101" charset="-122"/>
              </a:rPr>
              <a:t>course.xmu.edu.cn</a:t>
            </a:r>
            <a:endParaRPr lang="en-US" altLang="zh-CN" sz="2000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lvl="1">
              <a:defRPr/>
            </a:pPr>
            <a:r>
              <a:rPr lang="zh-CN" altLang="en-US" sz="2000" dirty="0">
                <a:latin typeface="Times New Roman" panose="02020503050405090304" pitchFamily="18" charset="0"/>
                <a:ea typeface="楷体-简" panose="02010600040101010101" charset="-122"/>
              </a:rPr>
              <a:t>签到、在线考试、作业、授课、交流等</a:t>
            </a:r>
            <a:r>
              <a:rPr lang="en-US" altLang="zh-CN" sz="2000" dirty="0">
                <a:latin typeface="Times New Roman" panose="02020503050405090304" pitchFamily="18" charset="0"/>
                <a:ea typeface="楷体-简" panose="02010600040101010101" charset="-122"/>
              </a:rPr>
              <a:t>	</a:t>
            </a:r>
          </a:p>
          <a:p>
            <a:pPr>
              <a:defRPr/>
            </a:pPr>
            <a:endParaRPr lang="en-US" altLang="zh-CN" sz="2400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>
              <a:defRPr/>
            </a:pPr>
            <a:r>
              <a:rPr lang="en-US" altLang="zh-CN" sz="2800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QQ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群</a:t>
            </a:r>
            <a:r>
              <a:rPr lang="zh-CN" altLang="en-US" sz="2800" dirty="0">
                <a:latin typeface="Times New Roman" panose="02020503050405090304" pitchFamily="18" charset="0"/>
                <a:ea typeface="楷体-简" panose="02010600040101010101" charset="-122"/>
              </a:rPr>
              <a:t>：</a:t>
            </a:r>
          </a:p>
          <a:p>
            <a:pPr marL="344170" lvl="1" indent="0"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Times New Roman" panose="02020503050405090304" pitchFamily="18" charset="0"/>
                <a:ea typeface="楷体-简" panose="02010600040101010101" charset="-122"/>
              </a:rPr>
              <a:t>发布课程相关的通知、答疑、交流讨论</a:t>
            </a:r>
          </a:p>
          <a:p>
            <a:pPr marL="344170" lvl="1" indent="0">
              <a:buFont typeface="Wingdings" panose="05000000000000000000" pitchFamily="2" charset="2"/>
              <a:buNone/>
              <a:defRPr/>
            </a:pPr>
            <a:endParaRPr lang="zh-CN" altLang="en-US" sz="2400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>
              <a:defRPr/>
            </a:pPr>
            <a:r>
              <a:rPr lang="zh-CN" altLang="en-US" sz="2800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教学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FTP</a:t>
            </a:r>
            <a:r>
              <a:rPr lang="zh-CN" altLang="en-US" sz="2800" dirty="0">
                <a:latin typeface="Times New Roman" panose="02020503050405090304" pitchFamily="18" charset="0"/>
                <a:ea typeface="楷体-简" panose="02010600040101010101" charset="-122"/>
              </a:rPr>
              <a:t>：</a:t>
            </a:r>
            <a:endParaRPr lang="en-US" altLang="zh-CN" sz="2800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lvl="1">
              <a:defRPr/>
            </a:pPr>
            <a:r>
              <a:rPr lang="zh-CN" altLang="en-US" sz="2400" dirty="0">
                <a:latin typeface="Times New Roman" panose="02020503050405090304" pitchFamily="18" charset="0"/>
                <a:ea typeface="楷体-简" panose="02010600040101010101" charset="-122"/>
              </a:rPr>
              <a:t>备用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内容</a:t>
            </a:r>
            <a:endParaRPr lang="zh-CN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911350"/>
            <a:ext cx="5499100" cy="303530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dirty="0">
                <a:latin typeface="Times New Roman" panose="02020503050405090304" pitchFamily="18" charset="0"/>
                <a:ea typeface="楷体-简" panose="02010600040101010101" charset="-122"/>
              </a:rPr>
              <a:t>Java</a:t>
            </a: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简介</a:t>
            </a:r>
            <a:endParaRPr lang="en-US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教学内容与目标</a:t>
            </a:r>
            <a:endParaRPr lang="en-US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教材、</a:t>
            </a:r>
            <a:r>
              <a:rPr lang="zh-CN" altLang="zh-CN" dirty="0">
                <a:latin typeface="Times New Roman" panose="02020503050405090304" pitchFamily="18" charset="0"/>
                <a:ea typeface="楷体-简" panose="02010600040101010101" charset="-122"/>
              </a:rPr>
              <a:t>参考书</a:t>
            </a: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、教学平台</a:t>
            </a:r>
            <a:endParaRPr lang="en-US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教学方式</a:t>
            </a:r>
            <a:endParaRPr lang="zh-CN" altLang="zh-CN" dirty="0">
              <a:solidFill>
                <a:srgbClr val="0070C0"/>
              </a:solidFill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zh-CN" dirty="0">
                <a:latin typeface="Times New Roman" panose="02020503050405090304" pitchFamily="18" charset="0"/>
                <a:ea typeface="楷体-简" panose="02010600040101010101" charset="-122"/>
              </a:rPr>
              <a:t>成绩</a:t>
            </a:r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比例</a:t>
            </a:r>
            <a:endParaRPr lang="zh-CN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3" name="Picture 3" descr="问号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33375"/>
            <a:ext cx="2808288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dirty="0">
                <a:solidFill>
                  <a:srgbClr val="FF000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        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如何学习</a:t>
            </a:r>
            <a:endParaRPr lang="en-US" altLang="zh-CN" sz="4000" dirty="0">
              <a:solidFill>
                <a:srgbClr val="FF0000"/>
              </a:solidFill>
              <a:latin typeface="Times New Roman" panose="02020503050405090304" pitchFamily="18" charset="0"/>
              <a:ea typeface="楷体-简" panose="02010600040101010101" charset="-122"/>
            </a:endParaRP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3203575" y="2141885"/>
            <a:ext cx="547211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动脑，</a:t>
            </a:r>
            <a:r>
              <a:rPr kumimoji="1" lang="zh-CN" altLang="en-US" b="1" dirty="0">
                <a:solidFill>
                  <a:srgbClr val="7030A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动手</a:t>
            </a:r>
            <a:r>
              <a:rPr kumimoji="1" lang="zh-CN" altLang="en-US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，动嘴</a:t>
            </a:r>
            <a:endParaRPr kumimoji="1" lang="en-US" altLang="zh-CN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看帮助文档</a:t>
            </a:r>
            <a:r>
              <a:rPr kumimoji="1" lang="zh-CN" altLang="en-US" b="1" dirty="0">
                <a:solidFill>
                  <a:srgbClr val="7030A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，深入底层逻辑</a:t>
            </a:r>
          </a:p>
        </p:txBody>
      </p:sp>
      <p:pic>
        <p:nvPicPr>
          <p:cNvPr id="35845" name="Picture 5" descr="gif001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3716338"/>
            <a:ext cx="45370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60045" y="274638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503050405090304" pitchFamily="18" charset="0"/>
                <a:ea typeface="楷体-简" panose="02010600040101010101" charset="-122"/>
              </a:rPr>
              <a:t>内容</a:t>
            </a:r>
            <a:endParaRPr lang="zh-CN" altLang="zh-CN" dirty="0">
              <a:latin typeface="Times New Roman" panose="02020503050405090304" pitchFamily="18" charset="0"/>
              <a:ea typeface="楷体-简" panose="02010600040101010101" charset="-122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59637" y="1911350"/>
            <a:ext cx="5499100" cy="303530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>
                <a:latin typeface="Times New Roman" panose="02020503050405090304" pitchFamily="18" charset="0"/>
                <a:ea typeface="楷体-简" panose="02010600040101010101" charset="-122"/>
              </a:rPr>
              <a:t>Java</a:t>
            </a:r>
            <a:r>
              <a:rPr lang="zh-CN" altLang="en-US">
                <a:latin typeface="Times New Roman" panose="02020503050405090304" pitchFamily="18" charset="0"/>
                <a:ea typeface="楷体-简" panose="02010600040101010101" charset="-122"/>
              </a:rPr>
              <a:t>简介</a:t>
            </a:r>
            <a:endParaRPr lang="en-US" altLang="zh-CN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>
                <a:latin typeface="Times New Roman" panose="02020503050405090304" pitchFamily="18" charset="0"/>
                <a:ea typeface="楷体-简" panose="02010600040101010101" charset="-122"/>
              </a:rPr>
              <a:t>教学内容与目标</a:t>
            </a:r>
            <a:endParaRPr lang="en-US" altLang="zh-CN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>
                <a:latin typeface="Times New Roman" panose="02020503050405090304" pitchFamily="18" charset="0"/>
                <a:ea typeface="楷体-简" panose="02010600040101010101" charset="-122"/>
              </a:rPr>
              <a:t>教材、</a:t>
            </a:r>
            <a:r>
              <a:rPr lang="zh-CN" altLang="zh-CN">
                <a:latin typeface="Times New Roman" panose="02020503050405090304" pitchFamily="18" charset="0"/>
                <a:ea typeface="楷体-简" panose="02010600040101010101" charset="-122"/>
              </a:rPr>
              <a:t>参考书</a:t>
            </a:r>
            <a:r>
              <a:rPr lang="zh-CN" altLang="en-US">
                <a:latin typeface="Times New Roman" panose="02020503050405090304" pitchFamily="18" charset="0"/>
                <a:ea typeface="楷体-简" panose="02010600040101010101" charset="-122"/>
              </a:rPr>
              <a:t>、教学平台</a:t>
            </a:r>
            <a:endParaRPr lang="en-US" altLang="zh-CN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>
                <a:latin typeface="Times New Roman" panose="02020503050405090304" pitchFamily="18" charset="0"/>
                <a:ea typeface="楷体-简" panose="02010600040101010101" charset="-122"/>
              </a:rPr>
              <a:t>教学方式</a:t>
            </a:r>
            <a:endParaRPr lang="zh-CN" altLang="zh-CN">
              <a:latin typeface="Times New Roman" panose="02020503050405090304" pitchFamily="18" charset="0"/>
              <a:ea typeface="楷体-简" panose="02010600040101010101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zh-CN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成绩</a:t>
            </a:r>
            <a:r>
              <a:rPr lang="zh-CN" altLang="en-US">
                <a:solidFill>
                  <a:srgbClr val="0070C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比例</a:t>
            </a:r>
            <a:endParaRPr lang="zh-CN" altLang="zh-CN">
              <a:solidFill>
                <a:srgbClr val="0070C0"/>
              </a:solidFill>
              <a:latin typeface="Times New Roman" panose="02020503050405090304" pitchFamily="18" charset="0"/>
              <a:ea typeface="楷体-简" panose="02010600040101010101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7088" y="476250"/>
            <a:ext cx="7772400" cy="1143000"/>
          </a:xfrm>
          <a:noFill/>
        </p:spPr>
        <p:txBody>
          <a:bodyPr anchor="ctr"/>
          <a:lstStyle/>
          <a:p>
            <a:pPr algn="l" eaLnBrk="1" hangingPunct="1"/>
            <a:r>
              <a:rPr lang="zh-CN" altLang="en-US" sz="4000" dirty="0">
                <a:solidFill>
                  <a:srgbClr val="FF0000"/>
                </a:solidFill>
                <a:latin typeface="Times New Roman" panose="02020503050405090304" pitchFamily="18" charset="0"/>
                <a:ea typeface="楷体-简" panose="02010600040101010101" charset="-122"/>
              </a:rPr>
              <a:t>成绩比例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1988840"/>
            <a:ext cx="7993062" cy="3649662"/>
          </a:xfrm>
        </p:spPr>
        <p:txBody>
          <a:bodyPr>
            <a:normAutofit/>
          </a:bodyPr>
          <a:lstStyle/>
          <a:p>
            <a:pPr marL="457200" indent="-457200" algn="l" eaLnBrk="1" hangingPunct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 b="1" dirty="0">
                <a:latin typeface="Times New Roman" panose="02020503050405090304" pitchFamily="18" charset="0"/>
                <a:ea typeface="楷体-简" panose="02010600040101010101" charset="-122"/>
                <a:cs typeface="宋体" charset="0"/>
              </a:rPr>
              <a:t>平时</a:t>
            </a:r>
            <a:r>
              <a:rPr lang="en-US" altLang="zh-CN" sz="2800" b="1" dirty="0">
                <a:latin typeface="Times New Roman" panose="02020503050405090304" pitchFamily="18" charset="0"/>
                <a:ea typeface="楷体-简" panose="02010600040101010101" charset="-122"/>
                <a:cs typeface="宋体" charset="0"/>
              </a:rPr>
              <a:t>40%</a:t>
            </a:r>
            <a:r>
              <a:rPr lang="zh-CN" altLang="en-US" sz="2800" b="1" dirty="0">
                <a:latin typeface="Times New Roman" panose="02020503050405090304" pitchFamily="18" charset="0"/>
                <a:ea typeface="楷体-简" panose="02010600040101010101" charset="-122"/>
                <a:cs typeface="宋体" charset="0"/>
              </a:rPr>
              <a:t>（实验</a:t>
            </a:r>
            <a:r>
              <a:rPr lang="en-US" altLang="zh-CN" sz="2800" b="1" dirty="0">
                <a:latin typeface="Times New Roman" panose="02020503050405090304" pitchFamily="18" charset="0"/>
                <a:ea typeface="楷体-简" panose="02010600040101010101" charset="-122"/>
                <a:cs typeface="宋体" charset="0"/>
              </a:rPr>
              <a:t>25%+</a:t>
            </a:r>
            <a:r>
              <a:rPr lang="zh-CN" altLang="en-US" sz="2800" b="1" dirty="0">
                <a:latin typeface="Times New Roman" panose="02020503050405090304" pitchFamily="18" charset="0"/>
                <a:ea typeface="楷体-简" panose="02010600040101010101" charset="-122"/>
                <a:cs typeface="宋体" charset="0"/>
              </a:rPr>
              <a:t>大作业</a:t>
            </a:r>
            <a:r>
              <a:rPr lang="en-US" altLang="zh-CN" sz="2800" b="1" dirty="0">
                <a:latin typeface="Times New Roman" panose="02020503050405090304" pitchFamily="18" charset="0"/>
                <a:ea typeface="楷体-简" panose="02010600040101010101" charset="-122"/>
                <a:cs typeface="宋体" charset="0"/>
              </a:rPr>
              <a:t>15%</a:t>
            </a:r>
            <a:r>
              <a:rPr lang="zh-CN" altLang="en-US" sz="2800" b="1" dirty="0">
                <a:latin typeface="Times New Roman" panose="02020503050405090304" pitchFamily="18" charset="0"/>
                <a:ea typeface="楷体-简" panose="02010600040101010101" charset="-122"/>
                <a:cs typeface="宋体" charset="0"/>
              </a:rPr>
              <a:t>）</a:t>
            </a:r>
            <a:endParaRPr lang="en-US" altLang="zh-CN" sz="2800" b="1" dirty="0">
              <a:latin typeface="Times New Roman" panose="02020503050405090304" pitchFamily="18" charset="0"/>
              <a:ea typeface="楷体-简" panose="02010600040101010101" charset="-122"/>
              <a:cs typeface="宋体" charset="0"/>
            </a:endParaRPr>
          </a:p>
          <a:p>
            <a:pPr marL="457200" indent="-457200" algn="l" eaLnBrk="1" hangingPunct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 b="1" dirty="0">
                <a:latin typeface="Times New Roman" panose="02020503050405090304" pitchFamily="18" charset="0"/>
                <a:ea typeface="楷体-简" panose="02010600040101010101" charset="-122"/>
                <a:cs typeface="宋体" charset="0"/>
              </a:rPr>
              <a:t>二次上机考试：</a:t>
            </a:r>
            <a:r>
              <a:rPr lang="en-US" altLang="zh-CN" sz="2800" b="1" dirty="0">
                <a:latin typeface="Times New Roman" panose="02020503050405090304" pitchFamily="18" charset="0"/>
                <a:ea typeface="楷体-简" panose="02010600040101010101" charset="-122"/>
                <a:cs typeface="宋体" charset="0"/>
              </a:rPr>
              <a:t>30%</a:t>
            </a:r>
          </a:p>
          <a:p>
            <a:pPr marL="457200" indent="-457200" algn="l" eaLnBrk="1" hangingPunct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 b="1" dirty="0">
                <a:latin typeface="Times New Roman" panose="02020503050405090304" pitchFamily="18" charset="0"/>
                <a:ea typeface="楷体-简" panose="02010600040101010101" charset="-122"/>
                <a:cs typeface="宋体" charset="0"/>
              </a:rPr>
              <a:t>期末笔试：</a:t>
            </a:r>
            <a:r>
              <a:rPr lang="en-US" altLang="zh-CN" sz="2800" b="1" dirty="0">
                <a:latin typeface="Times New Roman" panose="02020503050405090304" pitchFamily="18" charset="0"/>
                <a:ea typeface="楷体-简" panose="02010600040101010101" charset="-122"/>
                <a:cs typeface="宋体" charset="0"/>
              </a:rPr>
              <a:t>30%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342</TotalTime>
  <Words>1032</Words>
  <Application>Microsoft Macintosh PowerPoint</Application>
  <PresentationFormat>全屏显示(4:3)</PresentationFormat>
  <Paragraphs>163</Paragraphs>
  <Slides>20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华文行楷</vt:lpstr>
      <vt:lpstr>Arial</vt:lpstr>
      <vt:lpstr>Calibri</vt:lpstr>
      <vt:lpstr>Calibri Light</vt:lpstr>
      <vt:lpstr>Tahoma</vt:lpstr>
      <vt:lpstr>Times New Roman</vt:lpstr>
      <vt:lpstr>Wingdings</vt:lpstr>
      <vt:lpstr>Office 主题​​</vt:lpstr>
      <vt:lpstr>    Java程序设计</vt:lpstr>
      <vt:lpstr>联系方式</vt:lpstr>
      <vt:lpstr>内容</vt:lpstr>
      <vt:lpstr>Java简介</vt:lpstr>
      <vt:lpstr>Java简介</vt:lpstr>
      <vt:lpstr>J2SE API</vt:lpstr>
      <vt:lpstr>J2EE上解决方案的系统框架图</vt:lpstr>
      <vt:lpstr>JavaEE应用</vt:lpstr>
      <vt:lpstr>JavaME应用</vt:lpstr>
      <vt:lpstr>内容</vt:lpstr>
      <vt:lpstr>学习内容与目标</vt:lpstr>
      <vt:lpstr>课程体系</vt:lpstr>
      <vt:lpstr>内容</vt:lpstr>
      <vt:lpstr>教材</vt:lpstr>
      <vt:lpstr>参考资料</vt:lpstr>
      <vt:lpstr>教学平台</vt:lpstr>
      <vt:lpstr>内容</vt:lpstr>
      <vt:lpstr>        如何学习</vt:lpstr>
      <vt:lpstr>内容</vt:lpstr>
      <vt:lpstr>成绩比例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程序设计</dc:title>
  <dc:creator>zhengyan</dc:creator>
  <cp:lastModifiedBy>Microsoft Office User</cp:lastModifiedBy>
  <cp:revision>845</cp:revision>
  <dcterms:created xsi:type="dcterms:W3CDTF">2025-02-13T08:34:56Z</dcterms:created>
  <dcterms:modified xsi:type="dcterms:W3CDTF">2026-02-22T10:07:04Z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DD0CBEB81930BFB2D5D9916718B51EF3_42</vt:lpwstr>
  </property>
  <property fmtid="{D5CDD505-2E9C-101B-9397-08002B2CF9AE}" pid="3" name="KSOProductBuildVer">
    <vt:lpwstr>2052-6.7.0.8823</vt:lpwstr>
  </property>
</Properties>
</file>