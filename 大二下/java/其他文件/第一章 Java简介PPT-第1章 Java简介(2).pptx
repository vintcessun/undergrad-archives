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handoutMasterIdLst>
    <p:handoutMasterId r:id="rId45"/>
  </p:handoutMasterIdLst>
  <p:sldIdLst>
    <p:sldId id="258" r:id="rId2"/>
    <p:sldId id="381" r:id="rId3"/>
    <p:sldId id="578" r:id="rId4"/>
    <p:sldId id="620" r:id="rId5"/>
    <p:sldId id="579" r:id="rId6"/>
    <p:sldId id="602" r:id="rId7"/>
    <p:sldId id="594" r:id="rId8"/>
    <p:sldId id="385" r:id="rId9"/>
    <p:sldId id="595" r:id="rId10"/>
    <p:sldId id="587" r:id="rId11"/>
    <p:sldId id="583" r:id="rId12"/>
    <p:sldId id="389" r:id="rId13"/>
    <p:sldId id="588" r:id="rId14"/>
    <p:sldId id="392" r:id="rId15"/>
    <p:sldId id="610" r:id="rId16"/>
    <p:sldId id="615" r:id="rId17"/>
    <p:sldId id="629" r:id="rId18"/>
    <p:sldId id="394" r:id="rId19"/>
    <p:sldId id="598" r:id="rId20"/>
    <p:sldId id="627" r:id="rId21"/>
    <p:sldId id="623" r:id="rId22"/>
    <p:sldId id="624" r:id="rId23"/>
    <p:sldId id="625" r:id="rId24"/>
    <p:sldId id="628" r:id="rId25"/>
    <p:sldId id="617" r:id="rId26"/>
    <p:sldId id="621" r:id="rId27"/>
    <p:sldId id="609" r:id="rId28"/>
    <p:sldId id="580" r:id="rId29"/>
    <p:sldId id="396" r:id="rId30"/>
    <p:sldId id="397" r:id="rId31"/>
    <p:sldId id="398" r:id="rId32"/>
    <p:sldId id="405" r:id="rId33"/>
    <p:sldId id="603" r:id="rId34"/>
    <p:sldId id="410" r:id="rId35"/>
    <p:sldId id="585" r:id="rId36"/>
    <p:sldId id="630" r:id="rId37"/>
    <p:sldId id="632" r:id="rId38"/>
    <p:sldId id="631" r:id="rId39"/>
    <p:sldId id="658" r:id="rId40"/>
    <p:sldId id="601" r:id="rId41"/>
    <p:sldId id="590" r:id="rId42"/>
    <p:sldId id="591" r:id="rId4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7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990099"/>
    <a:srgbClr val="0066FF"/>
    <a:srgbClr val="B2B2B2"/>
    <a:srgbClr val="6699FF"/>
    <a:srgbClr val="00FF99"/>
    <a:srgbClr val="FF00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80952" autoAdjust="0"/>
  </p:normalViewPr>
  <p:slideViewPr>
    <p:cSldViewPr showGuides="1">
      <p:cViewPr varScale="1">
        <p:scale>
          <a:sx n="102" d="100"/>
          <a:sy n="102" d="100"/>
        </p:scale>
        <p:origin x="2832" y="184"/>
      </p:cViewPr>
      <p:guideLst>
        <p:guide orient="horz" pos="2160"/>
        <p:guide pos="2902"/>
      </p:guideLst>
    </p:cSldViewPr>
  </p:slideViewPr>
  <p:outlineViewPr>
    <p:cViewPr>
      <p:scale>
        <a:sx n="33" d="100"/>
        <a:sy n="33" d="100"/>
      </p:scale>
      <p:origin x="0" y="-2346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2" y="-72"/>
      </p:cViewPr>
      <p:guideLst>
        <p:guide orient="horz" pos="2880"/>
        <p:guide pos="217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latin typeface="Tahoma" panose="020B0604030504040204" pitchFamily="34" charset="0"/>
              </a:defRPr>
            </a:lvl1pPr>
          </a:lstStyle>
          <a:p>
            <a:pPr>
              <a:defRPr/>
            </a:pPr>
            <a:endParaRPr lang="en-US" altLang="zh-CN"/>
          </a:p>
        </p:txBody>
      </p:sp>
      <p:sp>
        <p:nvSpPr>
          <p:cNvPr id="5120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latin typeface="Tahoma" panose="020B0604030504040204" pitchFamily="34" charset="0"/>
              </a:defRPr>
            </a:lvl1pPr>
          </a:lstStyle>
          <a:p>
            <a:pPr>
              <a:defRPr/>
            </a:pPr>
            <a:endParaRPr lang="en-US" altLang="zh-CN"/>
          </a:p>
        </p:txBody>
      </p:sp>
      <p:sp>
        <p:nvSpPr>
          <p:cNvPr id="5120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latin typeface="Tahoma" panose="020B0604030504040204" pitchFamily="34" charset="0"/>
              </a:defRPr>
            </a:lvl1pPr>
          </a:lstStyle>
          <a:p>
            <a:pPr>
              <a:defRPr/>
            </a:pPr>
            <a:endParaRPr lang="en-US" altLang="zh-CN"/>
          </a:p>
        </p:txBody>
      </p:sp>
      <p:sp>
        <p:nvSpPr>
          <p:cNvPr id="5120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latin typeface="Tahoma" panose="020B0604030504040204" pitchFamily="34" charset="0"/>
              </a:defRPr>
            </a:lvl1pPr>
          </a:lstStyle>
          <a:p>
            <a:pPr>
              <a:defRPr/>
            </a:pPr>
            <a:fld id="{12B3BD92-3A18-4DC8-ABE5-2D02DB127032}"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latin typeface="Times New Roman" panose="02020503050405090304" pitchFamily="18" charset="0"/>
              </a:defRPr>
            </a:lvl1pPr>
          </a:lstStyle>
          <a:p>
            <a:pPr>
              <a:defRPr/>
            </a:pPr>
            <a:endParaRPr lang="en-US" altLang="zh-CN"/>
          </a:p>
        </p:txBody>
      </p:sp>
      <p:sp>
        <p:nvSpPr>
          <p:cNvPr id="3584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latin typeface="Times New Roman" panose="02020503050405090304" pitchFamily="18" charset="0"/>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584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latin typeface="Times New Roman" panose="02020503050405090304" pitchFamily="18" charset="0"/>
              </a:defRPr>
            </a:lvl1pPr>
          </a:lstStyle>
          <a:p>
            <a:pPr>
              <a:defRPr/>
            </a:pPr>
            <a:endParaRPr lang="en-US" altLang="zh-CN"/>
          </a:p>
        </p:txBody>
      </p:sp>
      <p:sp>
        <p:nvSpPr>
          <p:cNvPr id="3584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latin typeface="Times New Roman" panose="02020503050405090304" pitchFamily="18" charset="0"/>
              </a:defRPr>
            </a:lvl1pPr>
          </a:lstStyle>
          <a:p>
            <a:pPr>
              <a:defRPr/>
            </a:pPr>
            <a:fld id="{32EA9CE6-B92D-471B-9826-7E22902C1E88}"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baike.baidu.com/item/%E5%BE%AE%E5%A4%84%E7%90%86%E5%99%A8"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F836318C-0DE2-4AC4-A2E3-92D8BC9B5CF2}" type="slidenum">
              <a:rPr lang="en-US" altLang="zh-CN" smtClean="0">
                <a:latin typeface="Times New Roman" panose="02020503050405090304" pitchFamily="18" charset="0"/>
              </a:rPr>
              <a:t>1</a:t>
            </a:fld>
            <a:endParaRPr lang="en-US" altLang="zh-CN">
              <a:latin typeface="Times New Roman" panose="02020503050405090304" pitchFamily="18" charset="0"/>
            </a:endParaRPr>
          </a:p>
        </p:txBody>
      </p:sp>
      <p:sp>
        <p:nvSpPr>
          <p:cNvPr id="5123" name="Rectangle 2"/>
          <p:cNvSpPr>
            <a:spLocks noGrp="1" noRot="1" noChangeAspect="1" noChangeArrowheads="1" noTextEdit="1"/>
          </p:cNvSpPr>
          <p:nvPr>
            <p:ph type="sldImg"/>
          </p:nvPr>
        </p:nvSpPr>
        <p:spPr/>
      </p:sp>
      <p:sp>
        <p:nvSpPr>
          <p:cNvPr id="5124" name="Rectangle 3"/>
          <p:cNvSpPr>
            <a:spLocks noGrp="1" noChangeArrowheads="1"/>
          </p:cNvSpPr>
          <p:nvPr>
            <p:ph type="body" idx="1"/>
          </p:nvPr>
        </p:nvSpPr>
        <p:spPr>
          <a:noFill/>
        </p:spPr>
        <p:txBody>
          <a:bodyPr/>
          <a:lstStyle/>
          <a:p>
            <a:pPr eaLnBrk="1" hangingPunct="1"/>
            <a:endParaRPr lang="zh-CN" altLang="zh-CN" b="1">
              <a:solidFill>
                <a:srgbClr val="0000CC"/>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B192A565-C5F8-44F7-BA00-EA6B1F9B29FD}" type="slidenum">
              <a:rPr lang="en-US" altLang="zh-CN" smtClean="0">
                <a:latin typeface="Times New Roman" panose="02020503050405090304" pitchFamily="18" charset="0"/>
              </a:rPr>
              <a:t>2</a:t>
            </a:fld>
            <a:endParaRPr lang="en-US" altLang="zh-CN">
              <a:latin typeface="Times New Roman" panose="02020503050405090304" pitchFamily="18" charset="0"/>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ChangeArrowheads="1" noTextEdit="1"/>
          </p:cNvSpPr>
          <p:nvPr>
            <p:ph type="sldImg"/>
          </p:nvPr>
        </p:nvSpPr>
        <p:spPr/>
      </p:sp>
      <p:sp>
        <p:nvSpPr>
          <p:cNvPr id="9219" name="备注占位符 2"/>
          <p:cNvSpPr>
            <a:spLocks noGrp="1" noChangeArrowheads="1"/>
          </p:cNvSpPr>
          <p:nvPr>
            <p:ph type="body" idx="1"/>
          </p:nvPr>
        </p:nvSpPr>
        <p:spPr>
          <a:noFill/>
        </p:spPr>
        <p:txBody>
          <a:bodyPr/>
          <a:lstStyle/>
          <a:p>
            <a:r>
              <a:rPr kumimoji="1" lang="en-US" altLang="zh-CN" sz="1200" b="0" i="0" kern="1200" dirty="0">
                <a:solidFill>
                  <a:schemeClr val="tx1"/>
                </a:solidFill>
                <a:effectLst/>
                <a:latin typeface="Times New Roman" panose="02020503050405090304" pitchFamily="18" charset="0"/>
                <a:ea typeface="宋体" pitchFamily="2" charset="-122"/>
                <a:cs typeface="+mn-cs"/>
              </a:rPr>
              <a:t>1. JVM</a:t>
            </a:r>
            <a:r>
              <a:rPr kumimoji="1" lang="zh-CN" altLang="en-US" sz="1200" b="0" i="0" kern="1200" dirty="0">
                <a:solidFill>
                  <a:schemeClr val="tx1"/>
                </a:solidFill>
                <a:effectLst/>
                <a:latin typeface="Times New Roman" panose="02020503050405090304" pitchFamily="18" charset="0"/>
                <a:ea typeface="宋体" pitchFamily="2" charset="-122"/>
                <a:cs typeface="+mn-cs"/>
              </a:rPr>
              <a:t>中的解释程序：即时编译器（</a:t>
            </a:r>
            <a:r>
              <a:rPr kumimoji="1" lang="en-US" altLang="zh-CN" sz="1200" b="0" i="0" kern="1200" dirty="0">
                <a:solidFill>
                  <a:schemeClr val="tx1"/>
                </a:solidFill>
                <a:effectLst/>
                <a:latin typeface="Times New Roman" panose="02020503050405090304" pitchFamily="18" charset="0"/>
                <a:ea typeface="宋体" pitchFamily="2" charset="-122"/>
                <a:cs typeface="+mn-cs"/>
              </a:rPr>
              <a:t>Just In Time Compiler</a:t>
            </a:r>
            <a:r>
              <a:rPr kumimoji="1" lang="zh-CN" altLang="en-US" sz="1200" b="0" i="0" kern="1200" dirty="0">
                <a:solidFill>
                  <a:schemeClr val="tx1"/>
                </a:solidFill>
                <a:effectLst/>
                <a:latin typeface="Times New Roman" panose="02020503050405090304" pitchFamily="18" charset="0"/>
                <a:ea typeface="宋体" pitchFamily="2" charset="-122"/>
                <a:cs typeface="+mn-cs"/>
              </a:rPr>
              <a:t>）</a:t>
            </a:r>
            <a:endParaRPr lang="en-US" altLang="zh-CN" dirty="0"/>
          </a:p>
          <a:p>
            <a:r>
              <a:rPr lang="en-US" altLang="zh-CN" dirty="0"/>
              <a:t>2. </a:t>
            </a:r>
            <a:r>
              <a:rPr lang="zh-CN" altLang="en-US" sz="1200" dirty="0"/>
              <a:t>即时编译方式：</a:t>
            </a:r>
            <a:r>
              <a:rPr lang="zh-CN" altLang="en-US" dirty="0"/>
              <a:t>运行时，</a:t>
            </a:r>
            <a:r>
              <a:rPr kumimoji="1" lang="zh-CN" altLang="en-US" sz="1200" dirty="0">
                <a:latin typeface="Times New Roman" panose="02020503050405090304" pitchFamily="18" charset="0"/>
              </a:rPr>
              <a:t>运行频率很高的代码</a:t>
            </a:r>
            <a:r>
              <a:rPr lang="zh-CN" altLang="en-US" dirty="0"/>
              <a:t>由 </a:t>
            </a:r>
            <a:r>
              <a:rPr lang="en-US" altLang="zh-CN" dirty="0"/>
              <a:t>JIT </a:t>
            </a:r>
            <a:r>
              <a:rPr lang="zh-CN" altLang="en-US" dirty="0"/>
              <a:t>翻译为目标机器指令（以 </a:t>
            </a:r>
            <a:r>
              <a:rPr lang="en-US" altLang="zh-CN" dirty="0"/>
              <a:t>method </a:t>
            </a:r>
            <a:r>
              <a:rPr lang="zh-CN" altLang="en-US" dirty="0"/>
              <a:t>为翻译单位，还会保存起来，第二次执行就不用翻译了）直接执行</a:t>
            </a:r>
          </a:p>
          <a:p>
            <a:r>
              <a:rPr lang="en-US" altLang="zh-CN" dirty="0"/>
              <a:t>3. Java</a:t>
            </a:r>
            <a:r>
              <a:rPr lang="zh-CN" altLang="en-US" dirty="0"/>
              <a:t>的编译过程，也称前端编译；其解释过程，也成后端编译。</a:t>
            </a:r>
            <a:endParaRPr lang="en-US" altLang="zh-CN" dirty="0"/>
          </a:p>
          <a:p>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JIT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处理的是热点代码（</a:t>
            </a: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hotspot code</a:t>
            </a:r>
            <a:r>
              <a:rPr kumimoji="1" lang="zh-CN" altLang="en-GB" sz="1200" b="0" i="0" u="none" strike="noStrike"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或叫热门代码）。热点代码就是频繁执行的代码块，比如循环里面的代码。</a:t>
            </a: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JIT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有一套逻辑判断是否热点代码。</a:t>
            </a:r>
            <a:endParaRPr lang="en-US" altLang="zh-CN" dirty="0"/>
          </a:p>
          <a:p>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既然</a:t>
            </a: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JIT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处理后的是机器能够快速执行的代码，为啥还要解释执行呢，干嘛不把全部代码编译成机器代码呢？</a:t>
            </a:r>
            <a:endParaRPr lang="en-US" altLang="zh-CN" dirty="0"/>
          </a:p>
          <a:p>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由于编译本地代码比较费时间，而且编译后还要进行进一步的优化导致耗时更久；而解释器是能够立即解释字节码文件的，毕竟我们的应用放到服务器上的时候就已经是字节码文件了，解释器可以拿来直接用。而且解释器执行的时候占用的内存更小，在内存受限的场景难以使用编译器（比如手机上）。编译器会概率性地选择多数时候都能提升运行效率的手段进行优化，如果“优化”后发现还不如不优化（甚至执行有问题）就得“逆优化”，回退到解释执行状态。</a:t>
            </a:r>
            <a:endParaRPr lang="zh-CN" altLang="en-US" dirty="0"/>
          </a:p>
        </p:txBody>
      </p:sp>
      <p:sp>
        <p:nvSpPr>
          <p:cNvPr id="9220"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BF26E76E-A333-47C9-82AB-8279ECC08019}" type="slidenum">
              <a:rPr lang="en-US" altLang="zh-CN" smtClean="0">
                <a:latin typeface="Times New Roman" panose="02020503050405090304" pitchFamily="18" charset="0"/>
              </a:rPr>
              <a:t>3</a:t>
            </a:fld>
            <a:endParaRPr lang="en-US" altLang="zh-CN">
              <a:latin typeface="Times New Roman" panose="0202050305040509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ChangeArrowheads="1" noTextEdit="1"/>
          </p:cNvSpPr>
          <p:nvPr>
            <p:ph type="sldImg"/>
          </p:nvPr>
        </p:nvSpPr>
        <p:spPr/>
      </p:sp>
      <p:sp>
        <p:nvSpPr>
          <p:cNvPr id="11267" name="备注占位符 2"/>
          <p:cNvSpPr>
            <a:spLocks noGrp="1" noChangeArrowheads="1"/>
          </p:cNvSpPr>
          <p:nvPr>
            <p:ph type="body" idx="1"/>
          </p:nvPr>
        </p:nvSpPr>
        <p:spPr>
          <a:noFill/>
        </p:spPr>
        <p:txBody>
          <a:bodyPr/>
          <a:lstStyle/>
          <a:p>
            <a:r>
              <a:rPr lang="en-US" altLang="zh-CN"/>
              <a:t>.cc</a:t>
            </a:r>
            <a:r>
              <a:rPr lang="zh-CN" altLang="en-US"/>
              <a:t>为</a:t>
            </a:r>
            <a:r>
              <a:rPr lang="en-US" altLang="zh-CN"/>
              <a:t>linux</a:t>
            </a:r>
            <a:r>
              <a:rPr lang="zh-CN" altLang="en-US"/>
              <a:t>下</a:t>
            </a:r>
            <a:r>
              <a:rPr lang="en-US" altLang="zh-CN"/>
              <a:t>C++</a:t>
            </a:r>
            <a:r>
              <a:rPr lang="zh-CN" altLang="en-US"/>
              <a:t>源文件</a:t>
            </a:r>
            <a:endParaRPr lang="en-US" altLang="zh-CN"/>
          </a:p>
          <a:p>
            <a:r>
              <a:rPr lang="en-US" altLang="zh-CN"/>
              <a:t>Linker Script</a:t>
            </a:r>
            <a:r>
              <a:rPr lang="zh-CN" altLang="en-US"/>
              <a:t>：链接脚本</a:t>
            </a:r>
          </a:p>
        </p:txBody>
      </p:sp>
      <p:sp>
        <p:nvSpPr>
          <p:cNvPr id="11268"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C5F655EC-3346-4F73-BB3D-62DC98DAD714}" type="slidenum">
              <a:rPr lang="en-US" altLang="zh-CN" smtClean="0">
                <a:latin typeface="Times New Roman" panose="02020503050405090304" pitchFamily="18" charset="0"/>
              </a:rPr>
              <a:t>4</a:t>
            </a:fld>
            <a:endParaRPr lang="en-US" altLang="zh-CN">
              <a:latin typeface="Times New Roman" panose="0202050305040509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p:sp>
      <p:sp>
        <p:nvSpPr>
          <p:cNvPr id="15363" name="备注占位符 2"/>
          <p:cNvSpPr>
            <a:spLocks noGrp="1" noChangeArrowheads="1"/>
          </p:cNvSpPr>
          <p:nvPr>
            <p:ph type="body" idx="1"/>
          </p:nvPr>
        </p:nvSpPr>
        <p:spPr>
          <a:noFill/>
        </p:spPr>
        <p:txBody>
          <a:bodyPr/>
          <a:lstStyle/>
          <a:p>
            <a:r>
              <a:rPr lang="zh-CN" altLang="en-US"/>
              <a:t>全称为“可扩充处理器架构”（</a:t>
            </a:r>
            <a:r>
              <a:rPr lang="en-US" altLang="zh-CN"/>
              <a:t>Scalable Processor ARChitecture</a:t>
            </a:r>
            <a:r>
              <a:rPr lang="zh-CN" altLang="en-US"/>
              <a:t>），是</a:t>
            </a:r>
            <a:r>
              <a:rPr lang="en-US" altLang="zh-CN"/>
              <a:t>RISC</a:t>
            </a:r>
            <a:r>
              <a:rPr lang="zh-CN" altLang="en-US">
                <a:hlinkClick r:id="rId3"/>
              </a:rPr>
              <a:t>微处理器</a:t>
            </a:r>
            <a:r>
              <a:rPr lang="zh-CN" altLang="en-US"/>
              <a:t>架构之一，最早于</a:t>
            </a:r>
            <a:r>
              <a:rPr lang="en-US" altLang="zh-CN"/>
              <a:t>1985</a:t>
            </a:r>
            <a:r>
              <a:rPr lang="zh-CN" altLang="en-US"/>
              <a:t>年由</a:t>
            </a:r>
            <a:r>
              <a:rPr lang="en-US" altLang="zh-CN"/>
              <a:t>Sun</a:t>
            </a:r>
            <a:r>
              <a:rPr lang="zh-CN" altLang="en-US"/>
              <a:t>电脑所设计。</a:t>
            </a:r>
            <a:endParaRPr lang="en-US" altLang="zh-CN"/>
          </a:p>
          <a:p>
            <a:r>
              <a:rPr lang="en-US" altLang="zh-CN"/>
              <a:t>MIPS</a:t>
            </a:r>
            <a:r>
              <a:rPr lang="zh-CN" altLang="en-US"/>
              <a:t>架构（</a:t>
            </a:r>
            <a:r>
              <a:rPr lang="en-US" altLang="zh-CN"/>
              <a:t>Microprocessor without interlocked piped stages architecture</a:t>
            </a:r>
            <a:r>
              <a:rPr lang="zh-CN" altLang="en-US"/>
              <a:t>），是一种采取精简指令集（</a:t>
            </a:r>
            <a:r>
              <a:rPr lang="en-US" altLang="zh-CN"/>
              <a:t>RISC</a:t>
            </a:r>
            <a:r>
              <a:rPr lang="zh-CN" altLang="en-US"/>
              <a:t>）的处理器架构，</a:t>
            </a:r>
            <a:r>
              <a:rPr lang="en-US" altLang="zh-CN"/>
              <a:t>1981</a:t>
            </a:r>
            <a:r>
              <a:rPr lang="zh-CN" altLang="en-US"/>
              <a:t>年出现，由</a:t>
            </a:r>
            <a:r>
              <a:rPr lang="en-US" altLang="zh-CN"/>
              <a:t>MIPS</a:t>
            </a:r>
            <a:r>
              <a:rPr lang="zh-CN" altLang="en-US"/>
              <a:t>科技公司开发并授权，广泛被使用在许多电子产品、网络设备、个人娱乐装置与商业装置上。最早的</a:t>
            </a:r>
            <a:r>
              <a:rPr lang="en-US" altLang="zh-CN"/>
              <a:t>MIPS</a:t>
            </a:r>
            <a:r>
              <a:rPr lang="zh-CN" altLang="en-US"/>
              <a:t>架构是</a:t>
            </a:r>
            <a:r>
              <a:rPr lang="en-US" altLang="zh-CN"/>
              <a:t>32</a:t>
            </a:r>
            <a:r>
              <a:rPr lang="zh-CN" altLang="en-US"/>
              <a:t>位，最新的版本已经变成</a:t>
            </a:r>
            <a:r>
              <a:rPr lang="en-US" altLang="zh-CN"/>
              <a:t>64</a:t>
            </a:r>
            <a:r>
              <a:rPr lang="zh-CN" altLang="en-US"/>
              <a:t>位。</a:t>
            </a:r>
            <a:endParaRPr lang="en-US" altLang="zh-CN"/>
          </a:p>
          <a:p>
            <a:r>
              <a:rPr lang="en-US" altLang="zh-CN"/>
              <a:t>ppc:IBM POWER Architecture </a:t>
            </a:r>
            <a:r>
              <a:rPr lang="zh-CN" altLang="en-US"/>
              <a:t>体系</a:t>
            </a:r>
          </a:p>
        </p:txBody>
      </p:sp>
      <p:sp>
        <p:nvSpPr>
          <p:cNvPr id="15364"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F1300F1C-E1A0-491A-A900-A9115C2938B0}" type="slidenum">
              <a:rPr lang="en-US" altLang="zh-CN" smtClean="0">
                <a:latin typeface="Times New Roman" panose="02020503050405090304" pitchFamily="18" charset="0"/>
              </a:rPr>
              <a:t>7</a:t>
            </a:fld>
            <a:endParaRPr lang="en-US" altLang="zh-CN">
              <a:latin typeface="Times New Roman" panose="0202050305040509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p:sp>
      <p:sp>
        <p:nvSpPr>
          <p:cNvPr id="17411" name="备注占位符 2"/>
          <p:cNvSpPr>
            <a:spLocks noGrp="1" noChangeArrowheads="1"/>
          </p:cNvSpPr>
          <p:nvPr>
            <p:ph type="body" idx="1"/>
          </p:nvPr>
        </p:nvSpPr>
        <p:spPr>
          <a:noFill/>
        </p:spPr>
        <p:txBody>
          <a:bodyPr/>
          <a:lstStyle/>
          <a:p>
            <a:endParaRPr lang="zh-CN" altLang="en-US"/>
          </a:p>
        </p:txBody>
      </p:sp>
      <p:sp>
        <p:nvSpPr>
          <p:cNvPr id="17412"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33D0C56A-0C53-4681-A2F9-FDE02D5C7922}" type="slidenum">
              <a:rPr lang="en-US" altLang="zh-CN" smtClean="0">
                <a:latin typeface="Times New Roman" panose="02020503050405090304" pitchFamily="18" charset="0"/>
              </a:rPr>
              <a:t>8</a:t>
            </a:fld>
            <a:endParaRPr lang="en-US" altLang="zh-CN">
              <a:latin typeface="Times New Roman" panose="0202050305040509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a:t>Java Development Kit</a:t>
            </a:r>
            <a:endParaRPr lang="zh-CN" altLang="en-US" b="0"/>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10</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12</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dirty="0"/>
              <a:t>https://</a:t>
            </a:r>
            <a:r>
              <a:rPr kumimoji="1" lang="en-GB" altLang="zh-CN" dirty="0" err="1"/>
              <a:t>www.jetbrains.com</a:t>
            </a:r>
            <a:r>
              <a:rPr kumimoji="1" lang="en-GB" altLang="zh-CN"/>
              <a:t>/idea/download/#section=windows</a:t>
            </a:r>
            <a:endParaRPr kumimoji="1" lang="zh-CN" altLang="en-US"/>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13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a:t>一、如果</a:t>
            </a:r>
            <a:r>
              <a:rPr lang="en-US" altLang="zh-CN"/>
              <a:t>Java SE 8</a:t>
            </a:r>
            <a:r>
              <a:rPr lang="zh-CN" altLang="en-US"/>
              <a:t>及之后的版本，想要更新的话，则需要付费：</a:t>
            </a:r>
            <a:endParaRPr lang="en-US" altLang="zh-CN"/>
          </a:p>
          <a:p>
            <a:pPr eaLnBrk="1" hangingPunct="1"/>
            <a:r>
              <a:rPr lang="en-US" altLang="zh-CN"/>
              <a:t>https://www.cnblogs.com/dengguangxue/p/11652777.html</a:t>
            </a:r>
            <a:endParaRPr lang="zh-CN" altLang="en-US"/>
          </a:p>
          <a:p>
            <a:endParaRPr kumimoji="1" lang="en-US" altLang="zh-CN" sz="1200" b="0" i="0" kern="1200">
              <a:solidFill>
                <a:schemeClr val="tx1"/>
              </a:solidFill>
              <a:effectLst/>
              <a:latin typeface="Times New Roman" panose="02020503050405090304" pitchFamily="18" charset="0"/>
              <a:ea typeface="宋体" pitchFamily="2" charset="-122"/>
              <a:cs typeface="+mn-cs"/>
            </a:endParaRPr>
          </a:p>
          <a:p>
            <a:r>
              <a:rPr kumimoji="1" lang="zh-CN" altLang="en-US" sz="1200" b="0" i="0" kern="1200">
                <a:solidFill>
                  <a:schemeClr val="tx1"/>
                </a:solidFill>
                <a:effectLst/>
                <a:latin typeface="Times New Roman" panose="02020503050405090304" pitchFamily="18" charset="0"/>
                <a:ea typeface="宋体" pitchFamily="2" charset="-122"/>
                <a:cs typeface="+mn-cs"/>
              </a:rPr>
              <a:t>二、</a:t>
            </a:r>
            <a:r>
              <a:rPr kumimoji="1" lang="en-US" altLang="zh-CN" sz="1200" b="0" i="0" kern="1200">
                <a:solidFill>
                  <a:schemeClr val="tx1"/>
                </a:solidFill>
                <a:effectLst/>
                <a:latin typeface="Times New Roman" panose="02020503050405090304" pitchFamily="18" charset="0"/>
                <a:ea typeface="宋体" pitchFamily="2" charset="-122"/>
                <a:cs typeface="+mn-cs"/>
              </a:rPr>
              <a:t>OracleJDK </a:t>
            </a:r>
            <a:r>
              <a:rPr kumimoji="1" lang="zh-CN" altLang="en-US" sz="1200" b="0" i="0" kern="1200">
                <a:solidFill>
                  <a:schemeClr val="tx1"/>
                </a:solidFill>
                <a:effectLst/>
                <a:latin typeface="Times New Roman" panose="02020503050405090304" pitchFamily="18" charset="0"/>
                <a:ea typeface="宋体" pitchFamily="2" charset="-122"/>
                <a:cs typeface="+mn-cs"/>
              </a:rPr>
              <a:t>收费是针对商业用途的，如果只是个人学习</a:t>
            </a:r>
            <a:r>
              <a:rPr kumimoji="1" lang="en-US" altLang="zh-CN" sz="1200" b="0" i="0" kern="1200">
                <a:solidFill>
                  <a:schemeClr val="tx1"/>
                </a:solidFill>
                <a:effectLst/>
                <a:latin typeface="Times New Roman" panose="02020503050405090304" pitchFamily="18" charset="0"/>
                <a:ea typeface="宋体" pitchFamily="2" charset="-122"/>
                <a:cs typeface="+mn-cs"/>
              </a:rPr>
              <a:t>Java</a:t>
            </a:r>
            <a:r>
              <a:rPr kumimoji="1" lang="zh-CN" altLang="en-US" sz="1200" b="0" i="0" kern="1200">
                <a:solidFill>
                  <a:schemeClr val="tx1"/>
                </a:solidFill>
                <a:effectLst/>
                <a:latin typeface="Times New Roman" panose="02020503050405090304" pitchFamily="18" charset="0"/>
                <a:ea typeface="宋体" pitchFamily="2" charset="-122"/>
                <a:cs typeface="+mn-cs"/>
              </a:rPr>
              <a:t>的话，没什么影响</a:t>
            </a:r>
            <a:r>
              <a:rPr kumimoji="1" lang="en-US" altLang="zh-CN" sz="1200" b="0" i="0" kern="1200">
                <a:solidFill>
                  <a:schemeClr val="tx1"/>
                </a:solidFill>
                <a:effectLst/>
                <a:latin typeface="Times New Roman" panose="02020503050405090304" pitchFamily="18" charset="0"/>
                <a:ea typeface="宋体" pitchFamily="2" charset="-122"/>
                <a:cs typeface="+mn-cs"/>
              </a:rPr>
              <a:t>!</a:t>
            </a:r>
          </a:p>
          <a:p>
            <a:r>
              <a:rPr lang="zh-CN" altLang="en-US"/>
              <a:t>或者使用完全免费的</a:t>
            </a:r>
            <a:r>
              <a:rPr lang="en-US" altLang="zh-CN"/>
              <a:t>OpenJDK</a:t>
            </a:r>
          </a:p>
          <a:p>
            <a:endParaRPr lang="en-US" altLang="zh-CN"/>
          </a:p>
          <a:p>
            <a:r>
              <a:rPr lang="zh-CN" altLang="en-US"/>
              <a:t>三、</a:t>
            </a:r>
            <a:r>
              <a:rPr lang="en-US" altLang="zh-CN"/>
              <a:t>JDK8</a:t>
            </a:r>
            <a:r>
              <a:rPr lang="zh-CN" altLang="en-US"/>
              <a:t>最稳定，</a:t>
            </a:r>
            <a:r>
              <a:rPr lang="en-US" altLang="zh-CN"/>
              <a:t>JDK16</a:t>
            </a:r>
            <a:r>
              <a:rPr lang="zh-CN" altLang="en-US"/>
              <a:t>不是长期支持版</a:t>
            </a:r>
            <a:endParaRPr lang="en-US" altLang="zh-CN"/>
          </a:p>
          <a:p>
            <a:r>
              <a:rPr lang="en-US" altLang="zh-CN"/>
              <a:t>https://zhuanlan.zhihu.com/p/358026538</a:t>
            </a:r>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14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p:sp>
      <p:sp>
        <p:nvSpPr>
          <p:cNvPr id="33795" name="备注占位符 2"/>
          <p:cNvSpPr>
            <a:spLocks noGrp="1" noChangeArrowheads="1"/>
          </p:cNvSpPr>
          <p:nvPr>
            <p:ph type="body" idx="1"/>
          </p:nvPr>
        </p:nvSpPr>
        <p:spPr>
          <a:noFill/>
        </p:spPr>
        <p:txBody>
          <a:bodyPr/>
          <a:lstStyle/>
          <a:p>
            <a:r>
              <a:rPr lang="en-US" altLang="zh-CN"/>
              <a:t>jdk</a:t>
            </a:r>
            <a:r>
              <a:rPr lang="zh-CN" altLang="en-US"/>
              <a:t>下的</a:t>
            </a:r>
            <a:r>
              <a:rPr lang="en-US" altLang="zh-CN"/>
              <a:t>bin</a:t>
            </a:r>
            <a:r>
              <a:rPr lang="zh-CN" altLang="en-US"/>
              <a:t>用于开发；</a:t>
            </a:r>
            <a:endParaRPr lang="en-US" altLang="zh-CN"/>
          </a:p>
          <a:p>
            <a:r>
              <a:rPr lang="en-US" altLang="zh-CN"/>
              <a:t>jre</a:t>
            </a:r>
            <a:r>
              <a:rPr lang="zh-CN" altLang="en-US"/>
              <a:t>下的</a:t>
            </a:r>
            <a:r>
              <a:rPr lang="en-US" altLang="zh-CN"/>
              <a:t>bin</a:t>
            </a:r>
            <a:r>
              <a:rPr lang="zh-CN" altLang="en-US"/>
              <a:t>用于运行（所以里面没有</a:t>
            </a:r>
            <a:r>
              <a:rPr lang="en-US" altLang="zh-CN"/>
              <a:t>javac.exe</a:t>
            </a:r>
            <a:r>
              <a:rPr lang="zh-CN" altLang="en-US"/>
              <a:t>）</a:t>
            </a:r>
            <a:endParaRPr lang="en-US" altLang="zh-CN"/>
          </a:p>
          <a:p>
            <a:r>
              <a:rPr lang="en-US" altLang="zh-CN"/>
              <a:t>https://www.cnblogs.com/xiao-lei/p/9912308.html</a:t>
            </a:r>
            <a:endParaRPr lang="zh-CN" altLang="en-US"/>
          </a:p>
        </p:txBody>
      </p:sp>
      <p:sp>
        <p:nvSpPr>
          <p:cNvPr id="33796"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01AE950F-A80C-4A3A-AAE5-D9EF1B1D9220}" type="slidenum">
              <a:rPr lang="en-US" altLang="zh-CN" smtClean="0">
                <a:latin typeface="Times New Roman" panose="02020503050405090304" pitchFamily="18" charset="0"/>
              </a:rPr>
              <a:t>19</a:t>
            </a:fld>
            <a:endParaRPr lang="en-US" altLang="zh-CN">
              <a:latin typeface="Times New Roman" panose="0202050305040509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后页的例子中，</a:t>
            </a:r>
            <a:r>
              <a:rPr lang="en-US" altLang="zh-CN"/>
              <a:t>java</a:t>
            </a:r>
            <a:r>
              <a:rPr lang="zh-CN" altLang="en-US"/>
              <a:t>命令可用而</a:t>
            </a:r>
            <a:r>
              <a:rPr lang="en-US" altLang="zh-CN"/>
              <a:t>javac</a:t>
            </a:r>
            <a:r>
              <a:rPr lang="zh-CN" altLang="en-US"/>
              <a:t>命令不可用，就是环境变量没有配置成功：</a:t>
            </a:r>
            <a:endParaRPr lang="en-US" altLang="zh-CN"/>
          </a:p>
          <a:p>
            <a:r>
              <a:rPr lang="en-US" altLang="zh-CN"/>
              <a:t>https://blog.csdn.net/ljwaheng/article/details/79187865</a:t>
            </a:r>
            <a:endParaRPr lang="zh-CN" altLang="en-US"/>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25</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p:sp>
      <p:sp>
        <p:nvSpPr>
          <p:cNvPr id="28675" name="备注占位符 2"/>
          <p:cNvSpPr>
            <a:spLocks noGrp="1" noChangeArrowheads="1"/>
          </p:cNvSpPr>
          <p:nvPr>
            <p:ph type="body" idx="1"/>
          </p:nvPr>
        </p:nvSpPr>
        <p:spPr>
          <a:noFill/>
        </p:spPr>
        <p:txBody>
          <a:bodyPr/>
          <a:lstStyle/>
          <a:p>
            <a:r>
              <a:rPr lang="zh-CN" altLang="en-US"/>
              <a:t>模块声明的例子：</a:t>
            </a:r>
            <a:r>
              <a:rPr lang="en-US" altLang="zh-CN"/>
              <a:t>module com.foo.bar { }</a:t>
            </a:r>
            <a:endParaRPr lang="zh-CN" altLang="en-US"/>
          </a:p>
        </p:txBody>
      </p:sp>
      <p:sp>
        <p:nvSpPr>
          <p:cNvPr id="28676"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CC1AE4E7-711F-442F-95CB-CC986FDD601B}" type="slidenum">
              <a:rPr lang="en-US" altLang="zh-CN" smtClean="0">
                <a:latin typeface="Times New Roman" panose="02020503050405090304" pitchFamily="18" charset="0"/>
              </a:rPr>
              <a:t>26</a:t>
            </a:fld>
            <a:endParaRPr lang="en-US" altLang="zh-CN">
              <a:latin typeface="Times New Roman" panose="0202050305040509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ChangeArrowheads="1" noTextEdit="1"/>
          </p:cNvSpPr>
          <p:nvPr>
            <p:ph type="sldImg"/>
          </p:nvPr>
        </p:nvSpPr>
        <p:spPr/>
      </p:sp>
      <p:sp>
        <p:nvSpPr>
          <p:cNvPr id="30723" name="备注占位符 2"/>
          <p:cNvSpPr>
            <a:spLocks noGrp="1" noChangeArrowheads="1"/>
          </p:cNvSpPr>
          <p:nvPr>
            <p:ph type="body" idx="1"/>
          </p:nvPr>
        </p:nvSpPr>
        <p:spPr>
          <a:noFill/>
        </p:spPr>
        <p:txBody>
          <a:bodyPr/>
          <a:lstStyle/>
          <a:p>
            <a:r>
              <a:rPr lang="zh-CN" altLang="en-US"/>
              <a:t>环境变量的配置：</a:t>
            </a:r>
            <a:r>
              <a:rPr lang="en-US" altLang="zh-CN"/>
              <a:t>JAVA_HOME</a:t>
            </a:r>
            <a:r>
              <a:rPr lang="zh-CN" altLang="en-US"/>
              <a:t>，</a:t>
            </a:r>
            <a:r>
              <a:rPr lang="en-US" altLang="zh-CN"/>
              <a:t>lib</a:t>
            </a:r>
            <a:r>
              <a:rPr lang="zh-CN" altLang="en-US"/>
              <a:t>，</a:t>
            </a:r>
            <a:r>
              <a:rPr lang="en-US" altLang="zh-CN"/>
              <a:t>bin</a:t>
            </a:r>
            <a:endParaRPr lang="zh-CN" altLang="en-US"/>
          </a:p>
        </p:txBody>
      </p:sp>
      <p:sp>
        <p:nvSpPr>
          <p:cNvPr id="30724" name="灯片编号占位符 3"/>
          <p:cNvSpPr>
            <a:spLocks noGrp="1"/>
          </p:cNvSpPr>
          <p:nvPr>
            <p:ph type="sldNum" sz="quarter" idx="5"/>
          </p:nvPr>
        </p:nvSpPr>
        <p:spPr>
          <a:noFill/>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B8944D26-E4C8-4389-9466-3AFBEDA1BBAD}" type="slidenum">
              <a:rPr lang="en-US" altLang="zh-CN" smtClean="0">
                <a:latin typeface="Times New Roman" panose="02020503050405090304" pitchFamily="18" charset="0"/>
              </a:rPr>
              <a:t>27</a:t>
            </a:fld>
            <a:endParaRPr lang="en-US" altLang="zh-CN">
              <a:latin typeface="Times New Roman" panose="0202050305040509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32EA9CE6-B92D-471B-9826-7E22902C1E88}" type="slidenum">
              <a:rPr lang="en-US" altLang="zh-CN" smtClean="0"/>
              <a:t>42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5D245A2-86C2-4055-991A-57AED47D6CEA}"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EBC4340-90A1-43B1-98C3-C3FB67CA1262}"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31A66FD-87D9-47ED-BDCF-E0557AB8A220}"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FC51FFE-0E72-4548-A40A-14A1533583D3}"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AC5296D-BB0F-4C91-A88B-35C06ACF6C71}"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BDDB635-A78E-4DE9-B63A-48AF4F6ECE4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463F1D88-A458-4357-BC63-84A590957CE8}"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9B4D001-8255-4BFD-BBCC-E383C2D66078}"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A6EF7D3-4579-4632-8B9C-0B463F1A150C}"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7536621-6530-411B-A87F-D29D0AC1BAF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9779170-DF16-4D53-863D-B7068BD92FD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7069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a:defRPr/>
            </a:pPr>
            <a:endParaRPr lang="en-US" altLang="zh-CN"/>
          </a:p>
        </p:txBody>
      </p:sp>
      <p:sp>
        <p:nvSpPr>
          <p:cNvPr id="37069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vl1pPr>
          </a:lstStyle>
          <a:p>
            <a:pPr>
              <a:defRPr/>
            </a:pPr>
            <a:endParaRPr lang="en-US" altLang="zh-CN"/>
          </a:p>
        </p:txBody>
      </p:sp>
      <p:sp>
        <p:nvSpPr>
          <p:cNvPr id="37069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a:defRPr/>
            </a:pPr>
            <a:fld id="{E91CD422-560F-4B37-B4BC-BDC6519CDB0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jetbrains.com/idea/"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7.xml"/><Relationship Id="rId5" Type="http://schemas.openxmlformats.org/officeDocument/2006/relationships/image" Target="../media/image13.tiff"/><Relationship Id="rId4" Type="http://schemas.openxmlformats.org/officeDocument/2006/relationships/image" Target="../media/image12.tiff"/></Relationships>
</file>

<file path=ppt/slides/_rels/slide17.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14.tiff"/><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zh-CN" altLang="en-US" sz="4000" baseline="0" dirty="0">
                <a:solidFill>
                  <a:srgbClr val="FF0066"/>
                </a:solidFill>
                <a:latin typeface="Times New Roman" panose="02020503050405090304" pitchFamily="18" charset="0"/>
                <a:ea typeface="楷体-简" panose="02010600040101010101" pitchFamily="2" charset="-122"/>
              </a:rPr>
              <a:t>第 一章</a:t>
            </a:r>
            <a:r>
              <a:rPr lang="zh-CN" altLang="en-US" sz="4800" baseline="0" dirty="0">
                <a:solidFill>
                  <a:srgbClr val="FF0066"/>
                </a:solidFill>
                <a:latin typeface="Times New Roman" panose="02020503050405090304" pitchFamily="18" charset="0"/>
                <a:ea typeface="楷体-简" panose="02010600040101010101" pitchFamily="2" charset="-122"/>
              </a:rPr>
              <a:t> </a:t>
            </a:r>
            <a:r>
              <a:rPr lang="zh-CN" altLang="en-US" sz="4000" baseline="0" dirty="0">
                <a:latin typeface="Times New Roman" panose="02020503050405090304" pitchFamily="18" charset="0"/>
                <a:ea typeface="楷体-简" panose="02010600040101010101" pitchFamily="2" charset="-122"/>
              </a:rPr>
              <a:t> </a:t>
            </a:r>
            <a:r>
              <a:rPr lang="en-US" altLang="zh-CN" sz="4000" b="1" baseline="0" dirty="0">
                <a:solidFill>
                  <a:srgbClr val="FF0066"/>
                </a:solidFill>
                <a:latin typeface="Times New Roman" panose="02020503050405090304" pitchFamily="18" charset="0"/>
                <a:ea typeface="楷体-简" panose="02010600040101010101" pitchFamily="2" charset="-122"/>
              </a:rPr>
              <a:t>Java </a:t>
            </a:r>
            <a:r>
              <a:rPr lang="zh-CN" altLang="en-US" sz="4000" b="1" baseline="0" dirty="0">
                <a:solidFill>
                  <a:srgbClr val="FF0066"/>
                </a:solidFill>
                <a:latin typeface="Times New Roman" panose="02020503050405090304" pitchFamily="18" charset="0"/>
                <a:ea typeface="楷体-简" panose="02010600040101010101" pitchFamily="2" charset="-122"/>
              </a:rPr>
              <a:t>简介</a:t>
            </a:r>
            <a:br>
              <a:rPr lang="zh-CN" altLang="en-US" sz="4000" b="1" baseline="0" dirty="0">
                <a:solidFill>
                  <a:srgbClr val="FF0066"/>
                </a:solidFill>
                <a:latin typeface="Times New Roman" panose="02020503050405090304" pitchFamily="18" charset="0"/>
                <a:ea typeface="楷体-简" panose="02010600040101010101" pitchFamily="2" charset="-122"/>
              </a:rPr>
            </a:br>
            <a:endParaRPr lang="zh-CN" altLang="en-US" sz="2800" b="1" baseline="0" dirty="0">
              <a:solidFill>
                <a:srgbClr val="FF0066"/>
              </a:solidFill>
              <a:latin typeface="Times New Roman" panose="02020503050405090304" pitchFamily="18" charset="0"/>
              <a:ea typeface="楷体-简" panose="02010600040101010101" pitchFamily="2" charset="-122"/>
            </a:endParaRPr>
          </a:p>
        </p:txBody>
      </p:sp>
      <p:sp>
        <p:nvSpPr>
          <p:cNvPr id="4099" name="Rectangle 3"/>
          <p:cNvSpPr>
            <a:spLocks noGrp="1" noChangeArrowheads="1"/>
          </p:cNvSpPr>
          <p:nvPr>
            <p:ph type="body" idx="1"/>
          </p:nvPr>
        </p:nvSpPr>
        <p:spPr/>
        <p:txBody>
          <a:bodyPr/>
          <a:lstStyle/>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1.1	 Java </a:t>
            </a:r>
            <a:r>
              <a:rPr lang="zh-CN" altLang="en-US" sz="2800" b="1" baseline="0" dirty="0">
                <a:latin typeface="Times New Roman" panose="02020503050405090304" pitchFamily="18" charset="0"/>
                <a:ea typeface="楷体-简" panose="02010600040101010101" pitchFamily="2" charset="-122"/>
              </a:rPr>
              <a:t>的历史</a:t>
            </a:r>
            <a:r>
              <a:rPr lang="zh-CN" altLang="en-US" sz="2800" baseline="0" dirty="0">
                <a:latin typeface="Times New Roman" panose="02020503050405090304" pitchFamily="18" charset="0"/>
                <a:ea typeface="楷体-简" panose="02010600040101010101" pitchFamily="2" charset="-122"/>
              </a:rPr>
              <a:t> </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1.2	 Java </a:t>
            </a:r>
            <a:r>
              <a:rPr lang="zh-CN" altLang="en-US" sz="2800" b="1" baseline="0" dirty="0">
                <a:latin typeface="Times New Roman" panose="02020503050405090304" pitchFamily="18" charset="0"/>
                <a:ea typeface="楷体-简" panose="02010600040101010101" pitchFamily="2" charset="-122"/>
              </a:rPr>
              <a:t>的工作原理</a:t>
            </a:r>
            <a:r>
              <a:rPr lang="zh-CN" altLang="en-US" sz="2800" baseline="0" dirty="0">
                <a:latin typeface="Times New Roman" panose="02020503050405090304" pitchFamily="18" charset="0"/>
                <a:ea typeface="楷体-简" panose="02010600040101010101" pitchFamily="2" charset="-122"/>
              </a:rPr>
              <a:t> </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1.3	 Java </a:t>
            </a:r>
            <a:r>
              <a:rPr lang="zh-CN" altLang="en-US" sz="2800" b="1" baseline="0" dirty="0">
                <a:latin typeface="Times New Roman" panose="02020503050405090304" pitchFamily="18" charset="0"/>
                <a:ea typeface="楷体-简" panose="02010600040101010101" pitchFamily="2" charset="-122"/>
              </a:rPr>
              <a:t>的特点</a:t>
            </a:r>
            <a:endParaRPr lang="zh-CN" altLang="en-US" sz="2800" baseline="0" dirty="0">
              <a:latin typeface="Times New Roman" panose="02020503050405090304" pitchFamily="18" charset="0"/>
              <a:ea typeface="楷体-简" panose="02010600040101010101" pitchFamily="2" charset="-122"/>
            </a:endParaRP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1.4  Java </a:t>
            </a:r>
            <a:r>
              <a:rPr lang="zh-CN" altLang="en-US" sz="2800" b="1" baseline="0" dirty="0">
                <a:latin typeface="Times New Roman" panose="02020503050405090304" pitchFamily="18" charset="0"/>
                <a:ea typeface="楷体-简" panose="02010600040101010101" pitchFamily="2" charset="-122"/>
              </a:rPr>
              <a:t>的运行平台</a:t>
            </a:r>
            <a:r>
              <a:rPr lang="zh-CN" altLang="en-US" sz="2800" baseline="0" dirty="0">
                <a:latin typeface="Times New Roman" panose="02020503050405090304" pitchFamily="18" charset="0"/>
                <a:ea typeface="楷体-简" panose="02010600040101010101" pitchFamily="2" charset="-122"/>
              </a:rPr>
              <a:t> </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1.5  Java </a:t>
            </a:r>
            <a:r>
              <a:rPr lang="zh-CN" altLang="en-US" sz="2800" b="1" baseline="0" dirty="0">
                <a:latin typeface="Times New Roman" panose="02020503050405090304" pitchFamily="18" charset="0"/>
                <a:ea typeface="楷体-简" panose="02010600040101010101" pitchFamily="2" charset="-122"/>
              </a:rPr>
              <a:t>的开发环境</a:t>
            </a:r>
            <a:endParaRPr lang="zh-CN" altLang="en-US" sz="2800" baseline="0" dirty="0">
              <a:latin typeface="Times New Roman" panose="02020503050405090304" pitchFamily="18" charset="0"/>
              <a:ea typeface="楷体-简" panose="02010600040101010101" pitchFamily="2" charset="-122"/>
            </a:endParaRP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1.6	 Java </a:t>
            </a:r>
            <a:r>
              <a:rPr lang="zh-CN" altLang="en-US" sz="2800" b="1" baseline="0" dirty="0">
                <a:latin typeface="Times New Roman" panose="02020503050405090304" pitchFamily="18" charset="0"/>
                <a:ea typeface="楷体-简" panose="02010600040101010101" pitchFamily="2" charset="-122"/>
              </a:rPr>
              <a:t>工具包的安装与配置</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1.7 	 </a:t>
            </a:r>
            <a:r>
              <a:rPr lang="zh-CN" altLang="en-US" sz="2800" b="1" baseline="0" dirty="0">
                <a:latin typeface="Times New Roman" panose="02020503050405090304" pitchFamily="18" charset="0"/>
                <a:ea typeface="楷体-简" panose="02010600040101010101" pitchFamily="2" charset="-122"/>
              </a:rPr>
              <a:t>初识 </a:t>
            </a:r>
            <a:r>
              <a:rPr lang="en-US" altLang="zh-CN" sz="2800" b="1" baseline="0" dirty="0">
                <a:latin typeface="Times New Roman" panose="02020503050405090304" pitchFamily="18" charset="0"/>
                <a:ea typeface="楷体-简" panose="02010600040101010101" pitchFamily="2" charset="-122"/>
              </a:rPr>
              <a:t>Java </a:t>
            </a:r>
            <a:r>
              <a:rPr lang="zh-CN" altLang="en-US" sz="2800" b="1" baseline="0" dirty="0">
                <a:latin typeface="Times New Roman" panose="02020503050405090304" pitchFamily="18" charset="0"/>
                <a:ea typeface="楷体-简" panose="02010600040101010101" pitchFamily="2" charset="-122"/>
              </a:rPr>
              <a:t>应用程序</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1.8  Java </a:t>
            </a:r>
            <a:r>
              <a:rPr lang="zh-CN" altLang="en-US" sz="2800" b="1" baseline="0" dirty="0">
                <a:latin typeface="Times New Roman" panose="02020503050405090304" pitchFamily="18" charset="0"/>
                <a:ea typeface="楷体-简" panose="02010600040101010101" pitchFamily="2" charset="-122"/>
              </a:rPr>
              <a:t>编程规范</a:t>
            </a:r>
          </a:p>
          <a:p>
            <a:pPr marL="609600" indent="-609600" eaLnBrk="1" hangingPunct="1">
              <a:lnSpc>
                <a:spcPct val="90000"/>
              </a:lnSpc>
              <a:buFontTx/>
              <a:buNone/>
            </a:pPr>
            <a:r>
              <a:rPr lang="en-US" altLang="zh-CN" sz="2800" b="1" baseline="0" dirty="0">
                <a:latin typeface="Times New Roman" panose="02020503050405090304" pitchFamily="18" charset="0"/>
                <a:ea typeface="楷体-简" panose="02010600040101010101" pitchFamily="2" charset="-122"/>
              </a:rPr>
              <a:t>1.9 	 Java </a:t>
            </a:r>
            <a:r>
              <a:rPr lang="zh-CN" altLang="en-US" sz="2800" b="1" baseline="0" dirty="0">
                <a:latin typeface="Times New Roman" panose="02020503050405090304" pitchFamily="18" charset="0"/>
                <a:ea typeface="楷体-简" panose="02010600040101010101" pitchFamily="2" charset="-122"/>
              </a:rPr>
              <a:t>应用程序与小应用程序</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23528" y="250106"/>
            <a:ext cx="8229600" cy="1143000"/>
          </a:xfrm>
          <a:noFill/>
        </p:spPr>
        <p:txBody>
          <a:bodyPr/>
          <a:lstStyle/>
          <a:p>
            <a:pPr algn="ctr" eaLnBrk="1" hangingPunct="1">
              <a:buClrTx/>
              <a:buSzTx/>
              <a:buFontTx/>
            </a:pPr>
            <a:r>
              <a:rPr lang="en-US" altLang="zh-CN" baseline="0" dirty="0">
                <a:solidFill>
                  <a:srgbClr val="FF0066"/>
                </a:solidFill>
                <a:latin typeface="Times New Roman" panose="02020503050405090304" pitchFamily="18" charset="0"/>
                <a:ea typeface="楷体-简" panose="02010600040101010101" pitchFamily="2" charset="-122"/>
              </a:rPr>
              <a:t>1.1 Java 的历史</a:t>
            </a:r>
          </a:p>
        </p:txBody>
      </p:sp>
      <p:pic>
        <p:nvPicPr>
          <p:cNvPr id="4" name="图片 3"/>
          <p:cNvPicPr>
            <a:picLocks noChangeAspect="1"/>
          </p:cNvPicPr>
          <p:nvPr/>
        </p:nvPicPr>
        <p:blipFill>
          <a:blip r:embed="rId3"/>
          <a:stretch>
            <a:fillRect/>
          </a:stretch>
        </p:blipFill>
        <p:spPr>
          <a:xfrm>
            <a:off x="4283968" y="1393023"/>
            <a:ext cx="3241946" cy="5157217"/>
          </a:xfrm>
          <a:prstGeom prst="rect">
            <a:avLst/>
          </a:prstGeom>
        </p:spPr>
      </p:pic>
      <p:sp>
        <p:nvSpPr>
          <p:cNvPr id="5" name="矩形 4"/>
          <p:cNvSpPr/>
          <p:nvPr/>
        </p:nvSpPr>
        <p:spPr>
          <a:xfrm>
            <a:off x="467549" y="1412156"/>
            <a:ext cx="3461957" cy="585955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lnSpc>
                <a:spcPct val="150000"/>
              </a:lnSpc>
              <a:buFont typeface="Arial" panose="020B0604020202090204" pitchFamily="34" charset="0"/>
              <a:buChar char="•"/>
            </a:pPr>
            <a:r>
              <a:rPr lang="zh-CN" altLang="en-US" dirty="0">
                <a:solidFill>
                  <a:srgbClr val="161513"/>
                </a:solidFill>
                <a:latin typeface="Times New Roman" panose="02020503050405090304" pitchFamily="18" charset="0"/>
                <a:ea typeface="楷体-简" panose="02010600040101010101" pitchFamily="2" charset="-122"/>
              </a:rPr>
              <a:t>名字的由来：</a:t>
            </a:r>
            <a:endParaRPr lang="en-US" altLang="zh-CN" dirty="0">
              <a:solidFill>
                <a:srgbClr val="161513"/>
              </a:solidFill>
              <a:latin typeface="Times New Roman" panose="02020503050405090304" pitchFamily="18" charset="0"/>
              <a:ea typeface="楷体-简" panose="02010600040101010101" pitchFamily="2" charset="-122"/>
            </a:endParaRPr>
          </a:p>
          <a:p>
            <a:pPr algn="l">
              <a:lnSpc>
                <a:spcPct val="150000"/>
              </a:lnSpc>
            </a:pPr>
            <a:r>
              <a:rPr lang="en-US" altLang="zh-CN" dirty="0">
                <a:solidFill>
                  <a:srgbClr val="161513"/>
                </a:solidFill>
                <a:latin typeface="Times New Roman" panose="02020503050405090304" pitchFamily="18" charset="0"/>
                <a:ea typeface="楷体-简" panose="02010600040101010101" pitchFamily="2" charset="-122"/>
              </a:rPr>
              <a:t>Java</a:t>
            </a:r>
            <a:r>
              <a:rPr lang="zh-CN" altLang="en-US" dirty="0">
                <a:solidFill>
                  <a:srgbClr val="161513"/>
                </a:solidFill>
                <a:latin typeface="Times New Roman" panose="02020503050405090304" pitchFamily="18" charset="0"/>
                <a:ea typeface="楷体-简" panose="02010600040101010101" pitchFamily="2" charset="-122"/>
              </a:rPr>
              <a:t>得名于印度尼西亚爪哇岛，</a:t>
            </a:r>
            <a:endParaRPr lang="en-US" altLang="zh-CN" dirty="0">
              <a:solidFill>
                <a:srgbClr val="161513"/>
              </a:solidFill>
              <a:latin typeface="Times New Roman" panose="02020503050405090304" pitchFamily="18" charset="0"/>
              <a:ea typeface="楷体-简" panose="02010600040101010101" pitchFamily="2" charset="-122"/>
            </a:endParaRPr>
          </a:p>
          <a:p>
            <a:pPr algn="l">
              <a:lnSpc>
                <a:spcPct val="150000"/>
              </a:lnSpc>
            </a:pPr>
            <a:r>
              <a:rPr lang="zh-CN" altLang="en-US" dirty="0">
                <a:solidFill>
                  <a:srgbClr val="161513"/>
                </a:solidFill>
                <a:latin typeface="Times New Roman" panose="02020503050405090304" pitchFamily="18" charset="0"/>
                <a:ea typeface="楷体-简" panose="02010600040101010101" pitchFamily="2" charset="-122"/>
              </a:rPr>
              <a:t>这个地方盛产咖啡</a:t>
            </a:r>
            <a:endParaRPr lang="en-US" altLang="zh-CN" dirty="0">
              <a:solidFill>
                <a:srgbClr val="161513"/>
              </a:solidFill>
              <a:latin typeface="Times New Roman" panose="02020503050405090304" pitchFamily="18" charset="0"/>
              <a:ea typeface="楷体-简" panose="02010600040101010101" pitchFamily="2" charset="-122"/>
            </a:endParaRPr>
          </a:p>
          <a:p>
            <a:pPr algn="l">
              <a:lnSpc>
                <a:spcPct val="150000"/>
              </a:lnSpc>
            </a:pPr>
            <a:endParaRPr lang="en-US" altLang="zh-CN" dirty="0">
              <a:solidFill>
                <a:srgbClr val="161513"/>
              </a:solidFill>
              <a:latin typeface="Times New Roman" panose="02020503050405090304" pitchFamily="18" charset="0"/>
              <a:ea typeface="楷体-简" panose="02010600040101010101" pitchFamily="2" charset="-122"/>
            </a:endParaRPr>
          </a:p>
          <a:p>
            <a:pPr algn="l">
              <a:lnSpc>
                <a:spcPct val="150000"/>
              </a:lnSpc>
            </a:pPr>
            <a:r>
              <a:rPr lang="zh-CN" altLang="en-US" dirty="0">
                <a:solidFill>
                  <a:srgbClr val="161513"/>
                </a:solidFill>
                <a:latin typeface="Times New Roman" panose="02020503050405090304" pitchFamily="18" charset="0"/>
                <a:ea typeface="楷体-简" panose="02010600040101010101" pitchFamily="2" charset="-122"/>
              </a:rPr>
              <a:t>每半年更新一个版本</a:t>
            </a:r>
            <a:endParaRPr lang="en-US" altLang="zh-CN" dirty="0">
              <a:solidFill>
                <a:srgbClr val="161513"/>
              </a:solidFill>
              <a:latin typeface="Times New Roman" panose="02020503050405090304" pitchFamily="18" charset="0"/>
              <a:ea typeface="楷体-简" panose="02010600040101010101" pitchFamily="2" charset="-122"/>
            </a:endParaRPr>
          </a:p>
          <a:p>
            <a:pPr>
              <a:lnSpc>
                <a:spcPct val="150000"/>
              </a:lnSpc>
            </a:pPr>
            <a:r>
              <a:rPr lang="zh-CN" altLang="en-US" b="1" dirty="0">
                <a:solidFill>
                  <a:srgbClr val="161513"/>
                </a:solidFill>
                <a:latin typeface="Times New Roman" panose="02020503050405090304" pitchFamily="18" charset="0"/>
                <a:ea typeface="楷体-简" panose="02010600040101010101" pitchFamily="2" charset="-122"/>
                <a:sym typeface="+mn-ea"/>
              </a:rPr>
              <a:t>最新版本：</a:t>
            </a:r>
            <a:r>
              <a:rPr lang="en-US" altLang="zh-CN" b="1" dirty="0">
                <a:solidFill>
                  <a:srgbClr val="161513"/>
                </a:solidFill>
                <a:latin typeface="Times New Roman" panose="02020503050405090304" pitchFamily="18" charset="0"/>
                <a:ea typeface="楷体-简" panose="02010600040101010101" pitchFamily="2" charset="-122"/>
                <a:sym typeface="+mn-ea"/>
              </a:rPr>
              <a:t>JDK</a:t>
            </a:r>
            <a:r>
              <a:rPr lang="zh-CN" altLang="en-US" b="1" dirty="0">
                <a:solidFill>
                  <a:srgbClr val="161513"/>
                </a:solidFill>
                <a:latin typeface="Times New Roman" panose="02020503050405090304" pitchFamily="18" charset="0"/>
                <a:ea typeface="楷体-简" panose="02010600040101010101" pitchFamily="2" charset="-122"/>
                <a:sym typeface="+mn-ea"/>
              </a:rPr>
              <a:t> </a:t>
            </a:r>
            <a:r>
              <a:rPr lang="en-US" altLang="zh-CN" b="1" dirty="0">
                <a:solidFill>
                  <a:srgbClr val="161513"/>
                </a:solidFill>
                <a:latin typeface="Times New Roman" panose="02020503050405090304" pitchFamily="18" charset="0"/>
                <a:ea typeface="楷体-简" panose="02010600040101010101" pitchFamily="2" charset="-122"/>
                <a:sym typeface="+mn-ea"/>
              </a:rPr>
              <a:t>25</a:t>
            </a:r>
          </a:p>
          <a:p>
            <a:pPr>
              <a:lnSpc>
                <a:spcPct val="150000"/>
              </a:lnSpc>
            </a:pPr>
            <a:r>
              <a:rPr lang="en" altLang="zh-CN" dirty="0"/>
              <a:t>JDK 25 is the </a:t>
            </a:r>
            <a:r>
              <a:rPr lang="en" altLang="zh-CN" dirty="0">
                <a:solidFill>
                  <a:schemeClr val="accent5">
                    <a:lumMod val="50000"/>
                  </a:schemeClr>
                </a:solidFill>
              </a:rPr>
              <a:t>latest </a:t>
            </a:r>
            <a:r>
              <a:rPr lang="en" altLang="zh-CN" i="1" dirty="0">
                <a:solidFill>
                  <a:schemeClr val="accent5">
                    <a:lumMod val="50000"/>
                  </a:schemeClr>
                </a:solidFill>
              </a:rPr>
              <a:t>Long-Term Support (LTS)</a:t>
            </a:r>
            <a:r>
              <a:rPr lang="en" altLang="zh-CN" dirty="0"/>
              <a:t> release of the Java SE Platform.</a:t>
            </a:r>
            <a:endParaRPr lang="en" altLang="zh-CN" b="1" dirty="0">
              <a:solidFill>
                <a:srgbClr val="161513"/>
              </a:solidFill>
              <a:latin typeface="Times New Roman" panose="02020503050405090304" pitchFamily="18" charset="0"/>
              <a:ea typeface="楷体-简" panose="02010600040101010101" pitchFamily="2" charset="-122"/>
              <a:sym typeface="+mn-ea"/>
            </a:endParaRPr>
          </a:p>
          <a:p>
            <a:pPr>
              <a:lnSpc>
                <a:spcPct val="150000"/>
              </a:lnSpc>
            </a:pPr>
            <a:endParaRPr lang="en" altLang="zh-CN" b="1" dirty="0">
              <a:solidFill>
                <a:srgbClr val="161513"/>
              </a:solidFill>
              <a:latin typeface="Times New Roman" panose="02020503050405090304" pitchFamily="18" charset="0"/>
              <a:ea typeface="楷体-简" panose="02010600040101010101" pitchFamily="2" charset="-122"/>
              <a:sym typeface="+mn-ea"/>
            </a:endParaRPr>
          </a:p>
          <a:p>
            <a:pPr>
              <a:lnSpc>
                <a:spcPct val="150000"/>
              </a:lnSpc>
            </a:pPr>
            <a:r>
              <a:rPr lang="en" altLang="zh-CN" b="1" dirty="0">
                <a:solidFill>
                  <a:srgbClr val="161513"/>
                </a:solidFill>
                <a:latin typeface="Times New Roman" panose="02020503050405090304" pitchFamily="18" charset="0"/>
                <a:ea typeface="楷体-简" panose="02010600040101010101" pitchFamily="2" charset="-122"/>
                <a:sym typeface="+mn-ea"/>
              </a:rPr>
              <a:t>https://</a:t>
            </a:r>
            <a:r>
              <a:rPr lang="en" altLang="zh-CN" b="1" dirty="0" err="1">
                <a:solidFill>
                  <a:srgbClr val="161513"/>
                </a:solidFill>
                <a:latin typeface="Times New Roman" panose="02020503050405090304" pitchFamily="18" charset="0"/>
                <a:ea typeface="楷体-简" panose="02010600040101010101" pitchFamily="2" charset="-122"/>
                <a:sym typeface="+mn-ea"/>
              </a:rPr>
              <a:t>www.oracle.com</a:t>
            </a:r>
            <a:r>
              <a:rPr lang="en" altLang="zh-CN" b="1" dirty="0">
                <a:solidFill>
                  <a:srgbClr val="161513"/>
                </a:solidFill>
                <a:latin typeface="Times New Roman" panose="02020503050405090304" pitchFamily="18" charset="0"/>
                <a:ea typeface="楷体-简" panose="02010600040101010101" pitchFamily="2" charset="-122"/>
                <a:sym typeface="+mn-ea"/>
              </a:rPr>
              <a:t>/</a:t>
            </a:r>
            <a:r>
              <a:rPr lang="en" altLang="zh-CN" b="1" dirty="0" err="1">
                <a:solidFill>
                  <a:srgbClr val="161513"/>
                </a:solidFill>
                <a:latin typeface="Times New Roman" panose="02020503050405090304" pitchFamily="18" charset="0"/>
                <a:ea typeface="楷体-简" panose="02010600040101010101" pitchFamily="2" charset="-122"/>
                <a:sym typeface="+mn-ea"/>
              </a:rPr>
              <a:t>cn</a:t>
            </a:r>
            <a:r>
              <a:rPr lang="en" altLang="zh-CN" b="1" dirty="0">
                <a:solidFill>
                  <a:srgbClr val="161513"/>
                </a:solidFill>
                <a:latin typeface="Times New Roman" panose="02020503050405090304" pitchFamily="18" charset="0"/>
                <a:ea typeface="楷体-简" panose="02010600040101010101" pitchFamily="2" charset="-122"/>
                <a:sym typeface="+mn-ea"/>
              </a:rPr>
              <a:t>/java/technologies/downloads/#jdk25-windows</a:t>
            </a:r>
            <a:endParaRPr lang="en-US" altLang="zh-CN" b="1" dirty="0">
              <a:solidFill>
                <a:srgbClr val="161513"/>
              </a:solidFill>
              <a:latin typeface="Times New Roman" panose="02020503050405090304" pitchFamily="18" charset="0"/>
              <a:ea typeface="楷体-简" panose="02010600040101010101" pitchFamily="2" charset="-122"/>
              <a:sym typeface="+mn-ea"/>
            </a:endParaRPr>
          </a:p>
          <a:p>
            <a:pPr algn="l">
              <a:lnSpc>
                <a:spcPct val="150000"/>
              </a:lnSpc>
            </a:pPr>
            <a:endParaRPr lang="en-US" altLang="zh-CN" b="1" dirty="0">
              <a:solidFill>
                <a:srgbClr val="161513"/>
              </a:solidFill>
              <a:latin typeface="Times New Roman" panose="02020503050405090304" pitchFamily="18" charset="0"/>
              <a:ea typeface="楷体-简" panose="02010600040101010101" pitchFamily="2" charset="-122"/>
            </a:endParaRPr>
          </a:p>
        </p:txBody>
      </p:sp>
      <p:pic>
        <p:nvPicPr>
          <p:cNvPr id="2" name="图片 1"/>
          <p:cNvPicPr>
            <a:picLocks noChangeAspect="1"/>
          </p:cNvPicPr>
          <p:nvPr/>
        </p:nvPicPr>
        <p:blipFill>
          <a:blip r:embed="rId4"/>
          <a:stretch>
            <a:fillRect/>
          </a:stretch>
        </p:blipFill>
        <p:spPr>
          <a:xfrm>
            <a:off x="7880376" y="34710"/>
            <a:ext cx="1345504" cy="17067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p:spPr>
        <p:txBody>
          <a:bodyPr/>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1.2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的工作原理</a:t>
            </a:r>
          </a:p>
        </p:txBody>
      </p:sp>
      <p:sp>
        <p:nvSpPr>
          <p:cNvPr id="8196" name="Rectangle 5"/>
          <p:cNvSpPr>
            <a:spLocks noChangeArrowheads="1"/>
          </p:cNvSpPr>
          <p:nvPr/>
        </p:nvSpPr>
        <p:spPr bwMode="auto">
          <a:xfrm>
            <a:off x="395288" y="1340768"/>
            <a:ext cx="8748712"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90204" pitchFamily="34" charset="0"/>
                <a:ea typeface="宋体" pitchFamily="2" charset="-122"/>
              </a:defRPr>
            </a:lvl1pPr>
            <a:lvl2pPr marL="914400" indent="-457200">
              <a:defRPr>
                <a:solidFill>
                  <a:schemeClr val="tx1"/>
                </a:solidFill>
                <a:latin typeface="Arial" panose="020B0604020202090204" pitchFamily="34" charset="0"/>
                <a:ea typeface="宋体" pitchFamily="2" charset="-122"/>
              </a:defRPr>
            </a:lvl2pPr>
            <a:lvl3pPr marL="1371600" indent="-457200">
              <a:defRPr>
                <a:solidFill>
                  <a:schemeClr val="tx1"/>
                </a:solidFill>
                <a:latin typeface="Arial" panose="020B0604020202090204" pitchFamily="34" charset="0"/>
                <a:ea typeface="宋体" pitchFamily="2" charset="-122"/>
              </a:defRPr>
            </a:lvl3pPr>
            <a:lvl4pPr marL="1828800" indent="-457200">
              <a:defRPr>
                <a:solidFill>
                  <a:schemeClr val="tx1"/>
                </a:solidFill>
                <a:latin typeface="Arial" panose="020B0604020202090204" pitchFamily="34" charset="0"/>
                <a:ea typeface="宋体" pitchFamily="2" charset="-122"/>
              </a:defRPr>
            </a:lvl4pPr>
            <a:lvl5pPr marL="2286000" indent="-457200">
              <a:defRPr>
                <a:solidFill>
                  <a:schemeClr val="tx1"/>
                </a:solidFill>
                <a:latin typeface="Arial" panose="020B0604020202090204" pitchFamily="34" charset="0"/>
                <a:ea typeface="宋体" pitchFamily="2" charset="-122"/>
              </a:defRPr>
            </a:lvl5pPr>
            <a:lvl6pPr marL="2743200" indent="-4572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3200400" indent="-4572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657600" indent="-4572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4114800" indent="-4572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endParaRPr kumimoji="1" lang="en-US" altLang="zh-CN" sz="2400" b="1" dirty="0">
              <a:latin typeface="Times New Roman" panose="02020503050405090304" pitchFamily="18" charset="0"/>
              <a:ea typeface="Kaiti SC Regular" panose="02010600040101010101" charset="-122"/>
              <a:cs typeface="Kaiti SC Regular" panose="02010600040101010101" charset="-122"/>
            </a:endParaRPr>
          </a:p>
          <a:p>
            <a:pPr eaLnBrk="1" hangingPunct="1">
              <a:buFontTx/>
              <a:buChar char="•"/>
            </a:pPr>
            <a:r>
              <a:rPr kumimoji="1" lang="zh-CN" altLang="en-US" sz="2400" b="1" dirty="0">
                <a:latin typeface="Times New Roman" panose="02020503050405090304" pitchFamily="18" charset="0"/>
                <a:ea typeface="Kaiti SC Regular" panose="02010600040101010101" charset="-122"/>
                <a:cs typeface="Kaiti SC Regular" panose="02010600040101010101" charset="-122"/>
              </a:rPr>
              <a:t>编译程序：将</a:t>
            </a:r>
            <a:r>
              <a:rPr kumimoji="1" lang="en-US" altLang="zh-CN" sz="2400" b="1" dirty="0">
                <a:latin typeface="Times New Roman" panose="02020503050405090304" pitchFamily="18" charset="0"/>
                <a:ea typeface="Kaiti SC Regular" panose="02010600040101010101" charset="-122"/>
                <a:cs typeface="Kaiti SC Regular" panose="02010600040101010101" charset="-122"/>
              </a:rPr>
              <a:t>Java</a:t>
            </a:r>
            <a:r>
              <a:rPr kumimoji="1" lang="zh-CN" altLang="en-US" sz="2400" b="1" dirty="0">
                <a:latin typeface="Times New Roman" panose="02020503050405090304" pitchFamily="18" charset="0"/>
                <a:ea typeface="Kaiti SC Regular" panose="02010600040101010101" charset="-122"/>
                <a:cs typeface="Kaiti SC Regular" panose="02010600040101010101" charset="-122"/>
              </a:rPr>
              <a:t>源程序翻译为字节码</a:t>
            </a:r>
            <a:r>
              <a:rPr kumimoji="1" lang="en-US" altLang="zh-CN" sz="2400" b="1" dirty="0">
                <a:latin typeface="Times New Roman" panose="02020503050405090304" pitchFamily="18" charset="0"/>
                <a:ea typeface="Kaiti SC Regular" panose="02010600040101010101" charset="-122"/>
                <a:cs typeface="Kaiti SC Regular" panose="02010600040101010101" charset="-122"/>
              </a:rPr>
              <a:t>(bytecode)</a:t>
            </a:r>
            <a:r>
              <a:rPr kumimoji="1" lang="zh-CN" altLang="en-US" sz="2400" b="1" dirty="0">
                <a:latin typeface="Times New Roman" panose="02020503050405090304" pitchFamily="18" charset="0"/>
                <a:ea typeface="Kaiti SC Regular" panose="02010600040101010101" charset="-122"/>
                <a:cs typeface="Kaiti SC Regular" panose="02010600040101010101" charset="-122"/>
              </a:rPr>
              <a:t>程序</a:t>
            </a:r>
            <a:r>
              <a:rPr kumimoji="1" lang="en-US" altLang="zh-CN" sz="2400" b="1" dirty="0">
                <a:latin typeface="Times New Roman" panose="02020503050405090304" pitchFamily="18" charset="0"/>
                <a:ea typeface="Kaiti SC Regular" panose="02010600040101010101" charset="-122"/>
                <a:cs typeface="Kaiti SC Regular" panose="02010600040101010101" charset="-122"/>
              </a:rPr>
              <a:t>;</a:t>
            </a:r>
          </a:p>
          <a:p>
            <a:pPr eaLnBrk="1" hangingPunct="1">
              <a:buFontTx/>
              <a:buChar char="•"/>
            </a:pPr>
            <a:r>
              <a:rPr kumimoji="1" lang="zh-CN" altLang="en-US" sz="2400" b="1" dirty="0">
                <a:latin typeface="Times New Roman" panose="02020503050405090304" pitchFamily="18" charset="0"/>
                <a:ea typeface="Kaiti SC Regular" panose="02010600040101010101" charset="-122"/>
                <a:cs typeface="Kaiti SC Regular" panose="02010600040101010101" charset="-122"/>
              </a:rPr>
              <a:t>解释程序：</a:t>
            </a:r>
            <a:r>
              <a:rPr kumimoji="1" lang="en-US" altLang="zh-CN" sz="2400" b="1" dirty="0">
                <a:latin typeface="Times New Roman" panose="02020503050405090304" pitchFamily="18" charset="0"/>
                <a:ea typeface="Kaiti SC Regular" panose="02010600040101010101" charset="-122"/>
                <a:cs typeface="Kaiti SC Regular" panose="02010600040101010101" charset="-122"/>
              </a:rPr>
              <a:t>Java</a:t>
            </a:r>
            <a:r>
              <a:rPr kumimoji="1" lang="zh-CN" altLang="en-US" sz="2400" b="1" dirty="0">
                <a:latin typeface="Times New Roman" panose="02020503050405090304" pitchFamily="18" charset="0"/>
                <a:ea typeface="Kaiti SC Regular" panose="02010600040101010101" charset="-122"/>
                <a:cs typeface="Kaiti SC Regular" panose="02010600040101010101" charset="-122"/>
              </a:rPr>
              <a:t>虚拟机分析并运行字节码程序。</a:t>
            </a:r>
            <a:endParaRPr kumimoji="1" lang="en-US" altLang="zh-CN" sz="2400" b="1" dirty="0">
              <a:latin typeface="Times New Roman" panose="02020503050405090304" pitchFamily="18" charset="0"/>
              <a:ea typeface="Kaiti SC Regular" panose="02010600040101010101" charset="-122"/>
              <a:cs typeface="Kaiti SC Regular" panose="02010600040101010101" charset="-122"/>
            </a:endParaRPr>
          </a:p>
          <a:p>
            <a:pPr eaLnBrk="1" hangingPunct="1">
              <a:buFontTx/>
              <a:buChar char="•"/>
            </a:pPr>
            <a:endParaRPr kumimoji="1" lang="en-US" altLang="zh-CN" sz="2400" b="1" dirty="0">
              <a:latin typeface="Times New Roman" panose="02020503050405090304" pitchFamily="18" charset="0"/>
              <a:ea typeface="Kaiti SC Regular" panose="02010600040101010101" charset="-122"/>
              <a:cs typeface="Kaiti SC Regular" panose="02010600040101010101" charset="-122"/>
            </a:endParaRPr>
          </a:p>
          <a:p>
            <a:pPr latinLnBrk="1"/>
            <a:r>
              <a:rPr lang="en-US" altLang="zh-CN" sz="2400" b="1" dirty="0">
                <a:latin typeface="Times New Roman" panose="02020503050405090304" pitchFamily="18" charset="0"/>
                <a:ea typeface="Kaiti SC Regular" panose="02010600040101010101" charset="-122"/>
                <a:cs typeface="Kaiti SC Regular" panose="02010600040101010101" charset="-122"/>
              </a:rPr>
              <a:t>Java</a:t>
            </a:r>
            <a:r>
              <a:rPr lang="zh-CN" altLang="en-US" sz="2400" b="1" dirty="0">
                <a:latin typeface="Times New Roman" panose="02020503050405090304" pitchFamily="18" charset="0"/>
                <a:ea typeface="Kaiti SC Regular" panose="02010600040101010101" charset="-122"/>
                <a:cs typeface="Kaiti SC Regular" panose="02010600040101010101" charset="-122"/>
              </a:rPr>
              <a:t>字节码的执行有两种方式：</a:t>
            </a:r>
            <a:endParaRPr lang="zh-CN" altLang="en-US" sz="2400" dirty="0">
              <a:latin typeface="Times New Roman" panose="02020503050405090304" pitchFamily="18" charset="0"/>
              <a:ea typeface="Kaiti SC Regular" panose="02010600040101010101" charset="-122"/>
              <a:cs typeface="Kaiti SC Regular" panose="02010600040101010101" charset="-122"/>
            </a:endParaRPr>
          </a:p>
          <a:p>
            <a:pPr latinLnBrk="1"/>
            <a:r>
              <a:rPr lang="en-US" altLang="zh-CN" sz="2400" dirty="0">
                <a:latin typeface="Times New Roman" panose="02020503050405090304" pitchFamily="18" charset="0"/>
                <a:ea typeface="Kaiti SC Regular" panose="02010600040101010101" charset="-122"/>
                <a:cs typeface="Kaiti SC Regular" panose="02010600040101010101" charset="-122"/>
              </a:rPr>
              <a:t>1</a:t>
            </a:r>
            <a:r>
              <a:rPr lang="zh-CN" altLang="en-US" sz="2400" dirty="0">
                <a:latin typeface="Times New Roman" panose="02020503050405090304" pitchFamily="18" charset="0"/>
                <a:ea typeface="Kaiti SC Regular" panose="02010600040101010101" charset="-122"/>
                <a:cs typeface="Kaiti SC Regular" panose="02010600040101010101" charset="-122"/>
              </a:rPr>
              <a:t>）即时编译方式：解释器先将字节编译成机器码，然后再执行该机器码。</a:t>
            </a:r>
            <a:r>
              <a:rPr kumimoji="1" lang="zh-CN" altLang="en-US" sz="2400" dirty="0">
                <a:latin typeface="Times New Roman" panose="02020503050405090304" pitchFamily="18" charset="0"/>
                <a:ea typeface="Kaiti SC Regular" panose="02010600040101010101" charset="-122"/>
                <a:cs typeface="Kaiti SC Regular" panose="02010600040101010101" charset="-122"/>
              </a:rPr>
              <a:t>将运行频率很高的字节码直接编译为机器指令执行以提高性能。</a:t>
            </a:r>
            <a:endParaRPr lang="zh-CN" altLang="en-US" sz="2400" dirty="0">
              <a:latin typeface="Times New Roman" panose="02020503050405090304" pitchFamily="18" charset="0"/>
              <a:ea typeface="Kaiti SC Regular" panose="02010600040101010101" charset="-122"/>
              <a:cs typeface="Kaiti SC Regular" panose="02010600040101010101" charset="-122"/>
            </a:endParaRPr>
          </a:p>
          <a:p>
            <a:pPr latinLnBrk="1"/>
            <a:r>
              <a:rPr lang="en-US" altLang="zh-CN" sz="2400" dirty="0">
                <a:latin typeface="Times New Roman" panose="02020503050405090304" pitchFamily="18" charset="0"/>
                <a:ea typeface="Kaiti SC Regular" panose="02010600040101010101" charset="-122"/>
                <a:cs typeface="Kaiti SC Regular" panose="02010600040101010101" charset="-122"/>
              </a:rPr>
              <a:t>2</a:t>
            </a:r>
            <a:r>
              <a:rPr lang="zh-CN" altLang="en-US" sz="2400" dirty="0">
                <a:latin typeface="Times New Roman" panose="02020503050405090304" pitchFamily="18" charset="0"/>
                <a:ea typeface="Kaiti SC Regular" panose="02010600040101010101" charset="-122"/>
                <a:cs typeface="Kaiti SC Regular" panose="02010600040101010101" charset="-122"/>
              </a:rPr>
              <a:t>）解释执行方式：解释器通过每次解释并执行一小段代码来完成</a:t>
            </a:r>
            <a:r>
              <a:rPr lang="en-US" altLang="zh-CN" sz="2400" dirty="0">
                <a:latin typeface="Times New Roman" panose="02020503050405090304" pitchFamily="18" charset="0"/>
                <a:ea typeface="Kaiti SC Regular" panose="02010600040101010101" charset="-122"/>
                <a:cs typeface="Kaiti SC Regular" panose="02010600040101010101" charset="-122"/>
              </a:rPr>
              <a:t>java</a:t>
            </a:r>
            <a:r>
              <a:rPr lang="zh-CN" altLang="en-US" sz="2400" dirty="0">
                <a:latin typeface="Times New Roman" panose="02020503050405090304" pitchFamily="18" charset="0"/>
                <a:ea typeface="Kaiti SC Regular" panose="02010600040101010101" charset="-122"/>
                <a:cs typeface="Kaiti SC Regular" panose="02010600040101010101" charset="-122"/>
              </a:rPr>
              <a:t>字节码程序的所有操作。</a:t>
            </a:r>
            <a:endParaRPr kumimoji="1" lang="en-US" altLang="zh-CN" sz="2400" b="1" dirty="0">
              <a:latin typeface="Times New Roman" panose="02020503050405090304" pitchFamily="18" charset="0"/>
              <a:ea typeface="Kaiti SC Regular" panose="02010600040101010101" charset="-122"/>
              <a:cs typeface="Kaiti SC Regular" panose="02010600040101010101" charset="-122"/>
            </a:endParaRPr>
          </a:p>
          <a:p>
            <a:pPr algn="ctr" eaLnBrk="1" hangingPunct="1"/>
            <a:r>
              <a:rPr kumimoji="1" lang="zh-CN" altLang="en-US" sz="2400" b="1" dirty="0">
                <a:solidFill>
                  <a:srgbClr val="7030A0"/>
                </a:solidFill>
                <a:latin typeface="Times New Roman" panose="02020503050405090304" pitchFamily="18" charset="0"/>
                <a:ea typeface="Kaiti SC Regular" panose="02010600040101010101" charset="-122"/>
                <a:cs typeface="Kaiti SC Regular" panose="02010600040101010101" charset="-122"/>
              </a:rPr>
              <a:t>一次编写，处处运行</a:t>
            </a:r>
          </a:p>
          <a:p>
            <a:pPr algn="ctr" eaLnBrk="1" hangingPunct="1"/>
            <a:r>
              <a:rPr kumimoji="1" lang="en-US" altLang="zh-CN" sz="2400" b="1" dirty="0">
                <a:latin typeface="Times New Roman" panose="02020503050405090304" pitchFamily="18" charset="0"/>
                <a:ea typeface="Kaiti SC Regular" panose="02010600040101010101" charset="-122"/>
                <a:cs typeface="Kaiti SC Regular" panose="02010600040101010101" charset="-122"/>
              </a:rPr>
              <a:t>Write </a:t>
            </a:r>
            <a:r>
              <a:rPr kumimoji="1" lang="en-US" altLang="zh-CN" sz="2400" b="1" dirty="0" err="1">
                <a:latin typeface="Times New Roman" panose="02020503050405090304" pitchFamily="18" charset="0"/>
                <a:ea typeface="Kaiti SC Regular" panose="02010600040101010101" charset="-122"/>
                <a:cs typeface="Kaiti SC Regular" panose="02010600040101010101" charset="-122"/>
              </a:rPr>
              <a:t>once,run</a:t>
            </a:r>
            <a:r>
              <a:rPr kumimoji="1" lang="en-US" altLang="zh-CN" sz="2400" b="1" dirty="0">
                <a:latin typeface="Times New Roman" panose="02020503050405090304" pitchFamily="18" charset="0"/>
                <a:ea typeface="Kaiti SC Regular" panose="02010600040101010101" charset="-122"/>
                <a:cs typeface="Kaiti SC Regular" panose="02010600040101010101" charset="-122"/>
              </a:rPr>
              <a:t> anywhere!</a:t>
            </a:r>
          </a:p>
        </p:txBody>
      </p:sp>
      <p:pic>
        <p:nvPicPr>
          <p:cNvPr id="2" name="图片 1"/>
          <p:cNvPicPr>
            <a:picLocks noChangeAspect="1"/>
          </p:cNvPicPr>
          <p:nvPr/>
        </p:nvPicPr>
        <p:blipFill>
          <a:blip r:embed="rId3"/>
          <a:stretch>
            <a:fillRect/>
          </a:stretch>
        </p:blipFill>
        <p:spPr>
          <a:xfrm>
            <a:off x="827584" y="5855939"/>
            <a:ext cx="7112000" cy="787400"/>
          </a:xfrm>
          <a:prstGeom prst="rect">
            <a:avLst/>
          </a:prstGeom>
        </p:spPr>
      </p:pic>
      <p:sp>
        <p:nvSpPr>
          <p:cNvPr id="4" name="矩形 3"/>
          <p:cNvSpPr/>
          <p:nvPr/>
        </p:nvSpPr>
        <p:spPr bwMode="auto">
          <a:xfrm>
            <a:off x="6012160" y="6381328"/>
            <a:ext cx="1080120" cy="202034"/>
          </a:xfrm>
          <a:prstGeom prst="rect">
            <a:avLst/>
          </a:prstGeom>
          <a:no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baseline="0">
              <a:ln>
                <a:noFill/>
              </a:ln>
              <a:solidFill>
                <a:schemeClr val="tx1"/>
              </a:solidFill>
              <a:effectLst/>
              <a:latin typeface="Kaiti SC Regular" panose="02010600040101010101" charset="-122"/>
              <a:ea typeface="Kaiti SC Regular" panose="0201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内容占位符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0825" y="23813"/>
            <a:ext cx="8229600" cy="4125912"/>
          </a:xfrm>
        </p:spPr>
      </p:pic>
      <p:sp>
        <p:nvSpPr>
          <p:cNvPr id="2" name="矩形 1"/>
          <p:cNvSpPr/>
          <p:nvPr/>
        </p:nvSpPr>
        <p:spPr bwMode="auto">
          <a:xfrm>
            <a:off x="5004048" y="3645024"/>
            <a:ext cx="3672408" cy="648072"/>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
        <p:nvSpPr>
          <p:cNvPr id="10244" name="文本框 4"/>
          <p:cNvSpPr txBox="1">
            <a:spLocks noChangeArrowheads="1"/>
          </p:cNvSpPr>
          <p:nvPr/>
        </p:nvSpPr>
        <p:spPr bwMode="auto">
          <a:xfrm>
            <a:off x="171004" y="3789040"/>
            <a:ext cx="8722171"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a:spcBef>
                <a:spcPct val="0"/>
              </a:spcBef>
              <a:buFont typeface="Wingdings" panose="05000000000000000000" pitchFamily="2" charset="2"/>
              <a:buChar char="Ø"/>
            </a:pPr>
            <a:r>
              <a:rPr lang="en-US" altLang="zh-CN" sz="2000" b="1"/>
              <a:t>C++</a:t>
            </a:r>
            <a:r>
              <a:rPr lang="zh-CN" altLang="en-US" sz="2000" b="1"/>
              <a:t>中没有前端编译器和后端编译器之分</a:t>
            </a:r>
            <a:r>
              <a:rPr lang="zh-CN" altLang="en-US" sz="2000"/>
              <a:t>，其</a:t>
            </a:r>
            <a:r>
              <a:rPr lang="zh-CN" altLang="en-US" sz="2000" b="1" u="sng"/>
              <a:t>有特点的是</a:t>
            </a:r>
            <a:r>
              <a:rPr lang="zh-CN" altLang="en-US" sz="2000"/>
              <a:t>链接器这一块，分为</a:t>
            </a:r>
            <a:r>
              <a:rPr lang="zh-CN" altLang="en-US" sz="2000" b="1"/>
              <a:t>静态链接</a:t>
            </a:r>
            <a:r>
              <a:rPr lang="en-US" altLang="zh-CN" sz="2000"/>
              <a:t>(</a:t>
            </a:r>
            <a:r>
              <a:rPr lang="zh-CN" altLang="en-US" sz="2000"/>
              <a:t>编译时链接</a:t>
            </a:r>
            <a:r>
              <a:rPr lang="en-US" altLang="zh-CN" sz="2000"/>
              <a:t>)</a:t>
            </a:r>
            <a:r>
              <a:rPr lang="zh-CN" altLang="en-US" sz="2000"/>
              <a:t>和</a:t>
            </a:r>
            <a:r>
              <a:rPr lang="zh-CN" altLang="en-US" sz="2000" b="1"/>
              <a:t>动态链接</a:t>
            </a:r>
            <a:r>
              <a:rPr lang="en-US" altLang="zh-CN" sz="2000" b="1"/>
              <a:t>(</a:t>
            </a:r>
            <a:r>
              <a:rPr lang="zh-CN" altLang="en-US" sz="2000" b="1"/>
              <a:t>运行时链接</a:t>
            </a:r>
            <a:r>
              <a:rPr lang="en-US" altLang="zh-CN" sz="2000" b="1"/>
              <a:t>)</a:t>
            </a:r>
            <a:r>
              <a:rPr lang="zh-CN" altLang="en-US" sz="2000"/>
              <a:t>。 </a:t>
            </a:r>
            <a:br>
              <a:rPr lang="zh-CN" altLang="en-US" sz="2000"/>
            </a:br>
            <a:r>
              <a:rPr lang="zh-CN" altLang="en-US" sz="2000"/>
              <a:t> </a:t>
            </a:r>
            <a:r>
              <a:rPr lang="zh-CN" altLang="en-US" sz="2000" b="1"/>
              <a:t>静态函数库</a:t>
            </a:r>
            <a:r>
              <a:rPr lang="zh-CN" altLang="en-US" sz="2000"/>
              <a:t>：</a:t>
            </a:r>
            <a:r>
              <a:rPr lang="en-US" altLang="zh-CN" sz="2000"/>
              <a:t>(xx.a(Linux) , xx.lib(Windows)), </a:t>
            </a:r>
            <a:br>
              <a:rPr lang="zh-CN" altLang="en-US" sz="2000"/>
            </a:br>
            <a:r>
              <a:rPr lang="zh-CN" altLang="en-US" sz="2000"/>
              <a:t>优点：适用范围比较广，不用担心用户机器缺少某个库文件 </a:t>
            </a:r>
            <a:br>
              <a:rPr lang="zh-CN" altLang="en-US" sz="2000"/>
            </a:br>
            <a:r>
              <a:rPr lang="zh-CN" altLang="en-US" sz="2000"/>
              <a:t>缺点：安装包会比较大，而且多个应用程序之间，无法共享库文件 </a:t>
            </a:r>
            <a:br>
              <a:rPr lang="zh-CN" altLang="en-US" sz="2000"/>
            </a:br>
            <a:r>
              <a:rPr lang="zh-CN" altLang="en-US" sz="2000" b="1"/>
              <a:t>动态函数库</a:t>
            </a:r>
            <a:r>
              <a:rPr lang="en-US" altLang="zh-CN" sz="2000"/>
              <a:t>: (xx.so(Linux), xx.dll(Windows)), </a:t>
            </a:r>
            <a:br>
              <a:rPr lang="zh-CN" altLang="en-US" sz="2000"/>
            </a:br>
            <a:r>
              <a:rPr lang="zh-CN" altLang="en-US" sz="2000"/>
              <a:t>优点：安装包会比较小，多个应用程序可以共享库文件 </a:t>
            </a:r>
            <a:br>
              <a:rPr lang="zh-CN" altLang="en-US" sz="2000"/>
            </a:br>
            <a:r>
              <a:rPr lang="zh-CN" altLang="en-US" sz="2000"/>
              <a:t>缺点：用户必须事先安装好库文件，而且版本和安装位置都必须符合要求，否则就不能正常运行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60033"/>
            <a:ext cx="8291264" cy="2938462"/>
          </a:xfrm>
          <a:noFill/>
        </p:spPr>
        <p:txBody>
          <a:bodyPr/>
          <a:lstStyle/>
          <a:p>
            <a:pPr algn="just" eaLnBrk="1" hangingPunct="1">
              <a:lnSpc>
                <a:spcPct val="150000"/>
              </a:lnSpc>
            </a:pPr>
            <a:r>
              <a:rPr lang="en-US" altLang="zh-CN" sz="2800" b="1" baseline="0">
                <a:solidFill>
                  <a:srgbClr val="7030A0"/>
                </a:solidFill>
                <a:latin typeface="Times New Roman" panose="02020503050405090304" pitchFamily="18" charset="0"/>
                <a:ea typeface="楷体-简" panose="02010600040101010101" pitchFamily="2" charset="-122"/>
              </a:rPr>
              <a:t>Java</a:t>
            </a:r>
            <a:r>
              <a:rPr lang="zh-CN" altLang="en-US" sz="2800" b="1" baseline="0">
                <a:solidFill>
                  <a:srgbClr val="7030A0"/>
                </a:solidFill>
                <a:latin typeface="Times New Roman" panose="02020503050405090304" pitchFamily="18" charset="0"/>
                <a:ea typeface="楷体-简" panose="02010600040101010101" pitchFamily="2" charset="-122"/>
              </a:rPr>
              <a:t>虚拟机</a:t>
            </a:r>
            <a:r>
              <a:rPr lang="zh-CN" altLang="en-US" sz="2000" b="1" baseline="0">
                <a:latin typeface="Times New Roman" panose="02020503050405090304" pitchFamily="18" charset="0"/>
                <a:ea typeface="楷体-简" panose="02010600040101010101" pitchFamily="2" charset="-122"/>
              </a:rPr>
              <a:t>是软件模拟的计算机，可以在任何处理器上（无论是在计算机中还是在其它电子设备中）安全并且兼容的执行</a:t>
            </a:r>
            <a:r>
              <a:rPr lang="en-US" altLang="zh-CN" sz="2000" b="1" baseline="0">
                <a:latin typeface="Times New Roman" panose="02020503050405090304" pitchFamily="18" charset="0"/>
                <a:ea typeface="楷体-简" panose="02010600040101010101" pitchFamily="2" charset="-122"/>
              </a:rPr>
              <a:t>.class</a:t>
            </a:r>
            <a:r>
              <a:rPr lang="zh-CN" altLang="en-US" sz="2000" b="1" baseline="0">
                <a:latin typeface="Times New Roman" panose="02020503050405090304" pitchFamily="18" charset="0"/>
                <a:ea typeface="楷体-简" panose="02010600040101010101" pitchFamily="2" charset="-122"/>
              </a:rPr>
              <a:t>文件中的字节码。</a:t>
            </a:r>
            <a:r>
              <a:rPr lang="en-US" altLang="zh-CN" sz="2000" b="1" baseline="0">
                <a:latin typeface="Times New Roman" panose="02020503050405090304" pitchFamily="18" charset="0"/>
                <a:ea typeface="楷体-简" panose="02010600040101010101" pitchFamily="2" charset="-122"/>
              </a:rPr>
              <a:t>java</a:t>
            </a:r>
            <a:r>
              <a:rPr lang="zh-CN" altLang="en-US" sz="2000" b="1" baseline="0">
                <a:latin typeface="Times New Roman" panose="02020503050405090304" pitchFamily="18" charset="0"/>
                <a:ea typeface="楷体-简" panose="02010600040101010101" pitchFamily="2" charset="-122"/>
              </a:rPr>
              <a:t>程序的跨平台主要是指字节码文件可以运行在任何具有</a:t>
            </a:r>
            <a:r>
              <a:rPr lang="en-US" altLang="zh-CN" sz="2000" b="1" baseline="0">
                <a:latin typeface="Times New Roman" panose="02020503050405090304" pitchFamily="18" charset="0"/>
                <a:ea typeface="楷体-简" panose="02010600040101010101" pitchFamily="2" charset="-122"/>
              </a:rPr>
              <a:t>java</a:t>
            </a:r>
            <a:r>
              <a:rPr lang="zh-CN" altLang="en-US" sz="2000" b="1" baseline="0">
                <a:latin typeface="Times New Roman" panose="02020503050405090304" pitchFamily="18" charset="0"/>
                <a:ea typeface="楷体-简" panose="02010600040101010101" pitchFamily="2" charset="-122"/>
              </a:rPr>
              <a:t>虚拟机的计算机或者电子设备上，</a:t>
            </a:r>
            <a:r>
              <a:rPr lang="en-US" altLang="zh-CN" sz="2000" b="1" baseline="0">
                <a:latin typeface="Times New Roman" panose="02020503050405090304" pitchFamily="18" charset="0"/>
                <a:ea typeface="楷体-简" panose="02010600040101010101" pitchFamily="2" charset="-122"/>
              </a:rPr>
              <a:t>java</a:t>
            </a:r>
            <a:r>
              <a:rPr lang="zh-CN" altLang="en-US" sz="2000" b="1" baseline="0">
                <a:latin typeface="Times New Roman" panose="02020503050405090304" pitchFamily="18" charset="0"/>
                <a:ea typeface="楷体-简" panose="02010600040101010101" pitchFamily="2" charset="-122"/>
              </a:rPr>
              <a:t>虚拟机中的</a:t>
            </a:r>
            <a:r>
              <a:rPr lang="zh-CN" altLang="en-US" sz="2000" b="1" u="sng" baseline="0">
                <a:solidFill>
                  <a:srgbClr val="0070C0"/>
                </a:solidFill>
                <a:latin typeface="Times New Roman" panose="02020503050405090304" pitchFamily="18" charset="0"/>
                <a:ea typeface="楷体-简" panose="02010600040101010101" pitchFamily="2" charset="-122"/>
              </a:rPr>
              <a:t>解释器</a:t>
            </a:r>
            <a:r>
              <a:rPr lang="zh-CN" altLang="en-US" sz="2000" b="1" baseline="0">
                <a:latin typeface="Times New Roman" panose="02020503050405090304" pitchFamily="18" charset="0"/>
                <a:ea typeface="楷体-简" panose="02010600040101010101" pitchFamily="2" charset="-122"/>
              </a:rPr>
              <a:t>负责将字节码文件解释成为特定的机器码进行运行。</a:t>
            </a:r>
          </a:p>
        </p:txBody>
      </p:sp>
      <p:pic>
        <p:nvPicPr>
          <p:cNvPr id="12292" name="Picture 4" descr="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429000"/>
            <a:ext cx="7345363"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JVM</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运行过程</a:t>
            </a:r>
          </a:p>
        </p:txBody>
      </p:sp>
      <p:pic>
        <p:nvPicPr>
          <p:cNvPr id="133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413718"/>
            <a:ext cx="4464050" cy="532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6" name="Text Box 5"/>
          <p:cNvSpPr txBox="1">
            <a:spLocks noChangeArrowheads="1"/>
          </p:cNvSpPr>
          <p:nvPr/>
        </p:nvSpPr>
        <p:spPr bwMode="auto">
          <a:xfrm>
            <a:off x="4572000" y="1629618"/>
            <a:ext cx="3960440" cy="464742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400" b="1" u="sng">
                <a:solidFill>
                  <a:srgbClr val="7030A0"/>
                </a:solidFill>
              </a:rPr>
              <a:t>类载入器</a:t>
            </a:r>
            <a:r>
              <a:rPr lang="zh-CN" altLang="en-US" sz="2400" b="1">
                <a:solidFill>
                  <a:srgbClr val="7030A0"/>
                </a:solidFill>
              </a:rPr>
              <a:t> </a:t>
            </a:r>
            <a:r>
              <a:rPr lang="en-US" altLang="zh-CN" sz="2400" b="1">
                <a:solidFill>
                  <a:srgbClr val="7030A0"/>
                </a:solidFill>
              </a:rPr>
              <a:t>class loader</a:t>
            </a:r>
          </a:p>
          <a:p>
            <a:pPr eaLnBrk="1" hangingPunct="1">
              <a:spcBef>
                <a:spcPct val="0"/>
              </a:spcBef>
              <a:buFontTx/>
              <a:buNone/>
            </a:pPr>
            <a:r>
              <a:rPr lang="zh-CN" altLang="en-US" sz="2000"/>
              <a:t>（把类文件转载到</a:t>
            </a:r>
            <a:r>
              <a:rPr lang="en-US" altLang="zh-CN" sz="2000"/>
              <a:t>JVM</a:t>
            </a:r>
            <a:r>
              <a:rPr lang="zh-CN" altLang="en-US" sz="2000"/>
              <a:t>中并且检验是否符合</a:t>
            </a:r>
            <a:r>
              <a:rPr lang="zh-CN" altLang="en-US" sz="2000" b="1"/>
              <a:t>类文件的规范</a:t>
            </a:r>
            <a:r>
              <a:rPr lang="zh-CN" altLang="en-US" sz="2000"/>
              <a:t>）</a:t>
            </a:r>
            <a:r>
              <a:rPr lang="en-US" altLang="zh-CN" sz="2000"/>
              <a:t>ClassLoader</a:t>
            </a:r>
            <a:r>
              <a:rPr lang="zh-CN" altLang="en-US" sz="2000"/>
              <a:t>通过将</a:t>
            </a:r>
            <a:r>
              <a:rPr lang="zh-CN" altLang="en-US" sz="2000" b="1"/>
              <a:t>本机类与网络资源类</a:t>
            </a:r>
            <a:r>
              <a:rPr lang="zh-CN" altLang="en-US" sz="2000"/>
              <a:t>的名称分开来保持安全性。因为调入类时总要经过检查，这样避免了</a:t>
            </a:r>
            <a:r>
              <a:rPr lang="zh-CN" altLang="en-US" sz="2000" b="1"/>
              <a:t>特洛伊木马现象</a:t>
            </a:r>
            <a:r>
              <a:rPr lang="zh-CN" altLang="en-US" sz="2000"/>
              <a:t>的出现。</a:t>
            </a:r>
            <a:endParaRPr lang="en-US" altLang="zh-CN" sz="2000"/>
          </a:p>
          <a:p>
            <a:pPr eaLnBrk="1" hangingPunct="1">
              <a:spcBef>
                <a:spcPct val="0"/>
              </a:spcBef>
              <a:buFontTx/>
              <a:buNone/>
            </a:pPr>
            <a:endParaRPr lang="zh-CN" altLang="en-US" sz="2000"/>
          </a:p>
          <a:p>
            <a:pPr eaLnBrk="1" hangingPunct="1">
              <a:spcBef>
                <a:spcPct val="0"/>
              </a:spcBef>
              <a:buFontTx/>
              <a:buNone/>
            </a:pPr>
            <a:r>
              <a:rPr lang="zh-CN" altLang="en-US" sz="2400" b="1" u="sng">
                <a:solidFill>
                  <a:srgbClr val="7030A0"/>
                </a:solidFill>
              </a:rPr>
              <a:t>字节码校验器</a:t>
            </a:r>
            <a:r>
              <a:rPr lang="zh-CN" altLang="en-US" sz="2400">
                <a:solidFill>
                  <a:srgbClr val="7030A0"/>
                </a:solidFill>
              </a:rPr>
              <a:t>（</a:t>
            </a:r>
            <a:r>
              <a:rPr lang="en-US" altLang="zh-CN" sz="2400">
                <a:solidFill>
                  <a:srgbClr val="7030A0"/>
                </a:solidFill>
              </a:rPr>
              <a:t>bytecode verifier</a:t>
            </a:r>
            <a:r>
              <a:rPr lang="zh-CN" altLang="en-US" sz="2400">
                <a:solidFill>
                  <a:srgbClr val="7030A0"/>
                </a:solidFill>
              </a:rPr>
              <a:t>）</a:t>
            </a:r>
            <a:r>
              <a:rPr lang="zh-CN" altLang="en-US" sz="2000"/>
              <a:t>检查该类文件中的代码是否</a:t>
            </a:r>
            <a:r>
              <a:rPr lang="zh-CN" altLang="en-US" sz="2000" b="1"/>
              <a:t>存在非法的操作是否有黑客的倾向。</a:t>
            </a:r>
            <a:endParaRPr lang="en-US" altLang="zh-CN" sz="2000" b="1"/>
          </a:p>
          <a:p>
            <a:pPr eaLnBrk="1" hangingPunct="1">
              <a:spcBef>
                <a:spcPct val="0"/>
              </a:spcBef>
              <a:buFontTx/>
              <a:buNone/>
            </a:pPr>
            <a:endParaRPr lang="zh-CN" altLang="en-US" sz="2000"/>
          </a:p>
          <a:p>
            <a:pPr eaLnBrk="1" hangingPunct="1">
              <a:spcBef>
                <a:spcPct val="0"/>
              </a:spcBef>
              <a:buFontTx/>
              <a:buNone/>
            </a:pPr>
            <a:r>
              <a:rPr lang="en-US" altLang="zh-CN" sz="2400" b="1" u="sng">
                <a:solidFill>
                  <a:srgbClr val="7030A0"/>
                </a:solidFill>
              </a:rPr>
              <a:t>Java</a:t>
            </a:r>
            <a:r>
              <a:rPr lang="zh-CN" altLang="en-US" sz="2400" b="1" u="sng">
                <a:solidFill>
                  <a:srgbClr val="7030A0"/>
                </a:solidFill>
              </a:rPr>
              <a:t>解释器 </a:t>
            </a:r>
            <a:r>
              <a:rPr lang="zh-CN" altLang="en-US" sz="2000" b="1"/>
              <a:t>解释成二进制执行</a:t>
            </a:r>
            <a:r>
              <a:rPr lang="zh-CN" altLang="en-US" sz="2000"/>
              <a:t>。 </a:t>
            </a:r>
          </a:p>
        </p:txBody>
      </p:sp>
      <p:sp>
        <p:nvSpPr>
          <p:cNvPr id="13317" name="Line 6"/>
          <p:cNvSpPr>
            <a:spLocks noChangeShapeType="1"/>
          </p:cNvSpPr>
          <p:nvPr/>
        </p:nvSpPr>
        <p:spPr bwMode="auto">
          <a:xfrm flipH="1">
            <a:off x="3563938" y="1989980"/>
            <a:ext cx="1008062" cy="64770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18" name="Line 7"/>
          <p:cNvSpPr>
            <a:spLocks noChangeShapeType="1"/>
          </p:cNvSpPr>
          <p:nvPr/>
        </p:nvSpPr>
        <p:spPr bwMode="auto">
          <a:xfrm flipH="1" flipV="1">
            <a:off x="3779838" y="3502868"/>
            <a:ext cx="792162" cy="86360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319" name="Line 8"/>
          <p:cNvSpPr>
            <a:spLocks noChangeShapeType="1"/>
          </p:cNvSpPr>
          <p:nvPr/>
        </p:nvSpPr>
        <p:spPr bwMode="auto">
          <a:xfrm flipH="1" flipV="1">
            <a:off x="3708400" y="4653805"/>
            <a:ext cx="863600" cy="1152525"/>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8229600" cy="2578100"/>
          </a:xfrm>
        </p:spPr>
        <p:txBody>
          <a:bodyPr/>
          <a:lstStyle/>
          <a:p>
            <a:pPr algn="l" eaLnBrk="1" hangingPunct="1"/>
            <a:r>
              <a:rPr lang="en-US" altLang="zh-CN" sz="2000" baseline="0" dirty="0">
                <a:latin typeface="Times New Roman" panose="02020503050405090304" pitchFamily="18" charset="0"/>
                <a:ea typeface="楷体-简" panose="02010600040101010101" pitchFamily="2" charset="-122"/>
              </a:rPr>
              <a:t>Java</a:t>
            </a:r>
            <a:r>
              <a:rPr lang="zh-CN" altLang="en-US" sz="2000" baseline="0" dirty="0">
                <a:latin typeface="Times New Roman" panose="02020503050405090304" pitchFamily="18" charset="0"/>
                <a:ea typeface="楷体-简" panose="02010600040101010101" pitchFamily="2" charset="-122"/>
              </a:rPr>
              <a:t>虚拟机的建立</a:t>
            </a:r>
            <a:r>
              <a:rPr lang="zh-CN" altLang="en-US" sz="28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需要针对不同的软硬件平台</a:t>
            </a:r>
            <a:r>
              <a:rPr lang="zh-CN" altLang="en-US" sz="2000" baseline="0" dirty="0">
                <a:solidFill>
                  <a:schemeClr val="tx1"/>
                </a:solidFill>
                <a:latin typeface="Times New Roman" panose="02020503050405090304" pitchFamily="18" charset="0"/>
                <a:ea typeface="楷体-简" panose="02010600040101010101" pitchFamily="2" charset="-122"/>
              </a:rPr>
              <a:t>做</a:t>
            </a:r>
            <a:r>
              <a:rPr lang="zh-CN" altLang="en-US" sz="2000" b="1" baseline="0" dirty="0">
                <a:solidFill>
                  <a:schemeClr val="tx1"/>
                </a:solidFill>
                <a:latin typeface="Times New Roman" panose="02020503050405090304" pitchFamily="18" charset="0"/>
                <a:ea typeface="楷体-简" panose="02010600040101010101" pitchFamily="2" charset="-122"/>
              </a:rPr>
              <a:t>专门的实现</a:t>
            </a:r>
            <a:r>
              <a:rPr lang="zh-CN" altLang="en-US" sz="2000" baseline="0" dirty="0">
                <a:latin typeface="Times New Roman" panose="02020503050405090304" pitchFamily="18" charset="0"/>
                <a:ea typeface="楷体-简" panose="02010600040101010101" pitchFamily="2" charset="-122"/>
              </a:rPr>
              <a:t>，既要考虑处理器的型号，也要考虑操作系统的种类。如下图所示，目前在</a:t>
            </a:r>
            <a:r>
              <a:rPr lang="en-US" altLang="zh-CN" sz="2000" baseline="0" dirty="0">
                <a:latin typeface="Times New Roman" panose="02020503050405090304" pitchFamily="18" charset="0"/>
                <a:ea typeface="楷体-简" panose="02010600040101010101" pitchFamily="2" charset="-122"/>
              </a:rPr>
              <a:t>SPARC</a:t>
            </a:r>
            <a:r>
              <a:rPr lang="zh-CN" altLang="en-US" sz="2000" baseline="0" dirty="0">
                <a:latin typeface="Times New Roman" panose="02020503050405090304" pitchFamily="18" charset="0"/>
                <a:ea typeface="楷体-简" panose="02010600040101010101" pitchFamily="2" charset="-122"/>
              </a:rPr>
              <a:t>结构、</a:t>
            </a:r>
            <a:r>
              <a:rPr lang="en-US" altLang="zh-CN" sz="2000" baseline="0" dirty="0">
                <a:latin typeface="Times New Roman" panose="02020503050405090304" pitchFamily="18" charset="0"/>
                <a:ea typeface="楷体-简" panose="02010600040101010101" pitchFamily="2" charset="-122"/>
              </a:rPr>
              <a:t>X86</a:t>
            </a:r>
            <a:r>
              <a:rPr lang="zh-CN" altLang="en-US" sz="2000" baseline="0" dirty="0">
                <a:latin typeface="Times New Roman" panose="02020503050405090304" pitchFamily="18" charset="0"/>
                <a:ea typeface="楷体-简" panose="02010600040101010101" pitchFamily="2" charset="-122"/>
              </a:rPr>
              <a:t>结构、</a:t>
            </a:r>
            <a:r>
              <a:rPr lang="en-US" altLang="zh-CN" sz="2000" baseline="0" dirty="0">
                <a:latin typeface="Times New Roman" panose="02020503050405090304" pitchFamily="18" charset="0"/>
                <a:ea typeface="楷体-简" panose="02010600040101010101" pitchFamily="2" charset="-122"/>
              </a:rPr>
              <a:t>MIPS</a:t>
            </a:r>
            <a:r>
              <a:rPr lang="zh-CN" altLang="en-US" sz="2000" baseline="0" dirty="0">
                <a:latin typeface="Times New Roman" panose="02020503050405090304" pitchFamily="18" charset="0"/>
                <a:ea typeface="楷体-简" panose="02010600040101010101" pitchFamily="2" charset="-122"/>
              </a:rPr>
              <a:t>和</a:t>
            </a:r>
            <a:r>
              <a:rPr lang="en-US" altLang="zh-CN" sz="2000" baseline="0" dirty="0">
                <a:latin typeface="Times New Roman" panose="02020503050405090304" pitchFamily="18" charset="0"/>
                <a:ea typeface="楷体-简" panose="02010600040101010101" pitchFamily="2" charset="-122"/>
              </a:rPr>
              <a:t>PPC</a:t>
            </a:r>
            <a:r>
              <a:rPr lang="zh-CN" altLang="en-US" sz="2000" baseline="0" dirty="0">
                <a:latin typeface="Times New Roman" panose="02020503050405090304" pitchFamily="18" charset="0"/>
                <a:ea typeface="楷体-简" panose="02010600040101010101" pitchFamily="2" charset="-122"/>
              </a:rPr>
              <a:t>等嵌入式处理芯片上、在</a:t>
            </a:r>
            <a:r>
              <a:rPr lang="en-US" altLang="zh-CN" sz="2000" baseline="0" dirty="0">
                <a:latin typeface="Times New Roman" panose="02020503050405090304" pitchFamily="18" charset="0"/>
                <a:ea typeface="楷体-简" panose="02010600040101010101" pitchFamily="2" charset="-122"/>
              </a:rPr>
              <a:t>UNIX</a:t>
            </a:r>
            <a:r>
              <a:rPr lang="zh-CN" altLang="en-US" sz="2000" baseline="0" dirty="0">
                <a:latin typeface="Times New Roman" panose="02020503050405090304" pitchFamily="18" charset="0"/>
                <a:ea typeface="楷体-简" panose="02010600040101010101" pitchFamily="2" charset="-122"/>
              </a:rPr>
              <a:t>、</a:t>
            </a:r>
            <a:r>
              <a:rPr lang="en-US" altLang="zh-CN" sz="2000" baseline="0" dirty="0">
                <a:latin typeface="Times New Roman" panose="02020503050405090304" pitchFamily="18" charset="0"/>
                <a:ea typeface="楷体-简" panose="02010600040101010101" pitchFamily="2" charset="-122"/>
              </a:rPr>
              <a:t>Linux</a:t>
            </a:r>
            <a:r>
              <a:rPr lang="zh-CN" altLang="en-US" sz="2000" baseline="0" dirty="0">
                <a:latin typeface="Times New Roman" panose="02020503050405090304" pitchFamily="18" charset="0"/>
                <a:ea typeface="楷体-简" panose="02010600040101010101" pitchFamily="2" charset="-122"/>
              </a:rPr>
              <a:t>、</a:t>
            </a:r>
            <a:r>
              <a:rPr lang="en-US" altLang="zh-CN" sz="2000" baseline="0" dirty="0">
                <a:latin typeface="Times New Roman" panose="02020503050405090304" pitchFamily="18" charset="0"/>
                <a:ea typeface="楷体-简" panose="02010600040101010101" pitchFamily="2" charset="-122"/>
              </a:rPr>
              <a:t>windows</a:t>
            </a:r>
            <a:r>
              <a:rPr lang="zh-CN" altLang="en-US" sz="2000" baseline="0" dirty="0">
                <a:latin typeface="Times New Roman" panose="02020503050405090304" pitchFamily="18" charset="0"/>
                <a:ea typeface="楷体-简" panose="02010600040101010101" pitchFamily="2" charset="-122"/>
              </a:rPr>
              <a:t>和部分实时操作系统上都有</a:t>
            </a:r>
            <a:r>
              <a:rPr lang="en-US" altLang="zh-CN" sz="2000" baseline="0" dirty="0">
                <a:latin typeface="Times New Roman" panose="02020503050405090304" pitchFamily="18" charset="0"/>
                <a:ea typeface="楷体-简" panose="02010600040101010101" pitchFamily="2" charset="-122"/>
              </a:rPr>
              <a:t>java</a:t>
            </a:r>
            <a:r>
              <a:rPr lang="zh-CN" altLang="en-US" sz="2000" baseline="0" dirty="0">
                <a:latin typeface="Times New Roman" panose="02020503050405090304" pitchFamily="18" charset="0"/>
                <a:ea typeface="楷体-简" panose="02010600040101010101" pitchFamily="2" charset="-122"/>
              </a:rPr>
              <a:t>虚拟机的实现。</a:t>
            </a:r>
          </a:p>
        </p:txBody>
      </p:sp>
      <p:pic>
        <p:nvPicPr>
          <p:cNvPr id="14339"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780928"/>
            <a:ext cx="6553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一次编写，处处运行</a:t>
            </a:r>
          </a:p>
        </p:txBody>
      </p:sp>
      <p:pic>
        <p:nvPicPr>
          <p:cNvPr id="16387"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250825" y="1557338"/>
            <a:ext cx="7200900" cy="411480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1.3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的特点</a:t>
            </a:r>
          </a:p>
        </p:txBody>
      </p:sp>
      <p:sp>
        <p:nvSpPr>
          <p:cNvPr id="18435" name="Rectangle 3"/>
          <p:cNvSpPr>
            <a:spLocks noGrp="1" noChangeArrowheads="1"/>
          </p:cNvSpPr>
          <p:nvPr>
            <p:ph type="body" idx="1"/>
          </p:nvPr>
        </p:nvSpPr>
        <p:spPr>
          <a:xfrm>
            <a:off x="251460" y="1196504"/>
            <a:ext cx="8686800" cy="4983162"/>
          </a:xfrm>
        </p:spPr>
        <p:txBody>
          <a:bodyPr/>
          <a:lstStyle/>
          <a:p>
            <a:pPr marL="609600" indent="-609600"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1</a:t>
            </a:r>
            <a:r>
              <a:rPr lang="zh-CN" altLang="en-US" sz="2000" b="1" baseline="0" dirty="0">
                <a:latin typeface="Times New Roman" panose="02020503050405090304" pitchFamily="18" charset="0"/>
                <a:ea typeface="楷体-简" panose="02010600040101010101" pitchFamily="2" charset="-122"/>
              </a:rPr>
              <a:t>．平台无关性</a:t>
            </a:r>
          </a:p>
          <a:p>
            <a:pPr marL="609600" indent="-609600" eaLnBrk="1" hangingPunct="1">
              <a:lnSpc>
                <a:spcPct val="100000"/>
              </a:lnSpc>
              <a:buFontTx/>
              <a:buNone/>
            </a:pPr>
            <a:r>
              <a:rPr lang="zh-CN" altLang="en-US" sz="2000" baseline="0" dirty="0">
                <a:latin typeface="Times New Roman" panose="02020503050405090304" pitchFamily="18" charset="0"/>
                <a:ea typeface="楷体-简" panose="02010600040101010101" pitchFamily="2" charset="-122"/>
              </a:rPr>
              <a:t>       </a:t>
            </a:r>
            <a:r>
              <a:rPr lang="en-US" altLang="zh-CN" sz="1800" baseline="0" dirty="0">
                <a:latin typeface="Times New Roman" panose="02020503050405090304" pitchFamily="18" charset="0"/>
                <a:ea typeface="楷体-简" panose="02010600040101010101" pitchFamily="2" charset="-122"/>
              </a:rPr>
              <a:t>Java</a:t>
            </a:r>
            <a:r>
              <a:rPr lang="zh-CN" altLang="en-US" sz="1800" baseline="0" dirty="0">
                <a:latin typeface="Times New Roman" panose="02020503050405090304" pitchFamily="18" charset="0"/>
                <a:ea typeface="楷体-简" panose="02010600040101010101" pitchFamily="2" charset="-122"/>
              </a:rPr>
              <a:t>语言和其他语言相比，最大的优势能在所有的计算机上运行，这是</a:t>
            </a:r>
            <a:r>
              <a:rPr lang="en-US" altLang="zh-CN" sz="1800" baseline="0" dirty="0">
                <a:latin typeface="Times New Roman" panose="02020503050405090304" pitchFamily="18" charset="0"/>
                <a:ea typeface="楷体-简" panose="02010600040101010101" pitchFamily="2" charset="-122"/>
              </a:rPr>
              <a:t>Java</a:t>
            </a:r>
            <a:r>
              <a:rPr lang="zh-CN" altLang="en-US" sz="1800" baseline="0" dirty="0">
                <a:latin typeface="Times New Roman" panose="02020503050405090304" pitchFamily="18" charset="0"/>
                <a:ea typeface="楷体-简" panose="02010600040101010101" pitchFamily="2" charset="-122"/>
              </a:rPr>
              <a:t>风靡全球主要原因。</a:t>
            </a: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2</a:t>
            </a:r>
            <a:r>
              <a:rPr lang="zh-CN" altLang="en-US" sz="2000" b="1" baseline="0" dirty="0">
                <a:latin typeface="Times New Roman" panose="02020503050405090304" pitchFamily="18" charset="0"/>
                <a:ea typeface="楷体-简" panose="02010600040101010101" pitchFamily="2" charset="-122"/>
              </a:rPr>
              <a:t>．面向对象</a:t>
            </a:r>
          </a:p>
          <a:p>
            <a:pPr marL="609600" indent="-609600" eaLnBrk="1" hangingPunct="1">
              <a:lnSpc>
                <a:spcPct val="100000"/>
              </a:lnSpc>
              <a:buFontTx/>
              <a:buNone/>
            </a:pPr>
            <a:r>
              <a:rPr lang="zh-CN" altLang="en-US" sz="2000" baseline="0" dirty="0">
                <a:latin typeface="Times New Roman" panose="02020503050405090304" pitchFamily="18" charset="0"/>
                <a:ea typeface="楷体-简" panose="02010600040101010101" pitchFamily="2" charset="-122"/>
              </a:rPr>
              <a:t>        面向对象编程是一种先进的编程思想，更加容易解决复杂的问题 </a:t>
            </a:r>
            <a:r>
              <a:rPr lang="en-US" altLang="zh-CN" sz="1800" baseline="0" dirty="0">
                <a:latin typeface="Times New Roman" panose="02020503050405090304" pitchFamily="18" charset="0"/>
                <a:ea typeface="楷体-简" panose="02010600040101010101" pitchFamily="2" charset="-122"/>
              </a:rPr>
              <a:t>(</a:t>
            </a:r>
            <a:r>
              <a:rPr lang="zh-CN" altLang="en-US" sz="1800" baseline="0" dirty="0">
                <a:latin typeface="Times New Roman" panose="02020503050405090304" pitchFamily="18" charset="0"/>
                <a:ea typeface="楷体-简" panose="02010600040101010101" pitchFamily="2" charset="-122"/>
              </a:rPr>
              <a:t>封装</a:t>
            </a:r>
            <a:r>
              <a:rPr lang="en-US" altLang="zh-CN" sz="1800" baseline="0" dirty="0">
                <a:latin typeface="Times New Roman" panose="02020503050405090304" pitchFamily="18" charset="0"/>
                <a:ea typeface="楷体-简" panose="02010600040101010101" pitchFamily="2" charset="-122"/>
              </a:rPr>
              <a:t>;</a:t>
            </a:r>
            <a:r>
              <a:rPr lang="zh-CN" altLang="en-US" sz="1800" baseline="0" dirty="0">
                <a:latin typeface="Times New Roman" panose="02020503050405090304" pitchFamily="18" charset="0"/>
                <a:ea typeface="楷体-简" panose="02010600040101010101" pitchFamily="2" charset="-122"/>
              </a:rPr>
              <a:t>继承</a:t>
            </a:r>
            <a:r>
              <a:rPr lang="en-US" altLang="zh-CN" sz="1800" baseline="0" dirty="0">
                <a:latin typeface="Times New Roman" panose="02020503050405090304" pitchFamily="18" charset="0"/>
                <a:ea typeface="楷体-简" panose="02010600040101010101" pitchFamily="2" charset="-122"/>
              </a:rPr>
              <a:t>;</a:t>
            </a:r>
            <a:r>
              <a:rPr lang="zh-CN" altLang="en-US" sz="1800" baseline="0" dirty="0">
                <a:latin typeface="Times New Roman" panose="02020503050405090304" pitchFamily="18" charset="0"/>
                <a:ea typeface="楷体-简" panose="02010600040101010101" pitchFamily="2" charset="-122"/>
              </a:rPr>
              <a:t>多态</a:t>
            </a:r>
            <a:r>
              <a:rPr lang="en-US" altLang="zh-CN" sz="1800" baseline="0" dirty="0">
                <a:latin typeface="Times New Roman" panose="02020503050405090304" pitchFamily="18" charset="0"/>
                <a:ea typeface="楷体-简" panose="02010600040101010101" pitchFamily="2" charset="-122"/>
              </a:rPr>
              <a:t>)</a:t>
            </a:r>
            <a:r>
              <a:rPr lang="zh-CN" altLang="en-US" sz="1800" baseline="0" dirty="0">
                <a:latin typeface="Times New Roman" panose="02020503050405090304" pitchFamily="18" charset="0"/>
                <a:ea typeface="楷体-简" panose="02010600040101010101" pitchFamily="2" charset="-122"/>
              </a:rPr>
              <a:t>。</a:t>
            </a:r>
            <a:endParaRPr lang="en-US" altLang="zh-CN" sz="1800" baseline="0" dirty="0">
              <a:latin typeface="Times New Roman" panose="02020503050405090304" pitchFamily="18" charset="0"/>
              <a:ea typeface="楷体-简" panose="02010600040101010101" pitchFamily="2" charset="-122"/>
            </a:endParaRP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3</a:t>
            </a:r>
            <a:r>
              <a:rPr lang="zh-CN" altLang="en-US" sz="2000" b="1" baseline="0" dirty="0">
                <a:latin typeface="Times New Roman" panose="02020503050405090304" pitchFamily="18" charset="0"/>
                <a:ea typeface="楷体-简" panose="02010600040101010101" pitchFamily="2" charset="-122"/>
              </a:rPr>
              <a:t>．分布式，多线程</a:t>
            </a:r>
            <a:endParaRPr lang="en-US" altLang="zh-CN" sz="2000" b="1" baseline="0" dirty="0">
              <a:latin typeface="Times New Roman" panose="02020503050405090304" pitchFamily="18" charset="0"/>
              <a:ea typeface="楷体-简" panose="02010600040101010101" pitchFamily="2" charset="-122"/>
            </a:endParaRPr>
          </a:p>
          <a:p>
            <a:pPr marL="609600" indent="-609600" eaLnBrk="1" hangingPunct="1">
              <a:lnSpc>
                <a:spcPct val="100000"/>
              </a:lnSpc>
              <a:buFontTx/>
              <a:buNone/>
            </a:pPr>
            <a:r>
              <a:rPr lang="en-US" altLang="zh-CN" sz="1800" baseline="0" dirty="0">
                <a:latin typeface="Times New Roman" panose="02020503050405090304" pitchFamily="18" charset="0"/>
                <a:ea typeface="楷体-简" panose="02010600040101010101" pitchFamily="2" charset="-122"/>
              </a:rPr>
              <a:t>        Java</a:t>
            </a:r>
            <a:r>
              <a:rPr lang="zh-CN" altLang="en-US" sz="1800" baseline="0" dirty="0">
                <a:latin typeface="Times New Roman" panose="02020503050405090304" pitchFamily="18" charset="0"/>
                <a:ea typeface="楷体-简" panose="02010600040101010101" pitchFamily="2" charset="-122"/>
              </a:rPr>
              <a:t>技术核心技术就是支持分布式通讯</a:t>
            </a:r>
            <a:r>
              <a:rPr lang="en-US" altLang="zh-CN" sz="1800" baseline="0" dirty="0">
                <a:latin typeface="Times New Roman" panose="02020503050405090304" pitchFamily="18" charset="0"/>
                <a:ea typeface="楷体-简" panose="02010600040101010101" pitchFamily="2" charset="-122"/>
              </a:rPr>
              <a:t>, Java</a:t>
            </a:r>
            <a:r>
              <a:rPr lang="zh-CN" altLang="en-US" sz="1800" baseline="0" dirty="0">
                <a:latin typeface="Times New Roman" panose="02020503050405090304" pitchFamily="18" charset="0"/>
                <a:ea typeface="楷体-简" panose="02010600040101010101" pitchFamily="2" charset="-122"/>
              </a:rPr>
              <a:t>的特点之一就是内置对多线程的支持。多线程允许同时完成多个任务。</a:t>
            </a:r>
            <a:endParaRPr lang="en-US" altLang="zh-CN" sz="1800" baseline="0" dirty="0">
              <a:latin typeface="Times New Roman" panose="02020503050405090304" pitchFamily="18" charset="0"/>
              <a:ea typeface="楷体-简" panose="02010600040101010101" pitchFamily="2" charset="-122"/>
            </a:endParaRP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4</a:t>
            </a:r>
            <a:r>
              <a:rPr lang="zh-CN" altLang="en-US" sz="2000" b="1" baseline="0" dirty="0">
                <a:latin typeface="Times New Roman" panose="02020503050405090304" pitchFamily="18" charset="0"/>
                <a:ea typeface="楷体-简" panose="02010600040101010101" pitchFamily="2" charset="-122"/>
              </a:rPr>
              <a:t>．安全</a:t>
            </a:r>
            <a:endParaRPr lang="en-US" altLang="zh-CN" sz="2000" b="1" baseline="0" dirty="0">
              <a:latin typeface="Times New Roman" panose="02020503050405090304" pitchFamily="18" charset="0"/>
              <a:ea typeface="楷体-简" panose="02010600040101010101" pitchFamily="2" charset="-122"/>
            </a:endParaRP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        </a:t>
            </a:r>
            <a:r>
              <a:rPr lang="zh-CN" altLang="en-US" sz="1800" baseline="0" dirty="0">
                <a:latin typeface="Times New Roman" panose="02020503050405090304" pitchFamily="18" charset="0"/>
                <a:ea typeface="楷体-简" panose="02010600040101010101" pitchFamily="2" charset="-122"/>
              </a:rPr>
              <a:t>运行前校验；采用沙箱运行模式；</a:t>
            </a:r>
            <a:r>
              <a:rPr lang="en-US" altLang="zh-CN" sz="1800" baseline="0" dirty="0">
                <a:latin typeface="Times New Roman" panose="02020503050405090304" pitchFamily="18" charset="0"/>
                <a:ea typeface="楷体-简" panose="02010600040101010101" pitchFamily="2" charset="-122"/>
              </a:rPr>
              <a:t>Java applet</a:t>
            </a:r>
            <a:r>
              <a:rPr lang="zh-CN" altLang="en-US" sz="1800" baseline="0" dirty="0">
                <a:latin typeface="Times New Roman" panose="02020503050405090304" pitchFamily="18" charset="0"/>
                <a:ea typeface="楷体-简" panose="02010600040101010101" pitchFamily="2" charset="-122"/>
              </a:rPr>
              <a:t>运行在</a:t>
            </a:r>
            <a:r>
              <a:rPr lang="en-US" altLang="zh-CN" sz="1800" baseline="0" dirty="0">
                <a:latin typeface="Times New Roman" panose="02020503050405090304" pitchFamily="18" charset="0"/>
                <a:ea typeface="楷体-简" panose="02010600040101010101" pitchFamily="2" charset="-122"/>
              </a:rPr>
              <a:t>Java</a:t>
            </a:r>
            <a:r>
              <a:rPr lang="zh-CN" altLang="en-US" sz="1800" baseline="0" dirty="0">
                <a:latin typeface="Times New Roman" panose="02020503050405090304" pitchFamily="18" charset="0"/>
                <a:ea typeface="楷体-简" panose="02010600040101010101" pitchFamily="2" charset="-122"/>
              </a:rPr>
              <a:t>环境中</a:t>
            </a:r>
            <a:r>
              <a:rPr lang="en-US" altLang="zh-CN" sz="1800" baseline="0" dirty="0">
                <a:latin typeface="Times New Roman" panose="02020503050405090304" pitchFamily="18" charset="0"/>
                <a:ea typeface="楷体-简" panose="02010600040101010101" pitchFamily="2" charset="-122"/>
              </a:rPr>
              <a:t>,</a:t>
            </a:r>
            <a:r>
              <a:rPr lang="zh-CN" altLang="en-US" sz="1800" baseline="0" dirty="0">
                <a:latin typeface="Times New Roman" panose="02020503050405090304" pitchFamily="18" charset="0"/>
                <a:ea typeface="楷体-简" panose="02010600040101010101" pitchFamily="2" charset="-122"/>
              </a:rPr>
              <a:t>不允许访问客户端的文件系统等。</a:t>
            </a:r>
            <a:endParaRPr lang="en-US" altLang="zh-CN" sz="1800" baseline="0" dirty="0">
              <a:latin typeface="Times New Roman" panose="02020503050405090304" pitchFamily="18" charset="0"/>
              <a:ea typeface="楷体-简" panose="02010600040101010101" pitchFamily="2" charset="-122"/>
            </a:endParaRP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5</a:t>
            </a:r>
            <a:r>
              <a:rPr lang="zh-CN" altLang="en-US" sz="2000" b="1" baseline="0" dirty="0">
                <a:latin typeface="Times New Roman" panose="02020503050405090304" pitchFamily="18" charset="0"/>
                <a:ea typeface="楷体-简" panose="02010600040101010101" pitchFamily="2" charset="-122"/>
              </a:rPr>
              <a:t>．动态：</a:t>
            </a:r>
            <a:r>
              <a:rPr lang="zh-CN" altLang="en-US" sz="1800" baseline="0" dirty="0">
                <a:latin typeface="Times New Roman" panose="02020503050405090304" pitchFamily="18" charset="0"/>
                <a:ea typeface="楷体-简" panose="02010600040101010101" pitchFamily="2" charset="-122"/>
              </a:rPr>
              <a:t>因类是动态装载；</a:t>
            </a:r>
            <a:r>
              <a:rPr lang="en-US" altLang="zh-CN" sz="1800" baseline="0" dirty="0">
                <a:latin typeface="Times New Roman" panose="02020503050405090304" pitchFamily="18" charset="0"/>
                <a:ea typeface="楷体-简" panose="02010600040101010101" pitchFamily="2" charset="-122"/>
              </a:rPr>
              <a:t>Java</a:t>
            </a:r>
            <a:r>
              <a:rPr lang="zh-CN" altLang="en-US" sz="1800" baseline="0" dirty="0">
                <a:latin typeface="Times New Roman" panose="02020503050405090304" pitchFamily="18" charset="0"/>
                <a:ea typeface="楷体-简" panose="02010600040101010101" pitchFamily="2" charset="-122"/>
              </a:rPr>
              <a:t>可在分布环境中动态维护。</a:t>
            </a:r>
            <a:endParaRPr lang="en-US" altLang="zh-CN" sz="1800" baseline="0" dirty="0">
              <a:latin typeface="Times New Roman" panose="02020503050405090304" pitchFamily="18" charset="0"/>
              <a:ea typeface="楷体-简" panose="02010600040101010101" pitchFamily="2" charset="-122"/>
            </a:endParaRPr>
          </a:p>
          <a:p>
            <a:pPr marL="609600" indent="-609600" algn="just" eaLnBrk="1" hangingPunct="1">
              <a:lnSpc>
                <a:spcPct val="100000"/>
              </a:lnSpc>
              <a:buFontTx/>
              <a:buNone/>
            </a:pPr>
            <a:r>
              <a:rPr lang="en-US" altLang="zh-CN" sz="2000" b="1" baseline="0" dirty="0">
                <a:latin typeface="Times New Roman" panose="02020503050405090304" pitchFamily="18" charset="0"/>
                <a:ea typeface="楷体-简" panose="02010600040101010101" pitchFamily="2" charset="-122"/>
              </a:rPr>
              <a:t>6.   </a:t>
            </a:r>
            <a:r>
              <a:rPr lang="zh-CN" altLang="en-US" sz="2000" b="1" baseline="0" dirty="0">
                <a:latin typeface="Times New Roman" panose="02020503050405090304" pitchFamily="18" charset="0"/>
                <a:ea typeface="楷体-简" panose="02010600040101010101" pitchFamily="2" charset="-122"/>
              </a:rPr>
              <a:t>简单：</a:t>
            </a:r>
            <a:r>
              <a:rPr lang="zh-CN" altLang="en-US" sz="1800" baseline="0" dirty="0">
                <a:latin typeface="Times New Roman" panose="02020503050405090304" pitchFamily="18" charset="0"/>
                <a:ea typeface="楷体-简" panose="02010600040101010101" pitchFamily="2" charset="-122"/>
              </a:rPr>
              <a:t>语法上没有指针；垃圾收集机制；丰富的类库。</a:t>
            </a:r>
            <a:endParaRPr lang="en-US" altLang="zh-CN" sz="1800" baseline="0" dirty="0">
              <a:latin typeface="Times New Roman" panose="02020503050405090304" pitchFamily="18" charset="0"/>
              <a:ea typeface="楷体-简" panose="02010600040101010101" pitchFamily="2" charset="-122"/>
            </a:endParaRPr>
          </a:p>
          <a:p>
            <a:pPr marL="0" indent="0" algn="just" eaLnBrk="1" hangingPunct="1">
              <a:lnSpc>
                <a:spcPct val="100000"/>
              </a:lnSpc>
              <a:buNone/>
            </a:pPr>
            <a:r>
              <a:rPr lang="en-US" altLang="zh-CN" sz="2000" baseline="0" dirty="0">
                <a:latin typeface="Times New Roman" panose="02020503050405090304" pitchFamily="18" charset="0"/>
                <a:ea typeface="楷体-简" panose="02010600040101010101" pitchFamily="2" charset="-122"/>
                <a:cs typeface="Tahoma" panose="020B0604030504040204" pitchFamily="34" charset="0"/>
              </a:rPr>
              <a:t>       ......</a:t>
            </a:r>
            <a:endParaRPr lang="zh-CN" altLang="en-US" sz="2000" baseline="0" dirty="0">
              <a:latin typeface="Times New Roman" panose="02020503050405090304" pitchFamily="18" charset="0"/>
              <a:ea typeface="楷体-简" panose="02010600040101010101" pitchFamily="2" charset="-122"/>
              <a:cs typeface="Tahoma" panose="020B0604030504040204" pitchFamily="34" charset="0"/>
            </a:endParaRPr>
          </a:p>
          <a:p>
            <a:pPr marL="609600" indent="-609600" eaLnBrk="1" hangingPunct="1">
              <a:lnSpc>
                <a:spcPct val="100000"/>
              </a:lnSpc>
              <a:buFontTx/>
              <a:buNone/>
            </a:pPr>
            <a:endParaRPr lang="zh-CN" altLang="en-US" sz="2000" baseline="0" dirty="0">
              <a:latin typeface="Times New Roman" panose="02020503050405090304" pitchFamily="18" charset="0"/>
              <a:ea typeface="楷体-简" panose="02010600040101010101" pitchFamily="2" charset="-122"/>
              <a:cs typeface="Tahoma" panose="020B0604030504040204" pitchFamily="34" charset="0"/>
            </a:endParaRPr>
          </a:p>
          <a:p>
            <a:pPr marL="609600" indent="-609600" eaLnBrk="1" hangingPunct="1">
              <a:lnSpc>
                <a:spcPct val="100000"/>
              </a:lnSpc>
              <a:buFontTx/>
              <a:buNone/>
            </a:pPr>
            <a:endParaRPr lang="zh-CN" altLang="en-US" sz="2000" baseline="0" dirty="0">
              <a:latin typeface="Times New Roman" panose="02020503050405090304" pitchFamily="18" charset="0"/>
              <a:ea typeface="楷体-简" panose="02010600040101010101" pitchFamily="2" charset="-122"/>
            </a:endParaRPr>
          </a:p>
          <a:p>
            <a:pPr marL="609600" indent="-609600" eaLnBrk="1" hangingPunct="1">
              <a:lnSpc>
                <a:spcPct val="80000"/>
              </a:lnSpc>
              <a:buFont typeface="Wingdings" panose="05000000000000000000" pitchFamily="2" charset="2"/>
              <a:buAutoNum type="arabicPeriod"/>
            </a:pPr>
            <a:endParaRPr lang="zh-CN" altLang="en-US" sz="2000" baseline="0" dirty="0">
              <a:latin typeface="Times New Roman" panose="02020503050405090304" pitchFamily="18" charset="0"/>
              <a:ea typeface="楷体-简"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1.4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运行平台</a:t>
            </a:r>
          </a:p>
        </p:txBody>
      </p:sp>
      <p:sp>
        <p:nvSpPr>
          <p:cNvPr id="19459" name="Rectangle 3"/>
          <p:cNvSpPr>
            <a:spLocks noGrp="1" noChangeArrowheads="1"/>
          </p:cNvSpPr>
          <p:nvPr>
            <p:ph type="body" idx="1"/>
          </p:nvPr>
        </p:nvSpPr>
        <p:spPr/>
        <p:txBody>
          <a:bodyPr/>
          <a:lstStyle/>
          <a:p>
            <a:pPr marL="609600" indent="-609600" eaLnBrk="1" hangingPunct="1">
              <a:buFontTx/>
              <a:buNone/>
            </a:pPr>
            <a:r>
              <a:rPr lang="en-US" altLang="zh-CN" sz="2800" baseline="0">
                <a:solidFill>
                  <a:schemeClr val="folHlink"/>
                </a:solidFill>
                <a:latin typeface="Times New Roman" panose="02020503050405090304" pitchFamily="18" charset="0"/>
                <a:ea typeface="楷体-简" panose="02010600040101010101" pitchFamily="2" charset="-122"/>
                <a:cs typeface="Tahoma" panose="020B0604030504040204" pitchFamily="34" charset="0"/>
              </a:rPr>
              <a:t> </a:t>
            </a:r>
            <a:endParaRPr lang="en-US" altLang="zh-CN" sz="2800" baseline="0">
              <a:solidFill>
                <a:schemeClr val="folHlink"/>
              </a:solidFill>
              <a:latin typeface="Times New Roman" panose="02020503050405090304" pitchFamily="18" charset="0"/>
              <a:ea typeface="楷体-简" panose="02010600040101010101" pitchFamily="2" charset="-122"/>
            </a:endParaRPr>
          </a:p>
        </p:txBody>
      </p:sp>
      <p:sp>
        <p:nvSpPr>
          <p:cNvPr id="19460" name="Rectangle 5"/>
          <p:cNvSpPr>
            <a:spLocks noChangeArrowheads="1"/>
          </p:cNvSpPr>
          <p:nvPr/>
        </p:nvSpPr>
        <p:spPr bwMode="auto">
          <a:xfrm>
            <a:off x="251460" y="1556385"/>
            <a:ext cx="4873625" cy="360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lvl="1" eaLnBrk="1" hangingPunct="1">
              <a:lnSpc>
                <a:spcPct val="150000"/>
              </a:lnSpc>
            </a:pPr>
            <a:r>
              <a:rPr lang="en-US" altLang="zh-CN" sz="2200" b="1"/>
              <a:t>Java</a:t>
            </a:r>
            <a:r>
              <a:rPr lang="zh-CN" altLang="en-US" sz="2200" b="1"/>
              <a:t>平台由</a:t>
            </a:r>
            <a:r>
              <a:rPr lang="en-US" altLang="zh-CN" sz="2200" b="1">
                <a:solidFill>
                  <a:srgbClr val="7030A0"/>
                </a:solidFill>
              </a:rPr>
              <a:t>Java</a:t>
            </a:r>
            <a:r>
              <a:rPr lang="zh-CN" altLang="en-US" sz="2200" b="1">
                <a:solidFill>
                  <a:srgbClr val="7030A0"/>
                </a:solidFill>
              </a:rPr>
              <a:t>应用编程接口</a:t>
            </a:r>
            <a:r>
              <a:rPr lang="zh-CN" altLang="en-US" sz="2200" b="1"/>
              <a:t>（</a:t>
            </a:r>
            <a:r>
              <a:rPr lang="en-US" altLang="zh-CN" sz="2200" b="1"/>
              <a:t>API</a:t>
            </a:r>
            <a:r>
              <a:rPr lang="zh-CN" altLang="en-US" sz="2200" b="1"/>
              <a:t>）和</a:t>
            </a:r>
            <a:r>
              <a:rPr lang="en-US" altLang="zh-CN" sz="2200" b="1">
                <a:solidFill>
                  <a:srgbClr val="7030A0"/>
                </a:solidFill>
              </a:rPr>
              <a:t>Java</a:t>
            </a:r>
            <a:r>
              <a:rPr lang="zh-CN" altLang="en-US" sz="2200" b="1">
                <a:solidFill>
                  <a:srgbClr val="7030A0"/>
                </a:solidFill>
              </a:rPr>
              <a:t>虚拟机</a:t>
            </a:r>
            <a:r>
              <a:rPr lang="zh-CN" altLang="en-US" sz="2200" b="1"/>
              <a:t>（</a:t>
            </a:r>
            <a:r>
              <a:rPr lang="en-US" altLang="zh-CN" sz="2200" b="1"/>
              <a:t>JVM</a:t>
            </a:r>
            <a:r>
              <a:rPr lang="zh-CN" altLang="en-US" sz="2200" b="1"/>
              <a:t>）构成，</a:t>
            </a:r>
            <a:r>
              <a:rPr lang="zh-CN" altLang="en-US" sz="2200"/>
              <a:t>如图所示。这个平台构成了</a:t>
            </a:r>
            <a:r>
              <a:rPr lang="en-US" altLang="zh-CN" sz="2200"/>
              <a:t>Java</a:t>
            </a:r>
            <a:r>
              <a:rPr lang="zh-CN" altLang="en-US" sz="2200"/>
              <a:t>在不同计算机系统中编译和运行的环境。 </a:t>
            </a:r>
          </a:p>
          <a:p>
            <a:pPr lvl="1" eaLnBrk="1" hangingPunct="1">
              <a:lnSpc>
                <a:spcPct val="150000"/>
              </a:lnSpc>
            </a:pPr>
            <a:r>
              <a:rPr lang="zh-CN" altLang="en-US" sz="2200" b="1"/>
              <a:t>为了搭建</a:t>
            </a:r>
            <a:r>
              <a:rPr lang="en-US" altLang="zh-CN" sz="2200" b="1"/>
              <a:t>Java</a:t>
            </a:r>
            <a:r>
              <a:rPr lang="zh-CN" altLang="en-US" sz="2200" b="1"/>
              <a:t>平台，需要下载和安装</a:t>
            </a:r>
            <a:r>
              <a:rPr lang="en-US" altLang="zh-CN" sz="2200" b="1">
                <a:solidFill>
                  <a:srgbClr val="7030A0"/>
                </a:solidFill>
              </a:rPr>
              <a:t>Java</a:t>
            </a:r>
            <a:r>
              <a:rPr lang="zh-CN" altLang="en-US" sz="2200" b="1">
                <a:solidFill>
                  <a:srgbClr val="7030A0"/>
                </a:solidFill>
              </a:rPr>
              <a:t>软件开发工具箱</a:t>
            </a:r>
            <a:r>
              <a:rPr lang="zh-CN" altLang="en-US" sz="2200" b="1"/>
              <a:t>（</a:t>
            </a:r>
            <a:r>
              <a:rPr lang="en-US" altLang="zh-CN" sz="2200" b="1"/>
              <a:t>JDK</a:t>
            </a:r>
            <a:r>
              <a:rPr lang="zh-CN" altLang="en-US" sz="2200" b="1"/>
              <a:t>），并设置</a:t>
            </a:r>
            <a:r>
              <a:rPr lang="en-US" altLang="zh-CN" sz="2200" b="1"/>
              <a:t>Java</a:t>
            </a:r>
            <a:r>
              <a:rPr lang="zh-CN" altLang="en-US" sz="2200" b="1"/>
              <a:t>编译和运行环境。 </a:t>
            </a:r>
          </a:p>
        </p:txBody>
      </p:sp>
      <p:grpSp>
        <p:nvGrpSpPr>
          <p:cNvPr id="19461" name="Group 6"/>
          <p:cNvGrpSpPr>
            <a:grpSpLocks noChangeAspect="1"/>
          </p:cNvGrpSpPr>
          <p:nvPr/>
        </p:nvGrpSpPr>
        <p:grpSpPr bwMode="auto">
          <a:xfrm>
            <a:off x="4249861" y="2223045"/>
            <a:ext cx="5146675" cy="3078163"/>
            <a:chOff x="2561" y="9612"/>
            <a:chExt cx="6574" cy="3940"/>
          </a:xfrm>
        </p:grpSpPr>
        <p:sp>
          <p:nvSpPr>
            <p:cNvPr id="19462" name="AutoShape 7"/>
            <p:cNvSpPr>
              <a:spLocks noChangeAspect="1" noChangeArrowheads="1"/>
            </p:cNvSpPr>
            <p:nvPr/>
          </p:nvSpPr>
          <p:spPr bwMode="auto">
            <a:xfrm>
              <a:off x="2561" y="9612"/>
              <a:ext cx="6574" cy="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sp>
          <p:nvSpPr>
            <p:cNvPr id="19463" name="Rectangle 8"/>
            <p:cNvSpPr>
              <a:spLocks noChangeArrowheads="1"/>
            </p:cNvSpPr>
            <p:nvPr/>
          </p:nvSpPr>
          <p:spPr bwMode="auto">
            <a:xfrm>
              <a:off x="3970" y="9612"/>
              <a:ext cx="2035" cy="951"/>
            </a:xfrm>
            <a:prstGeom prst="rect">
              <a:avLst/>
            </a:prstGeom>
            <a:solidFill>
              <a:srgbClr val="FFFFFF"/>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14400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2000" b="1">
                  <a:ea typeface="幼圆" panose="02010509060101010101" pitchFamily="49" charset="-122"/>
                </a:rPr>
                <a:t>Java</a:t>
              </a:r>
              <a:r>
                <a:rPr lang="zh-CN" altLang="en-US" sz="2000" b="1">
                  <a:latin typeface="幼圆" panose="02010509060101010101" pitchFamily="49" charset="-122"/>
                  <a:ea typeface="幼圆" panose="02010509060101010101" pitchFamily="49" charset="-122"/>
                </a:rPr>
                <a:t>程序</a:t>
              </a:r>
              <a:endParaRPr lang="zh-CN" altLang="en-US" sz="2800" b="1">
                <a:latin typeface="Verdana" panose="020B0804030504040204" pitchFamily="34" charset="0"/>
              </a:endParaRPr>
            </a:p>
          </p:txBody>
        </p:sp>
        <p:sp>
          <p:nvSpPr>
            <p:cNvPr id="19464" name="Rectangle 9"/>
            <p:cNvSpPr>
              <a:spLocks noChangeArrowheads="1"/>
            </p:cNvSpPr>
            <p:nvPr/>
          </p:nvSpPr>
          <p:spPr bwMode="auto">
            <a:xfrm>
              <a:off x="3970" y="11514"/>
              <a:ext cx="2036" cy="815"/>
            </a:xfrm>
            <a:prstGeom prst="rect">
              <a:avLst/>
            </a:prstGeom>
            <a:solidFill>
              <a:srgbClr val="DDDDDD"/>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144000"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None/>
              </a:pPr>
              <a:r>
                <a:rPr lang="en-US" altLang="zh-CN" sz="2000" b="1">
                  <a:ea typeface="幼圆" panose="02010509060101010101" pitchFamily="49" charset="-122"/>
                </a:rPr>
                <a:t>JVM</a:t>
              </a:r>
              <a:endParaRPr lang="zh-CN" altLang="en-US" sz="2000" b="1">
                <a:ea typeface="幼圆" panose="02010509060101010101" pitchFamily="49" charset="-122"/>
              </a:endParaRPr>
            </a:p>
          </p:txBody>
        </p:sp>
        <p:sp>
          <p:nvSpPr>
            <p:cNvPr id="19465" name="Rectangle 10"/>
            <p:cNvSpPr>
              <a:spLocks noChangeArrowheads="1"/>
            </p:cNvSpPr>
            <p:nvPr/>
          </p:nvSpPr>
          <p:spPr bwMode="auto">
            <a:xfrm>
              <a:off x="3970" y="10563"/>
              <a:ext cx="2035" cy="951"/>
            </a:xfrm>
            <a:prstGeom prst="rect">
              <a:avLst/>
            </a:prstGeom>
            <a:solidFill>
              <a:srgbClr val="F8F8F8"/>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14400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2000" b="1">
                  <a:ea typeface="幼圆" panose="02010509060101010101" pitchFamily="49" charset="-122"/>
                </a:rPr>
                <a:t>Java API</a:t>
              </a:r>
              <a:endParaRPr lang="en-US" altLang="zh-CN" sz="2800" b="1">
                <a:latin typeface="Verdana" panose="020B0804030504040204" pitchFamily="34" charset="0"/>
              </a:endParaRPr>
            </a:p>
          </p:txBody>
        </p:sp>
        <p:sp>
          <p:nvSpPr>
            <p:cNvPr id="19466" name="Rectangle 11"/>
            <p:cNvSpPr>
              <a:spLocks noChangeArrowheads="1"/>
            </p:cNvSpPr>
            <p:nvPr/>
          </p:nvSpPr>
          <p:spPr bwMode="auto">
            <a:xfrm>
              <a:off x="3970" y="12330"/>
              <a:ext cx="2036" cy="951"/>
            </a:xfrm>
            <a:prstGeom prst="rect">
              <a:avLst/>
            </a:prstGeom>
            <a:solidFill>
              <a:srgbClr val="C0C0C0"/>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14400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zh-CN" altLang="en-US" sz="2000" b="1">
                  <a:latin typeface="幼圆" panose="02010509060101010101" pitchFamily="49" charset="-122"/>
                  <a:ea typeface="幼圆" panose="02010509060101010101" pitchFamily="49" charset="-122"/>
                </a:rPr>
                <a:t>计算机系统</a:t>
              </a:r>
              <a:endParaRPr lang="zh-CN" altLang="en-US" sz="2800" b="1">
                <a:latin typeface="Verdana" panose="020B0804030504040204" pitchFamily="34" charset="0"/>
              </a:endParaRPr>
            </a:p>
          </p:txBody>
        </p:sp>
        <p:sp>
          <p:nvSpPr>
            <p:cNvPr id="19467" name="AutoShape 12"/>
            <p:cNvSpPr/>
            <p:nvPr/>
          </p:nvSpPr>
          <p:spPr bwMode="auto">
            <a:xfrm>
              <a:off x="6161" y="10699"/>
              <a:ext cx="313" cy="1630"/>
            </a:xfrm>
            <a:prstGeom prst="rightBrace">
              <a:avLst>
                <a:gd name="adj1" fmla="val 43397"/>
                <a:gd name="adj2" fmla="val 500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sp>
          <p:nvSpPr>
            <p:cNvPr id="19468" name="Rectangle 13"/>
            <p:cNvSpPr>
              <a:spLocks noChangeArrowheads="1"/>
            </p:cNvSpPr>
            <p:nvPr/>
          </p:nvSpPr>
          <p:spPr bwMode="auto">
            <a:xfrm>
              <a:off x="6474" y="10835"/>
              <a:ext cx="2191" cy="135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2600"/>
                <a:t>Java</a:t>
              </a:r>
              <a:r>
                <a:rPr lang="zh-CN" altLang="en-US" sz="2600" b="1">
                  <a:latin typeface="Arial Black" panose="020B0A04020102020204" pitchFamily="34" charset="0"/>
                  <a:ea typeface="幼圆" panose="02010509060101010101" pitchFamily="49" charset="-122"/>
                </a:rPr>
                <a:t>平台</a:t>
              </a:r>
            </a:p>
            <a:p>
              <a:pPr algn="ctr" eaLnBrk="1" hangingPunct="1">
                <a:spcBef>
                  <a:spcPct val="0"/>
                </a:spcBef>
                <a:buFontTx/>
                <a:buNone/>
              </a:pPr>
              <a:r>
                <a:rPr lang="zh-CN" altLang="en-US" sz="1800"/>
                <a:t>（安装</a:t>
              </a:r>
              <a:r>
                <a:rPr lang="en-US" altLang="zh-CN" sz="1800"/>
                <a:t>JDK</a:t>
              </a:r>
              <a:r>
                <a:rPr lang="zh-CN" altLang="en-US" sz="2000"/>
                <a:t>）</a:t>
              </a:r>
              <a:endParaRPr lang="zh-CN" altLang="en-US" sz="2400">
                <a:latin typeface="Verdana" panose="020B0804030504040204" pitchFamily="34"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1.4  Java </a:t>
            </a:r>
            <a:r>
              <a:rPr lang="en-US" altLang="zh-CN" sz="4000" baseline="0" dirty="0" err="1">
                <a:solidFill>
                  <a:srgbClr val="FF0066"/>
                </a:solidFill>
                <a:latin typeface="Times New Roman" panose="02020503050405090304" pitchFamily="18" charset="0"/>
                <a:ea typeface="楷体-简" panose="02010600040101010101" pitchFamily="2" charset="-122"/>
                <a:cs typeface="Kaiti SC Regular" panose="02010600040101010101" charset="-122"/>
              </a:rPr>
              <a:t>运行平台（续</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a:t>
            </a:r>
          </a:p>
        </p:txBody>
      </p:sp>
      <p:sp>
        <p:nvSpPr>
          <p:cNvPr id="20483" name="Rectangle 3"/>
          <p:cNvSpPr>
            <a:spLocks noGrp="1" noChangeArrowheads="1"/>
          </p:cNvSpPr>
          <p:nvPr>
            <p:ph type="body" idx="1"/>
          </p:nvPr>
        </p:nvSpPr>
        <p:spPr>
          <a:xfrm>
            <a:off x="457200" y="2132603"/>
            <a:ext cx="8229600" cy="4525963"/>
          </a:xfrm>
        </p:spPr>
        <p:txBody>
          <a:bodyPr/>
          <a:lstStyle/>
          <a:p>
            <a:pPr marL="609600" indent="-609600" eaLnBrk="1" hangingPunct="1">
              <a:buFontTx/>
              <a:buNone/>
            </a:pPr>
            <a:r>
              <a:rPr lang="zh-CN" altLang="en-US" sz="2800" b="1" baseline="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三种平台简介</a:t>
            </a:r>
            <a:endParaRPr lang="en-US" altLang="zh-CN" sz="2800" b="1" baseline="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endParaRPr>
          </a:p>
          <a:p>
            <a:pPr marL="609600" indent="-609600" eaLnBrk="1" hangingPunct="1">
              <a:buFontTx/>
              <a:buNone/>
            </a:pPr>
            <a:r>
              <a:rPr lang="zh-CN" altLang="en-US" sz="800" b="1" baseline="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 </a:t>
            </a:r>
          </a:p>
          <a:p>
            <a:pPr marL="609600" indent="-609600" eaLnBrk="1" hangingPunct="1">
              <a:buFontTx/>
              <a:buNone/>
            </a:pPr>
            <a:r>
              <a:rPr lang="zh-CN" altLang="en-US" sz="2400" b="1" baseline="0">
                <a:latin typeface="Times New Roman" panose="02020503050405090304" pitchFamily="18" charset="0"/>
                <a:ea typeface="楷体-简" panose="02010600040101010101" pitchFamily="2" charset="-122"/>
              </a:rPr>
              <a:t>  目前</a:t>
            </a:r>
            <a:r>
              <a:rPr lang="en-US" altLang="zh-CN" sz="2400" b="1" baseline="0">
                <a:latin typeface="Times New Roman" panose="02020503050405090304" pitchFamily="18" charset="0"/>
                <a:ea typeface="楷体-简" panose="02010600040101010101" pitchFamily="2" charset="-122"/>
              </a:rPr>
              <a:t>Java</a:t>
            </a:r>
            <a:r>
              <a:rPr lang="zh-CN" altLang="en-US" sz="2400" b="1" baseline="0">
                <a:latin typeface="Times New Roman" panose="02020503050405090304" pitchFamily="18" charset="0"/>
                <a:ea typeface="楷体-简" panose="02010600040101010101" pitchFamily="2" charset="-122"/>
              </a:rPr>
              <a:t>运行平台主要分为下列</a:t>
            </a:r>
            <a:r>
              <a:rPr lang="en-US" altLang="zh-CN" sz="2400" b="1" baseline="0">
                <a:latin typeface="Times New Roman" panose="02020503050405090304" pitchFamily="18" charset="0"/>
                <a:ea typeface="楷体-简" panose="02010600040101010101" pitchFamily="2" charset="-122"/>
              </a:rPr>
              <a:t>3</a:t>
            </a:r>
            <a:r>
              <a:rPr lang="zh-CN" altLang="en-US" sz="2400" b="1" baseline="0">
                <a:latin typeface="Times New Roman" panose="02020503050405090304" pitchFamily="18" charset="0"/>
                <a:ea typeface="楷体-简" panose="02010600040101010101" pitchFamily="2" charset="-122"/>
              </a:rPr>
              <a:t>个版本： </a:t>
            </a:r>
          </a:p>
          <a:p>
            <a:pPr marL="609600" indent="-609600" eaLnBrk="1" hangingPunct="1">
              <a:buFontTx/>
              <a:buNone/>
            </a:pP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1</a:t>
            </a: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JavaSE</a:t>
            </a:r>
            <a:r>
              <a:rPr lang="zh-CN" altLang="en-US" sz="2400" b="1"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称为</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标准版或</a:t>
            </a:r>
            <a:r>
              <a:rPr lang="en-US" altLang="zh-CN" sz="2400" baseline="0">
                <a:latin typeface="Times New Roman" panose="02020503050405090304" pitchFamily="18" charset="0"/>
                <a:ea typeface="楷体-简" panose="02010600040101010101" pitchFamily="2" charset="-122"/>
              </a:rPr>
              <a:t>Java </a:t>
            </a:r>
            <a:r>
              <a:rPr lang="zh-CN" altLang="en-US" sz="2400" baseline="0">
                <a:latin typeface="Times New Roman" panose="02020503050405090304" pitchFamily="18" charset="0"/>
                <a:ea typeface="楷体-简" panose="02010600040101010101" pitchFamily="2" charset="-122"/>
              </a:rPr>
              <a:t>标准平台。</a:t>
            </a:r>
            <a:r>
              <a:rPr lang="en-US" altLang="zh-CN" sz="2400" b="1" baseline="0">
                <a:latin typeface="Times New Roman" panose="02020503050405090304" pitchFamily="18" charset="0"/>
                <a:ea typeface="楷体-简" panose="02010600040101010101" pitchFamily="2" charset="-122"/>
              </a:rPr>
              <a:t>Java</a:t>
            </a:r>
            <a:r>
              <a:rPr lang="en-US" altLang="zh-CN" sz="2400" baseline="0">
                <a:latin typeface="Times New Roman" panose="02020503050405090304" pitchFamily="18" charset="0"/>
                <a:ea typeface="楷体-简" panose="02010600040101010101" pitchFamily="2" charset="-122"/>
              </a:rPr>
              <a:t>SE </a:t>
            </a:r>
            <a:r>
              <a:rPr lang="zh-CN" altLang="en-US" sz="2400" baseline="0">
                <a:latin typeface="Times New Roman" panose="02020503050405090304" pitchFamily="18" charset="0"/>
                <a:ea typeface="楷体-简" panose="02010600040101010101" pitchFamily="2" charset="-122"/>
              </a:rPr>
              <a:t>提供了标准的</a:t>
            </a:r>
            <a:r>
              <a:rPr lang="en-US" altLang="zh-CN" sz="2400" baseline="0">
                <a:latin typeface="Times New Roman" panose="02020503050405090304" pitchFamily="18" charset="0"/>
                <a:ea typeface="楷体-简" panose="02010600040101010101" pitchFamily="2" charset="-122"/>
              </a:rPr>
              <a:t>SDK</a:t>
            </a:r>
            <a:r>
              <a:rPr lang="zh-CN" altLang="en-US" sz="2400" baseline="0">
                <a:latin typeface="Times New Roman" panose="02020503050405090304" pitchFamily="18" charset="0"/>
                <a:ea typeface="楷体-简" panose="02010600040101010101" pitchFamily="2" charset="-122"/>
              </a:rPr>
              <a:t>开发平台（以前称做</a:t>
            </a:r>
            <a:r>
              <a:rPr lang="en-US" altLang="zh-CN" sz="2400" baseline="0">
                <a:latin typeface="Times New Roman" panose="02020503050405090304" pitchFamily="18" charset="0"/>
                <a:ea typeface="楷体-简" panose="02010600040101010101" pitchFamily="2" charset="-122"/>
              </a:rPr>
              <a:t>JDK</a:t>
            </a:r>
            <a:r>
              <a:rPr lang="zh-CN" altLang="en-US" sz="2400" baseline="0">
                <a:latin typeface="Times New Roman" panose="02020503050405090304" pitchFamily="18" charset="0"/>
                <a:ea typeface="楷体-简" panose="02010600040101010101" pitchFamily="2" charset="-122"/>
              </a:rPr>
              <a:t>开发平台）</a:t>
            </a:r>
            <a:r>
              <a:rPr lang="zh-CN" altLang="en-US" sz="2400" b="1" baseline="0">
                <a:latin typeface="Times New Roman" panose="02020503050405090304" pitchFamily="18" charset="0"/>
                <a:ea typeface="楷体-简" panose="02010600040101010101" pitchFamily="2" charset="-122"/>
              </a:rPr>
              <a:t>。 </a:t>
            </a:r>
          </a:p>
          <a:p>
            <a:pPr marL="609600" indent="-609600" eaLnBrk="1" hangingPunct="1">
              <a:buFontTx/>
              <a:buNone/>
            </a:pP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2</a:t>
            </a: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JavaEE</a:t>
            </a:r>
            <a:r>
              <a:rPr lang="zh-CN" altLang="en-US" sz="2400" b="1"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称为</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企业版或</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企业平台</a:t>
            </a:r>
            <a:r>
              <a:rPr lang="zh-CN" altLang="en-US" sz="2400" b="1" baseline="0">
                <a:latin typeface="Times New Roman" panose="02020503050405090304" pitchFamily="18" charset="0"/>
                <a:ea typeface="楷体-简" panose="02010600040101010101" pitchFamily="2" charset="-122"/>
              </a:rPr>
              <a:t>。 </a:t>
            </a:r>
          </a:p>
          <a:p>
            <a:pPr marL="609600" indent="-609600" eaLnBrk="1" hangingPunct="1">
              <a:buFontTx/>
              <a:buNone/>
            </a:pP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3</a:t>
            </a: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JavaME</a:t>
            </a:r>
            <a:r>
              <a:rPr lang="zh-CN" altLang="en-US" sz="2400" b="1"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称为</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微型版或</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小型平台</a:t>
            </a:r>
            <a:r>
              <a:rPr lang="zh-CN" altLang="en-US" sz="2400" b="1" baseline="0">
                <a:latin typeface="Times New Roman" panose="02020503050405090304" pitchFamily="18" charset="0"/>
                <a:ea typeface="楷体-简" panose="02010600040101010101" pitchFamily="2" charset="-122"/>
              </a:rPr>
              <a:t>。</a:t>
            </a:r>
            <a:endParaRPr lang="en-US" altLang="zh-CN" sz="2400" baseline="0">
              <a:latin typeface="Times New Roman" panose="02020503050405090304" pitchFamily="18" charset="0"/>
              <a:ea typeface="楷体-简"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1.5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的开发环境 </a:t>
            </a:r>
          </a:p>
        </p:txBody>
      </p:sp>
      <p:sp>
        <p:nvSpPr>
          <p:cNvPr id="153603" name="Rectangle 3"/>
          <p:cNvSpPr>
            <a:spLocks noGrp="1" noChangeArrowheads="1"/>
          </p:cNvSpPr>
          <p:nvPr>
            <p:ph type="body" idx="1"/>
          </p:nvPr>
        </p:nvSpPr>
        <p:spPr>
          <a:xfrm>
            <a:off x="457200" y="1600200"/>
            <a:ext cx="8435280" cy="4525963"/>
          </a:xfrm>
        </p:spPr>
        <p:txBody>
          <a:bodyPr/>
          <a:lstStyle/>
          <a:p>
            <a:pPr marL="609600" indent="-609600" eaLnBrk="1" hangingPunct="1">
              <a:lnSpc>
                <a:spcPct val="120000"/>
              </a:lnSpc>
              <a:buFontTx/>
              <a:buNone/>
              <a:defRPr/>
            </a:pP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1:  </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在</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Dos</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下利用命令行方式操作 </a:t>
            </a:r>
            <a:r>
              <a:rPr lang="en-US" altLang="zh-CN" sz="2400" baseline="0" dirty="0" err="1">
                <a:effectLst/>
                <a:latin typeface="Times New Roman" panose="02020503050405090304" pitchFamily="18" charset="0"/>
                <a:ea typeface="楷体-简" panose="02010600040101010101" pitchFamily="2" charset="-122"/>
                <a:cs typeface="Kaiti SC Regular" panose="02010600040101010101" charset="-122"/>
              </a:rPr>
              <a:t>javac</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（编译器）</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 java</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（解释器）</a:t>
            </a:r>
          </a:p>
          <a:p>
            <a:pPr marL="609600" indent="-609600" eaLnBrk="1" hangingPunct="1">
              <a:lnSpc>
                <a:spcPct val="120000"/>
              </a:lnSpc>
              <a:defRPr/>
            </a:pPr>
            <a:endPar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endParaRPr>
          </a:p>
          <a:p>
            <a:pPr marL="609600" indent="-609600" eaLnBrk="1" hangingPunct="1">
              <a:lnSpc>
                <a:spcPct val="120000"/>
              </a:lnSpc>
              <a:buFontTx/>
              <a:buNone/>
              <a:defRPr/>
            </a:pP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2</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Java</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集成开发环境（</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IDE</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）如：</a:t>
            </a:r>
          </a:p>
          <a:p>
            <a:pPr marL="990600" lvl="1" indent="-533400" eaLnBrk="1" hangingPunct="1">
              <a:lnSpc>
                <a:spcPct val="120000"/>
              </a:lnSpc>
              <a:buNone/>
              <a:defRPr/>
            </a:pP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 </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IntelliJ IDEA</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Eclipse </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 </a:t>
            </a:r>
            <a:r>
              <a:rPr lang="en-US" altLang="zh-CN" sz="2400" baseline="0" dirty="0" err="1">
                <a:effectLst/>
                <a:latin typeface="Times New Roman" panose="02020503050405090304" pitchFamily="18" charset="0"/>
                <a:ea typeface="楷体-简" panose="02010600040101010101" pitchFamily="2" charset="-122"/>
                <a:cs typeface="Kaiti SC Regular" panose="02010600040101010101" charset="-122"/>
              </a:rPr>
              <a:t>JBuilder</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 </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 </a:t>
            </a:r>
            <a:r>
              <a:rPr lang="en-US" altLang="zh-CN" sz="2400" baseline="0" dirty="0" err="1">
                <a:effectLst/>
                <a:latin typeface="Times New Roman" panose="02020503050405090304" pitchFamily="18" charset="0"/>
                <a:ea typeface="楷体-简" panose="02010600040101010101" pitchFamily="2" charset="-122"/>
                <a:cs typeface="Kaiti SC Regular" panose="02010600040101010101" charset="-122"/>
              </a:rPr>
              <a:t>NetBeans</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 IDE</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等</a:t>
            </a:r>
          </a:p>
          <a:p>
            <a:pPr marL="990600" lvl="1" indent="-533400" eaLnBrk="1" hangingPunct="1">
              <a:lnSpc>
                <a:spcPct val="120000"/>
              </a:lnSpc>
              <a:buFontTx/>
              <a:buNone/>
              <a:defRPr/>
            </a:pP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      </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Java</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的集成开发环境（</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IDE</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）包括：菜单、工具栏、组件面板、窗体设计器、代码浏览器、代码编辑器、项目管理器、对象观察器等，可以完成</a:t>
            </a:r>
            <a:r>
              <a:rPr lang="en-US" altLang="zh-CN" sz="2400" baseline="0" dirty="0">
                <a:effectLst/>
                <a:latin typeface="Times New Roman" panose="02020503050405090304" pitchFamily="18" charset="0"/>
                <a:ea typeface="楷体-简" panose="02010600040101010101" pitchFamily="2" charset="-122"/>
                <a:cs typeface="Kaiti SC Regular" panose="02010600040101010101" charset="-122"/>
              </a:rPr>
              <a:t>Java</a:t>
            </a:r>
            <a:r>
              <a:rPr lang="zh-CN" altLang="en-US" sz="2400" baseline="0" dirty="0">
                <a:effectLst/>
                <a:latin typeface="Times New Roman" panose="02020503050405090304" pitchFamily="18" charset="0"/>
                <a:ea typeface="楷体-简" panose="02010600040101010101" pitchFamily="2" charset="-122"/>
                <a:cs typeface="Kaiti SC Regular" panose="02010600040101010101" charset="-122"/>
              </a:rPr>
              <a:t>程序的编写、编译和运行</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323850" y="549275"/>
            <a:ext cx="7772400" cy="5445125"/>
          </a:xfrm>
        </p:spPr>
        <p:txBody>
          <a:bodyPr/>
          <a:lstStyle/>
          <a:p>
            <a:pPr marL="990600" lvl="1" indent="-533400" eaLnBrk="1" hangingPunct="1">
              <a:lnSpc>
                <a:spcPct val="90000"/>
              </a:lnSpc>
            </a:pPr>
            <a:r>
              <a:rPr lang="en-US" altLang="zh-CN" sz="22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Eclipse (https://</a:t>
            </a:r>
            <a:r>
              <a:rPr lang="en-US" altLang="zh-CN" sz="2200" b="1" baseline="0" dirty="0" err="1">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www.eclipse.org</a:t>
            </a:r>
            <a:r>
              <a:rPr lang="en-US" altLang="zh-CN" sz="22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/downloads/)</a:t>
            </a:r>
            <a:r>
              <a:rPr lang="zh-CN" altLang="en-US" sz="2200" b="1" baseline="0" dirty="0">
                <a:latin typeface="Times New Roman" panose="02020503050405090304" pitchFamily="18" charset="0"/>
                <a:ea typeface="楷体-简" panose="02010600040101010101" pitchFamily="2" charset="-122"/>
              </a:rPr>
              <a:t>是一个开放源代码的、基于</a:t>
            </a:r>
            <a:r>
              <a:rPr lang="en-US" altLang="zh-CN" sz="2200" b="1" baseline="0" dirty="0">
                <a:latin typeface="Times New Roman" panose="02020503050405090304" pitchFamily="18" charset="0"/>
                <a:ea typeface="楷体-简" panose="02010600040101010101" pitchFamily="2" charset="-122"/>
              </a:rPr>
              <a:t>Java</a:t>
            </a:r>
            <a:r>
              <a:rPr lang="zh-CN" altLang="en-US" sz="2200" b="1" baseline="0" dirty="0">
                <a:latin typeface="Times New Roman" panose="02020503050405090304" pitchFamily="18" charset="0"/>
                <a:ea typeface="楷体-简" panose="02010600040101010101" pitchFamily="2" charset="-122"/>
              </a:rPr>
              <a:t>的可扩展开发平台。就其本身而言，它只是一个框架和一组服务，用于通过插件组件构建开发环境。</a:t>
            </a:r>
            <a:r>
              <a:rPr lang="en-US" altLang="zh-CN" sz="2200" b="1" baseline="0" dirty="0">
                <a:latin typeface="Times New Roman" panose="02020503050405090304" pitchFamily="18" charset="0"/>
                <a:ea typeface="楷体-简" panose="02010600040101010101" pitchFamily="2" charset="-122"/>
              </a:rPr>
              <a:t>Eclipse</a:t>
            </a:r>
            <a:r>
              <a:rPr lang="zh-CN" altLang="en-US" sz="2200" b="1" baseline="0" dirty="0">
                <a:latin typeface="Times New Roman" panose="02020503050405090304" pitchFamily="18" charset="0"/>
                <a:ea typeface="楷体-简" panose="02010600040101010101" pitchFamily="2" charset="-122"/>
              </a:rPr>
              <a:t>附带了一个</a:t>
            </a:r>
            <a:r>
              <a:rPr lang="en-US" altLang="zh-CN" sz="2200" b="1" baseline="0" dirty="0">
                <a:latin typeface="Times New Roman" panose="02020503050405090304" pitchFamily="18" charset="0"/>
                <a:ea typeface="楷体-简" panose="02010600040101010101" pitchFamily="2" charset="-122"/>
              </a:rPr>
              <a:t>Java</a:t>
            </a:r>
            <a:r>
              <a:rPr lang="zh-CN" altLang="en-US" sz="2200" b="1" baseline="0" dirty="0">
                <a:latin typeface="Times New Roman" panose="02020503050405090304" pitchFamily="18" charset="0"/>
                <a:ea typeface="楷体-简" panose="02010600040101010101" pitchFamily="2" charset="-122"/>
              </a:rPr>
              <a:t>开发工具（</a:t>
            </a:r>
            <a:r>
              <a:rPr lang="en-US" altLang="zh-CN" sz="2200" b="1" baseline="0" dirty="0">
                <a:latin typeface="Times New Roman" panose="02020503050405090304" pitchFamily="18" charset="0"/>
                <a:ea typeface="楷体-简" panose="02010600040101010101" pitchFamily="2" charset="-122"/>
              </a:rPr>
              <a:t>JDT</a:t>
            </a:r>
            <a:r>
              <a:rPr lang="zh-CN" altLang="en-US" sz="2200" b="1" baseline="0" dirty="0">
                <a:latin typeface="Times New Roman" panose="02020503050405090304" pitchFamily="18" charset="0"/>
                <a:ea typeface="楷体-简" panose="02010600040101010101" pitchFamily="2" charset="-122"/>
              </a:rPr>
              <a:t>）插件，是全功能的</a:t>
            </a:r>
            <a:r>
              <a:rPr lang="en-US" altLang="zh-CN" sz="2200" b="1" baseline="0" dirty="0">
                <a:latin typeface="Times New Roman" panose="02020503050405090304" pitchFamily="18" charset="0"/>
                <a:ea typeface="楷体-简" panose="02010600040101010101" pitchFamily="2" charset="-122"/>
              </a:rPr>
              <a:t>Java IDE</a:t>
            </a:r>
            <a:r>
              <a:rPr lang="zh-CN" altLang="en-US" sz="2200" b="1" baseline="0" dirty="0">
                <a:latin typeface="Times New Roman" panose="02020503050405090304" pitchFamily="18" charset="0"/>
                <a:ea typeface="楷体-简" panose="02010600040101010101" pitchFamily="2" charset="-122"/>
              </a:rPr>
              <a:t>。它允许用户编辑、编译和运行</a:t>
            </a:r>
            <a:r>
              <a:rPr lang="en-US" altLang="zh-CN" sz="2200" b="1" baseline="0" dirty="0">
                <a:latin typeface="Times New Roman" panose="02020503050405090304" pitchFamily="18" charset="0"/>
                <a:ea typeface="楷体-简" panose="02010600040101010101" pitchFamily="2" charset="-122"/>
              </a:rPr>
              <a:t>Java</a:t>
            </a:r>
            <a:r>
              <a:rPr lang="zh-CN" altLang="en-US" sz="2200" b="1" baseline="0" dirty="0">
                <a:latin typeface="Times New Roman" panose="02020503050405090304" pitchFamily="18" charset="0"/>
                <a:ea typeface="楷体-简" panose="02010600040101010101" pitchFamily="2" charset="-122"/>
              </a:rPr>
              <a:t>程序。</a:t>
            </a:r>
          </a:p>
          <a:p>
            <a:pPr marL="990600" lvl="1" indent="-533400" eaLnBrk="1" hangingPunct="1">
              <a:lnSpc>
                <a:spcPct val="90000"/>
              </a:lnSpc>
            </a:pPr>
            <a:endParaRPr lang="zh-CN" altLang="en-US" sz="2200" b="1" baseline="0" dirty="0">
              <a:latin typeface="Times New Roman" panose="02020503050405090304" pitchFamily="18" charset="0"/>
              <a:ea typeface="楷体-简" panose="02010600040101010101" pitchFamily="2" charset="-122"/>
            </a:endParaRPr>
          </a:p>
          <a:p>
            <a:pPr marL="990600" lvl="1" indent="-533400" eaLnBrk="1" hangingPunct="1">
              <a:lnSpc>
                <a:spcPct val="90000"/>
              </a:lnSpc>
            </a:pPr>
            <a:r>
              <a:rPr lang="en-US" altLang="zh-CN" sz="2200" b="1" baseline="0" dirty="0">
                <a:latin typeface="Times New Roman" panose="02020503050405090304" pitchFamily="18" charset="0"/>
                <a:ea typeface="楷体-简" panose="02010600040101010101" pitchFamily="2" charset="-122"/>
              </a:rPr>
              <a:t>JBuilder</a:t>
            </a:r>
            <a:r>
              <a:rPr lang="zh-CN" altLang="en-US" sz="2200" b="1" baseline="0" dirty="0">
                <a:latin typeface="Times New Roman" panose="02020503050405090304" pitchFamily="18" charset="0"/>
                <a:ea typeface="楷体-简" panose="02010600040101010101" pitchFamily="2" charset="-122"/>
              </a:rPr>
              <a:t>环境开发程序方便，它是纯的</a:t>
            </a:r>
            <a:r>
              <a:rPr lang="en-US" altLang="zh-CN" sz="2200" b="1" baseline="0" dirty="0">
                <a:latin typeface="Times New Roman" panose="02020503050405090304" pitchFamily="18" charset="0"/>
                <a:ea typeface="楷体-简" panose="02010600040101010101" pitchFamily="2" charset="-122"/>
              </a:rPr>
              <a:t>Java</a:t>
            </a:r>
            <a:r>
              <a:rPr lang="zh-CN" altLang="en-US" sz="2200" b="1" baseline="0" dirty="0">
                <a:latin typeface="Times New Roman" panose="02020503050405090304" pitchFamily="18" charset="0"/>
                <a:ea typeface="楷体-简" panose="02010600040101010101" pitchFamily="2" charset="-122"/>
              </a:rPr>
              <a:t>开发环境，适合</a:t>
            </a:r>
            <a:r>
              <a:rPr lang="en-US" altLang="zh-CN" sz="2200" b="1" baseline="0" dirty="0">
                <a:latin typeface="Times New Roman" panose="02020503050405090304" pitchFamily="18" charset="0"/>
                <a:ea typeface="楷体-简" panose="02010600040101010101" pitchFamily="2" charset="-122"/>
              </a:rPr>
              <a:t>J2EE</a:t>
            </a:r>
            <a:r>
              <a:rPr lang="zh-CN" altLang="en-US" sz="2200" b="1" baseline="0" dirty="0">
                <a:latin typeface="Times New Roman" panose="02020503050405090304" pitchFamily="18" charset="0"/>
                <a:ea typeface="楷体-简" panose="02010600040101010101" pitchFamily="2" charset="-122"/>
              </a:rPr>
              <a:t>开发。其缺点是过于庞大，不宜上手，新手难于把握整个程序各部分之间的关系；对机器的硬件要求较高，比较吃内存，运行速度显得较慢。 </a:t>
            </a:r>
          </a:p>
          <a:p>
            <a:pPr marL="990600" lvl="1" indent="-533400" eaLnBrk="1" hangingPunct="1">
              <a:lnSpc>
                <a:spcPct val="90000"/>
              </a:lnSpc>
            </a:pPr>
            <a:endParaRPr lang="zh-CN" altLang="en-US" sz="2200" b="1" baseline="0" dirty="0">
              <a:latin typeface="Times New Roman" panose="02020503050405090304" pitchFamily="18" charset="0"/>
              <a:ea typeface="楷体-简" panose="02010600040101010101" pitchFamily="2" charset="-122"/>
            </a:endParaRPr>
          </a:p>
          <a:p>
            <a:pPr marL="990600" lvl="1" indent="-533400" eaLnBrk="1" hangingPunct="1">
              <a:lnSpc>
                <a:spcPct val="90000"/>
              </a:lnSpc>
            </a:pPr>
            <a:r>
              <a:rPr lang="en-US" altLang="zh-CN" sz="2200" b="1" baseline="0" dirty="0">
                <a:latin typeface="Times New Roman" panose="02020503050405090304" pitchFamily="18" charset="0"/>
                <a:ea typeface="楷体-简" panose="02010600040101010101" pitchFamily="2" charset="-122"/>
              </a:rPr>
              <a:t>NetBeans IDE </a:t>
            </a:r>
            <a:r>
              <a:rPr lang="zh-CN" altLang="en-US" sz="2200" b="1" baseline="0" dirty="0">
                <a:latin typeface="Times New Roman" panose="02020503050405090304" pitchFamily="18" charset="0"/>
                <a:ea typeface="楷体-简" panose="02010600040101010101" pitchFamily="2" charset="-122"/>
              </a:rPr>
              <a:t>是</a:t>
            </a:r>
            <a:r>
              <a:rPr lang="en-US" altLang="zh-CN" sz="2200" b="1" baseline="0" dirty="0">
                <a:latin typeface="Times New Roman" panose="02020503050405090304" pitchFamily="18" charset="0"/>
                <a:ea typeface="楷体-简" panose="02010600040101010101" pitchFamily="2" charset="-122"/>
              </a:rPr>
              <a:t>Sun</a:t>
            </a:r>
            <a:r>
              <a:rPr lang="zh-CN" altLang="en-US" sz="2200" b="1" baseline="0" dirty="0">
                <a:latin typeface="Times New Roman" panose="02020503050405090304" pitchFamily="18" charset="0"/>
                <a:ea typeface="楷体-简" panose="02010600040101010101" pitchFamily="2" charset="-122"/>
              </a:rPr>
              <a:t>公司发布的，也是支持新的</a:t>
            </a:r>
            <a:r>
              <a:rPr lang="en-US" altLang="zh-CN" sz="2200" b="1" baseline="0" dirty="0">
                <a:latin typeface="Times New Roman" panose="02020503050405090304" pitchFamily="18" charset="0"/>
                <a:ea typeface="楷体-简" panose="02010600040101010101" pitchFamily="2" charset="-122"/>
              </a:rPr>
              <a:t>J2SE</a:t>
            </a:r>
            <a:r>
              <a:rPr lang="zh-CN" altLang="en-US" sz="2200" b="1" baseline="0" dirty="0">
                <a:latin typeface="Times New Roman" panose="02020503050405090304" pitchFamily="18" charset="0"/>
                <a:ea typeface="楷体-简" panose="02010600040101010101" pitchFamily="2" charset="-122"/>
              </a:rPr>
              <a:t>平台</a:t>
            </a:r>
            <a:r>
              <a:rPr lang="en-US" altLang="zh-CN" sz="2200" b="1" baseline="0" dirty="0">
                <a:latin typeface="Times New Roman" panose="02020503050405090304" pitchFamily="18" charset="0"/>
                <a:ea typeface="楷体-简" panose="02010600040101010101" pitchFamily="2" charset="-122"/>
              </a:rPr>
              <a:t>5.0</a:t>
            </a:r>
            <a:r>
              <a:rPr lang="zh-CN" altLang="en-US" sz="2200" b="1" baseline="0" dirty="0">
                <a:latin typeface="Times New Roman" panose="02020503050405090304" pitchFamily="18" charset="0"/>
                <a:ea typeface="楷体-简" panose="02010600040101010101" pitchFamily="2" charset="-122"/>
              </a:rPr>
              <a:t>版的第一个</a:t>
            </a:r>
            <a:r>
              <a:rPr lang="en-US" altLang="zh-CN" sz="2200" b="1" baseline="0" dirty="0">
                <a:latin typeface="Times New Roman" panose="02020503050405090304" pitchFamily="18" charset="0"/>
                <a:ea typeface="楷体-简" panose="02010600040101010101" pitchFamily="2" charset="-122"/>
              </a:rPr>
              <a:t>IDE</a:t>
            </a:r>
            <a:r>
              <a:rPr lang="zh-CN" altLang="en-US" sz="2200" b="1" baseline="0" dirty="0">
                <a:latin typeface="Times New Roman" panose="02020503050405090304" pitchFamily="18" charset="0"/>
                <a:ea typeface="楷体-简" panose="02010600040101010101" pitchFamily="2" charset="-122"/>
              </a:rPr>
              <a:t>。</a:t>
            </a:r>
            <a:r>
              <a:rPr lang="en-US" altLang="zh-CN" sz="2200" b="1" baseline="0" dirty="0">
                <a:latin typeface="Times New Roman" panose="02020503050405090304" pitchFamily="18" charset="0"/>
                <a:ea typeface="楷体-简" panose="02010600040101010101" pitchFamily="2" charset="-122"/>
              </a:rPr>
              <a:t>Sun</a:t>
            </a:r>
            <a:r>
              <a:rPr lang="zh-CN" altLang="en-US" sz="2200" b="1" baseline="0" dirty="0">
                <a:latin typeface="Times New Roman" panose="02020503050405090304" pitchFamily="18" charset="0"/>
                <a:ea typeface="楷体-简" panose="02010600040101010101" pitchFamily="2" charset="-122"/>
              </a:rPr>
              <a:t>公司将该软件和</a:t>
            </a:r>
            <a:r>
              <a:rPr lang="en-US" altLang="zh-CN" sz="2200" b="1" baseline="0" dirty="0">
                <a:latin typeface="Times New Roman" panose="02020503050405090304" pitchFamily="18" charset="0"/>
                <a:ea typeface="楷体-简" panose="02010600040101010101" pitchFamily="2" charset="-122"/>
              </a:rPr>
              <a:t>J2SE 5</a:t>
            </a:r>
            <a:r>
              <a:rPr lang="zh-CN" altLang="en-US" sz="2200" b="1" baseline="0" dirty="0">
                <a:latin typeface="Times New Roman" panose="02020503050405090304" pitchFamily="18" charset="0"/>
                <a:ea typeface="楷体-简" panose="02010600040101010101" pitchFamily="2" charset="-122"/>
              </a:rPr>
              <a:t>打包在一起，两者可以一并下载和安装，十分方便。 它可以完成程序设计、资源重用、代码编译、调试测试等一系列任务。</a:t>
            </a:r>
          </a:p>
        </p:txBody>
      </p:sp>
      <p:sp>
        <p:nvSpPr>
          <p:cNvPr id="3" name="矩形 2"/>
          <p:cNvSpPr/>
          <p:nvPr/>
        </p:nvSpPr>
        <p:spPr>
          <a:xfrm>
            <a:off x="4728241" y="5661248"/>
            <a:ext cx="4415760" cy="1384995"/>
          </a:xfrm>
          <a:prstGeom prst="rect">
            <a:avLst/>
          </a:prstGeom>
          <a:noFill/>
        </p:spPr>
        <p:txBody>
          <a:bodyPr wrap="none" lIns="91440" tIns="45720" rIns="91440" bIns="45720">
            <a:spAutoFit/>
          </a:bodyPr>
          <a:lstStyle/>
          <a:p>
            <a:pPr algn="ctr"/>
            <a:r>
              <a:rPr lang="en-US" altLang="zh-CN" sz="4000" b="1" dirty="0">
                <a:ln w="22225">
                  <a:solidFill>
                    <a:schemeClr val="accent2"/>
                  </a:solidFill>
                  <a:prstDash val="solid"/>
                </a:ln>
                <a:solidFill>
                  <a:schemeClr val="accent2">
                    <a:lumMod val="40000"/>
                    <a:lumOff val="60000"/>
                  </a:schemeClr>
                </a:solidFill>
                <a:latin typeface="Arial" panose="020B0604020202090204" pitchFamily="34" charset="0"/>
              </a:rPr>
              <a:t>IntelliJ IDEA</a:t>
            </a:r>
          </a:p>
          <a:p>
            <a:pPr algn="ctr"/>
            <a:r>
              <a:rPr lang="en-GB" altLang="zh-CN" sz="2200" b="1" dirty="0">
                <a:latin typeface="+mn-lt"/>
                <a:ea typeface="+mn-ea"/>
                <a:hlinkClick r:id="rId3"/>
              </a:rPr>
              <a:t>https://www.jetbrains.com/idea/</a:t>
            </a:r>
            <a:endParaRPr lang="en-GB" altLang="zh-CN" sz="2200" b="1" dirty="0">
              <a:latin typeface="+mn-lt"/>
              <a:ea typeface="+mn-ea"/>
            </a:endParaRPr>
          </a:p>
          <a:p>
            <a:pPr algn="ctr"/>
            <a:r>
              <a:rPr lang="zh-CN" altLang="en-US" sz="2200" b="1" dirty="0">
                <a:latin typeface="+mn-lt"/>
                <a:ea typeface="+mn-ea"/>
              </a:rPr>
              <a:t>社区版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1.6  Java</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开发工具包的安装与配置</a:t>
            </a:r>
          </a:p>
        </p:txBody>
      </p:sp>
      <p:sp>
        <p:nvSpPr>
          <p:cNvPr id="23555" name="Rectangle 3"/>
          <p:cNvSpPr>
            <a:spLocks noGrp="1" noChangeArrowheads="1"/>
          </p:cNvSpPr>
          <p:nvPr>
            <p:ph type="body" idx="1"/>
          </p:nvPr>
        </p:nvSpPr>
        <p:spPr>
          <a:xfrm>
            <a:off x="395536" y="1557338"/>
            <a:ext cx="8748464" cy="5300662"/>
          </a:xfrm>
        </p:spPr>
        <p:txBody>
          <a:bodyPr/>
          <a:lstStyle/>
          <a:p>
            <a:pPr marL="609600" indent="-609600" eaLnBrk="1" hangingPunct="1">
              <a:lnSpc>
                <a:spcPct val="150000"/>
              </a:lnSpc>
              <a:buFontTx/>
              <a:buNone/>
            </a:pPr>
            <a:r>
              <a:rPr lang="en-US" altLang="zh-CN" sz="2400" b="1" baseline="0" dirty="0">
                <a:latin typeface="Times New Roman" panose="02020503050405090304" pitchFamily="18" charset="0"/>
                <a:ea typeface="楷体-简" panose="02010600040101010101" pitchFamily="2" charset="-122"/>
              </a:rPr>
              <a:t>         </a:t>
            </a:r>
            <a:r>
              <a:rPr lang="zh-CN" altLang="en-US" sz="2400" b="1" baseline="0" dirty="0">
                <a:latin typeface="Times New Roman" panose="02020503050405090304" pitchFamily="18" charset="0"/>
                <a:ea typeface="楷体-简" panose="02010600040101010101" pitchFamily="2" charset="-122"/>
              </a:rPr>
              <a:t>学习</a:t>
            </a:r>
            <a:r>
              <a:rPr lang="en-US" altLang="zh-CN" sz="2400" b="1" baseline="0" dirty="0">
                <a:latin typeface="Times New Roman" panose="02020503050405090304" pitchFamily="18" charset="0"/>
                <a:ea typeface="楷体-简" panose="02010600040101010101" pitchFamily="2" charset="-122"/>
              </a:rPr>
              <a:t>Java</a:t>
            </a:r>
            <a:r>
              <a:rPr lang="zh-CN" altLang="en-US" sz="2400" b="1" baseline="0" dirty="0">
                <a:latin typeface="Times New Roman" panose="02020503050405090304" pitchFamily="18" charset="0"/>
                <a:ea typeface="楷体-简" panose="02010600040101010101" pitchFamily="2" charset="-122"/>
              </a:rPr>
              <a:t>必须从</a:t>
            </a:r>
            <a:r>
              <a:rPr lang="en-US" altLang="zh-CN" sz="2400" b="1" baseline="0" dirty="0">
                <a:latin typeface="Times New Roman" panose="02020503050405090304" pitchFamily="18" charset="0"/>
                <a:ea typeface="楷体-简" panose="02010600040101010101" pitchFamily="2" charset="-122"/>
              </a:rPr>
              <a:t>J2SE</a:t>
            </a:r>
            <a:r>
              <a:rPr lang="zh-CN" altLang="en-US" sz="2400" b="1" baseline="0" dirty="0">
                <a:latin typeface="Times New Roman" panose="02020503050405090304" pitchFamily="18" charset="0"/>
                <a:ea typeface="楷体-简" panose="02010600040101010101" pitchFamily="2" charset="-122"/>
              </a:rPr>
              <a:t>开始，因此，本课程基于</a:t>
            </a:r>
            <a:r>
              <a:rPr lang="en-US" altLang="zh-CN" sz="2400" b="1" baseline="0" dirty="0">
                <a:latin typeface="Times New Roman" panose="02020503050405090304" pitchFamily="18" charset="0"/>
                <a:ea typeface="楷体-简" panose="02010600040101010101" pitchFamily="2" charset="-122"/>
              </a:rPr>
              <a:t>J2SE</a:t>
            </a:r>
            <a:r>
              <a:rPr lang="zh-CN" altLang="en-US" sz="2400" b="1" baseline="0" dirty="0">
                <a:latin typeface="Times New Roman" panose="02020503050405090304" pitchFamily="18" charset="0"/>
                <a:ea typeface="楷体-简" panose="02010600040101010101" pitchFamily="2" charset="-122"/>
              </a:rPr>
              <a:t>来学习</a:t>
            </a:r>
            <a:r>
              <a:rPr lang="en-US" altLang="zh-CN" sz="2400" b="1" baseline="0" dirty="0">
                <a:latin typeface="Times New Roman" panose="02020503050405090304" pitchFamily="18" charset="0"/>
                <a:ea typeface="楷体-简" panose="02010600040101010101" pitchFamily="2" charset="-122"/>
              </a:rPr>
              <a:t>Java</a:t>
            </a:r>
            <a:r>
              <a:rPr lang="zh-CN" altLang="en-US" sz="2400" b="1" baseline="0" dirty="0">
                <a:latin typeface="Times New Roman" panose="02020503050405090304" pitchFamily="18" charset="0"/>
                <a:ea typeface="楷体-简" panose="02010600040101010101" pitchFamily="2" charset="-122"/>
              </a:rPr>
              <a:t>。</a:t>
            </a:r>
            <a:r>
              <a:rPr lang="en-US" altLang="zh-CN" sz="2400" b="1" baseline="0" dirty="0">
                <a:latin typeface="Times New Roman" panose="02020503050405090304" pitchFamily="18" charset="0"/>
                <a:ea typeface="楷体-简" panose="02010600040101010101" pitchFamily="2" charset="-122"/>
              </a:rPr>
              <a:t>Sun </a:t>
            </a:r>
            <a:r>
              <a:rPr lang="zh-CN" altLang="en-US" sz="2400" b="1" baseline="0" dirty="0">
                <a:latin typeface="Times New Roman" panose="02020503050405090304" pitchFamily="18" charset="0"/>
                <a:ea typeface="楷体-简" panose="02010600040101010101" pitchFamily="2" charset="-122"/>
              </a:rPr>
              <a:t>公司提供了免费的软件开发工具包，其中包括编译器、虚拟机、调试器等开发工具，称为</a:t>
            </a:r>
            <a:r>
              <a:rPr lang="en-US" altLang="zh-CN" sz="2400" b="1" baseline="0" dirty="0">
                <a:latin typeface="Times New Roman" panose="02020503050405090304" pitchFamily="18" charset="0"/>
                <a:ea typeface="楷体-简" panose="02010600040101010101" pitchFamily="2" charset="-122"/>
              </a:rPr>
              <a:t>Java</a:t>
            </a:r>
            <a:r>
              <a:rPr lang="zh-CN" altLang="en-US" sz="2400" b="1" baseline="0" dirty="0">
                <a:latin typeface="Times New Roman" panose="02020503050405090304" pitchFamily="18" charset="0"/>
                <a:ea typeface="楷体-简" panose="02010600040101010101" pitchFamily="2" charset="-122"/>
              </a:rPr>
              <a:t>开发工具包或</a:t>
            </a:r>
            <a:r>
              <a:rPr lang="en-US" altLang="zh-CN" sz="2400" b="1" baseline="0" dirty="0">
                <a:latin typeface="Times New Roman" panose="02020503050405090304" pitchFamily="18" charset="0"/>
                <a:ea typeface="楷体-简" panose="02010600040101010101" pitchFamily="2" charset="-122"/>
              </a:rPr>
              <a:t>JDK</a:t>
            </a:r>
            <a:r>
              <a:rPr lang="zh-CN" altLang="en-US" sz="2400" b="1" baseline="0" dirty="0">
                <a:latin typeface="Times New Roman" panose="02020503050405090304" pitchFamily="18" charset="0"/>
                <a:ea typeface="楷体-简" panose="02010600040101010101" pitchFamily="2" charset="-122"/>
              </a:rPr>
              <a:t>。</a:t>
            </a:r>
            <a:r>
              <a:rPr lang="en-US" altLang="zh-CN" sz="2400" b="1" baseline="0" dirty="0">
                <a:solidFill>
                  <a:srgbClr val="7030A0"/>
                </a:solidFill>
                <a:latin typeface="Times New Roman" panose="02020503050405090304" pitchFamily="18" charset="0"/>
                <a:ea typeface="楷体-简" panose="02010600040101010101" pitchFamily="2" charset="-122"/>
              </a:rPr>
              <a:t>Windows</a:t>
            </a:r>
            <a:r>
              <a:rPr lang="zh-CN" altLang="en-US" sz="2400" b="1" baseline="0" dirty="0">
                <a:solidFill>
                  <a:srgbClr val="7030A0"/>
                </a:solidFill>
                <a:latin typeface="Times New Roman" panose="02020503050405090304" pitchFamily="18" charset="0"/>
                <a:ea typeface="楷体-简" panose="02010600040101010101" pitchFamily="2" charset="-122"/>
              </a:rPr>
              <a:t>版的</a:t>
            </a:r>
            <a:r>
              <a:rPr lang="en-US" altLang="zh-CN" sz="2400" b="1" baseline="0" dirty="0">
                <a:solidFill>
                  <a:srgbClr val="7030A0"/>
                </a:solidFill>
                <a:latin typeface="Times New Roman" panose="02020503050405090304" pitchFamily="18" charset="0"/>
                <a:ea typeface="楷体-简" panose="02010600040101010101" pitchFamily="2" charset="-122"/>
              </a:rPr>
              <a:t>JDK</a:t>
            </a:r>
            <a:r>
              <a:rPr lang="zh-CN" altLang="en-US" sz="2400" b="1" baseline="0" dirty="0">
                <a:solidFill>
                  <a:srgbClr val="7030A0"/>
                </a:solidFill>
                <a:latin typeface="Times New Roman" panose="02020503050405090304" pitchFamily="18" charset="0"/>
                <a:ea typeface="楷体-简" panose="02010600040101010101" pitchFamily="2" charset="-122"/>
              </a:rPr>
              <a:t>可以从如下站点下载</a:t>
            </a:r>
            <a:r>
              <a:rPr lang="zh-CN" altLang="en-US" sz="2400" b="1" baseline="0" dirty="0">
                <a:latin typeface="Times New Roman" panose="02020503050405090304" pitchFamily="18" charset="0"/>
                <a:ea typeface="楷体-简" panose="02010600040101010101" pitchFamily="2" charset="-122"/>
              </a:rPr>
              <a:t>：</a:t>
            </a:r>
          </a:p>
          <a:p>
            <a:pPr marL="609600" indent="-609600" eaLnBrk="1" hangingPunct="1">
              <a:lnSpc>
                <a:spcPct val="150000"/>
              </a:lnSpc>
              <a:buFontTx/>
              <a:buNone/>
            </a:pPr>
            <a:r>
              <a:rPr lang="en-US" altLang="zh-CN" sz="2400" b="1" baseline="0" dirty="0">
                <a:latin typeface="Times New Roman" panose="02020503050405090304" pitchFamily="18" charset="0"/>
                <a:ea typeface="楷体-简" panose="02010600040101010101" pitchFamily="2" charset="-122"/>
              </a:rPr>
              <a:t> </a:t>
            </a:r>
          </a:p>
          <a:p>
            <a:pPr marL="609600" indent="-609600" eaLnBrk="1" hangingPunct="1">
              <a:lnSpc>
                <a:spcPct val="150000"/>
              </a:lnSpc>
              <a:buFontTx/>
              <a:buNone/>
            </a:pPr>
            <a:r>
              <a:rPr lang="en-US" altLang="zh-CN" sz="2400" b="1" baseline="0" dirty="0">
                <a:latin typeface="Times New Roman" panose="02020503050405090304" pitchFamily="18" charset="0"/>
                <a:ea typeface="楷体-简" panose="02010600040101010101" pitchFamily="2" charset="-122"/>
              </a:rPr>
              <a:t>https://</a:t>
            </a:r>
            <a:r>
              <a:rPr lang="en-US" altLang="zh-CN" sz="2400" b="1" baseline="0" dirty="0" err="1">
                <a:latin typeface="Times New Roman" panose="02020503050405090304" pitchFamily="18" charset="0"/>
                <a:ea typeface="楷体-简" panose="02010600040101010101" pitchFamily="2" charset="-122"/>
              </a:rPr>
              <a:t>www.oracle.com</a:t>
            </a:r>
            <a:r>
              <a:rPr lang="en-US" altLang="zh-CN" sz="2400" b="1" baseline="0" dirty="0">
                <a:latin typeface="Times New Roman" panose="02020503050405090304" pitchFamily="18" charset="0"/>
                <a:ea typeface="楷体-简" panose="02010600040101010101" pitchFamily="2" charset="-122"/>
              </a:rPr>
              <a:t>/java/technologies/downloads/#jdk21-windows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1499372"/>
            <a:ext cx="9144000" cy="38592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76436" y="76200"/>
            <a:ext cx="3962400" cy="3022600"/>
          </a:xfrm>
          <a:prstGeom prst="rect">
            <a:avLst/>
          </a:prstGeom>
        </p:spPr>
      </p:pic>
      <p:pic>
        <p:nvPicPr>
          <p:cNvPr id="3" name="图片 2"/>
          <p:cNvPicPr>
            <a:picLocks noChangeAspect="1"/>
          </p:cNvPicPr>
          <p:nvPr/>
        </p:nvPicPr>
        <p:blipFill>
          <a:blip r:embed="rId3"/>
          <a:stretch>
            <a:fillRect/>
          </a:stretch>
        </p:blipFill>
        <p:spPr>
          <a:xfrm>
            <a:off x="4515346" y="162123"/>
            <a:ext cx="3962400" cy="3022600"/>
          </a:xfrm>
          <a:prstGeom prst="rect">
            <a:avLst/>
          </a:prstGeom>
        </p:spPr>
      </p:pic>
      <p:pic>
        <p:nvPicPr>
          <p:cNvPr id="4" name="图片 3"/>
          <p:cNvPicPr>
            <a:picLocks noChangeAspect="1"/>
          </p:cNvPicPr>
          <p:nvPr/>
        </p:nvPicPr>
        <p:blipFill>
          <a:blip r:embed="rId4"/>
          <a:stretch>
            <a:fillRect/>
          </a:stretch>
        </p:blipFill>
        <p:spPr>
          <a:xfrm>
            <a:off x="376436" y="3184723"/>
            <a:ext cx="3962400" cy="3022600"/>
          </a:xfrm>
          <a:prstGeom prst="rect">
            <a:avLst/>
          </a:prstGeom>
        </p:spPr>
      </p:pic>
      <p:pic>
        <p:nvPicPr>
          <p:cNvPr id="5" name="图片 4"/>
          <p:cNvPicPr>
            <a:picLocks noChangeAspect="1"/>
          </p:cNvPicPr>
          <p:nvPr/>
        </p:nvPicPr>
        <p:blipFill>
          <a:blip r:embed="rId5"/>
          <a:stretch>
            <a:fillRect/>
          </a:stretch>
        </p:blipFill>
        <p:spPr>
          <a:xfrm>
            <a:off x="4553644" y="3268860"/>
            <a:ext cx="3962400" cy="3022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67544" y="188640"/>
            <a:ext cx="3962400" cy="3022600"/>
          </a:xfrm>
          <a:prstGeom prst="rect">
            <a:avLst/>
          </a:prstGeom>
        </p:spPr>
      </p:pic>
      <p:pic>
        <p:nvPicPr>
          <p:cNvPr id="3" name="图片 2"/>
          <p:cNvPicPr>
            <a:picLocks noChangeAspect="1"/>
          </p:cNvPicPr>
          <p:nvPr/>
        </p:nvPicPr>
        <p:blipFill>
          <a:blip r:embed="rId3"/>
          <a:stretch>
            <a:fillRect/>
          </a:stretch>
        </p:blipFill>
        <p:spPr>
          <a:xfrm>
            <a:off x="4716016" y="188640"/>
            <a:ext cx="3962400" cy="3022600"/>
          </a:xfrm>
          <a:prstGeom prst="rect">
            <a:avLst/>
          </a:prstGeom>
        </p:spPr>
      </p:pic>
      <p:pic>
        <p:nvPicPr>
          <p:cNvPr id="4" name="图片 3"/>
          <p:cNvPicPr>
            <a:picLocks noChangeAspect="1"/>
          </p:cNvPicPr>
          <p:nvPr/>
        </p:nvPicPr>
        <p:blipFill>
          <a:blip r:embed="rId4"/>
          <a:stretch>
            <a:fillRect/>
          </a:stretch>
        </p:blipFill>
        <p:spPr>
          <a:xfrm>
            <a:off x="323528" y="3216374"/>
            <a:ext cx="6094698" cy="3236962"/>
          </a:xfrm>
          <a:prstGeom prst="rect">
            <a:avLst/>
          </a:prstGeom>
        </p:spPr>
      </p:pic>
      <p:pic>
        <p:nvPicPr>
          <p:cNvPr id="6" name="图片 5"/>
          <p:cNvPicPr>
            <a:picLocks noChangeAspect="1"/>
          </p:cNvPicPr>
          <p:nvPr/>
        </p:nvPicPr>
        <p:blipFill>
          <a:blip r:embed="rId5"/>
          <a:stretch>
            <a:fillRect/>
          </a:stretch>
        </p:blipFill>
        <p:spPr>
          <a:xfrm>
            <a:off x="290066" y="6224736"/>
            <a:ext cx="8851900" cy="457200"/>
          </a:xfrm>
          <a:prstGeom prst="rect">
            <a:avLst/>
          </a:prstGeom>
        </p:spPr>
      </p:pic>
      <p:pic>
        <p:nvPicPr>
          <p:cNvPr id="7" name="图片 6"/>
          <p:cNvPicPr>
            <a:picLocks noChangeAspect="1"/>
          </p:cNvPicPr>
          <p:nvPr/>
        </p:nvPicPr>
        <p:blipFill>
          <a:blip r:embed="rId6"/>
          <a:stretch>
            <a:fillRect/>
          </a:stretch>
        </p:blipFill>
        <p:spPr>
          <a:xfrm>
            <a:off x="6697216" y="3326239"/>
            <a:ext cx="2437532" cy="2860769"/>
          </a:xfrm>
          <a:prstGeom prst="rect">
            <a:avLst/>
          </a:prstGeom>
        </p:spPr>
      </p:pic>
      <p:sp>
        <p:nvSpPr>
          <p:cNvPr id="8" name="右箭头 7"/>
          <p:cNvSpPr/>
          <p:nvPr/>
        </p:nvSpPr>
        <p:spPr bwMode="auto">
          <a:xfrm>
            <a:off x="5004048" y="4509120"/>
            <a:ext cx="1557282" cy="325735"/>
          </a:xfrm>
          <a:prstGeom prst="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
        <p:nvSpPr>
          <p:cNvPr id="10" name="右箭头 9"/>
          <p:cNvSpPr/>
          <p:nvPr/>
        </p:nvSpPr>
        <p:spPr bwMode="auto">
          <a:xfrm rot="16200000">
            <a:off x="5062609" y="5330924"/>
            <a:ext cx="1440160" cy="309736"/>
          </a:xfrm>
          <a:prstGeom prst="right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安装</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Java</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帮助文档</a:t>
            </a:r>
            <a:b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br>
            <a:endPar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endParaRPr>
          </a:p>
        </p:txBody>
      </p:sp>
      <p:sp>
        <p:nvSpPr>
          <p:cNvPr id="31747" name="Rectangle 3"/>
          <p:cNvSpPr>
            <a:spLocks noGrp="1" noChangeArrowheads="1"/>
          </p:cNvSpPr>
          <p:nvPr>
            <p:ph type="body" idx="1"/>
          </p:nvPr>
        </p:nvSpPr>
        <p:spPr>
          <a:xfrm>
            <a:off x="468313" y="1052513"/>
            <a:ext cx="8064127" cy="4525962"/>
          </a:xfrm>
        </p:spPr>
        <p:txBody>
          <a:bodyPr/>
          <a:lstStyle/>
          <a:p>
            <a:pPr marL="609600" indent="-609600" eaLnBrk="1" hangingPunct="1">
              <a:buFontTx/>
              <a:buNone/>
            </a:pPr>
            <a:endParaRPr lang="en-US" altLang="zh-CN" baseline="0" dirty="0">
              <a:latin typeface="Times New Roman" panose="02020503050405090304" pitchFamily="18" charset="0"/>
              <a:ea typeface="楷体-简" panose="02010600040101010101" pitchFamily="2" charset="-122"/>
            </a:endParaRPr>
          </a:p>
          <a:p>
            <a:pPr marL="609600" indent="-609600" eaLnBrk="1" hangingPunct="1"/>
            <a:r>
              <a:rPr lang="en-US" altLang="zh-CN" sz="2400" baseline="0" dirty="0">
                <a:latin typeface="Times New Roman" panose="02020503050405090304" pitchFamily="18" charset="0"/>
                <a:ea typeface="楷体-简" panose="02010600040101010101" pitchFamily="2" charset="-122"/>
              </a:rPr>
              <a:t>JDK</a:t>
            </a:r>
            <a:r>
              <a:rPr lang="zh-CN" altLang="en-US" sz="2400" baseline="0" dirty="0">
                <a:latin typeface="Times New Roman" panose="02020503050405090304" pitchFamily="18" charset="0"/>
                <a:ea typeface="楷体-简" panose="02010600040101010101" pitchFamily="2" charset="-122"/>
              </a:rPr>
              <a:t>文档通常有两种格式：</a:t>
            </a:r>
            <a:r>
              <a:rPr lang="en-US" altLang="zh-CN" sz="2400" baseline="0" dirty="0">
                <a:latin typeface="Times New Roman" panose="02020503050405090304" pitchFamily="18" charset="0"/>
                <a:ea typeface="楷体-简" panose="02010600040101010101" pitchFamily="2" charset="-122"/>
              </a:rPr>
              <a:t>HTML </a:t>
            </a:r>
            <a:r>
              <a:rPr lang="zh-CN" altLang="en-US" sz="2400" baseline="0" dirty="0">
                <a:latin typeface="Times New Roman" panose="02020503050405090304" pitchFamily="18" charset="0"/>
                <a:ea typeface="楷体-简" panose="02010600040101010101" pitchFamily="2" charset="-122"/>
              </a:rPr>
              <a:t>格式和</a:t>
            </a:r>
            <a:r>
              <a:rPr lang="en-US" altLang="zh-CN" sz="2400" baseline="0" dirty="0">
                <a:latin typeface="Times New Roman" panose="02020503050405090304" pitchFamily="18" charset="0"/>
                <a:ea typeface="楷体-简" panose="02010600040101010101" pitchFamily="2" charset="-122"/>
              </a:rPr>
              <a:t>CHM</a:t>
            </a:r>
            <a:r>
              <a:rPr lang="zh-CN" altLang="en-US" sz="2400" baseline="0" dirty="0">
                <a:latin typeface="Times New Roman" panose="02020503050405090304" pitchFamily="18" charset="0"/>
                <a:ea typeface="楷体-简" panose="02010600040101010101" pitchFamily="2" charset="-122"/>
              </a:rPr>
              <a:t>格式。其中</a:t>
            </a:r>
            <a:r>
              <a:rPr lang="en-US" altLang="zh-CN" sz="2400" baseline="0" dirty="0">
                <a:latin typeface="Times New Roman" panose="02020503050405090304" pitchFamily="18" charset="0"/>
                <a:ea typeface="楷体-简" panose="02010600040101010101" pitchFamily="2" charset="-122"/>
              </a:rPr>
              <a:t>html</a:t>
            </a:r>
            <a:r>
              <a:rPr lang="zh-CN" altLang="en-US" sz="2400" baseline="0" dirty="0">
                <a:latin typeface="Times New Roman" panose="02020503050405090304" pitchFamily="18" charset="0"/>
                <a:ea typeface="楷体-简" panose="02010600040101010101" pitchFamily="2" charset="-122"/>
              </a:rPr>
              <a:t>文档属于官方的文档。</a:t>
            </a:r>
            <a:br>
              <a:rPr lang="zh-CN" altLang="en-US" sz="2400" baseline="0" dirty="0">
                <a:latin typeface="Times New Roman" panose="02020503050405090304" pitchFamily="18" charset="0"/>
                <a:ea typeface="楷体-简" panose="02010600040101010101" pitchFamily="2" charset="-122"/>
              </a:rPr>
            </a:br>
            <a:r>
              <a:rPr lang="zh-CN" altLang="en-US" sz="2400" baseline="0" dirty="0">
                <a:latin typeface="Times New Roman" panose="02020503050405090304" pitchFamily="18" charset="0"/>
                <a:ea typeface="楷体-简" panose="02010600040101010101" pitchFamily="2" charset="-122"/>
              </a:rPr>
              <a:t>　　</a:t>
            </a:r>
            <a:r>
              <a:rPr lang="fi-FI" altLang="zh-CN" sz="2400" baseline="0" dirty="0">
                <a:latin typeface="Times New Roman" panose="02020503050405090304" pitchFamily="18" charset="0"/>
                <a:ea typeface="楷体-简" panose="02010600040101010101" pitchFamily="2" charset="-122"/>
              </a:rPr>
              <a:t> </a:t>
            </a:r>
            <a:r>
              <a:rPr lang="fi-FI" altLang="zh-CN" sz="2000" baseline="0" dirty="0" err="1">
                <a:latin typeface="Times New Roman" panose="02020503050405090304" pitchFamily="18" charset="0"/>
                <a:ea typeface="楷体-简" panose="02010600040101010101" pitchFamily="2" charset="-122"/>
              </a:rPr>
              <a:t>https</a:t>
            </a:r>
            <a:r>
              <a:rPr lang="fi-FI" altLang="zh-CN" sz="2000" baseline="0" dirty="0">
                <a:latin typeface="Times New Roman" panose="02020503050405090304" pitchFamily="18" charset="0"/>
                <a:ea typeface="楷体-简" panose="02010600040101010101" pitchFamily="2" charset="-122"/>
              </a:rPr>
              <a:t>://</a:t>
            </a:r>
            <a:r>
              <a:rPr lang="fi-FI" altLang="zh-CN" sz="2000" baseline="0" dirty="0" err="1">
                <a:latin typeface="Times New Roman" panose="02020503050405090304" pitchFamily="18" charset="0"/>
                <a:ea typeface="楷体-简" panose="02010600040101010101" pitchFamily="2" charset="-122"/>
              </a:rPr>
              <a:t>docs.oracle.com</a:t>
            </a:r>
            <a:r>
              <a:rPr lang="fi-FI" altLang="zh-CN" sz="2000" baseline="0" dirty="0">
                <a:latin typeface="Times New Roman" panose="02020503050405090304" pitchFamily="18" charset="0"/>
                <a:ea typeface="楷体-简" panose="02010600040101010101" pitchFamily="2" charset="-122"/>
              </a:rPr>
              <a:t>/en/</a:t>
            </a:r>
            <a:r>
              <a:rPr lang="fi-FI" altLang="zh-CN" sz="2000" baseline="0" dirty="0" err="1">
                <a:latin typeface="Times New Roman" panose="02020503050405090304" pitchFamily="18" charset="0"/>
                <a:ea typeface="楷体-简" panose="02010600040101010101" pitchFamily="2" charset="-122"/>
              </a:rPr>
              <a:t>java</a:t>
            </a:r>
            <a:r>
              <a:rPr lang="fi-FI" altLang="zh-CN" sz="2000" baseline="0" dirty="0">
                <a:latin typeface="Times New Roman" panose="02020503050405090304" pitchFamily="18" charset="0"/>
                <a:ea typeface="楷体-简" panose="02010600040101010101" pitchFamily="2" charset="-122"/>
              </a:rPr>
              <a:t>/</a:t>
            </a:r>
            <a:r>
              <a:rPr lang="fi-FI" altLang="zh-CN" sz="2000" baseline="0" dirty="0" err="1">
                <a:latin typeface="Times New Roman" panose="02020503050405090304" pitchFamily="18" charset="0"/>
                <a:ea typeface="楷体-简" panose="02010600040101010101" pitchFamily="2" charset="-122"/>
              </a:rPr>
              <a:t>javase</a:t>
            </a:r>
            <a:r>
              <a:rPr lang="fi-FI" altLang="zh-CN" sz="2000" baseline="0" dirty="0">
                <a:latin typeface="Times New Roman" panose="02020503050405090304" pitchFamily="18" charset="0"/>
                <a:ea typeface="楷体-简" panose="02010600040101010101" pitchFamily="2" charset="-122"/>
              </a:rPr>
              <a:t>/</a:t>
            </a:r>
            <a:r>
              <a:rPr lang="fi-FI" altLang="zh-CN" sz="2000" baseline="0" dirty="0">
                <a:solidFill>
                  <a:srgbClr val="FF0000"/>
                </a:solidFill>
                <a:latin typeface="Times New Roman" panose="02020503050405090304" pitchFamily="18" charset="0"/>
                <a:ea typeface="楷体-简" panose="02010600040101010101" pitchFamily="2" charset="-122"/>
              </a:rPr>
              <a:t>21</a:t>
            </a:r>
            <a:r>
              <a:rPr lang="fi-FI" altLang="zh-CN" sz="2000" baseline="0" dirty="0">
                <a:latin typeface="Times New Roman" panose="02020503050405090304" pitchFamily="18" charset="0"/>
                <a:ea typeface="楷体-简" panose="02010600040101010101" pitchFamily="2" charset="-122"/>
              </a:rPr>
              <a:t>/</a:t>
            </a:r>
            <a:r>
              <a:rPr lang="fi-FI" altLang="zh-CN" sz="2000" baseline="0" dirty="0" err="1">
                <a:latin typeface="Times New Roman" panose="02020503050405090304" pitchFamily="18" charset="0"/>
                <a:ea typeface="楷体-简" panose="02010600040101010101" pitchFamily="2" charset="-122"/>
              </a:rPr>
              <a:t>docs</a:t>
            </a:r>
            <a:r>
              <a:rPr lang="fi-FI" altLang="zh-CN" sz="2000" baseline="0" dirty="0">
                <a:latin typeface="Times New Roman" panose="02020503050405090304" pitchFamily="18" charset="0"/>
                <a:ea typeface="楷体-简" panose="02010600040101010101" pitchFamily="2" charset="-122"/>
              </a:rPr>
              <a:t>/</a:t>
            </a:r>
            <a:r>
              <a:rPr lang="fi-FI" altLang="zh-CN" sz="2000" baseline="0" dirty="0" err="1">
                <a:latin typeface="Times New Roman" panose="02020503050405090304" pitchFamily="18" charset="0"/>
                <a:ea typeface="楷体-简" panose="02010600040101010101" pitchFamily="2" charset="-122"/>
              </a:rPr>
              <a:t>api</a:t>
            </a:r>
            <a:r>
              <a:rPr lang="fi-FI" altLang="zh-CN" sz="2000" baseline="0" dirty="0">
                <a:latin typeface="Times New Roman" panose="02020503050405090304" pitchFamily="18" charset="0"/>
                <a:ea typeface="楷体-简" panose="02010600040101010101" pitchFamily="2" charset="-122"/>
              </a:rPr>
              <a:t>/</a:t>
            </a:r>
            <a:r>
              <a:rPr lang="fi-FI" altLang="zh-CN" sz="2000" baseline="0" dirty="0" err="1">
                <a:latin typeface="Times New Roman" panose="02020503050405090304" pitchFamily="18" charset="0"/>
                <a:ea typeface="楷体-简" panose="02010600040101010101" pitchFamily="2" charset="-122"/>
              </a:rPr>
              <a:t>index.html</a:t>
            </a:r>
            <a:endParaRPr lang="fi-FI" altLang="zh-CN" sz="2000" baseline="0" dirty="0">
              <a:latin typeface="Times New Roman" panose="02020503050405090304" pitchFamily="18" charset="0"/>
              <a:ea typeface="楷体-简" panose="02010600040101010101" pitchFamily="2" charset="-122"/>
            </a:endParaRPr>
          </a:p>
          <a:p>
            <a:pPr marL="0" indent="0" eaLnBrk="1" hangingPunct="1">
              <a:buNone/>
            </a:pPr>
            <a:endParaRPr lang="zh-CN" altLang="en-US" sz="2000" baseline="0" dirty="0">
              <a:latin typeface="Times New Roman" panose="02020503050405090304" pitchFamily="18" charset="0"/>
              <a:ea typeface="楷体-简" panose="02010600040101010101" pitchFamily="2" charset="-122"/>
            </a:endParaRPr>
          </a:p>
          <a:p>
            <a:pPr marL="609600" indent="-609600" eaLnBrk="1" hangingPunct="1"/>
            <a:r>
              <a:rPr lang="zh-CN" altLang="en-US" sz="2400"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由于</a:t>
            </a:r>
            <a:r>
              <a:rPr lang="en-US" altLang="zh-CN" sz="2400"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JDK</a:t>
            </a:r>
            <a:r>
              <a:rPr lang="zh-CN" altLang="en-US" sz="2400"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的安装程序中并不包含帮助文档</a:t>
            </a:r>
            <a:r>
              <a:rPr lang="zh-CN" altLang="en-US" sz="2400" baseline="0" dirty="0">
                <a:latin typeface="Times New Roman" panose="02020503050405090304" pitchFamily="18" charset="0"/>
                <a:ea typeface="楷体-简" panose="02010600040101010101" pitchFamily="2" charset="-122"/>
              </a:rPr>
              <a:t>，因此必须从网站上下载进行安装。通常安装在</a:t>
            </a:r>
            <a:r>
              <a:rPr lang="en-US" altLang="zh-CN" sz="2400" baseline="0" dirty="0">
                <a:latin typeface="Times New Roman" panose="02020503050405090304" pitchFamily="18" charset="0"/>
                <a:ea typeface="楷体-简" panose="02010600040101010101" pitchFamily="2" charset="-122"/>
              </a:rPr>
              <a:t>JDK</a:t>
            </a:r>
            <a:r>
              <a:rPr lang="zh-CN" altLang="en-US" sz="2400" baseline="0" dirty="0">
                <a:latin typeface="Times New Roman" panose="02020503050405090304" pitchFamily="18" charset="0"/>
                <a:ea typeface="楷体-简" panose="02010600040101010101" pitchFamily="2" charset="-122"/>
              </a:rPr>
              <a:t>所在目录的</a:t>
            </a:r>
            <a:r>
              <a:rPr lang="en-US" altLang="zh-CN" sz="2400" baseline="0" dirty="0">
                <a:latin typeface="Times New Roman" panose="02020503050405090304" pitchFamily="18" charset="0"/>
                <a:ea typeface="楷体-简" panose="02010600040101010101" pitchFamily="2" charset="-122"/>
              </a:rPr>
              <a:t>docs</a:t>
            </a:r>
            <a:r>
              <a:rPr lang="zh-CN" altLang="en-US" sz="2400" baseline="0" dirty="0">
                <a:latin typeface="Times New Roman" panose="02020503050405090304" pitchFamily="18" charset="0"/>
                <a:ea typeface="楷体-简" panose="02010600040101010101" pitchFamily="2" charset="-122"/>
              </a:rPr>
              <a:t>子目录下面。用浏览器打开</a:t>
            </a:r>
            <a:r>
              <a:rPr lang="en-US" altLang="zh-CN" sz="2400" baseline="0" dirty="0">
                <a:latin typeface="Times New Roman" panose="02020503050405090304" pitchFamily="18" charset="0"/>
                <a:ea typeface="楷体-简" panose="02010600040101010101" pitchFamily="2" charset="-122"/>
              </a:rPr>
              <a:t>docs</a:t>
            </a:r>
            <a:r>
              <a:rPr lang="zh-CN" altLang="en-US" sz="2400" baseline="0" dirty="0">
                <a:latin typeface="Times New Roman" panose="02020503050405090304" pitchFamily="18" charset="0"/>
                <a:ea typeface="楷体-简" panose="02010600040101010101" pitchFamily="2" charset="-122"/>
              </a:rPr>
              <a:t>子目录下的</a:t>
            </a:r>
            <a:r>
              <a:rPr lang="en-US" altLang="zh-CN" sz="2400" baseline="0" dirty="0" err="1">
                <a:latin typeface="Times New Roman" panose="02020503050405090304" pitchFamily="18" charset="0"/>
                <a:ea typeface="楷体-简" panose="02010600040101010101" pitchFamily="2" charset="-122"/>
              </a:rPr>
              <a:t>index.html</a:t>
            </a:r>
            <a:r>
              <a:rPr lang="zh-CN" altLang="en-US" sz="2400" baseline="0" dirty="0">
                <a:latin typeface="Times New Roman" panose="02020503050405090304" pitchFamily="18" charset="0"/>
                <a:ea typeface="楷体-简" panose="02010600040101010101" pitchFamily="2" charset="-122"/>
              </a:rPr>
              <a:t>文件就可以阅读所有的帮助文档。</a:t>
            </a:r>
            <a:br>
              <a:rPr lang="zh-CN" altLang="en-US" sz="2400" baseline="0" dirty="0">
                <a:latin typeface="Times New Roman" panose="02020503050405090304" pitchFamily="18" charset="0"/>
                <a:ea typeface="楷体-简" panose="02010600040101010101" pitchFamily="2" charset="-122"/>
              </a:rPr>
            </a:br>
            <a:endParaRPr lang="zh-CN" altLang="en-US" sz="2400" baseline="0" dirty="0">
              <a:latin typeface="Times New Roman" panose="02020503050405090304" pitchFamily="18" charset="0"/>
              <a:ea typeface="楷体-简" panose="02010600040101010101" pitchFamily="2" charset="-122"/>
            </a:endParaRPr>
          </a:p>
          <a:p>
            <a:pPr marL="609600" indent="-609600" eaLnBrk="1" hangingPunct="1"/>
            <a:r>
              <a:rPr lang="en-US" altLang="zh-CN" sz="2400" baseline="0" dirty="0">
                <a:latin typeface="Times New Roman" panose="02020503050405090304" pitchFamily="18" charset="0"/>
                <a:ea typeface="楷体-简" panose="02010600040101010101" pitchFamily="2" charset="-122"/>
              </a:rPr>
              <a:t>Chm</a:t>
            </a:r>
            <a:r>
              <a:rPr lang="zh-CN" altLang="en-US" sz="2400" baseline="0" dirty="0">
                <a:latin typeface="Times New Roman" panose="02020503050405090304" pitchFamily="18" charset="0"/>
                <a:ea typeface="楷体-简" panose="02010600040101010101" pitchFamily="2" charset="-122"/>
              </a:rPr>
              <a:t>文档是编程爱好者自己奉献出来的文档，支持模糊查询</a:t>
            </a:r>
            <a:endParaRPr lang="zh-CN" altLang="en-US" sz="2500" baseline="0" dirty="0">
              <a:latin typeface="Times New Roman" panose="02020503050405090304" pitchFamily="18" charset="0"/>
              <a:ea typeface="楷体-简" panose="02010600040101010101" pitchFamily="2" charset="-122"/>
            </a:endParaRPr>
          </a:p>
          <a:p>
            <a:pPr marL="609600" indent="-609600" eaLnBrk="1" hangingPunct="1">
              <a:buFontTx/>
              <a:buNone/>
            </a:pPr>
            <a:endParaRPr lang="zh-CN" altLang="en-US" sz="2400" baseline="0" dirty="0">
              <a:solidFill>
                <a:srgbClr val="6666FF"/>
              </a:solidFill>
              <a:latin typeface="Times New Roman" panose="02020503050405090304" pitchFamily="18" charset="0"/>
              <a:ea typeface="楷体-简" panose="02010600040101010101" pitchFamily="2" charset="-122"/>
            </a:endParaRPr>
          </a:p>
          <a:p>
            <a:pPr marL="609600" indent="-609600" eaLnBrk="1" hangingPunct="1">
              <a:buFontTx/>
              <a:buNone/>
            </a:pPr>
            <a:endParaRPr lang="en-US" altLang="zh-CN" sz="3100" baseline="0" dirty="0">
              <a:solidFill>
                <a:schemeClr val="folHlink"/>
              </a:solidFill>
              <a:latin typeface="Times New Roman" panose="02020503050405090304" pitchFamily="18" charset="0"/>
              <a:ea typeface="楷体-简"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68313" y="260350"/>
            <a:ext cx="8229600" cy="5048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path</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与</a:t>
            </a:r>
            <a:r>
              <a:rPr lang="en-US" altLang="zh-CN" sz="4000" baseline="0" dirty="0" err="1">
                <a:solidFill>
                  <a:srgbClr val="FF0066"/>
                </a:solidFill>
                <a:latin typeface="Times New Roman" panose="02020503050405090304" pitchFamily="18" charset="0"/>
                <a:ea typeface="楷体-简" panose="02010600040101010101" pitchFamily="2" charset="-122"/>
                <a:cs typeface="Kaiti SC Regular" panose="02010600040101010101" charset="-122"/>
              </a:rPr>
              <a:t>classpath</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的配置</a:t>
            </a:r>
          </a:p>
        </p:txBody>
      </p:sp>
      <p:sp>
        <p:nvSpPr>
          <p:cNvPr id="32771" name="Rectangle 7"/>
          <p:cNvSpPr>
            <a:spLocks noGrp="1" noChangeArrowheads="1"/>
          </p:cNvSpPr>
          <p:nvPr>
            <p:ph type="body" idx="1"/>
          </p:nvPr>
        </p:nvSpPr>
        <p:spPr>
          <a:xfrm>
            <a:off x="341584" y="1052736"/>
            <a:ext cx="8388424" cy="4525962"/>
          </a:xfrm>
          <a:noFill/>
        </p:spPr>
        <p:txBody>
          <a:bodyPr/>
          <a:lstStyle/>
          <a:p>
            <a:pPr eaLnBrk="1" hangingPunct="1">
              <a:lnSpc>
                <a:spcPct val="150000"/>
              </a:lnSpc>
              <a:buFont typeface="Wingdings" panose="05000000000000000000" pitchFamily="2" charset="2"/>
              <a:buChar char="Ø"/>
            </a:pPr>
            <a:r>
              <a:rPr lang="zh-CN" altLang="en-US" sz="2400" b="1" baseline="0" dirty="0">
                <a:latin typeface="Times New Roman" panose="02020503050405090304" pitchFamily="18" charset="0"/>
                <a:ea typeface="楷体-简" panose="02010600040101010101" pitchFamily="2" charset="-122"/>
              </a:rPr>
              <a:t>鼠标右键点击“</a:t>
            </a:r>
            <a:r>
              <a:rPr lang="zh-CN" altLang="en-US" sz="2400" b="1" baseline="0" dirty="0">
                <a:solidFill>
                  <a:srgbClr val="7030A0"/>
                </a:solidFill>
                <a:latin typeface="Times New Roman" panose="02020503050405090304" pitchFamily="18" charset="0"/>
                <a:ea typeface="楷体-简" panose="02010600040101010101" pitchFamily="2" charset="-122"/>
              </a:rPr>
              <a:t>我的电脑</a:t>
            </a:r>
            <a:r>
              <a:rPr lang="zh-CN" altLang="en-US" sz="2400" b="1" baseline="0" dirty="0">
                <a:latin typeface="Times New Roman" panose="02020503050405090304" pitchFamily="18" charset="0"/>
                <a:ea typeface="楷体-简" panose="02010600040101010101" pitchFamily="2" charset="-122"/>
              </a:rPr>
              <a:t>”，弹出菜单，然后选择属性，弹出“</a:t>
            </a:r>
            <a:r>
              <a:rPr lang="zh-CN" altLang="en-US" sz="2400" b="1" baseline="0" dirty="0">
                <a:solidFill>
                  <a:srgbClr val="7030A0"/>
                </a:solidFill>
                <a:latin typeface="Times New Roman" panose="02020503050405090304" pitchFamily="18" charset="0"/>
                <a:ea typeface="楷体-简" panose="02010600040101010101" pitchFamily="2" charset="-122"/>
              </a:rPr>
              <a:t>系统特性</a:t>
            </a:r>
            <a:r>
              <a:rPr lang="zh-CN" altLang="en-US" sz="2400" b="1" baseline="0" dirty="0">
                <a:latin typeface="Times New Roman" panose="02020503050405090304" pitchFamily="18" charset="0"/>
                <a:ea typeface="楷体-简" panose="02010600040101010101" pitchFamily="2" charset="-122"/>
              </a:rPr>
              <a:t>”对话框，再单击该对话框中的高级选项，然后点击按钮“</a:t>
            </a:r>
            <a:r>
              <a:rPr lang="zh-CN" altLang="en-US" sz="2400" b="1" baseline="0" dirty="0">
                <a:solidFill>
                  <a:srgbClr val="7030A0"/>
                </a:solidFill>
                <a:latin typeface="Times New Roman" panose="02020503050405090304" pitchFamily="18" charset="0"/>
                <a:ea typeface="楷体-简" panose="02010600040101010101" pitchFamily="2" charset="-122"/>
              </a:rPr>
              <a:t>环境变量</a:t>
            </a:r>
            <a:r>
              <a:rPr lang="zh-CN" altLang="en-US" sz="2400" b="1" baseline="0" dirty="0">
                <a:latin typeface="Times New Roman" panose="02020503050405090304" pitchFamily="18" charset="0"/>
                <a:ea typeface="楷体-简" panose="02010600040101010101" pitchFamily="2" charset="-122"/>
              </a:rPr>
              <a:t>”；</a:t>
            </a:r>
            <a:endParaRPr lang="en-US" altLang="zh-CN" sz="2400" b="1" baseline="0" dirty="0">
              <a:latin typeface="Times New Roman" panose="02020503050405090304" pitchFamily="18" charset="0"/>
              <a:ea typeface="楷体-简" panose="02010600040101010101" pitchFamily="2" charset="-122"/>
            </a:endParaRPr>
          </a:p>
          <a:p>
            <a:pPr eaLnBrk="1" hangingPunct="1">
              <a:lnSpc>
                <a:spcPct val="150000"/>
              </a:lnSpc>
              <a:buFont typeface="Wingdings" panose="05000000000000000000" pitchFamily="2" charset="2"/>
              <a:buChar char="Ø"/>
            </a:pPr>
            <a:r>
              <a:rPr lang="zh-CN" altLang="en-US" sz="2400" b="1" baseline="0" dirty="0">
                <a:latin typeface="Times New Roman" panose="02020503050405090304" pitchFamily="18" charset="0"/>
                <a:ea typeface="楷体-简" panose="02010600040101010101" pitchFamily="2" charset="-122"/>
              </a:rPr>
              <a:t>在变量名</a:t>
            </a:r>
            <a:r>
              <a:rPr lang="en-US" altLang="zh-CN" sz="2400" b="1" baseline="0" dirty="0">
                <a:latin typeface="Times New Roman" panose="02020503050405090304" pitchFamily="18" charset="0"/>
                <a:ea typeface="楷体-简" panose="02010600040101010101" pitchFamily="2" charset="-122"/>
              </a:rPr>
              <a:t>path</a:t>
            </a:r>
            <a:r>
              <a:rPr lang="zh-CN" altLang="en-US" sz="2400" b="1" baseline="0" dirty="0">
                <a:latin typeface="Times New Roman" panose="02020503050405090304" pitchFamily="18" charset="0"/>
                <a:ea typeface="楷体-简" panose="02010600040101010101" pitchFamily="2" charset="-122"/>
              </a:rPr>
              <a:t>前面</a:t>
            </a:r>
            <a:r>
              <a:rPr lang="zh-CN" altLang="en-US" sz="2400" b="1" baseline="0" dirty="0">
                <a:solidFill>
                  <a:srgbClr val="0066FF"/>
                </a:solidFill>
                <a:latin typeface="Times New Roman" panose="02020503050405090304" pitchFamily="18" charset="0"/>
                <a:ea typeface="楷体-简" panose="02010600040101010101" pitchFamily="2" charset="-122"/>
              </a:rPr>
              <a:t>添加</a:t>
            </a:r>
            <a:r>
              <a:rPr lang="en-US" altLang="zh-CN" sz="2400" b="1" baseline="0" dirty="0" err="1">
                <a:solidFill>
                  <a:srgbClr val="0066FF"/>
                </a:solidFill>
                <a:latin typeface="Times New Roman" panose="02020503050405090304" pitchFamily="18" charset="0"/>
                <a:ea typeface="楷体-简" panose="02010600040101010101" pitchFamily="2" charset="-122"/>
              </a:rPr>
              <a:t>jdk</a:t>
            </a:r>
            <a:r>
              <a:rPr lang="en-US" altLang="zh-CN" sz="2400" b="1" baseline="0" dirty="0">
                <a:solidFill>
                  <a:srgbClr val="0066FF"/>
                </a:solidFill>
                <a:latin typeface="Times New Roman" panose="02020503050405090304" pitchFamily="18" charset="0"/>
                <a:ea typeface="楷体-简" panose="02010600040101010101" pitchFamily="2" charset="-122"/>
              </a:rPr>
              <a:t> bin</a:t>
            </a:r>
            <a:r>
              <a:rPr lang="zh-CN" altLang="en-US" sz="2400" b="1" baseline="0" dirty="0">
                <a:solidFill>
                  <a:srgbClr val="0066FF"/>
                </a:solidFill>
                <a:latin typeface="Times New Roman" panose="02020503050405090304" pitchFamily="18" charset="0"/>
                <a:ea typeface="楷体-简" panose="02010600040101010101" pitchFamily="2" charset="-122"/>
              </a:rPr>
              <a:t>的安装路径</a:t>
            </a:r>
            <a:r>
              <a:rPr lang="zh-CN" altLang="en-US" sz="2400" b="1" baseline="0" dirty="0">
                <a:latin typeface="Times New Roman" panose="02020503050405090304" pitchFamily="18" charset="0"/>
                <a:ea typeface="楷体-简" panose="02010600040101010101" pitchFamily="2" charset="-122"/>
              </a:rPr>
              <a:t>，比如：</a:t>
            </a:r>
            <a:endParaRPr lang="en-US" altLang="zh-CN" sz="2400" b="1" baseline="0" dirty="0">
              <a:latin typeface="Times New Roman" panose="02020503050405090304" pitchFamily="18" charset="0"/>
              <a:ea typeface="楷体-简" panose="02010600040101010101" pitchFamily="2" charset="-122"/>
            </a:endParaRPr>
          </a:p>
          <a:p>
            <a:pPr marL="0" indent="0" eaLnBrk="1" hangingPunct="1">
              <a:lnSpc>
                <a:spcPct val="150000"/>
              </a:lnSpc>
              <a:buNone/>
            </a:pPr>
            <a:r>
              <a:rPr lang="en-US" altLang="zh-CN" sz="2000" b="1" baseline="0" dirty="0">
                <a:latin typeface="Times New Roman" panose="02020503050405090304" pitchFamily="18" charset="0"/>
                <a:ea typeface="楷体-简" panose="02010600040101010101" pitchFamily="2" charset="-122"/>
              </a:rPr>
              <a:t>   </a:t>
            </a:r>
            <a:r>
              <a:rPr lang="en-US" altLang="zh-CN" sz="2000" b="1" baseline="0" dirty="0">
                <a:solidFill>
                  <a:srgbClr val="FF0066"/>
                </a:solidFill>
                <a:latin typeface="Times New Roman" panose="02020503050405090304" pitchFamily="18" charset="0"/>
                <a:ea typeface="楷体-简" panose="02010600040101010101" pitchFamily="2" charset="-122"/>
              </a:rPr>
              <a:t>C:\Program Files\Java\</a:t>
            </a:r>
            <a:r>
              <a:rPr lang="en-US" altLang="zh-CN" sz="2000" b="1" baseline="0" dirty="0" err="1">
                <a:solidFill>
                  <a:srgbClr val="FF0066"/>
                </a:solidFill>
                <a:latin typeface="Times New Roman" panose="02020503050405090304" pitchFamily="18" charset="0"/>
                <a:ea typeface="楷体-简" panose="02010600040101010101" pitchFamily="2" charset="-122"/>
              </a:rPr>
              <a:t>jdk</a:t>
            </a:r>
            <a:r>
              <a:rPr lang="en-US" altLang="zh-CN" sz="2000" b="1" baseline="0" dirty="0">
                <a:solidFill>
                  <a:srgbClr val="FF0066"/>
                </a:solidFill>
                <a:latin typeface="Times New Roman" panose="02020503050405090304" pitchFamily="18" charset="0"/>
                <a:ea typeface="楷体-简" panose="02010600040101010101" pitchFamily="2" charset="-122"/>
              </a:rPr>
              <a:t>-</a:t>
            </a:r>
            <a:r>
              <a:rPr lang="zh-CN" altLang="en-US" sz="2000" b="1" baseline="0" dirty="0">
                <a:solidFill>
                  <a:srgbClr val="FF0066"/>
                </a:solidFill>
                <a:latin typeface="Times New Roman" panose="02020503050405090304" pitchFamily="18" charset="0"/>
                <a:ea typeface="楷体-简" panose="02010600040101010101" pitchFamily="2" charset="-122"/>
              </a:rPr>
              <a:t>***</a:t>
            </a:r>
            <a:r>
              <a:rPr lang="en-US" altLang="zh-CN" sz="2000" b="1" baseline="0" dirty="0">
                <a:solidFill>
                  <a:srgbClr val="FF0066"/>
                </a:solidFill>
                <a:latin typeface="Times New Roman" panose="02020503050405090304" pitchFamily="18" charset="0"/>
                <a:ea typeface="楷体-简" panose="02010600040101010101" pitchFamily="2" charset="-122"/>
              </a:rPr>
              <a:t>\bin</a:t>
            </a:r>
          </a:p>
          <a:p>
            <a:pPr marL="0" indent="0" eaLnBrk="1" hangingPunct="1">
              <a:lnSpc>
                <a:spcPct val="150000"/>
              </a:lnSpc>
              <a:buNone/>
            </a:pPr>
            <a:r>
              <a:rPr lang="en-US" altLang="zh-CN" sz="2000" b="1" baseline="0" dirty="0">
                <a:latin typeface="Times New Roman" panose="02020503050405090304" pitchFamily="18" charset="0"/>
                <a:ea typeface="楷体-简" panose="02010600040101010101" pitchFamily="2" charset="-122"/>
              </a:rPr>
              <a:t>   C:\Program Files\Java\</a:t>
            </a:r>
            <a:r>
              <a:rPr lang="en-US" altLang="zh-CN" sz="2000" b="1" baseline="0" dirty="0" err="1">
                <a:latin typeface="Times New Roman" panose="02020503050405090304" pitchFamily="18" charset="0"/>
                <a:ea typeface="楷体-简" panose="02010600040101010101" pitchFamily="2" charset="-122"/>
              </a:rPr>
              <a:t>jdk</a:t>
            </a:r>
            <a:r>
              <a:rPr lang="en-US" altLang="zh-CN" sz="2000" b="1" baseline="0" dirty="0">
                <a:latin typeface="Times New Roman" panose="02020503050405090304" pitchFamily="18" charset="0"/>
                <a:ea typeface="楷体-简" panose="02010600040101010101" pitchFamily="2" charset="-122"/>
              </a:rPr>
              <a:t>-</a:t>
            </a:r>
            <a:r>
              <a:rPr lang="zh-CN" altLang="en-US" sz="2000" b="1" baseline="0" dirty="0">
                <a:latin typeface="Times New Roman" panose="02020503050405090304" pitchFamily="18" charset="0"/>
                <a:ea typeface="楷体-简" panose="02010600040101010101" pitchFamily="2" charset="-122"/>
              </a:rPr>
              <a:t>***</a:t>
            </a:r>
            <a:r>
              <a:rPr lang="en-US" altLang="zh-CN" sz="2000" b="1" baseline="0" dirty="0">
                <a:latin typeface="Times New Roman" panose="02020503050405090304" pitchFamily="18" charset="0"/>
                <a:ea typeface="楷体-简" panose="02010600040101010101" pitchFamily="2" charset="-122"/>
              </a:rPr>
              <a:t>\</a:t>
            </a:r>
            <a:r>
              <a:rPr lang="en-US" altLang="zh-CN" sz="2000" b="1" baseline="0" dirty="0" err="1">
                <a:latin typeface="Times New Roman" panose="02020503050405090304" pitchFamily="18" charset="0"/>
                <a:ea typeface="楷体-简" panose="02010600040101010101" pitchFamily="2" charset="-122"/>
              </a:rPr>
              <a:t>jre</a:t>
            </a:r>
            <a:r>
              <a:rPr lang="en-US" altLang="zh-CN" sz="2000" b="1" baseline="0" dirty="0">
                <a:latin typeface="Times New Roman" panose="02020503050405090304" pitchFamily="18" charset="0"/>
                <a:ea typeface="楷体-简" panose="02010600040101010101" pitchFamily="2" charset="-122"/>
              </a:rPr>
              <a:t>\bin</a:t>
            </a:r>
            <a:endParaRPr lang="zh-CN" altLang="en-US" sz="2000" b="1" baseline="0" dirty="0">
              <a:latin typeface="Times New Roman" panose="02020503050405090304" pitchFamily="18" charset="0"/>
              <a:ea typeface="楷体-简" panose="02010600040101010101" pitchFamily="2" charset="-122"/>
            </a:endParaRPr>
          </a:p>
          <a:p>
            <a:pPr eaLnBrk="1" hangingPunct="1">
              <a:lnSpc>
                <a:spcPct val="150000"/>
              </a:lnSpc>
              <a:buFont typeface="Wingdings" panose="05000000000000000000" pitchFamily="2" charset="2"/>
              <a:buChar char="Ø"/>
            </a:pPr>
            <a:r>
              <a:rPr lang="zh-CN" altLang="en-US" sz="2400" b="1" baseline="0" dirty="0">
                <a:latin typeface="Times New Roman" panose="02020503050405090304" pitchFamily="18" charset="0"/>
                <a:ea typeface="楷体-简" panose="02010600040101010101" pitchFamily="2" charset="-122"/>
              </a:rPr>
              <a:t>在变量名</a:t>
            </a:r>
            <a:r>
              <a:rPr lang="en-US" altLang="zh-CN" sz="2400" b="1" baseline="0" dirty="0" err="1">
                <a:latin typeface="Times New Roman" panose="02020503050405090304" pitchFamily="18" charset="0"/>
                <a:ea typeface="楷体-简" panose="02010600040101010101" pitchFamily="2" charset="-122"/>
              </a:rPr>
              <a:t>classpath</a:t>
            </a:r>
            <a:r>
              <a:rPr lang="zh-CN" altLang="en-US" sz="2400" b="1" baseline="0" dirty="0">
                <a:latin typeface="Times New Roman" panose="02020503050405090304" pitchFamily="18" charset="0"/>
                <a:ea typeface="楷体-简" panose="02010600040101010101" pitchFamily="2" charset="-122"/>
              </a:rPr>
              <a:t>前面</a:t>
            </a:r>
            <a:r>
              <a:rPr lang="zh-CN" altLang="en-US" sz="2400" b="1" baseline="0" dirty="0">
                <a:solidFill>
                  <a:srgbClr val="0066FF"/>
                </a:solidFill>
                <a:latin typeface="Times New Roman" panose="02020503050405090304" pitchFamily="18" charset="0"/>
                <a:ea typeface="楷体-简" panose="02010600040101010101" pitchFamily="2" charset="-122"/>
              </a:rPr>
              <a:t>添加当前路径</a:t>
            </a:r>
            <a:r>
              <a:rPr lang="en-US" altLang="zh-CN" sz="2400" b="1" baseline="0" dirty="0">
                <a:latin typeface="Times New Roman" panose="02020503050405090304" pitchFamily="18" charset="0"/>
                <a:ea typeface="楷体-简" panose="02010600040101010101" pitchFamily="2" charset="-122"/>
              </a:rPr>
              <a:t>.</a:t>
            </a:r>
            <a:r>
              <a:rPr lang="zh-CN" altLang="en-US" sz="2400" b="1" baseline="0" dirty="0">
                <a:latin typeface="Times New Roman" panose="02020503050405090304" pitchFamily="18" charset="0"/>
                <a:ea typeface="楷体-简" panose="02010600040101010101" pitchFamily="2" charset="-122"/>
              </a:rPr>
              <a:t>和</a:t>
            </a:r>
            <a:r>
              <a:rPr lang="en-US" altLang="zh-CN" sz="2400" b="1" baseline="0" dirty="0" err="1">
                <a:latin typeface="Times New Roman" panose="02020503050405090304" pitchFamily="18" charset="0"/>
                <a:ea typeface="楷体-简" panose="02010600040101010101" pitchFamily="2" charset="-122"/>
              </a:rPr>
              <a:t>jdk</a:t>
            </a:r>
            <a:r>
              <a:rPr lang="en-US" altLang="zh-CN" sz="2400" b="1" baseline="0" dirty="0">
                <a:latin typeface="Times New Roman" panose="02020503050405090304" pitchFamily="18" charset="0"/>
                <a:ea typeface="楷体-简" panose="02010600040101010101" pitchFamily="2" charset="-122"/>
              </a:rPr>
              <a:t> lib</a:t>
            </a:r>
            <a:r>
              <a:rPr lang="zh-CN" altLang="en-US" sz="2400" b="1" baseline="0" dirty="0">
                <a:latin typeface="Times New Roman" panose="02020503050405090304" pitchFamily="18" charset="0"/>
                <a:ea typeface="楷体-简" panose="02010600040101010101" pitchFamily="2" charset="-122"/>
              </a:rPr>
              <a:t>的安装路径，比如：</a:t>
            </a:r>
            <a:r>
              <a:rPr lang="en-US" altLang="zh-CN" sz="2400" b="1" baseline="0" dirty="0">
                <a:solidFill>
                  <a:srgbClr val="FF0000"/>
                </a:solidFill>
                <a:latin typeface="Times New Roman" panose="02020503050405090304" pitchFamily="18" charset="0"/>
                <a:ea typeface="楷体-简" panose="02010600040101010101" pitchFamily="2" charset="-122"/>
              </a:rPr>
              <a:t> </a:t>
            </a:r>
            <a:r>
              <a:rPr lang="en-US" altLang="zh-CN" sz="2000" b="1" baseline="0" dirty="0">
                <a:solidFill>
                  <a:srgbClr val="FF0066"/>
                </a:solidFill>
                <a:latin typeface="Times New Roman" panose="02020503050405090304" pitchFamily="18" charset="0"/>
                <a:ea typeface="楷体-简" panose="02010600040101010101" pitchFamily="2" charset="-122"/>
              </a:rPr>
              <a:t>.; C:\Program Files\Java\</a:t>
            </a:r>
            <a:r>
              <a:rPr lang="en-US" altLang="zh-CN" sz="2000" b="1" baseline="0" dirty="0" err="1">
                <a:solidFill>
                  <a:srgbClr val="FF0066"/>
                </a:solidFill>
                <a:latin typeface="Times New Roman" panose="02020503050405090304" pitchFamily="18" charset="0"/>
                <a:ea typeface="楷体-简" panose="02010600040101010101" pitchFamily="2" charset="-122"/>
              </a:rPr>
              <a:t>jdk</a:t>
            </a:r>
            <a:r>
              <a:rPr lang="en-US" altLang="zh-CN" sz="2000" b="1" baseline="0" dirty="0">
                <a:solidFill>
                  <a:srgbClr val="FF0066"/>
                </a:solidFill>
                <a:latin typeface="Times New Roman" panose="02020503050405090304" pitchFamily="18" charset="0"/>
                <a:ea typeface="楷体-简" panose="02010600040101010101" pitchFamily="2" charset="-122"/>
              </a:rPr>
              <a:t>-</a:t>
            </a:r>
            <a:r>
              <a:rPr lang="zh-CN" altLang="en-US" sz="2000" b="1" baseline="0" dirty="0">
                <a:solidFill>
                  <a:srgbClr val="FF0066"/>
                </a:solidFill>
                <a:latin typeface="Times New Roman" panose="02020503050405090304" pitchFamily="18" charset="0"/>
                <a:ea typeface="楷体-简" panose="02010600040101010101" pitchFamily="2" charset="-122"/>
              </a:rPr>
              <a:t>***</a:t>
            </a:r>
            <a:r>
              <a:rPr lang="en-US" altLang="en-US" sz="2000" b="1" baseline="0" dirty="0">
                <a:solidFill>
                  <a:srgbClr val="6666FF"/>
                </a:solidFill>
                <a:latin typeface="Times New Roman" panose="02020503050405090304" pitchFamily="18" charset="0"/>
                <a:ea typeface="楷体-简" panose="02010600040101010101" pitchFamily="2" charset="-122"/>
              </a:rPr>
              <a:t>\</a:t>
            </a:r>
            <a:r>
              <a:rPr lang="en-US" altLang="en-US" sz="2000" b="1" baseline="0" dirty="0">
                <a:solidFill>
                  <a:srgbClr val="FF0066"/>
                </a:solidFill>
                <a:latin typeface="Times New Roman" panose="02020503050405090304" pitchFamily="18" charset="0"/>
                <a:ea typeface="楷体-简" panose="02010600040101010101" pitchFamily="2" charset="-122"/>
              </a:rPr>
              <a:t>lib</a:t>
            </a:r>
            <a:r>
              <a:rPr lang="en-US" altLang="zh-CN" sz="2000" b="1" baseline="0" dirty="0">
                <a:solidFill>
                  <a:srgbClr val="FF0000"/>
                </a:solidFill>
                <a:latin typeface="Times New Roman" panose="02020503050405090304" pitchFamily="18" charset="0"/>
                <a:ea typeface="楷体-简" panose="02010600040101010101" pitchFamily="2" charset="-122"/>
              </a:rPr>
              <a:t> </a:t>
            </a:r>
          </a:p>
          <a:p>
            <a:pPr eaLnBrk="1" hangingPunct="1">
              <a:lnSpc>
                <a:spcPct val="150000"/>
              </a:lnSpc>
              <a:buFont typeface="Wingdings" panose="05000000000000000000" pitchFamily="2" charset="2"/>
              <a:buChar char="Ø"/>
            </a:pPr>
            <a:endParaRPr lang="en-US" altLang="zh-CN" sz="800" b="1" baseline="0" dirty="0">
              <a:solidFill>
                <a:srgbClr val="6666FF"/>
              </a:solidFill>
              <a:latin typeface="Times New Roman" panose="02020503050405090304" pitchFamily="18" charset="0"/>
              <a:ea typeface="楷体-简" panose="02010600040101010101" pitchFamily="2" charset="-122"/>
            </a:endParaRPr>
          </a:p>
          <a:p>
            <a:pPr eaLnBrk="1" hangingPunct="1">
              <a:lnSpc>
                <a:spcPct val="150000"/>
              </a:lnSpc>
              <a:buFont typeface="Wingdings" panose="05000000000000000000" pitchFamily="2" charset="2"/>
              <a:buChar char="ü"/>
            </a:pPr>
            <a:r>
              <a:rPr lang="zh-CN" altLang="en-US" sz="2000" baseline="0" dirty="0">
                <a:latin typeface="Times New Roman" panose="02020503050405090304" pitchFamily="18" charset="0"/>
                <a:ea typeface="楷体-简" panose="02010600040101010101" pitchFamily="2" charset="-122"/>
              </a:rPr>
              <a:t>注意：记得让这个变量处于第一个位置，这样可以让它优先级最高，防止安装在</a:t>
            </a:r>
            <a:r>
              <a:rPr lang="en-US" altLang="zh-CN" sz="2000" baseline="0" dirty="0">
                <a:latin typeface="Times New Roman" panose="02020503050405090304" pitchFamily="18" charset="0"/>
                <a:ea typeface="楷体-简" panose="02010600040101010101" pitchFamily="2" charset="-122"/>
              </a:rPr>
              <a:t>C</a:t>
            </a:r>
            <a:r>
              <a:rPr lang="zh-CN" altLang="en-US" sz="2000" baseline="0" dirty="0">
                <a:latin typeface="Times New Roman" panose="02020503050405090304" pitchFamily="18" charset="0"/>
                <a:ea typeface="楷体-简" panose="02010600040101010101" pitchFamily="2" charset="-122"/>
              </a:rPr>
              <a:t>盘的其它</a:t>
            </a:r>
            <a:r>
              <a:rPr lang="en-US" altLang="zh-CN" sz="2000" baseline="0" dirty="0">
                <a:latin typeface="Times New Roman" panose="02020503050405090304" pitchFamily="18" charset="0"/>
                <a:ea typeface="楷体-简" panose="02010600040101010101" pitchFamily="2" charset="-122"/>
              </a:rPr>
              <a:t>JRE</a:t>
            </a:r>
            <a:r>
              <a:rPr lang="zh-CN" altLang="en-US" sz="2000" baseline="0" dirty="0">
                <a:latin typeface="Times New Roman" panose="02020503050405090304" pitchFamily="18" charset="0"/>
                <a:ea typeface="楷体-简" panose="02010600040101010101" pitchFamily="2" charset="-122"/>
              </a:rPr>
              <a:t>和它冲突。</a:t>
            </a:r>
            <a:endParaRPr lang="en-US" altLang="zh-CN" sz="2000" b="1" baseline="0" dirty="0">
              <a:solidFill>
                <a:srgbClr val="6666FF"/>
              </a:solidFill>
              <a:latin typeface="Times New Roman" panose="02020503050405090304" pitchFamily="18" charset="0"/>
              <a:ea typeface="楷体-简" panose="02010600040101010101" pitchFamily="2" charset="-122"/>
            </a:endParaRPr>
          </a:p>
          <a:p>
            <a:pPr marL="609600" indent="-609600" eaLnBrk="1" hangingPunct="1">
              <a:lnSpc>
                <a:spcPct val="150000"/>
              </a:lnSpc>
              <a:buFontTx/>
              <a:buNone/>
            </a:pPr>
            <a:r>
              <a:rPr lang="en-US" altLang="zh-CN" sz="2400" b="1" baseline="0" dirty="0">
                <a:solidFill>
                  <a:srgbClr val="6666FF"/>
                </a:solidFill>
                <a:latin typeface="Times New Roman" panose="02020503050405090304" pitchFamily="18" charset="0"/>
                <a:ea typeface="楷体-简" panose="02010600040101010101" pitchFamily="2" charset="-122"/>
              </a:rPr>
              <a:t>      </a:t>
            </a:r>
            <a:endParaRPr lang="zh-CN" altLang="en-US" sz="2400" b="1" baseline="0" dirty="0">
              <a:latin typeface="Times New Roman" panose="02020503050405090304" pitchFamily="18" charset="0"/>
              <a:ea typeface="楷体-简" panose="02010600040101010101" pitchFamily="2" charset="-122"/>
            </a:endParaRPr>
          </a:p>
          <a:p>
            <a:pPr marL="609600" indent="-609600" eaLnBrk="1" hangingPunct="1">
              <a:lnSpc>
                <a:spcPct val="150000"/>
              </a:lnSpc>
              <a:buFontTx/>
              <a:buNone/>
            </a:pPr>
            <a:r>
              <a:rPr lang="zh-CN" altLang="en-US" sz="1500" b="1" baseline="0" dirty="0">
                <a:latin typeface="Times New Roman" panose="02020503050405090304" pitchFamily="18" charset="0"/>
                <a:ea typeface="楷体-简" panose="02010600040101010101" pitchFamily="2" charset="-122"/>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333375"/>
            <a:ext cx="320040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428625"/>
            <a:ext cx="4819650"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3143250"/>
            <a:ext cx="31750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075" y="257175"/>
            <a:ext cx="4351338" cy="533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5843" name="直接连接符 6"/>
          <p:cNvCxnSpPr>
            <a:cxnSpLocks noChangeShapeType="1"/>
          </p:cNvCxnSpPr>
          <p:nvPr/>
        </p:nvCxnSpPr>
        <p:spPr bwMode="auto">
          <a:xfrm>
            <a:off x="539750" y="3862388"/>
            <a:ext cx="3600450" cy="0"/>
          </a:xfrm>
          <a:prstGeom prst="line">
            <a:avLst/>
          </a:prstGeom>
          <a:noFill/>
          <a:ln w="28575" algn="ctr">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44" name="文本框 7"/>
          <p:cNvSpPr txBox="1">
            <a:spLocks noChangeArrowheads="1"/>
          </p:cNvSpPr>
          <p:nvPr/>
        </p:nvSpPr>
        <p:spPr bwMode="auto">
          <a:xfrm>
            <a:off x="4932363" y="1773238"/>
            <a:ext cx="383698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spcBef>
                <a:spcPct val="0"/>
              </a:spcBef>
              <a:buFontTx/>
              <a:buNone/>
            </a:pPr>
            <a:r>
              <a:rPr lang="zh-CN" altLang="en-US" sz="1800" b="1"/>
              <a:t>新建或者编辑变量名“</a:t>
            </a:r>
            <a:r>
              <a:rPr lang="en-US" altLang="zh-CN" sz="1800" b="1"/>
              <a:t>classpath”</a:t>
            </a:r>
            <a:r>
              <a:rPr lang="zh-CN" altLang="en-US" sz="1800" b="1"/>
              <a:t>如下：</a:t>
            </a:r>
          </a:p>
          <a:p>
            <a:pPr>
              <a:spcBef>
                <a:spcPct val="0"/>
              </a:spcBef>
              <a:buFontTx/>
              <a:buNone/>
            </a:pPr>
            <a:endParaRPr lang="zh-CN" altLang="en-US" sz="1800"/>
          </a:p>
        </p:txBody>
      </p:sp>
      <p:sp>
        <p:nvSpPr>
          <p:cNvPr id="35845" name="文本框 9"/>
          <p:cNvSpPr txBox="1">
            <a:spLocks noChangeArrowheads="1"/>
          </p:cNvSpPr>
          <p:nvPr/>
        </p:nvSpPr>
        <p:spPr bwMode="auto">
          <a:xfrm>
            <a:off x="4543425" y="4500563"/>
            <a:ext cx="4300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spcBef>
                <a:spcPct val="0"/>
              </a:spcBef>
              <a:buFontTx/>
              <a:buNone/>
            </a:pPr>
            <a:r>
              <a:rPr lang="zh-CN" altLang="en-US" sz="1800"/>
              <a:t>使得</a:t>
            </a:r>
            <a:r>
              <a:rPr lang="en-US" altLang="zh-CN" sz="1800"/>
              <a:t>java</a:t>
            </a:r>
            <a:r>
              <a:rPr lang="zh-CN" altLang="en-US" sz="1800"/>
              <a:t>解释器知道到哪里去找标准类库</a:t>
            </a:r>
          </a:p>
        </p:txBody>
      </p:sp>
      <p:pic>
        <p:nvPicPr>
          <p:cNvPr id="35846"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671763"/>
            <a:ext cx="397986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配置</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JAVA_HOME</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变量</a:t>
            </a:r>
          </a:p>
        </p:txBody>
      </p:sp>
      <p:sp>
        <p:nvSpPr>
          <p:cNvPr id="37891" name="内容占位符 2"/>
          <p:cNvSpPr>
            <a:spLocks noGrp="1" noChangeArrowheads="1"/>
          </p:cNvSpPr>
          <p:nvPr>
            <p:ph idx="1"/>
          </p:nvPr>
        </p:nvSpPr>
        <p:spPr>
          <a:xfrm>
            <a:off x="457200" y="1600200"/>
            <a:ext cx="8075240" cy="4525963"/>
          </a:xfrm>
        </p:spPr>
        <p:txBody>
          <a:bodyPr/>
          <a:lstStyle/>
          <a:p>
            <a:pPr>
              <a:buFont typeface="Wingdings" panose="05000000000000000000" pitchFamily="2" charset="2"/>
              <a:buChar char="Ø"/>
            </a:pPr>
            <a:r>
              <a:rPr lang="zh-CN" altLang="en-US" sz="2800" b="1" baseline="0" dirty="0">
                <a:solidFill>
                  <a:srgbClr val="7030A0"/>
                </a:solidFill>
                <a:latin typeface="Times New Roman" panose="02020503050405090304" pitchFamily="18" charset="0"/>
                <a:ea typeface="楷体-简" panose="02010600040101010101" pitchFamily="2" charset="-122"/>
              </a:rPr>
              <a:t>为什么要配置</a:t>
            </a:r>
            <a:r>
              <a:rPr lang="en-US" altLang="zh-CN" sz="2800" b="1" baseline="0" dirty="0">
                <a:solidFill>
                  <a:srgbClr val="7030A0"/>
                </a:solidFill>
                <a:latin typeface="Times New Roman" panose="02020503050405090304" pitchFamily="18" charset="0"/>
                <a:ea typeface="楷体-简" panose="02010600040101010101" pitchFamily="2" charset="-122"/>
              </a:rPr>
              <a:t>JAVA_HOME</a:t>
            </a:r>
            <a:r>
              <a:rPr lang="zh-CN" altLang="en-US" sz="2800" b="1" baseline="0" dirty="0">
                <a:solidFill>
                  <a:srgbClr val="7030A0"/>
                </a:solidFill>
                <a:latin typeface="Times New Roman" panose="02020503050405090304" pitchFamily="18" charset="0"/>
                <a:ea typeface="楷体-简" panose="02010600040101010101" pitchFamily="2" charset="-122"/>
              </a:rPr>
              <a:t>环境变量？</a:t>
            </a:r>
            <a:endParaRPr lang="en-US" altLang="zh-CN" sz="2800" b="1" baseline="0" dirty="0">
              <a:solidFill>
                <a:srgbClr val="7030A0"/>
              </a:solidFill>
              <a:latin typeface="Times New Roman" panose="02020503050405090304" pitchFamily="18" charset="0"/>
              <a:ea typeface="楷体-简" panose="02010600040101010101" pitchFamily="2" charset="-122"/>
            </a:endParaRPr>
          </a:p>
          <a:p>
            <a:pPr marL="0" indent="0">
              <a:buNone/>
            </a:pPr>
            <a:r>
              <a:rPr lang="en-US" altLang="zh-CN" sz="2000" baseline="0" dirty="0">
                <a:latin typeface="Times New Roman" panose="02020503050405090304" pitchFamily="18" charset="0"/>
                <a:ea typeface="楷体-简" panose="02010600040101010101" pitchFamily="2" charset="-122"/>
              </a:rPr>
              <a:t>1: </a:t>
            </a:r>
            <a:r>
              <a:rPr lang="zh-CN" altLang="en-US" sz="2000" b="1" baseline="0" dirty="0">
                <a:solidFill>
                  <a:srgbClr val="0070C0"/>
                </a:solidFill>
                <a:latin typeface="Times New Roman" panose="02020503050405090304" pitchFamily="18" charset="0"/>
                <a:ea typeface="楷体-简" panose="02010600040101010101" pitchFamily="2" charset="-122"/>
              </a:rPr>
              <a:t>为了方便引用</a:t>
            </a:r>
            <a:r>
              <a:rPr lang="zh-CN" altLang="en-US" sz="2000" baseline="0" dirty="0">
                <a:latin typeface="Times New Roman" panose="02020503050405090304" pitchFamily="18" charset="0"/>
                <a:ea typeface="楷体-简" panose="02010600040101010101" pitchFamily="2" charset="-122"/>
              </a:rPr>
              <a:t>，比如，</a:t>
            </a:r>
            <a:r>
              <a:rPr lang="en-US" altLang="zh-CN" sz="2000" baseline="0" dirty="0">
                <a:latin typeface="Times New Roman" panose="02020503050405090304" pitchFamily="18" charset="0"/>
                <a:ea typeface="楷体-简" panose="02010600040101010101" pitchFamily="2" charset="-122"/>
              </a:rPr>
              <a:t>JDK</a:t>
            </a:r>
            <a:r>
              <a:rPr lang="zh-CN" altLang="en-US" sz="2000" baseline="0" dirty="0">
                <a:latin typeface="Times New Roman" panose="02020503050405090304" pitchFamily="18" charset="0"/>
                <a:ea typeface="楷体-简" panose="02010600040101010101" pitchFamily="2" charset="-122"/>
              </a:rPr>
              <a:t>安装在</a:t>
            </a:r>
            <a:r>
              <a:rPr lang="en-US" altLang="zh-CN" sz="2000" baseline="0" dirty="0">
                <a:latin typeface="Times New Roman" panose="02020503050405090304" pitchFamily="18" charset="0"/>
                <a:ea typeface="楷体-简" panose="02010600040101010101" pitchFamily="2" charset="-122"/>
              </a:rPr>
              <a:t>C:\Program Files\Java\jdk-21.0.2</a:t>
            </a:r>
          </a:p>
          <a:p>
            <a:pPr marL="0" indent="0">
              <a:buFontTx/>
              <a:buNone/>
            </a:pPr>
            <a:r>
              <a:rPr lang="zh-CN" altLang="en-US" sz="2000" baseline="0" dirty="0">
                <a:latin typeface="Times New Roman" panose="02020503050405090304" pitchFamily="18" charset="0"/>
                <a:ea typeface="楷体-简" panose="02010600040101010101" pitchFamily="2" charset="-122"/>
              </a:rPr>
              <a:t>目录里，则设置</a:t>
            </a:r>
            <a:r>
              <a:rPr lang="en-US" altLang="zh-CN" sz="2000" baseline="0" dirty="0">
                <a:latin typeface="Times New Roman" panose="02020503050405090304" pitchFamily="18" charset="0"/>
                <a:ea typeface="楷体-简" panose="02010600040101010101" pitchFamily="2" charset="-122"/>
              </a:rPr>
              <a:t>JAVA_HOME</a:t>
            </a:r>
            <a:r>
              <a:rPr lang="zh-CN" altLang="en-US" sz="2000" baseline="0" dirty="0">
                <a:latin typeface="Times New Roman" panose="02020503050405090304" pitchFamily="18" charset="0"/>
                <a:ea typeface="楷体-简" panose="02010600040101010101" pitchFamily="2" charset="-122"/>
              </a:rPr>
              <a:t>为该目录路径</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那么以后要使用这个路径的时候</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只需输入</a:t>
            </a:r>
            <a:r>
              <a:rPr lang="en-US" altLang="zh-CN" sz="2000" baseline="0" dirty="0">
                <a:latin typeface="Times New Roman" panose="02020503050405090304" pitchFamily="18" charset="0"/>
                <a:ea typeface="楷体-简" panose="02010600040101010101" pitchFamily="2" charset="-122"/>
              </a:rPr>
              <a:t>%JAVA_HOME%</a:t>
            </a:r>
            <a:r>
              <a:rPr lang="zh-CN" altLang="en-US" sz="2000" baseline="0" dirty="0">
                <a:latin typeface="Times New Roman" panose="02020503050405090304" pitchFamily="18" charset="0"/>
                <a:ea typeface="楷体-简" panose="02010600040101010101" pitchFamily="2" charset="-122"/>
              </a:rPr>
              <a:t>即可</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避免每次引用都输入很长的路径串</a:t>
            </a:r>
            <a:r>
              <a:rPr lang="en-US" altLang="zh-CN" sz="2000" baseline="0" dirty="0">
                <a:latin typeface="Times New Roman" panose="02020503050405090304" pitchFamily="18" charset="0"/>
                <a:ea typeface="楷体-简" panose="02010600040101010101" pitchFamily="2" charset="-122"/>
              </a:rPr>
              <a:t>;</a:t>
            </a:r>
          </a:p>
          <a:p>
            <a:pPr marL="0" indent="0">
              <a:buFontTx/>
              <a:buNone/>
            </a:pPr>
            <a:r>
              <a:rPr lang="en-US" altLang="zh-CN" sz="2000" baseline="0" dirty="0">
                <a:latin typeface="Times New Roman" panose="02020503050405090304" pitchFamily="18" charset="0"/>
                <a:ea typeface="楷体-简" panose="02010600040101010101" pitchFamily="2" charset="-122"/>
              </a:rPr>
              <a:t> </a:t>
            </a:r>
          </a:p>
          <a:p>
            <a:pPr marL="0" indent="0">
              <a:buFontTx/>
              <a:buNone/>
            </a:pPr>
            <a:r>
              <a:rPr lang="en-US" altLang="zh-CN" sz="2000" baseline="0" dirty="0">
                <a:latin typeface="Times New Roman" panose="02020503050405090304" pitchFamily="18" charset="0"/>
                <a:ea typeface="楷体-简" panose="02010600040101010101" pitchFamily="2" charset="-122"/>
              </a:rPr>
              <a:t>2: </a:t>
            </a:r>
            <a:r>
              <a:rPr lang="zh-CN" altLang="en-US" sz="2000" b="1" baseline="0" dirty="0">
                <a:solidFill>
                  <a:srgbClr val="0070C0"/>
                </a:solidFill>
                <a:latin typeface="Times New Roman" panose="02020503050405090304" pitchFamily="18" charset="0"/>
                <a:ea typeface="楷体-简" panose="02010600040101010101" pitchFamily="2" charset="-122"/>
              </a:rPr>
              <a:t>归一原则</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当</a:t>
            </a:r>
            <a:r>
              <a:rPr lang="en-US" altLang="zh-CN" sz="2000" baseline="0" dirty="0">
                <a:latin typeface="Times New Roman" panose="02020503050405090304" pitchFamily="18" charset="0"/>
                <a:ea typeface="楷体-简" panose="02010600040101010101" pitchFamily="2" charset="-122"/>
              </a:rPr>
              <a:t>JDK</a:t>
            </a:r>
            <a:r>
              <a:rPr lang="zh-CN" altLang="en-US" sz="2000" baseline="0" dirty="0">
                <a:latin typeface="Times New Roman" panose="02020503050405090304" pitchFamily="18" charset="0"/>
                <a:ea typeface="楷体-简" panose="02010600040101010101" pitchFamily="2" charset="-122"/>
              </a:rPr>
              <a:t>路径改变的时候</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仅需更改</a:t>
            </a:r>
            <a:r>
              <a:rPr lang="en-US" altLang="zh-CN" sz="2000" baseline="0" dirty="0">
                <a:latin typeface="Times New Roman" panose="02020503050405090304" pitchFamily="18" charset="0"/>
                <a:ea typeface="楷体-简" panose="02010600040101010101" pitchFamily="2" charset="-122"/>
              </a:rPr>
              <a:t>JAVA_HOME</a:t>
            </a:r>
            <a:r>
              <a:rPr lang="zh-CN" altLang="en-US" sz="2000" baseline="0" dirty="0">
                <a:latin typeface="Times New Roman" panose="02020503050405090304" pitchFamily="18" charset="0"/>
                <a:ea typeface="楷体-简" panose="02010600040101010101" pitchFamily="2" charset="-122"/>
              </a:rPr>
              <a:t>的变量值即可</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否则</a:t>
            </a:r>
            <a:r>
              <a:rPr lang="en-US" altLang="zh-CN" sz="2000" baseline="0" dirty="0">
                <a:latin typeface="Times New Roman" panose="02020503050405090304" pitchFamily="18" charset="0"/>
                <a:ea typeface="楷体-简" panose="02010600040101010101" pitchFamily="2" charset="-122"/>
              </a:rPr>
              <a:t>,</a:t>
            </a:r>
            <a:r>
              <a:rPr lang="zh-CN" altLang="en-US" sz="2000" baseline="0" dirty="0">
                <a:latin typeface="Times New Roman" panose="02020503050405090304" pitchFamily="18" charset="0"/>
                <a:ea typeface="楷体-简" panose="02010600040101010101" pitchFamily="2" charset="-122"/>
              </a:rPr>
              <a:t>就要更改任何用绝对路径引用</a:t>
            </a:r>
            <a:r>
              <a:rPr lang="en-US" altLang="zh-CN" sz="2000" baseline="0" dirty="0">
                <a:latin typeface="Times New Roman" panose="02020503050405090304" pitchFamily="18" charset="0"/>
                <a:ea typeface="楷体-简" panose="02010600040101010101" pitchFamily="2" charset="-122"/>
              </a:rPr>
              <a:t>JDK</a:t>
            </a:r>
            <a:r>
              <a:rPr lang="zh-CN" altLang="en-US" sz="2000" baseline="0" dirty="0">
                <a:latin typeface="Times New Roman" panose="02020503050405090304" pitchFamily="18" charset="0"/>
                <a:ea typeface="楷体-简" panose="02010600040101010101" pitchFamily="2" charset="-122"/>
              </a:rPr>
              <a:t>目录的文档</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要是万一没有改全</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某个程序找不到</a:t>
            </a:r>
            <a:r>
              <a:rPr lang="en-US" altLang="zh-CN" sz="2000" baseline="0" dirty="0">
                <a:latin typeface="Times New Roman" panose="02020503050405090304" pitchFamily="18" charset="0"/>
                <a:ea typeface="楷体-简" panose="02010600040101010101" pitchFamily="2" charset="-122"/>
              </a:rPr>
              <a:t>JDK, </a:t>
            </a:r>
            <a:r>
              <a:rPr lang="zh-CN" altLang="en-US" sz="2000" baseline="0" dirty="0">
                <a:latin typeface="Times New Roman" panose="02020503050405090304" pitchFamily="18" charset="0"/>
                <a:ea typeface="楷体-简" panose="02010600040101010101" pitchFamily="2" charset="-122"/>
              </a:rPr>
              <a:t>后果是可想而知的</a:t>
            </a:r>
            <a:r>
              <a:rPr lang="en-US" altLang="zh-CN" sz="2000" baseline="0" dirty="0">
                <a:latin typeface="Times New Roman" panose="02020503050405090304" pitchFamily="18" charset="0"/>
                <a:ea typeface="楷体-简" panose="02010600040101010101" pitchFamily="2" charset="-122"/>
              </a:rPr>
              <a:t>----</a:t>
            </a:r>
            <a:r>
              <a:rPr lang="zh-CN" altLang="en-US" sz="2000" baseline="0" dirty="0">
                <a:latin typeface="Times New Roman" panose="02020503050405090304" pitchFamily="18" charset="0"/>
                <a:ea typeface="楷体-简" panose="02010600040101010101" pitchFamily="2" charset="-122"/>
              </a:rPr>
              <a:t>系统崩溃</a:t>
            </a:r>
            <a:r>
              <a:rPr lang="en-US" altLang="zh-CN" sz="2000" baseline="0" dirty="0">
                <a:latin typeface="Times New Roman" panose="02020503050405090304" pitchFamily="18" charset="0"/>
                <a:ea typeface="楷体-简" panose="02010600040101010101" pitchFamily="2" charset="-122"/>
              </a:rPr>
              <a:t>! </a:t>
            </a:r>
          </a:p>
          <a:p>
            <a:pPr marL="0" indent="0">
              <a:buFontTx/>
              <a:buNone/>
            </a:pPr>
            <a:endParaRPr lang="en-US" altLang="zh-CN" sz="2000" baseline="0" dirty="0">
              <a:latin typeface="Times New Roman" panose="02020503050405090304" pitchFamily="18" charset="0"/>
              <a:ea typeface="楷体-简" panose="02010600040101010101" pitchFamily="2" charset="-122"/>
            </a:endParaRPr>
          </a:p>
          <a:p>
            <a:pPr marL="0" indent="0">
              <a:buFontTx/>
              <a:buNone/>
            </a:pPr>
            <a:r>
              <a:rPr lang="en-US" altLang="zh-CN" sz="2000" baseline="0" dirty="0">
                <a:latin typeface="Times New Roman" panose="02020503050405090304" pitchFamily="18" charset="0"/>
                <a:ea typeface="楷体-简" panose="02010600040101010101" pitchFamily="2" charset="-122"/>
              </a:rPr>
              <a:t>3: </a:t>
            </a:r>
            <a:r>
              <a:rPr lang="zh-CN" altLang="en-US" sz="2000" baseline="0" dirty="0">
                <a:latin typeface="Times New Roman" panose="02020503050405090304" pitchFamily="18" charset="0"/>
                <a:ea typeface="楷体-简" panose="02010600040101010101" pitchFamily="2" charset="-122"/>
              </a:rPr>
              <a:t>部分第三方软件会引用</a:t>
            </a:r>
            <a:r>
              <a:rPr lang="zh-CN" altLang="en-US" sz="2000" b="1" baseline="0" dirty="0">
                <a:solidFill>
                  <a:srgbClr val="0070C0"/>
                </a:solidFill>
                <a:latin typeface="Times New Roman" panose="02020503050405090304" pitchFamily="18" charset="0"/>
                <a:ea typeface="楷体-简" panose="02010600040101010101" pitchFamily="2" charset="-122"/>
              </a:rPr>
              <a:t>约定</a:t>
            </a:r>
            <a:r>
              <a:rPr lang="zh-CN" altLang="en-US" sz="2000" baseline="0" dirty="0">
                <a:latin typeface="Times New Roman" panose="02020503050405090304" pitchFamily="18" charset="0"/>
                <a:ea typeface="楷体-简" panose="02010600040101010101" pitchFamily="2" charset="-122"/>
              </a:rPr>
              <a:t>好的</a:t>
            </a:r>
            <a:r>
              <a:rPr lang="en-US" altLang="zh-CN" sz="2000" baseline="0" dirty="0">
                <a:latin typeface="Times New Roman" panose="02020503050405090304" pitchFamily="18" charset="0"/>
                <a:ea typeface="楷体-简" panose="02010600040101010101" pitchFamily="2" charset="-122"/>
              </a:rPr>
              <a:t>JAVA_HOME</a:t>
            </a:r>
            <a:r>
              <a:rPr lang="zh-CN" altLang="en-US" sz="2000" baseline="0" dirty="0">
                <a:latin typeface="Times New Roman" panose="02020503050405090304" pitchFamily="18" charset="0"/>
                <a:ea typeface="楷体-简" panose="02010600040101010101" pitchFamily="2" charset="-122"/>
              </a:rPr>
              <a:t>变量</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不然</a:t>
            </a:r>
            <a:r>
              <a:rPr lang="en-US" altLang="zh-CN" sz="2000" baseline="0" dirty="0">
                <a:latin typeface="Times New Roman" panose="02020503050405090304" pitchFamily="18" charset="0"/>
                <a:ea typeface="楷体-简" panose="02010600040101010101" pitchFamily="2" charset="-122"/>
              </a:rPr>
              <a:t>, </a:t>
            </a:r>
            <a:r>
              <a:rPr lang="zh-CN" altLang="en-US" sz="2000" baseline="0" dirty="0">
                <a:latin typeface="Times New Roman" panose="02020503050405090304" pitchFamily="18" charset="0"/>
                <a:ea typeface="楷体-简" panose="02010600040101010101" pitchFamily="2" charset="-122"/>
              </a:rPr>
              <a:t>你不能正常使用该软件。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配置</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JAVA_HOME</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变量</a:t>
            </a:r>
          </a:p>
        </p:txBody>
      </p:sp>
      <p:sp>
        <p:nvSpPr>
          <p:cNvPr id="38915" name="内容占位符 2"/>
          <p:cNvSpPr>
            <a:spLocks noGrp="1" noChangeArrowheads="1"/>
          </p:cNvSpPr>
          <p:nvPr>
            <p:ph idx="1"/>
          </p:nvPr>
        </p:nvSpPr>
        <p:spPr>
          <a:xfrm>
            <a:off x="457200" y="1600200"/>
            <a:ext cx="8075240" cy="4525963"/>
          </a:xfrm>
        </p:spPr>
        <p:txBody>
          <a:bodyPr/>
          <a:lstStyle/>
          <a:p>
            <a:pPr>
              <a:buFont typeface="Wingdings" panose="05000000000000000000" pitchFamily="2" charset="2"/>
              <a:buChar char="Ø"/>
            </a:pPr>
            <a:r>
              <a:rPr lang="zh-CN" altLang="en-US" sz="2800" b="1" baseline="0" dirty="0">
                <a:solidFill>
                  <a:srgbClr val="7030A0"/>
                </a:solidFill>
                <a:latin typeface="Times New Roman" panose="02020503050405090304" pitchFamily="18" charset="0"/>
                <a:ea typeface="楷体-简" panose="02010600040101010101" pitchFamily="2" charset="-122"/>
              </a:rPr>
              <a:t>如何配置</a:t>
            </a:r>
            <a:r>
              <a:rPr lang="en-US" altLang="zh-CN" sz="2800" b="1" baseline="0" dirty="0">
                <a:solidFill>
                  <a:srgbClr val="7030A0"/>
                </a:solidFill>
                <a:latin typeface="Times New Roman" panose="02020503050405090304" pitchFamily="18" charset="0"/>
                <a:ea typeface="楷体-简" panose="02010600040101010101" pitchFamily="2" charset="-122"/>
              </a:rPr>
              <a:t>JAVA_HOME</a:t>
            </a:r>
            <a:r>
              <a:rPr lang="zh-CN" altLang="en-US" sz="2800" b="1" baseline="0" dirty="0">
                <a:solidFill>
                  <a:srgbClr val="7030A0"/>
                </a:solidFill>
                <a:latin typeface="Times New Roman" panose="02020503050405090304" pitchFamily="18" charset="0"/>
                <a:ea typeface="楷体-简" panose="02010600040101010101" pitchFamily="2" charset="-122"/>
              </a:rPr>
              <a:t>变量？</a:t>
            </a:r>
            <a:br>
              <a:rPr lang="zh-CN" altLang="en-US" sz="2400" baseline="0" dirty="0">
                <a:latin typeface="Times New Roman" panose="02020503050405090304" pitchFamily="18" charset="0"/>
                <a:ea typeface="楷体-简" panose="02010600040101010101" pitchFamily="2" charset="-122"/>
              </a:rPr>
            </a:br>
            <a:r>
              <a:rPr lang="zh-CN" altLang="en-US" sz="2400" baseline="0" dirty="0">
                <a:latin typeface="Times New Roman" panose="02020503050405090304" pitchFamily="18" charset="0"/>
                <a:ea typeface="楷体-简" panose="02010600040101010101" pitchFamily="2" charset="-122"/>
              </a:rPr>
              <a:t>在系统环境变量那一栏中点击新建</a:t>
            </a:r>
            <a:r>
              <a:rPr lang="en-US" altLang="zh-CN" sz="2400" baseline="0" dirty="0">
                <a:latin typeface="Times New Roman" panose="02020503050405090304" pitchFamily="18" charset="0"/>
                <a:ea typeface="楷体-简" panose="02010600040101010101" pitchFamily="2" charset="-122"/>
              </a:rPr>
              <a:t>JAVA_HOME </a:t>
            </a:r>
            <a:r>
              <a:rPr lang="zh-CN" altLang="en-US" sz="2400" baseline="0" dirty="0">
                <a:latin typeface="Times New Roman" panose="02020503050405090304" pitchFamily="18" charset="0"/>
                <a:ea typeface="楷体-简" panose="02010600040101010101" pitchFamily="2" charset="-122"/>
              </a:rPr>
              <a:t>（指向</a:t>
            </a:r>
            <a:r>
              <a:rPr lang="en-US" altLang="zh-CN" sz="2400" baseline="0" dirty="0">
                <a:latin typeface="Times New Roman" panose="02020503050405090304" pitchFamily="18" charset="0"/>
                <a:ea typeface="楷体-简" panose="02010600040101010101" pitchFamily="2" charset="-122"/>
              </a:rPr>
              <a:t>JDK</a:t>
            </a:r>
            <a:r>
              <a:rPr lang="zh-CN" altLang="en-US" sz="2400" baseline="0" dirty="0">
                <a:latin typeface="Times New Roman" panose="02020503050405090304" pitchFamily="18" charset="0"/>
                <a:ea typeface="楷体-简" panose="02010600040101010101" pitchFamily="2" charset="-122"/>
              </a:rPr>
              <a:t>的安装路径），变量的值实际上是</a:t>
            </a:r>
            <a:r>
              <a:rPr lang="en-US" altLang="zh-CN" sz="2400" baseline="0" dirty="0">
                <a:latin typeface="Times New Roman" panose="02020503050405090304" pitchFamily="18" charset="0"/>
                <a:ea typeface="楷体-简" panose="02010600040101010101" pitchFamily="2" charset="-122"/>
              </a:rPr>
              <a:t>JDK</a:t>
            </a:r>
            <a:r>
              <a:rPr lang="zh-CN" altLang="en-US" sz="2400" baseline="0" dirty="0">
                <a:latin typeface="Times New Roman" panose="02020503050405090304" pitchFamily="18" charset="0"/>
                <a:ea typeface="楷体-简" panose="02010600040101010101" pitchFamily="2" charset="-122"/>
              </a:rPr>
              <a:t>安装路径的根目录。下面只列出其键值对：</a:t>
            </a:r>
            <a:endParaRPr lang="en-US" altLang="zh-CN" sz="2400" baseline="0" dirty="0">
              <a:latin typeface="Times New Roman" panose="02020503050405090304" pitchFamily="18" charset="0"/>
              <a:ea typeface="楷体-简" panose="02010600040101010101" pitchFamily="2" charset="-122"/>
            </a:endParaRPr>
          </a:p>
          <a:p>
            <a:pPr marL="0" indent="0">
              <a:buNone/>
            </a:pPr>
            <a:br>
              <a:rPr lang="zh-CN" altLang="en-US" sz="2400" baseline="0" dirty="0">
                <a:latin typeface="Times New Roman" panose="02020503050405090304" pitchFamily="18" charset="0"/>
                <a:ea typeface="楷体-简" panose="02010600040101010101" pitchFamily="2" charset="-122"/>
              </a:rPr>
            </a:br>
            <a:r>
              <a:rPr lang="zh-CN" altLang="en-US" sz="2400" baseline="0" dirty="0">
                <a:latin typeface="Times New Roman" panose="02020503050405090304" pitchFamily="18" charset="0"/>
                <a:ea typeface="楷体-简" panose="02010600040101010101" pitchFamily="2" charset="-122"/>
              </a:rPr>
              <a:t>变量名： </a:t>
            </a:r>
            <a:r>
              <a:rPr lang="en-US" altLang="zh-CN" sz="2400" baseline="0" dirty="0">
                <a:latin typeface="Times New Roman" panose="02020503050405090304" pitchFamily="18" charset="0"/>
                <a:ea typeface="楷体-简" panose="02010600040101010101" pitchFamily="2" charset="-122"/>
              </a:rPr>
              <a:t>JAVA_HOME</a:t>
            </a:r>
            <a:br>
              <a:rPr lang="zh-CN" altLang="en-US" sz="2400" baseline="0" dirty="0">
                <a:latin typeface="Times New Roman" panose="02020503050405090304" pitchFamily="18" charset="0"/>
                <a:ea typeface="楷体-简" panose="02010600040101010101" pitchFamily="2" charset="-122"/>
              </a:rPr>
            </a:br>
            <a:r>
              <a:rPr lang="zh-CN" altLang="en-US" sz="2400" baseline="0" dirty="0">
                <a:latin typeface="Times New Roman" panose="02020503050405090304" pitchFamily="18" charset="0"/>
                <a:ea typeface="楷体-简" panose="02010600040101010101" pitchFamily="2" charset="-122"/>
              </a:rPr>
              <a:t>变量值：</a:t>
            </a:r>
            <a:r>
              <a:rPr lang="en-US" altLang="zh-CN" sz="2400" baseline="0" dirty="0">
                <a:latin typeface="Times New Roman" panose="02020503050405090304" pitchFamily="18" charset="0"/>
                <a:ea typeface="楷体-简" panose="02010600040101010101" pitchFamily="2" charset="-122"/>
              </a:rPr>
              <a:t> C:\Program Files\Java\jdk-21.0.2</a:t>
            </a:r>
          </a:p>
          <a:p>
            <a:pPr marL="0" indent="0">
              <a:buNone/>
            </a:pPr>
            <a:endParaRPr lang="en-US" altLang="zh-CN" sz="2400" baseline="0" dirty="0">
              <a:latin typeface="Times New Roman" panose="02020503050405090304" pitchFamily="18" charset="0"/>
              <a:ea typeface="楷体-简" panose="02010600040101010101" pitchFamily="2" charset="-122"/>
            </a:endParaRPr>
          </a:p>
          <a:p>
            <a:pPr marL="0" indent="0">
              <a:buFontTx/>
              <a:buNone/>
            </a:pPr>
            <a:r>
              <a:rPr lang="en-US" altLang="zh-CN" sz="2400" b="1" baseline="0" dirty="0">
                <a:solidFill>
                  <a:srgbClr val="6666FF"/>
                </a:solidFill>
                <a:latin typeface="Times New Roman" panose="02020503050405090304" pitchFamily="18" charset="0"/>
                <a:ea typeface="楷体-简" panose="02010600040101010101" pitchFamily="2" charset="-122"/>
              </a:rPr>
              <a:t>Path: </a:t>
            </a:r>
            <a:r>
              <a:rPr lang="en-US" altLang="zh-CN" sz="2400" b="1" baseline="0" dirty="0">
                <a:solidFill>
                  <a:srgbClr val="FF0000"/>
                </a:solidFill>
                <a:latin typeface="Times New Roman" panose="02020503050405090304" pitchFamily="18" charset="0"/>
                <a:ea typeface="楷体-简" panose="02010600040101010101" pitchFamily="2" charset="-122"/>
              </a:rPr>
              <a:t>%JAVA_HOME\bin</a:t>
            </a:r>
            <a:endParaRPr lang="en-US" altLang="zh-CN" sz="2400" b="1" baseline="0" dirty="0">
              <a:solidFill>
                <a:srgbClr val="6666FF"/>
              </a:solidFill>
              <a:latin typeface="Times New Roman" panose="02020503050405090304" pitchFamily="18" charset="0"/>
              <a:ea typeface="楷体-简" panose="02010600040101010101" pitchFamily="2" charset="-122"/>
            </a:endParaRPr>
          </a:p>
          <a:p>
            <a:pPr marL="0" indent="0">
              <a:buFontTx/>
              <a:buNone/>
            </a:pPr>
            <a:r>
              <a:rPr lang="en-US" altLang="zh-CN" sz="2400" b="1" baseline="0" dirty="0" err="1">
                <a:solidFill>
                  <a:srgbClr val="6666FF"/>
                </a:solidFill>
                <a:latin typeface="Times New Roman" panose="02020503050405090304" pitchFamily="18" charset="0"/>
                <a:ea typeface="楷体-简" panose="02010600040101010101" pitchFamily="2" charset="-122"/>
              </a:rPr>
              <a:t>Classpath</a:t>
            </a:r>
            <a:r>
              <a:rPr lang="en-US" altLang="zh-CN" sz="2400" b="1" baseline="0" dirty="0">
                <a:solidFill>
                  <a:srgbClr val="6666FF"/>
                </a:solidFill>
                <a:latin typeface="Times New Roman" panose="02020503050405090304" pitchFamily="18" charset="0"/>
                <a:ea typeface="楷体-简" panose="02010600040101010101" pitchFamily="2" charset="-122"/>
              </a:rPr>
              <a:t>: </a:t>
            </a:r>
            <a:r>
              <a:rPr lang="en-US" altLang="zh-CN" sz="2400" b="1" baseline="0" dirty="0">
                <a:solidFill>
                  <a:srgbClr val="FF0066"/>
                </a:solidFill>
                <a:latin typeface="Times New Roman" panose="02020503050405090304" pitchFamily="18" charset="0"/>
                <a:ea typeface="楷体-简" panose="02010600040101010101" pitchFamily="2" charset="-122"/>
              </a:rPr>
              <a:t>.;</a:t>
            </a:r>
            <a:r>
              <a:rPr lang="en-US" altLang="zh-CN" sz="2400" b="1" baseline="0" dirty="0">
                <a:solidFill>
                  <a:srgbClr val="FF0000"/>
                </a:solidFill>
                <a:latin typeface="Times New Roman" panose="02020503050405090304" pitchFamily="18" charset="0"/>
                <a:ea typeface="楷体-简" panose="02010600040101010101" pitchFamily="2" charset="-122"/>
              </a:rPr>
              <a:t>%JAVA_HOME</a:t>
            </a:r>
            <a:r>
              <a:rPr lang="en-US" altLang="en-US" sz="2400" b="1" baseline="0" dirty="0">
                <a:solidFill>
                  <a:srgbClr val="FF0000"/>
                </a:solidFill>
                <a:latin typeface="Times New Roman" panose="02020503050405090304" pitchFamily="18" charset="0"/>
                <a:ea typeface="楷体-简" panose="02010600040101010101" pitchFamily="2" charset="-122"/>
              </a:rPr>
              <a:t>\lib</a:t>
            </a:r>
            <a:r>
              <a:rPr lang="en-US" altLang="zh-CN" sz="2400" b="1" baseline="0" dirty="0">
                <a:solidFill>
                  <a:srgbClr val="FF0000"/>
                </a:solidFill>
                <a:latin typeface="Times New Roman" panose="02020503050405090304" pitchFamily="18" charset="0"/>
                <a:ea typeface="楷体-简" panose="02010600040101010101" pitchFamily="2" charset="-122"/>
              </a:rPr>
              <a:t> </a:t>
            </a:r>
            <a:endParaRPr lang="zh-CN" altLang="en-US" sz="2400" b="1" baseline="0" dirty="0">
              <a:solidFill>
                <a:srgbClr val="FF0000"/>
              </a:solidFill>
              <a:latin typeface="Times New Roman" panose="02020503050405090304" pitchFamily="18" charset="0"/>
              <a:ea typeface="楷体-简" panose="02010600040101010101" pitchFamily="2" charset="-122"/>
            </a:endParaRPr>
          </a:p>
        </p:txBody>
      </p:sp>
      <p:sp>
        <p:nvSpPr>
          <p:cNvPr id="2" name="矩形 1"/>
          <p:cNvSpPr/>
          <p:nvPr/>
        </p:nvSpPr>
        <p:spPr bwMode="auto">
          <a:xfrm>
            <a:off x="316438" y="3418609"/>
            <a:ext cx="6336704" cy="2592288"/>
          </a:xfrm>
          <a:prstGeom prst="rect">
            <a:avLst/>
          </a:prstGeom>
          <a:noFill/>
          <a:ln w="25400" cap="flat" cmpd="sng" algn="ctr">
            <a:solidFill>
              <a:schemeClr val="bg1">
                <a:lumMod val="5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0" y="274638"/>
            <a:ext cx="6246813"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6688" y="2178050"/>
            <a:ext cx="8916987" cy="282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文本框 1"/>
          <p:cNvSpPr txBox="1">
            <a:spLocks noChangeArrowheads="1"/>
          </p:cNvSpPr>
          <p:nvPr/>
        </p:nvSpPr>
        <p:spPr bwMode="auto">
          <a:xfrm>
            <a:off x="179388" y="260350"/>
            <a:ext cx="490537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609600" indent="-6096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50000"/>
              </a:lnSpc>
              <a:spcBef>
                <a:spcPct val="0"/>
              </a:spcBef>
              <a:buFontTx/>
              <a:buNone/>
            </a:pPr>
            <a:r>
              <a:rPr lang="en-US" altLang="zh-CN" sz="2800" b="1">
                <a:solidFill>
                  <a:srgbClr val="6666FF"/>
                </a:solidFill>
              </a:rPr>
              <a:t> java –version </a:t>
            </a:r>
            <a:r>
              <a:rPr lang="zh-CN" altLang="en-US" sz="2800" b="1">
                <a:solidFill>
                  <a:srgbClr val="6666FF"/>
                </a:solidFill>
              </a:rPr>
              <a:t>查看</a:t>
            </a:r>
            <a:r>
              <a:rPr lang="en-US" altLang="zh-CN" sz="2800" b="1">
                <a:solidFill>
                  <a:srgbClr val="6666FF"/>
                </a:solidFill>
              </a:rPr>
              <a:t>java </a:t>
            </a:r>
            <a:r>
              <a:rPr lang="zh-CN" altLang="en-US" sz="2800" b="1">
                <a:solidFill>
                  <a:srgbClr val="6666FF"/>
                </a:solidFill>
              </a:rPr>
              <a:t>版本</a:t>
            </a:r>
          </a:p>
          <a:p>
            <a:pPr eaLnBrk="1" hangingPunct="1">
              <a:lnSpc>
                <a:spcPct val="150000"/>
              </a:lnSpc>
              <a:spcBef>
                <a:spcPct val="0"/>
              </a:spcBef>
              <a:buFontTx/>
              <a:buNone/>
            </a:pPr>
            <a:r>
              <a:rPr lang="zh-CN" altLang="en-US" sz="2800" b="1"/>
              <a:t>      </a:t>
            </a:r>
            <a:endParaRPr lang="zh-CN" altLang="en-US" sz="2800"/>
          </a:p>
        </p:txBody>
      </p:sp>
      <p:sp>
        <p:nvSpPr>
          <p:cNvPr id="26628" name="文本框 2"/>
          <p:cNvSpPr txBox="1">
            <a:spLocks noChangeArrowheads="1"/>
          </p:cNvSpPr>
          <p:nvPr/>
        </p:nvSpPr>
        <p:spPr bwMode="auto">
          <a:xfrm>
            <a:off x="179388" y="4926013"/>
            <a:ext cx="5694362"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spcBef>
                <a:spcPct val="0"/>
              </a:spcBef>
              <a:buFontTx/>
              <a:buNone/>
            </a:pPr>
            <a:r>
              <a:rPr lang="en-US" altLang="zh-CN" sz="2400"/>
              <a:t>Dos</a:t>
            </a:r>
            <a:r>
              <a:rPr lang="zh-CN" altLang="en-US" sz="2400"/>
              <a:t>下编译</a:t>
            </a:r>
            <a:r>
              <a:rPr lang="en-US" altLang="zh-CN" sz="2400"/>
              <a:t>Java</a:t>
            </a:r>
            <a:r>
              <a:rPr lang="zh-CN" altLang="en-US" sz="2400"/>
              <a:t>文件用 </a:t>
            </a:r>
            <a:r>
              <a:rPr lang="en-US" altLang="zh-CN" sz="2400" u="sng"/>
              <a:t>javac </a:t>
            </a:r>
            <a:r>
              <a:rPr lang="zh-CN" altLang="en-US" sz="2400" u="sng"/>
              <a:t>文件名</a:t>
            </a:r>
            <a:r>
              <a:rPr lang="en-US" altLang="zh-CN" sz="2400" u="sng"/>
              <a:t>.java</a:t>
            </a:r>
          </a:p>
          <a:p>
            <a:pPr>
              <a:spcBef>
                <a:spcPct val="0"/>
              </a:spcBef>
              <a:buFontTx/>
              <a:buNone/>
            </a:pPr>
            <a:r>
              <a:rPr lang="zh-CN" altLang="en-US" sz="2400"/>
              <a:t>（</a:t>
            </a:r>
            <a:r>
              <a:rPr lang="en-US" altLang="zh-CN" sz="2400"/>
              <a:t>javac </a:t>
            </a:r>
            <a:r>
              <a:rPr lang="zh-CN" altLang="en-US" sz="2400"/>
              <a:t>即为调用</a:t>
            </a:r>
            <a:r>
              <a:rPr lang="en-US" altLang="zh-CN" sz="2400"/>
              <a:t>javac.exe</a:t>
            </a:r>
            <a:r>
              <a:rPr lang="zh-CN" altLang="en-US" sz="2400"/>
              <a:t>）</a:t>
            </a:r>
            <a:r>
              <a:rPr lang="en-US" altLang="zh-CN" sz="2400"/>
              <a:t> </a:t>
            </a:r>
          </a:p>
          <a:p>
            <a:pPr>
              <a:spcBef>
                <a:spcPct val="0"/>
              </a:spcBef>
              <a:buFontTx/>
              <a:buNone/>
            </a:pPr>
            <a:r>
              <a:rPr lang="en-US" altLang="zh-CN" sz="2400"/>
              <a:t> </a:t>
            </a:r>
          </a:p>
          <a:p>
            <a:pPr>
              <a:spcBef>
                <a:spcPct val="0"/>
              </a:spcBef>
              <a:buFontTx/>
              <a:buNone/>
            </a:pPr>
            <a:r>
              <a:rPr lang="en-US" altLang="zh-CN" sz="2400"/>
              <a:t>Dos</a:t>
            </a:r>
            <a:r>
              <a:rPr lang="zh-CN" altLang="en-US" sz="2400"/>
              <a:t>下运行</a:t>
            </a:r>
            <a:r>
              <a:rPr lang="en-US" altLang="zh-CN" sz="2400"/>
              <a:t>Java</a:t>
            </a:r>
            <a:r>
              <a:rPr lang="zh-CN" altLang="en-US" sz="2400"/>
              <a:t> 用 </a:t>
            </a:r>
            <a:r>
              <a:rPr lang="en-US" altLang="zh-CN" sz="2400" u="sng"/>
              <a:t>java </a:t>
            </a:r>
            <a:r>
              <a:rPr lang="zh-CN" altLang="en-US" sz="2400" u="sng"/>
              <a:t>文件名</a:t>
            </a:r>
            <a:endParaRPr lang="en-US" altLang="zh-CN" sz="2400" u="sng"/>
          </a:p>
          <a:p>
            <a:pPr>
              <a:spcBef>
                <a:spcPct val="0"/>
              </a:spcBef>
              <a:buFontTx/>
              <a:buNone/>
            </a:pPr>
            <a:r>
              <a:rPr lang="en-US" altLang="zh-CN" sz="2400"/>
              <a:t>(java</a:t>
            </a:r>
            <a:r>
              <a:rPr lang="zh-CN" altLang="en-US" sz="2400"/>
              <a:t>即为调用</a:t>
            </a:r>
            <a:r>
              <a:rPr lang="en-US" altLang="zh-CN" sz="2400"/>
              <a:t>java.exe)</a:t>
            </a:r>
            <a:endParaRPr lang="zh-CN" altLang="en-US" sz="2400"/>
          </a:p>
        </p:txBody>
      </p:sp>
      <p:pic>
        <p:nvPicPr>
          <p:cNvPr id="2662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81075"/>
            <a:ext cx="29527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0413" y="981075"/>
            <a:ext cx="4681537"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1" name="文本框 1"/>
          <p:cNvSpPr txBox="1">
            <a:spLocks noChangeArrowheads="1"/>
          </p:cNvSpPr>
          <p:nvPr/>
        </p:nvSpPr>
        <p:spPr bwMode="auto">
          <a:xfrm>
            <a:off x="323850" y="1125538"/>
            <a:ext cx="1295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spcBef>
                <a:spcPct val="0"/>
              </a:spcBef>
              <a:buFontTx/>
              <a:buNone/>
            </a:pPr>
            <a:r>
              <a:rPr lang="en-US" altLang="zh-CN" sz="1800" b="1"/>
              <a:t>Win +R</a:t>
            </a:r>
            <a:endParaRPr lang="zh-CN" altLang="en-US" sz="1800" b="1"/>
          </a:p>
        </p:txBody>
      </p:sp>
      <p:sp>
        <p:nvSpPr>
          <p:cNvPr id="2" name="文本框 1"/>
          <p:cNvSpPr txBox="1"/>
          <p:nvPr/>
        </p:nvSpPr>
        <p:spPr>
          <a:xfrm>
            <a:off x="5466354" y="5853617"/>
            <a:ext cx="3490440" cy="523220"/>
          </a:xfrm>
          <a:prstGeom prst="rect">
            <a:avLst/>
          </a:prstGeom>
          <a:noFill/>
        </p:spPr>
        <p:txBody>
          <a:bodyPr wrap="square" rtlCol="0">
            <a:spAutoFit/>
          </a:bodyPr>
          <a:lstStyle/>
          <a:p>
            <a:r>
              <a:rPr lang="zh-CN" altLang="en-US" sz="2800" dirty="0">
                <a:solidFill>
                  <a:srgbClr val="7030A0"/>
                </a:solidFill>
                <a:effectLst>
                  <a:outerShdw blurRad="38100" dist="38100" dir="2700000" algn="tl">
                    <a:srgbClr val="000000">
                      <a:alpha val="43137"/>
                    </a:srgbClr>
                  </a:outerShdw>
                </a:effectLst>
                <a:latin typeface="微软雅黑" charset="-122"/>
                <a:ea typeface="微软雅黑" charset="-122"/>
              </a:rPr>
              <a:t>需要先配置环境变量</a:t>
            </a:r>
          </a:p>
        </p:txBody>
      </p:sp>
      <p:sp>
        <p:nvSpPr>
          <p:cNvPr id="4" name="箭头: 上 3"/>
          <p:cNvSpPr/>
          <p:nvPr/>
        </p:nvSpPr>
        <p:spPr bwMode="auto">
          <a:xfrm rot="18205461">
            <a:off x="4892994" y="5357254"/>
            <a:ext cx="279325" cy="792088"/>
          </a:xfrm>
          <a:prstGeom prst="up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
        <p:nvSpPr>
          <p:cNvPr id="11" name="箭头: 上 10"/>
          <p:cNvSpPr/>
          <p:nvPr/>
        </p:nvSpPr>
        <p:spPr bwMode="auto">
          <a:xfrm rot="14592816">
            <a:off x="4883983" y="6058384"/>
            <a:ext cx="279325" cy="792088"/>
          </a:xfrm>
          <a:prstGeom prst="up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15888"/>
            <a:ext cx="9321800" cy="604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流程图: 可选过程 1"/>
          <p:cNvSpPr/>
          <p:nvPr/>
        </p:nvSpPr>
        <p:spPr bwMode="auto">
          <a:xfrm>
            <a:off x="56519" y="692150"/>
            <a:ext cx="5266734" cy="720626"/>
          </a:xfrm>
          <a:prstGeom prst="flowChartAlternateProcess">
            <a:avLst/>
          </a:prstGeom>
          <a:noFill/>
          <a:ln w="38100" cap="flat" cmpd="sng" algn="ctr">
            <a:solidFill>
              <a:srgbClr val="7030A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90204" pitchFamily="34" charset="0"/>
              <a:ea typeface="宋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0" y="3500438"/>
            <a:ext cx="9144000" cy="4437062"/>
          </a:xfrm>
        </p:spPr>
        <p:txBody>
          <a:bodyPr/>
          <a:lstStyle/>
          <a:p>
            <a:pPr marL="609600" indent="-609600" eaLnBrk="1" hangingPunct="1">
              <a:buFontTx/>
              <a:buNone/>
            </a:pPr>
            <a:endParaRPr lang="en-US" altLang="zh-CN" sz="2400" baseline="0">
              <a:latin typeface="Times New Roman" panose="02020503050405090304" pitchFamily="18" charset="0"/>
              <a:ea typeface="楷体-简" panose="02010600040101010101" pitchFamily="2" charset="-122"/>
            </a:endParaRPr>
          </a:p>
          <a:p>
            <a:pPr marL="609600" indent="-609600" eaLnBrk="1" hangingPunct="1">
              <a:buFontTx/>
              <a:buNone/>
            </a:pPr>
            <a:endParaRPr lang="en-US" altLang="zh-CN" sz="2400" baseline="0">
              <a:latin typeface="Times New Roman" panose="02020503050405090304" pitchFamily="18" charset="0"/>
              <a:ea typeface="楷体-简" panose="02010600040101010101" pitchFamily="2" charset="-122"/>
            </a:endParaRPr>
          </a:p>
          <a:p>
            <a:pPr marL="609600" indent="-609600" eaLnBrk="1" hangingPunct="1">
              <a:buFontTx/>
              <a:buNone/>
            </a:pPr>
            <a:r>
              <a:rPr lang="en-US" altLang="zh-CN" sz="2400" b="1" baseline="0">
                <a:solidFill>
                  <a:srgbClr val="7030A0"/>
                </a:solidFill>
                <a:latin typeface="Times New Roman" panose="02020503050405090304" pitchFamily="18" charset="0"/>
                <a:ea typeface="楷体-简" panose="02010600040101010101" pitchFamily="2" charset="-122"/>
              </a:rPr>
              <a:t>JDK</a:t>
            </a:r>
            <a:r>
              <a:rPr lang="zh-CN" altLang="en-US" sz="2400" b="1" baseline="0">
                <a:solidFill>
                  <a:srgbClr val="7030A0"/>
                </a:solidFill>
                <a:latin typeface="Times New Roman" panose="02020503050405090304" pitchFamily="18" charset="0"/>
                <a:ea typeface="楷体-简" panose="02010600040101010101" pitchFamily="2" charset="-122"/>
              </a:rPr>
              <a:t>目录下</a:t>
            </a:r>
            <a:r>
              <a:rPr lang="zh-CN" altLang="en-US" sz="2400" baseline="0">
                <a:latin typeface="Times New Roman" panose="02020503050405090304" pitchFamily="18" charset="0"/>
                <a:ea typeface="楷体-简" panose="02010600040101010101" pitchFamily="2" charset="-122"/>
              </a:rPr>
              <a:t>有</a:t>
            </a:r>
            <a:r>
              <a:rPr lang="en-US" altLang="zh-CN" sz="2400" baseline="0">
                <a:latin typeface="Times New Roman" panose="02020503050405090304" pitchFamily="18" charset="0"/>
                <a:ea typeface="楷体-简" panose="02010600040101010101" pitchFamily="2" charset="-122"/>
              </a:rPr>
              <a:t>bin</a:t>
            </a:r>
            <a:r>
              <a:rPr lang="zh-CN" altLang="en-US" sz="2400" baseline="0">
                <a:latin typeface="Times New Roman" panose="02020503050405090304" pitchFamily="18" charset="0"/>
                <a:ea typeface="楷体-简" panose="02010600040101010101" pitchFamily="2" charset="-122"/>
              </a:rPr>
              <a:t>、</a:t>
            </a:r>
            <a:r>
              <a:rPr lang="en-US" altLang="zh-CN" sz="2400" baseline="0">
                <a:latin typeface="Times New Roman" panose="02020503050405090304" pitchFamily="18" charset="0"/>
                <a:ea typeface="楷体-简" panose="02010600040101010101" pitchFamily="2" charset="-122"/>
              </a:rPr>
              <a:t>lib</a:t>
            </a:r>
            <a:r>
              <a:rPr lang="zh-CN" altLang="en-US" sz="2400" baseline="0">
                <a:latin typeface="Times New Roman" panose="02020503050405090304" pitchFamily="18" charset="0"/>
                <a:ea typeface="楷体-简" panose="02010600040101010101" pitchFamily="2" charset="-122"/>
              </a:rPr>
              <a:t>等子目录</a:t>
            </a:r>
            <a:endParaRPr lang="en-US" altLang="zh-CN" sz="2400" baseline="0">
              <a:latin typeface="Times New Roman" panose="02020503050405090304" pitchFamily="18" charset="0"/>
              <a:ea typeface="楷体-简" panose="02010600040101010101" pitchFamily="2" charset="-122"/>
            </a:endParaRPr>
          </a:p>
          <a:p>
            <a:pPr marL="609600" indent="-609600" eaLnBrk="1" hangingPunct="1">
              <a:buFontTx/>
              <a:buNone/>
            </a:pPr>
            <a:r>
              <a:rPr lang="en-US" altLang="zh-CN" sz="2400" b="1" baseline="0">
                <a:solidFill>
                  <a:srgbClr val="7030A0"/>
                </a:solidFill>
                <a:latin typeface="Times New Roman" panose="02020503050405090304" pitchFamily="18" charset="0"/>
                <a:ea typeface="楷体-简" panose="02010600040101010101" pitchFamily="2" charset="-122"/>
              </a:rPr>
              <a:t>bin</a:t>
            </a:r>
            <a:r>
              <a:rPr lang="zh-CN" altLang="en-US" sz="2400" b="1" baseline="0">
                <a:solidFill>
                  <a:srgbClr val="7030A0"/>
                </a:solidFill>
                <a:latin typeface="Times New Roman" panose="02020503050405090304" pitchFamily="18" charset="0"/>
                <a:ea typeface="楷体-简" panose="02010600040101010101" pitchFamily="2" charset="-122"/>
              </a:rPr>
              <a:t>目录</a:t>
            </a:r>
            <a:r>
              <a:rPr lang="en-US" altLang="zh-CN" sz="2400" baseline="0">
                <a:latin typeface="Times New Roman" panose="02020503050405090304" pitchFamily="18" charset="0"/>
                <a:ea typeface="楷体-简" panose="02010600040101010101" pitchFamily="2" charset="-122"/>
              </a:rPr>
              <a:t>:</a:t>
            </a:r>
            <a:r>
              <a:rPr lang="en-US" altLang="zh-CN" sz="2400" b="1" baseline="0">
                <a:solidFill>
                  <a:srgbClr val="7030A0"/>
                </a:solidFill>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保存了</a:t>
            </a:r>
            <a:r>
              <a:rPr lang="en-US" altLang="zh-CN" sz="2400" baseline="0">
                <a:latin typeface="Times New Roman" panose="02020503050405090304" pitchFamily="18" charset="0"/>
                <a:ea typeface="楷体-简" panose="02010600040101010101" pitchFamily="2" charset="-122"/>
              </a:rPr>
              <a:t>javac.exe</a:t>
            </a:r>
            <a:r>
              <a:rPr lang="zh-CN" altLang="en-US" sz="2400" baseline="0">
                <a:latin typeface="Times New Roman" panose="02020503050405090304" pitchFamily="18" charset="0"/>
                <a:ea typeface="楷体-简" panose="02010600040101010101" pitchFamily="2" charset="-122"/>
              </a:rPr>
              <a:t>、</a:t>
            </a:r>
            <a:r>
              <a:rPr lang="en-US" altLang="zh-CN" sz="2400" baseline="0">
                <a:latin typeface="Times New Roman" panose="02020503050405090304" pitchFamily="18" charset="0"/>
                <a:ea typeface="楷体-简" panose="02010600040101010101" pitchFamily="2" charset="-122"/>
              </a:rPr>
              <a:t>java.exe</a:t>
            </a:r>
            <a:r>
              <a:rPr lang="zh-CN" altLang="en-US" sz="2400" baseline="0">
                <a:latin typeface="Times New Roman" panose="02020503050405090304" pitchFamily="18" charset="0"/>
                <a:ea typeface="楷体-简" panose="02010600040101010101" pitchFamily="2" charset="-122"/>
              </a:rPr>
              <a:t>等命令文件</a:t>
            </a:r>
            <a:endParaRPr lang="en-US" altLang="zh-CN" sz="2400" baseline="0">
              <a:latin typeface="Times New Roman" panose="02020503050405090304" pitchFamily="18" charset="0"/>
              <a:ea typeface="楷体-简" panose="02010600040101010101" pitchFamily="2" charset="-122"/>
            </a:endParaRPr>
          </a:p>
          <a:p>
            <a:pPr marL="609600" indent="-609600" eaLnBrk="1" hangingPunct="1">
              <a:buFontTx/>
              <a:buNone/>
            </a:pPr>
            <a:r>
              <a:rPr lang="en-US" altLang="zh-CN" sz="2400" b="1" baseline="0">
                <a:solidFill>
                  <a:srgbClr val="7030A0"/>
                </a:solidFill>
                <a:latin typeface="Times New Roman" panose="02020503050405090304" pitchFamily="18" charset="0"/>
                <a:ea typeface="楷体-简" panose="02010600040101010101" pitchFamily="2" charset="-122"/>
              </a:rPr>
              <a:t>lib</a:t>
            </a:r>
            <a:r>
              <a:rPr lang="zh-CN" altLang="en-US" sz="2400" b="1" baseline="0">
                <a:solidFill>
                  <a:srgbClr val="7030A0"/>
                </a:solidFill>
                <a:latin typeface="Times New Roman" panose="02020503050405090304" pitchFamily="18" charset="0"/>
                <a:ea typeface="楷体-简" panose="02010600040101010101" pitchFamily="2" charset="-122"/>
              </a:rPr>
              <a:t>目录</a:t>
            </a:r>
            <a:r>
              <a:rPr lang="en-US" altLang="zh-CN" sz="24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保存了</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的类库文件</a:t>
            </a:r>
            <a:br>
              <a:rPr lang="zh-CN" altLang="en-US" sz="2400" baseline="0">
                <a:latin typeface="Times New Roman" panose="02020503050405090304" pitchFamily="18" charset="0"/>
                <a:ea typeface="楷体-简" panose="02010600040101010101" pitchFamily="2" charset="-122"/>
              </a:rPr>
            </a:br>
            <a:endParaRPr lang="zh-CN" altLang="en-US" sz="2000" baseline="0">
              <a:solidFill>
                <a:srgbClr val="6666FF"/>
              </a:solidFill>
              <a:latin typeface="Times New Roman" panose="02020503050405090304" pitchFamily="18" charset="0"/>
              <a:ea typeface="楷体-简" panose="02010600040101010101" pitchFamily="2" charset="-122"/>
            </a:endParaRPr>
          </a:p>
          <a:p>
            <a:pPr eaLnBrk="1" hangingPunct="1">
              <a:buFont typeface="Wingdings" panose="05000000000000000000" pitchFamily="2" charset="2"/>
              <a:buChar char="Ø"/>
            </a:pPr>
            <a:r>
              <a:rPr lang="zh-CN" altLang="en-US" sz="2400" baseline="0">
                <a:latin typeface="Times New Roman" panose="02020503050405090304" pitchFamily="18" charset="0"/>
                <a:ea typeface="楷体-简" panose="02010600040101010101" pitchFamily="2" charset="-122"/>
              </a:rPr>
              <a:t> </a:t>
            </a:r>
            <a:r>
              <a:rPr lang="zh-CN" altLang="en-US" sz="2000" b="1" u="sng" baseline="0">
                <a:solidFill>
                  <a:srgbClr val="0070C0"/>
                </a:solidFill>
                <a:latin typeface="Times New Roman" panose="02020503050405090304" pitchFamily="18" charset="0"/>
                <a:ea typeface="楷体-简" panose="02010600040101010101" pitchFamily="2" charset="-122"/>
              </a:rPr>
              <a:t>如果只想运行别人的</a:t>
            </a:r>
            <a:r>
              <a:rPr lang="en-US" altLang="zh-CN" sz="2000" b="1" u="sng" baseline="0">
                <a:solidFill>
                  <a:srgbClr val="0070C0"/>
                </a:solidFill>
                <a:latin typeface="Times New Roman" panose="02020503050405090304" pitchFamily="18" charset="0"/>
                <a:ea typeface="楷体-简" panose="02010600040101010101" pitchFamily="2" charset="-122"/>
              </a:rPr>
              <a:t>Java</a:t>
            </a:r>
            <a:r>
              <a:rPr lang="zh-CN" altLang="en-US" sz="2000" b="1" u="sng" baseline="0">
                <a:solidFill>
                  <a:srgbClr val="0070C0"/>
                </a:solidFill>
                <a:latin typeface="Times New Roman" panose="02020503050405090304" pitchFamily="18" charset="0"/>
                <a:ea typeface="楷体-简" panose="02010600040101010101" pitchFamily="2" charset="-122"/>
              </a:rPr>
              <a:t>程序</a:t>
            </a:r>
            <a:r>
              <a:rPr lang="zh-CN" altLang="en-US" sz="2000" baseline="0">
                <a:latin typeface="Times New Roman" panose="02020503050405090304" pitchFamily="18" charset="0"/>
                <a:ea typeface="楷体-简" panose="02010600040101010101" pitchFamily="2" charset="-122"/>
              </a:rPr>
              <a:t>，可以只安装</a:t>
            </a:r>
            <a:r>
              <a:rPr lang="en-US" altLang="zh-CN" sz="2000" baseline="0">
                <a:latin typeface="Times New Roman" panose="02020503050405090304" pitchFamily="18" charset="0"/>
                <a:ea typeface="楷体-简" panose="02010600040101010101" pitchFamily="2" charset="-122"/>
              </a:rPr>
              <a:t>Java</a:t>
            </a:r>
            <a:r>
              <a:rPr lang="zh-CN" altLang="en-US" sz="2000" baseline="0">
                <a:latin typeface="Times New Roman" panose="02020503050405090304" pitchFamily="18" charset="0"/>
                <a:ea typeface="楷体-简" panose="02010600040101010101" pitchFamily="2" charset="-122"/>
              </a:rPr>
              <a:t>运行时环境</a:t>
            </a:r>
            <a:r>
              <a:rPr lang="en-US" altLang="zh-CN" sz="2000" baseline="0">
                <a:latin typeface="Times New Roman" panose="02020503050405090304" pitchFamily="18" charset="0"/>
                <a:ea typeface="楷体-简" panose="02010600040101010101" pitchFamily="2" charset="-122"/>
              </a:rPr>
              <a:t>JRE,</a:t>
            </a:r>
          </a:p>
          <a:p>
            <a:pPr marL="609600" indent="-609600" eaLnBrk="1" hangingPunct="1">
              <a:buFontTx/>
              <a:buNone/>
            </a:pPr>
            <a:r>
              <a:rPr lang="en-US" altLang="zh-CN" sz="2000" baseline="0">
                <a:latin typeface="Times New Roman" panose="02020503050405090304" pitchFamily="18" charset="0"/>
                <a:ea typeface="楷体-简" panose="02010600040101010101" pitchFamily="2" charset="-122"/>
              </a:rPr>
              <a:t>      JRE</a:t>
            </a:r>
            <a:r>
              <a:rPr lang="zh-CN" altLang="en-US" sz="2000" baseline="0">
                <a:latin typeface="Times New Roman" panose="02020503050405090304" pitchFamily="18" charset="0"/>
                <a:ea typeface="楷体-简" panose="02010600040101010101" pitchFamily="2" charset="-122"/>
              </a:rPr>
              <a:t>由</a:t>
            </a:r>
            <a:r>
              <a:rPr lang="en-US" altLang="zh-CN" sz="2000" baseline="0">
                <a:latin typeface="Times New Roman" panose="02020503050405090304" pitchFamily="18" charset="0"/>
                <a:ea typeface="楷体-简" panose="02010600040101010101" pitchFamily="2" charset="-122"/>
              </a:rPr>
              <a:t>Java</a:t>
            </a:r>
            <a:r>
              <a:rPr lang="zh-CN" altLang="en-US" sz="2000" baseline="0">
                <a:latin typeface="Times New Roman" panose="02020503050405090304" pitchFamily="18" charset="0"/>
                <a:ea typeface="楷体-简" panose="02010600040101010101" pitchFamily="2" charset="-122"/>
              </a:rPr>
              <a:t>虚拟机、</a:t>
            </a:r>
            <a:r>
              <a:rPr lang="en-US" altLang="zh-CN" sz="2000" baseline="0">
                <a:latin typeface="Times New Roman" panose="02020503050405090304" pitchFamily="18" charset="0"/>
                <a:ea typeface="楷体-简" panose="02010600040101010101" pitchFamily="2" charset="-122"/>
              </a:rPr>
              <a:t>Java</a:t>
            </a:r>
            <a:r>
              <a:rPr lang="zh-CN" altLang="en-US" sz="2000" baseline="0">
                <a:latin typeface="Times New Roman" panose="02020503050405090304" pitchFamily="18" charset="0"/>
                <a:ea typeface="楷体-简" panose="02010600040101010101" pitchFamily="2" charset="-122"/>
              </a:rPr>
              <a:t>的核心类以及一些支持文件组成。</a:t>
            </a:r>
          </a:p>
        </p:txBody>
      </p:sp>
      <p:grpSp>
        <p:nvGrpSpPr>
          <p:cNvPr id="29699" name="组合 10"/>
          <p:cNvGrpSpPr/>
          <p:nvPr/>
        </p:nvGrpSpPr>
        <p:grpSpPr bwMode="auto">
          <a:xfrm>
            <a:off x="4859338" y="-123825"/>
            <a:ext cx="3770312" cy="4916488"/>
            <a:chOff x="4860032" y="-123088"/>
            <a:chExt cx="3769168" cy="4915567"/>
          </a:xfrm>
        </p:grpSpPr>
        <p:grpSp>
          <p:nvGrpSpPr>
            <p:cNvPr id="29704" name="组合 7"/>
            <p:cNvGrpSpPr/>
            <p:nvPr/>
          </p:nvGrpSpPr>
          <p:grpSpPr bwMode="auto">
            <a:xfrm>
              <a:off x="4860032" y="-1833"/>
              <a:ext cx="3689684" cy="4794312"/>
              <a:chOff x="4860032" y="-1833"/>
              <a:chExt cx="3689684" cy="4794312"/>
            </a:xfrm>
          </p:grpSpPr>
          <p:pic>
            <p:nvPicPr>
              <p:cNvPr id="29706"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1833"/>
                <a:ext cx="3689684" cy="479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7" name="右箭头 6"/>
              <p:cNvSpPr>
                <a:spLocks noChangeArrowheads="1"/>
              </p:cNvSpPr>
              <p:nvPr/>
            </p:nvSpPr>
            <p:spPr bwMode="auto">
              <a:xfrm>
                <a:off x="5004048" y="4005064"/>
                <a:ext cx="288032" cy="288031"/>
              </a:xfrm>
              <a:prstGeom prst="rightArrow">
                <a:avLst>
                  <a:gd name="adj1" fmla="val 50000"/>
                  <a:gd name="adj2" fmla="val 50000"/>
                </a:avLst>
              </a:prstGeom>
              <a:solidFill>
                <a:schemeClr val="accent1"/>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sp>
            <p:nvSpPr>
              <p:cNvPr id="29708" name="右箭头 9"/>
              <p:cNvSpPr>
                <a:spLocks noChangeArrowheads="1"/>
              </p:cNvSpPr>
              <p:nvPr/>
            </p:nvSpPr>
            <p:spPr bwMode="auto">
              <a:xfrm>
                <a:off x="5004048" y="4482217"/>
                <a:ext cx="288032" cy="288031"/>
              </a:xfrm>
              <a:prstGeom prst="rightArrow">
                <a:avLst>
                  <a:gd name="adj1" fmla="val 50000"/>
                  <a:gd name="adj2" fmla="val 50000"/>
                </a:avLst>
              </a:prstGeom>
              <a:solidFill>
                <a:schemeClr val="accent1"/>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grpSp>
        <p:sp>
          <p:nvSpPr>
            <p:cNvPr id="29705" name="椭圆 8"/>
            <p:cNvSpPr>
              <a:spLocks noChangeArrowheads="1"/>
            </p:cNvSpPr>
            <p:nvPr/>
          </p:nvSpPr>
          <p:spPr bwMode="auto">
            <a:xfrm>
              <a:off x="8125144" y="-123088"/>
              <a:ext cx="504056" cy="478505"/>
            </a:xfrm>
            <a:prstGeom prst="ellipse">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grpSp>
      <p:grpSp>
        <p:nvGrpSpPr>
          <p:cNvPr id="29700" name="组合 11"/>
          <p:cNvGrpSpPr/>
          <p:nvPr/>
        </p:nvGrpSpPr>
        <p:grpSpPr bwMode="auto">
          <a:xfrm>
            <a:off x="250825" y="188913"/>
            <a:ext cx="2376488" cy="3332162"/>
            <a:chOff x="251520" y="188640"/>
            <a:chExt cx="2376264" cy="3333148"/>
          </a:xfrm>
        </p:grpSpPr>
        <p:pic>
          <p:nvPicPr>
            <p:cNvPr id="29701"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88640"/>
              <a:ext cx="2376264" cy="333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右箭头 13"/>
            <p:cNvSpPr>
              <a:spLocks noChangeArrowheads="1"/>
            </p:cNvSpPr>
            <p:nvPr/>
          </p:nvSpPr>
          <p:spPr bwMode="auto">
            <a:xfrm>
              <a:off x="683568" y="980728"/>
              <a:ext cx="288032" cy="288031"/>
            </a:xfrm>
            <a:prstGeom prst="rightArrow">
              <a:avLst>
                <a:gd name="adj1" fmla="val 50000"/>
                <a:gd name="adj2" fmla="val 50000"/>
              </a:avLst>
            </a:prstGeom>
            <a:solidFill>
              <a:schemeClr val="accent1"/>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sp>
          <p:nvSpPr>
            <p:cNvPr id="29703" name="右箭头 14"/>
            <p:cNvSpPr>
              <a:spLocks noChangeArrowheads="1"/>
            </p:cNvSpPr>
            <p:nvPr/>
          </p:nvSpPr>
          <p:spPr bwMode="auto">
            <a:xfrm>
              <a:off x="683568" y="2780928"/>
              <a:ext cx="288032" cy="288031"/>
            </a:xfrm>
            <a:prstGeom prst="rightArrow">
              <a:avLst>
                <a:gd name="adj1" fmla="val 50000"/>
                <a:gd name="adj2" fmla="val 50000"/>
              </a:avLst>
            </a:prstGeom>
            <a:solidFill>
              <a:schemeClr val="accent1"/>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1.7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初识</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Java</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应用程序</a:t>
            </a:r>
          </a:p>
        </p:txBody>
      </p:sp>
      <p:sp>
        <p:nvSpPr>
          <p:cNvPr id="355331" name="Rectangle 3"/>
          <p:cNvSpPr>
            <a:spLocks noGrp="1" noChangeArrowheads="1"/>
          </p:cNvSpPr>
          <p:nvPr>
            <p:ph type="body" idx="1"/>
          </p:nvPr>
        </p:nvSpPr>
        <p:spPr>
          <a:xfrm>
            <a:off x="457200" y="1628800"/>
            <a:ext cx="8003232" cy="4525963"/>
          </a:xfrm>
        </p:spPr>
        <p:txBody>
          <a:bodyPr/>
          <a:lstStyle/>
          <a:p>
            <a:pPr marL="609600" indent="-609600" eaLnBrk="1" hangingPunct="1">
              <a:lnSpc>
                <a:spcPct val="80000"/>
              </a:lnSpc>
              <a:defRPr/>
            </a:pPr>
            <a:r>
              <a:rPr lang="zh-CN" altLang="en-US" sz="2000" b="1" baseline="0" dirty="0">
                <a:solidFill>
                  <a:schemeClr val="tx2"/>
                </a:solidFill>
                <a:latin typeface="Times New Roman" panose="02020503050405090304" pitchFamily="18" charset="0"/>
                <a:ea typeface="楷体-简" panose="02010600040101010101" pitchFamily="2" charset="-122"/>
              </a:rPr>
              <a:t>利用编辑器编写 </a:t>
            </a:r>
            <a:r>
              <a:rPr lang="en-US" altLang="zh-CN" sz="2000" b="1" baseline="0" dirty="0">
                <a:solidFill>
                  <a:schemeClr val="tx2"/>
                </a:solidFill>
                <a:latin typeface="Times New Roman" panose="02020503050405090304" pitchFamily="18" charset="0"/>
                <a:ea typeface="楷体-简" panose="02010600040101010101" pitchFamily="2" charset="-122"/>
              </a:rPr>
              <a:t>Java</a:t>
            </a:r>
            <a:r>
              <a:rPr lang="zh-CN" altLang="en-US" sz="2000" b="1" baseline="0" dirty="0">
                <a:solidFill>
                  <a:schemeClr val="tx2"/>
                </a:solidFill>
                <a:latin typeface="Times New Roman" panose="02020503050405090304" pitchFamily="18" charset="0"/>
                <a:ea typeface="楷体-简" panose="02010600040101010101" pitchFamily="2" charset="-122"/>
              </a:rPr>
              <a:t>源程序</a:t>
            </a:r>
            <a:r>
              <a:rPr lang="en-US" altLang="zh-CN" sz="2000" b="1" baseline="0" dirty="0">
                <a:solidFill>
                  <a:schemeClr val="tx2"/>
                </a:solidFill>
                <a:latin typeface="Times New Roman" panose="02020503050405090304" pitchFamily="18" charset="0"/>
                <a:ea typeface="楷体-简" panose="02010600040101010101" pitchFamily="2" charset="-122"/>
              </a:rPr>
              <a:t>(</a:t>
            </a:r>
            <a:r>
              <a:rPr lang="zh-CN" altLang="en-US" sz="2000" b="1" baseline="0" dirty="0">
                <a:solidFill>
                  <a:schemeClr val="folHlink"/>
                </a:solidFill>
                <a:latin typeface="Times New Roman" panose="02020503050405090304" pitchFamily="18" charset="0"/>
                <a:ea typeface="楷体-简" panose="02010600040101010101" pitchFamily="2" charset="-122"/>
              </a:rPr>
              <a:t>不可使用</a:t>
            </a:r>
            <a:r>
              <a:rPr lang="en-US" altLang="zh-CN" sz="2000" b="1" baseline="0" dirty="0">
                <a:solidFill>
                  <a:schemeClr val="folHlink"/>
                </a:solidFill>
                <a:latin typeface="Times New Roman" panose="02020503050405090304" pitchFamily="18" charset="0"/>
                <a:ea typeface="楷体-简" panose="02010600040101010101" pitchFamily="2" charset="-122"/>
              </a:rPr>
              <a:t>Word</a:t>
            </a:r>
            <a:r>
              <a:rPr lang="zh-CN" altLang="en-US" sz="2000" b="1" baseline="0" dirty="0">
                <a:solidFill>
                  <a:schemeClr val="folHlink"/>
                </a:solidFill>
                <a:latin typeface="Times New Roman" panose="02020503050405090304" pitchFamily="18" charset="0"/>
                <a:ea typeface="楷体-简" panose="02010600040101010101" pitchFamily="2" charset="-122"/>
              </a:rPr>
              <a:t>编辑器，因它含有不可见字符</a:t>
            </a:r>
            <a:r>
              <a:rPr lang="en-US" altLang="zh-CN" sz="2000" b="1" baseline="0" dirty="0">
                <a:solidFill>
                  <a:schemeClr val="folHlink"/>
                </a:solidFill>
                <a:latin typeface="Times New Roman" panose="02020503050405090304" pitchFamily="18" charset="0"/>
                <a:ea typeface="楷体-简" panose="02010600040101010101" pitchFamily="2" charset="-122"/>
              </a:rPr>
              <a:t>)</a:t>
            </a:r>
          </a:p>
          <a:p>
            <a:pPr marL="990600" lvl="1" indent="-533400" eaLnBrk="1" hangingPunct="1">
              <a:lnSpc>
                <a:spcPct val="120000"/>
              </a:lnSpc>
              <a:buFontTx/>
              <a:buNone/>
              <a:defRPr/>
            </a:pPr>
            <a:r>
              <a:rPr lang="zh-CN" altLang="en-US" sz="20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rPr>
              <a:t>源文件名：</a:t>
            </a:r>
            <a:r>
              <a:rPr lang="zh-CN" altLang="en-US" sz="2000" b="1" baseline="0" dirty="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主类名</a:t>
            </a:r>
            <a:r>
              <a:rPr lang="en-US" altLang="zh-CN" sz="2000" b="1" baseline="0" dirty="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.java</a:t>
            </a:r>
          </a:p>
          <a:p>
            <a:pPr marL="990600" lvl="1" indent="-533400" eaLnBrk="1" hangingPunct="1">
              <a:lnSpc>
                <a:spcPct val="120000"/>
              </a:lnSpc>
              <a:buFontTx/>
              <a:buNone/>
              <a:defRPr/>
            </a:pPr>
            <a:endParaRPr lang="en-US" altLang="zh-CN" sz="20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endParaRPr>
          </a:p>
          <a:p>
            <a:pPr marL="609600" indent="-609600" eaLnBrk="1" hangingPunct="1">
              <a:lnSpc>
                <a:spcPct val="120000"/>
              </a:lnSpc>
              <a:defRPr/>
            </a:pPr>
            <a:r>
              <a:rPr lang="zh-CN" altLang="en-US" sz="2000" b="1" baseline="0" dirty="0">
                <a:solidFill>
                  <a:schemeClr val="tx2"/>
                </a:solidFill>
                <a:latin typeface="Times New Roman" panose="02020503050405090304" pitchFamily="18" charset="0"/>
                <a:ea typeface="楷体-简" panose="02010600040101010101" pitchFamily="2" charset="-122"/>
              </a:rPr>
              <a:t>利用编译器将源程序编译成字节码（</a:t>
            </a:r>
            <a:r>
              <a:rPr lang="en-US" altLang="zh-CN" sz="2000" b="1" baseline="0" dirty="0" err="1">
                <a:solidFill>
                  <a:schemeClr val="tx2"/>
                </a:solidFill>
                <a:latin typeface="Times New Roman" panose="02020503050405090304" pitchFamily="18" charset="0"/>
                <a:ea typeface="楷体-简" panose="02010600040101010101" pitchFamily="2" charset="-122"/>
              </a:rPr>
              <a:t>javac</a:t>
            </a:r>
            <a:r>
              <a:rPr lang="en-US" altLang="zh-CN" sz="2000" b="1" baseline="0" dirty="0">
                <a:solidFill>
                  <a:schemeClr val="tx2"/>
                </a:solidFill>
                <a:latin typeface="Times New Roman" panose="02020503050405090304" pitchFamily="18" charset="0"/>
                <a:ea typeface="楷体-简" panose="02010600040101010101" pitchFamily="2" charset="-122"/>
              </a:rPr>
              <a:t> </a:t>
            </a:r>
            <a:r>
              <a:rPr lang="zh-CN" altLang="en-US" sz="2000" b="1" baseline="0" dirty="0">
                <a:solidFill>
                  <a:schemeClr val="tx2"/>
                </a:solidFill>
                <a:latin typeface="Times New Roman" panose="02020503050405090304" pitchFamily="18" charset="0"/>
                <a:ea typeface="楷体-简" panose="02010600040101010101" pitchFamily="2" charset="-122"/>
              </a:rPr>
              <a:t>源文件</a:t>
            </a:r>
            <a:r>
              <a:rPr lang="en-US" altLang="zh-CN" sz="2000" b="1" baseline="0" dirty="0">
                <a:solidFill>
                  <a:schemeClr val="tx2"/>
                </a:solidFill>
                <a:latin typeface="Times New Roman" panose="02020503050405090304" pitchFamily="18" charset="0"/>
                <a:ea typeface="楷体-简" panose="02010600040101010101" pitchFamily="2" charset="-122"/>
              </a:rPr>
              <a:t>.java</a:t>
            </a:r>
            <a:r>
              <a:rPr lang="zh-CN" altLang="en-US" sz="2000" b="1" baseline="0" dirty="0">
                <a:solidFill>
                  <a:schemeClr val="tx2"/>
                </a:solidFill>
                <a:latin typeface="Times New Roman" panose="02020503050405090304" pitchFamily="18" charset="0"/>
                <a:ea typeface="楷体-简" panose="02010600040101010101" pitchFamily="2" charset="-122"/>
              </a:rPr>
              <a:t>）</a:t>
            </a:r>
          </a:p>
          <a:p>
            <a:pPr marL="990600" lvl="1" indent="-533400" eaLnBrk="1" hangingPunct="1">
              <a:lnSpc>
                <a:spcPct val="120000"/>
              </a:lnSpc>
              <a:buFontTx/>
              <a:buNone/>
              <a:defRPr/>
            </a:pPr>
            <a:r>
              <a:rPr lang="zh-CN" altLang="en-US" sz="20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rPr>
              <a:t>字节码文件名：</a:t>
            </a:r>
            <a:r>
              <a:rPr lang="zh-CN" altLang="en-US" sz="2000" b="1" baseline="0" dirty="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文件名</a:t>
            </a:r>
            <a:r>
              <a:rPr lang="en-US" altLang="zh-CN" sz="2000" b="1" baseline="0" dirty="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.class</a:t>
            </a:r>
          </a:p>
          <a:p>
            <a:pPr marL="990600" lvl="1" indent="-533400" eaLnBrk="1" hangingPunct="1">
              <a:lnSpc>
                <a:spcPct val="120000"/>
              </a:lnSpc>
              <a:buFontTx/>
              <a:buNone/>
              <a:defRPr/>
            </a:pPr>
            <a:endParaRPr lang="en-US" altLang="zh-CN" sz="20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endParaRPr>
          </a:p>
          <a:p>
            <a:pPr marL="609600" indent="-609600" eaLnBrk="1" hangingPunct="1">
              <a:lnSpc>
                <a:spcPct val="120000"/>
              </a:lnSpc>
              <a:defRPr/>
            </a:pPr>
            <a:r>
              <a:rPr lang="zh-CN" altLang="en-US" sz="2000" b="1" baseline="0" dirty="0">
                <a:solidFill>
                  <a:schemeClr val="tx2"/>
                </a:solidFill>
                <a:latin typeface="Times New Roman" panose="02020503050405090304" pitchFamily="18" charset="0"/>
                <a:ea typeface="楷体-简" panose="02010600040101010101" pitchFamily="2" charset="-122"/>
              </a:rPr>
              <a:t>利用虚拟机（解释器）运行（</a:t>
            </a:r>
            <a:r>
              <a:rPr lang="en-US" altLang="zh-CN" sz="2000" b="1" baseline="0" dirty="0">
                <a:solidFill>
                  <a:schemeClr val="tx2"/>
                </a:solidFill>
                <a:latin typeface="Times New Roman" panose="02020503050405090304" pitchFamily="18" charset="0"/>
                <a:ea typeface="楷体-简" panose="02010600040101010101" pitchFamily="2" charset="-122"/>
              </a:rPr>
              <a:t>java </a:t>
            </a:r>
            <a:r>
              <a:rPr lang="zh-CN" altLang="en-US" sz="2000" b="1" baseline="0" dirty="0">
                <a:solidFill>
                  <a:schemeClr val="tx2"/>
                </a:solidFill>
                <a:latin typeface="Times New Roman" panose="02020503050405090304" pitchFamily="18" charset="0"/>
                <a:ea typeface="楷体-简" panose="02010600040101010101" pitchFamily="2" charset="-122"/>
              </a:rPr>
              <a:t>源文件</a:t>
            </a:r>
            <a:r>
              <a:rPr lang="en-US" altLang="zh-CN" sz="2000" b="1" baseline="0" dirty="0">
                <a:solidFill>
                  <a:schemeClr val="tx2"/>
                </a:solidFill>
                <a:latin typeface="Times New Roman" panose="02020503050405090304" pitchFamily="18" charset="0"/>
                <a:ea typeface="楷体-简" panose="02010600040101010101" pitchFamily="2" charset="-122"/>
              </a:rPr>
              <a:t>)</a:t>
            </a:r>
          </a:p>
          <a:p>
            <a:pPr marL="990600" lvl="1" indent="-533400" eaLnBrk="1" hangingPunct="1">
              <a:lnSpc>
                <a:spcPct val="120000"/>
              </a:lnSpc>
              <a:buFontTx/>
              <a:buNone/>
              <a:defRPr/>
            </a:pPr>
            <a:r>
              <a:rPr lang="zh-CN" altLang="en-US" sz="20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rPr>
              <a:t>工作过程：</a:t>
            </a:r>
            <a:r>
              <a:rPr lang="zh-CN" altLang="en-US" sz="2000" b="1" baseline="0" dirty="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载入、代码校验、解释执行</a:t>
            </a:r>
          </a:p>
        </p:txBody>
      </p:sp>
      <p:pic>
        <p:nvPicPr>
          <p:cNvPr id="2" name="图片 1"/>
          <p:cNvPicPr>
            <a:picLocks noChangeAspect="1"/>
          </p:cNvPicPr>
          <p:nvPr/>
        </p:nvPicPr>
        <p:blipFill>
          <a:blip r:embed="rId2"/>
          <a:stretch>
            <a:fillRect/>
          </a:stretch>
        </p:blipFill>
        <p:spPr>
          <a:xfrm>
            <a:off x="4852118" y="2132856"/>
            <a:ext cx="3575720" cy="707695"/>
          </a:xfrm>
          <a:prstGeom prst="rect">
            <a:avLst/>
          </a:prstGeom>
        </p:spPr>
      </p:pic>
      <p:pic>
        <p:nvPicPr>
          <p:cNvPr id="3" name="图片 2"/>
          <p:cNvPicPr>
            <a:picLocks noChangeAspect="1"/>
          </p:cNvPicPr>
          <p:nvPr/>
        </p:nvPicPr>
        <p:blipFill>
          <a:blip r:embed="rId3"/>
          <a:stretch>
            <a:fillRect/>
          </a:stretch>
        </p:blipFill>
        <p:spPr>
          <a:xfrm>
            <a:off x="5076056" y="3645024"/>
            <a:ext cx="3351782" cy="590103"/>
          </a:xfrm>
          <a:prstGeom prst="rect">
            <a:avLst/>
          </a:prstGeom>
        </p:spPr>
      </p:pic>
      <p:pic>
        <p:nvPicPr>
          <p:cNvPr id="4" name="图片 3"/>
          <p:cNvPicPr>
            <a:picLocks noChangeAspect="1"/>
          </p:cNvPicPr>
          <p:nvPr/>
        </p:nvPicPr>
        <p:blipFill>
          <a:blip r:embed="rId4"/>
          <a:stretch>
            <a:fillRect/>
          </a:stretch>
        </p:blipFill>
        <p:spPr>
          <a:xfrm>
            <a:off x="0" y="5301207"/>
            <a:ext cx="2868339" cy="1399190"/>
          </a:xfrm>
          <a:prstGeom prst="rect">
            <a:avLst/>
          </a:prstGeom>
        </p:spPr>
      </p:pic>
      <p:pic>
        <p:nvPicPr>
          <p:cNvPr id="5" name="图片 4"/>
          <p:cNvPicPr>
            <a:picLocks noChangeAspect="1"/>
          </p:cNvPicPr>
          <p:nvPr/>
        </p:nvPicPr>
        <p:blipFill>
          <a:blip r:embed="rId5"/>
          <a:stretch>
            <a:fillRect/>
          </a:stretch>
        </p:blipFill>
        <p:spPr>
          <a:xfrm>
            <a:off x="2889497" y="5338116"/>
            <a:ext cx="3091400" cy="1507587"/>
          </a:xfrm>
          <a:prstGeom prst="rect">
            <a:avLst/>
          </a:prstGeom>
        </p:spPr>
      </p:pic>
      <p:pic>
        <p:nvPicPr>
          <p:cNvPr id="6" name="图片 5"/>
          <p:cNvPicPr>
            <a:picLocks noChangeAspect="1"/>
          </p:cNvPicPr>
          <p:nvPr/>
        </p:nvPicPr>
        <p:blipFill>
          <a:blip r:embed="rId6"/>
          <a:stretch>
            <a:fillRect/>
          </a:stretch>
        </p:blipFill>
        <p:spPr>
          <a:xfrm>
            <a:off x="5931996" y="5197423"/>
            <a:ext cx="3187968" cy="1552037"/>
          </a:xfrm>
          <a:prstGeom prst="rect">
            <a:avLst/>
          </a:prstGeom>
        </p:spPr>
      </p:pic>
      <p:sp>
        <p:nvSpPr>
          <p:cNvPr id="8" name="矩形 7"/>
          <p:cNvSpPr/>
          <p:nvPr/>
        </p:nvSpPr>
        <p:spPr>
          <a:xfrm>
            <a:off x="4868092" y="1839045"/>
            <a:ext cx="569387"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1</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11" name="矩形 10"/>
          <p:cNvSpPr/>
          <p:nvPr/>
        </p:nvSpPr>
        <p:spPr>
          <a:xfrm>
            <a:off x="4868092" y="3243620"/>
            <a:ext cx="569387"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2</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12" name="矩形 11"/>
          <p:cNvSpPr/>
          <p:nvPr/>
        </p:nvSpPr>
        <p:spPr>
          <a:xfrm>
            <a:off x="-112187" y="4839542"/>
            <a:ext cx="569387"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3</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13" name="矩形 12"/>
          <p:cNvSpPr/>
          <p:nvPr/>
        </p:nvSpPr>
        <p:spPr>
          <a:xfrm>
            <a:off x="2668439" y="4876451"/>
            <a:ext cx="569387"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4</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14" name="矩形 13"/>
          <p:cNvSpPr/>
          <p:nvPr/>
        </p:nvSpPr>
        <p:spPr>
          <a:xfrm>
            <a:off x="5717361" y="4986261"/>
            <a:ext cx="569387"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5</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1.7.1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创建源代码文件</a:t>
            </a:r>
          </a:p>
        </p:txBody>
      </p:sp>
      <p:sp>
        <p:nvSpPr>
          <p:cNvPr id="44035" name="Rectangle 3"/>
          <p:cNvSpPr>
            <a:spLocks noGrp="1" noChangeArrowheads="1"/>
          </p:cNvSpPr>
          <p:nvPr>
            <p:ph type="body" idx="1"/>
          </p:nvPr>
        </p:nvSpPr>
        <p:spPr/>
        <p:txBody>
          <a:bodyPr/>
          <a:lstStyle/>
          <a:p>
            <a:pPr eaLnBrk="1" hangingPunct="1">
              <a:buFont typeface="Wingdings" panose="05000000000000000000" pitchFamily="2" charset="2"/>
              <a:buChar char="Ø"/>
            </a:pPr>
            <a:r>
              <a:rPr lang="zh-CN" altLang="en-US" sz="2800" b="1" baseline="0" dirty="0">
                <a:latin typeface="Times New Roman" panose="02020503050405090304" pitchFamily="18" charset="0"/>
                <a:ea typeface="楷体-简" panose="02010600040101010101" pitchFamily="2" charset="-122"/>
              </a:rPr>
              <a:t>启动“</a:t>
            </a:r>
            <a:r>
              <a:rPr lang="en-US" altLang="zh-CN" sz="2800" b="1" baseline="0" dirty="0" err="1">
                <a:latin typeface="Times New Roman" panose="02020503050405090304" pitchFamily="18" charset="0"/>
                <a:ea typeface="楷体-简" panose="02010600040101010101" pitchFamily="2" charset="-122"/>
              </a:rPr>
              <a:t>UltraEdit</a:t>
            </a:r>
            <a:r>
              <a:rPr lang="en-US" altLang="zh-CN" sz="2800" b="1" baseline="0" dirty="0">
                <a:latin typeface="Times New Roman" panose="02020503050405090304" pitchFamily="18" charset="0"/>
                <a:ea typeface="楷体-简" panose="02010600040101010101" pitchFamily="2" charset="-122"/>
              </a:rPr>
              <a:t>” </a:t>
            </a:r>
            <a:r>
              <a:rPr lang="zh-CN" altLang="en-US" sz="2800" b="1" baseline="0" dirty="0">
                <a:latin typeface="Times New Roman" panose="02020503050405090304" pitchFamily="18" charset="0"/>
                <a:ea typeface="楷体-简" panose="02010600040101010101" pitchFamily="2" charset="-122"/>
              </a:rPr>
              <a:t>或者”</a:t>
            </a:r>
            <a:r>
              <a:rPr lang="en-US" altLang="zh-CN" sz="2800" b="1" baseline="0" dirty="0" err="1">
                <a:latin typeface="Times New Roman" panose="02020503050405090304" pitchFamily="18" charset="0"/>
                <a:ea typeface="楷体-简" panose="02010600040101010101" pitchFamily="2" charset="-122"/>
              </a:rPr>
              <a:t>EditPuls</a:t>
            </a:r>
            <a:r>
              <a:rPr lang="en-US" altLang="zh-CN" sz="2800" b="1" baseline="0" dirty="0">
                <a:latin typeface="Times New Roman" panose="02020503050405090304" pitchFamily="18" charset="0"/>
                <a:ea typeface="楷体-简" panose="02010600040101010101" pitchFamily="2" charset="-122"/>
              </a:rPr>
              <a:t>“</a:t>
            </a:r>
            <a:r>
              <a:rPr lang="zh-CN" altLang="en-US" sz="2800" b="1" baseline="0" dirty="0">
                <a:latin typeface="Times New Roman" panose="02020503050405090304" pitchFamily="18" charset="0"/>
                <a:ea typeface="楷体-简" panose="02010600040101010101" pitchFamily="2" charset="-122"/>
              </a:rPr>
              <a:t>或者其他文本编辑器，输入如下代码：</a:t>
            </a:r>
          </a:p>
          <a:p>
            <a:pPr marL="609600" indent="-609600" eaLnBrk="1" hangingPunct="1">
              <a:buFontTx/>
              <a:buNone/>
            </a:pPr>
            <a:endParaRPr lang="en-US" altLang="zh-CN" b="1" baseline="0" dirty="0">
              <a:latin typeface="Times New Roman" panose="02020503050405090304" pitchFamily="18" charset="0"/>
              <a:ea typeface="楷体-简" panose="02010600040101010101" pitchFamily="2" charset="-122"/>
            </a:endParaRPr>
          </a:p>
        </p:txBody>
      </p:sp>
      <p:sp>
        <p:nvSpPr>
          <p:cNvPr id="44037" name="Rectangle 24"/>
          <p:cNvSpPr>
            <a:spLocks noChangeArrowheads="1"/>
          </p:cNvSpPr>
          <p:nvPr/>
        </p:nvSpPr>
        <p:spPr bwMode="auto">
          <a:xfrm>
            <a:off x="539750" y="5589588"/>
            <a:ext cx="65774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buClr>
                <a:schemeClr val="folHlink"/>
              </a:buClr>
              <a:buSzPct val="60000"/>
              <a:buFont typeface="Wingdings" panose="05000000000000000000" pitchFamily="2" charset="2"/>
              <a:buNone/>
            </a:pPr>
            <a:r>
              <a:rPr kumimoji="1" lang="zh-CN" altLang="en-US" sz="2400" b="1" dirty="0">
                <a:solidFill>
                  <a:srgbClr val="FF0066"/>
                </a:solidFill>
                <a:latin typeface="Tahoma" panose="020B0604030504040204" pitchFamily="34" charset="0"/>
              </a:rPr>
              <a:t>注意：</a:t>
            </a:r>
            <a:r>
              <a:rPr kumimoji="1" lang="zh-CN" altLang="en-US" sz="2400" b="1" dirty="0">
                <a:solidFill>
                  <a:srgbClr val="FF0000"/>
                </a:solidFill>
                <a:latin typeface="Tahoma" panose="020B0604030504040204" pitchFamily="34" charset="0"/>
              </a:rPr>
              <a:t>大小写敏感；文件名为</a:t>
            </a:r>
            <a:r>
              <a:rPr kumimoji="1" lang="en-US" altLang="zh-CN" sz="2400" b="1" dirty="0">
                <a:solidFill>
                  <a:srgbClr val="FF0000"/>
                </a:solidFill>
                <a:latin typeface="Tahoma" panose="020B0604030504040204" pitchFamily="34" charset="0"/>
              </a:rPr>
              <a:t>Welcome1.java</a:t>
            </a:r>
          </a:p>
        </p:txBody>
      </p:sp>
      <p:pic>
        <p:nvPicPr>
          <p:cNvPr id="6" name="Picture 1" descr="ch02imageslides_Page_06.png"/>
          <p:cNvPicPr>
            <a:picLocks noGrp="1" noChangeAspect="1"/>
          </p:cNvPicPr>
          <p:nvPr isPhoto="1"/>
        </p:nvPicPr>
        <p:blipFill rotWithShape="1">
          <a:blip r:embed="rId2">
            <a:extLst>
              <a:ext uri="{28A0092B-C50C-407E-A947-70E740481C1C}">
                <a14:useLocalDpi xmlns:a14="http://schemas.microsoft.com/office/drawing/2010/main" val="0"/>
              </a:ext>
            </a:extLst>
          </a:blip>
          <a:srcRect r="17500" b="55849"/>
          <a:stretch>
            <a:fillRect/>
          </a:stretch>
        </p:blipFill>
        <p:spPr bwMode="auto">
          <a:xfrm>
            <a:off x="227159" y="2348880"/>
            <a:ext cx="8689682" cy="2823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1.7.2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编译源代码文件</a:t>
            </a:r>
          </a:p>
        </p:txBody>
      </p:sp>
      <p:sp>
        <p:nvSpPr>
          <p:cNvPr id="45059"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arabicParenBoth"/>
            </a:pPr>
            <a:r>
              <a:rPr lang="zh-CN" altLang="en-US" sz="2800" baseline="0" dirty="0">
                <a:latin typeface="Times New Roman" panose="02020503050405090304" pitchFamily="18" charset="0"/>
                <a:ea typeface="楷体-简" panose="02010600040101010101" pitchFamily="2" charset="-122"/>
              </a:rPr>
              <a:t>进入</a:t>
            </a:r>
            <a:r>
              <a:rPr lang="en-US" altLang="zh-CN" sz="2800" baseline="0" dirty="0">
                <a:latin typeface="Times New Roman" panose="02020503050405090304" pitchFamily="18" charset="0"/>
                <a:ea typeface="楷体-简" panose="02010600040101010101" pitchFamily="2" charset="-122"/>
              </a:rPr>
              <a:t>DOS</a:t>
            </a:r>
            <a:r>
              <a:rPr lang="zh-CN" altLang="en-US" sz="2800" baseline="0" dirty="0">
                <a:latin typeface="Times New Roman" panose="02020503050405090304" pitchFamily="18" charset="0"/>
                <a:ea typeface="楷体-简" panose="02010600040101010101" pitchFamily="2" charset="-122"/>
              </a:rPr>
              <a:t>或</a:t>
            </a:r>
            <a:r>
              <a:rPr lang="en-US" altLang="zh-CN" sz="2800" baseline="0" dirty="0">
                <a:latin typeface="Times New Roman" panose="02020503050405090304" pitchFamily="18" charset="0"/>
                <a:ea typeface="楷体-简" panose="02010600040101010101" pitchFamily="2" charset="-122"/>
              </a:rPr>
              <a:t>Command</a:t>
            </a:r>
            <a:r>
              <a:rPr lang="zh-CN" altLang="en-US" sz="2800" baseline="0" dirty="0">
                <a:latin typeface="Times New Roman" panose="02020503050405090304" pitchFamily="18" charset="0"/>
                <a:ea typeface="楷体-简" panose="02010600040101010101" pitchFamily="2" charset="-122"/>
              </a:rPr>
              <a:t>提示符状态；</a:t>
            </a:r>
          </a:p>
          <a:p>
            <a:pPr marL="609600" indent="-609600" eaLnBrk="1" hangingPunct="1">
              <a:buFont typeface="Wingdings" panose="05000000000000000000" pitchFamily="2" charset="2"/>
              <a:buAutoNum type="arabicParenBoth"/>
            </a:pPr>
            <a:r>
              <a:rPr lang="zh-CN" altLang="en-US" sz="2800" baseline="0" dirty="0">
                <a:latin typeface="Times New Roman" panose="02020503050405090304" pitchFamily="18" charset="0"/>
                <a:ea typeface="楷体-简" panose="02010600040101010101" pitchFamily="2" charset="-122"/>
              </a:rPr>
              <a:t>转到</a:t>
            </a:r>
            <a:r>
              <a:rPr lang="en-US" altLang="zh-CN" sz="2800" baseline="0" dirty="0">
                <a:latin typeface="Times New Roman" panose="02020503050405090304" pitchFamily="18" charset="0"/>
                <a:ea typeface="楷体-简" panose="02010600040101010101" pitchFamily="2" charset="-122"/>
              </a:rPr>
              <a:t>Java</a:t>
            </a:r>
            <a:r>
              <a:rPr lang="zh-CN" altLang="en-US" sz="2800" baseline="0" dirty="0">
                <a:latin typeface="Times New Roman" panose="02020503050405090304" pitchFamily="18" charset="0"/>
                <a:ea typeface="楷体-简" panose="02010600040101010101" pitchFamily="2" charset="-122"/>
              </a:rPr>
              <a:t>源程序所在目录，比如 </a:t>
            </a:r>
            <a:r>
              <a:rPr lang="en-US" altLang="zh-CN" sz="2800" baseline="0" dirty="0">
                <a:latin typeface="Times New Roman" panose="02020503050405090304" pitchFamily="18" charset="0"/>
                <a:ea typeface="楷体-简" panose="02010600040101010101" pitchFamily="2" charset="-122"/>
              </a:rPr>
              <a:t>C:\java</a:t>
            </a:r>
          </a:p>
          <a:p>
            <a:pPr marL="609600" indent="-609600" eaLnBrk="1" hangingPunct="1">
              <a:buFont typeface="Wingdings" panose="05000000000000000000" pitchFamily="2" charset="2"/>
              <a:buAutoNum type="arabicParenBoth"/>
            </a:pPr>
            <a:r>
              <a:rPr lang="zh-CN" altLang="en-US" sz="2800" baseline="0" dirty="0">
                <a:latin typeface="Times New Roman" panose="02020503050405090304" pitchFamily="18" charset="0"/>
                <a:ea typeface="楷体-简" panose="02010600040101010101" pitchFamily="2" charset="-122"/>
              </a:rPr>
              <a:t>输入如下命令，并回车：</a:t>
            </a:r>
          </a:p>
          <a:p>
            <a:pPr marL="609600" indent="-609600" eaLnBrk="1" hangingPunct="1">
              <a:buFont typeface="Wingdings" panose="05000000000000000000" pitchFamily="2" charset="2"/>
              <a:buNone/>
            </a:pPr>
            <a:r>
              <a:rPr lang="zh-CN" altLang="en-US" sz="2800" baseline="0" dirty="0">
                <a:latin typeface="Times New Roman" panose="02020503050405090304" pitchFamily="18" charset="0"/>
                <a:ea typeface="楷体-简" panose="02010600040101010101" pitchFamily="2" charset="-122"/>
              </a:rPr>
              <a:t>      </a:t>
            </a:r>
            <a:r>
              <a:rPr lang="en-US" altLang="zh-CN" sz="2800" baseline="0" dirty="0" err="1">
                <a:latin typeface="Times New Roman" panose="02020503050405090304" pitchFamily="18" charset="0"/>
                <a:ea typeface="楷体-简" panose="02010600040101010101" pitchFamily="2" charset="-122"/>
              </a:rPr>
              <a:t>javac</a:t>
            </a:r>
            <a:r>
              <a:rPr lang="en-US" altLang="zh-CN" sz="2800" baseline="0" dirty="0">
                <a:latin typeface="Times New Roman" panose="02020503050405090304" pitchFamily="18" charset="0"/>
                <a:ea typeface="楷体-简" panose="02010600040101010101" pitchFamily="2" charset="-122"/>
              </a:rPr>
              <a:t> Welcome1.java</a:t>
            </a:r>
          </a:p>
          <a:p>
            <a:pPr marL="609600" indent="-609600" eaLnBrk="1" hangingPunct="1">
              <a:buFont typeface="Wingdings" panose="05000000000000000000" pitchFamily="2" charset="2"/>
              <a:buNone/>
            </a:pPr>
            <a:endParaRPr lang="en-US" altLang="zh-CN" sz="2800" baseline="0" dirty="0">
              <a:latin typeface="Times New Roman" panose="02020503050405090304" pitchFamily="18" charset="0"/>
              <a:ea typeface="楷体-简" panose="02010600040101010101" pitchFamily="2" charset="-122"/>
            </a:endParaRPr>
          </a:p>
          <a:p>
            <a:pPr marL="609600" indent="-609600" eaLnBrk="1" hangingPunct="1">
              <a:buFontTx/>
              <a:buNone/>
            </a:pPr>
            <a:r>
              <a:rPr lang="zh-CN" altLang="en-US" sz="2400" baseline="0" dirty="0">
                <a:solidFill>
                  <a:srgbClr val="FF0066"/>
                </a:solidFill>
                <a:latin typeface="Times New Roman" panose="02020503050405090304" pitchFamily="18" charset="0"/>
                <a:ea typeface="楷体-简" panose="02010600040101010101" pitchFamily="2" charset="-122"/>
              </a:rPr>
              <a:t>注意：编译成功后将生成字节码文件</a:t>
            </a:r>
          </a:p>
          <a:p>
            <a:pPr marL="609600" indent="-609600" eaLnBrk="1" hangingPunct="1">
              <a:buFontTx/>
              <a:buNone/>
            </a:pPr>
            <a:r>
              <a:rPr lang="zh-CN" altLang="en-US" sz="2400" b="1" baseline="0" dirty="0">
                <a:solidFill>
                  <a:srgbClr val="0070C0"/>
                </a:solidFill>
                <a:latin typeface="Times New Roman" panose="02020503050405090304" pitchFamily="18" charset="0"/>
                <a:ea typeface="楷体-简" panose="02010600040101010101" pitchFamily="2" charset="-122"/>
              </a:rPr>
              <a:t>          </a:t>
            </a:r>
            <a:r>
              <a:rPr lang="en-US" altLang="zh-CN" sz="2400" b="1" baseline="0" dirty="0">
                <a:solidFill>
                  <a:srgbClr val="0070C0"/>
                </a:solidFill>
                <a:latin typeface="Times New Roman" panose="02020503050405090304" pitchFamily="18" charset="0"/>
                <a:ea typeface="楷体-简" panose="02010600040101010101" pitchFamily="2" charset="-122"/>
              </a:rPr>
              <a:t>Welcome1.class</a:t>
            </a:r>
          </a:p>
          <a:p>
            <a:pPr marL="609600" indent="-609600" eaLnBrk="1" hangingPunct="1">
              <a:buFontTx/>
              <a:buNone/>
            </a:pPr>
            <a:endParaRPr lang="en-US" altLang="zh-CN" sz="2400" baseline="0" dirty="0">
              <a:solidFill>
                <a:srgbClr val="FF0066"/>
              </a:solidFill>
              <a:latin typeface="Times New Roman" panose="02020503050405090304" pitchFamily="18" charset="0"/>
              <a:ea typeface="楷体-简"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1.7.3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运行程序</a:t>
            </a:r>
          </a:p>
        </p:txBody>
      </p:sp>
      <p:sp>
        <p:nvSpPr>
          <p:cNvPr id="46083" name="Rectangle 3"/>
          <p:cNvSpPr>
            <a:spLocks noGrp="1" noChangeArrowheads="1"/>
          </p:cNvSpPr>
          <p:nvPr>
            <p:ph type="body" idx="1"/>
          </p:nvPr>
        </p:nvSpPr>
        <p:spPr/>
        <p:txBody>
          <a:bodyPr/>
          <a:lstStyle/>
          <a:p>
            <a:pPr marL="609600" indent="-609600" eaLnBrk="1" hangingPunct="1">
              <a:buFontTx/>
              <a:buNone/>
            </a:pPr>
            <a:r>
              <a:rPr lang="zh-CN" altLang="en-US" sz="2800" baseline="0" dirty="0">
                <a:latin typeface="Times New Roman" panose="02020503050405090304" pitchFamily="18" charset="0"/>
                <a:ea typeface="楷体-简" panose="02010600040101010101" pitchFamily="2" charset="-122"/>
              </a:rPr>
              <a:t>在相同目录下输入如下命令，并回车：</a:t>
            </a:r>
          </a:p>
          <a:p>
            <a:pPr eaLnBrk="1" hangingPunct="1">
              <a:buFont typeface="Wingdings" panose="05000000000000000000" pitchFamily="2" charset="2"/>
              <a:buChar char="Ø"/>
            </a:pPr>
            <a:r>
              <a:rPr lang="zh-CN" altLang="en-US" sz="2800" baseline="0" dirty="0">
                <a:latin typeface="Times New Roman" panose="02020503050405090304" pitchFamily="18" charset="0"/>
                <a:ea typeface="楷体-简" panose="02010600040101010101" pitchFamily="2" charset="-122"/>
              </a:rPr>
              <a:t>  </a:t>
            </a:r>
            <a:r>
              <a:rPr lang="en-US" altLang="zh-CN" sz="2800" b="1" baseline="0" dirty="0">
                <a:solidFill>
                  <a:srgbClr val="0070C0"/>
                </a:solidFill>
                <a:latin typeface="Times New Roman" panose="02020503050405090304" pitchFamily="18" charset="0"/>
                <a:ea typeface="楷体-简" panose="02010600040101010101" pitchFamily="2" charset="-122"/>
              </a:rPr>
              <a:t>java Welcome1</a:t>
            </a:r>
          </a:p>
          <a:p>
            <a:pPr marL="609600" indent="-609600" eaLnBrk="1" hangingPunct="1">
              <a:buFontTx/>
              <a:buNone/>
            </a:pPr>
            <a:endParaRPr lang="en-US" altLang="zh-CN" sz="2800" baseline="0" dirty="0">
              <a:latin typeface="Times New Roman" panose="02020503050405090304" pitchFamily="18" charset="0"/>
              <a:ea typeface="楷体-简" panose="02010600040101010101" pitchFamily="2" charset="-122"/>
            </a:endParaRPr>
          </a:p>
          <a:p>
            <a:pPr marL="609600" indent="-609600" eaLnBrk="1" hangingPunct="1">
              <a:buFontTx/>
              <a:buNone/>
            </a:pPr>
            <a:endParaRPr lang="en-US" altLang="zh-CN" sz="2400" baseline="0" dirty="0">
              <a:solidFill>
                <a:schemeClr val="folHlink"/>
              </a:solidFill>
              <a:latin typeface="Times New Roman" panose="02020503050405090304" pitchFamily="18" charset="0"/>
              <a:ea typeface="楷体-简" panose="02010600040101010101" pitchFamily="2" charset="-122"/>
            </a:endParaRPr>
          </a:p>
          <a:p>
            <a:pPr marL="609600" indent="-609600" eaLnBrk="1" hangingPunct="1">
              <a:buFontTx/>
              <a:buNone/>
            </a:pPr>
            <a:endParaRPr lang="en-US" altLang="zh-CN" baseline="0" dirty="0">
              <a:solidFill>
                <a:srgbClr val="FF0066"/>
              </a:solidFill>
              <a:latin typeface="Times New Roman" panose="02020503050405090304" pitchFamily="18" charset="0"/>
              <a:ea typeface="楷体-简" panose="02010600040101010101" pitchFamily="2" charset="-122"/>
            </a:endParaRPr>
          </a:p>
        </p:txBody>
      </p:sp>
      <p:pic>
        <p:nvPicPr>
          <p:cNvPr id="2" name="图片 1"/>
          <p:cNvPicPr>
            <a:picLocks noChangeAspect="1"/>
          </p:cNvPicPr>
          <p:nvPr/>
        </p:nvPicPr>
        <p:blipFill>
          <a:blip r:embed="rId2"/>
          <a:stretch>
            <a:fillRect/>
          </a:stretch>
        </p:blipFill>
        <p:spPr>
          <a:xfrm>
            <a:off x="755576" y="3212976"/>
            <a:ext cx="7198682" cy="93062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4638"/>
            <a:ext cx="8229600" cy="7064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1.7.4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程序</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HelloWorld</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的分析</a:t>
            </a:r>
          </a:p>
        </p:txBody>
      </p:sp>
      <p:sp>
        <p:nvSpPr>
          <p:cNvPr id="47107" name="Rectangle 3"/>
          <p:cNvSpPr>
            <a:spLocks noGrp="1" noChangeArrowheads="1"/>
          </p:cNvSpPr>
          <p:nvPr>
            <p:ph type="body" idx="1"/>
          </p:nvPr>
        </p:nvSpPr>
        <p:spPr>
          <a:xfrm>
            <a:off x="468313" y="1197371"/>
            <a:ext cx="8229600" cy="5688013"/>
          </a:xfrm>
        </p:spPr>
        <p:txBody>
          <a:bodyPr/>
          <a:lstStyle/>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main</a:t>
            </a:r>
            <a:r>
              <a:rPr lang="zh-CN" altLang="en-US" sz="2400" b="1" baseline="0">
                <a:solidFill>
                  <a:srgbClr val="0070C0"/>
                </a:solidFill>
                <a:latin typeface="Times New Roman" panose="02020503050405090304" pitchFamily="18" charset="0"/>
                <a:ea typeface="楷体-简" panose="02010600040101010101" pitchFamily="2" charset="-122"/>
              </a:rPr>
              <a:t>方法</a:t>
            </a:r>
            <a:r>
              <a:rPr lang="zh-CN" altLang="en-US" sz="2400" b="1" baseline="0">
                <a:latin typeface="Times New Roman" panose="02020503050405090304" pitchFamily="18" charset="0"/>
                <a:ea typeface="楷体-简" panose="02010600040101010101" pitchFamily="2" charset="-122"/>
              </a:rPr>
              <a:t>：</a:t>
            </a:r>
            <a:r>
              <a:rPr lang="en-US" altLang="zh-CN" sz="2400" b="1" baseline="0">
                <a:latin typeface="Times New Roman" panose="02020503050405090304" pitchFamily="18" charset="0"/>
                <a:ea typeface="楷体-简" panose="02010600040101010101" pitchFamily="2" charset="-122"/>
              </a:rPr>
              <a:t>public static void main(String[] args)</a:t>
            </a:r>
          </a:p>
          <a:p>
            <a:pPr marL="609600" indent="-609600" eaLnBrk="1" hangingPunct="1">
              <a:buFontTx/>
              <a:buNone/>
            </a:pPr>
            <a:r>
              <a:rPr lang="en-US" altLang="zh-CN" sz="20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每个</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应用程序的入口点都是它的</a:t>
            </a:r>
            <a:r>
              <a:rPr lang="en-US" altLang="zh-CN" sz="2400" baseline="0">
                <a:latin typeface="Times New Roman" panose="02020503050405090304" pitchFamily="18" charset="0"/>
                <a:ea typeface="楷体-简" panose="02010600040101010101" pitchFamily="2" charset="-122"/>
              </a:rPr>
              <a:t>main</a:t>
            </a:r>
            <a:r>
              <a:rPr lang="zh-CN" altLang="en-US" sz="2400" baseline="0">
                <a:latin typeface="Times New Roman" panose="02020503050405090304" pitchFamily="18" charset="0"/>
                <a:ea typeface="楷体-简" panose="02010600040101010101" pitchFamily="2" charset="-122"/>
              </a:rPr>
              <a:t>方法。当运行</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应用程序时，指定要运行的类的名称，</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解释器调用该类中定义的</a:t>
            </a:r>
            <a:r>
              <a:rPr lang="en-US" altLang="zh-CN" sz="2400" baseline="0">
                <a:latin typeface="Times New Roman" panose="02020503050405090304" pitchFamily="18" charset="0"/>
                <a:ea typeface="楷体-简" panose="02010600040101010101" pitchFamily="2" charset="-122"/>
              </a:rPr>
              <a:t>main</a:t>
            </a:r>
            <a:r>
              <a:rPr lang="zh-CN" altLang="en-US" sz="2400" baseline="0">
                <a:latin typeface="Times New Roman" panose="02020503050405090304" pitchFamily="18" charset="0"/>
                <a:ea typeface="楷体-简" panose="02010600040101010101" pitchFamily="2" charset="-122"/>
              </a:rPr>
              <a:t>方法，</a:t>
            </a:r>
            <a:r>
              <a:rPr lang="zh-CN" altLang="en-US" sz="2400" b="1" baseline="0">
                <a:latin typeface="Times New Roman" panose="02020503050405090304" pitchFamily="18" charset="0"/>
                <a:ea typeface="楷体-简" panose="02010600040101010101" pitchFamily="2" charset="-122"/>
              </a:rPr>
              <a:t>由</a:t>
            </a:r>
            <a:r>
              <a:rPr lang="en-US" altLang="zh-CN" sz="2400" b="1" baseline="0">
                <a:latin typeface="Times New Roman" panose="02020503050405090304" pitchFamily="18" charset="0"/>
                <a:ea typeface="楷体-简" panose="02010600040101010101" pitchFamily="2" charset="-122"/>
              </a:rPr>
              <a:t>main</a:t>
            </a:r>
            <a:r>
              <a:rPr lang="zh-CN" altLang="en-US" sz="2400" b="1" baseline="0">
                <a:latin typeface="Times New Roman" panose="02020503050405090304" pitchFamily="18" charset="0"/>
                <a:ea typeface="楷体-简" panose="02010600040101010101" pitchFamily="2" charset="-122"/>
              </a:rPr>
              <a:t>方法控制程序的流程</a:t>
            </a:r>
            <a:r>
              <a:rPr lang="zh-CN" altLang="en-US" sz="2400" baseline="0">
                <a:latin typeface="Times New Roman" panose="02020503050405090304" pitchFamily="18" charset="0"/>
                <a:ea typeface="楷体-简" panose="02010600040101010101" pitchFamily="2" charset="-122"/>
              </a:rPr>
              <a:t>、</a:t>
            </a:r>
            <a:r>
              <a:rPr lang="zh-CN" altLang="en-US" sz="2400" b="1" baseline="0">
                <a:latin typeface="Times New Roman" panose="02020503050405090304" pitchFamily="18" charset="0"/>
                <a:ea typeface="楷体-简" panose="02010600040101010101" pitchFamily="2" charset="-122"/>
              </a:rPr>
              <a:t>分配所需资源并运行为此应用程序提供功能的其它方法</a:t>
            </a:r>
            <a:r>
              <a:rPr lang="zh-CN" altLang="en-US" sz="2400" baseline="0">
                <a:latin typeface="Times New Roman" panose="02020503050405090304" pitchFamily="18" charset="0"/>
                <a:ea typeface="楷体-简" panose="02010600040101010101" pitchFamily="2" charset="-122"/>
              </a:rPr>
              <a:t>。</a:t>
            </a:r>
            <a:r>
              <a:rPr lang="zh-CN" altLang="en-US" sz="2000" baseline="0">
                <a:solidFill>
                  <a:srgbClr val="0070C0"/>
                </a:solidFill>
                <a:latin typeface="Times New Roman" panose="02020503050405090304" pitchFamily="18" charset="0"/>
                <a:ea typeface="楷体-简" panose="02010600040101010101" pitchFamily="2" charset="-122"/>
              </a:rPr>
              <a:t>每个</a:t>
            </a:r>
            <a:r>
              <a:rPr lang="en-US" altLang="zh-CN" sz="2000" baseline="0">
                <a:solidFill>
                  <a:srgbClr val="0070C0"/>
                </a:solidFill>
                <a:latin typeface="Times New Roman" panose="02020503050405090304" pitchFamily="18" charset="0"/>
                <a:ea typeface="楷体-简" panose="02010600040101010101" pitchFamily="2" charset="-122"/>
              </a:rPr>
              <a:t>Java</a:t>
            </a:r>
            <a:r>
              <a:rPr lang="zh-CN" altLang="en-US" sz="2000" baseline="0">
                <a:solidFill>
                  <a:srgbClr val="0070C0"/>
                </a:solidFill>
                <a:latin typeface="Times New Roman" panose="02020503050405090304" pitchFamily="18" charset="0"/>
                <a:ea typeface="楷体-简" panose="02010600040101010101" pitchFamily="2" charset="-122"/>
              </a:rPr>
              <a:t>应用程序必须声明一个</a:t>
            </a:r>
            <a:r>
              <a:rPr lang="en-US" altLang="zh-CN" sz="2000" baseline="0">
                <a:solidFill>
                  <a:srgbClr val="0070C0"/>
                </a:solidFill>
                <a:latin typeface="Times New Roman" panose="02020503050405090304" pitchFamily="18" charset="0"/>
                <a:ea typeface="楷体-简" panose="02010600040101010101" pitchFamily="2" charset="-122"/>
              </a:rPr>
              <a:t>main</a:t>
            </a:r>
            <a:r>
              <a:rPr lang="zh-CN" altLang="en-US" sz="2000" baseline="0">
                <a:solidFill>
                  <a:srgbClr val="0070C0"/>
                </a:solidFill>
                <a:latin typeface="Times New Roman" panose="02020503050405090304" pitchFamily="18" charset="0"/>
                <a:ea typeface="楷体-简" panose="02010600040101010101" pitchFamily="2" charset="-122"/>
              </a:rPr>
              <a:t>方法</a:t>
            </a:r>
          </a:p>
          <a:p>
            <a:pPr marL="609600" indent="-609600" eaLnBrk="1" hangingPunct="1">
              <a:buFontTx/>
              <a:buNone/>
            </a:pPr>
            <a:endParaRPr lang="zh-CN" altLang="en-US" sz="2400" b="1" baseline="0">
              <a:latin typeface="Times New Roman" panose="0202050305040509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public</a:t>
            </a:r>
            <a:r>
              <a:rPr lang="en-US" altLang="zh-CN" sz="24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允许任何类调用</a:t>
            </a:r>
            <a:r>
              <a:rPr lang="en-US" altLang="zh-CN" sz="2400" baseline="0">
                <a:latin typeface="Times New Roman" panose="02020503050405090304" pitchFamily="18" charset="0"/>
                <a:ea typeface="楷体-简" panose="02010600040101010101" pitchFamily="2" charset="-122"/>
              </a:rPr>
              <a:t>main</a:t>
            </a:r>
            <a:r>
              <a:rPr lang="zh-CN" altLang="en-US" sz="2400" baseline="0">
                <a:latin typeface="Times New Roman" panose="02020503050405090304" pitchFamily="18" charset="0"/>
                <a:ea typeface="楷体-简" panose="02010600040101010101" pitchFamily="2" charset="-122"/>
              </a:rPr>
              <a:t>方法；</a:t>
            </a:r>
          </a:p>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static</a:t>
            </a:r>
            <a:r>
              <a:rPr lang="en-US" altLang="zh-CN" sz="24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表示</a:t>
            </a:r>
            <a:r>
              <a:rPr lang="en-US" altLang="zh-CN" sz="2400" baseline="0">
                <a:latin typeface="Times New Roman" panose="02020503050405090304" pitchFamily="18" charset="0"/>
                <a:ea typeface="楷体-简" panose="02010600040101010101" pitchFamily="2" charset="-122"/>
              </a:rPr>
              <a:t>main</a:t>
            </a:r>
            <a:r>
              <a:rPr lang="zh-CN" altLang="en-US" sz="2400" baseline="0">
                <a:latin typeface="Times New Roman" panose="02020503050405090304" pitchFamily="18" charset="0"/>
                <a:ea typeface="楷体-简" panose="02010600040101010101" pitchFamily="2" charset="-122"/>
              </a:rPr>
              <a:t>方法与</a:t>
            </a:r>
            <a:r>
              <a:rPr lang="en-US" altLang="zh-CN" sz="2400" baseline="0">
                <a:latin typeface="Times New Roman" panose="02020503050405090304" pitchFamily="18" charset="0"/>
                <a:ea typeface="楷体-简" panose="02010600040101010101" pitchFamily="2" charset="-122"/>
              </a:rPr>
              <a:t>HelloWorld</a:t>
            </a:r>
            <a:r>
              <a:rPr lang="zh-CN" altLang="en-US" sz="2400" baseline="0">
                <a:latin typeface="Times New Roman" panose="02020503050405090304" pitchFamily="18" charset="0"/>
                <a:ea typeface="楷体-简" panose="02010600040101010101" pitchFamily="2" charset="-122"/>
              </a:rPr>
              <a:t>类相关联， 而不是在这个类的一个实例上进行操作。</a:t>
            </a:r>
          </a:p>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void</a:t>
            </a:r>
            <a:r>
              <a:rPr lang="en-US" altLang="zh-CN" sz="24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表示</a:t>
            </a:r>
            <a:r>
              <a:rPr lang="en-US" altLang="zh-CN" sz="2400" baseline="0">
                <a:latin typeface="Times New Roman" panose="02020503050405090304" pitchFamily="18" charset="0"/>
                <a:ea typeface="楷体-简" panose="02010600040101010101" pitchFamily="2" charset="-122"/>
              </a:rPr>
              <a:t>main</a:t>
            </a:r>
            <a:r>
              <a:rPr lang="zh-CN" altLang="en-US" sz="2400" baseline="0">
                <a:latin typeface="Times New Roman" panose="02020503050405090304" pitchFamily="18" charset="0"/>
                <a:ea typeface="楷体-简" panose="02010600040101010101" pitchFamily="2" charset="-122"/>
              </a:rPr>
              <a:t>方法不返回任何值</a:t>
            </a:r>
          </a:p>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String</a:t>
            </a:r>
            <a:r>
              <a:rPr lang="en-US" altLang="zh-CN" sz="2400" baseline="0">
                <a:latin typeface="Times New Roman" panose="02020503050405090304" pitchFamily="18" charset="0"/>
                <a:ea typeface="楷体-简" panose="02010600040101010101" pitchFamily="2" charset="-122"/>
              </a:rPr>
              <a:t>: </a:t>
            </a:r>
            <a:r>
              <a:rPr lang="zh-CN" altLang="en-US" sz="2400" baseline="0">
                <a:latin typeface="Times New Roman" panose="02020503050405090304" pitchFamily="18" charset="0"/>
                <a:ea typeface="楷体-简" panose="02010600040101010101" pitchFamily="2" charset="-122"/>
              </a:rPr>
              <a:t>命令行参数类型是字符串</a:t>
            </a:r>
          </a:p>
          <a:p>
            <a:pPr eaLnBrk="1" hangingPunct="1">
              <a:buFont typeface="Wingdings" panose="05000000000000000000" pitchFamily="2" charset="2"/>
              <a:buChar char="Ø"/>
            </a:pPr>
            <a:r>
              <a:rPr lang="en-US" altLang="zh-CN" sz="2400" b="1" baseline="0">
                <a:solidFill>
                  <a:srgbClr val="0070C0"/>
                </a:solidFill>
                <a:latin typeface="Times New Roman" panose="02020503050405090304" pitchFamily="18" charset="0"/>
                <a:ea typeface="楷体-简" panose="02010600040101010101" pitchFamily="2" charset="-122"/>
              </a:rPr>
              <a:t>args</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：参数名，是个数组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323528" y="548680"/>
            <a:ext cx="8280598" cy="6165850"/>
          </a:xfrm>
        </p:spPr>
        <p:txBody>
          <a:bodyPr/>
          <a:lstStyle/>
          <a:p>
            <a:pPr eaLnBrk="1" hangingPunct="1">
              <a:buFont typeface="Wingdings" panose="05000000000000000000" pitchFamily="2" charset="2"/>
              <a:buChar char="Ø"/>
            </a:pPr>
            <a:r>
              <a:rPr lang="en-US" altLang="zh-CN" baseline="0">
                <a:latin typeface="Times New Roman" panose="02020503050405090304" pitchFamily="18" charset="0"/>
                <a:ea typeface="楷体-简" panose="02010600040101010101" pitchFamily="2" charset="-122"/>
              </a:rPr>
              <a:t> </a:t>
            </a:r>
            <a:r>
              <a:rPr lang="zh-CN" altLang="en-US" sz="2400" b="1" baseline="0">
                <a:solidFill>
                  <a:srgbClr val="0070C0"/>
                </a:solidFill>
                <a:latin typeface="Times New Roman" panose="02020503050405090304" pitchFamily="18" charset="0"/>
                <a:ea typeface="楷体-简" panose="02010600040101010101" pitchFamily="2" charset="-122"/>
              </a:rPr>
              <a:t>单行注释</a:t>
            </a:r>
            <a:r>
              <a:rPr lang="zh-CN" altLang="en-US" sz="2400" baseline="0">
                <a:latin typeface="Times New Roman" panose="02020503050405090304" pitchFamily="18" charset="0"/>
                <a:ea typeface="楷体-简" panose="02010600040101010101" pitchFamily="2" charset="-122"/>
              </a:rPr>
              <a:t>：从“</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开始到本行结束的内容都是注释，例如：</a:t>
            </a:r>
            <a:br>
              <a:rPr lang="zh-CN" altLang="en-US" sz="2400" baseline="0">
                <a:latin typeface="Times New Roman" panose="02020503050405090304" pitchFamily="18" charset="0"/>
                <a:ea typeface="楷体-简" panose="02010600040101010101" pitchFamily="2" charset="-122"/>
              </a:rPr>
            </a:br>
            <a:r>
              <a:rPr lang="zh-CN" altLang="en-US" sz="2400" baseline="0">
                <a:latin typeface="Times New Roman" panose="02020503050405090304" pitchFamily="18" charset="0"/>
                <a:ea typeface="楷体-简" panose="02010600040101010101" pitchFamily="2" charset="-122"/>
              </a:rPr>
              <a:t>　　　　　　　　 </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这是一行单行注释</a:t>
            </a:r>
            <a:br>
              <a:rPr lang="zh-CN" altLang="en-US" sz="2400" baseline="0">
                <a:latin typeface="Times New Roman" panose="02020503050405090304" pitchFamily="18" charset="0"/>
                <a:ea typeface="楷体-简" panose="02010600040101010101" pitchFamily="2" charset="-122"/>
              </a:rPr>
            </a:br>
            <a:r>
              <a:rPr lang="zh-CN" altLang="en-US" sz="2400" baseline="0">
                <a:latin typeface="Times New Roman" panose="02020503050405090304" pitchFamily="18" charset="0"/>
                <a:ea typeface="楷体-简" panose="02010600040101010101" pitchFamily="2" charset="-122"/>
              </a:rPr>
              <a:t>　　　　　　　　 </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则是另一行单行注释</a:t>
            </a:r>
          </a:p>
          <a:p>
            <a:pPr eaLnBrk="1" hangingPunct="1">
              <a:buFont typeface="Wingdings" panose="05000000000000000000" pitchFamily="2" charset="2"/>
              <a:buChar char="Ø"/>
            </a:pPr>
            <a:r>
              <a:rPr lang="zh-CN" altLang="en-US" sz="2400" b="1" baseline="0">
                <a:solidFill>
                  <a:srgbClr val="0070C0"/>
                </a:solidFill>
                <a:latin typeface="Times New Roman" panose="02020503050405090304" pitchFamily="18" charset="0"/>
                <a:ea typeface="楷体-简" panose="02010600040101010101" pitchFamily="2" charset="-122"/>
              </a:rPr>
              <a:t>多行注释</a:t>
            </a:r>
            <a:r>
              <a:rPr lang="zh-CN" altLang="en-US" sz="2400" baseline="0">
                <a:latin typeface="Times New Roman" panose="02020503050405090304" pitchFamily="18" charset="0"/>
                <a:ea typeface="楷体-简" panose="02010600040101010101" pitchFamily="2" charset="-122"/>
              </a:rPr>
              <a:t>：在</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和</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之间的所有内容都是注释，例如：</a:t>
            </a:r>
            <a:br>
              <a:rPr lang="zh-CN" altLang="en-US" sz="2400" baseline="0">
                <a:latin typeface="Times New Roman" panose="02020503050405090304" pitchFamily="18" charset="0"/>
                <a:ea typeface="楷体-简" panose="02010600040101010101" pitchFamily="2" charset="-122"/>
              </a:rPr>
            </a:br>
            <a:r>
              <a:rPr lang="zh-CN" altLang="en-US" sz="2400" baseline="0">
                <a:latin typeface="Times New Roman" panose="02020503050405090304" pitchFamily="18" charset="0"/>
                <a:ea typeface="楷体-简" panose="02010600040101010101" pitchFamily="2" charset="-122"/>
              </a:rPr>
              <a:t>　　　　　　　　　</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这是一段注释分布在多行之中*</a:t>
            </a:r>
            <a:r>
              <a:rPr lang="en-US" altLang="zh-CN" sz="2400" baseline="0">
                <a:latin typeface="Times New Roman" panose="02020503050405090304" pitchFamily="18" charset="0"/>
                <a:ea typeface="楷体-简" panose="02010600040101010101" pitchFamily="2" charset="-122"/>
              </a:rPr>
              <a:t>/</a:t>
            </a:r>
            <a:br>
              <a:rPr lang="en-US" altLang="zh-CN" sz="2400" baseline="0">
                <a:latin typeface="Times New Roman" panose="02020503050405090304" pitchFamily="18" charset="0"/>
                <a:ea typeface="楷体-简" panose="02010600040101010101" pitchFamily="2" charset="-122"/>
              </a:rPr>
            </a:br>
            <a:endParaRPr lang="en-US" altLang="zh-CN" sz="2400" baseline="0">
              <a:latin typeface="Times New Roman" panose="0202050305040509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a:solidFill>
                  <a:srgbClr val="0070C0"/>
                </a:solidFill>
                <a:latin typeface="Times New Roman" panose="02020503050405090304" pitchFamily="18" charset="0"/>
                <a:ea typeface="楷体-简" panose="02010600040101010101" pitchFamily="2" charset="-122"/>
              </a:rPr>
              <a:t>文档注释</a:t>
            </a:r>
            <a:r>
              <a:rPr lang="zh-CN" altLang="en-US" sz="2400" baseline="0">
                <a:latin typeface="Times New Roman" panose="02020503050405090304" pitchFamily="18" charset="0"/>
                <a:ea typeface="楷体-简" panose="02010600040101010101" pitchFamily="2" charset="-122"/>
              </a:rPr>
              <a:t>：在注释方面</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提供一种</a:t>
            </a:r>
            <a:r>
              <a:rPr lang="en-US" altLang="zh-CN" sz="2400" baseline="0">
                <a:latin typeface="Times New Roman" panose="02020503050405090304" pitchFamily="18" charset="0"/>
                <a:ea typeface="楷体-简" panose="02010600040101010101" pitchFamily="2" charset="-122"/>
              </a:rPr>
              <a:t>C/C++</a:t>
            </a:r>
            <a:r>
              <a:rPr lang="zh-CN" altLang="en-US" sz="2400" baseline="0">
                <a:latin typeface="Times New Roman" panose="02020503050405090304" pitchFamily="18" charset="0"/>
                <a:ea typeface="楷体-简" panose="02010600040101010101" pitchFamily="2" charset="-122"/>
              </a:rPr>
              <a:t>所不具有的文档注释方式。其核心思想是当程序员编完程序以后，可以通过</a:t>
            </a:r>
            <a:r>
              <a:rPr lang="en-US" altLang="zh-CN" sz="2400" baseline="0">
                <a:latin typeface="Times New Roman" panose="02020503050405090304" pitchFamily="18" charset="0"/>
                <a:ea typeface="楷体-简" panose="02010600040101010101" pitchFamily="2" charset="-122"/>
              </a:rPr>
              <a:t>JDK</a:t>
            </a:r>
            <a:r>
              <a:rPr lang="zh-CN" altLang="en-US" sz="2400" baseline="0">
                <a:latin typeface="Times New Roman" panose="02020503050405090304" pitchFamily="18" charset="0"/>
                <a:ea typeface="楷体-简" panose="02010600040101010101" pitchFamily="2" charset="-122"/>
              </a:rPr>
              <a:t>提供的</a:t>
            </a:r>
            <a:r>
              <a:rPr lang="en-US" altLang="zh-CN" sz="2400" baseline="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javadoc</a:t>
            </a:r>
            <a:r>
              <a:rPr lang="zh-CN" altLang="en-US" sz="2400" b="1" baseline="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命令</a:t>
            </a:r>
            <a:r>
              <a:rPr lang="zh-CN" altLang="en-US" sz="2400" baseline="0">
                <a:latin typeface="Times New Roman" panose="02020503050405090304" pitchFamily="18" charset="0"/>
                <a:ea typeface="楷体-简" panose="02010600040101010101" pitchFamily="2" charset="-122"/>
              </a:rPr>
              <a:t>，生成所编程序的</a:t>
            </a:r>
            <a:r>
              <a:rPr lang="en-US" altLang="zh-CN" sz="2400" baseline="0">
                <a:latin typeface="Times New Roman" panose="02020503050405090304" pitchFamily="18" charset="0"/>
                <a:ea typeface="楷体-简" panose="02010600040101010101" pitchFamily="2" charset="-122"/>
              </a:rPr>
              <a:t>API</a:t>
            </a:r>
            <a:r>
              <a:rPr lang="zh-CN" altLang="en-US" sz="2400" baseline="0">
                <a:latin typeface="Times New Roman" panose="02020503050405090304" pitchFamily="18" charset="0"/>
                <a:ea typeface="楷体-简" panose="02010600040101010101" pitchFamily="2" charset="-122"/>
              </a:rPr>
              <a:t>文档，而该文档中的内容主要就是从文档注释中提取的。该</a:t>
            </a:r>
            <a:r>
              <a:rPr lang="en-US" altLang="zh-CN" sz="2400" baseline="0">
                <a:latin typeface="Times New Roman" panose="02020503050405090304" pitchFamily="18" charset="0"/>
                <a:ea typeface="楷体-简" panose="02010600040101010101" pitchFamily="2" charset="-122"/>
              </a:rPr>
              <a:t>API</a:t>
            </a:r>
            <a:r>
              <a:rPr lang="zh-CN" altLang="en-US" sz="2400" baseline="0">
                <a:latin typeface="Times New Roman" panose="02020503050405090304" pitchFamily="18" charset="0"/>
                <a:ea typeface="楷体-简" panose="02010600040101010101" pitchFamily="2" charset="-122"/>
              </a:rPr>
              <a:t>文档以</a:t>
            </a:r>
            <a:r>
              <a:rPr lang="en-US" altLang="zh-CN" sz="2400" baseline="0">
                <a:latin typeface="Times New Roman" panose="02020503050405090304" pitchFamily="18" charset="0"/>
                <a:ea typeface="楷体-简" panose="02010600040101010101" pitchFamily="2" charset="-122"/>
              </a:rPr>
              <a:t>HTML</a:t>
            </a:r>
            <a:r>
              <a:rPr lang="zh-CN" altLang="en-US" sz="2400" baseline="0">
                <a:latin typeface="Times New Roman" panose="02020503050405090304" pitchFamily="18" charset="0"/>
                <a:ea typeface="楷体-简" panose="02010600040101010101" pitchFamily="2" charset="-122"/>
              </a:rPr>
              <a:t>文件的形式出现，与</a:t>
            </a:r>
            <a:r>
              <a:rPr lang="en-US" altLang="zh-CN" sz="2400" baseline="0">
                <a:latin typeface="Times New Roman" panose="02020503050405090304" pitchFamily="18" charset="0"/>
                <a:ea typeface="楷体-简" panose="02010600040101010101" pitchFamily="2" charset="-122"/>
              </a:rPr>
              <a:t>java</a:t>
            </a:r>
            <a:r>
              <a:rPr lang="zh-CN" altLang="en-US" sz="2400" baseline="0">
                <a:latin typeface="Times New Roman" panose="02020503050405090304" pitchFamily="18" charset="0"/>
                <a:ea typeface="楷体-简" panose="02010600040101010101" pitchFamily="2" charset="-122"/>
              </a:rPr>
              <a:t>帮助文档的风格与形式完全一致。凡是在“</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和“**</a:t>
            </a:r>
            <a:r>
              <a:rPr lang="en-US" altLang="zh-CN" sz="2400" baseline="0">
                <a:latin typeface="Times New Roman" panose="02020503050405090304" pitchFamily="18" charset="0"/>
                <a:ea typeface="楷体-简" panose="02010600040101010101" pitchFamily="2" charset="-122"/>
              </a:rPr>
              <a:t>/”</a:t>
            </a:r>
            <a:r>
              <a:rPr lang="zh-CN" altLang="en-US" sz="2400" baseline="0">
                <a:latin typeface="Times New Roman" panose="02020503050405090304" pitchFamily="18" charset="0"/>
                <a:ea typeface="楷体-简" panose="02010600040101010101" pitchFamily="2" charset="-122"/>
              </a:rPr>
              <a:t>之间的内容都是文档注释。</a:t>
            </a:r>
            <a:r>
              <a:rPr lang="zh-CN" altLang="en-US" sz="2000" baseline="0">
                <a:latin typeface="Times New Roman" panose="02020503050405090304" pitchFamily="18" charset="0"/>
                <a:ea typeface="楷体-简" panose="02010600040101010101" pitchFamily="2" charset="-122"/>
              </a:rPr>
              <a:t> </a:t>
            </a:r>
          </a:p>
          <a:p>
            <a:pPr eaLnBrk="1" hangingPunct="1">
              <a:buFont typeface="Wingdings" panose="05000000000000000000" pitchFamily="2" charset="2"/>
              <a:buChar char="ü"/>
            </a:pPr>
            <a:r>
              <a:rPr lang="zh-CN" altLang="en-US" sz="2000" baseline="0">
                <a:latin typeface="Times New Roman" panose="02020503050405090304" pitchFamily="18" charset="0"/>
                <a:ea typeface="楷体-简" panose="02010600040101010101" pitchFamily="2" charset="-122"/>
              </a:rPr>
              <a:t>通过在命令行下面运行</a:t>
            </a:r>
            <a:r>
              <a:rPr lang="zh-CN" altLang="en-US" sz="2000" baseline="0">
                <a:solidFill>
                  <a:srgbClr val="0070C0"/>
                </a:solidFill>
                <a:latin typeface="Times New Roman" panose="02020503050405090304" pitchFamily="18" charset="0"/>
                <a:ea typeface="楷体-简" panose="02010600040101010101" pitchFamily="2" charset="-122"/>
              </a:rPr>
              <a:t>“</a:t>
            </a:r>
            <a:r>
              <a:rPr lang="en-US" altLang="zh-CN" sz="2000" baseline="0">
                <a:solidFill>
                  <a:srgbClr val="0070C0"/>
                </a:solidFill>
                <a:latin typeface="Times New Roman" panose="02020503050405090304" pitchFamily="18" charset="0"/>
                <a:ea typeface="楷体-简" panose="02010600040101010101" pitchFamily="2" charset="-122"/>
              </a:rPr>
              <a:t>javadoc -d </a:t>
            </a:r>
            <a:r>
              <a:rPr lang="zh-CN" altLang="en-US" sz="2000" baseline="0">
                <a:solidFill>
                  <a:srgbClr val="0070C0"/>
                </a:solidFill>
                <a:latin typeface="Times New Roman" panose="02020503050405090304" pitchFamily="18" charset="0"/>
                <a:ea typeface="楷体-简" panose="02010600040101010101" pitchFamily="2" charset="-122"/>
              </a:rPr>
              <a:t>类名</a:t>
            </a:r>
            <a:r>
              <a:rPr lang="en-US" altLang="zh-CN" sz="2000" baseline="0">
                <a:solidFill>
                  <a:srgbClr val="0070C0"/>
                </a:solidFill>
                <a:latin typeface="Times New Roman" panose="02020503050405090304" pitchFamily="18" charset="0"/>
                <a:ea typeface="楷体-简" panose="02010600040101010101" pitchFamily="2" charset="-122"/>
              </a:rPr>
              <a:t>.java"</a:t>
            </a:r>
            <a:r>
              <a:rPr lang="zh-CN" altLang="en-US" sz="2000" baseline="0">
                <a:latin typeface="Times New Roman" panose="02020503050405090304" pitchFamily="18" charset="0"/>
                <a:ea typeface="楷体-简" panose="02010600040101010101" pitchFamily="2" charset="-122"/>
              </a:rPr>
              <a:t>，就生成了介绍类的</a:t>
            </a:r>
            <a:r>
              <a:rPr lang="en-US" altLang="zh-CN" sz="2000" baseline="0">
                <a:latin typeface="Times New Roman" panose="02020503050405090304" pitchFamily="18" charset="0"/>
                <a:ea typeface="楷体-简" panose="02010600040101010101" pitchFamily="2" charset="-122"/>
              </a:rPr>
              <a:t>index.html</a:t>
            </a:r>
            <a:r>
              <a:rPr lang="zh-CN" altLang="en-US" sz="2000" baseline="0">
                <a:latin typeface="Times New Roman" panose="02020503050405090304" pitchFamily="18" charset="0"/>
                <a:ea typeface="楷体-简" panose="02010600040101010101" pitchFamily="2" charset="-122"/>
              </a:rPr>
              <a:t>文件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457200" y="333375"/>
            <a:ext cx="8229600" cy="5792788"/>
          </a:xfrm>
        </p:spPr>
        <p:txBody>
          <a:bodyPr/>
          <a:lstStyle/>
          <a:p>
            <a:pPr eaLnBrk="1" hangingPunct="1">
              <a:spcBef>
                <a:spcPct val="0"/>
              </a:spcBef>
              <a:buFont typeface="Wingdings" panose="05000000000000000000" pitchFamily="2" charset="2"/>
              <a:buChar char="Ø"/>
            </a:pPr>
            <a:r>
              <a:rPr lang="en-US" altLang="zh-CN" sz="2800" b="1" baseline="0" dirty="0" err="1">
                <a:solidFill>
                  <a:srgbClr val="0070C0"/>
                </a:solidFill>
                <a:latin typeface="Times New Roman" panose="02020503050405090304" pitchFamily="18" charset="0"/>
                <a:ea typeface="楷体-简" panose="02010600040101010101" pitchFamily="2" charset="-122"/>
              </a:rPr>
              <a:t>System.out.println</a:t>
            </a:r>
            <a:r>
              <a:rPr lang="en-US" altLang="zh-CN" sz="2800" b="1" baseline="0" dirty="0">
                <a:solidFill>
                  <a:srgbClr val="0070C0"/>
                </a:solidFill>
                <a:latin typeface="Times New Roman" panose="02020503050405090304" pitchFamily="18" charset="0"/>
                <a:ea typeface="楷体-简" panose="02010600040101010101" pitchFamily="2" charset="-122"/>
              </a:rPr>
              <a:t>("Welcome</a:t>
            </a:r>
            <a:r>
              <a:rPr lang="zh-CN" altLang="en-US" sz="2800" b="1" baseline="0" dirty="0">
                <a:solidFill>
                  <a:srgbClr val="0070C0"/>
                </a:solidFill>
                <a:latin typeface="Times New Roman" panose="02020503050405090304" pitchFamily="18" charset="0"/>
                <a:ea typeface="楷体-简" panose="02010600040101010101" pitchFamily="2" charset="-122"/>
              </a:rPr>
              <a:t> </a:t>
            </a:r>
            <a:r>
              <a:rPr lang="en-US" altLang="zh-CN" sz="2800" b="1" baseline="0" dirty="0">
                <a:solidFill>
                  <a:srgbClr val="0070C0"/>
                </a:solidFill>
                <a:latin typeface="Times New Roman" panose="02020503050405090304" pitchFamily="18" charset="0"/>
                <a:ea typeface="楷体-简" panose="02010600040101010101" pitchFamily="2" charset="-122"/>
              </a:rPr>
              <a:t>to</a:t>
            </a:r>
            <a:r>
              <a:rPr lang="zh-CN" altLang="en-US" sz="2800" b="1" baseline="0" dirty="0">
                <a:solidFill>
                  <a:srgbClr val="0070C0"/>
                </a:solidFill>
                <a:latin typeface="Times New Roman" panose="02020503050405090304" pitchFamily="18" charset="0"/>
                <a:ea typeface="楷体-简" panose="02010600040101010101" pitchFamily="2" charset="-122"/>
              </a:rPr>
              <a:t> </a:t>
            </a:r>
            <a:r>
              <a:rPr lang="en-US" altLang="zh-CN" sz="2800" b="1" baseline="0" dirty="0">
                <a:solidFill>
                  <a:srgbClr val="0070C0"/>
                </a:solidFill>
                <a:latin typeface="Times New Roman" panose="02020503050405090304" pitchFamily="18" charset="0"/>
                <a:ea typeface="楷体-简" panose="02010600040101010101" pitchFamily="2" charset="-122"/>
              </a:rPr>
              <a:t>Java</a:t>
            </a:r>
            <a:r>
              <a:rPr lang="zh-CN" altLang="en-US" sz="2800" b="1" baseline="0" dirty="0">
                <a:solidFill>
                  <a:srgbClr val="0070C0"/>
                </a:solidFill>
                <a:latin typeface="Times New Roman" panose="02020503050405090304" pitchFamily="18" charset="0"/>
                <a:ea typeface="楷体-简" panose="02010600040101010101" pitchFamily="2" charset="-122"/>
              </a:rPr>
              <a:t> </a:t>
            </a:r>
            <a:r>
              <a:rPr lang="en-US" altLang="zh-CN" sz="2800" b="1" baseline="0" dirty="0">
                <a:solidFill>
                  <a:srgbClr val="0070C0"/>
                </a:solidFill>
                <a:latin typeface="Times New Roman" panose="02020503050405090304" pitchFamily="18" charset="0"/>
                <a:ea typeface="楷体-简" panose="02010600040101010101" pitchFamily="2" charset="-122"/>
              </a:rPr>
              <a:t>Programming!");</a:t>
            </a:r>
          </a:p>
          <a:p>
            <a:pPr marL="609600" indent="-609600" eaLnBrk="1" hangingPunct="1">
              <a:spcBef>
                <a:spcPct val="0"/>
              </a:spcBef>
              <a:buFontTx/>
              <a:buNone/>
            </a:pPr>
            <a:endParaRPr lang="en-US" altLang="zh-CN" sz="2800" b="1" baseline="0" dirty="0">
              <a:latin typeface="Times New Roman" panose="02020503050405090304" pitchFamily="18" charset="0"/>
              <a:ea typeface="楷体-简" panose="02010600040101010101" pitchFamily="2" charset="-122"/>
            </a:endParaRPr>
          </a:p>
          <a:p>
            <a:pPr marL="609600" indent="-609600" eaLnBrk="1" hangingPunct="1">
              <a:spcBef>
                <a:spcPct val="0"/>
              </a:spcBef>
              <a:buFontTx/>
              <a:buNone/>
            </a:pPr>
            <a:r>
              <a:rPr lang="en-US" altLang="zh-CN" sz="2300" baseline="0" dirty="0">
                <a:latin typeface="Times New Roman" panose="02020503050405090304" pitchFamily="18" charset="0"/>
                <a:ea typeface="楷体-简" panose="02010600040101010101" pitchFamily="2" charset="-122"/>
              </a:rPr>
              <a:t>    </a:t>
            </a:r>
            <a:r>
              <a:rPr lang="zh-CN" altLang="en-US" sz="2300" baseline="0" dirty="0">
                <a:latin typeface="Times New Roman" panose="02020503050405090304" pitchFamily="18" charset="0"/>
                <a:ea typeface="楷体-简" panose="02010600040101010101" pitchFamily="2" charset="-122"/>
              </a:rPr>
              <a:t>该程序使用了</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 </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类提供的功能之一是标准输出流。</a:t>
            </a:r>
            <a:r>
              <a:rPr lang="en-US" altLang="zh-CN" sz="2300" baseline="0" dirty="0" err="1">
                <a:latin typeface="Times New Roman" panose="02020503050405090304" pitchFamily="18" charset="0"/>
                <a:ea typeface="楷体-简" panose="02010600040101010101" pitchFamily="2" charset="-122"/>
              </a:rPr>
              <a:t>System.out</a:t>
            </a:r>
            <a:r>
              <a:rPr lang="zh-CN" altLang="en-US" sz="2300" baseline="0" dirty="0">
                <a:latin typeface="Times New Roman" panose="02020503050405090304" pitchFamily="18" charset="0"/>
                <a:ea typeface="楷体-简" panose="02010600040101010101" pitchFamily="2" charset="-122"/>
              </a:rPr>
              <a:t>是</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类中的</a:t>
            </a:r>
            <a:r>
              <a:rPr lang="en-US" altLang="zh-CN" sz="2300" baseline="0" dirty="0">
                <a:latin typeface="Times New Roman" panose="02020503050405090304" pitchFamily="18" charset="0"/>
                <a:ea typeface="楷体-简" panose="02010600040101010101" pitchFamily="2" charset="-122"/>
              </a:rPr>
              <a:t>out</a:t>
            </a:r>
            <a:r>
              <a:rPr lang="zh-CN" altLang="en-US" sz="2300" baseline="0" dirty="0">
                <a:latin typeface="Times New Roman" panose="02020503050405090304" pitchFamily="18" charset="0"/>
                <a:ea typeface="楷体-简" panose="02010600040101010101" pitchFamily="2" charset="-122"/>
              </a:rPr>
              <a:t>变量的完整名称。应用程序没有实例化</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类，而是通过</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类直接访问</a:t>
            </a:r>
            <a:r>
              <a:rPr lang="en-US" altLang="zh-CN" sz="2300" baseline="0" dirty="0">
                <a:latin typeface="Times New Roman" panose="02020503050405090304" pitchFamily="18" charset="0"/>
                <a:ea typeface="楷体-简" panose="02010600040101010101" pitchFamily="2" charset="-122"/>
              </a:rPr>
              <a:t>out</a:t>
            </a:r>
            <a:r>
              <a:rPr lang="zh-CN" altLang="en-US" sz="2300" baseline="0" dirty="0">
                <a:latin typeface="Times New Roman" panose="02020503050405090304" pitchFamily="18" charset="0"/>
                <a:ea typeface="楷体-简" panose="02010600040101010101" pitchFamily="2" charset="-122"/>
              </a:rPr>
              <a:t>，这是因为</a:t>
            </a:r>
            <a:r>
              <a:rPr lang="en-US" altLang="zh-CN" sz="2300" baseline="0" dirty="0">
                <a:latin typeface="Times New Roman" panose="02020503050405090304" pitchFamily="18" charset="0"/>
                <a:ea typeface="楷体-简" panose="02010600040101010101" pitchFamily="2" charset="-122"/>
              </a:rPr>
              <a:t>out</a:t>
            </a:r>
            <a:r>
              <a:rPr lang="zh-CN" altLang="en-US" sz="2300" baseline="0" dirty="0">
                <a:latin typeface="Times New Roman" panose="02020503050405090304" pitchFamily="18" charset="0"/>
                <a:ea typeface="楷体-简" panose="02010600040101010101" pitchFamily="2" charset="-122"/>
              </a:rPr>
              <a:t>是类变量，与类相关联，而不与对象相关联。类变量</a:t>
            </a:r>
            <a:r>
              <a:rPr lang="en-US" altLang="zh-CN" sz="2300" baseline="0" dirty="0">
                <a:latin typeface="Times New Roman" panose="02020503050405090304" pitchFamily="18" charset="0"/>
                <a:ea typeface="楷体-简" panose="02010600040101010101" pitchFamily="2" charset="-122"/>
              </a:rPr>
              <a:t>out</a:t>
            </a:r>
            <a:r>
              <a:rPr lang="zh-CN" altLang="en-US" sz="2300" baseline="0" dirty="0">
                <a:latin typeface="Times New Roman" panose="02020503050405090304" pitchFamily="18" charset="0"/>
                <a:ea typeface="楷体-简" panose="02010600040101010101" pitchFamily="2" charset="-122"/>
              </a:rPr>
              <a:t>引用</a:t>
            </a:r>
            <a:r>
              <a:rPr lang="en-US" altLang="zh-CN" sz="2300" baseline="0" dirty="0" err="1">
                <a:latin typeface="Times New Roman" panose="02020503050405090304" pitchFamily="18" charset="0"/>
                <a:ea typeface="楷体-简" panose="02010600040101010101" pitchFamily="2" charset="-122"/>
              </a:rPr>
              <a:t>PrintStream</a:t>
            </a:r>
            <a:r>
              <a:rPr lang="zh-CN" altLang="en-US" sz="2300" baseline="0" dirty="0">
                <a:latin typeface="Times New Roman" panose="02020503050405090304" pitchFamily="18" charset="0"/>
                <a:ea typeface="楷体-简" panose="02010600040101010101" pitchFamily="2" charset="-122"/>
              </a:rPr>
              <a:t>类的一个实例。当</a:t>
            </a:r>
            <a:r>
              <a:rPr lang="en-US" altLang="zh-CN" sz="2300" baseline="0" dirty="0">
                <a:latin typeface="Times New Roman" panose="02020503050405090304" pitchFamily="18" charset="0"/>
                <a:ea typeface="楷体-简" panose="02010600040101010101" pitchFamily="2" charset="-122"/>
              </a:rPr>
              <a:t>System</a:t>
            </a:r>
            <a:r>
              <a:rPr lang="zh-CN" altLang="en-US" sz="2300" baseline="0" dirty="0">
                <a:latin typeface="Times New Roman" panose="02020503050405090304" pitchFamily="18" charset="0"/>
                <a:ea typeface="楷体-简" panose="02010600040101010101" pitchFamily="2" charset="-122"/>
              </a:rPr>
              <a:t>类被载入时，它实例化</a:t>
            </a:r>
            <a:r>
              <a:rPr lang="en-US" altLang="zh-CN" sz="2300" baseline="0" dirty="0" err="1">
                <a:latin typeface="Times New Roman" panose="02020503050405090304" pitchFamily="18" charset="0"/>
                <a:ea typeface="楷体-简" panose="02010600040101010101" pitchFamily="2" charset="-122"/>
              </a:rPr>
              <a:t>PrintStream</a:t>
            </a:r>
            <a:r>
              <a:rPr lang="zh-CN" altLang="en-US" sz="2300" baseline="0" dirty="0">
                <a:latin typeface="Times New Roman" panose="02020503050405090304" pitchFamily="18" charset="0"/>
                <a:ea typeface="楷体-简" panose="02010600040101010101" pitchFamily="2" charset="-122"/>
              </a:rPr>
              <a:t>类，并为类变量</a:t>
            </a:r>
            <a:r>
              <a:rPr lang="en-US" altLang="zh-CN" sz="2300" baseline="0" dirty="0">
                <a:latin typeface="Times New Roman" panose="02020503050405090304" pitchFamily="18" charset="0"/>
                <a:ea typeface="楷体-简" panose="02010600040101010101" pitchFamily="2" charset="-122"/>
              </a:rPr>
              <a:t>out</a:t>
            </a:r>
            <a:r>
              <a:rPr lang="zh-CN" altLang="en-US" sz="2300" baseline="0" dirty="0">
                <a:latin typeface="Times New Roman" panose="02020503050405090304" pitchFamily="18" charset="0"/>
                <a:ea typeface="楷体-简" panose="02010600040101010101" pitchFamily="2" charset="-122"/>
              </a:rPr>
              <a:t>分配一个新的</a:t>
            </a:r>
            <a:r>
              <a:rPr lang="en-US" altLang="zh-CN" sz="2300" baseline="0" dirty="0" err="1">
                <a:latin typeface="Times New Roman" panose="02020503050405090304" pitchFamily="18" charset="0"/>
                <a:ea typeface="楷体-简" panose="02010600040101010101" pitchFamily="2" charset="-122"/>
              </a:rPr>
              <a:t>PrintStream</a:t>
            </a:r>
            <a:r>
              <a:rPr lang="zh-CN" altLang="en-US" sz="2300" baseline="0" dirty="0">
                <a:latin typeface="Times New Roman" panose="02020503050405090304" pitchFamily="18" charset="0"/>
                <a:ea typeface="楷体-简" panose="02010600040101010101" pitchFamily="2" charset="-122"/>
              </a:rPr>
              <a:t>对象，再调用其实例方法：</a:t>
            </a:r>
            <a:r>
              <a:rPr lang="en-US" altLang="zh-CN" sz="2300" baseline="0" dirty="0" err="1">
                <a:latin typeface="Times New Roman" panose="02020503050405090304" pitchFamily="18" charset="0"/>
                <a:ea typeface="楷体-简" panose="02010600040101010101" pitchFamily="2" charset="-122"/>
              </a:rPr>
              <a:t>System.out.println</a:t>
            </a:r>
            <a:r>
              <a:rPr lang="en-US" altLang="zh-CN" sz="2300" baseline="0" dirty="0">
                <a:latin typeface="Times New Roman" panose="02020503050405090304" pitchFamily="18" charset="0"/>
                <a:ea typeface="楷体-简" panose="02010600040101010101" pitchFamily="2" charset="-122"/>
              </a:rPr>
              <a:t>(“Welcome</a:t>
            </a:r>
            <a:r>
              <a:rPr lang="zh-CN" altLang="en-US" sz="2300" baseline="0" dirty="0">
                <a:latin typeface="Times New Roman" panose="02020503050405090304" pitchFamily="18" charset="0"/>
                <a:ea typeface="楷体-简" panose="02010600040101010101" pitchFamily="2" charset="-122"/>
              </a:rPr>
              <a:t> </a:t>
            </a:r>
            <a:r>
              <a:rPr lang="en-US" altLang="zh-CN" sz="2300" baseline="0" dirty="0">
                <a:latin typeface="Times New Roman" panose="02020503050405090304" pitchFamily="18" charset="0"/>
                <a:ea typeface="楷体-简" panose="02010600040101010101" pitchFamily="2" charset="-122"/>
              </a:rPr>
              <a:t>to</a:t>
            </a:r>
            <a:r>
              <a:rPr lang="zh-CN" altLang="en-US" sz="2300" baseline="0" dirty="0">
                <a:latin typeface="Times New Roman" panose="02020503050405090304" pitchFamily="18" charset="0"/>
                <a:ea typeface="楷体-简" panose="02010600040101010101" pitchFamily="2" charset="-122"/>
              </a:rPr>
              <a:t> </a:t>
            </a:r>
            <a:r>
              <a:rPr lang="en-US" altLang="zh-CN" sz="2300" baseline="0" dirty="0">
                <a:latin typeface="Times New Roman" panose="02020503050405090304" pitchFamily="18" charset="0"/>
                <a:ea typeface="楷体-简" panose="02010600040101010101" pitchFamily="2" charset="-122"/>
              </a:rPr>
              <a:t>Java</a:t>
            </a:r>
            <a:r>
              <a:rPr lang="zh-CN" altLang="en-US" sz="2300" baseline="0" dirty="0">
                <a:latin typeface="Times New Roman" panose="02020503050405090304" pitchFamily="18" charset="0"/>
                <a:ea typeface="楷体-简" panose="02010600040101010101" pitchFamily="2" charset="-122"/>
              </a:rPr>
              <a:t> </a:t>
            </a:r>
            <a:r>
              <a:rPr lang="en-US" altLang="zh-CN" sz="2300" baseline="0" dirty="0">
                <a:latin typeface="Times New Roman" panose="02020503050405090304" pitchFamily="18" charset="0"/>
                <a:ea typeface="楷体-简" panose="02010600040101010101" pitchFamily="2" charset="-122"/>
              </a:rPr>
              <a:t>Programming!”)</a:t>
            </a:r>
          </a:p>
          <a:p>
            <a:pPr marL="609600" indent="-609600" eaLnBrk="1" hangingPunct="1">
              <a:buFontTx/>
              <a:buNone/>
            </a:pPr>
            <a:endParaRPr lang="en-US" altLang="zh-CN" sz="2300" baseline="0" dirty="0">
              <a:latin typeface="Times New Roman" panose="02020503050405090304" pitchFamily="18" charset="0"/>
              <a:ea typeface="楷体-简" panose="020106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1"/>
          </p:nvPr>
        </p:nvSpPr>
        <p:spPr>
          <a:xfrm>
            <a:off x="457200" y="836712"/>
            <a:ext cx="8229600" cy="5505450"/>
          </a:xfrm>
        </p:spPr>
        <p:txBody>
          <a:bodyPr/>
          <a:lstStyle/>
          <a:p>
            <a:pPr eaLnBrk="1" hangingPunct="1">
              <a:buFont typeface="Wingdings" panose="05000000000000000000" pitchFamily="2" charset="2"/>
              <a:buChar char="Ø"/>
            </a:pPr>
            <a:r>
              <a:rPr lang="zh-CN" altLang="en-US" sz="2400" baseline="0" dirty="0">
                <a:latin typeface="Times New Roman" panose="02020503050405090304" pitchFamily="18" charset="0"/>
                <a:ea typeface="楷体-简" panose="02010600040101010101" pitchFamily="2" charset="-122"/>
              </a:rPr>
              <a:t>如果</a:t>
            </a:r>
            <a:r>
              <a:rPr lang="zh-CN" altLang="en-US" sz="2400" baseline="0" dirty="0">
                <a:solidFill>
                  <a:srgbClr val="0070C0"/>
                </a:solidFill>
                <a:latin typeface="Times New Roman" panose="02020503050405090304" pitchFamily="18" charset="0"/>
                <a:ea typeface="楷体-简" panose="02010600040101010101" pitchFamily="2" charset="-122"/>
              </a:rPr>
              <a:t>源文件中有多个类</a:t>
            </a:r>
            <a:r>
              <a:rPr lang="zh-CN" altLang="en-US" sz="2400" baseline="0" dirty="0">
                <a:latin typeface="Times New Roman" panose="02020503050405090304" pitchFamily="18" charset="0"/>
                <a:ea typeface="楷体-简" panose="02010600040101010101" pitchFamily="2" charset="-122"/>
              </a:rPr>
              <a:t>，那么只能有一个类是</a:t>
            </a:r>
            <a:r>
              <a:rPr lang="en-US" altLang="zh-CN" sz="2400" baseline="0" dirty="0">
                <a:latin typeface="Times New Roman" panose="02020503050405090304" pitchFamily="18" charset="0"/>
                <a:ea typeface="楷体-简" panose="02010600040101010101" pitchFamily="2" charset="-122"/>
              </a:rPr>
              <a:t>public</a:t>
            </a:r>
            <a:r>
              <a:rPr lang="zh-CN" altLang="en-US" sz="2400" baseline="0" dirty="0">
                <a:latin typeface="Times New Roman" panose="02020503050405090304" pitchFamily="18" charset="0"/>
                <a:ea typeface="楷体-简" panose="02010600040101010101" pitchFamily="2" charset="-122"/>
              </a:rPr>
              <a:t>类；如果有一个类是</a:t>
            </a:r>
            <a:r>
              <a:rPr lang="en-US" altLang="zh-CN" sz="2400" baseline="0" dirty="0">
                <a:latin typeface="Times New Roman" panose="02020503050405090304" pitchFamily="18" charset="0"/>
                <a:ea typeface="楷体-简" panose="02010600040101010101" pitchFamily="2" charset="-122"/>
              </a:rPr>
              <a:t>public</a:t>
            </a:r>
            <a:r>
              <a:rPr lang="zh-CN" altLang="en-US" sz="2400" baseline="0" dirty="0">
                <a:latin typeface="Times New Roman" panose="02020503050405090304" pitchFamily="18" charset="0"/>
                <a:ea typeface="楷体-简" panose="02010600040101010101" pitchFamily="2" charset="-122"/>
              </a:rPr>
              <a:t>类</a:t>
            </a:r>
            <a:r>
              <a:rPr lang="en-US" altLang="zh-CN" sz="2400" baseline="0" dirty="0">
                <a:latin typeface="Times New Roman" panose="02020503050405090304" pitchFamily="18" charset="0"/>
                <a:ea typeface="楷体-简" panose="02010600040101010101" pitchFamily="2" charset="-122"/>
              </a:rPr>
              <a:t>,</a:t>
            </a:r>
            <a:r>
              <a:rPr lang="zh-CN" altLang="en-US" sz="2400" baseline="0" dirty="0">
                <a:latin typeface="Times New Roman" panose="02020503050405090304" pitchFamily="18" charset="0"/>
                <a:ea typeface="楷体-简" panose="02010600040101010101" pitchFamily="2" charset="-122"/>
              </a:rPr>
              <a:t>那么源文件的名字必须与这个类的名字完全相同，扩展名是</a:t>
            </a:r>
            <a:r>
              <a:rPr lang="en-US" altLang="zh-CN" sz="2400" baseline="0" dirty="0">
                <a:latin typeface="Times New Roman" panose="02020503050405090304" pitchFamily="18" charset="0"/>
                <a:ea typeface="楷体-简" panose="02010600040101010101" pitchFamily="2" charset="-122"/>
              </a:rPr>
              <a:t>.java</a:t>
            </a:r>
            <a:r>
              <a:rPr lang="zh-CN" altLang="en-US" sz="2400" baseline="0" dirty="0">
                <a:latin typeface="Times New Roman" panose="02020503050405090304" pitchFamily="18" charset="0"/>
                <a:ea typeface="楷体-简" panose="02010600040101010101" pitchFamily="2" charset="-122"/>
              </a:rPr>
              <a:t>；</a:t>
            </a:r>
          </a:p>
          <a:p>
            <a:pPr eaLnBrk="1" hangingPunct="1">
              <a:buFont typeface="Wingdings" panose="05000000000000000000" pitchFamily="2" charset="2"/>
              <a:buChar char="Ø"/>
            </a:pPr>
            <a:r>
              <a:rPr lang="zh-CN" altLang="en-US" sz="2400" baseline="0" dirty="0">
                <a:latin typeface="Times New Roman" panose="02020503050405090304" pitchFamily="18" charset="0"/>
                <a:ea typeface="楷体-简" panose="02010600040101010101" pitchFamily="2" charset="-122"/>
              </a:rPr>
              <a:t>如果</a:t>
            </a:r>
            <a:r>
              <a:rPr lang="zh-CN" altLang="en-US" sz="2400" baseline="0" dirty="0">
                <a:solidFill>
                  <a:srgbClr val="0070C0"/>
                </a:solidFill>
                <a:latin typeface="Times New Roman" panose="02020503050405090304" pitchFamily="18" charset="0"/>
                <a:ea typeface="楷体-简" panose="02010600040101010101" pitchFamily="2" charset="-122"/>
              </a:rPr>
              <a:t>源文件没有</a:t>
            </a:r>
            <a:r>
              <a:rPr lang="en-US" altLang="zh-CN" sz="2400" baseline="0" dirty="0">
                <a:solidFill>
                  <a:srgbClr val="0070C0"/>
                </a:solidFill>
                <a:latin typeface="Times New Roman" panose="02020503050405090304" pitchFamily="18" charset="0"/>
                <a:ea typeface="楷体-简" panose="02010600040101010101" pitchFamily="2" charset="-122"/>
              </a:rPr>
              <a:t>public</a:t>
            </a:r>
            <a:r>
              <a:rPr lang="zh-CN" altLang="en-US" sz="2400" baseline="0" dirty="0">
                <a:solidFill>
                  <a:srgbClr val="0070C0"/>
                </a:solidFill>
                <a:latin typeface="Times New Roman" panose="02020503050405090304" pitchFamily="18" charset="0"/>
                <a:ea typeface="楷体-简" panose="02010600040101010101" pitchFamily="2" charset="-122"/>
              </a:rPr>
              <a:t>类</a:t>
            </a:r>
            <a:r>
              <a:rPr lang="zh-CN" altLang="en-US" sz="2400" baseline="0" dirty="0">
                <a:latin typeface="Times New Roman" panose="02020503050405090304" pitchFamily="18" charset="0"/>
                <a:ea typeface="楷体-简" panose="02010600040101010101" pitchFamily="2" charset="-122"/>
              </a:rPr>
              <a:t>，那么源文件的名字只要和某个类的名字相同，并且扩展名是</a:t>
            </a:r>
            <a:r>
              <a:rPr lang="en-US" altLang="zh-CN" sz="2400" baseline="0" dirty="0">
                <a:latin typeface="Times New Roman" panose="02020503050405090304" pitchFamily="18" charset="0"/>
                <a:ea typeface="楷体-简" panose="02010600040101010101" pitchFamily="2" charset="-122"/>
              </a:rPr>
              <a:t>.java</a:t>
            </a:r>
            <a:r>
              <a:rPr lang="zh-CN" altLang="en-US" sz="2400" baseline="0" dirty="0">
                <a:latin typeface="Times New Roman" panose="02020503050405090304" pitchFamily="18" charset="0"/>
                <a:ea typeface="楷体-简" panose="02010600040101010101" pitchFamily="2" charset="-122"/>
              </a:rPr>
              <a:t>就可以了。</a:t>
            </a:r>
          </a:p>
          <a:p>
            <a:pPr eaLnBrk="1" hangingPunct="1">
              <a:buFont typeface="Wingdings" panose="05000000000000000000" pitchFamily="2" charset="2"/>
              <a:buChar char="Ø"/>
            </a:pPr>
            <a:r>
              <a:rPr lang="zh-CN" altLang="en-US" sz="2400" baseline="0" dirty="0">
                <a:latin typeface="Times New Roman" panose="02020503050405090304" pitchFamily="18" charset="0"/>
                <a:ea typeface="楷体-简" panose="02010600040101010101" pitchFamily="2" charset="-122"/>
              </a:rPr>
              <a:t>在编写程序时，一行最好只写一条语句，类体的方法的大括号最好也独占一行，并有明显的缩进，尽量遵守良好的编程习惯。</a:t>
            </a:r>
            <a:r>
              <a:rPr lang="zh-CN" altLang="en-US" sz="2400" baseline="0" dirty="0">
                <a:solidFill>
                  <a:schemeClr val="folHlink"/>
                </a:solidFill>
                <a:latin typeface="Times New Roman" panose="02020503050405090304" pitchFamily="18" charset="0"/>
                <a:ea typeface="楷体-简" panose="02010600040101010101" pitchFamily="2" charset="-122"/>
              </a:rPr>
              <a:t> </a:t>
            </a:r>
          </a:p>
          <a:p>
            <a:pPr marL="609600" indent="-609600" eaLnBrk="1" hangingPunct="1">
              <a:buFontTx/>
              <a:buNone/>
            </a:pPr>
            <a:endParaRPr lang="en-US" altLang="zh-CN" sz="2400" baseline="0" dirty="0">
              <a:solidFill>
                <a:schemeClr val="folHlink"/>
              </a:solidFill>
              <a:latin typeface="Times New Roman" panose="02020503050405090304" pitchFamily="18" charset="0"/>
              <a:ea typeface="楷体-简" panose="020106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4638"/>
            <a:ext cx="8229600" cy="7064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程序</a:t>
            </a:r>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HelloWorld</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的变形</a:t>
            </a:r>
          </a:p>
        </p:txBody>
      </p:sp>
      <p:sp>
        <p:nvSpPr>
          <p:cNvPr id="4" name="矩形 3"/>
          <p:cNvSpPr/>
          <p:nvPr/>
        </p:nvSpPr>
        <p:spPr>
          <a:xfrm>
            <a:off x="473224" y="1484784"/>
            <a:ext cx="8064896" cy="875561"/>
          </a:xfrm>
          <a:prstGeom prst="rect">
            <a:avLst/>
          </a:prstGeom>
          <a:solidFill>
            <a:schemeClr val="bg2">
              <a:lumMod val="20000"/>
              <a:lumOff val="80000"/>
            </a:schemeClr>
          </a:solidFill>
        </p:spPr>
        <p:txBody>
          <a:bodyPr wrap="square">
            <a:spAutoFit/>
          </a:bodyPr>
          <a:lstStyle/>
          <a:p>
            <a:pPr>
              <a:lnSpc>
                <a:spcPct val="150000"/>
              </a:lnSpc>
            </a:pPr>
            <a:r>
              <a:rPr lang="en-GB" altLang="zh-CN" dirty="0">
                <a:latin typeface="Menlo" panose="020B0609030804020204" pitchFamily="49" charset="0"/>
              </a:rPr>
              <a:t>  </a:t>
            </a:r>
            <a:r>
              <a:rPr lang="en-GB" altLang="zh-CN" dirty="0" err="1">
                <a:latin typeface="Menlo" panose="020B0609030804020204" pitchFamily="49" charset="0"/>
              </a:rPr>
              <a:t>System.</a:t>
            </a:r>
            <a:r>
              <a:rPr lang="en-GB" altLang="zh-CN" b="1" i="1" dirty="0" err="1">
                <a:solidFill>
                  <a:srgbClr val="0000C0"/>
                </a:solidFill>
                <a:latin typeface="Menlo" panose="020B0609030804020204" pitchFamily="49" charset="0"/>
              </a:rPr>
              <a:t>out</a:t>
            </a:r>
            <a:r>
              <a:rPr lang="en-GB" altLang="zh-CN" dirty="0" err="1">
                <a:latin typeface="Menlo" panose="020B0609030804020204" pitchFamily="49" charset="0"/>
              </a:rPr>
              <a:t>.print</a:t>
            </a:r>
            <a:r>
              <a:rPr lang="en-GB" altLang="zh-CN" dirty="0">
                <a:latin typeface="Menlo" panose="020B0609030804020204" pitchFamily="49" charset="0"/>
              </a:rPr>
              <a:t>(</a:t>
            </a:r>
            <a:r>
              <a:rPr lang="en-GB" altLang="zh-CN" dirty="0">
                <a:solidFill>
                  <a:srgbClr val="2A00FF"/>
                </a:solidFill>
                <a:latin typeface="Menlo" panose="020B0609030804020204" pitchFamily="49" charset="0"/>
              </a:rPr>
              <a:t>"Welcome to "</a:t>
            </a:r>
            <a:r>
              <a:rPr lang="en-GB" altLang="zh-CN" dirty="0">
                <a:latin typeface="Menlo" panose="020B0609030804020204" pitchFamily="49" charset="0"/>
              </a:rPr>
              <a:t>);</a:t>
            </a:r>
          </a:p>
          <a:p>
            <a:pPr>
              <a:lnSpc>
                <a:spcPct val="150000"/>
              </a:lnSpc>
            </a:pPr>
            <a:r>
              <a:rPr lang="en-GB" altLang="zh-CN" dirty="0">
                <a:latin typeface="Menlo" panose="020B0609030804020204" pitchFamily="49" charset="0"/>
              </a:rPr>
              <a:t>  </a:t>
            </a:r>
            <a:r>
              <a:rPr lang="en-GB" altLang="zh-CN" dirty="0" err="1">
                <a:latin typeface="Menlo" panose="020B0609030804020204" pitchFamily="49" charset="0"/>
              </a:rPr>
              <a:t>System.</a:t>
            </a:r>
            <a:r>
              <a:rPr lang="en-GB" altLang="zh-CN" b="1" i="1" dirty="0" err="1">
                <a:solidFill>
                  <a:srgbClr val="0000C0"/>
                </a:solidFill>
                <a:latin typeface="Menlo" panose="020B0609030804020204" pitchFamily="49" charset="0"/>
              </a:rPr>
              <a:t>out</a:t>
            </a:r>
            <a:r>
              <a:rPr lang="en-GB" altLang="zh-CN" dirty="0" err="1">
                <a:latin typeface="Menlo" panose="020B0609030804020204" pitchFamily="49" charset="0"/>
              </a:rPr>
              <a:t>.println</a:t>
            </a:r>
            <a:r>
              <a:rPr lang="en-GB" altLang="zh-CN" dirty="0">
                <a:latin typeface="Menlo" panose="020B0609030804020204" pitchFamily="49" charset="0"/>
              </a:rPr>
              <a:t>(</a:t>
            </a:r>
            <a:r>
              <a:rPr lang="en-GB" altLang="zh-CN" dirty="0">
                <a:solidFill>
                  <a:srgbClr val="2A00FF"/>
                </a:solidFill>
                <a:latin typeface="Menlo" panose="020B0609030804020204" pitchFamily="49" charset="0"/>
              </a:rPr>
              <a:t>"Java Programming!"</a:t>
            </a:r>
            <a:r>
              <a:rPr lang="en-GB" altLang="zh-CN" dirty="0">
                <a:latin typeface="Menlo" panose="020B0609030804020204" pitchFamily="49" charset="0"/>
              </a:rPr>
              <a:t>);</a:t>
            </a:r>
            <a:endParaRPr lang="en-GB" altLang="zh-CN" dirty="0">
              <a:effectLst/>
              <a:latin typeface="Menlo" panose="020B0609030804020204" pitchFamily="49" charset="0"/>
            </a:endParaRPr>
          </a:p>
        </p:txBody>
      </p:sp>
      <p:sp>
        <p:nvSpPr>
          <p:cNvPr id="5" name="矩形 4"/>
          <p:cNvSpPr/>
          <p:nvPr/>
        </p:nvSpPr>
        <p:spPr>
          <a:xfrm>
            <a:off x="457200" y="2899165"/>
            <a:ext cx="8064896" cy="460062"/>
          </a:xfrm>
          <a:prstGeom prst="rect">
            <a:avLst/>
          </a:prstGeom>
          <a:solidFill>
            <a:schemeClr val="bg2">
              <a:lumMod val="20000"/>
              <a:lumOff val="80000"/>
            </a:schemeClr>
          </a:solidFill>
        </p:spPr>
        <p:txBody>
          <a:bodyPr wrap="square">
            <a:spAutoFit/>
          </a:bodyPr>
          <a:lstStyle/>
          <a:p>
            <a:pPr>
              <a:lnSpc>
                <a:spcPct val="150000"/>
              </a:lnSpc>
            </a:pPr>
            <a:r>
              <a:rPr lang="zh-CN" altLang="en-US" dirty="0">
                <a:solidFill>
                  <a:srgbClr val="000000"/>
                </a:solidFill>
                <a:latin typeface="Menlo" panose="020B0609030804020204" pitchFamily="49" charset="0"/>
              </a:rPr>
              <a:t>  </a:t>
            </a:r>
            <a:r>
              <a:rPr lang="en-GB" altLang="zh-CN" dirty="0" err="1">
                <a:solidFill>
                  <a:srgbClr val="000000"/>
                </a:solidFill>
                <a:latin typeface="Menlo" panose="020B0609030804020204" pitchFamily="49" charset="0"/>
              </a:rPr>
              <a:t>System.</a:t>
            </a:r>
            <a:r>
              <a:rPr lang="en-GB" altLang="zh-CN" b="1" i="1" dirty="0" err="1">
                <a:solidFill>
                  <a:srgbClr val="0000C0"/>
                </a:solidFill>
                <a:latin typeface="Menlo" panose="020B0609030804020204" pitchFamily="49" charset="0"/>
              </a:rPr>
              <a:t>out</a:t>
            </a:r>
            <a:r>
              <a:rPr lang="en-GB" altLang="zh-CN" dirty="0" err="1">
                <a:solidFill>
                  <a:srgbClr val="000000"/>
                </a:solidFill>
                <a:latin typeface="Menlo" panose="020B0609030804020204" pitchFamily="49" charset="0"/>
              </a:rPr>
              <a:t>.println</a:t>
            </a:r>
            <a:r>
              <a:rPr lang="en-GB" altLang="zh-CN" dirty="0">
                <a:solidFill>
                  <a:srgbClr val="000000"/>
                </a:solidFill>
                <a:latin typeface="Menlo" panose="020B0609030804020204" pitchFamily="49" charset="0"/>
              </a:rPr>
              <a:t>(</a:t>
            </a:r>
            <a:r>
              <a:rPr lang="en-GB" altLang="zh-CN" dirty="0">
                <a:solidFill>
                  <a:srgbClr val="2A00FF"/>
                </a:solidFill>
                <a:latin typeface="Menlo" panose="020B0609030804020204" pitchFamily="49" charset="0"/>
              </a:rPr>
              <a:t>"Welcome\</a:t>
            </a:r>
            <a:r>
              <a:rPr lang="en-GB" altLang="zh-CN" dirty="0" err="1">
                <a:solidFill>
                  <a:srgbClr val="2A00FF"/>
                </a:solidFill>
                <a:latin typeface="Menlo" panose="020B0609030804020204" pitchFamily="49" charset="0"/>
              </a:rPr>
              <a:t>nto</a:t>
            </a:r>
            <a:r>
              <a:rPr lang="en-GB" altLang="zh-CN" dirty="0">
                <a:solidFill>
                  <a:srgbClr val="2A00FF"/>
                </a:solidFill>
                <a:latin typeface="Menlo" panose="020B0609030804020204" pitchFamily="49" charset="0"/>
              </a:rPr>
              <a:t>\</a:t>
            </a:r>
            <a:r>
              <a:rPr lang="en-GB" altLang="zh-CN" dirty="0" err="1">
                <a:solidFill>
                  <a:srgbClr val="2A00FF"/>
                </a:solidFill>
                <a:latin typeface="Menlo" panose="020B0609030804020204" pitchFamily="49" charset="0"/>
              </a:rPr>
              <a:t>nJava</a:t>
            </a:r>
            <a:r>
              <a:rPr lang="en-GB" altLang="zh-CN" dirty="0">
                <a:solidFill>
                  <a:srgbClr val="2A00FF"/>
                </a:solidFill>
                <a:latin typeface="Menlo" panose="020B0609030804020204" pitchFamily="49" charset="0"/>
              </a:rPr>
              <a:t>\</a:t>
            </a:r>
            <a:r>
              <a:rPr lang="en-GB" altLang="zh-CN" dirty="0" err="1">
                <a:solidFill>
                  <a:srgbClr val="2A00FF"/>
                </a:solidFill>
                <a:latin typeface="Menlo" panose="020B0609030804020204" pitchFamily="49" charset="0"/>
              </a:rPr>
              <a:t>nProgramming</a:t>
            </a:r>
            <a:r>
              <a:rPr lang="en-GB" altLang="zh-CN" dirty="0">
                <a:solidFill>
                  <a:srgbClr val="2A00FF"/>
                </a:solidFill>
                <a:latin typeface="Menlo" panose="020B0609030804020204" pitchFamily="49" charset="0"/>
              </a:rPr>
              <a:t>!"</a:t>
            </a:r>
            <a:r>
              <a:rPr lang="en-GB" altLang="zh-CN" dirty="0">
                <a:solidFill>
                  <a:srgbClr val="000000"/>
                </a:solidFill>
                <a:latin typeface="Menlo" panose="020B0609030804020204" pitchFamily="49" charset="0"/>
              </a:rPr>
              <a:t>);</a:t>
            </a:r>
            <a:endParaRPr lang="en-GB" altLang="zh-CN" dirty="0">
              <a:solidFill>
                <a:srgbClr val="2A00FF"/>
              </a:solidFill>
              <a:effectLst/>
              <a:latin typeface="Menlo" panose="020B0609030804020204" pitchFamily="49" charset="0"/>
            </a:endParaRPr>
          </a:p>
        </p:txBody>
      </p:sp>
      <p:sp>
        <p:nvSpPr>
          <p:cNvPr id="6" name="矩形 5"/>
          <p:cNvSpPr/>
          <p:nvPr/>
        </p:nvSpPr>
        <p:spPr>
          <a:xfrm>
            <a:off x="496664" y="3965407"/>
            <a:ext cx="8041456" cy="784830"/>
          </a:xfrm>
          <a:prstGeom prst="rect">
            <a:avLst/>
          </a:prstGeom>
          <a:solidFill>
            <a:schemeClr val="bg2">
              <a:lumMod val="20000"/>
              <a:lumOff val="80000"/>
            </a:schemeClr>
          </a:solidFill>
        </p:spPr>
        <p:txBody>
          <a:bodyPr wrap="square">
            <a:spAutoFit/>
          </a:bodyPr>
          <a:lstStyle/>
          <a:p>
            <a:pPr>
              <a:lnSpc>
                <a:spcPct val="150000"/>
              </a:lnSpc>
            </a:pPr>
            <a:r>
              <a:rPr lang="zh-CN" altLang="en-US" dirty="0">
                <a:solidFill>
                  <a:srgbClr val="000000"/>
                </a:solidFill>
                <a:latin typeface="Menlo" panose="020B0609030804020204" pitchFamily="49" charset="0"/>
              </a:rPr>
              <a:t>  </a:t>
            </a:r>
            <a:r>
              <a:rPr lang="en-GB" altLang="zh-CN" dirty="0" err="1">
                <a:solidFill>
                  <a:srgbClr val="000000"/>
                </a:solidFill>
                <a:latin typeface="Menlo" panose="020B0609030804020204" pitchFamily="49" charset="0"/>
              </a:rPr>
              <a:t>System.</a:t>
            </a:r>
            <a:r>
              <a:rPr lang="en-GB" altLang="zh-CN" b="1" i="1" dirty="0" err="1">
                <a:solidFill>
                  <a:srgbClr val="0000C0"/>
                </a:solidFill>
                <a:latin typeface="Menlo" panose="020B0609030804020204" pitchFamily="49" charset="0"/>
              </a:rPr>
              <a:t>out</a:t>
            </a:r>
            <a:r>
              <a:rPr lang="en-GB" altLang="zh-CN" dirty="0" err="1">
                <a:solidFill>
                  <a:srgbClr val="000000"/>
                </a:solidFill>
                <a:latin typeface="Menlo" panose="020B0609030804020204" pitchFamily="49" charset="0"/>
              </a:rPr>
              <a:t>.printf</a:t>
            </a:r>
            <a:r>
              <a:rPr lang="en-GB" altLang="zh-CN" dirty="0">
                <a:solidFill>
                  <a:srgbClr val="000000"/>
                </a:solidFill>
                <a:latin typeface="Menlo" panose="020B0609030804020204" pitchFamily="49" charset="0"/>
              </a:rPr>
              <a:t>(</a:t>
            </a:r>
            <a:r>
              <a:rPr lang="en-GB" altLang="zh-CN" dirty="0">
                <a:solidFill>
                  <a:srgbClr val="2A00FF"/>
                </a:solidFill>
                <a:latin typeface="Menlo" panose="020B0609030804020204" pitchFamily="49" charset="0"/>
              </a:rPr>
              <a:t>"%</a:t>
            </a:r>
            <a:r>
              <a:rPr lang="en-GB" altLang="zh-CN" dirty="0" err="1">
                <a:solidFill>
                  <a:srgbClr val="2A00FF"/>
                </a:solidFill>
                <a:latin typeface="Menlo" panose="020B0609030804020204" pitchFamily="49" charset="0"/>
              </a:rPr>
              <a:t>s%n%s%n</a:t>
            </a:r>
            <a:r>
              <a:rPr lang="en-GB" altLang="zh-CN" dirty="0">
                <a:solidFill>
                  <a:srgbClr val="2A00FF"/>
                </a:solidFill>
                <a:latin typeface="Menlo" panose="020B0609030804020204" pitchFamily="49" charset="0"/>
              </a:rPr>
              <a:t>"</a:t>
            </a:r>
            <a:r>
              <a:rPr lang="en-GB" altLang="zh-CN" dirty="0">
                <a:solidFill>
                  <a:srgbClr val="000000"/>
                </a:solidFill>
                <a:latin typeface="Menlo" panose="020B0609030804020204" pitchFamily="49" charset="0"/>
              </a:rPr>
              <a:t>, </a:t>
            </a:r>
            <a:r>
              <a:rPr lang="en-GB" altLang="zh-CN" dirty="0">
                <a:solidFill>
                  <a:srgbClr val="2A00FF"/>
                </a:solidFill>
                <a:latin typeface="Menlo" panose="020B0609030804020204" pitchFamily="49" charset="0"/>
              </a:rPr>
              <a:t>"Welcome to"</a:t>
            </a:r>
            <a:r>
              <a:rPr lang="en-GB" altLang="zh-CN" dirty="0">
                <a:solidFill>
                  <a:srgbClr val="000000"/>
                </a:solidFill>
                <a:latin typeface="Menlo" panose="020B0609030804020204" pitchFamily="49" charset="0"/>
              </a:rPr>
              <a:t>, </a:t>
            </a:r>
          </a:p>
          <a:p>
            <a:r>
              <a:rPr lang="zh-CN" altLang="en-US" dirty="0">
                <a:solidFill>
                  <a:srgbClr val="000000"/>
                </a:solidFill>
                <a:latin typeface="Menlo" panose="020B0609030804020204" pitchFamily="49" charset="0"/>
              </a:rPr>
              <a:t>                     </a:t>
            </a:r>
            <a:r>
              <a:rPr lang="en-GB" altLang="zh-CN" dirty="0">
                <a:solidFill>
                  <a:srgbClr val="2A00FF"/>
                </a:solidFill>
                <a:latin typeface="Menlo" panose="020B0609030804020204" pitchFamily="49" charset="0"/>
              </a:rPr>
              <a:t>"Java Programming!"</a:t>
            </a:r>
            <a:r>
              <a:rPr lang="en-GB" altLang="zh-CN" dirty="0">
                <a:solidFill>
                  <a:srgbClr val="000000"/>
                </a:solidFill>
                <a:latin typeface="Menlo" panose="020B0609030804020204" pitchFamily="49" charset="0"/>
              </a:rPr>
              <a:t>);</a:t>
            </a:r>
            <a:endParaRPr lang="en-GB" altLang="zh-CN" dirty="0">
              <a:solidFill>
                <a:srgbClr val="2A00FF"/>
              </a:solidFill>
              <a:effectLst/>
              <a:latin typeface="Menlo" panose="020B0609030804020204" pitchFamily="49" charset="0"/>
            </a:endParaRPr>
          </a:p>
        </p:txBody>
      </p:sp>
      <p:sp>
        <p:nvSpPr>
          <p:cNvPr id="10" name="矩形 9"/>
          <p:cNvSpPr/>
          <p:nvPr/>
        </p:nvSpPr>
        <p:spPr>
          <a:xfrm>
            <a:off x="532135" y="5154970"/>
            <a:ext cx="7344816" cy="1289905"/>
          </a:xfrm>
          <a:prstGeom prst="rect">
            <a:avLst/>
          </a:prstGeom>
        </p:spPr>
        <p:txBody>
          <a:bodyPr wrap="square">
            <a:spAutoFit/>
          </a:bodyPr>
          <a:lstStyle/>
          <a:p>
            <a:pPr>
              <a:lnSpc>
                <a:spcPct val="150000"/>
              </a:lnSpc>
            </a:pPr>
            <a:r>
              <a:rPr lang="zh-CN" altLang="en-US" dirty="0">
                <a:solidFill>
                  <a:srgbClr val="4D4D4D"/>
                </a:solidFill>
                <a:latin typeface="微软雅黑" charset="-122"/>
                <a:ea typeface="微软雅黑" charset="-122"/>
              </a:rPr>
              <a:t>因为操作系统的不同，换行符表示字符也不同：</a:t>
            </a:r>
            <a:br>
              <a:rPr lang="zh-CN" altLang="en-US" dirty="0"/>
            </a:br>
            <a:r>
              <a:rPr lang="en-GB" altLang="zh-CN" dirty="0">
                <a:solidFill>
                  <a:srgbClr val="4D4D4D"/>
                </a:solidFill>
                <a:latin typeface="微软雅黑" charset="-122"/>
                <a:ea typeface="微软雅黑" charset="-122"/>
              </a:rPr>
              <a:t>Mac</a:t>
            </a:r>
            <a:r>
              <a:rPr lang="zh-CN" altLang="en-GB" dirty="0">
                <a:solidFill>
                  <a:srgbClr val="4D4D4D"/>
                </a:solidFill>
                <a:latin typeface="微软雅黑" charset="-122"/>
                <a:ea typeface="微软雅黑" charset="-122"/>
              </a:rPr>
              <a:t>：</a:t>
            </a:r>
            <a:r>
              <a:rPr lang="en-GB" altLang="zh-CN" dirty="0">
                <a:solidFill>
                  <a:srgbClr val="4D4D4D"/>
                </a:solidFill>
                <a:latin typeface="微软雅黑" charset="-122"/>
                <a:ea typeface="微软雅黑" charset="-122"/>
              </a:rPr>
              <a:t>\r</a:t>
            </a:r>
            <a:r>
              <a:rPr lang="zh-CN" altLang="en-US" dirty="0">
                <a:solidFill>
                  <a:srgbClr val="4D4D4D"/>
                </a:solidFill>
                <a:latin typeface="微软雅黑" charset="-122"/>
                <a:ea typeface="微软雅黑" charset="-122"/>
              </a:rPr>
              <a:t>        </a:t>
            </a:r>
            <a:r>
              <a:rPr lang="en-GB" altLang="zh-CN" dirty="0">
                <a:solidFill>
                  <a:srgbClr val="4D4D4D"/>
                </a:solidFill>
                <a:latin typeface="微软雅黑" charset="-122"/>
                <a:ea typeface="微软雅黑" charset="-122"/>
              </a:rPr>
              <a:t>Unix/Linux</a:t>
            </a:r>
            <a:r>
              <a:rPr lang="zh-CN" altLang="en-GB" dirty="0">
                <a:solidFill>
                  <a:srgbClr val="4D4D4D"/>
                </a:solidFill>
                <a:latin typeface="微软雅黑" charset="-122"/>
                <a:ea typeface="微软雅黑" charset="-122"/>
              </a:rPr>
              <a:t>：</a:t>
            </a:r>
            <a:r>
              <a:rPr lang="en-GB" altLang="zh-CN" dirty="0">
                <a:solidFill>
                  <a:srgbClr val="4D4D4D"/>
                </a:solidFill>
                <a:latin typeface="微软雅黑" charset="-122"/>
                <a:ea typeface="微软雅黑" charset="-122"/>
              </a:rPr>
              <a:t>\n</a:t>
            </a:r>
            <a:r>
              <a:rPr lang="zh-CN" altLang="en-US" dirty="0">
                <a:solidFill>
                  <a:srgbClr val="4D4D4D"/>
                </a:solidFill>
                <a:latin typeface="微软雅黑" charset="-122"/>
                <a:ea typeface="微软雅黑" charset="-122"/>
              </a:rPr>
              <a:t>         </a:t>
            </a:r>
            <a:r>
              <a:rPr lang="en-GB" altLang="zh-CN" dirty="0">
                <a:solidFill>
                  <a:srgbClr val="4D4D4D"/>
                </a:solidFill>
                <a:latin typeface="微软雅黑" charset="-122"/>
                <a:ea typeface="微软雅黑" charset="-122"/>
              </a:rPr>
              <a:t>Windows</a:t>
            </a:r>
            <a:r>
              <a:rPr lang="zh-CN" altLang="en-GB" dirty="0">
                <a:solidFill>
                  <a:srgbClr val="4D4D4D"/>
                </a:solidFill>
                <a:latin typeface="微软雅黑" charset="-122"/>
                <a:ea typeface="微软雅黑" charset="-122"/>
              </a:rPr>
              <a:t>：</a:t>
            </a:r>
            <a:r>
              <a:rPr lang="en-GB" altLang="zh-CN" dirty="0">
                <a:solidFill>
                  <a:srgbClr val="4D4D4D"/>
                </a:solidFill>
                <a:latin typeface="微软雅黑" charset="-122"/>
                <a:ea typeface="微软雅黑" charset="-122"/>
              </a:rPr>
              <a:t>\r\n</a:t>
            </a:r>
          </a:p>
          <a:p>
            <a:pPr>
              <a:lnSpc>
                <a:spcPct val="150000"/>
              </a:lnSpc>
            </a:pPr>
            <a:r>
              <a:rPr lang="zh-CN" altLang="en-US" dirty="0">
                <a:solidFill>
                  <a:srgbClr val="4D4D4D"/>
                </a:solidFill>
                <a:latin typeface="微软雅黑" charset="-122"/>
                <a:ea typeface="微软雅黑" charset="-122"/>
              </a:rPr>
              <a:t>文件分割符：</a:t>
            </a:r>
            <a:r>
              <a:rPr lang="en-GB" altLang="zh-CN" dirty="0" err="1">
                <a:solidFill>
                  <a:srgbClr val="4D4D4D"/>
                </a:solidFill>
                <a:latin typeface="微软雅黑" charset="-122"/>
                <a:ea typeface="微软雅黑" charset="-122"/>
              </a:rPr>
              <a:t>System.getProperty</a:t>
            </a:r>
            <a:r>
              <a:rPr lang="en-GB" altLang="zh-CN" dirty="0">
                <a:solidFill>
                  <a:srgbClr val="4D4D4D"/>
                </a:solidFill>
                <a:latin typeface="微软雅黑" charset="-122"/>
                <a:ea typeface="微软雅黑" charset="-122"/>
              </a:rPr>
              <a:t>("</a:t>
            </a:r>
            <a:r>
              <a:rPr lang="en-GB" altLang="zh-CN" dirty="0" err="1">
                <a:solidFill>
                  <a:srgbClr val="4D4D4D"/>
                </a:solidFill>
                <a:latin typeface="微软雅黑" charset="-122"/>
                <a:ea typeface="微软雅黑" charset="-122"/>
              </a:rPr>
              <a:t>line.separator</a:t>
            </a:r>
            <a:r>
              <a:rPr lang="en-GB" altLang="zh-CN" dirty="0">
                <a:solidFill>
                  <a:srgbClr val="4D4D4D"/>
                </a:solidFill>
                <a:latin typeface="微软雅黑" charset="-122"/>
                <a:ea typeface="微软雅黑" charset="-122"/>
              </a:rPr>
              <a:t>")</a:t>
            </a:r>
            <a:endParaRPr lang="zh-CN" altLang="en-US" dirty="0">
              <a:solidFill>
                <a:srgbClr val="4D4D4D"/>
              </a:solidFill>
              <a:latin typeface="微软雅黑" charset="-122"/>
              <a:ea typeface="微软雅黑"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2076"/>
            <a:ext cx="2056973" cy="369332"/>
          </a:xfrm>
          <a:prstGeom prst="rect">
            <a:avLst/>
          </a:prstGeom>
        </p:spPr>
        <p:txBody>
          <a:bodyPr wrap="none">
            <a:spAutoFit/>
          </a:bodyPr>
          <a:lstStyle/>
          <a:p>
            <a:r>
              <a:rPr lang="en-US" altLang="zh-CN" dirty="0">
                <a:solidFill>
                  <a:srgbClr val="FF0066"/>
                </a:solidFill>
                <a:ea typeface="华文琥珀" panose="02010800040101010101" pitchFamily="2" charset="-122"/>
              </a:rPr>
              <a:t>Java</a:t>
            </a:r>
            <a:r>
              <a:rPr lang="zh-CN" altLang="en-US" dirty="0">
                <a:solidFill>
                  <a:srgbClr val="FF0066"/>
                </a:solidFill>
                <a:ea typeface="华文琥珀" panose="02010800040101010101" pitchFamily="2" charset="-122"/>
              </a:rPr>
              <a:t>常用转义字符</a:t>
            </a:r>
            <a:endParaRPr lang="zh-CN" altLang="en-US" dirty="0"/>
          </a:p>
        </p:txBody>
      </p:sp>
      <p:pic>
        <p:nvPicPr>
          <p:cNvPr id="7" name="图片 6"/>
          <p:cNvPicPr>
            <a:picLocks noChangeAspect="1"/>
          </p:cNvPicPr>
          <p:nvPr/>
        </p:nvPicPr>
        <p:blipFill>
          <a:blip r:embed="rId2"/>
          <a:stretch>
            <a:fillRect/>
          </a:stretch>
        </p:blipFill>
        <p:spPr>
          <a:xfrm>
            <a:off x="1475656" y="386226"/>
            <a:ext cx="6336704" cy="62270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908720"/>
            <a:ext cx="8712968" cy="4770537"/>
          </a:xfrm>
          <a:prstGeom prst="rect">
            <a:avLst/>
          </a:prstGeom>
          <a:solidFill>
            <a:schemeClr val="bg2">
              <a:lumMod val="20000"/>
              <a:lumOff val="80000"/>
            </a:schemeClr>
          </a:solidFill>
        </p:spPr>
        <p:txBody>
          <a:bodyPr wrap="square">
            <a:spAutoFit/>
          </a:bodyPr>
          <a:lstStyle/>
          <a:p>
            <a:r>
              <a:rPr lang="en-GB" altLang="zh-CN" sz="1600" dirty="0">
                <a:solidFill>
                  <a:srgbClr val="3F7F5F"/>
                </a:solidFill>
                <a:latin typeface="Menlo" panose="020B0609030804020204" pitchFamily="49" charset="0"/>
              </a:rPr>
              <a:t>// Fig. 2.7: </a:t>
            </a:r>
            <a:r>
              <a:rPr lang="en-GB" altLang="zh-CN" sz="1600" dirty="0" err="1">
                <a:solidFill>
                  <a:srgbClr val="3F7F5F"/>
                </a:solidFill>
                <a:latin typeface="Menlo" panose="020B0609030804020204" pitchFamily="49" charset="0"/>
              </a:rPr>
              <a:t>Addition.java</a:t>
            </a:r>
            <a:endParaRPr lang="en-GB" altLang="zh-CN" sz="1600" dirty="0">
              <a:solidFill>
                <a:srgbClr val="3F7F5F"/>
              </a:solidFill>
              <a:latin typeface="Menlo" panose="020B0609030804020204" pitchFamily="49" charset="0"/>
            </a:endParaRPr>
          </a:p>
          <a:p>
            <a:r>
              <a:rPr lang="en-GB" altLang="zh-CN" sz="1600" dirty="0">
                <a:solidFill>
                  <a:srgbClr val="3F7F5F"/>
                </a:solidFill>
                <a:latin typeface="Menlo" panose="020B0609030804020204" pitchFamily="49" charset="0"/>
              </a:rPr>
              <a:t>// Addition program that displays the sum of two numbers.</a:t>
            </a:r>
          </a:p>
          <a:p>
            <a:r>
              <a:rPr lang="en-GB" altLang="zh-CN" sz="1600" dirty="0">
                <a:solidFill>
                  <a:srgbClr val="3F7F5F"/>
                </a:solidFill>
                <a:latin typeface="Menlo" panose="020B0609030804020204" pitchFamily="49" charset="0"/>
              </a:rPr>
              <a:t>//import </a:t>
            </a:r>
            <a:r>
              <a:rPr lang="en-GB" altLang="zh-CN" sz="1600" dirty="0" err="1">
                <a:solidFill>
                  <a:srgbClr val="3F7F5F"/>
                </a:solidFill>
                <a:latin typeface="Menlo" panose="020B0609030804020204" pitchFamily="49" charset="0"/>
              </a:rPr>
              <a:t>java.util.Scanner</a:t>
            </a:r>
            <a:r>
              <a:rPr lang="en-GB" altLang="zh-CN" sz="1600" dirty="0">
                <a:solidFill>
                  <a:srgbClr val="3F7F5F"/>
                </a:solidFill>
                <a:latin typeface="Menlo" panose="020B0609030804020204" pitchFamily="49" charset="0"/>
              </a:rPr>
              <a:t>; program uses class Scanner</a:t>
            </a:r>
          </a:p>
          <a:p>
            <a:r>
              <a:rPr lang="en-GB" altLang="zh-CN" sz="1600" b="1" dirty="0">
                <a:solidFill>
                  <a:srgbClr val="7F0055"/>
                </a:solidFill>
                <a:latin typeface="Menlo" panose="020B0609030804020204" pitchFamily="49" charset="0"/>
              </a:rPr>
              <a:t>import</a:t>
            </a:r>
            <a:r>
              <a:rPr lang="en-GB" altLang="zh-CN" sz="1600" dirty="0"/>
              <a:t> </a:t>
            </a:r>
            <a:r>
              <a:rPr lang="en-GB" altLang="zh-CN" sz="1600" dirty="0" err="1">
                <a:latin typeface="Menlo" panose="020B0609030804020204" pitchFamily="49" charset="0"/>
              </a:rPr>
              <a:t>java.util.Scanner</a:t>
            </a:r>
            <a:r>
              <a:rPr lang="en-GB" altLang="zh-CN" sz="1600" dirty="0">
                <a:latin typeface="Menlo" panose="020B0609030804020204" pitchFamily="49" charset="0"/>
              </a:rPr>
              <a:t>;</a:t>
            </a:r>
          </a:p>
          <a:p>
            <a:endParaRPr lang="en-GB" altLang="zh-CN" sz="1600" dirty="0">
              <a:solidFill>
                <a:srgbClr val="3F7F5F"/>
              </a:solidFill>
              <a:latin typeface="Menlo" panose="020B0609030804020204" pitchFamily="49" charset="0"/>
            </a:endParaRPr>
          </a:p>
          <a:p>
            <a:r>
              <a:rPr lang="en-GB" altLang="zh-CN" sz="1600" b="1" dirty="0">
                <a:solidFill>
                  <a:srgbClr val="7F0055"/>
                </a:solidFill>
                <a:latin typeface="Menlo" panose="020B0609030804020204" pitchFamily="49" charset="0"/>
              </a:rPr>
              <a:t>public</a:t>
            </a:r>
            <a:r>
              <a:rPr lang="en-GB" altLang="zh-CN" sz="1600" dirty="0">
                <a:latin typeface="Menlo" panose="020B0609030804020204" pitchFamily="49" charset="0"/>
              </a:rPr>
              <a:t> </a:t>
            </a:r>
            <a:r>
              <a:rPr lang="en-GB" altLang="zh-CN" sz="1600" b="1" dirty="0">
                <a:solidFill>
                  <a:srgbClr val="7F0055"/>
                </a:solidFill>
                <a:latin typeface="Menlo" panose="020B0609030804020204" pitchFamily="49" charset="0"/>
              </a:rPr>
              <a:t>class</a:t>
            </a:r>
            <a:r>
              <a:rPr lang="en-GB" altLang="zh-CN" sz="1600" dirty="0">
                <a:latin typeface="Menlo" panose="020B0609030804020204" pitchFamily="49" charset="0"/>
              </a:rPr>
              <a:t> Addition {</a:t>
            </a:r>
          </a:p>
          <a:p>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main method begins execution of Java application</a:t>
            </a:r>
          </a:p>
          <a:p>
            <a:r>
              <a:rPr lang="en-GB" altLang="zh-CN" sz="1600" dirty="0">
                <a:latin typeface="Menlo" panose="020B0609030804020204" pitchFamily="49" charset="0"/>
              </a:rPr>
              <a:t>   </a:t>
            </a:r>
            <a:r>
              <a:rPr lang="en-GB" altLang="zh-CN" sz="1600" b="1" dirty="0">
                <a:solidFill>
                  <a:srgbClr val="7F0055"/>
                </a:solidFill>
                <a:latin typeface="Menlo" panose="020B0609030804020204" pitchFamily="49" charset="0"/>
              </a:rPr>
              <a:t>public</a:t>
            </a:r>
            <a:r>
              <a:rPr lang="en-GB" altLang="zh-CN" sz="1600" dirty="0">
                <a:latin typeface="Menlo" panose="020B0609030804020204" pitchFamily="49" charset="0"/>
              </a:rPr>
              <a:t> </a:t>
            </a:r>
            <a:r>
              <a:rPr lang="en-GB" altLang="zh-CN" sz="1600" b="1" dirty="0">
                <a:solidFill>
                  <a:srgbClr val="7F0055"/>
                </a:solidFill>
                <a:latin typeface="Menlo" panose="020B0609030804020204" pitchFamily="49" charset="0"/>
              </a:rPr>
              <a:t>static</a:t>
            </a:r>
            <a:r>
              <a:rPr lang="en-GB" altLang="zh-CN" sz="1600" dirty="0">
                <a:latin typeface="Menlo" panose="020B0609030804020204" pitchFamily="49" charset="0"/>
              </a:rPr>
              <a:t> </a:t>
            </a:r>
            <a:r>
              <a:rPr lang="en-GB" altLang="zh-CN" sz="1600" b="1" dirty="0">
                <a:solidFill>
                  <a:srgbClr val="7F0055"/>
                </a:solidFill>
                <a:latin typeface="Menlo" panose="020B0609030804020204" pitchFamily="49" charset="0"/>
              </a:rPr>
              <a:t>void</a:t>
            </a:r>
            <a:r>
              <a:rPr lang="en-GB" altLang="zh-CN" sz="1600" dirty="0">
                <a:latin typeface="Menlo" panose="020B0609030804020204" pitchFamily="49" charset="0"/>
              </a:rPr>
              <a:t> main(String[] </a:t>
            </a:r>
            <a:r>
              <a:rPr lang="en-GB" altLang="zh-CN" sz="1600" dirty="0" err="1">
                <a:solidFill>
                  <a:srgbClr val="6A3E3E"/>
                </a:solidFill>
                <a:latin typeface="Menlo" panose="020B0609030804020204" pitchFamily="49" charset="0"/>
              </a:rPr>
              <a:t>args</a:t>
            </a:r>
            <a:r>
              <a:rPr lang="en-GB" altLang="zh-CN" sz="1600" dirty="0">
                <a:latin typeface="Menlo" panose="020B0609030804020204" pitchFamily="49" charset="0"/>
              </a:rPr>
              <a:t>) {</a:t>
            </a:r>
          </a:p>
          <a:p>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create a Scanner to obtain input from the command window</a:t>
            </a:r>
          </a:p>
          <a:p>
            <a:r>
              <a:rPr lang="en-GB" altLang="zh-CN" sz="1600" b="1" dirty="0">
                <a:latin typeface="Menlo" panose="020B0609030804020204" pitchFamily="49" charset="0"/>
              </a:rPr>
              <a:t>      Scanner </a:t>
            </a:r>
            <a:r>
              <a:rPr lang="en-GB" altLang="zh-CN" sz="1600" b="1" u="sng" dirty="0">
                <a:solidFill>
                  <a:srgbClr val="6A3E3E"/>
                </a:solidFill>
                <a:latin typeface="Menlo" panose="020B0609030804020204" pitchFamily="49" charset="0"/>
              </a:rPr>
              <a:t>input</a:t>
            </a:r>
            <a:r>
              <a:rPr lang="en-GB" altLang="zh-CN" sz="1600" b="1" dirty="0">
                <a:latin typeface="Menlo" panose="020B0609030804020204" pitchFamily="49" charset="0"/>
              </a:rPr>
              <a:t> = </a:t>
            </a:r>
            <a:r>
              <a:rPr lang="en-GB" altLang="zh-CN" sz="1600" b="1" dirty="0">
                <a:solidFill>
                  <a:srgbClr val="7F0055"/>
                </a:solidFill>
                <a:latin typeface="Menlo" panose="020B0609030804020204" pitchFamily="49" charset="0"/>
              </a:rPr>
              <a:t>new</a:t>
            </a:r>
            <a:r>
              <a:rPr lang="en-GB" altLang="zh-CN" sz="1600" b="1" dirty="0">
                <a:latin typeface="Menlo" panose="020B0609030804020204" pitchFamily="49" charset="0"/>
              </a:rPr>
              <a:t> Scanner(</a:t>
            </a:r>
            <a:r>
              <a:rPr lang="en-GB" altLang="zh-CN" sz="1600" b="1" dirty="0" err="1">
                <a:latin typeface="Menlo" panose="020B0609030804020204" pitchFamily="49" charset="0"/>
              </a:rPr>
              <a:t>System.</a:t>
            </a:r>
            <a:r>
              <a:rPr lang="en-GB" altLang="zh-CN" sz="1600" b="1" i="1" dirty="0" err="1">
                <a:solidFill>
                  <a:srgbClr val="0000C0"/>
                </a:solidFill>
                <a:latin typeface="Menlo" panose="020B0609030804020204" pitchFamily="49" charset="0"/>
              </a:rPr>
              <a:t>in</a:t>
            </a:r>
            <a:r>
              <a:rPr lang="en-GB" altLang="zh-CN" sz="1600" b="1" dirty="0">
                <a:latin typeface="Menlo" panose="020B0609030804020204" pitchFamily="49" charset="0"/>
              </a:rPr>
              <a:t>);</a:t>
            </a:r>
          </a:p>
          <a:p>
            <a:r>
              <a:rPr lang="en-GB" altLang="zh-CN" sz="1600" dirty="0">
                <a:latin typeface="Menlo" panose="020B0609030804020204" pitchFamily="49" charset="0"/>
              </a:rPr>
              <a:t>      </a:t>
            </a:r>
            <a:r>
              <a:rPr lang="en-GB" altLang="zh-CN" sz="1600" dirty="0" err="1">
                <a:latin typeface="Menlo" panose="020B0609030804020204" pitchFamily="49" charset="0"/>
              </a:rPr>
              <a:t>System.</a:t>
            </a:r>
            <a:r>
              <a:rPr lang="en-GB" altLang="zh-CN" sz="1600" b="1" i="1" dirty="0" err="1">
                <a:solidFill>
                  <a:srgbClr val="0000C0"/>
                </a:solidFill>
                <a:latin typeface="Menlo" panose="020B0609030804020204" pitchFamily="49" charset="0"/>
              </a:rPr>
              <a:t>out</a:t>
            </a:r>
            <a:r>
              <a:rPr lang="en-GB" altLang="zh-CN" sz="1600" dirty="0" err="1">
                <a:latin typeface="Menlo" panose="020B0609030804020204" pitchFamily="49" charset="0"/>
              </a:rPr>
              <a:t>.print</a:t>
            </a:r>
            <a:r>
              <a:rPr lang="en-GB" altLang="zh-CN" sz="1600" dirty="0">
                <a:latin typeface="Menlo" panose="020B0609030804020204" pitchFamily="49" charset="0"/>
              </a:rPr>
              <a:t>(</a:t>
            </a:r>
            <a:r>
              <a:rPr lang="en-GB" altLang="zh-CN" sz="1600" dirty="0">
                <a:solidFill>
                  <a:srgbClr val="2A00FF"/>
                </a:solidFill>
                <a:latin typeface="Menlo" panose="020B0609030804020204" pitchFamily="49" charset="0"/>
              </a:rPr>
              <a:t>"Enter first integer: "</a:t>
            </a:r>
            <a:r>
              <a:rPr lang="en-GB" altLang="zh-CN" sz="1600" dirty="0">
                <a:latin typeface="Menlo" panose="020B0609030804020204" pitchFamily="49" charset="0"/>
              </a:rPr>
              <a:t>); </a:t>
            </a:r>
            <a:r>
              <a:rPr lang="en-GB" altLang="zh-CN" sz="1600" dirty="0">
                <a:solidFill>
                  <a:srgbClr val="3F7F5F"/>
                </a:solidFill>
                <a:latin typeface="Menlo" panose="020B0609030804020204" pitchFamily="49" charset="0"/>
              </a:rPr>
              <a:t>// prompt </a:t>
            </a:r>
            <a:endParaRPr lang="en-GB" altLang="zh-CN" sz="1600" dirty="0">
              <a:latin typeface="Menlo" panose="020B0609030804020204" pitchFamily="49" charset="0"/>
            </a:endParaRPr>
          </a:p>
          <a:p>
            <a:r>
              <a:rPr lang="en-GB" altLang="zh-CN" sz="1600" dirty="0">
                <a:solidFill>
                  <a:srgbClr val="000000"/>
                </a:solidFill>
                <a:latin typeface="Menlo" panose="020B0609030804020204" pitchFamily="49" charset="0"/>
              </a:rPr>
              <a:t>      </a:t>
            </a:r>
            <a:r>
              <a:rPr lang="en-GB" altLang="zh-CN" sz="1600" b="1" dirty="0" err="1">
                <a:solidFill>
                  <a:srgbClr val="7F0055"/>
                </a:solidFill>
                <a:latin typeface="Menlo" panose="020B0609030804020204" pitchFamily="49" charset="0"/>
              </a:rPr>
              <a:t>int</a:t>
            </a:r>
            <a:r>
              <a:rPr lang="en-GB" altLang="zh-CN" sz="1600" dirty="0">
                <a:solidFill>
                  <a:srgbClr val="000000"/>
                </a:solidFill>
                <a:latin typeface="Menlo" panose="020B0609030804020204" pitchFamily="49" charset="0"/>
              </a:rPr>
              <a:t> </a:t>
            </a:r>
            <a:r>
              <a:rPr lang="en-GB" altLang="zh-CN" sz="1600" dirty="0">
                <a:solidFill>
                  <a:srgbClr val="6A3E3E"/>
                </a:solidFill>
                <a:latin typeface="Menlo" panose="020B0609030804020204" pitchFamily="49" charset="0"/>
              </a:rPr>
              <a:t>number1</a:t>
            </a:r>
            <a:r>
              <a:rPr lang="en-GB" altLang="zh-CN" sz="1600" dirty="0">
                <a:solidFill>
                  <a:srgbClr val="000000"/>
                </a:solidFill>
                <a:latin typeface="Menlo" panose="020B0609030804020204" pitchFamily="49" charset="0"/>
              </a:rPr>
              <a:t> = </a:t>
            </a:r>
            <a:r>
              <a:rPr lang="en-GB" altLang="zh-CN" sz="1600" dirty="0" err="1">
                <a:solidFill>
                  <a:srgbClr val="6A3E3E"/>
                </a:solidFill>
                <a:latin typeface="Menlo" panose="020B0609030804020204" pitchFamily="49" charset="0"/>
              </a:rPr>
              <a:t>input</a:t>
            </a:r>
            <a:r>
              <a:rPr lang="en-GB" altLang="zh-CN" sz="1600" dirty="0" err="1">
                <a:solidFill>
                  <a:srgbClr val="000000"/>
                </a:solidFill>
                <a:latin typeface="Menlo" panose="020B0609030804020204" pitchFamily="49" charset="0"/>
              </a:rPr>
              <a:t>.nextInt</a:t>
            </a:r>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read first number from user</a:t>
            </a:r>
            <a:endParaRPr lang="en-GB" altLang="zh-CN" sz="1600" dirty="0">
              <a:latin typeface="Menlo" panose="020B0609030804020204" pitchFamily="49" charset="0"/>
            </a:endParaRPr>
          </a:p>
          <a:p>
            <a:r>
              <a:rPr lang="en-GB" altLang="zh-CN" sz="1600" dirty="0">
                <a:solidFill>
                  <a:srgbClr val="000000"/>
                </a:solidFill>
                <a:latin typeface="Menlo" panose="020B0609030804020204" pitchFamily="49" charset="0"/>
              </a:rPr>
              <a:t>      </a:t>
            </a:r>
            <a:r>
              <a:rPr lang="en-GB" altLang="zh-CN" sz="1600" dirty="0" err="1">
                <a:solidFill>
                  <a:srgbClr val="000000"/>
                </a:solidFill>
                <a:latin typeface="Menlo" panose="020B0609030804020204" pitchFamily="49" charset="0"/>
              </a:rPr>
              <a:t>System.</a:t>
            </a:r>
            <a:r>
              <a:rPr lang="en-GB" altLang="zh-CN" sz="1600" b="1" i="1" dirty="0" err="1">
                <a:solidFill>
                  <a:srgbClr val="0000C0"/>
                </a:solidFill>
                <a:latin typeface="Menlo" panose="020B0609030804020204" pitchFamily="49" charset="0"/>
              </a:rPr>
              <a:t>out</a:t>
            </a:r>
            <a:r>
              <a:rPr lang="en-GB" altLang="zh-CN" sz="1600" dirty="0" err="1">
                <a:solidFill>
                  <a:srgbClr val="000000"/>
                </a:solidFill>
                <a:latin typeface="Menlo" panose="020B0609030804020204" pitchFamily="49" charset="0"/>
              </a:rPr>
              <a:t>.print</a:t>
            </a:r>
            <a:r>
              <a:rPr lang="en-GB" altLang="zh-CN" sz="1600" dirty="0">
                <a:solidFill>
                  <a:srgbClr val="000000"/>
                </a:solidFill>
                <a:latin typeface="Menlo" panose="020B0609030804020204" pitchFamily="49" charset="0"/>
              </a:rPr>
              <a:t>(</a:t>
            </a:r>
            <a:r>
              <a:rPr lang="en-GB" altLang="zh-CN" sz="1600" dirty="0">
                <a:solidFill>
                  <a:srgbClr val="2A00FF"/>
                </a:solidFill>
                <a:latin typeface="Menlo" panose="020B0609030804020204" pitchFamily="49" charset="0"/>
              </a:rPr>
              <a:t>"Enter second integer: "</a:t>
            </a:r>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prompt </a:t>
            </a:r>
            <a:endParaRPr lang="en-GB" altLang="zh-CN" sz="1600" dirty="0">
              <a:solidFill>
                <a:srgbClr val="2A00FF"/>
              </a:solidFill>
              <a:latin typeface="Menlo" panose="020B0609030804020204" pitchFamily="49" charset="0"/>
            </a:endParaRPr>
          </a:p>
          <a:p>
            <a:r>
              <a:rPr lang="en-GB" altLang="zh-CN" sz="1600" dirty="0">
                <a:solidFill>
                  <a:srgbClr val="000000"/>
                </a:solidFill>
                <a:latin typeface="Menlo" panose="020B0609030804020204" pitchFamily="49" charset="0"/>
              </a:rPr>
              <a:t>      </a:t>
            </a:r>
            <a:r>
              <a:rPr lang="en-GB" altLang="zh-CN" sz="1600" b="1" dirty="0" err="1">
                <a:solidFill>
                  <a:srgbClr val="7F0055"/>
                </a:solidFill>
                <a:latin typeface="Menlo" panose="020B0609030804020204" pitchFamily="49" charset="0"/>
              </a:rPr>
              <a:t>int</a:t>
            </a:r>
            <a:r>
              <a:rPr lang="en-GB" altLang="zh-CN" sz="1600" dirty="0">
                <a:solidFill>
                  <a:srgbClr val="000000"/>
                </a:solidFill>
                <a:latin typeface="Menlo" panose="020B0609030804020204" pitchFamily="49" charset="0"/>
              </a:rPr>
              <a:t> </a:t>
            </a:r>
            <a:r>
              <a:rPr lang="en-GB" altLang="zh-CN" sz="1600" dirty="0">
                <a:solidFill>
                  <a:srgbClr val="6A3E3E"/>
                </a:solidFill>
                <a:latin typeface="Menlo" panose="020B0609030804020204" pitchFamily="49" charset="0"/>
              </a:rPr>
              <a:t>number2</a:t>
            </a:r>
            <a:r>
              <a:rPr lang="en-GB" altLang="zh-CN" sz="1600" dirty="0">
                <a:solidFill>
                  <a:srgbClr val="000000"/>
                </a:solidFill>
                <a:latin typeface="Menlo" panose="020B0609030804020204" pitchFamily="49" charset="0"/>
              </a:rPr>
              <a:t> = </a:t>
            </a:r>
            <a:r>
              <a:rPr lang="en-GB" altLang="zh-CN" sz="1600" dirty="0" err="1">
                <a:solidFill>
                  <a:srgbClr val="6A3E3E"/>
                </a:solidFill>
                <a:latin typeface="Menlo" panose="020B0609030804020204" pitchFamily="49" charset="0"/>
              </a:rPr>
              <a:t>input</a:t>
            </a:r>
            <a:r>
              <a:rPr lang="en-GB" altLang="zh-CN" sz="1600" dirty="0" err="1">
                <a:solidFill>
                  <a:srgbClr val="000000"/>
                </a:solidFill>
                <a:latin typeface="Menlo" panose="020B0609030804020204" pitchFamily="49" charset="0"/>
              </a:rPr>
              <a:t>.nextInt</a:t>
            </a:r>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read second number from user</a:t>
            </a:r>
          </a:p>
          <a:p>
            <a:r>
              <a:rPr lang="zh-CN" altLang="en-US" sz="1600" dirty="0">
                <a:solidFill>
                  <a:srgbClr val="3F7F5F"/>
                </a:solidFill>
                <a:latin typeface="Menlo" panose="020B0609030804020204" pitchFamily="49" charset="0"/>
              </a:rPr>
              <a:t>  </a:t>
            </a:r>
            <a:r>
              <a:rPr lang="en-GB" altLang="zh-CN" sz="1600" dirty="0">
                <a:solidFill>
                  <a:srgbClr val="000000"/>
                </a:solidFill>
                <a:latin typeface="Menlo" panose="020B0609030804020204" pitchFamily="49" charset="0"/>
              </a:rPr>
              <a:t>    </a:t>
            </a:r>
            <a:r>
              <a:rPr lang="en-GB" altLang="zh-CN" sz="1600" b="1" dirty="0" err="1">
                <a:solidFill>
                  <a:srgbClr val="7F0055"/>
                </a:solidFill>
                <a:latin typeface="Menlo" panose="020B0609030804020204" pitchFamily="49" charset="0"/>
              </a:rPr>
              <a:t>int</a:t>
            </a:r>
            <a:r>
              <a:rPr lang="en-GB" altLang="zh-CN" sz="1600" dirty="0">
                <a:solidFill>
                  <a:srgbClr val="000000"/>
                </a:solidFill>
                <a:latin typeface="Menlo" panose="020B0609030804020204" pitchFamily="49" charset="0"/>
              </a:rPr>
              <a:t> </a:t>
            </a:r>
            <a:r>
              <a:rPr lang="en-GB" altLang="zh-CN" sz="1600" dirty="0">
                <a:solidFill>
                  <a:srgbClr val="6A3E3E"/>
                </a:solidFill>
                <a:latin typeface="Menlo" panose="020B0609030804020204" pitchFamily="49" charset="0"/>
              </a:rPr>
              <a:t>sum</a:t>
            </a:r>
            <a:r>
              <a:rPr lang="en-GB" altLang="zh-CN" sz="1600" dirty="0">
                <a:solidFill>
                  <a:srgbClr val="000000"/>
                </a:solidFill>
                <a:latin typeface="Menlo" panose="020B0609030804020204" pitchFamily="49" charset="0"/>
              </a:rPr>
              <a:t> = </a:t>
            </a:r>
            <a:r>
              <a:rPr lang="en-GB" altLang="zh-CN" sz="1600" dirty="0">
                <a:solidFill>
                  <a:srgbClr val="6A3E3E"/>
                </a:solidFill>
                <a:latin typeface="Menlo" panose="020B0609030804020204" pitchFamily="49" charset="0"/>
              </a:rPr>
              <a:t>number1</a:t>
            </a:r>
            <a:r>
              <a:rPr lang="en-GB" altLang="zh-CN" sz="1600" dirty="0">
                <a:solidFill>
                  <a:srgbClr val="000000"/>
                </a:solidFill>
                <a:latin typeface="Menlo" panose="020B0609030804020204" pitchFamily="49" charset="0"/>
              </a:rPr>
              <a:t> + </a:t>
            </a:r>
            <a:r>
              <a:rPr lang="en-GB" altLang="zh-CN" sz="1600" dirty="0">
                <a:solidFill>
                  <a:srgbClr val="6A3E3E"/>
                </a:solidFill>
                <a:latin typeface="Menlo" panose="020B0609030804020204" pitchFamily="49" charset="0"/>
              </a:rPr>
              <a:t>number2</a:t>
            </a:r>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add numbers, then store total in sum</a:t>
            </a:r>
            <a:endParaRPr lang="en-GB" altLang="zh-CN" sz="1600" dirty="0">
              <a:latin typeface="Menlo" panose="020B0609030804020204" pitchFamily="49" charset="0"/>
            </a:endParaRPr>
          </a:p>
          <a:p>
            <a:r>
              <a:rPr lang="en-GB" altLang="zh-CN" sz="1600" dirty="0">
                <a:latin typeface="Menlo" panose="020B0609030804020204" pitchFamily="49" charset="0"/>
              </a:rPr>
              <a:t>      </a:t>
            </a:r>
            <a:r>
              <a:rPr lang="en-GB" altLang="zh-CN" sz="1600" dirty="0" err="1">
                <a:latin typeface="Menlo" panose="020B0609030804020204" pitchFamily="49" charset="0"/>
              </a:rPr>
              <a:t>System.</a:t>
            </a:r>
            <a:r>
              <a:rPr lang="en-GB" altLang="zh-CN" sz="1600" b="1" i="1" dirty="0" err="1">
                <a:solidFill>
                  <a:srgbClr val="0000C0"/>
                </a:solidFill>
                <a:latin typeface="Menlo" panose="020B0609030804020204" pitchFamily="49" charset="0"/>
              </a:rPr>
              <a:t>out</a:t>
            </a:r>
            <a:r>
              <a:rPr lang="en-GB" altLang="zh-CN" sz="1600" dirty="0" err="1">
                <a:latin typeface="Menlo" panose="020B0609030804020204" pitchFamily="49" charset="0"/>
              </a:rPr>
              <a:t>.printf</a:t>
            </a:r>
            <a:r>
              <a:rPr lang="en-GB" altLang="zh-CN" sz="1600" dirty="0">
                <a:latin typeface="Menlo" panose="020B0609030804020204" pitchFamily="49" charset="0"/>
              </a:rPr>
              <a:t>(</a:t>
            </a:r>
            <a:r>
              <a:rPr lang="en-GB" altLang="zh-CN" sz="1600" dirty="0">
                <a:solidFill>
                  <a:srgbClr val="2A00FF"/>
                </a:solidFill>
                <a:latin typeface="Menlo" panose="020B0609030804020204" pitchFamily="49" charset="0"/>
              </a:rPr>
              <a:t>"Sum is %</a:t>
            </a:r>
            <a:r>
              <a:rPr lang="en-GB" altLang="zh-CN" sz="1600" dirty="0" err="1">
                <a:solidFill>
                  <a:srgbClr val="2A00FF"/>
                </a:solidFill>
                <a:latin typeface="Menlo" panose="020B0609030804020204" pitchFamily="49" charset="0"/>
              </a:rPr>
              <a:t>d%n</a:t>
            </a:r>
            <a:r>
              <a:rPr lang="en-GB" altLang="zh-CN" sz="1600" dirty="0">
                <a:solidFill>
                  <a:srgbClr val="2A00FF"/>
                </a:solidFill>
                <a:latin typeface="Menlo" panose="020B0609030804020204" pitchFamily="49" charset="0"/>
              </a:rPr>
              <a:t>"</a:t>
            </a:r>
            <a:r>
              <a:rPr lang="en-GB" altLang="zh-CN" sz="1600" dirty="0">
                <a:latin typeface="Menlo" panose="020B0609030804020204" pitchFamily="49" charset="0"/>
              </a:rPr>
              <a:t>, </a:t>
            </a:r>
            <a:r>
              <a:rPr lang="en-GB" altLang="zh-CN" sz="1600" dirty="0">
                <a:solidFill>
                  <a:srgbClr val="6A3E3E"/>
                </a:solidFill>
                <a:latin typeface="Menlo" panose="020B0609030804020204" pitchFamily="49" charset="0"/>
              </a:rPr>
              <a:t>sum</a:t>
            </a:r>
            <a:r>
              <a:rPr lang="en-GB" altLang="zh-CN" sz="1600" dirty="0">
                <a:latin typeface="Menlo" panose="020B0609030804020204" pitchFamily="49" charset="0"/>
              </a:rPr>
              <a:t>); </a:t>
            </a:r>
            <a:r>
              <a:rPr lang="en-GB" altLang="zh-CN" sz="1600" dirty="0">
                <a:solidFill>
                  <a:srgbClr val="3F7F5F"/>
                </a:solidFill>
                <a:latin typeface="Menlo" panose="020B0609030804020204" pitchFamily="49" charset="0"/>
              </a:rPr>
              <a:t>// display sum</a:t>
            </a:r>
            <a:endParaRPr lang="en-GB" altLang="zh-CN" sz="1600" dirty="0">
              <a:latin typeface="Menlo" panose="020B0609030804020204" pitchFamily="49" charset="0"/>
            </a:endParaRPr>
          </a:p>
          <a:p>
            <a:r>
              <a:rPr lang="en-GB" altLang="zh-CN" sz="1600" dirty="0">
                <a:solidFill>
                  <a:srgbClr val="000000"/>
                </a:solidFill>
                <a:latin typeface="Menlo" panose="020B0609030804020204" pitchFamily="49" charset="0"/>
              </a:rPr>
              <a:t>   } </a:t>
            </a:r>
            <a:r>
              <a:rPr lang="en-GB" altLang="zh-CN" sz="1600" dirty="0">
                <a:solidFill>
                  <a:srgbClr val="3F7F5F"/>
                </a:solidFill>
                <a:latin typeface="Menlo" panose="020B0609030804020204" pitchFamily="49" charset="0"/>
              </a:rPr>
              <a:t>// end method main</a:t>
            </a:r>
          </a:p>
          <a:p>
            <a:r>
              <a:rPr lang="en-GB" altLang="zh-CN" sz="1600" dirty="0">
                <a:solidFill>
                  <a:srgbClr val="000000"/>
                </a:solidFill>
                <a:latin typeface="Menlo" panose="020B0609030804020204" pitchFamily="49" charset="0"/>
              </a:rPr>
              <a:t>} </a:t>
            </a:r>
            <a:r>
              <a:rPr lang="en-GB" altLang="zh-CN" sz="1600" dirty="0">
                <a:solidFill>
                  <a:srgbClr val="3F7F5F"/>
                </a:solidFill>
                <a:latin typeface="Menlo" panose="020B0609030804020204" pitchFamily="49" charset="0"/>
              </a:rPr>
              <a:t>// end class Addition</a:t>
            </a:r>
            <a:endParaRPr lang="en-GB" altLang="zh-CN" sz="1600" dirty="0">
              <a:solidFill>
                <a:srgbClr val="3F7F5F"/>
              </a:solidFill>
              <a:effectLst/>
              <a:latin typeface="Menlo" panose="020B0609030804020204" pitchFamily="49" charset="0"/>
            </a:endParaRPr>
          </a:p>
        </p:txBody>
      </p:sp>
      <p:sp>
        <p:nvSpPr>
          <p:cNvPr id="5" name="矩形 4"/>
          <p:cNvSpPr/>
          <p:nvPr/>
        </p:nvSpPr>
        <p:spPr>
          <a:xfrm>
            <a:off x="467544" y="332656"/>
            <a:ext cx="877163" cy="369332"/>
          </a:xfrm>
          <a:prstGeom prst="rect">
            <a:avLst/>
          </a:prstGeom>
        </p:spPr>
        <p:txBody>
          <a:bodyPr wrap="none">
            <a:spAutoFit/>
          </a:bodyPr>
          <a:lstStyle/>
          <a:p>
            <a:r>
              <a:rPr lang="zh-CN" altLang="en-US" dirty="0">
                <a:solidFill>
                  <a:srgbClr val="FF0066"/>
                </a:solidFill>
                <a:ea typeface="华文琥珀" panose="02010800040101010101" pitchFamily="2" charset="-122"/>
              </a:rPr>
              <a:t>输入：</a:t>
            </a:r>
            <a:endParaRPr lang="zh-CN" altLang="en-US" dirty="0"/>
          </a:p>
        </p:txBody>
      </p:sp>
      <p:cxnSp>
        <p:nvCxnSpPr>
          <p:cNvPr id="6" name="直线连接符 5"/>
          <p:cNvCxnSpPr/>
          <p:nvPr/>
        </p:nvCxnSpPr>
        <p:spPr bwMode="auto">
          <a:xfrm>
            <a:off x="971600" y="3429000"/>
            <a:ext cx="4968552" cy="0"/>
          </a:xfrm>
          <a:prstGeom prst="line">
            <a:avLst/>
          </a:prstGeom>
          <a:solidFill>
            <a:schemeClr val="accent1"/>
          </a:solidFill>
          <a:ln w="38100" cap="flat" cmpd="sng" algn="ctr">
            <a:solidFill>
              <a:srgbClr val="FF0066"/>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线连接符 6"/>
          <p:cNvCxnSpPr/>
          <p:nvPr/>
        </p:nvCxnSpPr>
        <p:spPr bwMode="auto">
          <a:xfrm>
            <a:off x="1043608" y="3933056"/>
            <a:ext cx="4968552" cy="0"/>
          </a:xfrm>
          <a:prstGeom prst="line">
            <a:avLst/>
          </a:prstGeom>
          <a:solidFill>
            <a:schemeClr val="accent1"/>
          </a:solidFill>
          <a:ln w="38100" cap="flat" cmpd="sng" algn="ctr">
            <a:solidFill>
              <a:srgbClr val="FF0066"/>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custDataLst>
              <p:tags r:id="rId1"/>
            </p:custDataLst>
          </p:nvPr>
        </p:nvPicPr>
        <p:blipFill>
          <a:blip r:embed="rId3"/>
          <a:stretch>
            <a:fillRect/>
          </a:stretch>
        </p:blipFill>
        <p:spPr>
          <a:xfrm>
            <a:off x="971550" y="116840"/>
            <a:ext cx="7320280" cy="66484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1.8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编程规范</a:t>
            </a:r>
          </a:p>
        </p:txBody>
      </p:sp>
      <p:sp>
        <p:nvSpPr>
          <p:cNvPr id="51203" name="Rectangle 3"/>
          <p:cNvSpPr>
            <a:spLocks noGrp="1" noChangeArrowheads="1"/>
          </p:cNvSpPr>
          <p:nvPr>
            <p:ph type="body" idx="1"/>
          </p:nvPr>
        </p:nvSpPr>
        <p:spPr>
          <a:xfrm>
            <a:off x="468313" y="1196975"/>
            <a:ext cx="8229600" cy="5373688"/>
          </a:xfrm>
        </p:spPr>
        <p:txBody>
          <a:bodyPr/>
          <a:lstStyle/>
          <a:p>
            <a:pPr eaLnBrk="1" hangingPunct="1">
              <a:buFont typeface="Arial" panose="020B0604020202090204" pitchFamily="34" charset="0"/>
              <a:buChar char="•"/>
            </a:pPr>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包名</a:t>
            </a:r>
            <a:r>
              <a:rPr lang="zh-CN" altLang="en-US" sz="2000" b="1" baseline="0" dirty="0">
                <a:latin typeface="Times New Roman" panose="02020503050405090304" pitchFamily="18" charset="0"/>
                <a:ea typeface="楷体-简" panose="02010600040101010101" pitchFamily="2" charset="-122"/>
              </a:rPr>
              <a:t>：包名是全小写的名词，中间可以由点分隔开，例如：</a:t>
            </a:r>
            <a:r>
              <a:rPr lang="en-US" altLang="zh-CN" sz="2000" b="1" baseline="0" dirty="0" err="1">
                <a:latin typeface="Times New Roman" panose="02020503050405090304" pitchFamily="18" charset="0"/>
                <a:ea typeface="楷体-简" panose="02010600040101010101" pitchFamily="2" charset="-122"/>
              </a:rPr>
              <a:t>java.awt.event</a:t>
            </a:r>
            <a:r>
              <a:rPr lang="en-US" altLang="zh-CN" sz="2000" b="1" baseline="0" dirty="0">
                <a:latin typeface="Times New Roman" panose="02020503050405090304" pitchFamily="18" charset="0"/>
                <a:ea typeface="楷体-简" panose="02010600040101010101" pitchFamily="2" charset="-122"/>
              </a:rPr>
              <a:t>;</a:t>
            </a:r>
            <a:br>
              <a:rPr lang="en-US" altLang="zh-CN" sz="2000" b="1" baseline="0" dirty="0">
                <a:latin typeface="Times New Roman" panose="02020503050405090304" pitchFamily="18" charset="0"/>
                <a:ea typeface="楷体-简" panose="02010600040101010101" pitchFamily="2" charset="-122"/>
              </a:rPr>
            </a:br>
            <a:endParaRPr lang="en-US" altLang="zh-CN" sz="2000" b="1" baseline="0" dirty="0">
              <a:latin typeface="Times New Roman" panose="02020503050405090304" pitchFamily="18" charset="0"/>
              <a:ea typeface="楷体-简" panose="02010600040101010101" pitchFamily="2" charset="-122"/>
            </a:endParaRPr>
          </a:p>
          <a:p>
            <a:pPr eaLnBrk="1" hangingPunct="1"/>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类名</a:t>
            </a:r>
            <a:r>
              <a:rPr lang="zh-CN" altLang="en-US" sz="2000" b="1" baseline="0" dirty="0">
                <a:latin typeface="Times New Roman" panose="02020503050405090304" pitchFamily="18" charset="0"/>
                <a:ea typeface="楷体-简" panose="02010600040101010101" pitchFamily="2" charset="-122"/>
              </a:rPr>
              <a:t>：首字母大写，通常由多个单词合成一个类名，要求每个单词的首字母也要大写，例如 </a:t>
            </a:r>
            <a:r>
              <a:rPr lang="en-US" altLang="zh-CN" sz="2000" b="1" baseline="0" dirty="0" err="1">
                <a:latin typeface="Times New Roman" panose="02020503050405090304" pitchFamily="18" charset="0"/>
                <a:ea typeface="楷体-简" panose="02010600040101010101" pitchFamily="2" charset="-122"/>
              </a:rPr>
              <a:t>HelloWorldApp</a:t>
            </a:r>
            <a:r>
              <a:rPr lang="en-US" altLang="zh-CN" sz="2000" b="1" baseline="0" dirty="0">
                <a:latin typeface="Times New Roman" panose="02020503050405090304" pitchFamily="18" charset="0"/>
                <a:ea typeface="楷体-简" panose="02010600040101010101" pitchFamily="2" charset="-122"/>
              </a:rPr>
              <a:t>;</a:t>
            </a:r>
            <a:br>
              <a:rPr lang="en-US" altLang="zh-CN" sz="2000" b="1" baseline="0" dirty="0">
                <a:latin typeface="Times New Roman" panose="02020503050405090304" pitchFamily="18" charset="0"/>
                <a:ea typeface="楷体-简" panose="02010600040101010101" pitchFamily="2" charset="-122"/>
              </a:rPr>
            </a:br>
            <a:endParaRPr lang="en-US" altLang="zh-CN" sz="2000" b="1" baseline="0" dirty="0">
              <a:latin typeface="Times New Roman" panose="02020503050405090304" pitchFamily="18" charset="0"/>
              <a:ea typeface="楷体-简" panose="02010600040101010101" pitchFamily="2" charset="-122"/>
            </a:endParaRPr>
          </a:p>
          <a:p>
            <a:pPr eaLnBrk="1" hangingPunct="1"/>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接口名</a:t>
            </a:r>
            <a:r>
              <a:rPr lang="zh-CN" altLang="en-US" sz="2000" b="1" baseline="0" dirty="0">
                <a:latin typeface="Times New Roman" panose="02020503050405090304" pitchFamily="18" charset="0"/>
                <a:ea typeface="楷体-简" panose="02010600040101010101" pitchFamily="2" charset="-122"/>
              </a:rPr>
              <a:t>：命名规则与类名相同，例如</a:t>
            </a:r>
            <a:r>
              <a:rPr lang="en-US" altLang="zh-CN" sz="2000" b="1" baseline="0" dirty="0">
                <a:latin typeface="Times New Roman" panose="02020503050405090304" pitchFamily="18" charset="0"/>
                <a:ea typeface="楷体-简" panose="02010600040101010101" pitchFamily="2" charset="-122"/>
              </a:rPr>
              <a:t>interface Collection;</a:t>
            </a:r>
            <a:r>
              <a:rPr lang="zh-CN" altLang="en-US" sz="2000" b="1" baseline="0" dirty="0">
                <a:latin typeface="Times New Roman" panose="02020503050405090304" pitchFamily="18" charset="0"/>
                <a:ea typeface="楷体-简" panose="02010600040101010101" pitchFamily="2" charset="-122"/>
              </a:rPr>
              <a:t>　　</a:t>
            </a:r>
          </a:p>
          <a:p>
            <a:pPr eaLnBrk="1" hangingPunct="1"/>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方法名</a:t>
            </a:r>
            <a:r>
              <a:rPr lang="zh-CN" altLang="en-US" sz="2000" b="1" baseline="0" dirty="0">
                <a:latin typeface="Times New Roman" panose="02020503050405090304" pitchFamily="18" charset="0"/>
                <a:ea typeface="楷体-简" panose="02010600040101010101" pitchFamily="2" charset="-122"/>
              </a:rPr>
              <a:t>：往往由多个单词合成，第一个单词通常为动词，首字母小写，中间的每个单词的首字母都要大写，例如：</a:t>
            </a:r>
            <a:r>
              <a:rPr lang="en-US" altLang="zh-CN" sz="2000" b="1" baseline="0" dirty="0" err="1">
                <a:latin typeface="Times New Roman" panose="02020503050405090304" pitchFamily="18" charset="0"/>
                <a:ea typeface="楷体-简" panose="02010600040101010101" pitchFamily="2" charset="-122"/>
              </a:rPr>
              <a:t>balanceAccount</a:t>
            </a:r>
            <a:r>
              <a:rPr lang="zh-CN" altLang="en-US" sz="2000" b="1" baseline="0" dirty="0">
                <a:latin typeface="Times New Roman" panose="02020503050405090304" pitchFamily="18" charset="0"/>
                <a:ea typeface="楷体-简" panose="02010600040101010101" pitchFamily="2" charset="-122"/>
              </a:rPr>
              <a:t>，　</a:t>
            </a:r>
            <a:r>
              <a:rPr lang="en-US" altLang="zh-CN" sz="2000" b="1" baseline="0" dirty="0" err="1">
                <a:latin typeface="Times New Roman" panose="02020503050405090304" pitchFamily="18" charset="0"/>
                <a:ea typeface="楷体-简" panose="02010600040101010101" pitchFamily="2" charset="-122"/>
              </a:rPr>
              <a:t>isButtonPressed</a:t>
            </a:r>
            <a:r>
              <a:rPr lang="en-US" altLang="zh-CN" sz="2000" b="1" baseline="0" dirty="0">
                <a:latin typeface="Times New Roman" panose="02020503050405090304" pitchFamily="18" charset="0"/>
                <a:ea typeface="楷体-简" panose="02010600040101010101" pitchFamily="2" charset="-122"/>
              </a:rPr>
              <a:t>;</a:t>
            </a:r>
          </a:p>
          <a:p>
            <a:pPr eaLnBrk="1" hangingPunct="1"/>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变量名</a:t>
            </a:r>
            <a:r>
              <a:rPr lang="zh-CN" altLang="en-US" sz="2000" b="1" baseline="0" dirty="0">
                <a:latin typeface="Times New Roman" panose="02020503050405090304" pitchFamily="18" charset="0"/>
                <a:ea typeface="楷体-简" panose="02010600040101010101" pitchFamily="2" charset="-122"/>
              </a:rPr>
              <a:t>：全小写，一般为名词，例如：</a:t>
            </a:r>
            <a:r>
              <a:rPr lang="en-US" altLang="zh-CN" sz="2000" b="1" baseline="0" dirty="0">
                <a:latin typeface="Times New Roman" panose="02020503050405090304" pitchFamily="18" charset="0"/>
                <a:ea typeface="楷体-简" panose="02010600040101010101" pitchFamily="2" charset="-122"/>
              </a:rPr>
              <a:t>length;</a:t>
            </a:r>
          </a:p>
          <a:p>
            <a:pPr eaLnBrk="1" hangingPunct="1"/>
            <a:r>
              <a:rPr lang="zh-CN" altLang="en-US" sz="2000" b="1" baseline="0" dirty="0">
                <a:solidFill>
                  <a:srgbClr val="7030A0"/>
                </a:solidFill>
                <a:effectLst>
                  <a:outerShdw blurRad="38100" dist="38100" dir="2700000" algn="tl">
                    <a:srgbClr val="000000">
                      <a:alpha val="43137"/>
                    </a:srgbClr>
                  </a:outerShdw>
                </a:effectLst>
                <a:latin typeface="Times New Roman" panose="02020503050405090304" pitchFamily="18" charset="0"/>
                <a:ea typeface="楷体-简" panose="02010600040101010101" pitchFamily="2" charset="-122"/>
              </a:rPr>
              <a:t>常量名</a:t>
            </a:r>
            <a:r>
              <a:rPr lang="zh-CN" altLang="en-US" sz="2000" b="1" baseline="0" dirty="0">
                <a:latin typeface="Times New Roman" panose="02020503050405090304" pitchFamily="18" charset="0"/>
                <a:ea typeface="楷体-简" panose="02010600040101010101" pitchFamily="2" charset="-122"/>
              </a:rPr>
              <a:t>：基本数据类型的常量名为全大写，如果是由多个单词构成，可以用下划线隔开，例如：</a:t>
            </a:r>
          </a:p>
          <a:p>
            <a:pPr marL="609600" indent="-609600" eaLnBrk="1" hangingPunct="1">
              <a:buFontTx/>
              <a:buNone/>
            </a:pPr>
            <a:r>
              <a:rPr lang="zh-CN" altLang="en-US" sz="2000" b="1" baseline="0" dirty="0">
                <a:latin typeface="Times New Roman" panose="02020503050405090304" pitchFamily="18" charset="0"/>
                <a:ea typeface="楷体-简" panose="02010600040101010101" pitchFamily="2" charset="-122"/>
              </a:rPr>
              <a:t>         </a:t>
            </a:r>
            <a:r>
              <a:rPr lang="en-US" altLang="zh-CN" sz="2000" b="1" baseline="0" dirty="0" err="1">
                <a:latin typeface="Times New Roman" panose="02020503050405090304" pitchFamily="18" charset="0"/>
                <a:ea typeface="楷体-简" panose="02010600040101010101" pitchFamily="2" charset="-122"/>
              </a:rPr>
              <a:t>int</a:t>
            </a:r>
            <a:r>
              <a:rPr lang="en-US" altLang="zh-CN" sz="2000" b="1" baseline="0" dirty="0">
                <a:latin typeface="Times New Roman" panose="02020503050405090304" pitchFamily="18" charset="0"/>
                <a:ea typeface="楷体-简" panose="02010600040101010101" pitchFamily="2" charset="-122"/>
              </a:rPr>
              <a:t> </a:t>
            </a:r>
            <a:r>
              <a:rPr lang="en-US" altLang="zh-CN" sz="2000" b="1" baseline="0" dirty="0" err="1">
                <a:latin typeface="Times New Roman" panose="02020503050405090304" pitchFamily="18" charset="0"/>
                <a:ea typeface="楷体-简" panose="02010600040101010101" pitchFamily="2" charset="-122"/>
              </a:rPr>
              <a:t>YEAR,int</a:t>
            </a:r>
            <a:r>
              <a:rPr lang="en-US" altLang="zh-CN" sz="2000" b="1" baseline="0" dirty="0">
                <a:latin typeface="Times New Roman" panose="02020503050405090304" pitchFamily="18" charset="0"/>
                <a:ea typeface="楷体-简" panose="02010600040101010101" pitchFamily="2" charset="-122"/>
              </a:rPr>
              <a:t> WEEK_OF_MONTH</a:t>
            </a:r>
            <a:r>
              <a:rPr lang="zh-CN" altLang="en-US" sz="2000" b="1" baseline="0" dirty="0">
                <a:latin typeface="Times New Roman" panose="02020503050405090304" pitchFamily="18" charset="0"/>
                <a:ea typeface="楷体-简" panose="02010600040101010101" pitchFamily="2" charset="-122"/>
              </a:rPr>
              <a:t>；如果是对象类型的常量，则是大小写混合，由大写字母把单词隔开。</a:t>
            </a:r>
            <a:endParaRPr lang="en-US" altLang="zh-CN" sz="2000" b="1" baseline="0" dirty="0">
              <a:latin typeface="Times New Roman" panose="02020503050405090304" pitchFamily="18" charset="0"/>
              <a:ea typeface="楷体-简" panose="02010600040101010101" pitchFamily="2" charset="-122"/>
            </a:endParaRPr>
          </a:p>
          <a:p>
            <a:pPr marL="609600" indent="-609600" eaLnBrk="1" hangingPunct="1">
              <a:buFontTx/>
              <a:buNone/>
            </a:pPr>
            <a:r>
              <a:rPr lang="zh-CN" altLang="en-US" sz="2000" b="1" baseline="0" dirty="0">
                <a:solidFill>
                  <a:srgbClr val="FF0000"/>
                </a:solidFill>
                <a:latin typeface="Times New Roman" panose="02020503050405090304" pitchFamily="18" charset="0"/>
                <a:ea typeface="楷体-简" panose="02010600040101010101" pitchFamily="2" charset="-122"/>
              </a:rPr>
              <a:t>扩展阅读：</a:t>
            </a:r>
            <a:r>
              <a:rPr lang="en-US" altLang="zh-CN" sz="2000" b="1" baseline="0" dirty="0">
                <a:solidFill>
                  <a:srgbClr val="FF0000"/>
                </a:solidFill>
                <a:latin typeface="Times New Roman" panose="02020503050405090304" pitchFamily="18" charset="0"/>
                <a:ea typeface="楷体-简" panose="02010600040101010101" pitchFamily="2" charset="-122"/>
              </a:rPr>
              <a:t>《</a:t>
            </a:r>
            <a:r>
              <a:rPr lang="zh-CN" altLang="en-US" sz="2000" b="1" baseline="0" dirty="0">
                <a:solidFill>
                  <a:srgbClr val="FF0000"/>
                </a:solidFill>
                <a:latin typeface="Times New Roman" panose="02020503050405090304" pitchFamily="18" charset="0"/>
                <a:ea typeface="楷体-简" panose="02010600040101010101" pitchFamily="2" charset="-122"/>
              </a:rPr>
              <a:t>阿里巴巴</a:t>
            </a:r>
            <a:r>
              <a:rPr lang="en-US" altLang="zh-CN" sz="2000" b="1" baseline="0" dirty="0">
                <a:solidFill>
                  <a:srgbClr val="FF0000"/>
                </a:solidFill>
                <a:latin typeface="Times New Roman" panose="02020503050405090304" pitchFamily="18" charset="0"/>
                <a:ea typeface="楷体-简" panose="02010600040101010101" pitchFamily="2" charset="-122"/>
              </a:rPr>
              <a:t>Java</a:t>
            </a:r>
            <a:r>
              <a:rPr lang="zh-CN" altLang="en-US" sz="2000" b="1" baseline="0" dirty="0">
                <a:solidFill>
                  <a:srgbClr val="FF0000"/>
                </a:solidFill>
                <a:latin typeface="Times New Roman" panose="02020503050405090304" pitchFamily="18" charset="0"/>
                <a:ea typeface="楷体-简" panose="02010600040101010101" pitchFamily="2" charset="-122"/>
              </a:rPr>
              <a:t>开发手册（详尽版）</a:t>
            </a:r>
            <a:r>
              <a:rPr lang="en-US" altLang="zh-CN" sz="2000" b="1" baseline="0" dirty="0">
                <a:solidFill>
                  <a:srgbClr val="FF0000"/>
                </a:solidFill>
                <a:latin typeface="Times New Roman" panose="02020503050405090304" pitchFamily="18" charset="0"/>
                <a:ea typeface="楷体-简" panose="02010600040101010101" pitchFamily="2" charset="-122"/>
              </a:rPr>
              <a:t>.pdf》</a:t>
            </a:r>
            <a:br>
              <a:rPr lang="zh-CN" altLang="en-US" sz="2000" b="1" baseline="0" dirty="0">
                <a:solidFill>
                  <a:srgbClr val="FF0000"/>
                </a:solidFill>
                <a:latin typeface="Times New Roman" panose="02020503050405090304" pitchFamily="18" charset="0"/>
                <a:ea typeface="楷体-简" panose="02010600040101010101" pitchFamily="2" charset="-122"/>
              </a:rPr>
            </a:br>
            <a:endParaRPr lang="zh-CN" altLang="en-US" sz="2000" b="1" baseline="0" dirty="0">
              <a:solidFill>
                <a:srgbClr val="FF0000"/>
              </a:solidFill>
              <a:latin typeface="Times New Roman" panose="02020503050405090304" pitchFamily="18" charset="0"/>
              <a:ea typeface="楷体-简"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274638"/>
            <a:ext cx="8229600" cy="9223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eaLnBrk="1" hangingPunct="1"/>
            <a:r>
              <a:rPr lang="en-US" altLang="zh-CN"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1.9  Java </a:t>
            </a:r>
            <a:r>
              <a:rPr lang="zh-CN" altLang="en-US" sz="4000" baseline="0" dirty="0">
                <a:solidFill>
                  <a:srgbClr val="FF0066"/>
                </a:solidFill>
                <a:latin typeface="Times New Roman" panose="02020503050405090304" pitchFamily="18" charset="0"/>
                <a:ea typeface="楷体-简" panose="02010600040101010101" pitchFamily="2" charset="-122"/>
                <a:cs typeface="Kaiti SC Regular" panose="02010600040101010101" charset="-122"/>
              </a:rPr>
              <a:t>应用程序与小应用程序</a:t>
            </a:r>
          </a:p>
        </p:txBody>
      </p:sp>
      <p:sp>
        <p:nvSpPr>
          <p:cNvPr id="372739" name="Rectangle 3"/>
          <p:cNvSpPr>
            <a:spLocks noGrp="1" noChangeArrowheads="1"/>
          </p:cNvSpPr>
          <p:nvPr>
            <p:ph type="body" idx="1"/>
          </p:nvPr>
        </p:nvSpPr>
        <p:spPr/>
        <p:txBody>
          <a:bodyPr/>
          <a:lstStyle/>
          <a:p>
            <a:pPr marL="609600" indent="-609600" eaLnBrk="1" hangingPunct="1">
              <a:buFontTx/>
              <a:buNone/>
              <a:defRPr/>
            </a:pPr>
            <a:r>
              <a:rPr lang="en-US" altLang="zh-CN"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Java</a:t>
            </a:r>
            <a:r>
              <a:rPr lang="zh-CN" altLang="en-US"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应用程序</a:t>
            </a:r>
            <a:r>
              <a:rPr lang="en-US" altLang="zh-CN"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(Application)</a:t>
            </a:r>
            <a:r>
              <a:rPr lang="zh-CN" altLang="en-US" sz="2400" baseline="0">
                <a:effectLst>
                  <a:outerShdw blurRad="38100" dist="38100" dir="2700000" algn="tl">
                    <a:srgbClr val="C0C0C0"/>
                  </a:outerShdw>
                </a:effectLst>
                <a:latin typeface="Times New Roman" panose="02020503050405090304" pitchFamily="18" charset="0"/>
                <a:ea typeface="楷体-简" panose="02010600040101010101" pitchFamily="2" charset="-122"/>
              </a:rPr>
              <a:t>：是一个完整的应用程序，可以独立地运行。</a:t>
            </a:r>
            <a:r>
              <a:rPr lang="zh-CN" altLang="en-US" sz="2400" baseline="0">
                <a:latin typeface="Times New Roman" panose="02020503050405090304" pitchFamily="18" charset="0"/>
                <a:ea typeface="楷体-简" panose="02010600040101010101" pitchFamily="2" charset="-122"/>
                <a:cs typeface="Tahoma" panose="020B0604030504040204" pitchFamily="34" charset="0"/>
              </a:rPr>
              <a:t> </a:t>
            </a:r>
          </a:p>
          <a:p>
            <a:pPr marL="609600" indent="-609600" eaLnBrk="1" hangingPunct="1">
              <a:buFontTx/>
              <a:buNone/>
              <a:defRPr/>
            </a:pPr>
            <a:endParaRPr lang="zh-CN" altLang="en-US" sz="2400" baseline="0">
              <a:latin typeface="Times New Roman" panose="02020503050405090304" pitchFamily="18" charset="0"/>
              <a:ea typeface="楷体-简" panose="02010600040101010101" pitchFamily="2" charset="-122"/>
              <a:cs typeface="Tahoma" panose="020B0604030504040204" pitchFamily="34" charset="0"/>
            </a:endParaRPr>
          </a:p>
          <a:p>
            <a:pPr marL="609600" indent="-609600" eaLnBrk="1" hangingPunct="1">
              <a:buFontTx/>
              <a:buNone/>
              <a:defRPr/>
            </a:pPr>
            <a:r>
              <a:rPr lang="en-US" altLang="zh-CN"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Java</a:t>
            </a:r>
            <a:r>
              <a:rPr lang="zh-CN" altLang="en-US"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小应用程序</a:t>
            </a:r>
            <a:r>
              <a:rPr lang="en-US" altLang="zh-CN" sz="2400" b="1" baseline="0">
                <a:solidFill>
                  <a:srgbClr val="0070C0"/>
                </a:solidFill>
                <a:effectLst>
                  <a:outerShdw blurRad="38100" dist="38100" dir="2700000" algn="tl">
                    <a:srgbClr val="C0C0C0"/>
                  </a:outerShdw>
                </a:effectLst>
                <a:latin typeface="Times New Roman" panose="02020503050405090304" pitchFamily="18" charset="0"/>
                <a:ea typeface="楷体-简" panose="02010600040101010101" pitchFamily="2" charset="-122"/>
              </a:rPr>
              <a:t>(Applet)</a:t>
            </a:r>
            <a:r>
              <a:rPr lang="zh-CN" altLang="en-US" sz="2400" baseline="0">
                <a:effectLst>
                  <a:outerShdw blurRad="38100" dist="38100" dir="2700000" algn="tl">
                    <a:srgbClr val="C0C0C0"/>
                  </a:outerShdw>
                </a:effectLst>
                <a:latin typeface="Times New Roman" panose="02020503050405090304" pitchFamily="18" charset="0"/>
                <a:ea typeface="楷体-简" panose="02010600040101010101" pitchFamily="2" charset="-122"/>
              </a:rPr>
              <a:t>：不是一个完整的应用程序，而是框架程序中的一个模块，所以只能在</a:t>
            </a:r>
            <a:r>
              <a:rPr lang="en-US" altLang="zh-CN" sz="2400" baseline="0">
                <a:effectLst>
                  <a:outerShdw blurRad="38100" dist="38100" dir="2700000" algn="tl">
                    <a:srgbClr val="C0C0C0"/>
                  </a:outerShdw>
                </a:effectLst>
                <a:latin typeface="Times New Roman" panose="02020503050405090304" pitchFamily="18" charset="0"/>
                <a:ea typeface="楷体-简" panose="02010600040101010101" pitchFamily="2" charset="-122"/>
              </a:rPr>
              <a:t>WWW </a:t>
            </a:r>
            <a:r>
              <a:rPr lang="zh-CN" altLang="en-US" sz="2400" baseline="0">
                <a:effectLst>
                  <a:outerShdw blurRad="38100" dist="38100" dir="2700000" algn="tl">
                    <a:srgbClr val="C0C0C0"/>
                  </a:outerShdw>
                </a:effectLst>
                <a:latin typeface="Times New Roman" panose="02020503050405090304" pitchFamily="18" charset="0"/>
                <a:ea typeface="楷体-简" panose="02010600040101010101" pitchFamily="2" charset="-122"/>
              </a:rPr>
              <a:t>浏览器环境下运行。</a:t>
            </a:r>
            <a:endParaRPr lang="en-US" altLang="zh-CN" sz="2800" baseline="0">
              <a:effectLst>
                <a:outerShdw blurRad="38100" dist="38100" dir="2700000" algn="tl">
                  <a:srgbClr val="C0C0C0"/>
                </a:outerShdw>
              </a:effectLst>
              <a:latin typeface="Times New Roman" panose="02020503050405090304" pitchFamily="18" charset="0"/>
              <a:ea typeface="楷体-简"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noChangeArrowheads="1"/>
          </p:cNvSpPr>
          <p:nvPr>
            <p:ph type="body" idx="1"/>
          </p:nvPr>
        </p:nvSpPr>
        <p:spPr>
          <a:xfrm>
            <a:off x="457200" y="5765800"/>
            <a:ext cx="8229600" cy="360363"/>
          </a:xfrm>
        </p:spPr>
        <p:txBody>
          <a:bodyPr/>
          <a:lstStyle/>
          <a:p>
            <a:pPr marL="609600" indent="-609600" algn="ctr" eaLnBrk="1" hangingPunct="1">
              <a:spcBef>
                <a:spcPct val="50000"/>
              </a:spcBef>
              <a:buFontTx/>
              <a:buNone/>
              <a:defRPr/>
            </a:pPr>
            <a:r>
              <a:rPr lang="zh-CN" altLang="en-US" sz="2400" baseline="0" dirty="0">
                <a:latin typeface="Times New Roman" panose="02020503050405090304" pitchFamily="18" charset="0"/>
                <a:ea typeface="楷体-简" panose="02010600040101010101" pitchFamily="2" charset="-122"/>
              </a:rPr>
              <a:t>图</a:t>
            </a:r>
            <a:r>
              <a:rPr lang="en-US" altLang="zh-CN" sz="2400" baseline="0" dirty="0">
                <a:latin typeface="Times New Roman" panose="02020503050405090304" pitchFamily="18" charset="0"/>
                <a:ea typeface="楷体-简" panose="02010600040101010101" pitchFamily="2" charset="-122"/>
              </a:rPr>
              <a:t>:Java</a:t>
            </a:r>
            <a:r>
              <a:rPr lang="zh-CN" altLang="en-US" sz="2400" baseline="0" dirty="0">
                <a:latin typeface="Times New Roman" panose="02020503050405090304" pitchFamily="18" charset="0"/>
                <a:ea typeface="楷体-简" panose="02010600040101010101" pitchFamily="2" charset="-122"/>
              </a:rPr>
              <a:t>程序的开发流程简单示意</a:t>
            </a:r>
          </a:p>
          <a:p>
            <a:pPr marL="609600" indent="-609600" eaLnBrk="1" hangingPunct="1">
              <a:lnSpc>
                <a:spcPct val="110000"/>
              </a:lnSpc>
              <a:buClr>
                <a:srgbClr val="FF0000"/>
              </a:buClr>
              <a:buFont typeface="Monotype Sorts" pitchFamily="2" charset="2"/>
              <a:buNone/>
              <a:defRPr/>
            </a:pPr>
            <a:endParaRPr lang="en-US" altLang="zh-CN" sz="2400" b="1" baseline="0" dirty="0">
              <a:effectLst>
                <a:outerShdw blurRad="38100" dist="38100" dir="2700000" algn="tl">
                  <a:srgbClr val="C0C0C0"/>
                </a:outerShdw>
              </a:effectLst>
              <a:latin typeface="Times New Roman" panose="02020503050405090304" pitchFamily="18" charset="0"/>
              <a:ea typeface="楷体-简" panose="02010600040101010101" pitchFamily="2" charset="-122"/>
            </a:endParaRPr>
          </a:p>
        </p:txBody>
      </p:sp>
      <p:sp>
        <p:nvSpPr>
          <p:cNvPr id="53251" name="Text Box 9"/>
          <p:cNvSpPr txBox="1">
            <a:spLocks noChangeArrowheads="1"/>
          </p:cNvSpPr>
          <p:nvPr/>
        </p:nvSpPr>
        <p:spPr bwMode="auto">
          <a:xfrm>
            <a:off x="3708400" y="3716338"/>
            <a:ext cx="2232025" cy="711200"/>
          </a:xfrm>
          <a:prstGeom prst="rect">
            <a:avLst/>
          </a:prstGeom>
          <a:noFill/>
          <a:ln w="9525">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由</a:t>
            </a:r>
            <a:r>
              <a:rPr kumimoji="1" lang="en-US" altLang="zh-CN" sz="2000" b="1">
                <a:latin typeface="Times New Roman" panose="02020503050405090304" pitchFamily="18" charset="0"/>
              </a:rPr>
              <a:t>Java</a:t>
            </a:r>
            <a:r>
              <a:rPr kumimoji="1" lang="zh-CN" altLang="en-US" sz="2000" b="1">
                <a:latin typeface="Times New Roman" panose="02020503050405090304" pitchFamily="18" charset="0"/>
              </a:rPr>
              <a:t>解释器器执行</a:t>
            </a:r>
          </a:p>
        </p:txBody>
      </p:sp>
      <p:sp>
        <p:nvSpPr>
          <p:cNvPr id="53252" name="Line 13"/>
          <p:cNvSpPr>
            <a:spLocks noChangeShapeType="1"/>
          </p:cNvSpPr>
          <p:nvPr/>
        </p:nvSpPr>
        <p:spPr bwMode="auto">
          <a:xfrm>
            <a:off x="4787900" y="2852738"/>
            <a:ext cx="0" cy="744537"/>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3253" name="Group 19"/>
          <p:cNvGrpSpPr/>
          <p:nvPr/>
        </p:nvGrpSpPr>
        <p:grpSpPr bwMode="auto">
          <a:xfrm>
            <a:off x="1042988" y="981075"/>
            <a:ext cx="7369175" cy="2384425"/>
            <a:chOff x="521" y="1434"/>
            <a:chExt cx="4642" cy="1502"/>
          </a:xfrm>
        </p:grpSpPr>
        <p:sp>
          <p:nvSpPr>
            <p:cNvPr id="53254" name="Text Box 5"/>
            <p:cNvSpPr txBox="1">
              <a:spLocks noChangeArrowheads="1"/>
            </p:cNvSpPr>
            <p:nvPr/>
          </p:nvSpPr>
          <p:spPr bwMode="auto">
            <a:xfrm>
              <a:off x="521" y="1434"/>
              <a:ext cx="318" cy="1138"/>
            </a:xfrm>
            <a:prstGeom prst="rect">
              <a:avLst/>
            </a:prstGeom>
            <a:noFill/>
            <a:ln w="9525">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Clr>
                  <a:schemeClr val="folHlink"/>
                </a:buClr>
                <a:buSzPct val="60000"/>
                <a:buFont typeface="Wingdings" panose="05000000000000000000" pitchFamily="2" charset="2"/>
                <a:buNone/>
              </a:pPr>
              <a:endParaRPr kumimoji="1" lang="en-US" altLang="zh-CN" sz="2000" b="1">
                <a:latin typeface="Times New Roman" panose="02020503050405090304" pitchFamily="18" charset="0"/>
              </a:endParaRP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源</a:t>
              </a: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文</a:t>
              </a: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件</a:t>
              </a:r>
            </a:p>
            <a:p>
              <a:pPr eaLnBrk="1" hangingPunct="1">
                <a:spcBef>
                  <a:spcPct val="0"/>
                </a:spcBef>
                <a:buClr>
                  <a:schemeClr val="folHlink"/>
                </a:buClr>
                <a:buSzPct val="60000"/>
                <a:buFont typeface="Wingdings" panose="05000000000000000000" pitchFamily="2" charset="2"/>
                <a:buNone/>
              </a:pPr>
              <a:endParaRPr kumimoji="1" lang="en-US" altLang="zh-CN" sz="2000" b="1">
                <a:latin typeface="Times New Roman" panose="02020503050405090304" pitchFamily="18" charset="0"/>
              </a:endParaRPr>
            </a:p>
          </p:txBody>
        </p:sp>
        <p:sp>
          <p:nvSpPr>
            <p:cNvPr id="53255" name="Text Box 6"/>
            <p:cNvSpPr txBox="1">
              <a:spLocks noChangeArrowheads="1"/>
            </p:cNvSpPr>
            <p:nvPr/>
          </p:nvSpPr>
          <p:spPr bwMode="auto">
            <a:xfrm>
              <a:off x="1610" y="1460"/>
              <a:ext cx="318" cy="1100"/>
            </a:xfrm>
            <a:prstGeom prst="rect">
              <a:avLst/>
            </a:prstGeom>
            <a:noFill/>
            <a:ln w="9525">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Clr>
                  <a:schemeClr val="folHlink"/>
                </a:buClr>
                <a:buSzPct val="60000"/>
                <a:buFont typeface="Wingdings" panose="05000000000000000000" pitchFamily="2" charset="2"/>
                <a:buNone/>
              </a:pPr>
              <a:endParaRPr kumimoji="1" lang="en-US" altLang="zh-CN" sz="1800" b="1">
                <a:latin typeface="Times New Roman" panose="02020503050405090304" pitchFamily="18" charset="0"/>
              </a:endParaRP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编</a:t>
              </a: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译</a:t>
              </a:r>
            </a:p>
            <a:p>
              <a:pPr eaLnBrk="1" hangingPunct="1">
                <a:spcBef>
                  <a:spcPct val="0"/>
                </a:spcBef>
                <a:buClr>
                  <a:schemeClr val="folHlink"/>
                </a:buClr>
                <a:buSzPct val="60000"/>
                <a:buFont typeface="Wingdings" panose="05000000000000000000" pitchFamily="2" charset="2"/>
                <a:buNone/>
              </a:pPr>
              <a:r>
                <a:rPr kumimoji="1" lang="zh-CN" altLang="en-US" sz="2400" b="1">
                  <a:latin typeface="Times New Roman" panose="02020503050405090304" pitchFamily="18" charset="0"/>
                </a:rPr>
                <a:t>器</a:t>
              </a:r>
              <a:r>
                <a:rPr kumimoji="1" lang="zh-CN" altLang="en-US" sz="1800" b="1">
                  <a:latin typeface="Times New Roman" panose="02020503050405090304" pitchFamily="18" charset="0"/>
                </a:rPr>
                <a:t> </a:t>
              </a:r>
            </a:p>
            <a:p>
              <a:pPr eaLnBrk="1" hangingPunct="1">
                <a:spcBef>
                  <a:spcPct val="0"/>
                </a:spcBef>
                <a:buClr>
                  <a:schemeClr val="folHlink"/>
                </a:buClr>
                <a:buSzPct val="60000"/>
                <a:buFont typeface="Wingdings" panose="05000000000000000000" pitchFamily="2" charset="2"/>
                <a:buNone/>
              </a:pPr>
              <a:endParaRPr kumimoji="1" lang="en-US" altLang="zh-CN" sz="1800" b="1">
                <a:latin typeface="Times New Roman" panose="02020503050405090304" pitchFamily="18" charset="0"/>
              </a:endParaRPr>
            </a:p>
          </p:txBody>
        </p:sp>
        <p:sp>
          <p:nvSpPr>
            <p:cNvPr id="53256" name="Text Box 7"/>
            <p:cNvSpPr txBox="1">
              <a:spLocks noChangeArrowheads="1"/>
            </p:cNvSpPr>
            <p:nvPr/>
          </p:nvSpPr>
          <p:spPr bwMode="auto">
            <a:xfrm>
              <a:off x="2705" y="1513"/>
              <a:ext cx="318" cy="1024"/>
            </a:xfrm>
            <a:prstGeom prst="rect">
              <a:avLst/>
            </a:prstGeom>
            <a:noFill/>
            <a:ln w="9525">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字</a:t>
              </a:r>
            </a:p>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节</a:t>
              </a:r>
            </a:p>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码</a:t>
              </a:r>
            </a:p>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文</a:t>
              </a:r>
            </a:p>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件</a:t>
              </a:r>
            </a:p>
          </p:txBody>
        </p:sp>
        <p:sp>
          <p:nvSpPr>
            <p:cNvPr id="53257" name="Text Box 8"/>
            <p:cNvSpPr txBox="1">
              <a:spLocks noChangeArrowheads="1"/>
            </p:cNvSpPr>
            <p:nvPr/>
          </p:nvSpPr>
          <p:spPr bwMode="auto">
            <a:xfrm>
              <a:off x="3802" y="1943"/>
              <a:ext cx="1361" cy="448"/>
            </a:xfrm>
            <a:prstGeom prst="rect">
              <a:avLst/>
            </a:prstGeom>
            <a:noFill/>
            <a:ln w="9525">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由</a:t>
              </a:r>
              <a:r>
                <a:rPr kumimoji="1" lang="en-US" altLang="zh-CN" sz="2000" b="1">
                  <a:latin typeface="Times New Roman" panose="02020503050405090304" pitchFamily="18" charset="0"/>
                </a:rPr>
                <a:t>Web</a:t>
              </a:r>
              <a:r>
                <a:rPr kumimoji="1" lang="zh-CN" altLang="en-US" sz="2000" b="1">
                  <a:latin typeface="Times New Roman" panose="02020503050405090304" pitchFamily="18" charset="0"/>
                </a:rPr>
                <a:t>浏览器执行</a:t>
              </a:r>
            </a:p>
          </p:txBody>
        </p:sp>
        <p:sp>
          <p:nvSpPr>
            <p:cNvPr id="53258" name="Line 10"/>
            <p:cNvSpPr>
              <a:spLocks noChangeShapeType="1"/>
            </p:cNvSpPr>
            <p:nvPr/>
          </p:nvSpPr>
          <p:spPr bwMode="auto">
            <a:xfrm>
              <a:off x="839" y="2059"/>
              <a:ext cx="771"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59" name="Line 11"/>
            <p:cNvSpPr>
              <a:spLocks noChangeShapeType="1"/>
            </p:cNvSpPr>
            <p:nvPr/>
          </p:nvSpPr>
          <p:spPr bwMode="auto">
            <a:xfrm>
              <a:off x="1928" y="2059"/>
              <a:ext cx="771"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0" name="Line 12"/>
            <p:cNvSpPr>
              <a:spLocks noChangeShapeType="1"/>
            </p:cNvSpPr>
            <p:nvPr/>
          </p:nvSpPr>
          <p:spPr bwMode="auto">
            <a:xfrm>
              <a:off x="3016" y="2059"/>
              <a:ext cx="771"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1" name="Text Box 14"/>
            <p:cNvSpPr txBox="1">
              <a:spLocks noChangeArrowheads="1"/>
            </p:cNvSpPr>
            <p:nvPr/>
          </p:nvSpPr>
          <p:spPr bwMode="auto">
            <a:xfrm>
              <a:off x="902" y="1486"/>
              <a:ext cx="63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文件名</a:t>
              </a:r>
            </a:p>
            <a:p>
              <a:pPr eaLnBrk="1" hangingPunct="1">
                <a:spcBef>
                  <a:spcPct val="0"/>
                </a:spcBef>
                <a:buClr>
                  <a:schemeClr val="folHlink"/>
                </a:buClr>
                <a:buSzPct val="60000"/>
                <a:buFont typeface="Wingdings" panose="05000000000000000000" pitchFamily="2" charset="2"/>
                <a:buNone/>
              </a:pPr>
              <a:r>
                <a:rPr kumimoji="1" lang="en-US" altLang="zh-CN" sz="2000" b="1">
                  <a:latin typeface="Times New Roman" panose="02020503050405090304" pitchFamily="18" charset="0"/>
                </a:rPr>
                <a:t>.java</a:t>
              </a:r>
            </a:p>
          </p:txBody>
        </p:sp>
        <p:sp>
          <p:nvSpPr>
            <p:cNvPr id="53262" name="Text Box 15"/>
            <p:cNvSpPr txBox="1">
              <a:spLocks noChangeArrowheads="1"/>
            </p:cNvSpPr>
            <p:nvPr/>
          </p:nvSpPr>
          <p:spPr bwMode="auto">
            <a:xfrm>
              <a:off x="2064" y="1642"/>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sz="1800" b="1">
                  <a:latin typeface="Times New Roman" panose="02020503050405090304" pitchFamily="18" charset="0"/>
                </a:rPr>
                <a:t>产生</a:t>
              </a:r>
            </a:p>
          </p:txBody>
        </p:sp>
        <p:sp>
          <p:nvSpPr>
            <p:cNvPr id="53263" name="Text Box 16"/>
            <p:cNvSpPr txBox="1">
              <a:spLocks noChangeArrowheads="1"/>
            </p:cNvSpPr>
            <p:nvPr/>
          </p:nvSpPr>
          <p:spPr bwMode="auto">
            <a:xfrm>
              <a:off x="3062" y="1434"/>
              <a:ext cx="99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小应用程序</a:t>
              </a:r>
            </a:p>
            <a:p>
              <a:pPr eaLnBrk="1" hangingPunct="1">
                <a:spcBef>
                  <a:spcPct val="0"/>
                </a:spcBef>
                <a:buClr>
                  <a:schemeClr val="folHlink"/>
                </a:buClr>
                <a:buSzPct val="60000"/>
                <a:buFont typeface="Wingdings" panose="05000000000000000000" pitchFamily="2" charset="2"/>
                <a:buNone/>
              </a:pPr>
              <a:r>
                <a:rPr kumimoji="1" lang="zh-CN" altLang="en-US" sz="2000" b="1">
                  <a:latin typeface="Times New Roman" panose="02020503050405090304" pitchFamily="18" charset="0"/>
                </a:rPr>
                <a:t>   </a:t>
              </a:r>
              <a:r>
                <a:rPr kumimoji="1" lang="en-US" altLang="zh-CN" sz="2000" b="1">
                  <a:latin typeface="Times New Roman" panose="02020503050405090304" pitchFamily="18" charset="0"/>
                </a:rPr>
                <a:t>(applet)</a:t>
              </a:r>
            </a:p>
          </p:txBody>
        </p:sp>
        <p:sp>
          <p:nvSpPr>
            <p:cNvPr id="53264" name="Text Box 17"/>
            <p:cNvSpPr txBox="1">
              <a:spLocks noChangeArrowheads="1"/>
            </p:cNvSpPr>
            <p:nvPr/>
          </p:nvSpPr>
          <p:spPr bwMode="auto">
            <a:xfrm>
              <a:off x="2880" y="2686"/>
              <a:ext cx="10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en-US" altLang="zh-CN" sz="2000" b="1">
                  <a:latin typeface="Times New Roman" panose="02020503050405090304" pitchFamily="18" charset="0"/>
                </a:rPr>
                <a:t>Java</a:t>
              </a:r>
              <a:r>
                <a:rPr kumimoji="1" lang="zh-CN" altLang="en-US" sz="2000" b="1">
                  <a:latin typeface="Times New Roman" panose="02020503050405090304" pitchFamily="18" charset="0"/>
                </a:rPr>
                <a:t>应用程序</a:t>
              </a:r>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4124</Words>
  <Application>Microsoft Macintosh PowerPoint</Application>
  <PresentationFormat>全屏显示(4:3)</PresentationFormat>
  <Paragraphs>291</Paragraphs>
  <Slides>42</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42</vt:i4>
      </vt:variant>
    </vt:vector>
  </HeadingPairs>
  <TitlesOfParts>
    <vt:vector size="55" baseType="lpstr">
      <vt:lpstr>华文琥珀</vt:lpstr>
      <vt:lpstr>微软雅黑</vt:lpstr>
      <vt:lpstr>幼圆</vt:lpstr>
      <vt:lpstr>Kaiti SC Regular</vt:lpstr>
      <vt:lpstr>Arial</vt:lpstr>
      <vt:lpstr>Arial Black</vt:lpstr>
      <vt:lpstr>Menlo</vt:lpstr>
      <vt:lpstr>Monotype Sorts</vt:lpstr>
      <vt:lpstr>Tahoma</vt:lpstr>
      <vt:lpstr>Times New Roman</vt:lpstr>
      <vt:lpstr>Verdana</vt:lpstr>
      <vt:lpstr>Wingdings</vt:lpstr>
      <vt:lpstr>默认设计模板</vt:lpstr>
      <vt:lpstr>第 一章  Java 简介 </vt:lpstr>
      <vt:lpstr>1.1 Java 的历史</vt:lpstr>
      <vt:lpstr>1.2 Java 的工作原理</vt:lpstr>
      <vt:lpstr>PowerPoint 演示文稿</vt:lpstr>
      <vt:lpstr>Java虚拟机是软件模拟的计算机，可以在任何处理器上（无论是在计算机中还是在其它电子设备中）安全并且兼容的执行.class文件中的字节码。java程序的跨平台主要是指字节码文件可以运行在任何具有java虚拟机的计算机或者电子设备上，java虚拟机中的解释器负责将字节码文件解释成为特定的机器码进行运行。</vt:lpstr>
      <vt:lpstr>JVM运行过程</vt:lpstr>
      <vt:lpstr>Java虚拟机的建立需要针对不同的软硬件平台做专门的实现，既要考虑处理器的型号，也要考虑操作系统的种类。如下图所示，目前在SPARC结构、X86结构、MIPS和PPC等嵌入式处理芯片上、在UNIX、Linux、windows和部分实时操作系统上都有java虚拟机的实现。</vt:lpstr>
      <vt:lpstr>一次编写，处处运行</vt:lpstr>
      <vt:lpstr>1.3 Java 的特点</vt:lpstr>
      <vt:lpstr>1.4  Java 运行平台</vt:lpstr>
      <vt:lpstr>1.4  Java 运行平台（续）</vt:lpstr>
      <vt:lpstr>1.5  Java 的开发环境 </vt:lpstr>
      <vt:lpstr>PowerPoint 演示文稿</vt:lpstr>
      <vt:lpstr>1.6  Java开发工具包的安装与配置</vt:lpstr>
      <vt:lpstr>PowerPoint 演示文稿</vt:lpstr>
      <vt:lpstr>PowerPoint 演示文稿</vt:lpstr>
      <vt:lpstr>PowerPoint 演示文稿</vt:lpstr>
      <vt:lpstr>安装Java帮助文档 </vt:lpstr>
      <vt:lpstr>path与classpath的配置</vt:lpstr>
      <vt:lpstr>PowerPoint 演示文稿</vt:lpstr>
      <vt:lpstr>PowerPoint 演示文稿</vt:lpstr>
      <vt:lpstr>配置JAVA_HOME变量</vt:lpstr>
      <vt:lpstr>配置JAVA_HOME变量</vt:lpstr>
      <vt:lpstr>PowerPoint 演示文稿</vt:lpstr>
      <vt:lpstr>PowerPoint 演示文稿</vt:lpstr>
      <vt:lpstr>PowerPoint 演示文稿</vt:lpstr>
      <vt:lpstr>PowerPoint 演示文稿</vt:lpstr>
      <vt:lpstr>1.7 初识Java应用程序</vt:lpstr>
      <vt:lpstr>1.7.1  创建源代码文件</vt:lpstr>
      <vt:lpstr>1.7.2  编译源代码文件</vt:lpstr>
      <vt:lpstr>1.7.3  运行程序</vt:lpstr>
      <vt:lpstr>1.7.4  程序HelloWorld的分析</vt:lpstr>
      <vt:lpstr>PowerPoint 演示文稿</vt:lpstr>
      <vt:lpstr>PowerPoint 演示文稿</vt:lpstr>
      <vt:lpstr>PowerPoint 演示文稿</vt:lpstr>
      <vt:lpstr>  程序HelloWorld的变形</vt:lpstr>
      <vt:lpstr>PowerPoint 演示文稿</vt:lpstr>
      <vt:lpstr>PowerPoint 演示文稿</vt:lpstr>
      <vt:lpstr>PowerPoint 演示文稿</vt:lpstr>
      <vt:lpstr>1.8 Java 编程规范</vt:lpstr>
      <vt:lpstr>1.9  Java 应用程序与小应用程序</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程序设计</dc:title>
  <dc:creator>zhengyan</dc:creator>
  <cp:lastModifiedBy>Microsoft Office User</cp:lastModifiedBy>
  <cp:revision>817</cp:revision>
  <dcterms:created xsi:type="dcterms:W3CDTF">2025-02-18T07:20:02Z</dcterms:created>
  <dcterms:modified xsi:type="dcterms:W3CDTF">2026-02-22T11:00:30Z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50F5CD41045D621018DC9167151F102E_42</vt:lpwstr>
  </property>
  <property fmtid="{D5CDD505-2E9C-101B-9397-08002B2CF9AE}" pid="3" name="KSOProductBuildVer">
    <vt:lpwstr>2052-6.7.0.8823</vt:lpwstr>
  </property>
</Properties>
</file>