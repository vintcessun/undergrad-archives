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5" r:id="rId1"/>
  </p:sldMasterIdLst>
  <p:notesMasterIdLst>
    <p:notesMasterId r:id="rId84"/>
  </p:notesMasterIdLst>
  <p:handoutMasterIdLst>
    <p:handoutMasterId r:id="rId85"/>
  </p:handoutMasterIdLst>
  <p:sldIdLst>
    <p:sldId id="417" r:id="rId2"/>
    <p:sldId id="614" r:id="rId3"/>
    <p:sldId id="576" r:id="rId4"/>
    <p:sldId id="577" r:id="rId5"/>
    <p:sldId id="838" r:id="rId6"/>
    <p:sldId id="695" r:id="rId7"/>
    <p:sldId id="696" r:id="rId8"/>
    <p:sldId id="682" r:id="rId9"/>
    <p:sldId id="694" r:id="rId10"/>
    <p:sldId id="692" r:id="rId11"/>
    <p:sldId id="693" r:id="rId12"/>
    <p:sldId id="683" r:id="rId13"/>
    <p:sldId id="697" r:id="rId14"/>
    <p:sldId id="684" r:id="rId15"/>
    <p:sldId id="685" r:id="rId16"/>
    <p:sldId id="615" r:id="rId17"/>
    <p:sldId id="702" r:id="rId18"/>
    <p:sldId id="734" r:id="rId19"/>
    <p:sldId id="701" r:id="rId20"/>
    <p:sldId id="653" r:id="rId21"/>
    <p:sldId id="611" r:id="rId22"/>
    <p:sldId id="636" r:id="rId23"/>
    <p:sldId id="637" r:id="rId24"/>
    <p:sldId id="639" r:id="rId25"/>
    <p:sldId id="655" r:id="rId26"/>
    <p:sldId id="412" r:id="rId27"/>
    <p:sldId id="640" r:id="rId28"/>
    <p:sldId id="641" r:id="rId29"/>
    <p:sldId id="642" r:id="rId30"/>
    <p:sldId id="703" r:id="rId31"/>
    <p:sldId id="735" r:id="rId32"/>
    <p:sldId id="656" r:id="rId33"/>
    <p:sldId id="646" r:id="rId34"/>
    <p:sldId id="704" r:id="rId35"/>
    <p:sldId id="659" r:id="rId36"/>
    <p:sldId id="706" r:id="rId37"/>
    <p:sldId id="818" r:id="rId38"/>
    <p:sldId id="809" r:id="rId39"/>
    <p:sldId id="839" r:id="rId40"/>
    <p:sldId id="705" r:id="rId41"/>
    <p:sldId id="674" r:id="rId42"/>
    <p:sldId id="851" r:id="rId43"/>
    <p:sldId id="707" r:id="rId44"/>
    <p:sldId id="662" r:id="rId45"/>
    <p:sldId id="745" r:id="rId46"/>
    <p:sldId id="813" r:id="rId47"/>
    <p:sldId id="840" r:id="rId48"/>
    <p:sldId id="841" r:id="rId49"/>
    <p:sldId id="844" r:id="rId50"/>
    <p:sldId id="845" r:id="rId51"/>
    <p:sldId id="846" r:id="rId52"/>
    <p:sldId id="847" r:id="rId53"/>
    <p:sldId id="848" r:id="rId54"/>
    <p:sldId id="708" r:id="rId55"/>
    <p:sldId id="835" r:id="rId56"/>
    <p:sldId id="842" r:id="rId57"/>
    <p:sldId id="843" r:id="rId58"/>
    <p:sldId id="709" r:id="rId59"/>
    <p:sldId id="666" r:id="rId60"/>
    <p:sldId id="667" r:id="rId61"/>
    <p:sldId id="710" r:id="rId62"/>
    <p:sldId id="711" r:id="rId63"/>
    <p:sldId id="676" r:id="rId64"/>
    <p:sldId id="712" r:id="rId65"/>
    <p:sldId id="713" r:id="rId66"/>
    <p:sldId id="724" r:id="rId67"/>
    <p:sldId id="765" r:id="rId68"/>
    <p:sldId id="725" r:id="rId69"/>
    <p:sldId id="727" r:id="rId70"/>
    <p:sldId id="797" r:id="rId71"/>
    <p:sldId id="802" r:id="rId72"/>
    <p:sldId id="803" r:id="rId73"/>
    <p:sldId id="827" r:id="rId74"/>
    <p:sldId id="828" r:id="rId75"/>
    <p:sldId id="829" r:id="rId76"/>
    <p:sldId id="733" r:id="rId77"/>
    <p:sldId id="728" r:id="rId78"/>
    <p:sldId id="729" r:id="rId79"/>
    <p:sldId id="730" r:id="rId80"/>
    <p:sldId id="731" r:id="rId81"/>
    <p:sldId id="825" r:id="rId82"/>
    <p:sldId id="850" r:id="rId83"/>
  </p:sldIdLst>
  <p:sldSz cx="9144000" cy="6858000" type="screen4x3"/>
  <p:notesSz cx="6858000" cy="9144000"/>
  <p:defaultTextStyle>
    <a:defPPr>
      <a:defRPr lang="zh-CN"/>
    </a:defPPr>
    <a:lvl1pPr algn="l" rtl="0" eaLnBrk="0" fontAlgn="base" hangingPunct="0">
      <a:spcBef>
        <a:spcPct val="0"/>
      </a:spcBef>
      <a:spcAft>
        <a:spcPct val="0"/>
      </a:spcAft>
      <a:defRPr sz="1900" b="1" kern="1200">
        <a:solidFill>
          <a:srgbClr val="008000"/>
        </a:solidFill>
        <a:latin typeface="Lucida Console" panose="020B0609040504020204" pitchFamily="49" charset="0"/>
        <a:ea typeface="宋体" panose="02010600030101010101" pitchFamily="2" charset="-122"/>
        <a:cs typeface="+mn-cs"/>
      </a:defRPr>
    </a:lvl1pPr>
    <a:lvl2pPr marL="457200" algn="l" rtl="0" eaLnBrk="0" fontAlgn="base" hangingPunct="0">
      <a:spcBef>
        <a:spcPct val="0"/>
      </a:spcBef>
      <a:spcAft>
        <a:spcPct val="0"/>
      </a:spcAft>
      <a:defRPr sz="1900" b="1" kern="1200">
        <a:solidFill>
          <a:srgbClr val="008000"/>
        </a:solidFill>
        <a:latin typeface="Lucida Console" panose="020B0609040504020204" pitchFamily="49" charset="0"/>
        <a:ea typeface="宋体" panose="02010600030101010101" pitchFamily="2" charset="-122"/>
        <a:cs typeface="+mn-cs"/>
      </a:defRPr>
    </a:lvl2pPr>
    <a:lvl3pPr marL="914400" algn="l" rtl="0" eaLnBrk="0" fontAlgn="base" hangingPunct="0">
      <a:spcBef>
        <a:spcPct val="0"/>
      </a:spcBef>
      <a:spcAft>
        <a:spcPct val="0"/>
      </a:spcAft>
      <a:defRPr sz="1900" b="1" kern="1200">
        <a:solidFill>
          <a:srgbClr val="008000"/>
        </a:solidFill>
        <a:latin typeface="Lucida Console" panose="020B0609040504020204" pitchFamily="49" charset="0"/>
        <a:ea typeface="宋体" panose="02010600030101010101" pitchFamily="2" charset="-122"/>
        <a:cs typeface="+mn-cs"/>
      </a:defRPr>
    </a:lvl3pPr>
    <a:lvl4pPr marL="1371600" algn="l" rtl="0" eaLnBrk="0" fontAlgn="base" hangingPunct="0">
      <a:spcBef>
        <a:spcPct val="0"/>
      </a:spcBef>
      <a:spcAft>
        <a:spcPct val="0"/>
      </a:spcAft>
      <a:defRPr sz="1900" b="1" kern="1200">
        <a:solidFill>
          <a:srgbClr val="008000"/>
        </a:solidFill>
        <a:latin typeface="Lucida Console" panose="020B0609040504020204" pitchFamily="49" charset="0"/>
        <a:ea typeface="宋体" panose="02010600030101010101" pitchFamily="2" charset="-122"/>
        <a:cs typeface="+mn-cs"/>
      </a:defRPr>
    </a:lvl4pPr>
    <a:lvl5pPr marL="1828800" algn="l" rtl="0" eaLnBrk="0" fontAlgn="base" hangingPunct="0">
      <a:spcBef>
        <a:spcPct val="0"/>
      </a:spcBef>
      <a:spcAft>
        <a:spcPct val="0"/>
      </a:spcAft>
      <a:defRPr sz="1900" b="1" kern="1200">
        <a:solidFill>
          <a:srgbClr val="008000"/>
        </a:solidFill>
        <a:latin typeface="Lucida Console" panose="020B0609040504020204" pitchFamily="49" charset="0"/>
        <a:ea typeface="宋体" panose="02010600030101010101" pitchFamily="2" charset="-122"/>
        <a:cs typeface="+mn-cs"/>
      </a:defRPr>
    </a:lvl5pPr>
    <a:lvl6pPr marL="2286000" algn="l" defTabSz="914400" rtl="0" eaLnBrk="1" latinLnBrk="0" hangingPunct="1">
      <a:defRPr sz="1900" b="1" kern="1200">
        <a:solidFill>
          <a:srgbClr val="008000"/>
        </a:solidFill>
        <a:latin typeface="Lucida Console" panose="020B0609040504020204" pitchFamily="49" charset="0"/>
        <a:ea typeface="宋体" panose="02010600030101010101" pitchFamily="2" charset="-122"/>
        <a:cs typeface="+mn-cs"/>
      </a:defRPr>
    </a:lvl6pPr>
    <a:lvl7pPr marL="2743200" algn="l" defTabSz="914400" rtl="0" eaLnBrk="1" latinLnBrk="0" hangingPunct="1">
      <a:defRPr sz="1900" b="1" kern="1200">
        <a:solidFill>
          <a:srgbClr val="008000"/>
        </a:solidFill>
        <a:latin typeface="Lucida Console" panose="020B0609040504020204" pitchFamily="49" charset="0"/>
        <a:ea typeface="宋体" panose="02010600030101010101" pitchFamily="2" charset="-122"/>
        <a:cs typeface="+mn-cs"/>
      </a:defRPr>
    </a:lvl7pPr>
    <a:lvl8pPr marL="3200400" algn="l" defTabSz="914400" rtl="0" eaLnBrk="1" latinLnBrk="0" hangingPunct="1">
      <a:defRPr sz="1900" b="1" kern="1200">
        <a:solidFill>
          <a:srgbClr val="008000"/>
        </a:solidFill>
        <a:latin typeface="Lucida Console" panose="020B0609040504020204" pitchFamily="49" charset="0"/>
        <a:ea typeface="宋体" panose="02010600030101010101" pitchFamily="2" charset="-122"/>
        <a:cs typeface="+mn-cs"/>
      </a:defRPr>
    </a:lvl8pPr>
    <a:lvl9pPr marL="3657600" algn="l" defTabSz="914400" rtl="0" eaLnBrk="1" latinLnBrk="0" hangingPunct="1">
      <a:defRPr sz="1900" b="1" kern="1200">
        <a:solidFill>
          <a:srgbClr val="008000"/>
        </a:solidFill>
        <a:latin typeface="Lucida Console" panose="020B0609040504020204" pitchFamily="49"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用户" initials="MO用" lastIdx="1" clrIdx="0">
    <p:extLst>
      <p:ext uri="{19B8F6BF-5375-455C-9EA6-DF929625EA0E}">
        <p15:presenceInfo xmlns:p15="http://schemas.microsoft.com/office/powerpoint/2012/main" userId="Microsoft Office 用户"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E799"/>
    <a:srgbClr val="00FF99"/>
    <a:srgbClr val="0000CC"/>
    <a:srgbClr val="6666FF"/>
    <a:srgbClr val="990099"/>
    <a:srgbClr val="0066FF"/>
    <a:srgbClr val="B2B2B2"/>
    <a:srgbClr val="6699FF"/>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autoAdjust="0"/>
    <p:restoredTop sz="62789" autoAdjust="0"/>
  </p:normalViewPr>
  <p:slideViewPr>
    <p:cSldViewPr>
      <p:cViewPr varScale="1">
        <p:scale>
          <a:sx n="77" d="100"/>
          <a:sy n="77" d="100"/>
        </p:scale>
        <p:origin x="3184" y="192"/>
      </p:cViewPr>
      <p:guideLst>
        <p:guide orient="horz" pos="2160"/>
        <p:guide pos="2880"/>
      </p:guideLst>
    </p:cSldViewPr>
  </p:slideViewPr>
  <p:outlineViewPr>
    <p:cViewPr>
      <p:scale>
        <a:sx n="33" d="100"/>
        <a:sy n="33" d="100"/>
      </p:scale>
      <p:origin x="0" y="-76728"/>
    </p:cViewPr>
    <p:sldLst>
      <p:sld r:id="rId1" collapse="1"/>
      <p:sld r:id="rId2" collapse="1"/>
    </p:sldLst>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8" d="100"/>
          <a:sy n="58" d="100"/>
        </p:scale>
        <p:origin x="-1812"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notesMaster" Target="notesMasters/notesMaster1.xml"/><Relationship Id="rId89"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ableStyles" Target="tableStyle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_rels/viewProps.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slide" Target="slides/slide2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37334CDB-8A6E-493D-A8DE-77135978BB25}"/>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kumimoji="1" sz="1200" b="0">
                <a:solidFill>
                  <a:schemeClr val="tx1"/>
                </a:solidFill>
                <a:latin typeface="Tahoma" panose="020B0604030504040204" pitchFamily="34" charset="0"/>
                <a:cs typeface="Times New Roman" panose="02020603050405020304" pitchFamily="18" charset="0"/>
              </a:defRPr>
            </a:lvl1pPr>
          </a:lstStyle>
          <a:p>
            <a:pPr>
              <a:defRPr/>
            </a:pPr>
            <a:endParaRPr lang="en-US" altLang="zh-CN"/>
          </a:p>
        </p:txBody>
      </p:sp>
      <p:sp>
        <p:nvSpPr>
          <p:cNvPr id="51203" name="Rectangle 3">
            <a:extLst>
              <a:ext uri="{FF2B5EF4-FFF2-40B4-BE49-F238E27FC236}">
                <a16:creationId xmlns:a16="http://schemas.microsoft.com/office/drawing/2014/main" id="{ADFB9239-FE6B-454A-ADE6-6CA669F1687A}"/>
              </a:ext>
            </a:extLst>
          </p:cNvPr>
          <p:cNvSpPr>
            <a:spLocks noGrp="1" noChangeArrowheads="1"/>
          </p:cNvSpPr>
          <p:nvPr>
            <p:ph type="dt" sz="quarter" idx="1"/>
          </p:nvPr>
        </p:nvSpPr>
        <p:spPr bwMode="auto">
          <a:xfrm>
            <a:off x="388620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kumimoji="1" sz="1200" b="0">
                <a:solidFill>
                  <a:schemeClr val="tx1"/>
                </a:solidFill>
                <a:latin typeface="Tahoma" panose="020B0604030504040204" pitchFamily="34" charset="0"/>
                <a:cs typeface="Times New Roman" panose="02020603050405020304" pitchFamily="18" charset="0"/>
              </a:defRPr>
            </a:lvl1pPr>
          </a:lstStyle>
          <a:p>
            <a:pPr>
              <a:defRPr/>
            </a:pPr>
            <a:endParaRPr lang="en-US" altLang="zh-CN"/>
          </a:p>
        </p:txBody>
      </p:sp>
      <p:sp>
        <p:nvSpPr>
          <p:cNvPr id="51204" name="Rectangle 4">
            <a:extLst>
              <a:ext uri="{FF2B5EF4-FFF2-40B4-BE49-F238E27FC236}">
                <a16:creationId xmlns:a16="http://schemas.microsoft.com/office/drawing/2014/main" id="{17A84827-09D4-4645-948E-328C66850027}"/>
              </a:ext>
            </a:extLst>
          </p:cNvPr>
          <p:cNvSpPr>
            <a:spLocks noGrp="1" noChangeArrowheads="1"/>
          </p:cNvSpPr>
          <p:nvPr>
            <p:ph type="ftr" sz="quarter" idx="2"/>
          </p:nvPr>
        </p:nvSpPr>
        <p:spPr bwMode="auto">
          <a:xfrm>
            <a:off x="0" y="8686800"/>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kumimoji="1" sz="1200" b="0">
                <a:solidFill>
                  <a:schemeClr val="tx1"/>
                </a:solidFill>
                <a:latin typeface="Tahoma" panose="020B0604030504040204" pitchFamily="34" charset="0"/>
                <a:cs typeface="Times New Roman" panose="02020603050405020304" pitchFamily="18" charset="0"/>
              </a:defRPr>
            </a:lvl1pPr>
          </a:lstStyle>
          <a:p>
            <a:pPr>
              <a:defRPr/>
            </a:pPr>
            <a:endParaRPr lang="en-US" altLang="zh-CN"/>
          </a:p>
        </p:txBody>
      </p:sp>
      <p:sp>
        <p:nvSpPr>
          <p:cNvPr id="51205" name="Rectangle 5">
            <a:extLst>
              <a:ext uri="{FF2B5EF4-FFF2-40B4-BE49-F238E27FC236}">
                <a16:creationId xmlns:a16="http://schemas.microsoft.com/office/drawing/2014/main" id="{FA2C473F-906D-4FA0-8744-CBCBC38ED1FA}"/>
              </a:ext>
            </a:extLst>
          </p:cNvPr>
          <p:cNvSpPr>
            <a:spLocks noGrp="1" noChangeArrowheads="1"/>
          </p:cNvSpPr>
          <p:nvPr>
            <p:ph type="sldNum" sz="quarter" idx="3"/>
          </p:nvPr>
        </p:nvSpPr>
        <p:spPr bwMode="auto">
          <a:xfrm>
            <a:off x="3886200" y="8686800"/>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kumimoji="1" sz="1200" b="0" smtClean="0">
                <a:solidFill>
                  <a:schemeClr val="tx1"/>
                </a:solidFill>
                <a:latin typeface="Tahoma" panose="020B0604030504040204" pitchFamily="34" charset="0"/>
                <a:cs typeface="Times New Roman" panose="02020603050405020304" pitchFamily="18" charset="0"/>
              </a:defRPr>
            </a:lvl1pPr>
          </a:lstStyle>
          <a:p>
            <a:pPr>
              <a:defRPr/>
            </a:pPr>
            <a:fld id="{2597E465-DFCD-4C04-8D61-E5C342075181}" type="slidenum">
              <a:rPr lang="en-US" altLang="zh-CN"/>
              <a:pPr>
                <a:defRPr/>
              </a:pPr>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9842" name="Rectangle 2">
            <a:extLst>
              <a:ext uri="{FF2B5EF4-FFF2-40B4-BE49-F238E27FC236}">
                <a16:creationId xmlns:a16="http://schemas.microsoft.com/office/drawing/2014/main" id="{03BF754E-8765-4A95-A25A-C0CA7C85138C}"/>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kumimoji="1" sz="1200" b="0">
                <a:solidFill>
                  <a:schemeClr val="tx1"/>
                </a:solidFill>
                <a:latin typeface="Times New Roman" panose="02020603050405020304" pitchFamily="18" charset="0"/>
                <a:cs typeface="Times New Roman" panose="02020603050405020304" pitchFamily="18" charset="0"/>
              </a:defRPr>
            </a:lvl1pPr>
          </a:lstStyle>
          <a:p>
            <a:pPr>
              <a:defRPr/>
            </a:pPr>
            <a:endParaRPr lang="en-US" altLang="zh-CN"/>
          </a:p>
        </p:txBody>
      </p:sp>
      <p:sp>
        <p:nvSpPr>
          <p:cNvPr id="419843" name="Rectangle 3">
            <a:extLst>
              <a:ext uri="{FF2B5EF4-FFF2-40B4-BE49-F238E27FC236}">
                <a16:creationId xmlns:a16="http://schemas.microsoft.com/office/drawing/2014/main" id="{7D0C50E4-79F6-4FFF-8F15-2C6B85A53096}"/>
              </a:ext>
            </a:extLst>
          </p:cNvPr>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kumimoji="1" sz="1200" b="0">
                <a:solidFill>
                  <a:schemeClr val="tx1"/>
                </a:solidFill>
                <a:latin typeface="Times New Roman" panose="02020603050405020304" pitchFamily="18" charset="0"/>
                <a:cs typeface="Times New Roman" panose="02020603050405020304" pitchFamily="18" charset="0"/>
              </a:defRPr>
            </a:lvl1pPr>
          </a:lstStyle>
          <a:p>
            <a:pPr>
              <a:defRPr/>
            </a:pPr>
            <a:endParaRPr lang="en-US" altLang="zh-CN"/>
          </a:p>
        </p:txBody>
      </p:sp>
      <p:sp>
        <p:nvSpPr>
          <p:cNvPr id="2052" name="Rectangle 4">
            <a:extLst>
              <a:ext uri="{FF2B5EF4-FFF2-40B4-BE49-F238E27FC236}">
                <a16:creationId xmlns:a16="http://schemas.microsoft.com/office/drawing/2014/main" id="{621FB138-00D6-409C-989F-3A7EEFBD13B6}"/>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19845" name="Rectangle 5">
            <a:extLst>
              <a:ext uri="{FF2B5EF4-FFF2-40B4-BE49-F238E27FC236}">
                <a16:creationId xmlns:a16="http://schemas.microsoft.com/office/drawing/2014/main" id="{AE0EDC6E-09C8-49EA-9237-2F2239F13062}"/>
              </a:ext>
            </a:extLst>
          </p:cNvPr>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419846" name="Rectangle 6">
            <a:extLst>
              <a:ext uri="{FF2B5EF4-FFF2-40B4-BE49-F238E27FC236}">
                <a16:creationId xmlns:a16="http://schemas.microsoft.com/office/drawing/2014/main" id="{79030A53-4FBA-4C96-B417-447A30885850}"/>
              </a:ext>
            </a:extLst>
          </p:cNvPr>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kumimoji="1" sz="1200" b="0">
                <a:solidFill>
                  <a:schemeClr val="tx1"/>
                </a:solidFill>
                <a:latin typeface="Times New Roman" panose="02020603050405020304" pitchFamily="18" charset="0"/>
                <a:cs typeface="Times New Roman" panose="02020603050405020304" pitchFamily="18" charset="0"/>
              </a:defRPr>
            </a:lvl1pPr>
          </a:lstStyle>
          <a:p>
            <a:pPr>
              <a:defRPr/>
            </a:pPr>
            <a:endParaRPr lang="en-US" altLang="zh-CN"/>
          </a:p>
        </p:txBody>
      </p:sp>
      <p:sp>
        <p:nvSpPr>
          <p:cNvPr id="419847" name="Rectangle 7">
            <a:extLst>
              <a:ext uri="{FF2B5EF4-FFF2-40B4-BE49-F238E27FC236}">
                <a16:creationId xmlns:a16="http://schemas.microsoft.com/office/drawing/2014/main" id="{2E128FC2-48DB-4B88-996F-456844B9496F}"/>
              </a:ext>
            </a:extLst>
          </p:cNvPr>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kumimoji="1" sz="1200" b="0" smtClean="0">
                <a:solidFill>
                  <a:schemeClr val="tx1"/>
                </a:solidFill>
                <a:latin typeface="Times New Roman" panose="02020603050405020304" pitchFamily="18" charset="0"/>
                <a:cs typeface="Times New Roman" panose="02020603050405020304" pitchFamily="18" charset="0"/>
              </a:defRPr>
            </a:lvl1pPr>
          </a:lstStyle>
          <a:p>
            <a:pPr>
              <a:defRPr/>
            </a:pPr>
            <a:fld id="{673F1CE7-9C51-46E7-B0A6-FE79B695C504}"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s://www.cnblogs.com/chuijingjing/p/9405598.html" TargetMode="External"/><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与</a:t>
            </a:r>
            <a:r>
              <a:rPr lang="en-US" altLang="zh-CN"/>
              <a:t>C++</a:t>
            </a:r>
            <a:r>
              <a:rPr lang="zh-CN" altLang="en-US"/>
              <a:t>类比学习：类似的内容一起记忆，不同的内容着重理解</a:t>
            </a:r>
          </a:p>
        </p:txBody>
      </p:sp>
      <p:sp>
        <p:nvSpPr>
          <p:cNvPr id="4" name="灯片编号占位符 3"/>
          <p:cNvSpPr>
            <a:spLocks noGrp="1"/>
          </p:cNvSpPr>
          <p:nvPr>
            <p:ph type="sldNum" sz="quarter" idx="5"/>
          </p:nvPr>
        </p:nvSpPr>
        <p:spPr/>
        <p:txBody>
          <a:bodyPr/>
          <a:lstStyle/>
          <a:p>
            <a:pPr>
              <a:defRPr/>
            </a:pPr>
            <a:fld id="{673F1CE7-9C51-46E7-B0A6-FE79B695C504}" type="slidenum">
              <a:rPr lang="en-US" altLang="zh-CN" smtClean="0"/>
              <a:pPr>
                <a:defRPr/>
              </a:pPr>
              <a:t>1</a:t>
            </a:fld>
            <a:endParaRPr lang="en-US" altLang="zh-CN"/>
          </a:p>
        </p:txBody>
      </p:sp>
    </p:spTree>
    <p:extLst>
      <p:ext uri="{BB962C8B-B14F-4D97-AF65-F5344CB8AC3E}">
        <p14:creationId xmlns:p14="http://schemas.microsoft.com/office/powerpoint/2010/main" val="30439761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12EE262C-41C3-411C-8ED9-0B5520AF59EC}"/>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900" b="1">
                <a:solidFill>
                  <a:srgbClr val="008000"/>
                </a:solidFill>
                <a:latin typeface="Lucida Console" panose="020B0609040504020204" pitchFamily="49" charset="0"/>
                <a:ea typeface="宋体" panose="02010600030101010101" pitchFamily="2" charset="-122"/>
              </a:defRPr>
            </a:lvl1pPr>
            <a:lvl2pPr marL="742950" indent="-285750">
              <a:defRPr sz="1900" b="1">
                <a:solidFill>
                  <a:srgbClr val="008000"/>
                </a:solidFill>
                <a:latin typeface="Lucida Console" panose="020B0609040504020204" pitchFamily="49" charset="0"/>
                <a:ea typeface="宋体" panose="02010600030101010101" pitchFamily="2" charset="-122"/>
              </a:defRPr>
            </a:lvl2pPr>
            <a:lvl3pPr marL="1143000" indent="-228600">
              <a:defRPr sz="1900" b="1">
                <a:solidFill>
                  <a:srgbClr val="008000"/>
                </a:solidFill>
                <a:latin typeface="Lucida Console" panose="020B0609040504020204" pitchFamily="49" charset="0"/>
                <a:ea typeface="宋体" panose="02010600030101010101" pitchFamily="2" charset="-122"/>
              </a:defRPr>
            </a:lvl3pPr>
            <a:lvl4pPr marL="1600200" indent="-228600">
              <a:defRPr sz="1900" b="1">
                <a:solidFill>
                  <a:srgbClr val="008000"/>
                </a:solidFill>
                <a:latin typeface="Lucida Console" panose="020B0609040504020204" pitchFamily="49" charset="0"/>
                <a:ea typeface="宋体" panose="02010600030101010101" pitchFamily="2" charset="-122"/>
              </a:defRPr>
            </a:lvl4pPr>
            <a:lvl5pPr marL="2057400" indent="-228600">
              <a:defRPr sz="1900" b="1">
                <a:solidFill>
                  <a:srgbClr val="008000"/>
                </a:solidFill>
                <a:latin typeface="Lucida Console" panose="020B0609040504020204" pitchFamily="49" charset="0"/>
                <a:ea typeface="宋体" panose="02010600030101010101" pitchFamily="2" charset="-122"/>
              </a:defRPr>
            </a:lvl5pPr>
            <a:lvl6pPr marL="25146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6pPr>
            <a:lvl7pPr marL="29718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7pPr>
            <a:lvl8pPr marL="34290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8pPr>
            <a:lvl9pPr marL="38862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9pPr>
          </a:lstStyle>
          <a:p>
            <a:fld id="{B69B11DD-1A01-4B16-BF79-C9DC1CE969DB}" type="slidenum">
              <a:rPr lang="en-US" altLang="zh-CN" sz="1200" b="0">
                <a:solidFill>
                  <a:schemeClr val="tx1"/>
                </a:solidFill>
                <a:latin typeface="Times New Roman" panose="02020603050405020304" pitchFamily="18" charset="0"/>
              </a:rPr>
              <a:pPr/>
              <a:t>2</a:t>
            </a:fld>
            <a:endParaRPr lang="en-US" altLang="zh-CN" sz="1200" b="0">
              <a:solidFill>
                <a:schemeClr val="tx1"/>
              </a:solidFill>
              <a:latin typeface="Times New Roman" panose="02020603050405020304" pitchFamily="18" charset="0"/>
            </a:endParaRPr>
          </a:p>
        </p:txBody>
      </p:sp>
      <p:sp>
        <p:nvSpPr>
          <p:cNvPr id="6147" name="Rectangle 2">
            <a:extLst>
              <a:ext uri="{FF2B5EF4-FFF2-40B4-BE49-F238E27FC236}">
                <a16:creationId xmlns:a16="http://schemas.microsoft.com/office/drawing/2014/main" id="{D220159F-1366-4A11-AA39-8A809A406E2E}"/>
              </a:ext>
            </a:extLst>
          </p:cNvPr>
          <p:cNvSpPr>
            <a:spLocks noGrp="1" noRot="1" noChangeAspect="1" noChangeArrowheads="1" noTextEdit="1"/>
          </p:cNvSpPr>
          <p:nvPr>
            <p:ph type="sldImg"/>
          </p:nvPr>
        </p:nvSpPr>
        <p:spPr>
          <a:ln/>
        </p:spPr>
      </p:sp>
      <p:sp>
        <p:nvSpPr>
          <p:cNvPr id="6148" name="Rectangle 3">
            <a:extLst>
              <a:ext uri="{FF2B5EF4-FFF2-40B4-BE49-F238E27FC236}">
                <a16:creationId xmlns:a16="http://schemas.microsoft.com/office/drawing/2014/main" id="{0A7F7BE7-50B1-4DCB-9245-2B267EFCD01F}"/>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幻灯片图像占位符 1">
            <a:extLst>
              <a:ext uri="{FF2B5EF4-FFF2-40B4-BE49-F238E27FC236}">
                <a16:creationId xmlns:a16="http://schemas.microsoft.com/office/drawing/2014/main" id="{BD808988-9858-46CD-A4ED-8A44CA446FF6}"/>
              </a:ext>
            </a:extLst>
          </p:cNvPr>
          <p:cNvSpPr>
            <a:spLocks noGrp="1" noRot="1" noChangeAspect="1" noChangeArrowheads="1" noTextEdit="1"/>
          </p:cNvSpPr>
          <p:nvPr>
            <p:ph type="sldImg"/>
          </p:nvPr>
        </p:nvSpPr>
        <p:spPr>
          <a:ln/>
        </p:spPr>
      </p:sp>
      <p:sp>
        <p:nvSpPr>
          <p:cNvPr id="8195" name="备注占位符 2">
            <a:extLst>
              <a:ext uri="{FF2B5EF4-FFF2-40B4-BE49-F238E27FC236}">
                <a16:creationId xmlns:a16="http://schemas.microsoft.com/office/drawing/2014/main" id="{18365426-E4AE-4497-99DB-09F8A80357F7}"/>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zh-CN"/>
              <a:t>const</a:t>
            </a:r>
            <a:r>
              <a:rPr lang="zh-CN" altLang="en-US"/>
              <a:t>和</a:t>
            </a:r>
            <a:r>
              <a:rPr lang="en-US" altLang="zh-CN"/>
              <a:t>goto</a:t>
            </a:r>
            <a:r>
              <a:rPr lang="zh-CN" altLang="en-US"/>
              <a:t>现在</a:t>
            </a:r>
            <a:r>
              <a:rPr lang="en-US" altLang="zh-CN"/>
              <a:t>java</a:t>
            </a:r>
            <a:r>
              <a:rPr lang="zh-CN" altLang="en-US"/>
              <a:t>中还没用到</a:t>
            </a:r>
          </a:p>
        </p:txBody>
      </p:sp>
      <p:sp>
        <p:nvSpPr>
          <p:cNvPr id="8196" name="灯片编号占位符 3">
            <a:extLst>
              <a:ext uri="{FF2B5EF4-FFF2-40B4-BE49-F238E27FC236}">
                <a16:creationId xmlns:a16="http://schemas.microsoft.com/office/drawing/2014/main" id="{7D176C2F-3922-47C7-B46D-8196BE267441}"/>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900" b="1">
                <a:solidFill>
                  <a:srgbClr val="008000"/>
                </a:solidFill>
                <a:latin typeface="Lucida Console" panose="020B0609040504020204" pitchFamily="49" charset="0"/>
                <a:ea typeface="宋体" panose="02010600030101010101" pitchFamily="2" charset="-122"/>
              </a:defRPr>
            </a:lvl1pPr>
            <a:lvl2pPr marL="742950" indent="-285750">
              <a:defRPr sz="1900" b="1">
                <a:solidFill>
                  <a:srgbClr val="008000"/>
                </a:solidFill>
                <a:latin typeface="Lucida Console" panose="020B0609040504020204" pitchFamily="49" charset="0"/>
                <a:ea typeface="宋体" panose="02010600030101010101" pitchFamily="2" charset="-122"/>
              </a:defRPr>
            </a:lvl2pPr>
            <a:lvl3pPr marL="1143000" indent="-228600">
              <a:defRPr sz="1900" b="1">
                <a:solidFill>
                  <a:srgbClr val="008000"/>
                </a:solidFill>
                <a:latin typeface="Lucida Console" panose="020B0609040504020204" pitchFamily="49" charset="0"/>
                <a:ea typeface="宋体" panose="02010600030101010101" pitchFamily="2" charset="-122"/>
              </a:defRPr>
            </a:lvl3pPr>
            <a:lvl4pPr marL="1600200" indent="-228600">
              <a:defRPr sz="1900" b="1">
                <a:solidFill>
                  <a:srgbClr val="008000"/>
                </a:solidFill>
                <a:latin typeface="Lucida Console" panose="020B0609040504020204" pitchFamily="49" charset="0"/>
                <a:ea typeface="宋体" panose="02010600030101010101" pitchFamily="2" charset="-122"/>
              </a:defRPr>
            </a:lvl4pPr>
            <a:lvl5pPr marL="2057400" indent="-228600">
              <a:defRPr sz="1900" b="1">
                <a:solidFill>
                  <a:srgbClr val="008000"/>
                </a:solidFill>
                <a:latin typeface="Lucida Console" panose="020B0609040504020204" pitchFamily="49" charset="0"/>
                <a:ea typeface="宋体" panose="02010600030101010101" pitchFamily="2" charset="-122"/>
              </a:defRPr>
            </a:lvl5pPr>
            <a:lvl6pPr marL="25146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6pPr>
            <a:lvl7pPr marL="29718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7pPr>
            <a:lvl8pPr marL="34290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8pPr>
            <a:lvl9pPr marL="38862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9pPr>
          </a:lstStyle>
          <a:p>
            <a:fld id="{330A0C25-8B6B-46CB-A61A-BDB7076AA219}" type="slidenum">
              <a:rPr lang="en-US" altLang="zh-CN" sz="1200" b="0">
                <a:solidFill>
                  <a:schemeClr val="tx1"/>
                </a:solidFill>
                <a:latin typeface="Times New Roman" panose="02020603050405020304" pitchFamily="18" charset="0"/>
              </a:rPr>
              <a:pPr/>
              <a:t>3</a:t>
            </a:fld>
            <a:endParaRPr lang="en-US" altLang="zh-CN" sz="1200" b="0">
              <a:solidFill>
                <a:schemeClr val="tx1"/>
              </a:solidFill>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a:extLst>
              <a:ext uri="{FF2B5EF4-FFF2-40B4-BE49-F238E27FC236}">
                <a16:creationId xmlns:a16="http://schemas.microsoft.com/office/drawing/2014/main" id="{D04E75D0-65E2-4C4A-B2D0-A994F29CB7EA}"/>
              </a:ext>
            </a:extLst>
          </p:cNvPr>
          <p:cNvSpPr>
            <a:spLocks noGrp="1" noRot="1" noChangeAspect="1" noChangeArrowheads="1" noTextEdit="1"/>
          </p:cNvSpPr>
          <p:nvPr>
            <p:ph type="sldImg"/>
          </p:nvPr>
        </p:nvSpPr>
        <p:spPr>
          <a:ln/>
        </p:spPr>
      </p:sp>
      <p:sp>
        <p:nvSpPr>
          <p:cNvPr id="10243" name="备注占位符 2">
            <a:extLst>
              <a:ext uri="{FF2B5EF4-FFF2-40B4-BE49-F238E27FC236}">
                <a16:creationId xmlns:a16="http://schemas.microsoft.com/office/drawing/2014/main" id="{6DC7A1DF-CFBE-4270-A9A9-3DD22D7B782E}"/>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zh-CN" dirty="0"/>
              <a:t>final</a:t>
            </a:r>
            <a:r>
              <a:rPr lang="zh-CN" altLang="en-US" dirty="0"/>
              <a:t>作为</a:t>
            </a:r>
            <a:r>
              <a:rPr lang="en-US" altLang="zh-CN" dirty="0"/>
              <a:t>Java</a:t>
            </a:r>
            <a:r>
              <a:rPr lang="zh-CN" altLang="en-US" dirty="0"/>
              <a:t>中的关键字可以用于三个地方。用于修饰类、类属性和类方法。</a:t>
            </a:r>
          </a:p>
          <a:p>
            <a:r>
              <a:rPr lang="zh-CN" altLang="en-US" dirty="0"/>
              <a:t>特征：凡是引用</a:t>
            </a:r>
            <a:r>
              <a:rPr lang="en-US" altLang="zh-CN" dirty="0"/>
              <a:t>final</a:t>
            </a:r>
            <a:r>
              <a:rPr lang="zh-CN" altLang="en-US" dirty="0"/>
              <a:t>关键字的地方皆不可修改！</a:t>
            </a:r>
          </a:p>
          <a:p>
            <a:r>
              <a:rPr lang="en-US" altLang="zh-CN" dirty="0"/>
              <a:t>(1)</a:t>
            </a:r>
            <a:r>
              <a:rPr lang="zh-CN" altLang="en-US" dirty="0"/>
              <a:t>修饰类：表示该类不能被继承；</a:t>
            </a:r>
          </a:p>
          <a:p>
            <a:r>
              <a:rPr lang="en-US" altLang="zh-CN" dirty="0"/>
              <a:t>(2)</a:t>
            </a:r>
            <a:r>
              <a:rPr lang="zh-CN" altLang="en-US" dirty="0"/>
              <a:t>修饰方法：表示方法不能被重写；</a:t>
            </a:r>
          </a:p>
          <a:p>
            <a:r>
              <a:rPr lang="en-US" altLang="zh-CN" dirty="0"/>
              <a:t>(3)</a:t>
            </a:r>
            <a:r>
              <a:rPr lang="zh-CN" altLang="en-US" dirty="0"/>
              <a:t>修饰变量：表示变量只能一次赋值以后值不能被修改（常量）。</a:t>
            </a:r>
          </a:p>
          <a:p>
            <a:r>
              <a:rPr lang="en-US" altLang="zh-CN" dirty="0"/>
              <a:t>-------------------------------------------------------------------</a:t>
            </a:r>
          </a:p>
          <a:p>
            <a:r>
              <a:rPr lang="en-US" altLang="zh-CN" dirty="0"/>
              <a:t>native</a:t>
            </a:r>
            <a:r>
              <a:rPr lang="zh-CN" altLang="en-US" dirty="0"/>
              <a:t>：</a:t>
            </a:r>
            <a:endParaRPr lang="en-US" altLang="zh-CN" dirty="0"/>
          </a:p>
          <a:p>
            <a:r>
              <a:rPr lang="en-US" altLang="zh-CN" dirty="0"/>
              <a:t>1</a:t>
            </a:r>
            <a:r>
              <a:rPr lang="zh-CN" altLang="en-US" dirty="0"/>
              <a:t>、一个</a:t>
            </a:r>
            <a:r>
              <a:rPr lang="en-US" altLang="zh-CN" dirty="0"/>
              <a:t>native</a:t>
            </a:r>
            <a:r>
              <a:rPr lang="zh-CN" altLang="en-US" dirty="0"/>
              <a:t>方法就是一个</a:t>
            </a:r>
            <a:r>
              <a:rPr lang="en-US" altLang="zh-CN" dirty="0"/>
              <a:t>Java</a:t>
            </a:r>
            <a:r>
              <a:rPr lang="zh-CN" altLang="en-US" dirty="0"/>
              <a:t>调用非</a:t>
            </a:r>
            <a:r>
              <a:rPr lang="en-US" altLang="zh-CN" dirty="0"/>
              <a:t>Java</a:t>
            </a:r>
            <a:r>
              <a:rPr lang="zh-CN" altLang="en-US" dirty="0"/>
              <a:t>代码的接口。一个</a:t>
            </a:r>
            <a:r>
              <a:rPr lang="en-US" altLang="zh-CN" dirty="0"/>
              <a:t>native</a:t>
            </a:r>
            <a:r>
              <a:rPr lang="zh-CN" altLang="en-US" dirty="0"/>
              <a:t>方法是指该方法的实现由非</a:t>
            </a:r>
            <a:r>
              <a:rPr lang="en-US" altLang="zh-CN" dirty="0"/>
              <a:t>Java</a:t>
            </a:r>
            <a:r>
              <a:rPr lang="zh-CN" altLang="en-US" dirty="0"/>
              <a:t>语言实现，比如用</a:t>
            </a:r>
            <a:r>
              <a:rPr lang="en-US" altLang="zh-CN" dirty="0"/>
              <a:t>C</a:t>
            </a:r>
            <a:r>
              <a:rPr lang="zh-CN" altLang="en-US" dirty="0"/>
              <a:t>或</a:t>
            </a:r>
            <a:r>
              <a:rPr lang="en-US" altLang="zh-CN" dirty="0"/>
              <a:t>C++</a:t>
            </a:r>
            <a:r>
              <a:rPr lang="zh-CN" altLang="en-US" dirty="0"/>
              <a:t>实现。</a:t>
            </a:r>
          </a:p>
          <a:p>
            <a:r>
              <a:rPr lang="en-US" altLang="zh-CN" dirty="0"/>
              <a:t>2</a:t>
            </a:r>
            <a:r>
              <a:rPr lang="zh-CN" altLang="en-US" dirty="0"/>
              <a:t>、在定义一个</a:t>
            </a:r>
            <a:r>
              <a:rPr lang="en-US" altLang="zh-CN" dirty="0"/>
              <a:t>native</a:t>
            </a:r>
            <a:r>
              <a:rPr lang="zh-CN" altLang="en-US" dirty="0"/>
              <a:t>方法时，并不提供实现体（比较像定义一个</a:t>
            </a:r>
            <a:r>
              <a:rPr lang="en-US" altLang="zh-CN" dirty="0"/>
              <a:t>Java Interface</a:t>
            </a:r>
            <a:r>
              <a:rPr lang="zh-CN" altLang="en-US" dirty="0"/>
              <a:t>），因为其实现体是由非</a:t>
            </a:r>
            <a:r>
              <a:rPr lang="en-US" altLang="zh-CN" dirty="0"/>
              <a:t>Java</a:t>
            </a:r>
            <a:r>
              <a:rPr lang="zh-CN" altLang="en-US" dirty="0"/>
              <a:t>语言在外面实现的</a:t>
            </a:r>
          </a:p>
          <a:p>
            <a:r>
              <a:rPr lang="zh-CN" altLang="en-US" dirty="0"/>
              <a:t>主要是因为</a:t>
            </a:r>
            <a:r>
              <a:rPr lang="en-US" altLang="zh-CN" dirty="0"/>
              <a:t>JAVA</a:t>
            </a:r>
            <a:r>
              <a:rPr lang="zh-CN" altLang="en-US" dirty="0"/>
              <a:t>无法对操作系统底层进行操作，但是可以通过</a:t>
            </a:r>
            <a:r>
              <a:rPr lang="en-US" altLang="zh-CN" dirty="0" err="1"/>
              <a:t>jni</a:t>
            </a:r>
            <a:r>
              <a:rPr lang="en-US" altLang="zh-CN" dirty="0"/>
              <a:t>(java native interface)</a:t>
            </a:r>
            <a:r>
              <a:rPr lang="zh-CN" altLang="en-US" dirty="0"/>
              <a:t>调用其他语言来实现底层的访问。</a:t>
            </a:r>
            <a:endParaRPr lang="en-US" altLang="zh-CN" dirty="0"/>
          </a:p>
          <a:p>
            <a:r>
              <a:rPr lang="en-US" altLang="zh-CN" dirty="0"/>
              <a:t>-------------------------------------------------------------------</a:t>
            </a:r>
          </a:p>
          <a:p>
            <a:r>
              <a:rPr lang="en-US" altLang="zh-CN" dirty="0"/>
              <a:t>try, catch, finally</a:t>
            </a:r>
          </a:p>
          <a:p>
            <a:r>
              <a:rPr lang="en-US" altLang="zh-CN" dirty="0"/>
              <a:t>-------------------------------------------------------------------</a:t>
            </a:r>
          </a:p>
          <a:p>
            <a:r>
              <a:rPr lang="zh-CN" altLang="en-US" dirty="0"/>
              <a:t>在多线程环境下用来作为线程安全的同步锁</a:t>
            </a:r>
            <a:endParaRPr lang="en-US" altLang="zh-CN" dirty="0"/>
          </a:p>
          <a:p>
            <a:r>
              <a:rPr lang="en-US" altLang="zh-CN" dirty="0"/>
              <a:t>volatile</a:t>
            </a:r>
            <a:r>
              <a:rPr lang="zh-CN" altLang="en-US" dirty="0"/>
              <a:t>让变量每次在使用的时候，都从主存中取，而不是从各个线程的“工作内存”。</a:t>
            </a:r>
            <a:endParaRPr lang="en-US" altLang="zh-CN" dirty="0"/>
          </a:p>
          <a:p>
            <a:r>
              <a:rPr lang="en-US" altLang="zh-CN" dirty="0"/>
              <a:t>-------------------------------------------------------------------</a:t>
            </a:r>
          </a:p>
          <a:p>
            <a:r>
              <a:rPr lang="zh-CN" altLang="en-US" dirty="0"/>
              <a:t>通常一个类实现序列化方式是实现序列化接口：</a:t>
            </a:r>
            <a:r>
              <a:rPr lang="en-US" altLang="zh-CN" dirty="0"/>
              <a:t>class XXX implements Serializable</a:t>
            </a:r>
            <a:r>
              <a:rPr lang="zh-CN" altLang="en-US" dirty="0"/>
              <a:t>。序列化的作用：把数据长久的保存在磁盘中，磁盘和内存是不同的</a:t>
            </a:r>
            <a:endParaRPr lang="en-US" altLang="zh-CN" dirty="0"/>
          </a:p>
          <a:p>
            <a:r>
              <a:rPr lang="en-US" altLang="zh-CN" dirty="0"/>
              <a:t>transient</a:t>
            </a:r>
            <a:r>
              <a:rPr lang="zh-CN" altLang="en-US" dirty="0"/>
              <a:t>关键字的作用，在已实现序列化的类中，有的变量不需要保存在磁盘中，就要</a:t>
            </a:r>
            <a:r>
              <a:rPr lang="en-US" altLang="zh-CN" dirty="0"/>
              <a:t>transient</a:t>
            </a:r>
            <a:r>
              <a:rPr lang="zh-CN" altLang="en-US" dirty="0"/>
              <a:t>关键字修饰，如银行卡密码等，就这个作用</a:t>
            </a:r>
            <a:r>
              <a:rPr lang="en-US" altLang="zh-CN" dirty="0"/>
              <a:t>------</a:t>
            </a:r>
            <a:r>
              <a:rPr lang="zh-CN" altLang="en-US" dirty="0"/>
              <a:t>在已序列化的类中使变量不序列化</a:t>
            </a:r>
            <a:endParaRPr lang="en-US" altLang="zh-CN" dirty="0"/>
          </a:p>
          <a:p>
            <a:endParaRPr lang="en-US" altLang="zh-CN" dirty="0"/>
          </a:p>
          <a:p>
            <a:endParaRPr lang="en-US" altLang="zh-CN" dirty="0"/>
          </a:p>
          <a:p>
            <a:r>
              <a:rPr kumimoji="1" lang="en" altLang="zh-CN" sz="1200" b="0" i="0" kern="1200" dirty="0">
                <a:solidFill>
                  <a:schemeClr val="tx1"/>
                </a:solidFill>
                <a:effectLst/>
                <a:latin typeface="Times New Roman" panose="02020603050405020304" pitchFamily="18" charset="0"/>
                <a:ea typeface="宋体" panose="02010600030101010101" pitchFamily="2" charset="-122"/>
                <a:cs typeface="+mn-cs"/>
              </a:rPr>
              <a:t>volatile </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是 </a:t>
            </a:r>
            <a:r>
              <a:rPr kumimoji="1" lang="en" altLang="zh-CN" sz="1200" b="0" i="0" kern="1200" dirty="0">
                <a:solidFill>
                  <a:schemeClr val="tx1"/>
                </a:solidFill>
                <a:effectLst/>
                <a:latin typeface="Times New Roman" panose="02020603050405020304" pitchFamily="18" charset="0"/>
                <a:ea typeface="宋体" panose="02010600030101010101" pitchFamily="2" charset="-122"/>
                <a:cs typeface="+mn-cs"/>
              </a:rPr>
              <a:t>Java </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中的关键字，是一个变量修饰符，被用来修饰会被不同线程访问和修改的变量。使用 </a:t>
            </a:r>
            <a:r>
              <a:rPr kumimoji="1" lang="en" altLang="zh-CN" sz="1200" b="0" i="0" kern="1200" dirty="0">
                <a:solidFill>
                  <a:schemeClr val="tx1"/>
                </a:solidFill>
                <a:effectLst/>
                <a:latin typeface="Times New Roman" panose="02020603050405020304" pitchFamily="18" charset="0"/>
                <a:ea typeface="宋体" panose="02010600030101010101" pitchFamily="2" charset="-122"/>
                <a:cs typeface="+mn-cs"/>
              </a:rPr>
              <a:t>volatile </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修饰的变量确保了线程不会将该变量拷贝到自己的工作线程中，所有线程对该变量的操作都是在主存中进行的，所以 </a:t>
            </a:r>
            <a:r>
              <a:rPr kumimoji="1" lang="en" altLang="zh-CN" sz="1200" b="0" i="0" kern="1200" dirty="0">
                <a:solidFill>
                  <a:schemeClr val="tx1"/>
                </a:solidFill>
                <a:effectLst/>
                <a:latin typeface="Times New Roman" panose="02020603050405020304" pitchFamily="18" charset="0"/>
                <a:ea typeface="宋体" panose="02010600030101010101" pitchFamily="2" charset="-122"/>
                <a:cs typeface="+mn-cs"/>
              </a:rPr>
              <a:t>volatile </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修饰的变量对所有线程可见。使用 </a:t>
            </a:r>
            <a:r>
              <a:rPr kumimoji="1" lang="en" altLang="zh-CN" sz="1200" b="0" i="0" kern="1200" dirty="0">
                <a:solidFill>
                  <a:schemeClr val="tx1"/>
                </a:solidFill>
                <a:effectLst/>
                <a:latin typeface="Times New Roman" panose="02020603050405020304" pitchFamily="18" charset="0"/>
                <a:ea typeface="宋体" panose="02010600030101010101" pitchFamily="2" charset="-122"/>
                <a:cs typeface="+mn-cs"/>
              </a:rPr>
              <a:t>volatile </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修饰 </a:t>
            </a:r>
            <a:r>
              <a:rPr kumimoji="1" lang="en" altLang="zh-CN" sz="1200" b="0" i="0" kern="1200" dirty="0" err="1">
                <a:solidFill>
                  <a:schemeClr val="tx1"/>
                </a:solidFill>
                <a:effectLst/>
                <a:latin typeface="Times New Roman" panose="02020603050405020304" pitchFamily="18" charset="0"/>
                <a:ea typeface="宋体" panose="02010600030101010101" pitchFamily="2" charset="-122"/>
                <a:cs typeface="+mn-cs"/>
              </a:rPr>
              <a:t>hasNewValue</a:t>
            </a:r>
            <a:r>
              <a:rPr kumimoji="1" lang="zh-CN" altLang="en" sz="1200" b="0" i="0" kern="1200" dirty="0">
                <a:solidFill>
                  <a:schemeClr val="tx1"/>
                </a:solidFill>
                <a:effectLst/>
                <a:latin typeface="Times New Roman" panose="02020603050405020304" pitchFamily="18" charset="0"/>
                <a:ea typeface="宋体" panose="02010600030101010101" pitchFamily="2" charset="-122"/>
                <a:cs typeface="+mn-cs"/>
              </a:rPr>
              <a:t>，</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这样在写线程和读线程中都是在主存中操作 </a:t>
            </a:r>
            <a:r>
              <a:rPr kumimoji="1" lang="en" altLang="zh-CN" sz="1200" b="0" i="0" kern="1200" dirty="0" err="1">
                <a:solidFill>
                  <a:schemeClr val="tx1"/>
                </a:solidFill>
                <a:effectLst/>
                <a:latin typeface="Times New Roman" panose="02020603050405020304" pitchFamily="18" charset="0"/>
                <a:ea typeface="宋体" panose="02010600030101010101" pitchFamily="2" charset="-122"/>
                <a:cs typeface="+mn-cs"/>
              </a:rPr>
              <a:t>hasNewValue</a:t>
            </a:r>
            <a:r>
              <a:rPr kumimoji="1" lang="en" altLang="zh-CN" sz="1200" b="0" i="0" kern="1200" dirty="0">
                <a:solidFill>
                  <a:schemeClr val="tx1"/>
                </a:solidFill>
                <a:effectLst/>
                <a:latin typeface="Times New Roman" panose="02020603050405020304" pitchFamily="18" charset="0"/>
                <a:ea typeface="宋体" panose="02010600030101010101" pitchFamily="2" charset="-122"/>
                <a:cs typeface="+mn-cs"/>
              </a:rPr>
              <a:t> </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的值，就不会产生死锁。</a:t>
            </a:r>
            <a:br>
              <a:rPr lang="zh-CN" altLang="en-US" dirty="0"/>
            </a:br>
            <a:r>
              <a:rPr kumimoji="1" lang="en" altLang="zh-CN" sz="1200" b="0" i="0" kern="1200" dirty="0">
                <a:solidFill>
                  <a:schemeClr val="tx1"/>
                </a:solidFill>
                <a:effectLst/>
                <a:latin typeface="Times New Roman" panose="02020603050405020304" pitchFamily="18" charset="0"/>
                <a:ea typeface="宋体" panose="02010600030101010101" pitchFamily="2" charset="-122"/>
                <a:cs typeface="+mn-cs"/>
              </a:rPr>
              <a:t>volatile </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只保证单次读</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写操作的原子性，对于多步操作，</a:t>
            </a:r>
            <a:r>
              <a:rPr kumimoji="1" lang="en" altLang="zh-CN" sz="1200" b="0" i="0" kern="1200" dirty="0">
                <a:solidFill>
                  <a:schemeClr val="tx1"/>
                </a:solidFill>
                <a:effectLst/>
                <a:latin typeface="Times New Roman" panose="02020603050405020304" pitchFamily="18" charset="0"/>
                <a:ea typeface="宋体" panose="02010600030101010101" pitchFamily="2" charset="-122"/>
                <a:cs typeface="+mn-cs"/>
              </a:rPr>
              <a:t>volatile </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不能保证原子性，</a:t>
            </a:r>
            <a:br>
              <a:rPr lang="zh-CN" altLang="en-US" dirty="0"/>
            </a:br>
            <a:endParaRPr lang="en-US" altLang="zh-CN" dirty="0"/>
          </a:p>
          <a:p>
            <a:endParaRPr lang="en-US" altLang="zh-CN" dirty="0"/>
          </a:p>
          <a:p>
            <a:endParaRPr lang="en-US" altLang="zh-CN" dirty="0"/>
          </a:p>
          <a:p>
            <a:endParaRPr lang="zh-CN" altLang="en-US" dirty="0"/>
          </a:p>
        </p:txBody>
      </p:sp>
      <p:sp>
        <p:nvSpPr>
          <p:cNvPr id="10244" name="灯片编号占位符 3">
            <a:extLst>
              <a:ext uri="{FF2B5EF4-FFF2-40B4-BE49-F238E27FC236}">
                <a16:creationId xmlns:a16="http://schemas.microsoft.com/office/drawing/2014/main" id="{1F8A9357-39B6-4D42-8375-DA6964DA9E71}"/>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900" b="1">
                <a:solidFill>
                  <a:srgbClr val="008000"/>
                </a:solidFill>
                <a:latin typeface="Lucida Console" panose="020B0609040504020204" pitchFamily="49" charset="0"/>
                <a:ea typeface="宋体" panose="02010600030101010101" pitchFamily="2" charset="-122"/>
              </a:defRPr>
            </a:lvl1pPr>
            <a:lvl2pPr marL="742950" indent="-285750">
              <a:defRPr sz="1900" b="1">
                <a:solidFill>
                  <a:srgbClr val="008000"/>
                </a:solidFill>
                <a:latin typeface="Lucida Console" panose="020B0609040504020204" pitchFamily="49" charset="0"/>
                <a:ea typeface="宋体" panose="02010600030101010101" pitchFamily="2" charset="-122"/>
              </a:defRPr>
            </a:lvl2pPr>
            <a:lvl3pPr marL="1143000" indent="-228600">
              <a:defRPr sz="1900" b="1">
                <a:solidFill>
                  <a:srgbClr val="008000"/>
                </a:solidFill>
                <a:latin typeface="Lucida Console" panose="020B0609040504020204" pitchFamily="49" charset="0"/>
                <a:ea typeface="宋体" panose="02010600030101010101" pitchFamily="2" charset="-122"/>
              </a:defRPr>
            </a:lvl3pPr>
            <a:lvl4pPr marL="1600200" indent="-228600">
              <a:defRPr sz="1900" b="1">
                <a:solidFill>
                  <a:srgbClr val="008000"/>
                </a:solidFill>
                <a:latin typeface="Lucida Console" panose="020B0609040504020204" pitchFamily="49" charset="0"/>
                <a:ea typeface="宋体" panose="02010600030101010101" pitchFamily="2" charset="-122"/>
              </a:defRPr>
            </a:lvl4pPr>
            <a:lvl5pPr marL="2057400" indent="-228600">
              <a:defRPr sz="1900" b="1">
                <a:solidFill>
                  <a:srgbClr val="008000"/>
                </a:solidFill>
                <a:latin typeface="Lucida Console" panose="020B0609040504020204" pitchFamily="49" charset="0"/>
                <a:ea typeface="宋体" panose="02010600030101010101" pitchFamily="2" charset="-122"/>
              </a:defRPr>
            </a:lvl5pPr>
            <a:lvl6pPr marL="25146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6pPr>
            <a:lvl7pPr marL="29718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7pPr>
            <a:lvl8pPr marL="34290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8pPr>
            <a:lvl9pPr marL="38862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9pPr>
          </a:lstStyle>
          <a:p>
            <a:fld id="{4C41CE24-EF57-4343-A4EC-FB63AA293A3D}" type="slidenum">
              <a:rPr lang="en-US" altLang="zh-CN" sz="1200" b="0">
                <a:solidFill>
                  <a:schemeClr val="tx1"/>
                </a:solidFill>
                <a:latin typeface="Times New Roman" panose="02020603050405020304" pitchFamily="18" charset="0"/>
              </a:rPr>
              <a:pPr/>
              <a:t>4</a:t>
            </a:fld>
            <a:endParaRPr lang="en-US" altLang="zh-CN" sz="1200" b="0">
              <a:solidFill>
                <a:schemeClr val="tx1"/>
              </a:solidFill>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a:extLst>
              <a:ext uri="{FF2B5EF4-FFF2-40B4-BE49-F238E27FC236}">
                <a16:creationId xmlns:a16="http://schemas.microsoft.com/office/drawing/2014/main" id="{D04E75D0-65E2-4C4A-B2D0-A994F29CB7EA}"/>
              </a:ext>
            </a:extLst>
          </p:cNvPr>
          <p:cNvSpPr>
            <a:spLocks noGrp="1" noRot="1" noChangeAspect="1" noChangeArrowheads="1" noTextEdit="1"/>
          </p:cNvSpPr>
          <p:nvPr>
            <p:ph type="sldImg"/>
          </p:nvPr>
        </p:nvSpPr>
        <p:spPr>
          <a:ln/>
        </p:spPr>
      </p:sp>
      <p:sp>
        <p:nvSpPr>
          <p:cNvPr id="10243" name="备注占位符 2">
            <a:extLst>
              <a:ext uri="{FF2B5EF4-FFF2-40B4-BE49-F238E27FC236}">
                <a16:creationId xmlns:a16="http://schemas.microsoft.com/office/drawing/2014/main" id="{6DC7A1DF-CFBE-4270-A9A9-3DD22D7B782E}"/>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zh-CN" dirty="0"/>
              <a:t>final</a:t>
            </a:r>
            <a:r>
              <a:rPr lang="zh-CN" altLang="en-US" dirty="0"/>
              <a:t>作为</a:t>
            </a:r>
            <a:r>
              <a:rPr lang="en-US" altLang="zh-CN" dirty="0"/>
              <a:t>Java</a:t>
            </a:r>
            <a:r>
              <a:rPr lang="zh-CN" altLang="en-US" dirty="0"/>
              <a:t>中的关键字可以用于三个地方。用于修饰类、类属性和类方法。</a:t>
            </a:r>
          </a:p>
          <a:p>
            <a:r>
              <a:rPr lang="zh-CN" altLang="en-US" dirty="0"/>
              <a:t>特征：凡是引用</a:t>
            </a:r>
            <a:r>
              <a:rPr lang="en-US" altLang="zh-CN" dirty="0"/>
              <a:t>final</a:t>
            </a:r>
            <a:r>
              <a:rPr lang="zh-CN" altLang="en-US" dirty="0"/>
              <a:t>关键字的地方皆不可修改！</a:t>
            </a:r>
          </a:p>
          <a:p>
            <a:r>
              <a:rPr lang="en-US" altLang="zh-CN" dirty="0"/>
              <a:t>(1)</a:t>
            </a:r>
            <a:r>
              <a:rPr lang="zh-CN" altLang="en-US" dirty="0"/>
              <a:t>修饰类：表示该类不能被继承；</a:t>
            </a:r>
          </a:p>
          <a:p>
            <a:r>
              <a:rPr lang="en-US" altLang="zh-CN" dirty="0"/>
              <a:t>(2)</a:t>
            </a:r>
            <a:r>
              <a:rPr lang="zh-CN" altLang="en-US" dirty="0"/>
              <a:t>修饰方法：表示方法不能被重写；</a:t>
            </a:r>
          </a:p>
          <a:p>
            <a:r>
              <a:rPr lang="en-US" altLang="zh-CN" dirty="0"/>
              <a:t>(3)</a:t>
            </a:r>
            <a:r>
              <a:rPr lang="zh-CN" altLang="en-US" dirty="0"/>
              <a:t>修饰变量：表示变量只能一次赋值以后值不能被修改（常量）。</a:t>
            </a:r>
          </a:p>
          <a:p>
            <a:r>
              <a:rPr lang="en-US" altLang="zh-CN" dirty="0"/>
              <a:t>-------------------------------------------------------------------</a:t>
            </a:r>
          </a:p>
          <a:p>
            <a:r>
              <a:rPr lang="en-US" altLang="zh-CN" dirty="0"/>
              <a:t>native</a:t>
            </a:r>
            <a:r>
              <a:rPr lang="zh-CN" altLang="en-US" dirty="0"/>
              <a:t>：</a:t>
            </a:r>
            <a:endParaRPr lang="en-US" altLang="zh-CN" dirty="0"/>
          </a:p>
          <a:p>
            <a:r>
              <a:rPr lang="en-US" altLang="zh-CN" dirty="0"/>
              <a:t>1</a:t>
            </a:r>
            <a:r>
              <a:rPr lang="zh-CN" altLang="en-US" dirty="0"/>
              <a:t>、一个</a:t>
            </a:r>
            <a:r>
              <a:rPr lang="en-US" altLang="zh-CN" dirty="0"/>
              <a:t>native</a:t>
            </a:r>
            <a:r>
              <a:rPr lang="zh-CN" altLang="en-US" dirty="0"/>
              <a:t>方法就是一个</a:t>
            </a:r>
            <a:r>
              <a:rPr lang="en-US" altLang="zh-CN" dirty="0"/>
              <a:t>Java</a:t>
            </a:r>
            <a:r>
              <a:rPr lang="zh-CN" altLang="en-US" dirty="0"/>
              <a:t>调用非</a:t>
            </a:r>
            <a:r>
              <a:rPr lang="en-US" altLang="zh-CN" dirty="0"/>
              <a:t>Java</a:t>
            </a:r>
            <a:r>
              <a:rPr lang="zh-CN" altLang="en-US" dirty="0"/>
              <a:t>代码的接口。一个</a:t>
            </a:r>
            <a:r>
              <a:rPr lang="en-US" altLang="zh-CN" dirty="0"/>
              <a:t>native</a:t>
            </a:r>
            <a:r>
              <a:rPr lang="zh-CN" altLang="en-US" dirty="0"/>
              <a:t>方法是指该方法的实现由非</a:t>
            </a:r>
            <a:r>
              <a:rPr lang="en-US" altLang="zh-CN" dirty="0"/>
              <a:t>Java</a:t>
            </a:r>
            <a:r>
              <a:rPr lang="zh-CN" altLang="en-US" dirty="0"/>
              <a:t>语言实现，比如用</a:t>
            </a:r>
            <a:r>
              <a:rPr lang="en-US" altLang="zh-CN" dirty="0"/>
              <a:t>C</a:t>
            </a:r>
            <a:r>
              <a:rPr lang="zh-CN" altLang="en-US" dirty="0"/>
              <a:t>或</a:t>
            </a:r>
            <a:r>
              <a:rPr lang="en-US" altLang="zh-CN" dirty="0"/>
              <a:t>C++</a:t>
            </a:r>
            <a:r>
              <a:rPr lang="zh-CN" altLang="en-US" dirty="0"/>
              <a:t>实现。</a:t>
            </a:r>
          </a:p>
          <a:p>
            <a:r>
              <a:rPr lang="en-US" altLang="zh-CN" dirty="0"/>
              <a:t>2</a:t>
            </a:r>
            <a:r>
              <a:rPr lang="zh-CN" altLang="en-US" dirty="0"/>
              <a:t>、在定义一个</a:t>
            </a:r>
            <a:r>
              <a:rPr lang="en-US" altLang="zh-CN" dirty="0"/>
              <a:t>native</a:t>
            </a:r>
            <a:r>
              <a:rPr lang="zh-CN" altLang="en-US" dirty="0"/>
              <a:t>方法时，并不提供实现体（比较像定义一个</a:t>
            </a:r>
            <a:r>
              <a:rPr lang="en-US" altLang="zh-CN" dirty="0"/>
              <a:t>Java Interface</a:t>
            </a:r>
            <a:r>
              <a:rPr lang="zh-CN" altLang="en-US" dirty="0"/>
              <a:t>），因为其实现体是由非</a:t>
            </a:r>
            <a:r>
              <a:rPr lang="en-US" altLang="zh-CN" dirty="0"/>
              <a:t>Java</a:t>
            </a:r>
            <a:r>
              <a:rPr lang="zh-CN" altLang="en-US" dirty="0"/>
              <a:t>语言在外面实现的</a:t>
            </a:r>
          </a:p>
          <a:p>
            <a:r>
              <a:rPr lang="zh-CN" altLang="en-US" dirty="0"/>
              <a:t>主要是因为</a:t>
            </a:r>
            <a:r>
              <a:rPr lang="en-US" altLang="zh-CN" dirty="0"/>
              <a:t>JAVA</a:t>
            </a:r>
            <a:r>
              <a:rPr lang="zh-CN" altLang="en-US" dirty="0"/>
              <a:t>无法对操作系统底层进行操作，但是可以通过</a:t>
            </a:r>
            <a:r>
              <a:rPr lang="en-US" altLang="zh-CN" dirty="0" err="1"/>
              <a:t>jni</a:t>
            </a:r>
            <a:r>
              <a:rPr lang="en-US" altLang="zh-CN" dirty="0"/>
              <a:t>(java native interface)</a:t>
            </a:r>
            <a:r>
              <a:rPr lang="zh-CN" altLang="en-US" dirty="0"/>
              <a:t>调用其他语言来实现底层的访问。</a:t>
            </a:r>
            <a:endParaRPr lang="en-US" altLang="zh-CN" dirty="0"/>
          </a:p>
          <a:p>
            <a:r>
              <a:rPr lang="en-US" altLang="zh-CN" dirty="0"/>
              <a:t>-------------------------------------------------------------------</a:t>
            </a:r>
          </a:p>
          <a:p>
            <a:r>
              <a:rPr lang="en-US" altLang="zh-CN" dirty="0"/>
              <a:t>try, catch, finally</a:t>
            </a:r>
          </a:p>
          <a:p>
            <a:r>
              <a:rPr lang="en-US" altLang="zh-CN" dirty="0"/>
              <a:t>-------------------------------------------------------------------</a:t>
            </a:r>
          </a:p>
          <a:p>
            <a:r>
              <a:rPr lang="zh-CN" altLang="en-US" dirty="0"/>
              <a:t>在多线程环境下用来作为线程安全的同步锁</a:t>
            </a:r>
            <a:endParaRPr lang="en-US" altLang="zh-CN" dirty="0"/>
          </a:p>
          <a:p>
            <a:r>
              <a:rPr lang="en-US" altLang="zh-CN" dirty="0"/>
              <a:t>volatile</a:t>
            </a:r>
            <a:r>
              <a:rPr lang="zh-CN" altLang="en-US" dirty="0"/>
              <a:t>让变量每次在使用的时候，都从主存中取，而不是从各个线程的“工作内存”。</a:t>
            </a:r>
            <a:endParaRPr lang="en-US" altLang="zh-CN" dirty="0"/>
          </a:p>
          <a:p>
            <a:r>
              <a:rPr lang="en-US" altLang="zh-CN" dirty="0"/>
              <a:t>-------------------------------------------------------------------</a:t>
            </a:r>
          </a:p>
          <a:p>
            <a:r>
              <a:rPr lang="zh-CN" altLang="en-US" dirty="0"/>
              <a:t>通常一个类实现序列化方式是实现序列化接口：</a:t>
            </a:r>
            <a:r>
              <a:rPr lang="en-US" altLang="zh-CN" dirty="0"/>
              <a:t>class XXX implements Serializable</a:t>
            </a:r>
            <a:r>
              <a:rPr lang="zh-CN" altLang="en-US" dirty="0"/>
              <a:t>。序列化的作用：把数据长久的保存在磁盘中，磁盘和内存是不同的</a:t>
            </a:r>
            <a:endParaRPr lang="en-US" altLang="zh-CN" dirty="0"/>
          </a:p>
          <a:p>
            <a:r>
              <a:rPr lang="en-US" altLang="zh-CN" dirty="0"/>
              <a:t>transient</a:t>
            </a:r>
            <a:r>
              <a:rPr lang="zh-CN" altLang="en-US" dirty="0"/>
              <a:t>关键字的作用，在已实现序列化的类中，有的变量不需要保存在磁盘中，就要</a:t>
            </a:r>
            <a:r>
              <a:rPr lang="en-US" altLang="zh-CN" dirty="0"/>
              <a:t>transient</a:t>
            </a:r>
            <a:r>
              <a:rPr lang="zh-CN" altLang="en-US" dirty="0"/>
              <a:t>关键字修饰，如银行卡密码等，就这个作用</a:t>
            </a:r>
            <a:r>
              <a:rPr lang="en-US" altLang="zh-CN" dirty="0"/>
              <a:t>------</a:t>
            </a:r>
            <a:r>
              <a:rPr lang="zh-CN" altLang="en-US" dirty="0"/>
              <a:t>在已序列化的类中使变量不序列化</a:t>
            </a:r>
            <a:endParaRPr lang="en-US" altLang="zh-CN" dirty="0"/>
          </a:p>
          <a:p>
            <a:endParaRPr lang="zh-CN" altLang="en-US" dirty="0"/>
          </a:p>
        </p:txBody>
      </p:sp>
      <p:sp>
        <p:nvSpPr>
          <p:cNvPr id="10244" name="灯片编号占位符 3">
            <a:extLst>
              <a:ext uri="{FF2B5EF4-FFF2-40B4-BE49-F238E27FC236}">
                <a16:creationId xmlns:a16="http://schemas.microsoft.com/office/drawing/2014/main" id="{1F8A9357-39B6-4D42-8375-DA6964DA9E71}"/>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900" b="1">
                <a:solidFill>
                  <a:srgbClr val="008000"/>
                </a:solidFill>
                <a:latin typeface="Lucida Console" panose="020B0609040504020204" pitchFamily="49" charset="0"/>
                <a:ea typeface="宋体" panose="02010600030101010101" pitchFamily="2" charset="-122"/>
              </a:defRPr>
            </a:lvl1pPr>
            <a:lvl2pPr marL="742950" indent="-285750">
              <a:defRPr sz="1900" b="1">
                <a:solidFill>
                  <a:srgbClr val="008000"/>
                </a:solidFill>
                <a:latin typeface="Lucida Console" panose="020B0609040504020204" pitchFamily="49" charset="0"/>
                <a:ea typeface="宋体" panose="02010600030101010101" pitchFamily="2" charset="-122"/>
              </a:defRPr>
            </a:lvl2pPr>
            <a:lvl3pPr marL="1143000" indent="-228600">
              <a:defRPr sz="1900" b="1">
                <a:solidFill>
                  <a:srgbClr val="008000"/>
                </a:solidFill>
                <a:latin typeface="Lucida Console" panose="020B0609040504020204" pitchFamily="49" charset="0"/>
                <a:ea typeface="宋体" panose="02010600030101010101" pitchFamily="2" charset="-122"/>
              </a:defRPr>
            </a:lvl3pPr>
            <a:lvl4pPr marL="1600200" indent="-228600">
              <a:defRPr sz="1900" b="1">
                <a:solidFill>
                  <a:srgbClr val="008000"/>
                </a:solidFill>
                <a:latin typeface="Lucida Console" panose="020B0609040504020204" pitchFamily="49" charset="0"/>
                <a:ea typeface="宋体" panose="02010600030101010101" pitchFamily="2" charset="-122"/>
              </a:defRPr>
            </a:lvl4pPr>
            <a:lvl5pPr marL="2057400" indent="-228600">
              <a:defRPr sz="1900" b="1">
                <a:solidFill>
                  <a:srgbClr val="008000"/>
                </a:solidFill>
                <a:latin typeface="Lucida Console" panose="020B0609040504020204" pitchFamily="49" charset="0"/>
                <a:ea typeface="宋体" panose="02010600030101010101" pitchFamily="2" charset="-122"/>
              </a:defRPr>
            </a:lvl5pPr>
            <a:lvl6pPr marL="25146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6pPr>
            <a:lvl7pPr marL="29718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7pPr>
            <a:lvl8pPr marL="34290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8pPr>
            <a:lvl9pPr marL="38862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9pPr>
          </a:lstStyle>
          <a:p>
            <a:fld id="{4C41CE24-EF57-4343-A4EC-FB63AA293A3D}" type="slidenum">
              <a:rPr lang="en-US" altLang="zh-CN" sz="1200" b="0">
                <a:solidFill>
                  <a:schemeClr val="tx1"/>
                </a:solidFill>
                <a:latin typeface="Times New Roman" panose="02020603050405020304" pitchFamily="18" charset="0"/>
              </a:rPr>
              <a:pPr/>
              <a:t>5</a:t>
            </a:fld>
            <a:endParaRPr lang="en-US" altLang="zh-CN" sz="1200" b="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27306698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a:extLst>
              <a:ext uri="{FF2B5EF4-FFF2-40B4-BE49-F238E27FC236}">
                <a16:creationId xmlns:a16="http://schemas.microsoft.com/office/drawing/2014/main" id="{1EF953DE-5097-455F-A561-086BE98F9949}"/>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900" b="1">
                <a:solidFill>
                  <a:srgbClr val="008000"/>
                </a:solidFill>
                <a:latin typeface="Lucida Console" panose="020B0609040504020204" pitchFamily="49" charset="0"/>
                <a:ea typeface="宋体" panose="02010600030101010101" pitchFamily="2" charset="-122"/>
              </a:defRPr>
            </a:lvl1pPr>
            <a:lvl2pPr marL="742950" indent="-285750">
              <a:defRPr sz="1900" b="1">
                <a:solidFill>
                  <a:srgbClr val="008000"/>
                </a:solidFill>
                <a:latin typeface="Lucida Console" panose="020B0609040504020204" pitchFamily="49" charset="0"/>
                <a:ea typeface="宋体" panose="02010600030101010101" pitchFamily="2" charset="-122"/>
              </a:defRPr>
            </a:lvl2pPr>
            <a:lvl3pPr marL="1143000" indent="-228600">
              <a:defRPr sz="1900" b="1">
                <a:solidFill>
                  <a:srgbClr val="008000"/>
                </a:solidFill>
                <a:latin typeface="Lucida Console" panose="020B0609040504020204" pitchFamily="49" charset="0"/>
                <a:ea typeface="宋体" panose="02010600030101010101" pitchFamily="2" charset="-122"/>
              </a:defRPr>
            </a:lvl3pPr>
            <a:lvl4pPr marL="1600200" indent="-228600">
              <a:defRPr sz="1900" b="1">
                <a:solidFill>
                  <a:srgbClr val="008000"/>
                </a:solidFill>
                <a:latin typeface="Lucida Console" panose="020B0609040504020204" pitchFamily="49" charset="0"/>
                <a:ea typeface="宋体" panose="02010600030101010101" pitchFamily="2" charset="-122"/>
              </a:defRPr>
            </a:lvl4pPr>
            <a:lvl5pPr marL="2057400" indent="-228600">
              <a:defRPr sz="1900" b="1">
                <a:solidFill>
                  <a:srgbClr val="008000"/>
                </a:solidFill>
                <a:latin typeface="Lucida Console" panose="020B0609040504020204" pitchFamily="49" charset="0"/>
                <a:ea typeface="宋体" panose="02010600030101010101" pitchFamily="2" charset="-122"/>
              </a:defRPr>
            </a:lvl5pPr>
            <a:lvl6pPr marL="25146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6pPr>
            <a:lvl7pPr marL="29718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7pPr>
            <a:lvl8pPr marL="34290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8pPr>
            <a:lvl9pPr marL="38862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9pPr>
          </a:lstStyle>
          <a:p>
            <a:fld id="{C28F1A89-A313-40C4-964F-003492592322}" type="slidenum">
              <a:rPr lang="en-US" altLang="zh-CN" sz="1200" b="0">
                <a:solidFill>
                  <a:schemeClr val="tx1"/>
                </a:solidFill>
                <a:latin typeface="Times New Roman" panose="02020603050405020304" pitchFamily="18" charset="0"/>
              </a:rPr>
              <a:pPr/>
              <a:t>6</a:t>
            </a:fld>
            <a:endParaRPr lang="en-US" altLang="zh-CN" sz="1200" b="0">
              <a:solidFill>
                <a:schemeClr val="tx1"/>
              </a:solidFill>
              <a:latin typeface="Times New Roman" panose="02020603050405020304" pitchFamily="18" charset="0"/>
            </a:endParaRPr>
          </a:p>
        </p:txBody>
      </p:sp>
      <p:sp>
        <p:nvSpPr>
          <p:cNvPr id="12291" name="Rectangle 2">
            <a:extLst>
              <a:ext uri="{FF2B5EF4-FFF2-40B4-BE49-F238E27FC236}">
                <a16:creationId xmlns:a16="http://schemas.microsoft.com/office/drawing/2014/main" id="{7D8812D9-E6EF-486E-ADF8-99A5AC1B2C4A}"/>
              </a:ext>
            </a:extLst>
          </p:cNvPr>
          <p:cNvSpPr>
            <a:spLocks noGrp="1" noRot="1" noChangeAspect="1" noChangeArrowheads="1" noTextEdit="1"/>
          </p:cNvSpPr>
          <p:nvPr>
            <p:ph type="sldImg"/>
          </p:nvPr>
        </p:nvSpPr>
        <p:spPr>
          <a:ln/>
        </p:spPr>
      </p:sp>
      <p:sp>
        <p:nvSpPr>
          <p:cNvPr id="12292" name="Rectangle 3">
            <a:extLst>
              <a:ext uri="{FF2B5EF4-FFF2-40B4-BE49-F238E27FC236}">
                <a16:creationId xmlns:a16="http://schemas.microsoft.com/office/drawing/2014/main" id="{FF40AE75-4F8F-4C41-9AB4-B4E49051682E}"/>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zh-CN" altLang="en-US" dirty="0"/>
              <a:t>引用数据类型：</a:t>
            </a:r>
            <a:r>
              <a:rPr lang="en-US" altLang="zh-CN" dirty="0"/>
              <a:t>Java</a:t>
            </a:r>
            <a:r>
              <a:rPr lang="zh-CN" altLang="en-US" dirty="0"/>
              <a:t>语言本身不支持</a:t>
            </a:r>
            <a:r>
              <a:rPr lang="en-US" altLang="zh-CN" dirty="0"/>
              <a:t>C++</a:t>
            </a:r>
            <a:r>
              <a:rPr lang="zh-CN" altLang="en-US" dirty="0"/>
              <a:t>中的结构（</a:t>
            </a:r>
            <a:r>
              <a:rPr lang="en-US" altLang="zh-CN" dirty="0"/>
              <a:t>struct</a:t>
            </a:r>
            <a:r>
              <a:rPr lang="zh-CN" altLang="en-US" dirty="0"/>
              <a:t>）或联合（</a:t>
            </a:r>
            <a:r>
              <a:rPr lang="en-US" altLang="zh-CN" dirty="0"/>
              <a:t>union</a:t>
            </a:r>
            <a:r>
              <a:rPr lang="zh-CN" altLang="en-US" dirty="0"/>
              <a:t>）数据类型，它的复合数据类型一般都是通过类或接口进行构造，类提供了捆绑数据和方法的方式，同时可以针对程序外部进行信息隐藏。</a:t>
            </a:r>
            <a:endParaRPr lang="en-US" altLang="zh-CN" dirty="0"/>
          </a:p>
          <a:p>
            <a:pPr eaLnBrk="1" hangingPunct="1"/>
            <a:r>
              <a:rPr lang="zh-CN" altLang="en-US" b="1" dirty="0"/>
              <a:t>区别 </a:t>
            </a:r>
            <a:r>
              <a:rPr lang="en-US" altLang="zh-CN" b="1" dirty="0"/>
              <a:t>:</a:t>
            </a:r>
            <a:r>
              <a:rPr lang="zh-CN" altLang="en-US" b="1" dirty="0"/>
              <a:t>基本数据类型和引用类型的区别主要在于基本数据类型是分配在栈上的，而引用类型是分配在堆上的。</a:t>
            </a:r>
            <a:endParaRPr lang="en-US" altLang="zh-CN" b="1" dirty="0"/>
          </a:p>
          <a:p>
            <a:pPr eaLnBrk="1" hangingPunct="1"/>
            <a:r>
              <a:rPr lang="zh-CN" altLang="en-US" b="1" dirty="0"/>
              <a:t>不论是基本数据类型还是引用类型，他们都会先在栈中分配一块内存，对于基本类型来说，这块区域包含的是基本类型的内容；而对于对象类型来说，这块区域包含的是指向真正内容的指针，真正的内容被手动的分配在堆上</a:t>
            </a:r>
            <a:r>
              <a:rPr lang="zh-CN" altLang="en-US" dirty="0"/>
              <a:t>。</a:t>
            </a:r>
            <a:endParaRPr lang="zh-CN" altLang="zh-C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幻灯片图像占位符 1">
            <a:extLst>
              <a:ext uri="{FF2B5EF4-FFF2-40B4-BE49-F238E27FC236}">
                <a16:creationId xmlns:a16="http://schemas.microsoft.com/office/drawing/2014/main" id="{133A5217-9D93-406F-9A62-64834BBCB151}"/>
              </a:ext>
            </a:extLst>
          </p:cNvPr>
          <p:cNvSpPr>
            <a:spLocks noGrp="1" noRot="1" noChangeAspect="1" noChangeArrowheads="1" noTextEdit="1"/>
          </p:cNvSpPr>
          <p:nvPr>
            <p:ph type="sldImg"/>
          </p:nvPr>
        </p:nvSpPr>
        <p:spPr>
          <a:ln/>
        </p:spPr>
      </p:sp>
      <p:sp>
        <p:nvSpPr>
          <p:cNvPr id="15363" name="备注占位符 2">
            <a:extLst>
              <a:ext uri="{FF2B5EF4-FFF2-40B4-BE49-F238E27FC236}">
                <a16:creationId xmlns:a16="http://schemas.microsoft.com/office/drawing/2014/main" id="{E46D36F7-9D73-4807-8582-D91F97870374}"/>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en-US"/>
          </a:p>
        </p:txBody>
      </p:sp>
      <p:sp>
        <p:nvSpPr>
          <p:cNvPr id="15364" name="灯片编号占位符 3">
            <a:extLst>
              <a:ext uri="{FF2B5EF4-FFF2-40B4-BE49-F238E27FC236}">
                <a16:creationId xmlns:a16="http://schemas.microsoft.com/office/drawing/2014/main" id="{E003831C-3B28-44FC-96E0-CACD8583FFC0}"/>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900" b="1">
                <a:solidFill>
                  <a:srgbClr val="008000"/>
                </a:solidFill>
                <a:latin typeface="Lucida Console" panose="020B0609040504020204" pitchFamily="49" charset="0"/>
                <a:ea typeface="宋体" panose="02010600030101010101" pitchFamily="2" charset="-122"/>
              </a:defRPr>
            </a:lvl1pPr>
            <a:lvl2pPr marL="742950" indent="-285750">
              <a:defRPr sz="1900" b="1">
                <a:solidFill>
                  <a:srgbClr val="008000"/>
                </a:solidFill>
                <a:latin typeface="Lucida Console" panose="020B0609040504020204" pitchFamily="49" charset="0"/>
                <a:ea typeface="宋体" panose="02010600030101010101" pitchFamily="2" charset="-122"/>
              </a:defRPr>
            </a:lvl2pPr>
            <a:lvl3pPr marL="1143000" indent="-228600">
              <a:defRPr sz="1900" b="1">
                <a:solidFill>
                  <a:srgbClr val="008000"/>
                </a:solidFill>
                <a:latin typeface="Lucida Console" panose="020B0609040504020204" pitchFamily="49" charset="0"/>
                <a:ea typeface="宋体" panose="02010600030101010101" pitchFamily="2" charset="-122"/>
              </a:defRPr>
            </a:lvl3pPr>
            <a:lvl4pPr marL="1600200" indent="-228600">
              <a:defRPr sz="1900" b="1">
                <a:solidFill>
                  <a:srgbClr val="008000"/>
                </a:solidFill>
                <a:latin typeface="Lucida Console" panose="020B0609040504020204" pitchFamily="49" charset="0"/>
                <a:ea typeface="宋体" panose="02010600030101010101" pitchFamily="2" charset="-122"/>
              </a:defRPr>
            </a:lvl4pPr>
            <a:lvl5pPr marL="2057400" indent="-228600">
              <a:defRPr sz="1900" b="1">
                <a:solidFill>
                  <a:srgbClr val="008000"/>
                </a:solidFill>
                <a:latin typeface="Lucida Console" panose="020B0609040504020204" pitchFamily="49" charset="0"/>
                <a:ea typeface="宋体" panose="02010600030101010101" pitchFamily="2" charset="-122"/>
              </a:defRPr>
            </a:lvl5pPr>
            <a:lvl6pPr marL="25146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6pPr>
            <a:lvl7pPr marL="29718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7pPr>
            <a:lvl8pPr marL="34290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8pPr>
            <a:lvl9pPr marL="38862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9pPr>
          </a:lstStyle>
          <a:p>
            <a:fld id="{68BE90BF-E3E2-4873-9BC8-75BE89290E66}" type="slidenum">
              <a:rPr lang="en-US" altLang="zh-CN" sz="1200" b="0">
                <a:solidFill>
                  <a:schemeClr val="tx1"/>
                </a:solidFill>
                <a:latin typeface="Times New Roman" panose="02020603050405020304" pitchFamily="18" charset="0"/>
              </a:rPr>
              <a:pPr/>
              <a:t>8</a:t>
            </a:fld>
            <a:endParaRPr lang="en-US" altLang="zh-CN" sz="1200" b="0">
              <a:solidFill>
                <a:schemeClr val="tx1"/>
              </a:solidFill>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a:extLst>
              <a:ext uri="{FF2B5EF4-FFF2-40B4-BE49-F238E27FC236}">
                <a16:creationId xmlns:a16="http://schemas.microsoft.com/office/drawing/2014/main" id="{C66332B0-D050-47DC-B439-91CA808A37F3}"/>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900" b="1">
                <a:solidFill>
                  <a:srgbClr val="008000"/>
                </a:solidFill>
                <a:latin typeface="Lucida Console" panose="020B0609040504020204" pitchFamily="49" charset="0"/>
                <a:ea typeface="宋体" panose="02010600030101010101" pitchFamily="2" charset="-122"/>
              </a:defRPr>
            </a:lvl1pPr>
            <a:lvl2pPr marL="742950" indent="-285750">
              <a:defRPr sz="1900" b="1">
                <a:solidFill>
                  <a:srgbClr val="008000"/>
                </a:solidFill>
                <a:latin typeface="Lucida Console" panose="020B0609040504020204" pitchFamily="49" charset="0"/>
                <a:ea typeface="宋体" panose="02010600030101010101" pitchFamily="2" charset="-122"/>
              </a:defRPr>
            </a:lvl2pPr>
            <a:lvl3pPr marL="1143000" indent="-228600">
              <a:defRPr sz="1900" b="1">
                <a:solidFill>
                  <a:srgbClr val="008000"/>
                </a:solidFill>
                <a:latin typeface="Lucida Console" panose="020B0609040504020204" pitchFamily="49" charset="0"/>
                <a:ea typeface="宋体" panose="02010600030101010101" pitchFamily="2" charset="-122"/>
              </a:defRPr>
            </a:lvl3pPr>
            <a:lvl4pPr marL="1600200" indent="-228600">
              <a:defRPr sz="1900" b="1">
                <a:solidFill>
                  <a:srgbClr val="008000"/>
                </a:solidFill>
                <a:latin typeface="Lucida Console" panose="020B0609040504020204" pitchFamily="49" charset="0"/>
                <a:ea typeface="宋体" panose="02010600030101010101" pitchFamily="2" charset="-122"/>
              </a:defRPr>
            </a:lvl4pPr>
            <a:lvl5pPr marL="2057400" indent="-228600">
              <a:defRPr sz="1900" b="1">
                <a:solidFill>
                  <a:srgbClr val="008000"/>
                </a:solidFill>
                <a:latin typeface="Lucida Console" panose="020B0609040504020204" pitchFamily="49" charset="0"/>
                <a:ea typeface="宋体" panose="02010600030101010101" pitchFamily="2" charset="-122"/>
              </a:defRPr>
            </a:lvl5pPr>
            <a:lvl6pPr marL="25146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6pPr>
            <a:lvl7pPr marL="29718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7pPr>
            <a:lvl8pPr marL="34290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8pPr>
            <a:lvl9pPr marL="38862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9pPr>
          </a:lstStyle>
          <a:p>
            <a:fld id="{0635F873-2B6E-4B0B-92BB-DFF8441FBEC1}" type="slidenum">
              <a:rPr lang="en-US" altLang="zh-CN" sz="1200" b="0">
                <a:solidFill>
                  <a:schemeClr val="tx1"/>
                </a:solidFill>
                <a:latin typeface="Times New Roman" panose="02020603050405020304" pitchFamily="18" charset="0"/>
              </a:rPr>
              <a:pPr/>
              <a:t>10</a:t>
            </a:fld>
            <a:endParaRPr lang="en-US" altLang="zh-CN" sz="1200" b="0">
              <a:solidFill>
                <a:schemeClr val="tx1"/>
              </a:solidFill>
              <a:latin typeface="Times New Roman" panose="02020603050405020304" pitchFamily="18" charset="0"/>
            </a:endParaRPr>
          </a:p>
        </p:txBody>
      </p:sp>
      <p:sp>
        <p:nvSpPr>
          <p:cNvPr id="18435" name="Rectangle 2">
            <a:extLst>
              <a:ext uri="{FF2B5EF4-FFF2-40B4-BE49-F238E27FC236}">
                <a16:creationId xmlns:a16="http://schemas.microsoft.com/office/drawing/2014/main" id="{25AF8E54-F138-43E0-B721-E1B1961D8BB0}"/>
              </a:ext>
            </a:extLst>
          </p:cNvPr>
          <p:cNvSpPr>
            <a:spLocks noGrp="1" noRot="1" noChangeAspect="1" noChangeArrowheads="1" noTextEdit="1"/>
          </p:cNvSpPr>
          <p:nvPr>
            <p:ph type="sldImg"/>
          </p:nvPr>
        </p:nvSpPr>
        <p:spPr>
          <a:ln/>
        </p:spPr>
      </p:sp>
      <p:sp>
        <p:nvSpPr>
          <p:cNvPr id="18436" name="Rectangle 3">
            <a:extLst>
              <a:ext uri="{FF2B5EF4-FFF2-40B4-BE49-F238E27FC236}">
                <a16:creationId xmlns:a16="http://schemas.microsoft.com/office/drawing/2014/main" id="{64FEC504-6EF4-423A-AA3F-F0773A678DF3}"/>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en-US" altLang="zh-CN"/>
              <a:t>static</a:t>
            </a:r>
            <a:r>
              <a:rPr lang="zh-CN" altLang="en-US"/>
              <a:t>表示“全局”或者“静态”的意思，用来修饰成员变量和成员方法，也可以形成静态</a:t>
            </a:r>
            <a:r>
              <a:rPr lang="en-US" altLang="zh-CN"/>
              <a:t>static</a:t>
            </a:r>
            <a:r>
              <a:rPr lang="zh-CN" altLang="en-US"/>
              <a:t>代码块，但是</a:t>
            </a:r>
            <a:r>
              <a:rPr lang="en-US" altLang="zh-CN"/>
              <a:t>Java</a:t>
            </a:r>
            <a:r>
              <a:rPr lang="zh-CN" altLang="en-US"/>
              <a:t>语言中没有全局变量的概念。</a:t>
            </a:r>
          </a:p>
          <a:p>
            <a:pPr eaLnBrk="1" hangingPunct="1"/>
            <a:r>
              <a:rPr lang="zh-CN" altLang="en-US"/>
              <a:t>被</a:t>
            </a:r>
            <a:r>
              <a:rPr lang="en-US" altLang="zh-CN"/>
              <a:t>static</a:t>
            </a:r>
            <a:r>
              <a:rPr lang="zh-CN" altLang="en-US"/>
              <a:t>修饰的成员变量和成员方法独立于该类的任何对象。也就是说，它不依赖类特定的实例，被类的所有实例共享。</a:t>
            </a:r>
          </a:p>
          <a:p>
            <a:pPr eaLnBrk="1" hangingPunct="1"/>
            <a:r>
              <a:rPr lang="zh-CN" altLang="en-US"/>
              <a:t>只要这个类被加载，</a:t>
            </a:r>
            <a:r>
              <a:rPr lang="en-US" altLang="zh-CN"/>
              <a:t>Java</a:t>
            </a:r>
            <a:r>
              <a:rPr lang="zh-CN" altLang="en-US"/>
              <a:t>虚拟机就能根据类名在运行时数据区的方法区内定找到他们。因此，</a:t>
            </a:r>
            <a:r>
              <a:rPr lang="en-US" altLang="zh-CN"/>
              <a:t>static</a:t>
            </a:r>
            <a:r>
              <a:rPr lang="zh-CN" altLang="en-US"/>
              <a:t>对象可以在它的任何对象创建之前访问，无需引用任何对象。</a:t>
            </a:r>
          </a:p>
          <a:p>
            <a:pPr eaLnBrk="1" hangingPunct="1"/>
            <a:r>
              <a:rPr lang="zh-CN" altLang="en-US"/>
              <a:t>用</a:t>
            </a:r>
            <a:r>
              <a:rPr lang="en-US" altLang="zh-CN"/>
              <a:t>public</a:t>
            </a:r>
            <a:r>
              <a:rPr lang="zh-CN" altLang="en-US"/>
              <a:t>修饰的</a:t>
            </a:r>
            <a:r>
              <a:rPr lang="en-US" altLang="zh-CN"/>
              <a:t>static</a:t>
            </a:r>
            <a:r>
              <a:rPr lang="zh-CN" altLang="en-US"/>
              <a:t>成员变量和成员方法本质是全局变量和全局方法，当声明它类的对象时，不生成</a:t>
            </a:r>
            <a:r>
              <a:rPr lang="en-US" altLang="zh-CN"/>
              <a:t>static</a:t>
            </a:r>
            <a:r>
              <a:rPr lang="zh-CN" altLang="en-US"/>
              <a:t>变量的副本，而是类的所有实例共享同一个</a:t>
            </a:r>
            <a:r>
              <a:rPr lang="en-US" altLang="zh-CN"/>
              <a:t>static</a:t>
            </a:r>
            <a:r>
              <a:rPr lang="zh-CN" altLang="en-US"/>
              <a:t>变量。</a:t>
            </a:r>
          </a:p>
          <a:p>
            <a:pPr eaLnBrk="1" hangingPunct="1"/>
            <a:br>
              <a:rPr lang="zh-CN" altLang="en-US"/>
            </a:br>
            <a:endParaRPr lang="zh-CN"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a:extLst>
              <a:ext uri="{FF2B5EF4-FFF2-40B4-BE49-F238E27FC236}">
                <a16:creationId xmlns:a16="http://schemas.microsoft.com/office/drawing/2014/main" id="{46FF5058-FF4D-4B89-BB89-0AF1140FF068}"/>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900" b="1">
                <a:solidFill>
                  <a:srgbClr val="008000"/>
                </a:solidFill>
                <a:latin typeface="Lucida Console" panose="020B0609040504020204" pitchFamily="49" charset="0"/>
                <a:ea typeface="宋体" panose="02010600030101010101" pitchFamily="2" charset="-122"/>
              </a:defRPr>
            </a:lvl1pPr>
            <a:lvl2pPr marL="742950" indent="-285750">
              <a:defRPr sz="1900" b="1">
                <a:solidFill>
                  <a:srgbClr val="008000"/>
                </a:solidFill>
                <a:latin typeface="Lucida Console" panose="020B0609040504020204" pitchFamily="49" charset="0"/>
                <a:ea typeface="宋体" panose="02010600030101010101" pitchFamily="2" charset="-122"/>
              </a:defRPr>
            </a:lvl2pPr>
            <a:lvl3pPr marL="1143000" indent="-228600">
              <a:defRPr sz="1900" b="1">
                <a:solidFill>
                  <a:srgbClr val="008000"/>
                </a:solidFill>
                <a:latin typeface="Lucida Console" panose="020B0609040504020204" pitchFamily="49" charset="0"/>
                <a:ea typeface="宋体" panose="02010600030101010101" pitchFamily="2" charset="-122"/>
              </a:defRPr>
            </a:lvl3pPr>
            <a:lvl4pPr marL="1600200" indent="-228600">
              <a:defRPr sz="1900" b="1">
                <a:solidFill>
                  <a:srgbClr val="008000"/>
                </a:solidFill>
                <a:latin typeface="Lucida Console" panose="020B0609040504020204" pitchFamily="49" charset="0"/>
                <a:ea typeface="宋体" panose="02010600030101010101" pitchFamily="2" charset="-122"/>
              </a:defRPr>
            </a:lvl4pPr>
            <a:lvl5pPr marL="2057400" indent="-228600">
              <a:defRPr sz="1900" b="1">
                <a:solidFill>
                  <a:srgbClr val="008000"/>
                </a:solidFill>
                <a:latin typeface="Lucida Console" panose="020B0609040504020204" pitchFamily="49" charset="0"/>
                <a:ea typeface="宋体" panose="02010600030101010101" pitchFamily="2" charset="-122"/>
              </a:defRPr>
            </a:lvl5pPr>
            <a:lvl6pPr marL="25146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6pPr>
            <a:lvl7pPr marL="29718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7pPr>
            <a:lvl8pPr marL="34290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8pPr>
            <a:lvl9pPr marL="38862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9pPr>
          </a:lstStyle>
          <a:p>
            <a:fld id="{B77B344A-C649-4DBB-9FB9-347B96DF4953}" type="slidenum">
              <a:rPr lang="en-US" altLang="zh-CN" sz="1200" b="0">
                <a:solidFill>
                  <a:schemeClr val="tx1"/>
                </a:solidFill>
                <a:latin typeface="Times New Roman" panose="02020603050405020304" pitchFamily="18" charset="0"/>
              </a:rPr>
              <a:pPr/>
              <a:t>13</a:t>
            </a:fld>
            <a:endParaRPr lang="en-US" altLang="zh-CN" sz="1200" b="0">
              <a:solidFill>
                <a:schemeClr val="tx1"/>
              </a:solidFill>
              <a:latin typeface="Times New Roman" panose="02020603050405020304" pitchFamily="18" charset="0"/>
            </a:endParaRPr>
          </a:p>
        </p:txBody>
      </p:sp>
      <p:sp>
        <p:nvSpPr>
          <p:cNvPr id="22531" name="Rectangle 2">
            <a:extLst>
              <a:ext uri="{FF2B5EF4-FFF2-40B4-BE49-F238E27FC236}">
                <a16:creationId xmlns:a16="http://schemas.microsoft.com/office/drawing/2014/main" id="{899A4A77-6B3E-436D-8D8A-AAC8E2EDB3C4}"/>
              </a:ext>
            </a:extLst>
          </p:cNvPr>
          <p:cNvSpPr>
            <a:spLocks noGrp="1" noRot="1" noChangeAspect="1" noChangeArrowheads="1" noTextEdit="1"/>
          </p:cNvSpPr>
          <p:nvPr>
            <p:ph type="sldImg"/>
          </p:nvPr>
        </p:nvSpPr>
        <p:spPr>
          <a:ln/>
        </p:spPr>
      </p:sp>
      <p:sp>
        <p:nvSpPr>
          <p:cNvPr id="22532" name="Rectangle 3">
            <a:extLst>
              <a:ext uri="{FF2B5EF4-FFF2-40B4-BE49-F238E27FC236}">
                <a16:creationId xmlns:a16="http://schemas.microsoft.com/office/drawing/2014/main" id="{12470D34-7973-4320-B206-9B7178488D71}"/>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i="1"/>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a:extLst>
              <a:ext uri="{FF2B5EF4-FFF2-40B4-BE49-F238E27FC236}">
                <a16:creationId xmlns:a16="http://schemas.microsoft.com/office/drawing/2014/main" id="{C62466F3-1610-4152-BE36-7D104122665E}"/>
              </a:ext>
            </a:extLst>
          </p:cNvPr>
          <p:cNvSpPr>
            <a:spLocks noGrp="1" noRot="1" noChangeAspect="1" noChangeArrowheads="1" noTextEdit="1"/>
          </p:cNvSpPr>
          <p:nvPr>
            <p:ph type="sldImg"/>
          </p:nvPr>
        </p:nvSpPr>
        <p:spPr>
          <a:ln/>
        </p:spPr>
      </p:sp>
      <p:sp>
        <p:nvSpPr>
          <p:cNvPr id="24579" name="备注占位符 2">
            <a:extLst>
              <a:ext uri="{FF2B5EF4-FFF2-40B4-BE49-F238E27FC236}">
                <a16:creationId xmlns:a16="http://schemas.microsoft.com/office/drawing/2014/main" id="{720D2517-0E32-43A8-8F8D-EB459682F614}"/>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t>相比于</a:t>
            </a:r>
            <a:r>
              <a:rPr lang="en-US" altLang="zh-CN"/>
              <a:t>C++</a:t>
            </a:r>
            <a:r>
              <a:rPr lang="zh-CN" altLang="en-US"/>
              <a:t>的变量长度随机机器字长而变，</a:t>
            </a:r>
            <a:r>
              <a:rPr lang="en-US" altLang="zh-CN"/>
              <a:t>Java</a:t>
            </a:r>
            <a:r>
              <a:rPr lang="zh-CN" altLang="en-US"/>
              <a:t>的变量是统一的，因为虚拟机跨平台！</a:t>
            </a:r>
          </a:p>
        </p:txBody>
      </p:sp>
      <p:sp>
        <p:nvSpPr>
          <p:cNvPr id="24580" name="灯片编号占位符 3">
            <a:extLst>
              <a:ext uri="{FF2B5EF4-FFF2-40B4-BE49-F238E27FC236}">
                <a16:creationId xmlns:a16="http://schemas.microsoft.com/office/drawing/2014/main" id="{D6DB61FC-B931-4DA3-A44A-FDA984382AF3}"/>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900" b="1">
                <a:solidFill>
                  <a:srgbClr val="008000"/>
                </a:solidFill>
                <a:latin typeface="Lucida Console" panose="020B0609040504020204" pitchFamily="49" charset="0"/>
                <a:ea typeface="宋体" panose="02010600030101010101" pitchFamily="2" charset="-122"/>
              </a:defRPr>
            </a:lvl1pPr>
            <a:lvl2pPr marL="742950" indent="-285750">
              <a:defRPr sz="1900" b="1">
                <a:solidFill>
                  <a:srgbClr val="008000"/>
                </a:solidFill>
                <a:latin typeface="Lucida Console" panose="020B0609040504020204" pitchFamily="49" charset="0"/>
                <a:ea typeface="宋体" panose="02010600030101010101" pitchFamily="2" charset="-122"/>
              </a:defRPr>
            </a:lvl2pPr>
            <a:lvl3pPr marL="1143000" indent="-228600">
              <a:defRPr sz="1900" b="1">
                <a:solidFill>
                  <a:srgbClr val="008000"/>
                </a:solidFill>
                <a:latin typeface="Lucida Console" panose="020B0609040504020204" pitchFamily="49" charset="0"/>
                <a:ea typeface="宋体" panose="02010600030101010101" pitchFamily="2" charset="-122"/>
              </a:defRPr>
            </a:lvl3pPr>
            <a:lvl4pPr marL="1600200" indent="-228600">
              <a:defRPr sz="1900" b="1">
                <a:solidFill>
                  <a:srgbClr val="008000"/>
                </a:solidFill>
                <a:latin typeface="Lucida Console" panose="020B0609040504020204" pitchFamily="49" charset="0"/>
                <a:ea typeface="宋体" panose="02010600030101010101" pitchFamily="2" charset="-122"/>
              </a:defRPr>
            </a:lvl4pPr>
            <a:lvl5pPr marL="2057400" indent="-228600">
              <a:defRPr sz="1900" b="1">
                <a:solidFill>
                  <a:srgbClr val="008000"/>
                </a:solidFill>
                <a:latin typeface="Lucida Console" panose="020B0609040504020204" pitchFamily="49" charset="0"/>
                <a:ea typeface="宋体" panose="02010600030101010101" pitchFamily="2" charset="-122"/>
              </a:defRPr>
            </a:lvl5pPr>
            <a:lvl6pPr marL="25146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6pPr>
            <a:lvl7pPr marL="29718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7pPr>
            <a:lvl8pPr marL="34290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8pPr>
            <a:lvl9pPr marL="38862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9pPr>
          </a:lstStyle>
          <a:p>
            <a:fld id="{E979C1FC-3D8D-4345-984B-39602CF21683}" type="slidenum">
              <a:rPr lang="en-US" altLang="zh-CN" sz="1200" b="0">
                <a:solidFill>
                  <a:schemeClr val="tx1"/>
                </a:solidFill>
                <a:latin typeface="Times New Roman" panose="02020603050405020304" pitchFamily="18" charset="0"/>
              </a:rPr>
              <a:pPr/>
              <a:t>14</a:t>
            </a:fld>
            <a:endParaRPr lang="en-US" altLang="zh-CN" sz="1200" b="0">
              <a:solidFill>
                <a:schemeClr val="tx1"/>
              </a:solidFill>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幻灯片图像占位符 1">
            <a:extLst>
              <a:ext uri="{FF2B5EF4-FFF2-40B4-BE49-F238E27FC236}">
                <a16:creationId xmlns:a16="http://schemas.microsoft.com/office/drawing/2014/main" id="{1C63E502-E980-4B21-908D-C1BA7F0AEFF1}"/>
              </a:ext>
            </a:extLst>
          </p:cNvPr>
          <p:cNvSpPr>
            <a:spLocks noGrp="1" noRot="1" noChangeAspect="1" noChangeArrowheads="1" noTextEdit="1"/>
          </p:cNvSpPr>
          <p:nvPr>
            <p:ph type="sldImg"/>
          </p:nvPr>
        </p:nvSpPr>
        <p:spPr>
          <a:ln/>
        </p:spPr>
      </p:sp>
      <p:sp>
        <p:nvSpPr>
          <p:cNvPr id="26627" name="备注占位符 2">
            <a:extLst>
              <a:ext uri="{FF2B5EF4-FFF2-40B4-BE49-F238E27FC236}">
                <a16:creationId xmlns:a16="http://schemas.microsoft.com/office/drawing/2014/main" id="{EEBFFC66-F6E8-49EE-880E-E127146A3E9D}"/>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zh-CN"/>
              <a:t>123E3</a:t>
            </a:r>
            <a:r>
              <a:rPr lang="zh-CN" altLang="en-US"/>
              <a:t>：</a:t>
            </a:r>
            <a:r>
              <a:rPr lang="en-US" altLang="zh-CN"/>
              <a:t>123</a:t>
            </a:r>
            <a:r>
              <a:rPr lang="zh-CN" altLang="en-US"/>
              <a:t>*</a:t>
            </a:r>
            <a:r>
              <a:rPr lang="en-US" altLang="zh-CN"/>
              <a:t>(10</a:t>
            </a:r>
            <a:r>
              <a:rPr lang="zh-CN" altLang="en-US"/>
              <a:t>的三次方</a:t>
            </a:r>
            <a:r>
              <a:rPr lang="en-US" altLang="zh-CN"/>
              <a:t>)</a:t>
            </a:r>
            <a:endParaRPr lang="zh-CN" altLang="en-US"/>
          </a:p>
        </p:txBody>
      </p:sp>
      <p:sp>
        <p:nvSpPr>
          <p:cNvPr id="26628" name="灯片编号占位符 3">
            <a:extLst>
              <a:ext uri="{FF2B5EF4-FFF2-40B4-BE49-F238E27FC236}">
                <a16:creationId xmlns:a16="http://schemas.microsoft.com/office/drawing/2014/main" id="{652C926A-B1BA-4B17-A53A-49D0E5D68E1D}"/>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900" b="1">
                <a:solidFill>
                  <a:srgbClr val="008000"/>
                </a:solidFill>
                <a:latin typeface="Lucida Console" panose="020B0609040504020204" pitchFamily="49" charset="0"/>
                <a:ea typeface="宋体" panose="02010600030101010101" pitchFamily="2" charset="-122"/>
              </a:defRPr>
            </a:lvl1pPr>
            <a:lvl2pPr marL="742950" indent="-285750">
              <a:defRPr sz="1900" b="1">
                <a:solidFill>
                  <a:srgbClr val="008000"/>
                </a:solidFill>
                <a:latin typeface="Lucida Console" panose="020B0609040504020204" pitchFamily="49" charset="0"/>
                <a:ea typeface="宋体" panose="02010600030101010101" pitchFamily="2" charset="-122"/>
              </a:defRPr>
            </a:lvl2pPr>
            <a:lvl3pPr marL="1143000" indent="-228600">
              <a:defRPr sz="1900" b="1">
                <a:solidFill>
                  <a:srgbClr val="008000"/>
                </a:solidFill>
                <a:latin typeface="Lucida Console" panose="020B0609040504020204" pitchFamily="49" charset="0"/>
                <a:ea typeface="宋体" panose="02010600030101010101" pitchFamily="2" charset="-122"/>
              </a:defRPr>
            </a:lvl3pPr>
            <a:lvl4pPr marL="1600200" indent="-228600">
              <a:defRPr sz="1900" b="1">
                <a:solidFill>
                  <a:srgbClr val="008000"/>
                </a:solidFill>
                <a:latin typeface="Lucida Console" panose="020B0609040504020204" pitchFamily="49" charset="0"/>
                <a:ea typeface="宋体" panose="02010600030101010101" pitchFamily="2" charset="-122"/>
              </a:defRPr>
            </a:lvl4pPr>
            <a:lvl5pPr marL="2057400" indent="-228600">
              <a:defRPr sz="1900" b="1">
                <a:solidFill>
                  <a:srgbClr val="008000"/>
                </a:solidFill>
                <a:latin typeface="Lucida Console" panose="020B0609040504020204" pitchFamily="49" charset="0"/>
                <a:ea typeface="宋体" panose="02010600030101010101" pitchFamily="2" charset="-122"/>
              </a:defRPr>
            </a:lvl5pPr>
            <a:lvl6pPr marL="25146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6pPr>
            <a:lvl7pPr marL="29718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7pPr>
            <a:lvl8pPr marL="34290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8pPr>
            <a:lvl9pPr marL="38862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9pPr>
          </a:lstStyle>
          <a:p>
            <a:fld id="{593EED54-176A-48F0-B96C-3F21095F8ACF}" type="slidenum">
              <a:rPr lang="en-US" altLang="zh-CN" sz="1200" b="0">
                <a:solidFill>
                  <a:schemeClr val="tx1"/>
                </a:solidFill>
                <a:latin typeface="Times New Roman" panose="02020603050405020304" pitchFamily="18" charset="0"/>
              </a:rPr>
              <a:pPr/>
              <a:t>15</a:t>
            </a:fld>
            <a:endParaRPr lang="en-US" altLang="zh-CN" sz="1200" b="0">
              <a:solidFill>
                <a:schemeClr val="tx1"/>
              </a:solidFill>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幻灯片图像占位符 1">
            <a:extLst>
              <a:ext uri="{FF2B5EF4-FFF2-40B4-BE49-F238E27FC236}">
                <a16:creationId xmlns:a16="http://schemas.microsoft.com/office/drawing/2014/main" id="{4053F770-E22E-415B-81DE-A184BE136C58}"/>
              </a:ext>
            </a:extLst>
          </p:cNvPr>
          <p:cNvSpPr>
            <a:spLocks noGrp="1" noRot="1" noChangeAspect="1" noChangeArrowheads="1" noTextEdit="1"/>
          </p:cNvSpPr>
          <p:nvPr>
            <p:ph type="sldImg"/>
          </p:nvPr>
        </p:nvSpPr>
        <p:spPr>
          <a:ln/>
        </p:spPr>
      </p:sp>
      <p:sp>
        <p:nvSpPr>
          <p:cNvPr id="29699" name="备注占位符 2">
            <a:extLst>
              <a:ext uri="{FF2B5EF4-FFF2-40B4-BE49-F238E27FC236}">
                <a16:creationId xmlns:a16="http://schemas.microsoft.com/office/drawing/2014/main" id="{4036DCFE-974B-4E3B-B28A-D0941294AB9F}"/>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00" name="灯片编号占位符 3">
            <a:extLst>
              <a:ext uri="{FF2B5EF4-FFF2-40B4-BE49-F238E27FC236}">
                <a16:creationId xmlns:a16="http://schemas.microsoft.com/office/drawing/2014/main" id="{562145A8-7B0D-4306-929F-2412133C5107}"/>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900" b="1">
                <a:solidFill>
                  <a:srgbClr val="008000"/>
                </a:solidFill>
                <a:latin typeface="Lucida Console" panose="020B0609040504020204" pitchFamily="49" charset="0"/>
                <a:ea typeface="宋体" panose="02010600030101010101" pitchFamily="2" charset="-122"/>
              </a:defRPr>
            </a:lvl1pPr>
            <a:lvl2pPr marL="742950" indent="-285750">
              <a:defRPr sz="1900" b="1">
                <a:solidFill>
                  <a:srgbClr val="008000"/>
                </a:solidFill>
                <a:latin typeface="Lucida Console" panose="020B0609040504020204" pitchFamily="49" charset="0"/>
                <a:ea typeface="宋体" panose="02010600030101010101" pitchFamily="2" charset="-122"/>
              </a:defRPr>
            </a:lvl2pPr>
            <a:lvl3pPr marL="1143000" indent="-228600">
              <a:defRPr sz="1900" b="1">
                <a:solidFill>
                  <a:srgbClr val="008000"/>
                </a:solidFill>
                <a:latin typeface="Lucida Console" panose="020B0609040504020204" pitchFamily="49" charset="0"/>
                <a:ea typeface="宋体" panose="02010600030101010101" pitchFamily="2" charset="-122"/>
              </a:defRPr>
            </a:lvl3pPr>
            <a:lvl4pPr marL="1600200" indent="-228600">
              <a:defRPr sz="1900" b="1">
                <a:solidFill>
                  <a:srgbClr val="008000"/>
                </a:solidFill>
                <a:latin typeface="Lucida Console" panose="020B0609040504020204" pitchFamily="49" charset="0"/>
                <a:ea typeface="宋体" panose="02010600030101010101" pitchFamily="2" charset="-122"/>
              </a:defRPr>
            </a:lvl4pPr>
            <a:lvl5pPr marL="2057400" indent="-228600">
              <a:defRPr sz="1900" b="1">
                <a:solidFill>
                  <a:srgbClr val="008000"/>
                </a:solidFill>
                <a:latin typeface="Lucida Console" panose="020B0609040504020204" pitchFamily="49" charset="0"/>
                <a:ea typeface="宋体" panose="02010600030101010101" pitchFamily="2" charset="-122"/>
              </a:defRPr>
            </a:lvl5pPr>
            <a:lvl6pPr marL="25146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6pPr>
            <a:lvl7pPr marL="29718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7pPr>
            <a:lvl8pPr marL="34290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8pPr>
            <a:lvl9pPr marL="38862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9pPr>
          </a:lstStyle>
          <a:p>
            <a:fld id="{6327CBF5-5BE9-4E87-A3DE-565B47628A16}" type="slidenum">
              <a:rPr lang="en-US" altLang="zh-CN" sz="1200" b="0">
                <a:solidFill>
                  <a:schemeClr val="tx1"/>
                </a:solidFill>
                <a:latin typeface="Times New Roman" panose="02020603050405020304" pitchFamily="18" charset="0"/>
              </a:rPr>
              <a:pPr/>
              <a:t>17</a:t>
            </a:fld>
            <a:endParaRPr lang="en-US" altLang="zh-CN" sz="1200" b="0">
              <a:solidFill>
                <a:schemeClr val="tx1"/>
              </a:solidFill>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幻灯片图像占位符 1">
            <a:extLst>
              <a:ext uri="{FF2B5EF4-FFF2-40B4-BE49-F238E27FC236}">
                <a16:creationId xmlns:a16="http://schemas.microsoft.com/office/drawing/2014/main" id="{0DF3E993-9D07-4EEB-9735-97AA660C8A54}"/>
              </a:ext>
            </a:extLst>
          </p:cNvPr>
          <p:cNvSpPr>
            <a:spLocks noGrp="1" noRot="1" noChangeAspect="1" noChangeArrowheads="1" noTextEdit="1"/>
          </p:cNvSpPr>
          <p:nvPr>
            <p:ph type="sldImg"/>
          </p:nvPr>
        </p:nvSpPr>
        <p:spPr>
          <a:ln/>
        </p:spPr>
      </p:sp>
      <p:sp>
        <p:nvSpPr>
          <p:cNvPr id="32771" name="备注占位符 2">
            <a:extLst>
              <a:ext uri="{FF2B5EF4-FFF2-40B4-BE49-F238E27FC236}">
                <a16:creationId xmlns:a16="http://schemas.microsoft.com/office/drawing/2014/main" id="{68AA3C3F-EA24-4494-BA35-8300193469B0}"/>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t>如果没有（</a:t>
            </a:r>
            <a:r>
              <a:rPr lang="en-US" altLang="zh-CN"/>
              <a:t>int</a:t>
            </a:r>
            <a:r>
              <a:rPr lang="zh-CN" altLang="en-US"/>
              <a:t>），则编译报错</a:t>
            </a:r>
          </a:p>
          <a:p>
            <a:endParaRPr lang="zh-CN" altLang="en-US"/>
          </a:p>
        </p:txBody>
      </p:sp>
      <p:sp>
        <p:nvSpPr>
          <p:cNvPr id="32772" name="灯片编号占位符 3">
            <a:extLst>
              <a:ext uri="{FF2B5EF4-FFF2-40B4-BE49-F238E27FC236}">
                <a16:creationId xmlns:a16="http://schemas.microsoft.com/office/drawing/2014/main" id="{F6E5CCA7-895D-4A03-B24F-79A87FE2EE48}"/>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900" b="1">
                <a:solidFill>
                  <a:srgbClr val="008000"/>
                </a:solidFill>
                <a:latin typeface="Lucida Console" panose="020B0609040504020204" pitchFamily="49" charset="0"/>
                <a:ea typeface="宋体" panose="02010600030101010101" pitchFamily="2" charset="-122"/>
              </a:defRPr>
            </a:lvl1pPr>
            <a:lvl2pPr marL="742950" indent="-285750">
              <a:defRPr sz="1900" b="1">
                <a:solidFill>
                  <a:srgbClr val="008000"/>
                </a:solidFill>
                <a:latin typeface="Lucida Console" panose="020B0609040504020204" pitchFamily="49" charset="0"/>
                <a:ea typeface="宋体" panose="02010600030101010101" pitchFamily="2" charset="-122"/>
              </a:defRPr>
            </a:lvl2pPr>
            <a:lvl3pPr marL="1143000" indent="-228600">
              <a:defRPr sz="1900" b="1">
                <a:solidFill>
                  <a:srgbClr val="008000"/>
                </a:solidFill>
                <a:latin typeface="Lucida Console" panose="020B0609040504020204" pitchFamily="49" charset="0"/>
                <a:ea typeface="宋体" panose="02010600030101010101" pitchFamily="2" charset="-122"/>
              </a:defRPr>
            </a:lvl3pPr>
            <a:lvl4pPr marL="1600200" indent="-228600">
              <a:defRPr sz="1900" b="1">
                <a:solidFill>
                  <a:srgbClr val="008000"/>
                </a:solidFill>
                <a:latin typeface="Lucida Console" panose="020B0609040504020204" pitchFamily="49" charset="0"/>
                <a:ea typeface="宋体" panose="02010600030101010101" pitchFamily="2" charset="-122"/>
              </a:defRPr>
            </a:lvl4pPr>
            <a:lvl5pPr marL="2057400" indent="-228600">
              <a:defRPr sz="1900" b="1">
                <a:solidFill>
                  <a:srgbClr val="008000"/>
                </a:solidFill>
                <a:latin typeface="Lucida Console" panose="020B0609040504020204" pitchFamily="49" charset="0"/>
                <a:ea typeface="宋体" panose="02010600030101010101" pitchFamily="2" charset="-122"/>
              </a:defRPr>
            </a:lvl5pPr>
            <a:lvl6pPr marL="25146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6pPr>
            <a:lvl7pPr marL="29718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7pPr>
            <a:lvl8pPr marL="34290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8pPr>
            <a:lvl9pPr marL="38862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9pPr>
          </a:lstStyle>
          <a:p>
            <a:fld id="{B04C89B0-2A3B-4810-A225-B414F12756D2}" type="slidenum">
              <a:rPr lang="en-US" altLang="zh-CN" sz="1200" b="0">
                <a:solidFill>
                  <a:schemeClr val="tx1"/>
                </a:solidFill>
                <a:latin typeface="Times New Roman" panose="02020603050405020304" pitchFamily="18" charset="0"/>
              </a:rPr>
              <a:pPr/>
              <a:t>19</a:t>
            </a:fld>
            <a:endParaRPr lang="en-US" altLang="zh-CN" sz="1200" b="0">
              <a:solidFill>
                <a:schemeClr val="tx1"/>
              </a:solidFill>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幻灯片图像占位符 1">
            <a:extLst>
              <a:ext uri="{FF2B5EF4-FFF2-40B4-BE49-F238E27FC236}">
                <a16:creationId xmlns:a16="http://schemas.microsoft.com/office/drawing/2014/main" id="{4275E15F-61C7-40CF-A997-9FF347C17623}"/>
              </a:ext>
            </a:extLst>
          </p:cNvPr>
          <p:cNvSpPr>
            <a:spLocks noGrp="1" noRot="1" noChangeAspect="1" noChangeArrowheads="1" noTextEdit="1"/>
          </p:cNvSpPr>
          <p:nvPr>
            <p:ph type="sldImg"/>
          </p:nvPr>
        </p:nvSpPr>
        <p:spPr>
          <a:ln/>
        </p:spPr>
      </p:sp>
      <p:sp>
        <p:nvSpPr>
          <p:cNvPr id="34819" name="备注占位符 2">
            <a:extLst>
              <a:ext uri="{FF2B5EF4-FFF2-40B4-BE49-F238E27FC236}">
                <a16:creationId xmlns:a16="http://schemas.microsoft.com/office/drawing/2014/main" id="{CB553EAA-D236-4020-BAD8-C07123690A4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默认浮点数是</a:t>
            </a:r>
            <a:r>
              <a:rPr lang="en-US" altLang="zh-CN"/>
              <a:t>double</a:t>
            </a:r>
            <a:r>
              <a:rPr lang="zh-CN" altLang="en-US"/>
              <a:t>，不是</a:t>
            </a:r>
            <a:r>
              <a:rPr lang="en-US" altLang="zh-CN"/>
              <a:t>float</a:t>
            </a:r>
            <a:endParaRPr lang="zh-CN" altLang="en-US"/>
          </a:p>
        </p:txBody>
      </p:sp>
      <p:sp>
        <p:nvSpPr>
          <p:cNvPr id="34820" name="灯片编号占位符 3">
            <a:extLst>
              <a:ext uri="{FF2B5EF4-FFF2-40B4-BE49-F238E27FC236}">
                <a16:creationId xmlns:a16="http://schemas.microsoft.com/office/drawing/2014/main" id="{82E01BAB-8EA1-4E42-9439-CA973868879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900" b="1">
                <a:solidFill>
                  <a:srgbClr val="008000"/>
                </a:solidFill>
                <a:latin typeface="Lucida Console" panose="020B0609040504020204" pitchFamily="49" charset="0"/>
                <a:ea typeface="宋体" panose="02010600030101010101" pitchFamily="2" charset="-122"/>
              </a:defRPr>
            </a:lvl1pPr>
            <a:lvl2pPr marL="742950" indent="-285750">
              <a:defRPr sz="1900" b="1">
                <a:solidFill>
                  <a:srgbClr val="008000"/>
                </a:solidFill>
                <a:latin typeface="Lucida Console" panose="020B0609040504020204" pitchFamily="49" charset="0"/>
                <a:ea typeface="宋体" panose="02010600030101010101" pitchFamily="2" charset="-122"/>
              </a:defRPr>
            </a:lvl2pPr>
            <a:lvl3pPr marL="1143000" indent="-228600">
              <a:defRPr sz="1900" b="1">
                <a:solidFill>
                  <a:srgbClr val="008000"/>
                </a:solidFill>
                <a:latin typeface="Lucida Console" panose="020B0609040504020204" pitchFamily="49" charset="0"/>
                <a:ea typeface="宋体" panose="02010600030101010101" pitchFamily="2" charset="-122"/>
              </a:defRPr>
            </a:lvl3pPr>
            <a:lvl4pPr marL="1600200" indent="-228600">
              <a:defRPr sz="1900" b="1">
                <a:solidFill>
                  <a:srgbClr val="008000"/>
                </a:solidFill>
                <a:latin typeface="Lucida Console" panose="020B0609040504020204" pitchFamily="49" charset="0"/>
                <a:ea typeface="宋体" panose="02010600030101010101" pitchFamily="2" charset="-122"/>
              </a:defRPr>
            </a:lvl4pPr>
            <a:lvl5pPr marL="2057400" indent="-228600">
              <a:defRPr sz="1900" b="1">
                <a:solidFill>
                  <a:srgbClr val="008000"/>
                </a:solidFill>
                <a:latin typeface="Lucida Console" panose="020B0609040504020204" pitchFamily="49" charset="0"/>
                <a:ea typeface="宋体" panose="02010600030101010101" pitchFamily="2" charset="-122"/>
              </a:defRPr>
            </a:lvl5pPr>
            <a:lvl6pPr marL="25146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6pPr>
            <a:lvl7pPr marL="29718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7pPr>
            <a:lvl8pPr marL="34290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8pPr>
            <a:lvl9pPr marL="38862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9pPr>
          </a:lstStyle>
          <a:p>
            <a:fld id="{A3DEE40C-FCE0-47D7-8517-FAFFCDDFCC70}" type="slidenum">
              <a:rPr lang="en-US" altLang="zh-CN" sz="1200" b="0">
                <a:solidFill>
                  <a:schemeClr val="tx1"/>
                </a:solidFill>
                <a:latin typeface="Times New Roman" panose="02020603050405020304" pitchFamily="18" charset="0"/>
              </a:rPr>
              <a:pPr/>
              <a:t>20</a:t>
            </a:fld>
            <a:endParaRPr lang="en-US" altLang="zh-CN" sz="1200" b="0">
              <a:solidFill>
                <a:schemeClr val="tx1"/>
              </a:solidFill>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a:extLst>
              <a:ext uri="{FF2B5EF4-FFF2-40B4-BE49-F238E27FC236}">
                <a16:creationId xmlns:a16="http://schemas.microsoft.com/office/drawing/2014/main" id="{145BC5CB-4D4A-4A21-B350-7408CA26FFB5}"/>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900" b="1">
                <a:solidFill>
                  <a:srgbClr val="008000"/>
                </a:solidFill>
                <a:latin typeface="Lucida Console" panose="020B0609040504020204" pitchFamily="49" charset="0"/>
                <a:ea typeface="宋体" panose="02010600030101010101" pitchFamily="2" charset="-122"/>
              </a:defRPr>
            </a:lvl1pPr>
            <a:lvl2pPr marL="742950" indent="-285750">
              <a:defRPr sz="1900" b="1">
                <a:solidFill>
                  <a:srgbClr val="008000"/>
                </a:solidFill>
                <a:latin typeface="Lucida Console" panose="020B0609040504020204" pitchFamily="49" charset="0"/>
                <a:ea typeface="宋体" panose="02010600030101010101" pitchFamily="2" charset="-122"/>
              </a:defRPr>
            </a:lvl2pPr>
            <a:lvl3pPr marL="1143000" indent="-228600">
              <a:defRPr sz="1900" b="1">
                <a:solidFill>
                  <a:srgbClr val="008000"/>
                </a:solidFill>
                <a:latin typeface="Lucida Console" panose="020B0609040504020204" pitchFamily="49" charset="0"/>
                <a:ea typeface="宋体" panose="02010600030101010101" pitchFamily="2" charset="-122"/>
              </a:defRPr>
            </a:lvl3pPr>
            <a:lvl4pPr marL="1600200" indent="-228600">
              <a:defRPr sz="1900" b="1">
                <a:solidFill>
                  <a:srgbClr val="008000"/>
                </a:solidFill>
                <a:latin typeface="Lucida Console" panose="020B0609040504020204" pitchFamily="49" charset="0"/>
                <a:ea typeface="宋体" panose="02010600030101010101" pitchFamily="2" charset="-122"/>
              </a:defRPr>
            </a:lvl4pPr>
            <a:lvl5pPr marL="2057400" indent="-228600">
              <a:defRPr sz="1900" b="1">
                <a:solidFill>
                  <a:srgbClr val="008000"/>
                </a:solidFill>
                <a:latin typeface="Lucida Console" panose="020B0609040504020204" pitchFamily="49" charset="0"/>
                <a:ea typeface="宋体" panose="02010600030101010101" pitchFamily="2" charset="-122"/>
              </a:defRPr>
            </a:lvl5pPr>
            <a:lvl6pPr marL="25146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6pPr>
            <a:lvl7pPr marL="29718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7pPr>
            <a:lvl8pPr marL="34290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8pPr>
            <a:lvl9pPr marL="38862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9pPr>
          </a:lstStyle>
          <a:p>
            <a:fld id="{A1CD83D4-A0E7-4847-9636-3A4E2531BC4D}" type="slidenum">
              <a:rPr lang="en-US" altLang="zh-CN" sz="1200" b="0">
                <a:solidFill>
                  <a:schemeClr val="tx1"/>
                </a:solidFill>
                <a:latin typeface="Times New Roman" panose="02020603050405020304" pitchFamily="18" charset="0"/>
              </a:rPr>
              <a:pPr/>
              <a:t>21</a:t>
            </a:fld>
            <a:endParaRPr lang="en-US" altLang="zh-CN" sz="1200" b="0">
              <a:solidFill>
                <a:schemeClr val="tx1"/>
              </a:solidFill>
              <a:latin typeface="Times New Roman" panose="02020603050405020304" pitchFamily="18" charset="0"/>
            </a:endParaRPr>
          </a:p>
        </p:txBody>
      </p:sp>
      <p:sp>
        <p:nvSpPr>
          <p:cNvPr id="36867" name="Rectangle 2">
            <a:extLst>
              <a:ext uri="{FF2B5EF4-FFF2-40B4-BE49-F238E27FC236}">
                <a16:creationId xmlns:a16="http://schemas.microsoft.com/office/drawing/2014/main" id="{F2657F7A-9F3B-4E99-BAEA-ED5FA8A69DCD}"/>
              </a:ext>
            </a:extLst>
          </p:cNvPr>
          <p:cNvSpPr>
            <a:spLocks noGrp="1" noRot="1" noChangeAspect="1" noChangeArrowheads="1" noTextEdit="1"/>
          </p:cNvSpPr>
          <p:nvPr>
            <p:ph type="sldImg"/>
          </p:nvPr>
        </p:nvSpPr>
        <p:spPr>
          <a:ln/>
        </p:spPr>
      </p:sp>
      <p:sp>
        <p:nvSpPr>
          <p:cNvPr id="36868" name="Rectangle 3">
            <a:extLst>
              <a:ext uri="{FF2B5EF4-FFF2-40B4-BE49-F238E27FC236}">
                <a16:creationId xmlns:a16="http://schemas.microsoft.com/office/drawing/2014/main" id="{44716DD0-34FA-4133-A49D-15BD3CB7794C}"/>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5895716F-54EB-4498-9AFB-BDEB167339B8}"/>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900" b="1">
                <a:solidFill>
                  <a:srgbClr val="008000"/>
                </a:solidFill>
                <a:latin typeface="Lucida Console" panose="020B0609040504020204" pitchFamily="49" charset="0"/>
                <a:ea typeface="宋体" panose="02010600030101010101" pitchFamily="2" charset="-122"/>
              </a:defRPr>
            </a:lvl1pPr>
            <a:lvl2pPr marL="742950" indent="-285750">
              <a:defRPr sz="1900" b="1">
                <a:solidFill>
                  <a:srgbClr val="008000"/>
                </a:solidFill>
                <a:latin typeface="Lucida Console" panose="020B0609040504020204" pitchFamily="49" charset="0"/>
                <a:ea typeface="宋体" panose="02010600030101010101" pitchFamily="2" charset="-122"/>
              </a:defRPr>
            </a:lvl2pPr>
            <a:lvl3pPr marL="1143000" indent="-228600">
              <a:defRPr sz="1900" b="1">
                <a:solidFill>
                  <a:srgbClr val="008000"/>
                </a:solidFill>
                <a:latin typeface="Lucida Console" panose="020B0609040504020204" pitchFamily="49" charset="0"/>
                <a:ea typeface="宋体" panose="02010600030101010101" pitchFamily="2" charset="-122"/>
              </a:defRPr>
            </a:lvl3pPr>
            <a:lvl4pPr marL="1600200" indent="-228600">
              <a:defRPr sz="1900" b="1">
                <a:solidFill>
                  <a:srgbClr val="008000"/>
                </a:solidFill>
                <a:latin typeface="Lucida Console" panose="020B0609040504020204" pitchFamily="49" charset="0"/>
                <a:ea typeface="宋体" panose="02010600030101010101" pitchFamily="2" charset="-122"/>
              </a:defRPr>
            </a:lvl4pPr>
            <a:lvl5pPr marL="2057400" indent="-228600">
              <a:defRPr sz="1900" b="1">
                <a:solidFill>
                  <a:srgbClr val="008000"/>
                </a:solidFill>
                <a:latin typeface="Lucida Console" panose="020B0609040504020204" pitchFamily="49" charset="0"/>
                <a:ea typeface="宋体" panose="02010600030101010101" pitchFamily="2" charset="-122"/>
              </a:defRPr>
            </a:lvl5pPr>
            <a:lvl6pPr marL="25146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6pPr>
            <a:lvl7pPr marL="29718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7pPr>
            <a:lvl8pPr marL="34290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8pPr>
            <a:lvl9pPr marL="38862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9pPr>
          </a:lstStyle>
          <a:p>
            <a:fld id="{0F5958FE-EAC5-4B66-A86E-D66702222033}" type="slidenum">
              <a:rPr lang="en-US" altLang="zh-CN" sz="1200" b="0">
                <a:solidFill>
                  <a:schemeClr val="tx1"/>
                </a:solidFill>
                <a:latin typeface="Times New Roman" panose="02020603050405020304" pitchFamily="18" charset="0"/>
              </a:rPr>
              <a:pPr/>
              <a:t>23</a:t>
            </a:fld>
            <a:endParaRPr lang="en-US" altLang="zh-CN" sz="1200" b="0">
              <a:solidFill>
                <a:schemeClr val="tx1"/>
              </a:solidFill>
              <a:latin typeface="Times New Roman" panose="02020603050405020304" pitchFamily="18" charset="0"/>
            </a:endParaRPr>
          </a:p>
        </p:txBody>
      </p:sp>
      <p:sp>
        <p:nvSpPr>
          <p:cNvPr id="39939" name="Rectangle 2">
            <a:extLst>
              <a:ext uri="{FF2B5EF4-FFF2-40B4-BE49-F238E27FC236}">
                <a16:creationId xmlns:a16="http://schemas.microsoft.com/office/drawing/2014/main" id="{E57CDE14-4CD1-44F4-9BFE-A2924F91DCED}"/>
              </a:ext>
            </a:extLst>
          </p:cNvPr>
          <p:cNvSpPr>
            <a:spLocks noGrp="1" noRot="1" noChangeAspect="1" noChangeArrowheads="1" noTextEdit="1"/>
          </p:cNvSpPr>
          <p:nvPr>
            <p:ph type="sldImg"/>
          </p:nvPr>
        </p:nvSpPr>
        <p:spPr>
          <a:ln/>
        </p:spPr>
      </p:sp>
      <p:sp>
        <p:nvSpPr>
          <p:cNvPr id="39940" name="Rectangle 3">
            <a:extLst>
              <a:ext uri="{FF2B5EF4-FFF2-40B4-BE49-F238E27FC236}">
                <a16:creationId xmlns:a16="http://schemas.microsoft.com/office/drawing/2014/main" id="{8BF83CF8-E03F-43FB-BD17-45BC673511DA}"/>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B7042D0D-8804-4E04-997E-58571C9282C5}"/>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900" b="1">
                <a:solidFill>
                  <a:srgbClr val="008000"/>
                </a:solidFill>
                <a:latin typeface="Lucida Console" panose="020B0609040504020204" pitchFamily="49" charset="0"/>
                <a:ea typeface="宋体" panose="02010600030101010101" pitchFamily="2" charset="-122"/>
              </a:defRPr>
            </a:lvl1pPr>
            <a:lvl2pPr marL="742950" indent="-285750">
              <a:defRPr sz="1900" b="1">
                <a:solidFill>
                  <a:srgbClr val="008000"/>
                </a:solidFill>
                <a:latin typeface="Lucida Console" panose="020B0609040504020204" pitchFamily="49" charset="0"/>
                <a:ea typeface="宋体" panose="02010600030101010101" pitchFamily="2" charset="-122"/>
              </a:defRPr>
            </a:lvl2pPr>
            <a:lvl3pPr marL="1143000" indent="-228600">
              <a:defRPr sz="1900" b="1">
                <a:solidFill>
                  <a:srgbClr val="008000"/>
                </a:solidFill>
                <a:latin typeface="Lucida Console" panose="020B0609040504020204" pitchFamily="49" charset="0"/>
                <a:ea typeface="宋体" panose="02010600030101010101" pitchFamily="2" charset="-122"/>
              </a:defRPr>
            </a:lvl3pPr>
            <a:lvl4pPr marL="1600200" indent="-228600">
              <a:defRPr sz="1900" b="1">
                <a:solidFill>
                  <a:srgbClr val="008000"/>
                </a:solidFill>
                <a:latin typeface="Lucida Console" panose="020B0609040504020204" pitchFamily="49" charset="0"/>
                <a:ea typeface="宋体" panose="02010600030101010101" pitchFamily="2" charset="-122"/>
              </a:defRPr>
            </a:lvl4pPr>
            <a:lvl5pPr marL="2057400" indent="-228600">
              <a:defRPr sz="1900" b="1">
                <a:solidFill>
                  <a:srgbClr val="008000"/>
                </a:solidFill>
                <a:latin typeface="Lucida Console" panose="020B0609040504020204" pitchFamily="49" charset="0"/>
                <a:ea typeface="宋体" panose="02010600030101010101" pitchFamily="2" charset="-122"/>
              </a:defRPr>
            </a:lvl5pPr>
            <a:lvl6pPr marL="25146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6pPr>
            <a:lvl7pPr marL="29718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7pPr>
            <a:lvl8pPr marL="34290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8pPr>
            <a:lvl9pPr marL="38862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9pPr>
          </a:lstStyle>
          <a:p>
            <a:fld id="{7E433A98-8CDC-453F-A812-F075FCFC4E0C}" type="slidenum">
              <a:rPr lang="en-US" altLang="zh-CN" sz="1200" b="0">
                <a:solidFill>
                  <a:schemeClr val="tx1"/>
                </a:solidFill>
                <a:latin typeface="Times New Roman" panose="02020603050405020304" pitchFamily="18" charset="0"/>
              </a:rPr>
              <a:pPr/>
              <a:t>25</a:t>
            </a:fld>
            <a:endParaRPr lang="en-US" altLang="zh-CN" sz="1200" b="0">
              <a:solidFill>
                <a:schemeClr val="tx1"/>
              </a:solidFill>
              <a:latin typeface="Times New Roman" panose="02020603050405020304" pitchFamily="18" charset="0"/>
            </a:endParaRPr>
          </a:p>
        </p:txBody>
      </p:sp>
      <p:sp>
        <p:nvSpPr>
          <p:cNvPr id="43011" name="Rectangle 2">
            <a:extLst>
              <a:ext uri="{FF2B5EF4-FFF2-40B4-BE49-F238E27FC236}">
                <a16:creationId xmlns:a16="http://schemas.microsoft.com/office/drawing/2014/main" id="{16C28BFE-1990-44A9-A0E2-1D32B5EF2944}"/>
              </a:ext>
            </a:extLst>
          </p:cNvPr>
          <p:cNvSpPr>
            <a:spLocks noGrp="1" noRot="1" noChangeAspect="1" noChangeArrowheads="1" noTextEdit="1"/>
          </p:cNvSpPr>
          <p:nvPr>
            <p:ph type="sldImg"/>
          </p:nvPr>
        </p:nvSpPr>
        <p:spPr>
          <a:ln/>
        </p:spPr>
      </p:sp>
      <p:sp>
        <p:nvSpPr>
          <p:cNvPr id="43012" name="Rectangle 3">
            <a:extLst>
              <a:ext uri="{FF2B5EF4-FFF2-40B4-BE49-F238E27FC236}">
                <a16:creationId xmlns:a16="http://schemas.microsoft.com/office/drawing/2014/main" id="{8F5EFBFF-0593-462F-B68F-2F99EC18ACEE}"/>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幻灯片图像占位符 1">
            <a:extLst>
              <a:ext uri="{FF2B5EF4-FFF2-40B4-BE49-F238E27FC236}">
                <a16:creationId xmlns:a16="http://schemas.microsoft.com/office/drawing/2014/main" id="{297261A8-0609-4AC9-A49B-6D1513CF7693}"/>
              </a:ext>
            </a:extLst>
          </p:cNvPr>
          <p:cNvSpPr>
            <a:spLocks noGrp="1" noRot="1" noChangeAspect="1" noChangeArrowheads="1" noTextEdit="1"/>
          </p:cNvSpPr>
          <p:nvPr>
            <p:ph type="sldImg"/>
          </p:nvPr>
        </p:nvSpPr>
        <p:spPr>
          <a:ln/>
        </p:spPr>
      </p:sp>
      <p:sp>
        <p:nvSpPr>
          <p:cNvPr id="46083" name="备注占位符 2">
            <a:extLst>
              <a:ext uri="{FF2B5EF4-FFF2-40B4-BE49-F238E27FC236}">
                <a16:creationId xmlns:a16="http://schemas.microsoft.com/office/drawing/2014/main" id="{E1F4FBAA-17A4-49D4-9CBE-F5ED24EA8E3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&amp;</a:t>
            </a:r>
            <a:r>
              <a:rPr lang="zh-CN" altLang="en-US"/>
              <a:t>和</a:t>
            </a:r>
            <a:r>
              <a:rPr lang="en-US" altLang="zh-CN"/>
              <a:t>|</a:t>
            </a:r>
            <a:r>
              <a:rPr lang="zh-CN" altLang="en-US"/>
              <a:t>分别是按位与和或操作；</a:t>
            </a:r>
            <a:endParaRPr lang="en-US" altLang="zh-CN"/>
          </a:p>
          <a:p>
            <a:r>
              <a:rPr lang="en-US" altLang="zh-CN"/>
              <a:t>&amp;</a:t>
            </a:r>
            <a:r>
              <a:rPr lang="zh-CN" altLang="en-US"/>
              <a:t>和</a:t>
            </a:r>
            <a:r>
              <a:rPr lang="en-US" altLang="zh-CN"/>
              <a:t>|</a:t>
            </a:r>
            <a:r>
              <a:rPr lang="zh-CN" altLang="en-US"/>
              <a:t>没有短路保护，是因为编译器不会检查</a:t>
            </a:r>
            <a:r>
              <a:rPr lang="en-US" altLang="zh-CN"/>
              <a:t>false</a:t>
            </a:r>
            <a:r>
              <a:rPr lang="zh-CN" altLang="en-US"/>
              <a:t>（</a:t>
            </a:r>
            <a:r>
              <a:rPr lang="en-US" altLang="zh-CN"/>
              <a:t>or true</a:t>
            </a:r>
            <a:r>
              <a:rPr lang="zh-CN" altLang="en-US"/>
              <a:t>）的每一位是否为</a:t>
            </a:r>
            <a:r>
              <a:rPr lang="en-US" altLang="zh-CN"/>
              <a:t>0</a:t>
            </a:r>
            <a:r>
              <a:rPr lang="zh-CN" altLang="en-US"/>
              <a:t>（</a:t>
            </a:r>
            <a:r>
              <a:rPr lang="en-US" altLang="zh-CN"/>
              <a:t>or 1</a:t>
            </a:r>
            <a:r>
              <a:rPr lang="zh-CN" altLang="en-US"/>
              <a:t>）</a:t>
            </a:r>
          </a:p>
        </p:txBody>
      </p:sp>
      <p:sp>
        <p:nvSpPr>
          <p:cNvPr id="46084" name="灯片编号占位符 3">
            <a:extLst>
              <a:ext uri="{FF2B5EF4-FFF2-40B4-BE49-F238E27FC236}">
                <a16:creationId xmlns:a16="http://schemas.microsoft.com/office/drawing/2014/main" id="{9E9916A7-2EF3-4D49-9852-9B8D88208B8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900" b="1">
                <a:solidFill>
                  <a:srgbClr val="008000"/>
                </a:solidFill>
                <a:latin typeface="Lucida Console" panose="020B0609040504020204" pitchFamily="49" charset="0"/>
                <a:ea typeface="宋体" panose="02010600030101010101" pitchFamily="2" charset="-122"/>
              </a:defRPr>
            </a:lvl1pPr>
            <a:lvl2pPr marL="742950" indent="-285750">
              <a:defRPr sz="1900" b="1">
                <a:solidFill>
                  <a:srgbClr val="008000"/>
                </a:solidFill>
                <a:latin typeface="Lucida Console" panose="020B0609040504020204" pitchFamily="49" charset="0"/>
                <a:ea typeface="宋体" panose="02010600030101010101" pitchFamily="2" charset="-122"/>
              </a:defRPr>
            </a:lvl2pPr>
            <a:lvl3pPr marL="1143000" indent="-228600">
              <a:defRPr sz="1900" b="1">
                <a:solidFill>
                  <a:srgbClr val="008000"/>
                </a:solidFill>
                <a:latin typeface="Lucida Console" panose="020B0609040504020204" pitchFamily="49" charset="0"/>
                <a:ea typeface="宋体" panose="02010600030101010101" pitchFamily="2" charset="-122"/>
              </a:defRPr>
            </a:lvl3pPr>
            <a:lvl4pPr marL="1600200" indent="-228600">
              <a:defRPr sz="1900" b="1">
                <a:solidFill>
                  <a:srgbClr val="008000"/>
                </a:solidFill>
                <a:latin typeface="Lucida Console" panose="020B0609040504020204" pitchFamily="49" charset="0"/>
                <a:ea typeface="宋体" panose="02010600030101010101" pitchFamily="2" charset="-122"/>
              </a:defRPr>
            </a:lvl4pPr>
            <a:lvl5pPr marL="2057400" indent="-228600">
              <a:defRPr sz="1900" b="1">
                <a:solidFill>
                  <a:srgbClr val="008000"/>
                </a:solidFill>
                <a:latin typeface="Lucida Console" panose="020B0609040504020204" pitchFamily="49" charset="0"/>
                <a:ea typeface="宋体" panose="02010600030101010101" pitchFamily="2" charset="-122"/>
              </a:defRPr>
            </a:lvl5pPr>
            <a:lvl6pPr marL="25146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6pPr>
            <a:lvl7pPr marL="29718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7pPr>
            <a:lvl8pPr marL="34290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8pPr>
            <a:lvl9pPr marL="38862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9pPr>
          </a:lstStyle>
          <a:p>
            <a:fld id="{511C9353-D968-488F-8236-5C018167E825}" type="slidenum">
              <a:rPr lang="en-US" altLang="zh-CN" sz="1200" b="0">
                <a:solidFill>
                  <a:schemeClr val="tx1"/>
                </a:solidFill>
                <a:latin typeface="Times New Roman" panose="02020603050405020304" pitchFamily="18" charset="0"/>
              </a:rPr>
              <a:pPr/>
              <a:t>28</a:t>
            </a:fld>
            <a:endParaRPr lang="en-US" altLang="zh-CN" sz="1200" b="0">
              <a:solidFill>
                <a:schemeClr val="tx1"/>
              </a:solidFill>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a:extLst>
              <a:ext uri="{FF2B5EF4-FFF2-40B4-BE49-F238E27FC236}">
                <a16:creationId xmlns:a16="http://schemas.microsoft.com/office/drawing/2014/main" id="{2630C5C8-CDFA-48CF-A885-56C67EF3A147}"/>
              </a:ext>
            </a:extLst>
          </p:cNvPr>
          <p:cNvSpPr>
            <a:spLocks noGrp="1" noRot="1" noChangeAspect="1" noChangeArrowheads="1" noTextEdit="1"/>
          </p:cNvSpPr>
          <p:nvPr>
            <p:ph type="sldImg"/>
          </p:nvPr>
        </p:nvSpPr>
        <p:spPr>
          <a:ln/>
        </p:spPr>
      </p:sp>
      <p:sp>
        <p:nvSpPr>
          <p:cNvPr id="48131" name="备注占位符 2">
            <a:extLst>
              <a:ext uri="{FF2B5EF4-FFF2-40B4-BE49-F238E27FC236}">
                <a16:creationId xmlns:a16="http://schemas.microsoft.com/office/drawing/2014/main" id="{36444BF9-C952-4615-B22B-20E35C5A342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上面例子中，由于</a:t>
            </a:r>
            <a:r>
              <a:rPr lang="en-US" altLang="zh-CN"/>
              <a:t>if</a:t>
            </a:r>
            <a:r>
              <a:rPr lang="zh-CN" altLang="en-US"/>
              <a:t>语句的判断条件中的第一个布尔表达式是不成立的，程序就不会判断第二个布尔表达式的值，这就是“短路”。如果两个表达式之间用“</a:t>
            </a:r>
            <a:r>
              <a:rPr lang="en-US" altLang="zh-CN"/>
              <a:t>&amp;”</a:t>
            </a:r>
            <a:r>
              <a:rPr lang="zh-CN" altLang="en-US"/>
              <a:t>来连接，则上述程序运行时就会出错（因为除数不能为</a:t>
            </a:r>
            <a:r>
              <a:rPr lang="en-US" altLang="zh-CN"/>
              <a:t>0</a:t>
            </a:r>
            <a:r>
              <a:rPr lang="zh-CN" altLang="en-US"/>
              <a:t>）。 </a:t>
            </a:r>
          </a:p>
          <a:p>
            <a:endParaRPr lang="zh-CN" altLang="en-US"/>
          </a:p>
        </p:txBody>
      </p:sp>
      <p:sp>
        <p:nvSpPr>
          <p:cNvPr id="48132" name="灯片编号占位符 3">
            <a:extLst>
              <a:ext uri="{FF2B5EF4-FFF2-40B4-BE49-F238E27FC236}">
                <a16:creationId xmlns:a16="http://schemas.microsoft.com/office/drawing/2014/main" id="{53695C44-3232-4C3A-AFB6-B7528B21F74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900" b="1">
                <a:solidFill>
                  <a:srgbClr val="008000"/>
                </a:solidFill>
                <a:latin typeface="Lucida Console" panose="020B0609040504020204" pitchFamily="49" charset="0"/>
                <a:ea typeface="宋体" panose="02010600030101010101" pitchFamily="2" charset="-122"/>
              </a:defRPr>
            </a:lvl1pPr>
            <a:lvl2pPr marL="742950" indent="-285750">
              <a:defRPr sz="1900" b="1">
                <a:solidFill>
                  <a:srgbClr val="008000"/>
                </a:solidFill>
                <a:latin typeface="Lucida Console" panose="020B0609040504020204" pitchFamily="49" charset="0"/>
                <a:ea typeface="宋体" panose="02010600030101010101" pitchFamily="2" charset="-122"/>
              </a:defRPr>
            </a:lvl2pPr>
            <a:lvl3pPr marL="1143000" indent="-228600">
              <a:defRPr sz="1900" b="1">
                <a:solidFill>
                  <a:srgbClr val="008000"/>
                </a:solidFill>
                <a:latin typeface="Lucida Console" panose="020B0609040504020204" pitchFamily="49" charset="0"/>
                <a:ea typeface="宋体" panose="02010600030101010101" pitchFamily="2" charset="-122"/>
              </a:defRPr>
            </a:lvl3pPr>
            <a:lvl4pPr marL="1600200" indent="-228600">
              <a:defRPr sz="1900" b="1">
                <a:solidFill>
                  <a:srgbClr val="008000"/>
                </a:solidFill>
                <a:latin typeface="Lucida Console" panose="020B0609040504020204" pitchFamily="49" charset="0"/>
                <a:ea typeface="宋体" panose="02010600030101010101" pitchFamily="2" charset="-122"/>
              </a:defRPr>
            </a:lvl4pPr>
            <a:lvl5pPr marL="2057400" indent="-228600">
              <a:defRPr sz="1900" b="1">
                <a:solidFill>
                  <a:srgbClr val="008000"/>
                </a:solidFill>
                <a:latin typeface="Lucida Console" panose="020B0609040504020204" pitchFamily="49" charset="0"/>
                <a:ea typeface="宋体" panose="02010600030101010101" pitchFamily="2" charset="-122"/>
              </a:defRPr>
            </a:lvl5pPr>
            <a:lvl6pPr marL="25146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6pPr>
            <a:lvl7pPr marL="29718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7pPr>
            <a:lvl8pPr marL="34290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8pPr>
            <a:lvl9pPr marL="38862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9pPr>
          </a:lstStyle>
          <a:p>
            <a:fld id="{48626F78-397D-4F69-85BE-21E01DC5240C}" type="slidenum">
              <a:rPr lang="en-US" altLang="zh-CN" sz="1200" b="0">
                <a:solidFill>
                  <a:schemeClr val="tx1"/>
                </a:solidFill>
                <a:latin typeface="Times New Roman" panose="02020603050405020304" pitchFamily="18" charset="0"/>
              </a:rPr>
              <a:pPr/>
              <a:t>29</a:t>
            </a:fld>
            <a:endParaRPr lang="en-US" altLang="zh-CN" sz="1200" b="0">
              <a:solidFill>
                <a:schemeClr val="tx1"/>
              </a:solidFill>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幻灯片图像占位符 1">
            <a:extLst>
              <a:ext uri="{FF2B5EF4-FFF2-40B4-BE49-F238E27FC236}">
                <a16:creationId xmlns:a16="http://schemas.microsoft.com/office/drawing/2014/main" id="{2874BC49-A1F5-4FDD-8644-24D168EFEE03}"/>
              </a:ext>
            </a:extLst>
          </p:cNvPr>
          <p:cNvSpPr>
            <a:spLocks noGrp="1" noRot="1" noChangeAspect="1" noChangeArrowheads="1" noTextEdit="1"/>
          </p:cNvSpPr>
          <p:nvPr>
            <p:ph type="sldImg"/>
          </p:nvPr>
        </p:nvSpPr>
        <p:spPr>
          <a:ln/>
        </p:spPr>
      </p:sp>
      <p:sp>
        <p:nvSpPr>
          <p:cNvPr id="50179" name="备注占位符 2">
            <a:extLst>
              <a:ext uri="{FF2B5EF4-FFF2-40B4-BE49-F238E27FC236}">
                <a16:creationId xmlns:a16="http://schemas.microsoft.com/office/drawing/2014/main" id="{1FABCDEF-F0F0-4D5B-9C67-8FCD7E03DAE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java</a:t>
            </a:r>
            <a:r>
              <a:rPr lang="zh-CN" altLang="en-US"/>
              <a:t>没有算术左移（因为：负数补码形如</a:t>
            </a:r>
            <a:r>
              <a:rPr lang="en-US" altLang="zh-CN"/>
              <a:t>110…</a:t>
            </a:r>
            <a:r>
              <a:rPr lang="zh-CN" altLang="en-US"/>
              <a:t>算术左移后的结果</a:t>
            </a:r>
            <a:r>
              <a:rPr lang="en-US" altLang="zh-CN"/>
              <a:t>10#...</a:t>
            </a:r>
            <a:r>
              <a:rPr lang="zh-CN" altLang="en-US"/>
              <a:t>有问题）</a:t>
            </a:r>
            <a:endParaRPr lang="en-US" altLang="zh-CN"/>
          </a:p>
          <a:p>
            <a:r>
              <a:rPr lang="en-US" altLang="zh-CN"/>
              <a:t>https://www.cnblogs.com/HITSZ/p/9181318.html</a:t>
            </a:r>
            <a:endParaRPr lang="zh-CN" altLang="en-US"/>
          </a:p>
        </p:txBody>
      </p:sp>
      <p:sp>
        <p:nvSpPr>
          <p:cNvPr id="50180" name="灯片编号占位符 3">
            <a:extLst>
              <a:ext uri="{FF2B5EF4-FFF2-40B4-BE49-F238E27FC236}">
                <a16:creationId xmlns:a16="http://schemas.microsoft.com/office/drawing/2014/main" id="{F023E64B-D02F-4706-A234-C4762CECA9C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900" b="1">
                <a:solidFill>
                  <a:srgbClr val="008000"/>
                </a:solidFill>
                <a:latin typeface="Lucida Console" panose="020B0609040504020204" pitchFamily="49" charset="0"/>
                <a:ea typeface="宋体" panose="02010600030101010101" pitchFamily="2" charset="-122"/>
              </a:defRPr>
            </a:lvl1pPr>
            <a:lvl2pPr marL="742950" indent="-285750">
              <a:defRPr sz="1900" b="1">
                <a:solidFill>
                  <a:srgbClr val="008000"/>
                </a:solidFill>
                <a:latin typeface="Lucida Console" panose="020B0609040504020204" pitchFamily="49" charset="0"/>
                <a:ea typeface="宋体" panose="02010600030101010101" pitchFamily="2" charset="-122"/>
              </a:defRPr>
            </a:lvl2pPr>
            <a:lvl3pPr marL="1143000" indent="-228600">
              <a:defRPr sz="1900" b="1">
                <a:solidFill>
                  <a:srgbClr val="008000"/>
                </a:solidFill>
                <a:latin typeface="Lucida Console" panose="020B0609040504020204" pitchFamily="49" charset="0"/>
                <a:ea typeface="宋体" panose="02010600030101010101" pitchFamily="2" charset="-122"/>
              </a:defRPr>
            </a:lvl3pPr>
            <a:lvl4pPr marL="1600200" indent="-228600">
              <a:defRPr sz="1900" b="1">
                <a:solidFill>
                  <a:srgbClr val="008000"/>
                </a:solidFill>
                <a:latin typeface="Lucida Console" panose="020B0609040504020204" pitchFamily="49" charset="0"/>
                <a:ea typeface="宋体" panose="02010600030101010101" pitchFamily="2" charset="-122"/>
              </a:defRPr>
            </a:lvl4pPr>
            <a:lvl5pPr marL="2057400" indent="-228600">
              <a:defRPr sz="1900" b="1">
                <a:solidFill>
                  <a:srgbClr val="008000"/>
                </a:solidFill>
                <a:latin typeface="Lucida Console" panose="020B0609040504020204" pitchFamily="49" charset="0"/>
                <a:ea typeface="宋体" panose="02010600030101010101" pitchFamily="2" charset="-122"/>
              </a:defRPr>
            </a:lvl5pPr>
            <a:lvl6pPr marL="25146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6pPr>
            <a:lvl7pPr marL="29718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7pPr>
            <a:lvl8pPr marL="34290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8pPr>
            <a:lvl9pPr marL="38862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9pPr>
          </a:lstStyle>
          <a:p>
            <a:fld id="{BE4512F9-DF49-44FE-A30D-41F3D84DBE5E}" type="slidenum">
              <a:rPr lang="en-US" altLang="zh-CN" sz="1200" b="0">
                <a:solidFill>
                  <a:schemeClr val="tx1"/>
                </a:solidFill>
                <a:latin typeface="Times New Roman" panose="02020603050405020304" pitchFamily="18" charset="0"/>
              </a:rPr>
              <a:pPr/>
              <a:t>30</a:t>
            </a:fld>
            <a:endParaRPr lang="en-US" altLang="zh-CN" sz="1200" b="0">
              <a:solidFill>
                <a:schemeClr val="tx1"/>
              </a:solidFill>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a:extLst>
              <a:ext uri="{FF2B5EF4-FFF2-40B4-BE49-F238E27FC236}">
                <a16:creationId xmlns:a16="http://schemas.microsoft.com/office/drawing/2014/main" id="{F605FCD1-BEE1-4DCD-8B5B-58FF903393BE}"/>
              </a:ext>
            </a:extLst>
          </p:cNvPr>
          <p:cNvSpPr>
            <a:spLocks noGrp="1" noRot="1" noChangeAspect="1" noChangeArrowheads="1" noTextEdit="1"/>
          </p:cNvSpPr>
          <p:nvPr>
            <p:ph type="sldImg"/>
          </p:nvPr>
        </p:nvSpPr>
        <p:spPr>
          <a:ln/>
        </p:spPr>
      </p:sp>
      <p:sp>
        <p:nvSpPr>
          <p:cNvPr id="52227" name="备注占位符 2">
            <a:extLst>
              <a:ext uri="{FF2B5EF4-FFF2-40B4-BE49-F238E27FC236}">
                <a16:creationId xmlns:a16="http://schemas.microsoft.com/office/drawing/2014/main" id="{F96724D7-6DF5-4CFD-B52B-61699B221F7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hlinkClick r:id="rId3"/>
              </a:rPr>
              <a:t>移位操作详解：</a:t>
            </a:r>
            <a:endParaRPr lang="en-US" altLang="zh-CN">
              <a:hlinkClick r:id="rId3"/>
            </a:endParaRPr>
          </a:p>
          <a:p>
            <a:r>
              <a:rPr lang="en-US" altLang="zh-CN">
                <a:hlinkClick r:id="rId3"/>
              </a:rPr>
              <a:t>https://www.cnblogs.com/chuijingjing/p/9405598.html</a:t>
            </a:r>
            <a:endParaRPr lang="zh-CN" altLang="en-US"/>
          </a:p>
        </p:txBody>
      </p:sp>
      <p:sp>
        <p:nvSpPr>
          <p:cNvPr id="52228" name="灯片编号占位符 3">
            <a:extLst>
              <a:ext uri="{FF2B5EF4-FFF2-40B4-BE49-F238E27FC236}">
                <a16:creationId xmlns:a16="http://schemas.microsoft.com/office/drawing/2014/main" id="{ABEBB027-B227-4110-B904-BEF26760973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900" b="1">
                <a:solidFill>
                  <a:srgbClr val="008000"/>
                </a:solidFill>
                <a:latin typeface="Lucida Console" panose="020B0609040504020204" pitchFamily="49" charset="0"/>
                <a:ea typeface="宋体" panose="02010600030101010101" pitchFamily="2" charset="-122"/>
              </a:defRPr>
            </a:lvl1pPr>
            <a:lvl2pPr marL="742950" indent="-285750">
              <a:defRPr sz="1900" b="1">
                <a:solidFill>
                  <a:srgbClr val="008000"/>
                </a:solidFill>
                <a:latin typeface="Lucida Console" panose="020B0609040504020204" pitchFamily="49" charset="0"/>
                <a:ea typeface="宋体" panose="02010600030101010101" pitchFamily="2" charset="-122"/>
              </a:defRPr>
            </a:lvl2pPr>
            <a:lvl3pPr marL="1143000" indent="-228600">
              <a:defRPr sz="1900" b="1">
                <a:solidFill>
                  <a:srgbClr val="008000"/>
                </a:solidFill>
                <a:latin typeface="Lucida Console" panose="020B0609040504020204" pitchFamily="49" charset="0"/>
                <a:ea typeface="宋体" panose="02010600030101010101" pitchFamily="2" charset="-122"/>
              </a:defRPr>
            </a:lvl3pPr>
            <a:lvl4pPr marL="1600200" indent="-228600">
              <a:defRPr sz="1900" b="1">
                <a:solidFill>
                  <a:srgbClr val="008000"/>
                </a:solidFill>
                <a:latin typeface="Lucida Console" panose="020B0609040504020204" pitchFamily="49" charset="0"/>
                <a:ea typeface="宋体" panose="02010600030101010101" pitchFamily="2" charset="-122"/>
              </a:defRPr>
            </a:lvl4pPr>
            <a:lvl5pPr marL="2057400" indent="-228600">
              <a:defRPr sz="1900" b="1">
                <a:solidFill>
                  <a:srgbClr val="008000"/>
                </a:solidFill>
                <a:latin typeface="Lucida Console" panose="020B0609040504020204" pitchFamily="49" charset="0"/>
                <a:ea typeface="宋体" panose="02010600030101010101" pitchFamily="2" charset="-122"/>
              </a:defRPr>
            </a:lvl5pPr>
            <a:lvl6pPr marL="25146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6pPr>
            <a:lvl7pPr marL="29718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7pPr>
            <a:lvl8pPr marL="34290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8pPr>
            <a:lvl9pPr marL="38862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9pPr>
          </a:lstStyle>
          <a:p>
            <a:fld id="{91781006-83AD-46A1-B36A-F63E6818AEAA}" type="slidenum">
              <a:rPr lang="en-US" altLang="zh-CN" sz="1200" b="0">
                <a:solidFill>
                  <a:schemeClr val="tx1"/>
                </a:solidFill>
                <a:latin typeface="Times New Roman" panose="02020603050405020304" pitchFamily="18" charset="0"/>
              </a:rPr>
              <a:pPr/>
              <a:t>31</a:t>
            </a:fld>
            <a:endParaRPr lang="en-US" altLang="zh-CN" sz="1200" b="0">
              <a:solidFill>
                <a:schemeClr val="tx1"/>
              </a:solidFill>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673F1CE7-9C51-46E7-B0A6-FE79B695C504}" type="slidenum">
              <a:rPr lang="en-US" altLang="zh-CN" smtClean="0"/>
              <a:pPr>
                <a:defRPr/>
              </a:pPr>
              <a:t>38</a:t>
            </a:fld>
            <a:endParaRPr lang="en-US" altLang="zh-CN"/>
          </a:p>
        </p:txBody>
      </p:sp>
    </p:spTree>
    <p:extLst>
      <p:ext uri="{BB962C8B-B14F-4D97-AF65-F5344CB8AC3E}">
        <p14:creationId xmlns:p14="http://schemas.microsoft.com/office/powerpoint/2010/main" val="360148574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a:t>上面的表达式</a:t>
            </a:r>
            <a:r>
              <a:rPr lang="en-US" altLang="zh-CN" sz="1200" b="0"/>
              <a:t>expression</a:t>
            </a:r>
            <a:r>
              <a:rPr lang="zh-CN" altLang="en-US" sz="1200" b="0"/>
              <a:t>的返回值类型，是</a:t>
            </a:r>
            <a:r>
              <a:rPr lang="en-US" altLang="zh-CN" sz="1200" b="0">
                <a:solidFill>
                  <a:srgbClr val="0000CC"/>
                </a:solidFill>
              </a:rPr>
              <a:t>java7</a:t>
            </a:r>
            <a:r>
              <a:rPr lang="zh-CN" altLang="en-US" sz="1200" b="0">
                <a:solidFill>
                  <a:srgbClr val="0000CC"/>
                </a:solidFill>
              </a:rPr>
              <a:t>的</a:t>
            </a:r>
            <a:endParaRPr lang="zh-CN" altLang="en-US" b="0"/>
          </a:p>
        </p:txBody>
      </p:sp>
      <p:sp>
        <p:nvSpPr>
          <p:cNvPr id="4" name="灯片编号占位符 3"/>
          <p:cNvSpPr>
            <a:spLocks noGrp="1"/>
          </p:cNvSpPr>
          <p:nvPr>
            <p:ph type="sldNum" sz="quarter" idx="5"/>
          </p:nvPr>
        </p:nvSpPr>
        <p:spPr/>
        <p:txBody>
          <a:bodyPr/>
          <a:lstStyle/>
          <a:p>
            <a:pPr>
              <a:defRPr/>
            </a:pPr>
            <a:fld id="{673F1CE7-9C51-46E7-B0A6-FE79B695C504}" type="slidenum">
              <a:rPr lang="en-US" altLang="zh-CN" smtClean="0"/>
              <a:pPr>
                <a:defRPr/>
              </a:pPr>
              <a:t>40</a:t>
            </a:fld>
            <a:endParaRPr lang="en-US" altLang="zh-CN"/>
          </a:p>
        </p:txBody>
      </p:sp>
    </p:spTree>
    <p:extLst>
      <p:ext uri="{BB962C8B-B14F-4D97-AF65-F5344CB8AC3E}">
        <p14:creationId xmlns:p14="http://schemas.microsoft.com/office/powerpoint/2010/main" val="115360255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a:extLst>
              <a:ext uri="{FF2B5EF4-FFF2-40B4-BE49-F238E27FC236}">
                <a16:creationId xmlns:a16="http://schemas.microsoft.com/office/drawing/2014/main" id="{628C157B-0B5C-4203-B2FE-0E16D681EA16}"/>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900" b="1">
                <a:solidFill>
                  <a:srgbClr val="008000"/>
                </a:solidFill>
                <a:latin typeface="Lucida Console" panose="020B0609040504020204" pitchFamily="49" charset="0"/>
                <a:ea typeface="宋体" panose="02010600030101010101" pitchFamily="2" charset="-122"/>
              </a:defRPr>
            </a:lvl1pPr>
            <a:lvl2pPr marL="742950" indent="-285750">
              <a:defRPr sz="1900" b="1">
                <a:solidFill>
                  <a:srgbClr val="008000"/>
                </a:solidFill>
                <a:latin typeface="Lucida Console" panose="020B0609040504020204" pitchFamily="49" charset="0"/>
                <a:ea typeface="宋体" panose="02010600030101010101" pitchFamily="2" charset="-122"/>
              </a:defRPr>
            </a:lvl2pPr>
            <a:lvl3pPr marL="1143000" indent="-228600">
              <a:defRPr sz="1900" b="1">
                <a:solidFill>
                  <a:srgbClr val="008000"/>
                </a:solidFill>
                <a:latin typeface="Lucida Console" panose="020B0609040504020204" pitchFamily="49" charset="0"/>
                <a:ea typeface="宋体" panose="02010600030101010101" pitchFamily="2" charset="-122"/>
              </a:defRPr>
            </a:lvl3pPr>
            <a:lvl4pPr marL="1600200" indent="-228600">
              <a:defRPr sz="1900" b="1">
                <a:solidFill>
                  <a:srgbClr val="008000"/>
                </a:solidFill>
                <a:latin typeface="Lucida Console" panose="020B0609040504020204" pitchFamily="49" charset="0"/>
                <a:ea typeface="宋体" panose="02010600030101010101" pitchFamily="2" charset="-122"/>
              </a:defRPr>
            </a:lvl4pPr>
            <a:lvl5pPr marL="2057400" indent="-228600">
              <a:defRPr sz="1900" b="1">
                <a:solidFill>
                  <a:srgbClr val="008000"/>
                </a:solidFill>
                <a:latin typeface="Lucida Console" panose="020B0609040504020204" pitchFamily="49" charset="0"/>
                <a:ea typeface="宋体" panose="02010600030101010101" pitchFamily="2" charset="-122"/>
              </a:defRPr>
            </a:lvl5pPr>
            <a:lvl6pPr marL="25146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6pPr>
            <a:lvl7pPr marL="29718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7pPr>
            <a:lvl8pPr marL="34290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8pPr>
            <a:lvl9pPr marL="38862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9pPr>
          </a:lstStyle>
          <a:p>
            <a:fld id="{FD62EA9A-E69B-4622-9E50-1F5B63E997EC}" type="slidenum">
              <a:rPr lang="en-US" altLang="zh-CN" sz="1200" b="0">
                <a:solidFill>
                  <a:schemeClr val="tx1"/>
                </a:solidFill>
                <a:latin typeface="Times New Roman" panose="02020603050405020304" pitchFamily="18" charset="0"/>
              </a:rPr>
              <a:pPr/>
              <a:t>41</a:t>
            </a:fld>
            <a:endParaRPr lang="en-US" altLang="zh-CN" sz="1200" b="0">
              <a:solidFill>
                <a:schemeClr val="tx1"/>
              </a:solidFill>
              <a:latin typeface="Times New Roman" panose="02020603050405020304" pitchFamily="18" charset="0"/>
            </a:endParaRPr>
          </a:p>
        </p:txBody>
      </p:sp>
      <p:sp>
        <p:nvSpPr>
          <p:cNvPr id="67587" name="Rectangle 2">
            <a:extLst>
              <a:ext uri="{FF2B5EF4-FFF2-40B4-BE49-F238E27FC236}">
                <a16:creationId xmlns:a16="http://schemas.microsoft.com/office/drawing/2014/main" id="{F74926BE-8C89-4114-9C56-5CDA0B7045D6}"/>
              </a:ext>
            </a:extLst>
          </p:cNvPr>
          <p:cNvSpPr>
            <a:spLocks noGrp="1" noRot="1" noChangeAspect="1" noChangeArrowheads="1" noTextEdit="1"/>
          </p:cNvSpPr>
          <p:nvPr>
            <p:ph type="sldImg"/>
          </p:nvPr>
        </p:nvSpPr>
        <p:spPr>
          <a:ln/>
        </p:spPr>
      </p:sp>
      <p:sp>
        <p:nvSpPr>
          <p:cNvPr id="67588" name="Rectangle 3">
            <a:extLst>
              <a:ext uri="{FF2B5EF4-FFF2-40B4-BE49-F238E27FC236}">
                <a16:creationId xmlns:a16="http://schemas.microsoft.com/office/drawing/2014/main" id="{D904A2F8-44C9-4D44-A7D2-D8BB8487C0B7}"/>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幻灯片图像占位符 1">
            <a:extLst>
              <a:ext uri="{FF2B5EF4-FFF2-40B4-BE49-F238E27FC236}">
                <a16:creationId xmlns:a16="http://schemas.microsoft.com/office/drawing/2014/main" id="{3106BE8F-4A66-4BBB-B9A3-941E2A9513CB}"/>
              </a:ext>
            </a:extLst>
          </p:cNvPr>
          <p:cNvSpPr>
            <a:spLocks noGrp="1" noRot="1" noChangeAspect="1" noChangeArrowheads="1" noTextEdit="1"/>
          </p:cNvSpPr>
          <p:nvPr>
            <p:ph type="sldImg"/>
          </p:nvPr>
        </p:nvSpPr>
        <p:spPr>
          <a:ln/>
        </p:spPr>
      </p:sp>
      <p:sp>
        <p:nvSpPr>
          <p:cNvPr id="77827" name="备注占位符 2">
            <a:extLst>
              <a:ext uri="{FF2B5EF4-FFF2-40B4-BE49-F238E27FC236}">
                <a16:creationId xmlns:a16="http://schemas.microsoft.com/office/drawing/2014/main" id="{723650EB-57BD-4E94-A35E-8BF0FA5A980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b="0">
                <a:solidFill>
                  <a:srgbClr val="000000"/>
                </a:solidFill>
                <a:latin typeface="Lucida Console" panose="020B0609040504020204" pitchFamily="49" charset="0"/>
                <a:cs typeface="Times New Roman" panose="02020603050405020304" pitchFamily="18" charset="0"/>
              </a:rPr>
              <a:t>java.util.Locale</a:t>
            </a:r>
            <a:r>
              <a:rPr lang="zh-CN" altLang="en-US" b="0">
                <a:solidFill>
                  <a:srgbClr val="000000"/>
                </a:solidFill>
                <a:latin typeface="Lucida Console" panose="020B0609040504020204" pitchFamily="49" charset="0"/>
                <a:cs typeface="Times New Roman" panose="02020603050405020304" pitchFamily="18" charset="0"/>
              </a:rPr>
              <a:t>的作用：本地化</a:t>
            </a:r>
            <a:endParaRPr lang="zh-CN" altLang="en-US" b="0"/>
          </a:p>
        </p:txBody>
      </p:sp>
      <p:sp>
        <p:nvSpPr>
          <p:cNvPr id="77828" name="灯片编号占位符 3">
            <a:extLst>
              <a:ext uri="{FF2B5EF4-FFF2-40B4-BE49-F238E27FC236}">
                <a16:creationId xmlns:a16="http://schemas.microsoft.com/office/drawing/2014/main" id="{4CE9C7D6-E9DA-49DE-9E43-6AA9D04DBFB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900" b="1">
                <a:solidFill>
                  <a:srgbClr val="008000"/>
                </a:solidFill>
                <a:latin typeface="Lucida Console" panose="020B0609040504020204" pitchFamily="49" charset="0"/>
                <a:ea typeface="宋体" panose="02010600030101010101" pitchFamily="2" charset="-122"/>
              </a:defRPr>
            </a:lvl1pPr>
            <a:lvl2pPr marL="742950" indent="-285750">
              <a:defRPr sz="1900" b="1">
                <a:solidFill>
                  <a:srgbClr val="008000"/>
                </a:solidFill>
                <a:latin typeface="Lucida Console" panose="020B0609040504020204" pitchFamily="49" charset="0"/>
                <a:ea typeface="宋体" panose="02010600030101010101" pitchFamily="2" charset="-122"/>
              </a:defRPr>
            </a:lvl2pPr>
            <a:lvl3pPr marL="1143000" indent="-228600">
              <a:defRPr sz="1900" b="1">
                <a:solidFill>
                  <a:srgbClr val="008000"/>
                </a:solidFill>
                <a:latin typeface="Lucida Console" panose="020B0609040504020204" pitchFamily="49" charset="0"/>
                <a:ea typeface="宋体" panose="02010600030101010101" pitchFamily="2" charset="-122"/>
              </a:defRPr>
            </a:lvl3pPr>
            <a:lvl4pPr marL="1600200" indent="-228600">
              <a:defRPr sz="1900" b="1">
                <a:solidFill>
                  <a:srgbClr val="008000"/>
                </a:solidFill>
                <a:latin typeface="Lucida Console" panose="020B0609040504020204" pitchFamily="49" charset="0"/>
                <a:ea typeface="宋体" panose="02010600030101010101" pitchFamily="2" charset="-122"/>
              </a:defRPr>
            </a:lvl4pPr>
            <a:lvl5pPr marL="2057400" indent="-228600">
              <a:defRPr sz="1900" b="1">
                <a:solidFill>
                  <a:srgbClr val="008000"/>
                </a:solidFill>
                <a:latin typeface="Lucida Console" panose="020B0609040504020204" pitchFamily="49" charset="0"/>
                <a:ea typeface="宋体" panose="02010600030101010101" pitchFamily="2" charset="-122"/>
              </a:defRPr>
            </a:lvl5pPr>
            <a:lvl6pPr marL="25146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6pPr>
            <a:lvl7pPr marL="29718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7pPr>
            <a:lvl8pPr marL="34290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8pPr>
            <a:lvl9pPr marL="38862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9pPr>
          </a:lstStyle>
          <a:p>
            <a:fld id="{885601F6-F23E-44B7-A3E7-23BC845AB91F}" type="slidenum">
              <a:rPr lang="en-US" altLang="zh-CN" sz="1200" b="0">
                <a:solidFill>
                  <a:schemeClr val="tx1"/>
                </a:solidFill>
                <a:latin typeface="Times New Roman" panose="02020603050405020304" pitchFamily="18" charset="0"/>
              </a:rPr>
              <a:pPr/>
              <a:t>55</a:t>
            </a:fld>
            <a:endParaRPr lang="en-US" altLang="zh-CN" sz="1200" b="0">
              <a:solidFill>
                <a:schemeClr val="tx1"/>
              </a:solidFill>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a:extLst>
              <a:ext uri="{FF2B5EF4-FFF2-40B4-BE49-F238E27FC236}">
                <a16:creationId xmlns:a16="http://schemas.microsoft.com/office/drawing/2014/main" id="{E6CA5C59-6787-49CC-B3F0-012D6A498ECF}"/>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900" b="1">
                <a:solidFill>
                  <a:srgbClr val="008000"/>
                </a:solidFill>
                <a:latin typeface="Lucida Console" panose="020B0609040504020204" pitchFamily="49" charset="0"/>
                <a:ea typeface="宋体" panose="02010600030101010101" pitchFamily="2" charset="-122"/>
              </a:defRPr>
            </a:lvl1pPr>
            <a:lvl2pPr marL="742950" indent="-285750">
              <a:defRPr sz="1900" b="1">
                <a:solidFill>
                  <a:srgbClr val="008000"/>
                </a:solidFill>
                <a:latin typeface="Lucida Console" panose="020B0609040504020204" pitchFamily="49" charset="0"/>
                <a:ea typeface="宋体" panose="02010600030101010101" pitchFamily="2" charset="-122"/>
              </a:defRPr>
            </a:lvl2pPr>
            <a:lvl3pPr marL="1143000" indent="-228600">
              <a:defRPr sz="1900" b="1">
                <a:solidFill>
                  <a:srgbClr val="008000"/>
                </a:solidFill>
                <a:latin typeface="Lucida Console" panose="020B0609040504020204" pitchFamily="49" charset="0"/>
                <a:ea typeface="宋体" panose="02010600030101010101" pitchFamily="2" charset="-122"/>
              </a:defRPr>
            </a:lvl3pPr>
            <a:lvl4pPr marL="1600200" indent="-228600">
              <a:defRPr sz="1900" b="1">
                <a:solidFill>
                  <a:srgbClr val="008000"/>
                </a:solidFill>
                <a:latin typeface="Lucida Console" panose="020B0609040504020204" pitchFamily="49" charset="0"/>
                <a:ea typeface="宋体" panose="02010600030101010101" pitchFamily="2" charset="-122"/>
              </a:defRPr>
            </a:lvl4pPr>
            <a:lvl5pPr marL="2057400" indent="-228600">
              <a:defRPr sz="1900" b="1">
                <a:solidFill>
                  <a:srgbClr val="008000"/>
                </a:solidFill>
                <a:latin typeface="Lucida Console" panose="020B0609040504020204" pitchFamily="49" charset="0"/>
                <a:ea typeface="宋体" panose="02010600030101010101" pitchFamily="2" charset="-122"/>
              </a:defRPr>
            </a:lvl5pPr>
            <a:lvl6pPr marL="25146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6pPr>
            <a:lvl7pPr marL="29718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7pPr>
            <a:lvl8pPr marL="34290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8pPr>
            <a:lvl9pPr marL="38862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9pPr>
          </a:lstStyle>
          <a:p>
            <a:fld id="{F5FCE56D-74C7-4E83-9855-302BFC2BD3C8}" type="slidenum">
              <a:rPr lang="en-US" altLang="zh-CN" sz="1200" b="0">
                <a:solidFill>
                  <a:schemeClr val="tx1"/>
                </a:solidFill>
                <a:latin typeface="Times New Roman" panose="02020603050405020304" pitchFamily="18" charset="0"/>
              </a:rPr>
              <a:pPr/>
              <a:t>60</a:t>
            </a:fld>
            <a:endParaRPr lang="en-US" altLang="zh-CN" sz="1200" b="0">
              <a:solidFill>
                <a:schemeClr val="tx1"/>
              </a:solidFill>
              <a:latin typeface="Times New Roman" panose="02020603050405020304" pitchFamily="18" charset="0"/>
            </a:endParaRPr>
          </a:p>
        </p:txBody>
      </p:sp>
      <p:sp>
        <p:nvSpPr>
          <p:cNvPr id="84995" name="Rectangle 2">
            <a:extLst>
              <a:ext uri="{FF2B5EF4-FFF2-40B4-BE49-F238E27FC236}">
                <a16:creationId xmlns:a16="http://schemas.microsoft.com/office/drawing/2014/main" id="{8ED4CD75-6E08-4D98-9113-4E2B9F0BC0E9}"/>
              </a:ext>
            </a:extLst>
          </p:cNvPr>
          <p:cNvSpPr>
            <a:spLocks noGrp="1" noRot="1" noChangeAspect="1" noChangeArrowheads="1" noTextEdit="1"/>
          </p:cNvSpPr>
          <p:nvPr>
            <p:ph type="sldImg"/>
          </p:nvPr>
        </p:nvSpPr>
        <p:spPr>
          <a:ln/>
        </p:spPr>
      </p:sp>
      <p:sp>
        <p:nvSpPr>
          <p:cNvPr id="84996" name="Rectangle 3">
            <a:extLst>
              <a:ext uri="{FF2B5EF4-FFF2-40B4-BE49-F238E27FC236}">
                <a16:creationId xmlns:a16="http://schemas.microsoft.com/office/drawing/2014/main" id="{84ADFB42-EA5C-4C0B-A66E-E178D5A68E26}"/>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a:extLst>
              <a:ext uri="{FF2B5EF4-FFF2-40B4-BE49-F238E27FC236}">
                <a16:creationId xmlns:a16="http://schemas.microsoft.com/office/drawing/2014/main" id="{88194708-85B0-4764-827C-7D44C6529575}"/>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900" b="1">
                <a:solidFill>
                  <a:srgbClr val="008000"/>
                </a:solidFill>
                <a:latin typeface="Lucida Console" panose="020B0609040504020204" pitchFamily="49" charset="0"/>
                <a:ea typeface="宋体" panose="02010600030101010101" pitchFamily="2" charset="-122"/>
              </a:defRPr>
            </a:lvl1pPr>
            <a:lvl2pPr marL="742950" indent="-285750">
              <a:defRPr sz="1900" b="1">
                <a:solidFill>
                  <a:srgbClr val="008000"/>
                </a:solidFill>
                <a:latin typeface="Lucida Console" panose="020B0609040504020204" pitchFamily="49" charset="0"/>
                <a:ea typeface="宋体" panose="02010600030101010101" pitchFamily="2" charset="-122"/>
              </a:defRPr>
            </a:lvl2pPr>
            <a:lvl3pPr marL="1143000" indent="-228600">
              <a:defRPr sz="1900" b="1">
                <a:solidFill>
                  <a:srgbClr val="008000"/>
                </a:solidFill>
                <a:latin typeface="Lucida Console" panose="020B0609040504020204" pitchFamily="49" charset="0"/>
                <a:ea typeface="宋体" panose="02010600030101010101" pitchFamily="2" charset="-122"/>
              </a:defRPr>
            </a:lvl3pPr>
            <a:lvl4pPr marL="1600200" indent="-228600">
              <a:defRPr sz="1900" b="1">
                <a:solidFill>
                  <a:srgbClr val="008000"/>
                </a:solidFill>
                <a:latin typeface="Lucida Console" panose="020B0609040504020204" pitchFamily="49" charset="0"/>
                <a:ea typeface="宋体" panose="02010600030101010101" pitchFamily="2" charset="-122"/>
              </a:defRPr>
            </a:lvl4pPr>
            <a:lvl5pPr marL="2057400" indent="-228600">
              <a:defRPr sz="1900" b="1">
                <a:solidFill>
                  <a:srgbClr val="008000"/>
                </a:solidFill>
                <a:latin typeface="Lucida Console" panose="020B0609040504020204" pitchFamily="49" charset="0"/>
                <a:ea typeface="宋体" panose="02010600030101010101" pitchFamily="2" charset="-122"/>
              </a:defRPr>
            </a:lvl5pPr>
            <a:lvl6pPr marL="25146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6pPr>
            <a:lvl7pPr marL="29718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7pPr>
            <a:lvl8pPr marL="34290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8pPr>
            <a:lvl9pPr marL="38862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9pPr>
          </a:lstStyle>
          <a:p>
            <a:fld id="{7C20251B-F406-4170-AA7B-AAB0559BD65C}" type="slidenum">
              <a:rPr lang="en-US" altLang="zh-CN" sz="1200" b="0">
                <a:solidFill>
                  <a:schemeClr val="tx1"/>
                </a:solidFill>
                <a:latin typeface="Times New Roman" panose="02020603050405020304" pitchFamily="18" charset="0"/>
              </a:rPr>
              <a:pPr/>
              <a:t>64</a:t>
            </a:fld>
            <a:endParaRPr lang="en-US" altLang="zh-CN" sz="1200" b="0">
              <a:solidFill>
                <a:schemeClr val="tx1"/>
              </a:solidFill>
              <a:latin typeface="Times New Roman" panose="02020603050405020304" pitchFamily="18" charset="0"/>
            </a:endParaRPr>
          </a:p>
        </p:txBody>
      </p:sp>
      <p:sp>
        <p:nvSpPr>
          <p:cNvPr id="90115" name="Rectangle 2">
            <a:extLst>
              <a:ext uri="{FF2B5EF4-FFF2-40B4-BE49-F238E27FC236}">
                <a16:creationId xmlns:a16="http://schemas.microsoft.com/office/drawing/2014/main" id="{8D6B987F-5A1A-4D23-AF2D-239945D0BCA0}"/>
              </a:ext>
            </a:extLst>
          </p:cNvPr>
          <p:cNvSpPr>
            <a:spLocks noGrp="1" noRot="1" noChangeAspect="1" noChangeArrowheads="1" noTextEdit="1"/>
          </p:cNvSpPr>
          <p:nvPr>
            <p:ph type="sldImg"/>
          </p:nvPr>
        </p:nvSpPr>
        <p:spPr>
          <a:ln/>
        </p:spPr>
      </p:sp>
      <p:sp>
        <p:nvSpPr>
          <p:cNvPr id="90116" name="Rectangle 3">
            <a:extLst>
              <a:ext uri="{FF2B5EF4-FFF2-40B4-BE49-F238E27FC236}">
                <a16:creationId xmlns:a16="http://schemas.microsoft.com/office/drawing/2014/main" id="{C6637D42-C876-476E-8986-001EFCC77DFB}"/>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注</a:t>
            </a:r>
            <a:r>
              <a:rPr lang="en-US" altLang="zh-CN"/>
              <a:t>1</a:t>
            </a:r>
            <a:r>
              <a:rPr lang="zh-CN" altLang="en-US"/>
              <a:t>的原因：声明数组时，等号左边是数组的引用，因此没有长度是符合数组引用的语义的</a:t>
            </a:r>
          </a:p>
        </p:txBody>
      </p:sp>
      <p:sp>
        <p:nvSpPr>
          <p:cNvPr id="4" name="灯片编号占位符 3"/>
          <p:cNvSpPr>
            <a:spLocks noGrp="1"/>
          </p:cNvSpPr>
          <p:nvPr>
            <p:ph type="sldNum" sz="quarter" idx="5"/>
          </p:nvPr>
        </p:nvSpPr>
        <p:spPr/>
        <p:txBody>
          <a:bodyPr/>
          <a:lstStyle/>
          <a:p>
            <a:pPr>
              <a:defRPr/>
            </a:pPr>
            <a:fld id="{673F1CE7-9C51-46E7-B0A6-FE79B695C504}" type="slidenum">
              <a:rPr lang="en-US" altLang="zh-CN" smtClean="0"/>
              <a:pPr>
                <a:defRPr/>
              </a:pPr>
              <a:t>67</a:t>
            </a:fld>
            <a:endParaRPr lang="en-US" altLang="zh-CN"/>
          </a:p>
        </p:txBody>
      </p:sp>
    </p:spTree>
    <p:extLst>
      <p:ext uri="{BB962C8B-B14F-4D97-AF65-F5344CB8AC3E}">
        <p14:creationId xmlns:p14="http://schemas.microsoft.com/office/powerpoint/2010/main" val="261861337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a:extLst>
              <a:ext uri="{FF2B5EF4-FFF2-40B4-BE49-F238E27FC236}">
                <a16:creationId xmlns:a16="http://schemas.microsoft.com/office/drawing/2014/main" id="{DDDE6C28-F192-4E8B-8F83-D7CC94A76463}"/>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900" b="1">
                <a:solidFill>
                  <a:srgbClr val="008000"/>
                </a:solidFill>
                <a:latin typeface="Lucida Console" panose="020B0609040504020204" pitchFamily="49" charset="0"/>
                <a:ea typeface="宋体" panose="02010600030101010101" pitchFamily="2" charset="-122"/>
              </a:defRPr>
            </a:lvl1pPr>
            <a:lvl2pPr marL="742950" indent="-285750">
              <a:defRPr sz="1900" b="1">
                <a:solidFill>
                  <a:srgbClr val="008000"/>
                </a:solidFill>
                <a:latin typeface="Lucida Console" panose="020B0609040504020204" pitchFamily="49" charset="0"/>
                <a:ea typeface="宋体" panose="02010600030101010101" pitchFamily="2" charset="-122"/>
              </a:defRPr>
            </a:lvl2pPr>
            <a:lvl3pPr marL="1143000" indent="-228600">
              <a:defRPr sz="1900" b="1">
                <a:solidFill>
                  <a:srgbClr val="008000"/>
                </a:solidFill>
                <a:latin typeface="Lucida Console" panose="020B0609040504020204" pitchFamily="49" charset="0"/>
                <a:ea typeface="宋体" panose="02010600030101010101" pitchFamily="2" charset="-122"/>
              </a:defRPr>
            </a:lvl3pPr>
            <a:lvl4pPr marL="1600200" indent="-228600">
              <a:defRPr sz="1900" b="1">
                <a:solidFill>
                  <a:srgbClr val="008000"/>
                </a:solidFill>
                <a:latin typeface="Lucida Console" panose="020B0609040504020204" pitchFamily="49" charset="0"/>
                <a:ea typeface="宋体" panose="02010600030101010101" pitchFamily="2" charset="-122"/>
              </a:defRPr>
            </a:lvl4pPr>
            <a:lvl5pPr marL="2057400" indent="-228600">
              <a:defRPr sz="1900" b="1">
                <a:solidFill>
                  <a:srgbClr val="008000"/>
                </a:solidFill>
                <a:latin typeface="Lucida Console" panose="020B0609040504020204" pitchFamily="49" charset="0"/>
                <a:ea typeface="宋体" panose="02010600030101010101" pitchFamily="2" charset="-122"/>
              </a:defRPr>
            </a:lvl5pPr>
            <a:lvl6pPr marL="25146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6pPr>
            <a:lvl7pPr marL="29718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7pPr>
            <a:lvl8pPr marL="34290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8pPr>
            <a:lvl9pPr marL="38862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9pPr>
          </a:lstStyle>
          <a:p>
            <a:fld id="{293CA77E-2603-4BBD-A263-344C232C63B6}" type="slidenum">
              <a:rPr lang="en-US" altLang="zh-CN" sz="1200" b="0">
                <a:solidFill>
                  <a:schemeClr val="tx1"/>
                </a:solidFill>
                <a:latin typeface="Times New Roman" panose="02020603050405020304" pitchFamily="18" charset="0"/>
              </a:rPr>
              <a:pPr/>
              <a:t>69</a:t>
            </a:fld>
            <a:endParaRPr lang="en-US" altLang="zh-CN" sz="1200" b="0">
              <a:solidFill>
                <a:schemeClr val="tx1"/>
              </a:solidFill>
              <a:latin typeface="Times New Roman" panose="02020603050405020304" pitchFamily="18" charset="0"/>
            </a:endParaRPr>
          </a:p>
        </p:txBody>
      </p:sp>
      <p:sp>
        <p:nvSpPr>
          <p:cNvPr id="96259" name="Rectangle 2">
            <a:extLst>
              <a:ext uri="{FF2B5EF4-FFF2-40B4-BE49-F238E27FC236}">
                <a16:creationId xmlns:a16="http://schemas.microsoft.com/office/drawing/2014/main" id="{6D606E95-406E-4A83-85BD-87F3D478D108}"/>
              </a:ext>
            </a:extLst>
          </p:cNvPr>
          <p:cNvSpPr>
            <a:spLocks noGrp="1" noRot="1" noChangeAspect="1" noChangeArrowheads="1" noTextEdit="1"/>
          </p:cNvSpPr>
          <p:nvPr>
            <p:ph type="sldImg"/>
          </p:nvPr>
        </p:nvSpPr>
        <p:spPr>
          <a:ln/>
        </p:spPr>
      </p:sp>
      <p:sp>
        <p:nvSpPr>
          <p:cNvPr id="96260" name="Rectangle 3">
            <a:extLst>
              <a:ext uri="{FF2B5EF4-FFF2-40B4-BE49-F238E27FC236}">
                <a16:creationId xmlns:a16="http://schemas.microsoft.com/office/drawing/2014/main" id="{75A660E4-0BB7-4C73-8451-A65E804E7CD0}"/>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a:extLst>
              <a:ext uri="{FF2B5EF4-FFF2-40B4-BE49-F238E27FC236}">
                <a16:creationId xmlns:a16="http://schemas.microsoft.com/office/drawing/2014/main" id="{4A2B1AA0-12FC-4B3E-A9F5-BF16A33C3F1C}"/>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900" b="1">
                <a:solidFill>
                  <a:srgbClr val="008000"/>
                </a:solidFill>
                <a:latin typeface="Lucida Console" panose="020B0609040504020204" pitchFamily="49" charset="0"/>
                <a:ea typeface="宋体" panose="02010600030101010101" pitchFamily="2" charset="-122"/>
              </a:defRPr>
            </a:lvl1pPr>
            <a:lvl2pPr marL="742950" indent="-285750">
              <a:defRPr sz="1900" b="1">
                <a:solidFill>
                  <a:srgbClr val="008000"/>
                </a:solidFill>
                <a:latin typeface="Lucida Console" panose="020B0609040504020204" pitchFamily="49" charset="0"/>
                <a:ea typeface="宋体" panose="02010600030101010101" pitchFamily="2" charset="-122"/>
              </a:defRPr>
            </a:lvl2pPr>
            <a:lvl3pPr marL="1143000" indent="-228600">
              <a:defRPr sz="1900" b="1">
                <a:solidFill>
                  <a:srgbClr val="008000"/>
                </a:solidFill>
                <a:latin typeface="Lucida Console" panose="020B0609040504020204" pitchFamily="49" charset="0"/>
                <a:ea typeface="宋体" panose="02010600030101010101" pitchFamily="2" charset="-122"/>
              </a:defRPr>
            </a:lvl3pPr>
            <a:lvl4pPr marL="1600200" indent="-228600">
              <a:defRPr sz="1900" b="1">
                <a:solidFill>
                  <a:srgbClr val="008000"/>
                </a:solidFill>
                <a:latin typeface="Lucida Console" panose="020B0609040504020204" pitchFamily="49" charset="0"/>
                <a:ea typeface="宋体" panose="02010600030101010101" pitchFamily="2" charset="-122"/>
              </a:defRPr>
            </a:lvl4pPr>
            <a:lvl5pPr marL="2057400" indent="-228600">
              <a:defRPr sz="1900" b="1">
                <a:solidFill>
                  <a:srgbClr val="008000"/>
                </a:solidFill>
                <a:latin typeface="Lucida Console" panose="020B0609040504020204" pitchFamily="49" charset="0"/>
                <a:ea typeface="宋体" panose="02010600030101010101" pitchFamily="2" charset="-122"/>
              </a:defRPr>
            </a:lvl5pPr>
            <a:lvl6pPr marL="25146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6pPr>
            <a:lvl7pPr marL="29718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7pPr>
            <a:lvl8pPr marL="34290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8pPr>
            <a:lvl9pPr marL="38862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9pPr>
          </a:lstStyle>
          <a:p>
            <a:fld id="{EF9E6435-35F0-402A-8087-53F3E713A822}" type="slidenum">
              <a:rPr lang="en-US" altLang="zh-CN" sz="1200" b="0">
                <a:solidFill>
                  <a:schemeClr val="tx1"/>
                </a:solidFill>
                <a:latin typeface="Times New Roman" panose="02020603050405020304" pitchFamily="18" charset="0"/>
              </a:rPr>
              <a:pPr/>
              <a:t>70</a:t>
            </a:fld>
            <a:endParaRPr lang="en-US" altLang="zh-CN" sz="1200" b="0">
              <a:solidFill>
                <a:schemeClr val="tx1"/>
              </a:solidFill>
              <a:latin typeface="Times New Roman" panose="02020603050405020304" pitchFamily="18" charset="0"/>
            </a:endParaRPr>
          </a:p>
        </p:txBody>
      </p:sp>
      <p:sp>
        <p:nvSpPr>
          <p:cNvPr id="98307" name="Rectangle 2">
            <a:extLst>
              <a:ext uri="{FF2B5EF4-FFF2-40B4-BE49-F238E27FC236}">
                <a16:creationId xmlns:a16="http://schemas.microsoft.com/office/drawing/2014/main" id="{67CB8038-2FD9-4805-A338-AB80FF3B4EC4}"/>
              </a:ext>
            </a:extLst>
          </p:cNvPr>
          <p:cNvSpPr>
            <a:spLocks noGrp="1" noRot="1" noChangeAspect="1" noChangeArrowheads="1" noTextEdit="1"/>
          </p:cNvSpPr>
          <p:nvPr>
            <p:ph type="sldImg"/>
          </p:nvPr>
        </p:nvSpPr>
        <p:spPr>
          <a:ln/>
        </p:spPr>
      </p:sp>
      <p:sp>
        <p:nvSpPr>
          <p:cNvPr id="98308" name="Rectangle 3">
            <a:extLst>
              <a:ext uri="{FF2B5EF4-FFF2-40B4-BE49-F238E27FC236}">
                <a16:creationId xmlns:a16="http://schemas.microsoft.com/office/drawing/2014/main" id="{7D6397AC-D595-454A-A33E-C7532BB3DF2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幻灯片图像占位符 1">
            <a:extLst>
              <a:ext uri="{FF2B5EF4-FFF2-40B4-BE49-F238E27FC236}">
                <a16:creationId xmlns:a16="http://schemas.microsoft.com/office/drawing/2014/main" id="{F9A25245-1A4A-41C4-8156-9C8E85904BA5}"/>
              </a:ext>
            </a:extLst>
          </p:cNvPr>
          <p:cNvSpPr>
            <a:spLocks noGrp="1" noRot="1" noChangeAspect="1" noChangeArrowheads="1" noTextEdit="1"/>
          </p:cNvSpPr>
          <p:nvPr>
            <p:ph type="sldImg"/>
          </p:nvPr>
        </p:nvSpPr>
        <p:spPr>
          <a:ln/>
        </p:spPr>
      </p:sp>
      <p:sp>
        <p:nvSpPr>
          <p:cNvPr id="101379" name="备注占位符 2">
            <a:extLst>
              <a:ext uri="{FF2B5EF4-FFF2-40B4-BE49-F238E27FC236}">
                <a16:creationId xmlns:a16="http://schemas.microsoft.com/office/drawing/2014/main" id="{016DEAE3-A015-4C6A-A252-3C4BD0B6B13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%5d</a:t>
            </a:r>
            <a:r>
              <a:rPr lang="zh-CN" altLang="en-US"/>
              <a:t>：打印整数，占</a:t>
            </a:r>
            <a:r>
              <a:rPr lang="en-US" altLang="zh-CN"/>
              <a:t>5</a:t>
            </a:r>
            <a:r>
              <a:rPr lang="zh-CN" altLang="en-US"/>
              <a:t>个位置，用于排版</a:t>
            </a:r>
          </a:p>
        </p:txBody>
      </p:sp>
      <p:sp>
        <p:nvSpPr>
          <p:cNvPr id="101380" name="灯片编号占位符 3">
            <a:extLst>
              <a:ext uri="{FF2B5EF4-FFF2-40B4-BE49-F238E27FC236}">
                <a16:creationId xmlns:a16="http://schemas.microsoft.com/office/drawing/2014/main" id="{B8F67E4A-ADDE-4640-81A0-099A636C5DB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900" b="1">
                <a:solidFill>
                  <a:srgbClr val="008000"/>
                </a:solidFill>
                <a:latin typeface="Lucida Console" panose="020B0609040504020204" pitchFamily="49" charset="0"/>
                <a:ea typeface="宋体" panose="02010600030101010101" pitchFamily="2" charset="-122"/>
              </a:defRPr>
            </a:lvl1pPr>
            <a:lvl2pPr marL="742950" indent="-285750">
              <a:defRPr sz="1900" b="1">
                <a:solidFill>
                  <a:srgbClr val="008000"/>
                </a:solidFill>
                <a:latin typeface="Lucida Console" panose="020B0609040504020204" pitchFamily="49" charset="0"/>
                <a:ea typeface="宋体" panose="02010600030101010101" pitchFamily="2" charset="-122"/>
              </a:defRPr>
            </a:lvl2pPr>
            <a:lvl3pPr marL="1143000" indent="-228600">
              <a:defRPr sz="1900" b="1">
                <a:solidFill>
                  <a:srgbClr val="008000"/>
                </a:solidFill>
                <a:latin typeface="Lucida Console" panose="020B0609040504020204" pitchFamily="49" charset="0"/>
                <a:ea typeface="宋体" panose="02010600030101010101" pitchFamily="2" charset="-122"/>
              </a:defRPr>
            </a:lvl3pPr>
            <a:lvl4pPr marL="1600200" indent="-228600">
              <a:defRPr sz="1900" b="1">
                <a:solidFill>
                  <a:srgbClr val="008000"/>
                </a:solidFill>
                <a:latin typeface="Lucida Console" panose="020B0609040504020204" pitchFamily="49" charset="0"/>
                <a:ea typeface="宋体" panose="02010600030101010101" pitchFamily="2" charset="-122"/>
              </a:defRPr>
            </a:lvl4pPr>
            <a:lvl5pPr marL="2057400" indent="-228600">
              <a:defRPr sz="1900" b="1">
                <a:solidFill>
                  <a:srgbClr val="008000"/>
                </a:solidFill>
                <a:latin typeface="Lucida Console" panose="020B0609040504020204" pitchFamily="49" charset="0"/>
                <a:ea typeface="宋体" panose="02010600030101010101" pitchFamily="2" charset="-122"/>
              </a:defRPr>
            </a:lvl5pPr>
            <a:lvl6pPr marL="25146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6pPr>
            <a:lvl7pPr marL="29718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7pPr>
            <a:lvl8pPr marL="34290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8pPr>
            <a:lvl9pPr marL="3886200" indent="-228600" eaLnBrk="0" fontAlgn="base" hangingPunct="0">
              <a:spcBef>
                <a:spcPct val="0"/>
              </a:spcBef>
              <a:spcAft>
                <a:spcPct val="0"/>
              </a:spcAft>
              <a:defRPr sz="1900" b="1">
                <a:solidFill>
                  <a:srgbClr val="008000"/>
                </a:solidFill>
                <a:latin typeface="Lucida Console" panose="020B0609040504020204" pitchFamily="49" charset="0"/>
                <a:ea typeface="宋体" panose="02010600030101010101" pitchFamily="2" charset="-122"/>
              </a:defRPr>
            </a:lvl9pPr>
          </a:lstStyle>
          <a:p>
            <a:fld id="{56534F4D-D30F-405A-829F-585530FCECBF}" type="slidenum">
              <a:rPr lang="en-US" altLang="zh-CN" sz="1200" b="0">
                <a:solidFill>
                  <a:schemeClr val="tx1"/>
                </a:solidFill>
                <a:latin typeface="Times New Roman" panose="02020603050405020304" pitchFamily="18" charset="0"/>
              </a:rPr>
              <a:pPr/>
              <a:t>72</a:t>
            </a:fld>
            <a:endParaRPr lang="en-US" altLang="zh-CN" sz="1200" b="0">
              <a:solidFill>
                <a:schemeClr val="tx1"/>
              </a:solidFill>
              <a:latin typeface="Times New Roman" panose="02020603050405020304"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pPr>
              <a:defRPr/>
            </a:pPr>
            <a:fld id="{673F1CE7-9C51-46E7-B0A6-FE79B695C504}" type="slidenum">
              <a:rPr lang="en-US" altLang="zh-CN" smtClean="0"/>
              <a:pPr>
                <a:defRPr/>
              </a:pPr>
              <a:t>82</a:t>
            </a:fld>
            <a:endParaRPr lang="en-US" altLang="zh-CN"/>
          </a:p>
        </p:txBody>
      </p:sp>
    </p:spTree>
    <p:extLst>
      <p:ext uri="{BB962C8B-B14F-4D97-AF65-F5344CB8AC3E}">
        <p14:creationId xmlns:p14="http://schemas.microsoft.com/office/powerpoint/2010/main" val="24946512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Rectangle 4">
            <a:extLst>
              <a:ext uri="{FF2B5EF4-FFF2-40B4-BE49-F238E27FC236}">
                <a16:creationId xmlns:a16="http://schemas.microsoft.com/office/drawing/2014/main" id="{5BE27031-8951-4C39-94AE-8AA9B1541E9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03A845DF-0A52-44E3-B035-C0296BFE5A17}"/>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92E9BF44-541C-43CD-9E3B-CA87E16EDA76}"/>
              </a:ext>
            </a:extLst>
          </p:cNvPr>
          <p:cNvSpPr>
            <a:spLocks noGrp="1" noChangeArrowheads="1"/>
          </p:cNvSpPr>
          <p:nvPr>
            <p:ph type="sldNum" sz="quarter" idx="12"/>
          </p:nvPr>
        </p:nvSpPr>
        <p:spPr>
          <a:ln/>
        </p:spPr>
        <p:txBody>
          <a:bodyPr/>
          <a:lstStyle>
            <a:lvl1pPr>
              <a:defRPr/>
            </a:lvl1pPr>
          </a:lstStyle>
          <a:p>
            <a:pPr>
              <a:defRPr/>
            </a:pPr>
            <a:fld id="{166571E5-C179-48DD-BCBA-35450D5B1E90}" type="slidenum">
              <a:rPr lang="en-US" altLang="zh-CN"/>
              <a:pPr>
                <a:defRPr/>
              </a:pPr>
              <a:t>‹#›</a:t>
            </a:fld>
            <a:endParaRPr lang="en-US" altLang="zh-CN"/>
          </a:p>
        </p:txBody>
      </p:sp>
    </p:spTree>
    <p:extLst>
      <p:ext uri="{BB962C8B-B14F-4D97-AF65-F5344CB8AC3E}">
        <p14:creationId xmlns:p14="http://schemas.microsoft.com/office/powerpoint/2010/main" val="1615260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EA009A16-1070-4BB9-BEBF-547CBDE827D2}"/>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C04B07F8-4C96-4E99-B947-BC7EFC6D340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2CE74EBC-79A9-4BEB-A7CE-D6D73DADFDCB}"/>
              </a:ext>
            </a:extLst>
          </p:cNvPr>
          <p:cNvSpPr>
            <a:spLocks noGrp="1" noChangeArrowheads="1"/>
          </p:cNvSpPr>
          <p:nvPr>
            <p:ph type="sldNum" sz="quarter" idx="12"/>
          </p:nvPr>
        </p:nvSpPr>
        <p:spPr>
          <a:ln/>
        </p:spPr>
        <p:txBody>
          <a:bodyPr/>
          <a:lstStyle>
            <a:lvl1pPr>
              <a:defRPr/>
            </a:lvl1pPr>
          </a:lstStyle>
          <a:p>
            <a:pPr>
              <a:defRPr/>
            </a:pPr>
            <a:fld id="{C91A0D20-E974-46F0-BC7D-414F92655511}" type="slidenum">
              <a:rPr lang="en-US" altLang="zh-CN"/>
              <a:pPr>
                <a:defRPr/>
              </a:pPr>
              <a:t>‹#›</a:t>
            </a:fld>
            <a:endParaRPr lang="en-US" altLang="zh-CN"/>
          </a:p>
        </p:txBody>
      </p:sp>
    </p:spTree>
    <p:extLst>
      <p:ext uri="{BB962C8B-B14F-4D97-AF65-F5344CB8AC3E}">
        <p14:creationId xmlns:p14="http://schemas.microsoft.com/office/powerpoint/2010/main" val="26762698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Rectangle 4">
            <a:extLst>
              <a:ext uri="{FF2B5EF4-FFF2-40B4-BE49-F238E27FC236}">
                <a16:creationId xmlns:a16="http://schemas.microsoft.com/office/drawing/2014/main" id="{3744F3C1-D7E8-401D-8D25-A10B6D2773A4}"/>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7CBFE4A4-139B-4E9E-B512-8BF7407FD701}"/>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AB5B1DCE-CD9F-4435-8EB6-304E4E8988AE}"/>
              </a:ext>
            </a:extLst>
          </p:cNvPr>
          <p:cNvSpPr>
            <a:spLocks noGrp="1" noChangeArrowheads="1"/>
          </p:cNvSpPr>
          <p:nvPr>
            <p:ph type="sldNum" sz="quarter" idx="12"/>
          </p:nvPr>
        </p:nvSpPr>
        <p:spPr>
          <a:ln/>
        </p:spPr>
        <p:txBody>
          <a:bodyPr/>
          <a:lstStyle>
            <a:lvl1pPr>
              <a:defRPr/>
            </a:lvl1pPr>
          </a:lstStyle>
          <a:p>
            <a:pPr>
              <a:defRPr/>
            </a:pPr>
            <a:fld id="{FC543C8F-7BD7-4AE5-A8D0-E25121C0C471}" type="slidenum">
              <a:rPr lang="en-US" altLang="zh-CN"/>
              <a:pPr>
                <a:defRPr/>
              </a:pPr>
              <a:t>‹#›</a:t>
            </a:fld>
            <a:endParaRPr lang="en-US" altLang="zh-CN"/>
          </a:p>
        </p:txBody>
      </p:sp>
    </p:spTree>
    <p:extLst>
      <p:ext uri="{BB962C8B-B14F-4D97-AF65-F5344CB8AC3E}">
        <p14:creationId xmlns:p14="http://schemas.microsoft.com/office/powerpoint/2010/main" val="10674047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FE567FDB-2384-4C1E-8594-E4A088263A29}"/>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D11AFF9A-0955-4712-83BE-B2BFB39CC41E}"/>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A1C49751-FC95-405A-8DF1-59B03B5598FA}"/>
              </a:ext>
            </a:extLst>
          </p:cNvPr>
          <p:cNvSpPr>
            <a:spLocks noGrp="1" noChangeArrowheads="1"/>
          </p:cNvSpPr>
          <p:nvPr>
            <p:ph type="sldNum" sz="quarter" idx="12"/>
          </p:nvPr>
        </p:nvSpPr>
        <p:spPr>
          <a:ln/>
        </p:spPr>
        <p:txBody>
          <a:bodyPr/>
          <a:lstStyle>
            <a:lvl1pPr>
              <a:defRPr/>
            </a:lvl1pPr>
          </a:lstStyle>
          <a:p>
            <a:pPr>
              <a:defRPr/>
            </a:pPr>
            <a:fld id="{962B3822-5F01-466E-A530-41EEDFC64440}" type="slidenum">
              <a:rPr lang="en-US" altLang="zh-CN"/>
              <a:pPr>
                <a:defRPr/>
              </a:pPr>
              <a:t>‹#›</a:t>
            </a:fld>
            <a:endParaRPr lang="en-US" altLang="zh-CN"/>
          </a:p>
        </p:txBody>
      </p:sp>
    </p:spTree>
    <p:extLst>
      <p:ext uri="{BB962C8B-B14F-4D97-AF65-F5344CB8AC3E}">
        <p14:creationId xmlns:p14="http://schemas.microsoft.com/office/powerpoint/2010/main" val="30417281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03841904-A88C-4C3E-8C65-615E5884BEA2}"/>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a:extLst>
              <a:ext uri="{FF2B5EF4-FFF2-40B4-BE49-F238E27FC236}">
                <a16:creationId xmlns:a16="http://schemas.microsoft.com/office/drawing/2014/main" id="{46A38423-C499-4F5B-BE92-391C783D59C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455F8AC9-5FAA-4AD2-8A2E-3984191383F2}"/>
              </a:ext>
            </a:extLst>
          </p:cNvPr>
          <p:cNvSpPr>
            <a:spLocks noGrp="1" noChangeArrowheads="1"/>
          </p:cNvSpPr>
          <p:nvPr>
            <p:ph type="sldNum" sz="quarter" idx="12"/>
          </p:nvPr>
        </p:nvSpPr>
        <p:spPr>
          <a:ln/>
        </p:spPr>
        <p:txBody>
          <a:bodyPr/>
          <a:lstStyle>
            <a:lvl1pPr>
              <a:defRPr/>
            </a:lvl1pPr>
          </a:lstStyle>
          <a:p>
            <a:pPr>
              <a:defRPr/>
            </a:pPr>
            <a:fld id="{B6DAA72D-364A-4F7D-A61E-5D390CABAB0A}" type="slidenum">
              <a:rPr lang="en-US" altLang="zh-CN"/>
              <a:pPr>
                <a:defRPr/>
              </a:pPr>
              <a:t>‹#›</a:t>
            </a:fld>
            <a:endParaRPr lang="en-US" altLang="zh-CN"/>
          </a:p>
        </p:txBody>
      </p:sp>
    </p:spTree>
    <p:extLst>
      <p:ext uri="{BB962C8B-B14F-4D97-AF65-F5344CB8AC3E}">
        <p14:creationId xmlns:p14="http://schemas.microsoft.com/office/powerpoint/2010/main" val="4459382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15B1DB1B-A093-4E59-B54C-B18DF7EC3C3A}"/>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B96C63A8-BEC9-449A-8550-A5ED8B427C30}"/>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8B36E956-E35D-40B6-BA09-C00E43C081A8}"/>
              </a:ext>
            </a:extLst>
          </p:cNvPr>
          <p:cNvSpPr>
            <a:spLocks noGrp="1" noChangeArrowheads="1"/>
          </p:cNvSpPr>
          <p:nvPr>
            <p:ph type="sldNum" sz="quarter" idx="12"/>
          </p:nvPr>
        </p:nvSpPr>
        <p:spPr>
          <a:ln/>
        </p:spPr>
        <p:txBody>
          <a:bodyPr/>
          <a:lstStyle>
            <a:lvl1pPr>
              <a:defRPr/>
            </a:lvl1pPr>
          </a:lstStyle>
          <a:p>
            <a:pPr>
              <a:defRPr/>
            </a:pPr>
            <a:fld id="{0A5C0240-3352-4E86-BE53-5DB887555A2B}" type="slidenum">
              <a:rPr lang="en-US" altLang="zh-CN"/>
              <a:pPr>
                <a:defRPr/>
              </a:pPr>
              <a:t>‹#›</a:t>
            </a:fld>
            <a:endParaRPr lang="en-US" altLang="zh-CN"/>
          </a:p>
        </p:txBody>
      </p:sp>
    </p:spTree>
    <p:extLst>
      <p:ext uri="{BB962C8B-B14F-4D97-AF65-F5344CB8AC3E}">
        <p14:creationId xmlns:p14="http://schemas.microsoft.com/office/powerpoint/2010/main" val="5930417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EBE11AB8-78CF-4E21-BCD3-449C18C8640B}"/>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a:extLst>
              <a:ext uri="{FF2B5EF4-FFF2-40B4-BE49-F238E27FC236}">
                <a16:creationId xmlns:a16="http://schemas.microsoft.com/office/drawing/2014/main" id="{58800069-83CB-45C1-90BC-6BC31BDFD977}"/>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B784B097-F260-4B19-8FED-FDCB8EC7738D}"/>
              </a:ext>
            </a:extLst>
          </p:cNvPr>
          <p:cNvSpPr>
            <a:spLocks noGrp="1" noChangeArrowheads="1"/>
          </p:cNvSpPr>
          <p:nvPr>
            <p:ph type="sldNum" sz="quarter" idx="12"/>
          </p:nvPr>
        </p:nvSpPr>
        <p:spPr>
          <a:ln/>
        </p:spPr>
        <p:txBody>
          <a:bodyPr/>
          <a:lstStyle>
            <a:lvl1pPr>
              <a:defRPr/>
            </a:lvl1pPr>
          </a:lstStyle>
          <a:p>
            <a:pPr>
              <a:defRPr/>
            </a:pPr>
            <a:fld id="{FCDAB404-8CD9-49F3-A673-33720CB625C8}" type="slidenum">
              <a:rPr lang="en-US" altLang="zh-CN"/>
              <a:pPr>
                <a:defRPr/>
              </a:pPr>
              <a:t>‹#›</a:t>
            </a:fld>
            <a:endParaRPr lang="en-US" altLang="zh-CN"/>
          </a:p>
        </p:txBody>
      </p:sp>
    </p:spTree>
    <p:extLst>
      <p:ext uri="{BB962C8B-B14F-4D97-AF65-F5344CB8AC3E}">
        <p14:creationId xmlns:p14="http://schemas.microsoft.com/office/powerpoint/2010/main" val="34464713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B6AB8863-ECAF-4A11-BDE0-3FD4E3EC9EDB}"/>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C8A62DB7-F06F-4B09-B099-3454731101DF}"/>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5511510B-F1E9-4DE0-8ED8-482FAF2AD070}"/>
              </a:ext>
            </a:extLst>
          </p:cNvPr>
          <p:cNvSpPr>
            <a:spLocks noGrp="1" noChangeArrowheads="1"/>
          </p:cNvSpPr>
          <p:nvPr>
            <p:ph type="sldNum" sz="quarter" idx="12"/>
          </p:nvPr>
        </p:nvSpPr>
        <p:spPr>
          <a:ln/>
        </p:spPr>
        <p:txBody>
          <a:bodyPr/>
          <a:lstStyle>
            <a:lvl1pPr>
              <a:defRPr/>
            </a:lvl1pPr>
          </a:lstStyle>
          <a:p>
            <a:pPr>
              <a:defRPr/>
            </a:pPr>
            <a:fld id="{BA0653F6-E062-4F34-9A26-7E32A2579E04}" type="slidenum">
              <a:rPr lang="en-US" altLang="zh-CN"/>
              <a:pPr>
                <a:defRPr/>
              </a:pPr>
              <a:t>‹#›</a:t>
            </a:fld>
            <a:endParaRPr lang="en-US" altLang="zh-CN"/>
          </a:p>
        </p:txBody>
      </p:sp>
    </p:spTree>
    <p:extLst>
      <p:ext uri="{BB962C8B-B14F-4D97-AF65-F5344CB8AC3E}">
        <p14:creationId xmlns:p14="http://schemas.microsoft.com/office/powerpoint/2010/main" val="4308823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7A92D9D7-0C6A-4CCC-B19D-DE5CA9DEE876}"/>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FEFE11AA-7D85-4532-8294-B274B8588AD8}"/>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C43D5BD0-D39D-4EA6-BCBE-65238CC1B6B4}"/>
              </a:ext>
            </a:extLst>
          </p:cNvPr>
          <p:cNvSpPr>
            <a:spLocks noGrp="1" noChangeArrowheads="1"/>
          </p:cNvSpPr>
          <p:nvPr>
            <p:ph type="sldNum" sz="quarter" idx="12"/>
          </p:nvPr>
        </p:nvSpPr>
        <p:spPr>
          <a:ln/>
        </p:spPr>
        <p:txBody>
          <a:bodyPr/>
          <a:lstStyle>
            <a:lvl1pPr>
              <a:defRPr/>
            </a:lvl1pPr>
          </a:lstStyle>
          <a:p>
            <a:pPr>
              <a:defRPr/>
            </a:pPr>
            <a:fld id="{190E0C3E-1825-495F-8ED7-DE678C60B8F5}" type="slidenum">
              <a:rPr lang="en-US" altLang="zh-CN"/>
              <a:pPr>
                <a:defRPr/>
              </a:pPr>
              <a:t>‹#›</a:t>
            </a:fld>
            <a:endParaRPr lang="en-US" altLang="zh-CN"/>
          </a:p>
        </p:txBody>
      </p:sp>
    </p:spTree>
    <p:extLst>
      <p:ext uri="{BB962C8B-B14F-4D97-AF65-F5344CB8AC3E}">
        <p14:creationId xmlns:p14="http://schemas.microsoft.com/office/powerpoint/2010/main" val="18228273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8A6692FB-5D60-4D0B-84A9-B18B671C0490}"/>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F50AE798-BC78-49D7-8C10-0525CEF9B74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DF90CECF-740E-42FF-9758-3F0B6D42371A}"/>
              </a:ext>
            </a:extLst>
          </p:cNvPr>
          <p:cNvSpPr>
            <a:spLocks noGrp="1" noChangeArrowheads="1"/>
          </p:cNvSpPr>
          <p:nvPr>
            <p:ph type="sldNum" sz="quarter" idx="12"/>
          </p:nvPr>
        </p:nvSpPr>
        <p:spPr>
          <a:ln/>
        </p:spPr>
        <p:txBody>
          <a:bodyPr/>
          <a:lstStyle>
            <a:lvl1pPr>
              <a:defRPr/>
            </a:lvl1pPr>
          </a:lstStyle>
          <a:p>
            <a:pPr>
              <a:defRPr/>
            </a:pPr>
            <a:fld id="{9C945CA9-71FD-4736-9AF2-E79854188F59}" type="slidenum">
              <a:rPr lang="en-US" altLang="zh-CN"/>
              <a:pPr>
                <a:defRPr/>
              </a:pPr>
              <a:t>‹#›</a:t>
            </a:fld>
            <a:endParaRPr lang="en-US" altLang="zh-CN"/>
          </a:p>
        </p:txBody>
      </p:sp>
    </p:spTree>
    <p:extLst>
      <p:ext uri="{BB962C8B-B14F-4D97-AF65-F5344CB8AC3E}">
        <p14:creationId xmlns:p14="http://schemas.microsoft.com/office/powerpoint/2010/main" val="32050234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02C2B60F-0292-4968-BB17-A98C703539E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EE1BD6E9-488D-4CE3-8E6B-0E731F433425}"/>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E4A681DD-453A-4E1D-AA4C-626117959EBA}"/>
              </a:ext>
            </a:extLst>
          </p:cNvPr>
          <p:cNvSpPr>
            <a:spLocks noGrp="1" noChangeArrowheads="1"/>
          </p:cNvSpPr>
          <p:nvPr>
            <p:ph type="sldNum" sz="quarter" idx="12"/>
          </p:nvPr>
        </p:nvSpPr>
        <p:spPr>
          <a:ln/>
        </p:spPr>
        <p:txBody>
          <a:bodyPr/>
          <a:lstStyle>
            <a:lvl1pPr>
              <a:defRPr/>
            </a:lvl1pPr>
          </a:lstStyle>
          <a:p>
            <a:pPr>
              <a:defRPr/>
            </a:pPr>
            <a:fld id="{DCCC2C26-B0E5-40CE-9EF5-104CD626A33C}" type="slidenum">
              <a:rPr lang="en-US" altLang="zh-CN"/>
              <a:pPr>
                <a:defRPr/>
              </a:pPr>
              <a:t>‹#›</a:t>
            </a:fld>
            <a:endParaRPr lang="en-US" altLang="zh-CN"/>
          </a:p>
        </p:txBody>
      </p:sp>
    </p:spTree>
    <p:extLst>
      <p:ext uri="{BB962C8B-B14F-4D97-AF65-F5344CB8AC3E}">
        <p14:creationId xmlns:p14="http://schemas.microsoft.com/office/powerpoint/2010/main" val="33277469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4">
            <a:extLst>
              <a:ext uri="{FF2B5EF4-FFF2-40B4-BE49-F238E27FC236}">
                <a16:creationId xmlns:a16="http://schemas.microsoft.com/office/drawing/2014/main" id="{2CD17240-2872-4C44-9844-F354A02160FC}"/>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FF542854-D657-4200-9BC6-A7CCE3DE0AEF}"/>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D5A5A98D-1E27-4EB7-84FC-899A8BC4B661}"/>
              </a:ext>
            </a:extLst>
          </p:cNvPr>
          <p:cNvSpPr>
            <a:spLocks noGrp="1" noChangeArrowheads="1"/>
          </p:cNvSpPr>
          <p:nvPr>
            <p:ph type="sldNum" sz="quarter" idx="12"/>
          </p:nvPr>
        </p:nvSpPr>
        <p:spPr>
          <a:ln/>
        </p:spPr>
        <p:txBody>
          <a:bodyPr/>
          <a:lstStyle>
            <a:lvl1pPr>
              <a:defRPr/>
            </a:lvl1pPr>
          </a:lstStyle>
          <a:p>
            <a:pPr>
              <a:defRPr/>
            </a:pPr>
            <a:fld id="{58DB5F6A-3ED4-43F6-8214-079931E5F3F2}" type="slidenum">
              <a:rPr lang="en-US" altLang="zh-CN"/>
              <a:pPr>
                <a:defRPr/>
              </a:pPr>
              <a:t>‹#›</a:t>
            </a:fld>
            <a:endParaRPr lang="en-US" altLang="zh-CN"/>
          </a:p>
        </p:txBody>
      </p:sp>
    </p:spTree>
    <p:extLst>
      <p:ext uri="{BB962C8B-B14F-4D97-AF65-F5344CB8AC3E}">
        <p14:creationId xmlns:p14="http://schemas.microsoft.com/office/powerpoint/2010/main" val="5091119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526E7A1C-1AC0-4852-B19B-428E204626BB}"/>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F68C95C3-D5E9-439D-B239-E1CE3CE519D0}"/>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94DD6D9D-D23E-4902-9803-3E14D26ED04F}"/>
              </a:ext>
            </a:extLst>
          </p:cNvPr>
          <p:cNvSpPr>
            <a:spLocks noGrp="1" noChangeArrowheads="1"/>
          </p:cNvSpPr>
          <p:nvPr>
            <p:ph type="sldNum" sz="quarter" idx="12"/>
          </p:nvPr>
        </p:nvSpPr>
        <p:spPr>
          <a:ln/>
        </p:spPr>
        <p:txBody>
          <a:bodyPr/>
          <a:lstStyle>
            <a:lvl1pPr>
              <a:defRPr/>
            </a:lvl1pPr>
          </a:lstStyle>
          <a:p>
            <a:pPr>
              <a:defRPr/>
            </a:pPr>
            <a:fld id="{9CBCE782-A08C-4679-BA71-15CB1F7D96A9}" type="slidenum">
              <a:rPr lang="en-US" altLang="zh-CN"/>
              <a:pPr>
                <a:defRPr/>
              </a:pPr>
              <a:t>‹#›</a:t>
            </a:fld>
            <a:endParaRPr lang="en-US" altLang="zh-CN"/>
          </a:p>
        </p:txBody>
      </p:sp>
    </p:spTree>
    <p:extLst>
      <p:ext uri="{BB962C8B-B14F-4D97-AF65-F5344CB8AC3E}">
        <p14:creationId xmlns:p14="http://schemas.microsoft.com/office/powerpoint/2010/main" val="151922207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600200"/>
            <a:ext cx="4038600" cy="21859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8200" y="3938588"/>
            <a:ext cx="4038600" cy="21875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4">
            <a:extLst>
              <a:ext uri="{FF2B5EF4-FFF2-40B4-BE49-F238E27FC236}">
                <a16:creationId xmlns:a16="http://schemas.microsoft.com/office/drawing/2014/main" id="{594BF5A8-D86C-42B7-89FF-8DD763C90E71}"/>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7" name="Rectangle 5">
            <a:extLst>
              <a:ext uri="{FF2B5EF4-FFF2-40B4-BE49-F238E27FC236}">
                <a16:creationId xmlns:a16="http://schemas.microsoft.com/office/drawing/2014/main" id="{9B28DDEE-D215-4A81-A313-DFC1BA462ED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8" name="Rectangle 6">
            <a:extLst>
              <a:ext uri="{FF2B5EF4-FFF2-40B4-BE49-F238E27FC236}">
                <a16:creationId xmlns:a16="http://schemas.microsoft.com/office/drawing/2014/main" id="{B4706951-8F5D-4186-8A8A-971D2F0A69B8}"/>
              </a:ext>
            </a:extLst>
          </p:cNvPr>
          <p:cNvSpPr>
            <a:spLocks noGrp="1" noChangeArrowheads="1"/>
          </p:cNvSpPr>
          <p:nvPr>
            <p:ph type="sldNum" sz="quarter" idx="12"/>
          </p:nvPr>
        </p:nvSpPr>
        <p:spPr>
          <a:ln/>
        </p:spPr>
        <p:txBody>
          <a:bodyPr/>
          <a:lstStyle>
            <a:lvl1pPr>
              <a:defRPr/>
            </a:lvl1pPr>
          </a:lstStyle>
          <a:p>
            <a:pPr>
              <a:defRPr/>
            </a:pPr>
            <a:fld id="{053490E4-F615-4C08-9E72-B6D3F58FF63B}" type="slidenum">
              <a:rPr lang="en-US" altLang="zh-CN"/>
              <a:pPr>
                <a:defRPr/>
              </a:pPr>
              <a:t>‹#›</a:t>
            </a:fld>
            <a:endParaRPr lang="en-US" altLang="zh-CN"/>
          </a:p>
        </p:txBody>
      </p:sp>
    </p:spTree>
    <p:extLst>
      <p:ext uri="{BB962C8B-B14F-4D97-AF65-F5344CB8AC3E}">
        <p14:creationId xmlns:p14="http://schemas.microsoft.com/office/powerpoint/2010/main" val="12368358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p:txBody>
          <a:bodyPr/>
          <a:lstStyle>
            <a:lvl2pPr>
              <a:buFont typeface="Wingdings" pitchFamily="2" charset="2"/>
              <a:buChar char="§"/>
              <a:defRPr/>
            </a:lvl2pPr>
          </a:lstStyle>
          <a:p>
            <a:pPr lvl="0"/>
            <a:r>
              <a:rPr lang="en-US" dirty="0"/>
              <a:t>Click to edit Master text styles</a:t>
            </a:r>
          </a:p>
          <a:p>
            <a:pPr lvl="1"/>
            <a:r>
              <a:rPr lang="en-US"/>
              <a:t>Second level</a:t>
            </a:r>
          </a:p>
          <a:p>
            <a:pPr lvl="2"/>
            <a:r>
              <a:rPr lang="en-US" dirty="0"/>
              <a:t>Third level</a:t>
            </a:r>
          </a:p>
          <a:p>
            <a:pPr lvl="3"/>
            <a:r>
              <a:rPr lang="en-US" dirty="0"/>
              <a:t>Fourth level</a:t>
            </a:r>
          </a:p>
          <a:p>
            <a:pPr lvl="4"/>
            <a:r>
              <a:rPr lang="en-US" dirty="0"/>
              <a:t>Fifth level</a:t>
            </a:r>
          </a:p>
        </p:txBody>
      </p:sp>
      <p:sp>
        <p:nvSpPr>
          <p:cNvPr id="4" name="Date Placeholder 9"/>
          <p:cNvSpPr>
            <a:spLocks noGrp="1"/>
          </p:cNvSpPr>
          <p:nvPr>
            <p:ph type="dt" sz="half" idx="10"/>
          </p:nvPr>
        </p:nvSpPr>
        <p:spPr/>
        <p:txBody>
          <a:bodyPr/>
          <a:lstStyle>
            <a:lvl1pPr>
              <a:defRPr/>
            </a:lvl1pPr>
          </a:lstStyle>
          <a:p>
            <a:pPr>
              <a:defRPr/>
            </a:pPr>
            <a:fld id="{B17BFFD9-B361-4257-BF6C-AB0BAEE77612}" type="datetime1">
              <a:rPr lang="en-US" altLang="zh-CN"/>
              <a:pPr>
                <a:defRPr/>
              </a:pPr>
              <a:t>1/23/25</a:t>
            </a:fld>
            <a:endParaRPr lang="en-US" altLang="zh-CN"/>
          </a:p>
        </p:txBody>
      </p:sp>
      <p:sp>
        <p:nvSpPr>
          <p:cNvPr id="5" name="Footer Placeholder 21"/>
          <p:cNvSpPr>
            <a:spLocks noGrp="1"/>
          </p:cNvSpPr>
          <p:nvPr>
            <p:ph type="ftr" sz="quarter" idx="11"/>
          </p:nvPr>
        </p:nvSpPr>
        <p:spPr/>
        <p:txBody>
          <a:bodyPr/>
          <a:lstStyle>
            <a:lvl1pPr>
              <a:defRPr/>
            </a:lvl1pPr>
          </a:lstStyle>
          <a:p>
            <a:pPr>
              <a:defRPr/>
            </a:pPr>
            <a:endParaRPr lang="en-US" dirty="0"/>
          </a:p>
        </p:txBody>
      </p:sp>
      <p:sp>
        <p:nvSpPr>
          <p:cNvPr id="6" name="Slide Number Placeholder 17"/>
          <p:cNvSpPr>
            <a:spLocks noGrp="1"/>
          </p:cNvSpPr>
          <p:nvPr>
            <p:ph type="sldNum" sz="quarter" idx="12"/>
          </p:nvPr>
        </p:nvSpPr>
        <p:spPr/>
        <p:txBody>
          <a:bodyPr/>
          <a:lstStyle>
            <a:lvl1pPr>
              <a:defRPr/>
            </a:lvl1pPr>
          </a:lstStyle>
          <a:p>
            <a:pPr>
              <a:defRPr/>
            </a:pPr>
            <a:fld id="{E3184BD2-C7AC-4AED-A494-0CF613BF72F2}" type="slidenum">
              <a:rPr lang="en-US" altLang="zh-CN"/>
              <a:pPr>
                <a:defRPr/>
              </a:pPr>
              <a:t>‹#›</a:t>
            </a:fld>
            <a:endParaRPr lang="en-US" altLang="zh-CN"/>
          </a:p>
        </p:txBody>
      </p:sp>
    </p:spTree>
    <p:extLst>
      <p:ext uri="{BB962C8B-B14F-4D97-AF65-F5344CB8AC3E}">
        <p14:creationId xmlns:p14="http://schemas.microsoft.com/office/powerpoint/2010/main" val="29470749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FB3FFC42-FC32-4683-AD0F-0F3D743E1B54}"/>
              </a:ext>
            </a:extLst>
          </p:cNvPr>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a:extLst>
              <a:ext uri="{FF2B5EF4-FFF2-40B4-BE49-F238E27FC236}">
                <a16:creationId xmlns:a16="http://schemas.microsoft.com/office/drawing/2014/main" id="{E410F0EF-64CD-493E-BD42-3F81CB7FFBE8}"/>
              </a:ext>
            </a:extLst>
          </p:cNvPr>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04836" name="Rectangle 4">
            <a:extLst>
              <a:ext uri="{FF2B5EF4-FFF2-40B4-BE49-F238E27FC236}">
                <a16:creationId xmlns:a16="http://schemas.microsoft.com/office/drawing/2014/main" id="{18E775B6-B74E-43A1-983F-861806D3B1F7}"/>
              </a:ext>
            </a:extLst>
          </p:cNvPr>
          <p:cNvSpPr>
            <a:spLocks noGrp="1" noChangeArrowheads="1"/>
          </p:cNvSpPr>
          <p:nvPr>
            <p:ph type="dt" sz="half" idx="2"/>
          </p:nvPr>
        </p:nvSpPr>
        <p:spPr bwMode="auto">
          <a:xfrm>
            <a:off x="457200" y="6245225"/>
            <a:ext cx="21336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400" b="0">
                <a:solidFill>
                  <a:schemeClr val="tx1"/>
                </a:solidFill>
                <a:latin typeface="+mn-lt"/>
                <a:cs typeface="Times New Roman" panose="02020603050405020304" pitchFamily="18" charset="0"/>
              </a:defRPr>
            </a:lvl1pPr>
          </a:lstStyle>
          <a:p>
            <a:pPr>
              <a:defRPr/>
            </a:pPr>
            <a:endParaRPr lang="en-US" altLang="zh-CN"/>
          </a:p>
        </p:txBody>
      </p:sp>
      <p:sp>
        <p:nvSpPr>
          <p:cNvPr id="504837" name="Rectangle 5">
            <a:extLst>
              <a:ext uri="{FF2B5EF4-FFF2-40B4-BE49-F238E27FC236}">
                <a16:creationId xmlns:a16="http://schemas.microsoft.com/office/drawing/2014/main" id="{B8403639-7169-4BEC-A325-B43FDC4C0FE6}"/>
              </a:ext>
            </a:extLst>
          </p:cNvPr>
          <p:cNvSpPr>
            <a:spLocks noGrp="1" noChangeArrowheads="1"/>
          </p:cNvSpPr>
          <p:nvPr>
            <p:ph type="ftr" sz="quarter" idx="3"/>
          </p:nvPr>
        </p:nvSpPr>
        <p:spPr bwMode="auto">
          <a:xfrm>
            <a:off x="3124200" y="6245225"/>
            <a:ext cx="28956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algn="ctr" eaLnBrk="1" hangingPunct="1">
              <a:defRPr sz="1400" b="0">
                <a:solidFill>
                  <a:schemeClr val="tx1"/>
                </a:solidFill>
                <a:latin typeface="+mn-lt"/>
                <a:cs typeface="Times New Roman" panose="02020603050405020304" pitchFamily="18" charset="0"/>
              </a:defRPr>
            </a:lvl1pPr>
          </a:lstStyle>
          <a:p>
            <a:pPr>
              <a:defRPr/>
            </a:pPr>
            <a:endParaRPr lang="en-US" altLang="zh-CN"/>
          </a:p>
        </p:txBody>
      </p:sp>
      <p:sp>
        <p:nvSpPr>
          <p:cNvPr id="504838" name="Rectangle 6">
            <a:extLst>
              <a:ext uri="{FF2B5EF4-FFF2-40B4-BE49-F238E27FC236}">
                <a16:creationId xmlns:a16="http://schemas.microsoft.com/office/drawing/2014/main" id="{BB73DF7D-A8E1-4F76-9EA8-3ED237CA5C08}"/>
              </a:ext>
            </a:extLst>
          </p:cNvPr>
          <p:cNvSpPr>
            <a:spLocks noGrp="1" noChangeArrowheads="1"/>
          </p:cNvSpPr>
          <p:nvPr>
            <p:ph type="sldNum" sz="quarter" idx="4"/>
          </p:nvPr>
        </p:nvSpPr>
        <p:spPr bwMode="auto">
          <a:xfrm>
            <a:off x="6553200" y="6245225"/>
            <a:ext cx="21336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400" b="0" smtClean="0">
                <a:solidFill>
                  <a:schemeClr val="tx1"/>
                </a:solidFill>
                <a:latin typeface="Arial" panose="020B0604020202020204" pitchFamily="34" charset="0"/>
                <a:cs typeface="Times New Roman" panose="02020603050405020304" pitchFamily="18" charset="0"/>
              </a:defRPr>
            </a:lvl1pPr>
          </a:lstStyle>
          <a:p>
            <a:pPr>
              <a:defRPr/>
            </a:pPr>
            <a:fld id="{F815246C-F8C1-4A84-9830-B0D9D2E0C767}"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 id="2147483667" r:id="rId12"/>
    <p:sldLayoutId id="2147483668" r:id="rId13"/>
    <p:sldLayoutId id="2147483669" r:id="rId14"/>
    <p:sldLayoutId id="2147483670" r:id="rId15"/>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5.xml"/><Relationship Id="rId4" Type="http://schemas.openxmlformats.org/officeDocument/2006/relationships/image" Target="../media/image24.png"/></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slideLayout" Target="../slideLayouts/slideLayout14.xml"/><Relationship Id="rId4" Type="http://schemas.openxmlformats.org/officeDocument/2006/relationships/image" Target="../media/image30.jpe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4A6B9481-3025-4797-A397-5C60D832DC1E}"/>
              </a:ext>
            </a:extLst>
          </p:cNvPr>
          <p:cNvSpPr>
            <a:spLocks noGrp="1" noChangeArrowheads="1"/>
          </p:cNvSpPr>
          <p:nvPr>
            <p:ph type="title"/>
          </p:nvPr>
        </p:nvSpPr>
        <p:spPr>
          <a:ln>
            <a:solidFill>
              <a:schemeClr val="bg1"/>
            </a:solidFill>
            <a:miter lim="800000"/>
            <a:headEnd/>
            <a:tailEnd/>
          </a:ln>
        </p:spPr>
        <p:txBody>
          <a:bodyPr/>
          <a:lstStyle/>
          <a:p>
            <a:pPr eaLnBrk="1" hangingPunct="1"/>
            <a:r>
              <a:rPr lang="zh-CN" altLang="en-US" sz="4000" baseline="0" dirty="0">
                <a:solidFill>
                  <a:srgbClr val="FF0066"/>
                </a:solidFill>
                <a:latin typeface="Times New Roman" panose="02020603050405020304" pitchFamily="18" charset="0"/>
                <a:ea typeface="楷体-简" panose="02010600040101010101" pitchFamily="2" charset="-122"/>
              </a:rPr>
              <a:t>第二章 </a:t>
            </a:r>
            <a:r>
              <a:rPr lang="en-US" altLang="zh-CN" sz="4000" baseline="0" dirty="0">
                <a:solidFill>
                  <a:srgbClr val="FF0066"/>
                </a:solidFill>
                <a:latin typeface="Times New Roman" panose="02020603050405020304" pitchFamily="18" charset="0"/>
                <a:ea typeface="楷体-简" panose="02010600040101010101" pitchFamily="2" charset="-122"/>
              </a:rPr>
              <a:t>Java</a:t>
            </a:r>
            <a:r>
              <a:rPr lang="zh-CN" altLang="en-US" sz="4000" baseline="0" dirty="0">
                <a:solidFill>
                  <a:srgbClr val="FF0066"/>
                </a:solidFill>
                <a:latin typeface="Times New Roman" panose="02020603050405020304" pitchFamily="18" charset="0"/>
                <a:ea typeface="楷体-简" panose="02010600040101010101" pitchFamily="2" charset="-122"/>
              </a:rPr>
              <a:t>的基本知识</a:t>
            </a:r>
          </a:p>
        </p:txBody>
      </p:sp>
      <p:sp>
        <p:nvSpPr>
          <p:cNvPr id="4099" name="Rectangle 3">
            <a:extLst>
              <a:ext uri="{FF2B5EF4-FFF2-40B4-BE49-F238E27FC236}">
                <a16:creationId xmlns:a16="http://schemas.microsoft.com/office/drawing/2014/main" id="{928160A1-ECCE-41F3-862A-951CFC0661BB}"/>
              </a:ext>
            </a:extLst>
          </p:cNvPr>
          <p:cNvSpPr>
            <a:spLocks noGrp="1" noChangeArrowheads="1"/>
          </p:cNvSpPr>
          <p:nvPr>
            <p:ph type="body" idx="1"/>
          </p:nvPr>
        </p:nvSpPr>
        <p:spPr/>
        <p:txBody>
          <a:bodyPr/>
          <a:lstStyle/>
          <a:p>
            <a:pPr eaLnBrk="1" hangingPunct="1">
              <a:lnSpc>
                <a:spcPct val="90000"/>
              </a:lnSpc>
              <a:buFontTx/>
              <a:buNone/>
            </a:pPr>
            <a:r>
              <a:rPr lang="en-US" altLang="zh-CN" sz="2800" b="1" baseline="0" dirty="0">
                <a:latin typeface="Times New Roman" panose="02020603050405020304" pitchFamily="18" charset="0"/>
                <a:ea typeface="楷体-简" panose="02010600040101010101" pitchFamily="2" charset="-122"/>
              </a:rPr>
              <a:t>2.1 	</a:t>
            </a:r>
            <a:r>
              <a:rPr lang="zh-CN" altLang="en-US" sz="2800" b="1" baseline="0" dirty="0">
                <a:latin typeface="Times New Roman" panose="02020603050405020304" pitchFamily="18" charset="0"/>
                <a:ea typeface="楷体-简" panose="02010600040101010101" pitchFamily="2" charset="-122"/>
              </a:rPr>
              <a:t>标识符</a:t>
            </a:r>
          </a:p>
          <a:p>
            <a:pPr eaLnBrk="1" hangingPunct="1">
              <a:lnSpc>
                <a:spcPct val="90000"/>
              </a:lnSpc>
              <a:buFontTx/>
              <a:buNone/>
            </a:pPr>
            <a:r>
              <a:rPr lang="en-US" altLang="zh-CN" sz="2800" b="1" baseline="0" dirty="0">
                <a:latin typeface="Times New Roman" panose="02020603050405020304" pitchFamily="18" charset="0"/>
                <a:ea typeface="楷体-简" panose="02010600040101010101" pitchFamily="2" charset="-122"/>
              </a:rPr>
              <a:t>2.2 	</a:t>
            </a:r>
            <a:r>
              <a:rPr lang="zh-CN" altLang="en-US" sz="2800" b="1" baseline="0" dirty="0">
                <a:latin typeface="Times New Roman" panose="02020603050405020304" pitchFamily="18" charset="0"/>
                <a:ea typeface="楷体-简" panose="02010600040101010101" pitchFamily="2" charset="-122"/>
              </a:rPr>
              <a:t>关键字</a:t>
            </a:r>
            <a:endParaRPr lang="zh-CN" altLang="en-US" sz="2800" b="1" u="sng" baseline="0" dirty="0">
              <a:latin typeface="Times New Roman" panose="02020603050405020304" pitchFamily="18" charset="0"/>
              <a:ea typeface="楷体-简" panose="02010600040101010101" pitchFamily="2" charset="-122"/>
            </a:endParaRPr>
          </a:p>
          <a:p>
            <a:pPr eaLnBrk="1" hangingPunct="1">
              <a:lnSpc>
                <a:spcPct val="90000"/>
              </a:lnSpc>
              <a:buFontTx/>
              <a:buNone/>
            </a:pPr>
            <a:r>
              <a:rPr lang="en-US" altLang="zh-CN" sz="2800" b="1" baseline="0" dirty="0">
                <a:latin typeface="Times New Roman" panose="02020603050405020304" pitchFamily="18" charset="0"/>
                <a:ea typeface="楷体-简" panose="02010600040101010101" pitchFamily="2" charset="-122"/>
              </a:rPr>
              <a:t>2.3	</a:t>
            </a:r>
            <a:r>
              <a:rPr lang="zh-CN" altLang="en-US" sz="2800" b="1" baseline="0" dirty="0">
                <a:latin typeface="Times New Roman" panose="02020603050405020304" pitchFamily="18" charset="0"/>
                <a:ea typeface="楷体-简" panose="02010600040101010101" pitchFamily="2" charset="-122"/>
              </a:rPr>
              <a:t>数据类型概述</a:t>
            </a:r>
          </a:p>
          <a:p>
            <a:pPr eaLnBrk="1" hangingPunct="1">
              <a:lnSpc>
                <a:spcPct val="90000"/>
              </a:lnSpc>
              <a:buFontTx/>
              <a:buNone/>
            </a:pPr>
            <a:r>
              <a:rPr lang="en-US" altLang="zh-CN" sz="2800" b="1" baseline="0" dirty="0">
                <a:latin typeface="Times New Roman" panose="02020603050405020304" pitchFamily="18" charset="0"/>
                <a:ea typeface="楷体-简" panose="02010600040101010101" pitchFamily="2" charset="-122"/>
              </a:rPr>
              <a:t>2.4 	</a:t>
            </a:r>
            <a:r>
              <a:rPr lang="zh-CN" altLang="en-US" sz="2800" b="1" baseline="0" dirty="0">
                <a:latin typeface="Times New Roman" panose="02020603050405020304" pitchFamily="18" charset="0"/>
                <a:ea typeface="楷体-简" panose="02010600040101010101" pitchFamily="2" charset="-122"/>
              </a:rPr>
              <a:t>基本数据类型</a:t>
            </a:r>
          </a:p>
          <a:p>
            <a:pPr eaLnBrk="1" hangingPunct="1">
              <a:lnSpc>
                <a:spcPct val="90000"/>
              </a:lnSpc>
              <a:buFontTx/>
              <a:buNone/>
            </a:pPr>
            <a:r>
              <a:rPr lang="en-US" altLang="zh-CN" sz="2800" b="1" baseline="0" dirty="0">
                <a:latin typeface="Times New Roman" panose="02020603050405020304" pitchFamily="18" charset="0"/>
                <a:ea typeface="楷体-简" panose="02010600040101010101" pitchFamily="2" charset="-122"/>
              </a:rPr>
              <a:t>2.5	</a:t>
            </a:r>
            <a:r>
              <a:rPr lang="zh-CN" altLang="en-US" sz="2800" b="1" baseline="0" dirty="0">
                <a:latin typeface="Times New Roman" panose="02020603050405020304" pitchFamily="18" charset="0"/>
                <a:ea typeface="楷体-简" panose="02010600040101010101" pitchFamily="2" charset="-122"/>
              </a:rPr>
              <a:t>基本数据类型的转换</a:t>
            </a:r>
          </a:p>
          <a:p>
            <a:pPr eaLnBrk="1" hangingPunct="1">
              <a:lnSpc>
                <a:spcPct val="90000"/>
              </a:lnSpc>
              <a:buFontTx/>
              <a:buNone/>
            </a:pPr>
            <a:r>
              <a:rPr lang="en-US" altLang="zh-CN" sz="2800" b="1" baseline="0" dirty="0">
                <a:latin typeface="Times New Roman" panose="02020603050405020304" pitchFamily="18" charset="0"/>
                <a:ea typeface="楷体-简" panose="02010600040101010101" pitchFamily="2" charset="-122"/>
              </a:rPr>
              <a:t>2.6 	</a:t>
            </a:r>
            <a:r>
              <a:rPr lang="zh-CN" altLang="en-US" sz="2800" b="1" baseline="0" dirty="0">
                <a:latin typeface="Times New Roman" panose="02020603050405020304" pitchFamily="18" charset="0"/>
                <a:ea typeface="楷体-简" panose="02010600040101010101" pitchFamily="2" charset="-122"/>
              </a:rPr>
              <a:t>运算符</a:t>
            </a:r>
          </a:p>
          <a:p>
            <a:pPr eaLnBrk="1" hangingPunct="1">
              <a:lnSpc>
                <a:spcPct val="90000"/>
              </a:lnSpc>
              <a:buFontTx/>
              <a:buNone/>
            </a:pPr>
            <a:r>
              <a:rPr lang="en-US" altLang="zh-CN" sz="2800" b="1" baseline="0" dirty="0">
                <a:latin typeface="Times New Roman" panose="02020603050405020304" pitchFamily="18" charset="0"/>
                <a:ea typeface="楷体-简" panose="02010600040101010101" pitchFamily="2" charset="-122"/>
              </a:rPr>
              <a:t>2.7 	</a:t>
            </a:r>
            <a:r>
              <a:rPr lang="zh-CN" altLang="en-US" sz="2800" b="1" baseline="0" dirty="0">
                <a:latin typeface="Times New Roman" panose="02020603050405020304" pitchFamily="18" charset="0"/>
                <a:ea typeface="楷体-简" panose="02010600040101010101" pitchFamily="2" charset="-122"/>
              </a:rPr>
              <a:t>表达式 </a:t>
            </a:r>
          </a:p>
          <a:p>
            <a:pPr eaLnBrk="1" hangingPunct="1">
              <a:lnSpc>
                <a:spcPct val="90000"/>
              </a:lnSpc>
              <a:buFontTx/>
              <a:buNone/>
            </a:pPr>
            <a:r>
              <a:rPr lang="en-US" altLang="zh-CN" sz="2800" b="1" baseline="0" dirty="0">
                <a:latin typeface="Times New Roman" panose="02020603050405020304" pitchFamily="18" charset="0"/>
                <a:ea typeface="楷体-简" panose="02010600040101010101" pitchFamily="2" charset="-122"/>
              </a:rPr>
              <a:t>2.8 	</a:t>
            </a:r>
            <a:r>
              <a:rPr lang="zh-CN" altLang="en-US" sz="2800" b="1" baseline="0" dirty="0">
                <a:latin typeface="Times New Roman" panose="02020603050405020304" pitchFamily="18" charset="0"/>
                <a:ea typeface="楷体-简" panose="02010600040101010101" pitchFamily="2" charset="-122"/>
              </a:rPr>
              <a:t>控制语句</a:t>
            </a:r>
          </a:p>
          <a:p>
            <a:pPr eaLnBrk="1" hangingPunct="1">
              <a:lnSpc>
                <a:spcPct val="90000"/>
              </a:lnSpc>
              <a:buFontTx/>
              <a:buNone/>
            </a:pPr>
            <a:r>
              <a:rPr lang="en-US" altLang="zh-CN" sz="2800" b="1" baseline="0" dirty="0">
                <a:latin typeface="Times New Roman" panose="02020603050405020304" pitchFamily="18" charset="0"/>
                <a:ea typeface="楷体-简" panose="02010600040101010101" pitchFamily="2" charset="-122"/>
              </a:rPr>
              <a:t>2.9	</a:t>
            </a:r>
            <a:r>
              <a:rPr lang="zh-CN" altLang="en-US" sz="2800" b="1" baseline="0" dirty="0">
                <a:latin typeface="Times New Roman" panose="02020603050405020304" pitchFamily="18" charset="0"/>
                <a:ea typeface="楷体-简" panose="02010600040101010101" pitchFamily="2" charset="-122"/>
              </a:rPr>
              <a:t>数组</a:t>
            </a:r>
          </a:p>
          <a:p>
            <a:pPr eaLnBrk="1" hangingPunct="1">
              <a:lnSpc>
                <a:spcPct val="90000"/>
              </a:lnSpc>
            </a:pPr>
            <a:endParaRPr lang="en-US" altLang="zh-CN" sz="2800" b="1" baseline="0" dirty="0">
              <a:latin typeface="Times New Roman" panose="02020603050405020304" pitchFamily="18" charset="0"/>
              <a:ea typeface="楷体-简" panose="0201060004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72507C3D-5AFD-4A28-B296-37449D32DEA8}"/>
              </a:ext>
            </a:extLst>
          </p:cNvPr>
          <p:cNvSpPr>
            <a:spLocks noGrp="1" noChangeArrowheads="1"/>
          </p:cNvSpPr>
          <p:nvPr>
            <p:ph type="title"/>
          </p:nvPr>
        </p:nvSpPr>
        <p:spPr/>
        <p:txBody>
          <a:bodyPr/>
          <a:lstStyle/>
          <a:p>
            <a:pPr eaLnBrk="1" hangingPunct="1"/>
            <a:r>
              <a:rPr lang="en-US" altLang="zh-CN" sz="4000" baseline="0" dirty="0">
                <a:solidFill>
                  <a:srgbClr val="FF0066"/>
                </a:solidFill>
                <a:latin typeface="Times New Roman" panose="02020603050405020304" pitchFamily="18" charset="0"/>
                <a:ea typeface="楷体-简" panose="02010600040101010101" pitchFamily="2" charset="-122"/>
              </a:rPr>
              <a:t>2.1 </a:t>
            </a:r>
            <a:r>
              <a:rPr lang="zh-CN" altLang="en-US" sz="4000" baseline="0" dirty="0">
                <a:solidFill>
                  <a:srgbClr val="FF0066"/>
                </a:solidFill>
                <a:latin typeface="Times New Roman" panose="02020603050405020304" pitchFamily="18" charset="0"/>
                <a:ea typeface="楷体-简" panose="02010600040101010101" pitchFamily="2" charset="-122"/>
              </a:rPr>
              <a:t>标识符</a:t>
            </a:r>
          </a:p>
        </p:txBody>
      </p:sp>
      <p:sp>
        <p:nvSpPr>
          <p:cNvPr id="5123" name="Rectangle 3">
            <a:extLst>
              <a:ext uri="{FF2B5EF4-FFF2-40B4-BE49-F238E27FC236}">
                <a16:creationId xmlns:a16="http://schemas.microsoft.com/office/drawing/2014/main" id="{F2C13BA7-2C89-41D2-A6CC-270EE2A37632}"/>
              </a:ext>
            </a:extLst>
          </p:cNvPr>
          <p:cNvSpPr>
            <a:spLocks noGrp="1" noChangeArrowheads="1"/>
          </p:cNvSpPr>
          <p:nvPr>
            <p:ph type="body" idx="1"/>
          </p:nvPr>
        </p:nvSpPr>
        <p:spPr>
          <a:xfrm>
            <a:off x="328674" y="1417638"/>
            <a:ext cx="8486651" cy="5256212"/>
          </a:xfrm>
        </p:spPr>
        <p:txBody>
          <a:bodyPr/>
          <a:lstStyle/>
          <a:p>
            <a:pPr eaLnBrk="1" hangingPunct="1">
              <a:buClr>
                <a:schemeClr val="tx1"/>
              </a:buClr>
              <a:buFont typeface="Wingdings" panose="05000000000000000000" pitchFamily="2" charset="2"/>
              <a:buChar char="Ø"/>
            </a:pPr>
            <a:r>
              <a:rPr lang="zh-CN" altLang="en-US" sz="2200" b="1" baseline="0">
                <a:solidFill>
                  <a:srgbClr val="FF0000"/>
                </a:solidFill>
                <a:latin typeface="Times New Roman" panose="02020603050405020304" pitchFamily="18" charset="0"/>
                <a:ea typeface="楷体-简" panose="02010600040101010101" pitchFamily="2" charset="-122"/>
              </a:rPr>
              <a:t>标识符</a:t>
            </a:r>
            <a:r>
              <a:rPr lang="zh-CN" altLang="en-US" sz="2200" b="1" baseline="0">
                <a:latin typeface="Times New Roman" panose="02020603050405020304" pitchFamily="18" charset="0"/>
                <a:ea typeface="楷体-简" panose="02010600040101010101" pitchFamily="2" charset="-122"/>
              </a:rPr>
              <a:t>（</a:t>
            </a:r>
            <a:r>
              <a:rPr lang="en-US" altLang="zh-CN" sz="2200" b="1" baseline="0">
                <a:latin typeface="Times New Roman" panose="02020603050405020304" pitchFamily="18" charset="0"/>
                <a:ea typeface="楷体-简" panose="02010600040101010101" pitchFamily="2" charset="-122"/>
              </a:rPr>
              <a:t>identifier</a:t>
            </a:r>
            <a:r>
              <a:rPr lang="zh-CN" altLang="en-US" sz="2200" b="1" baseline="0">
                <a:latin typeface="Times New Roman" panose="02020603050405020304" pitchFamily="18" charset="0"/>
                <a:ea typeface="楷体-简" panose="02010600040101010101" pitchFamily="2" charset="-122"/>
              </a:rPr>
              <a:t>）</a:t>
            </a:r>
          </a:p>
          <a:p>
            <a:pPr eaLnBrk="1" hangingPunct="1">
              <a:buFontTx/>
              <a:buNone/>
            </a:pPr>
            <a:r>
              <a:rPr lang="zh-CN" altLang="en-US" sz="2200" b="1" baseline="0">
                <a:latin typeface="Times New Roman" panose="02020603050405020304" pitchFamily="18" charset="0"/>
                <a:ea typeface="楷体-简" panose="02010600040101010101" pitchFamily="2" charset="-122"/>
              </a:rPr>
              <a:t>  对各种</a:t>
            </a:r>
            <a:r>
              <a:rPr lang="zh-CN" altLang="en-US" sz="2200" b="1" baseline="0">
                <a:solidFill>
                  <a:srgbClr val="0000CC"/>
                </a:solidFill>
                <a:latin typeface="Times New Roman" panose="02020603050405020304" pitchFamily="18" charset="0"/>
                <a:ea typeface="楷体-简" panose="02010600040101010101" pitchFamily="2" charset="-122"/>
              </a:rPr>
              <a:t>变量，方法</a:t>
            </a:r>
            <a:r>
              <a:rPr lang="zh-CN" altLang="en-US" sz="2200" b="1" baseline="0">
                <a:latin typeface="Times New Roman" panose="02020603050405020304" pitchFamily="18" charset="0"/>
                <a:ea typeface="楷体-简" panose="02010600040101010101" pitchFamily="2" charset="-122"/>
              </a:rPr>
              <a:t>和</a:t>
            </a:r>
            <a:r>
              <a:rPr lang="zh-CN" altLang="en-US" sz="2200" b="1" baseline="0">
                <a:solidFill>
                  <a:srgbClr val="0000CC"/>
                </a:solidFill>
                <a:latin typeface="Times New Roman" panose="02020603050405020304" pitchFamily="18" charset="0"/>
                <a:ea typeface="楷体-简" panose="02010600040101010101" pitchFamily="2" charset="-122"/>
              </a:rPr>
              <a:t>类</a:t>
            </a:r>
            <a:r>
              <a:rPr lang="zh-CN" altLang="en-US" sz="2200" b="1" baseline="0">
                <a:latin typeface="Times New Roman" panose="02020603050405020304" pitchFamily="18" charset="0"/>
                <a:ea typeface="楷体-简" panose="02010600040101010101" pitchFamily="2" charset="-122"/>
              </a:rPr>
              <a:t>等要素命名时使用的字符序列。</a:t>
            </a:r>
            <a:endParaRPr lang="en-US" altLang="zh-CN" sz="2200" b="1" baseline="0">
              <a:latin typeface="Times New Roman" panose="02020603050405020304" pitchFamily="18" charset="0"/>
              <a:ea typeface="楷体-简" panose="02010600040101010101" pitchFamily="2" charset="-122"/>
            </a:endParaRPr>
          </a:p>
          <a:p>
            <a:pPr eaLnBrk="1" hangingPunct="1">
              <a:buFontTx/>
              <a:buNone/>
            </a:pPr>
            <a:endParaRPr lang="zh-CN" altLang="en-US" sz="2200" b="1" baseline="0">
              <a:latin typeface="Times New Roman" panose="02020603050405020304" pitchFamily="18" charset="0"/>
              <a:ea typeface="楷体-简" panose="02010600040101010101" pitchFamily="2" charset="-122"/>
            </a:endParaRPr>
          </a:p>
          <a:p>
            <a:pPr eaLnBrk="1" hangingPunct="1">
              <a:buFont typeface="Wingdings" panose="05000000000000000000" pitchFamily="2" charset="2"/>
              <a:buChar char="Ø"/>
            </a:pPr>
            <a:r>
              <a:rPr lang="en-US" altLang="zh-CN" sz="2200" b="1" baseline="0">
                <a:latin typeface="Times New Roman" panose="02020603050405020304" pitchFamily="18" charset="0"/>
                <a:ea typeface="楷体-简" panose="02010600040101010101" pitchFamily="2" charset="-122"/>
              </a:rPr>
              <a:t>Java </a:t>
            </a:r>
            <a:r>
              <a:rPr lang="zh-CN" altLang="en-US" sz="2200" b="1" baseline="0">
                <a:latin typeface="Times New Roman" panose="02020603050405020304" pitchFamily="18" charset="0"/>
                <a:ea typeface="楷体-简" panose="02010600040101010101" pitchFamily="2" charset="-122"/>
              </a:rPr>
              <a:t>标识符命名规则：</a:t>
            </a:r>
          </a:p>
          <a:p>
            <a:pPr eaLnBrk="1" hangingPunct="1"/>
            <a:r>
              <a:rPr lang="zh-CN" altLang="en-US" sz="2200" b="1" baseline="0">
                <a:latin typeface="Times New Roman" panose="02020603050405020304" pitchFamily="18" charset="0"/>
                <a:ea typeface="楷体-简" panose="02010600040101010101" pitchFamily="2" charset="-122"/>
              </a:rPr>
              <a:t>标识符由字母、下划线“</a:t>
            </a:r>
            <a:r>
              <a:rPr lang="en-US" altLang="zh-CN" sz="2200" b="1" baseline="0">
                <a:latin typeface="Times New Roman" panose="02020603050405020304" pitchFamily="18" charset="0"/>
                <a:ea typeface="楷体-简" panose="02010600040101010101" pitchFamily="2" charset="-122"/>
              </a:rPr>
              <a:t>_”</a:t>
            </a:r>
            <a:r>
              <a:rPr lang="zh-CN" altLang="en-US" sz="2200" b="1" baseline="0">
                <a:latin typeface="Times New Roman" panose="02020603050405020304" pitchFamily="18" charset="0"/>
                <a:ea typeface="楷体-简" panose="02010600040101010101" pitchFamily="2" charset="-122"/>
              </a:rPr>
              <a:t>、美元符号”</a:t>
            </a:r>
            <a:r>
              <a:rPr lang="en-US" altLang="zh-CN" sz="2200" b="1" baseline="0">
                <a:latin typeface="Times New Roman" panose="02020603050405020304" pitchFamily="18" charset="0"/>
                <a:ea typeface="楷体-简" panose="02010600040101010101" pitchFamily="2" charset="-122"/>
              </a:rPr>
              <a:t>$”</a:t>
            </a:r>
            <a:r>
              <a:rPr lang="zh-CN" altLang="en-US" sz="2200" b="1" baseline="0">
                <a:latin typeface="Times New Roman" panose="02020603050405020304" pitchFamily="18" charset="0"/>
                <a:ea typeface="楷体-简" panose="02010600040101010101" pitchFamily="2" charset="-122"/>
              </a:rPr>
              <a:t>和数字组成</a:t>
            </a:r>
          </a:p>
          <a:p>
            <a:pPr eaLnBrk="1" hangingPunct="1"/>
            <a:r>
              <a:rPr lang="zh-CN" altLang="en-US" sz="2200" b="1" baseline="0">
                <a:latin typeface="Times New Roman" panose="02020603050405020304" pitchFamily="18" charset="0"/>
                <a:ea typeface="楷体-简" panose="02010600040101010101" pitchFamily="2" charset="-122"/>
              </a:rPr>
              <a:t>标识符</a:t>
            </a:r>
            <a:r>
              <a:rPr lang="zh-CN" altLang="en-US" sz="2200" b="1" baseline="0">
                <a:solidFill>
                  <a:srgbClr val="0000CC"/>
                </a:solidFill>
                <a:latin typeface="Times New Roman" panose="02020603050405020304" pitchFamily="18" charset="0"/>
                <a:ea typeface="楷体-简" panose="02010600040101010101" pitchFamily="2" charset="-122"/>
              </a:rPr>
              <a:t>不能用数字开头</a:t>
            </a:r>
          </a:p>
          <a:p>
            <a:pPr eaLnBrk="1" hangingPunct="1"/>
            <a:r>
              <a:rPr lang="zh-CN" altLang="en-US" sz="2200" b="1" baseline="0">
                <a:latin typeface="Times New Roman" panose="02020603050405020304" pitchFamily="18" charset="0"/>
                <a:ea typeface="楷体-简" panose="02010600040101010101" pitchFamily="2" charset="-122"/>
              </a:rPr>
              <a:t>标识符中的字母是区分大小写的，长度无限制。</a:t>
            </a:r>
          </a:p>
          <a:p>
            <a:pPr eaLnBrk="1" hangingPunct="1"/>
            <a:r>
              <a:rPr lang="en-US" altLang="zh-CN" sz="2200" b="1" baseline="0">
                <a:latin typeface="Times New Roman" panose="02020603050405020304" pitchFamily="18" charset="0"/>
                <a:ea typeface="楷体-简" panose="02010600040101010101" pitchFamily="2" charset="-122"/>
              </a:rPr>
              <a:t>Java</a:t>
            </a:r>
            <a:r>
              <a:rPr lang="zh-CN" altLang="en-US" sz="2200" b="1" baseline="0">
                <a:latin typeface="Times New Roman" panose="02020603050405020304" pitchFamily="18" charset="0"/>
                <a:ea typeface="楷体-简" panose="02010600040101010101" pitchFamily="2" charset="-122"/>
              </a:rPr>
              <a:t>的标识符选取尽量“见名知意”其不能与</a:t>
            </a:r>
            <a:r>
              <a:rPr lang="en-US" altLang="zh-CN" sz="2200" b="1" baseline="0">
                <a:latin typeface="Times New Roman" panose="02020603050405020304" pitchFamily="18" charset="0"/>
                <a:ea typeface="楷体-简" panose="02010600040101010101" pitchFamily="2" charset="-122"/>
              </a:rPr>
              <a:t>Java</a:t>
            </a:r>
            <a:r>
              <a:rPr lang="zh-CN" altLang="en-US" sz="2200" b="1" baseline="0">
                <a:latin typeface="Times New Roman" panose="02020603050405020304" pitchFamily="18" charset="0"/>
                <a:ea typeface="楷体-简" panose="02010600040101010101" pitchFamily="2" charset="-122"/>
              </a:rPr>
              <a:t>的关键字重名。</a:t>
            </a:r>
            <a:endParaRPr lang="en-US" altLang="zh-CN" sz="2200" b="1" baseline="0">
              <a:latin typeface="Times New Roman" panose="02020603050405020304" pitchFamily="18" charset="0"/>
              <a:ea typeface="楷体-简" panose="02010600040101010101" pitchFamily="2" charset="-122"/>
            </a:endParaRPr>
          </a:p>
          <a:p>
            <a:pPr eaLnBrk="1" hangingPunct="1"/>
            <a:endParaRPr lang="zh-CN" altLang="en-US" sz="2200" b="1" baseline="0">
              <a:latin typeface="Times New Roman" panose="02020603050405020304" pitchFamily="18" charset="0"/>
              <a:ea typeface="楷体-简" panose="02010600040101010101" pitchFamily="2" charset="-122"/>
            </a:endParaRPr>
          </a:p>
          <a:p>
            <a:pPr eaLnBrk="1" hangingPunct="1">
              <a:buFont typeface="Wingdings" panose="05000000000000000000" pitchFamily="2" charset="2"/>
              <a:buChar char="Ø"/>
            </a:pPr>
            <a:r>
              <a:rPr lang="zh-CN" altLang="en-US" sz="2200" b="1" baseline="0">
                <a:latin typeface="Times New Roman" panose="02020603050405020304" pitchFamily="18" charset="0"/>
                <a:ea typeface="楷体-简" panose="02010600040101010101" pitchFamily="2" charset="-122"/>
              </a:rPr>
              <a:t>例如：</a:t>
            </a:r>
          </a:p>
          <a:p>
            <a:pPr eaLnBrk="1" hangingPunct="1">
              <a:buFontTx/>
              <a:buNone/>
            </a:pPr>
            <a:r>
              <a:rPr lang="en-US" altLang="zh-CN" sz="2200" b="1" baseline="0">
                <a:latin typeface="Times New Roman" panose="02020603050405020304" pitchFamily="18" charset="0"/>
                <a:ea typeface="楷体-简" panose="02010600040101010101" pitchFamily="2" charset="-122"/>
              </a:rPr>
              <a:t>identifier,userName,User_Name,_sys_val,$change</a:t>
            </a:r>
            <a:r>
              <a:rPr lang="zh-CN" altLang="en-US" sz="2200" b="1" baseline="0">
                <a:latin typeface="Times New Roman" panose="02020603050405020304" pitchFamily="18" charset="0"/>
                <a:ea typeface="楷体-简" panose="02010600040101010101" pitchFamily="2" charset="-122"/>
              </a:rPr>
              <a:t>，</a:t>
            </a:r>
            <a:r>
              <a:rPr lang="en-US" altLang="zh-CN" sz="2200" b="1" baseline="0">
                <a:latin typeface="Times New Roman" panose="02020603050405020304" pitchFamily="18" charset="0"/>
                <a:ea typeface="楷体-简" panose="02010600040101010101" pitchFamily="2" charset="-122"/>
              </a:rPr>
              <a:t>_983 </a:t>
            </a:r>
            <a:r>
              <a:rPr lang="zh-CN" altLang="en-US" sz="2200" b="1" baseline="0">
                <a:latin typeface="Times New Roman" panose="02020603050405020304" pitchFamily="18" charset="0"/>
                <a:ea typeface="楷体-简" panose="02010600040101010101" pitchFamily="2" charset="-122"/>
              </a:rPr>
              <a:t>为合法的标识符，</a:t>
            </a:r>
          </a:p>
          <a:p>
            <a:pPr eaLnBrk="1" hangingPunct="1">
              <a:buFontTx/>
              <a:buNone/>
            </a:pPr>
            <a:r>
              <a:rPr lang="zh-CN" altLang="en-US" sz="2200" b="1" baseline="0">
                <a:latin typeface="Times New Roman" panose="02020603050405020304" pitchFamily="18" charset="0"/>
                <a:ea typeface="楷体-简" panose="02010600040101010101" pitchFamily="2" charset="-122"/>
              </a:rPr>
              <a:t>而</a:t>
            </a:r>
            <a:r>
              <a:rPr lang="en-US" altLang="zh-CN" sz="2200" b="1" baseline="0">
                <a:latin typeface="Times New Roman" panose="02020603050405020304" pitchFamily="18" charset="0"/>
                <a:ea typeface="楷体-简" panose="02010600040101010101" pitchFamily="2" charset="-122"/>
              </a:rPr>
              <a:t>2mail</a:t>
            </a:r>
            <a:r>
              <a:rPr lang="zh-CN" altLang="en-US" sz="2200" b="1" baseline="0">
                <a:latin typeface="Times New Roman" panose="02020603050405020304" pitchFamily="18" charset="0"/>
                <a:ea typeface="楷体-简" panose="02010600040101010101" pitchFamily="2" charset="-122"/>
              </a:rPr>
              <a:t>，</a:t>
            </a:r>
            <a:r>
              <a:rPr lang="en-US" altLang="zh-CN" sz="2200" b="1" baseline="0">
                <a:latin typeface="Times New Roman" panose="02020603050405020304" pitchFamily="18" charset="0"/>
                <a:ea typeface="楷体-简" panose="02010600040101010101" pitchFamily="2" charset="-122"/>
              </a:rPr>
              <a:t>room</a:t>
            </a:r>
            <a:r>
              <a:rPr lang="zh-CN" altLang="en-US" sz="2200" b="1" baseline="0">
                <a:latin typeface="Times New Roman" panose="02020603050405020304" pitchFamily="18" charset="0"/>
                <a:ea typeface="楷体-简" panose="02010600040101010101" pitchFamily="2" charset="-122"/>
              </a:rPr>
              <a:t>＃，</a:t>
            </a:r>
            <a:r>
              <a:rPr lang="en-US" altLang="zh-CN" sz="2200" b="1" baseline="0">
                <a:latin typeface="Times New Roman" panose="02020603050405020304" pitchFamily="18" charset="0"/>
                <a:ea typeface="楷体-简" panose="02010600040101010101" pitchFamily="2" charset="-122"/>
              </a:rPr>
              <a:t>class</a:t>
            </a:r>
            <a:r>
              <a:rPr lang="zh-CN" altLang="en-US" sz="2200" b="1" baseline="0">
                <a:latin typeface="Times New Roman" panose="02020603050405020304" pitchFamily="18" charset="0"/>
                <a:ea typeface="楷体-简" panose="02010600040101010101" pitchFamily="2" charset="-122"/>
              </a:rPr>
              <a:t>，</a:t>
            </a:r>
            <a:r>
              <a:rPr lang="en-US" altLang="zh-CN" sz="2200" b="1" baseline="0">
                <a:latin typeface="Times New Roman" panose="02020603050405020304" pitchFamily="18" charset="0"/>
                <a:ea typeface="楷体-简" panose="02010600040101010101" pitchFamily="2" charset="-122"/>
              </a:rPr>
              <a:t>Hello World </a:t>
            </a:r>
            <a:r>
              <a:rPr lang="zh-CN" altLang="en-US" sz="2200" b="1" baseline="0">
                <a:latin typeface="Times New Roman" panose="02020603050405020304" pitchFamily="18" charset="0"/>
                <a:ea typeface="楷体-简" panose="02010600040101010101" pitchFamily="2" charset="-122"/>
              </a:rPr>
              <a:t>为非法的标识符。</a:t>
            </a:r>
          </a:p>
          <a:p>
            <a:pPr eaLnBrk="1" hangingPunct="1">
              <a:buFontTx/>
              <a:buNone/>
            </a:pPr>
            <a:endParaRPr lang="en-US" altLang="zh-CN" sz="2200" b="1" baseline="0">
              <a:latin typeface="Times New Roman" panose="02020603050405020304" pitchFamily="18" charset="0"/>
              <a:ea typeface="楷体-简" panose="0201060004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C6710295-C697-43F3-BBD7-130F6EBE2C73}"/>
              </a:ext>
            </a:extLst>
          </p:cNvPr>
          <p:cNvSpPr>
            <a:spLocks noGrp="1" noChangeArrowheads="1"/>
          </p:cNvSpPr>
          <p:nvPr>
            <p:ph type="body" idx="1"/>
          </p:nvPr>
        </p:nvSpPr>
        <p:spPr>
          <a:xfrm>
            <a:off x="719572" y="1628800"/>
            <a:ext cx="7704856" cy="4537075"/>
          </a:xfrm>
        </p:spPr>
        <p:txBody>
          <a:bodyPr/>
          <a:lstStyle/>
          <a:p>
            <a:pPr eaLnBrk="1" hangingPunct="1">
              <a:lnSpc>
                <a:spcPct val="80000"/>
              </a:lnSpc>
              <a:buFontTx/>
              <a:buNone/>
            </a:pPr>
            <a:endParaRPr lang="en-US" altLang="zh-CN" sz="1800" baseline="0">
              <a:latin typeface="Times New Roman" panose="02020603050405020304" pitchFamily="18" charset="0"/>
              <a:ea typeface="楷体-简" panose="02010600040101010101" pitchFamily="2" charset="-122"/>
            </a:endParaRPr>
          </a:p>
          <a:p>
            <a:pPr eaLnBrk="1" hangingPunct="1">
              <a:lnSpc>
                <a:spcPct val="80000"/>
              </a:lnSpc>
              <a:buFont typeface="Wingdings" panose="05000000000000000000" pitchFamily="2" charset="2"/>
              <a:buChar char="Ø"/>
            </a:pPr>
            <a:r>
              <a:rPr lang="zh-CN" altLang="en-US" sz="2200" b="1" baseline="0">
                <a:solidFill>
                  <a:srgbClr val="FF0000"/>
                </a:solidFill>
                <a:latin typeface="Times New Roman" panose="02020603050405020304" pitchFamily="18" charset="0"/>
                <a:ea typeface="楷体-简" panose="02010600040101010101" pitchFamily="2" charset="-122"/>
              </a:rPr>
              <a:t>关键字</a:t>
            </a:r>
            <a:r>
              <a:rPr lang="zh-CN" altLang="en-US" sz="2200" b="1" baseline="0">
                <a:latin typeface="Times New Roman" panose="02020603050405020304" pitchFamily="18" charset="0"/>
                <a:ea typeface="楷体-简" panose="02010600040101010101" pitchFamily="2" charset="-122"/>
              </a:rPr>
              <a:t>（保留字）就是</a:t>
            </a:r>
            <a:r>
              <a:rPr lang="en-US" altLang="zh-CN" sz="2200" b="1" baseline="0">
                <a:latin typeface="Times New Roman" panose="02020603050405020304" pitchFamily="18" charset="0"/>
                <a:ea typeface="楷体-简" panose="02010600040101010101" pitchFamily="2" charset="-122"/>
              </a:rPr>
              <a:t>Java</a:t>
            </a:r>
            <a:r>
              <a:rPr lang="zh-CN" altLang="en-US" sz="2200" b="1" baseline="0">
                <a:latin typeface="Times New Roman" panose="02020603050405020304" pitchFamily="18" charset="0"/>
                <a:ea typeface="楷体-简" panose="02010600040101010101" pitchFamily="2" charset="-122"/>
              </a:rPr>
              <a:t>语言中已经被赋予特定意义的一些单词，它们在程序上有着不同的用途，不可以把关键字作为名字来用。</a:t>
            </a:r>
            <a:endParaRPr lang="en-US" altLang="zh-CN" sz="2200" b="1" baseline="0">
              <a:latin typeface="Times New Roman" panose="02020603050405020304" pitchFamily="18" charset="0"/>
              <a:ea typeface="楷体-简" panose="02010600040101010101" pitchFamily="2" charset="-122"/>
            </a:endParaRPr>
          </a:p>
          <a:p>
            <a:pPr eaLnBrk="1" hangingPunct="1">
              <a:lnSpc>
                <a:spcPct val="80000"/>
              </a:lnSpc>
              <a:buFont typeface="Wingdings" panose="05000000000000000000" pitchFamily="2" charset="2"/>
              <a:buChar char="Ø"/>
            </a:pPr>
            <a:endParaRPr lang="zh-CN" altLang="en-US" sz="2200" b="1" baseline="0">
              <a:latin typeface="Times New Roman" panose="02020603050405020304" pitchFamily="18" charset="0"/>
              <a:ea typeface="楷体-简" panose="02010600040101010101" pitchFamily="2" charset="-122"/>
            </a:endParaRPr>
          </a:p>
          <a:p>
            <a:pPr eaLnBrk="1" hangingPunct="1">
              <a:lnSpc>
                <a:spcPct val="130000"/>
              </a:lnSpc>
              <a:buFont typeface="Wingdings" panose="05000000000000000000" pitchFamily="2" charset="2"/>
              <a:buChar char="Ø"/>
            </a:pPr>
            <a:r>
              <a:rPr lang="zh-CN" altLang="en-US" sz="2200" b="1" baseline="0">
                <a:solidFill>
                  <a:srgbClr val="FF0066"/>
                </a:solidFill>
                <a:latin typeface="Times New Roman" panose="02020603050405020304" pitchFamily="18" charset="0"/>
                <a:ea typeface="楷体-简" panose="02010600040101010101" pitchFamily="2" charset="-122"/>
              </a:rPr>
              <a:t>关键字一律用小写字母表示</a:t>
            </a:r>
            <a:r>
              <a:rPr lang="zh-CN" altLang="en-US" sz="2200" b="1" baseline="0">
                <a:latin typeface="Times New Roman" panose="02020603050405020304" pitchFamily="18" charset="0"/>
                <a:ea typeface="楷体-简" panose="02010600040101010101" pitchFamily="2" charset="-122"/>
              </a:rPr>
              <a:t>。</a:t>
            </a:r>
            <a:r>
              <a:rPr lang="en-US" altLang="zh-CN" sz="2200" b="1" baseline="0">
                <a:latin typeface="Times New Roman" panose="02020603050405020304" pitchFamily="18" charset="0"/>
                <a:ea typeface="楷体-简" panose="02010600040101010101" pitchFamily="2" charset="-122"/>
              </a:rPr>
              <a:t>Java </a:t>
            </a:r>
            <a:r>
              <a:rPr lang="zh-CN" altLang="en-US" sz="2200" b="1" baseline="0">
                <a:latin typeface="Times New Roman" panose="02020603050405020304" pitchFamily="18" charset="0"/>
                <a:ea typeface="楷体-简" panose="02010600040101010101" pitchFamily="2" charset="-122"/>
              </a:rPr>
              <a:t>中的关键字约有 </a:t>
            </a:r>
            <a:r>
              <a:rPr lang="en-US" altLang="zh-CN" sz="2200" b="1" baseline="0">
                <a:latin typeface="Times New Roman" panose="02020603050405020304" pitchFamily="18" charset="0"/>
                <a:ea typeface="楷体-简" panose="02010600040101010101" pitchFamily="2" charset="-122"/>
              </a:rPr>
              <a:t>50 </a:t>
            </a:r>
            <a:r>
              <a:rPr lang="zh-CN" altLang="en-US" sz="2200" b="1" baseline="0">
                <a:latin typeface="Times New Roman" panose="02020603050405020304" pitchFamily="18" charset="0"/>
                <a:ea typeface="楷体-简" panose="02010600040101010101" pitchFamily="2" charset="-122"/>
              </a:rPr>
              <a:t>个，按用途划分为：数据类型、语句、修饰、方法、类、接口、包，并保留了</a:t>
            </a:r>
            <a:r>
              <a:rPr lang="en-US" altLang="zh-CN" sz="2200" b="1" baseline="0">
                <a:latin typeface="Times New Roman" panose="02020603050405020304" pitchFamily="18" charset="0"/>
                <a:ea typeface="楷体-简" panose="02010600040101010101" pitchFamily="2" charset="-122"/>
              </a:rPr>
              <a:t>const</a:t>
            </a:r>
            <a:r>
              <a:rPr lang="zh-CN" altLang="en-US" sz="2200" b="1" baseline="0">
                <a:latin typeface="Times New Roman" panose="02020603050405020304" pitchFamily="18" charset="0"/>
                <a:ea typeface="楷体-简" panose="02010600040101010101" pitchFamily="2" charset="-122"/>
              </a:rPr>
              <a:t>和 </a:t>
            </a:r>
            <a:r>
              <a:rPr lang="en-US" altLang="zh-CN" sz="2200" b="1" baseline="0">
                <a:latin typeface="Times New Roman" panose="02020603050405020304" pitchFamily="18" charset="0"/>
                <a:ea typeface="楷体-简" panose="02010600040101010101" pitchFamily="2" charset="-122"/>
              </a:rPr>
              <a:t>goto</a:t>
            </a:r>
          </a:p>
          <a:p>
            <a:pPr eaLnBrk="1" hangingPunct="1">
              <a:lnSpc>
                <a:spcPct val="130000"/>
              </a:lnSpc>
              <a:buFontTx/>
              <a:buChar char=" "/>
            </a:pPr>
            <a:endParaRPr lang="en-US" altLang="zh-CN" sz="2200" b="1" baseline="0">
              <a:latin typeface="Times New Roman" panose="02020603050405020304" pitchFamily="18" charset="0"/>
              <a:ea typeface="楷体-简" panose="02010600040101010101" pitchFamily="2" charset="-122"/>
            </a:endParaRPr>
          </a:p>
          <a:p>
            <a:pPr eaLnBrk="1" hangingPunct="1">
              <a:lnSpc>
                <a:spcPct val="80000"/>
              </a:lnSpc>
              <a:buFontTx/>
              <a:buNone/>
            </a:pPr>
            <a:endParaRPr lang="en-US" altLang="zh-CN" sz="1800" baseline="0">
              <a:latin typeface="Times New Roman" panose="02020603050405020304" pitchFamily="18" charset="0"/>
              <a:ea typeface="楷体-简" panose="02010600040101010101" pitchFamily="2" charset="-122"/>
            </a:endParaRPr>
          </a:p>
          <a:p>
            <a:pPr eaLnBrk="1" hangingPunct="1">
              <a:lnSpc>
                <a:spcPct val="80000"/>
              </a:lnSpc>
              <a:buFontTx/>
              <a:buNone/>
            </a:pPr>
            <a:endParaRPr lang="en-US" altLang="zh-CN" sz="1800" baseline="0">
              <a:latin typeface="Times New Roman" panose="02020603050405020304" pitchFamily="18" charset="0"/>
              <a:ea typeface="楷体-简" panose="02010600040101010101" pitchFamily="2" charset="-122"/>
            </a:endParaRPr>
          </a:p>
          <a:p>
            <a:pPr eaLnBrk="1" hangingPunct="1">
              <a:lnSpc>
                <a:spcPct val="80000"/>
              </a:lnSpc>
              <a:buFontTx/>
              <a:buNone/>
            </a:pPr>
            <a:r>
              <a:rPr lang="en-US" altLang="zh-CN" sz="2000" baseline="0">
                <a:latin typeface="Times New Roman" panose="02020603050405020304" pitchFamily="18" charset="0"/>
                <a:ea typeface="楷体-简" panose="02010600040101010101" pitchFamily="2" charset="-122"/>
              </a:rPr>
              <a:t>   </a:t>
            </a:r>
          </a:p>
        </p:txBody>
      </p:sp>
      <p:sp>
        <p:nvSpPr>
          <p:cNvPr id="7171" name="Rectangle 3">
            <a:extLst>
              <a:ext uri="{FF2B5EF4-FFF2-40B4-BE49-F238E27FC236}">
                <a16:creationId xmlns:a16="http://schemas.microsoft.com/office/drawing/2014/main" id="{A3470F05-B022-4308-AA34-5E36607DB358}"/>
              </a:ext>
            </a:extLst>
          </p:cNvPr>
          <p:cNvSpPr>
            <a:spLocks noChangeArrowheads="1"/>
          </p:cNvSpPr>
          <p:nvPr/>
        </p:nvSpPr>
        <p:spPr bwMode="auto">
          <a:xfrm>
            <a:off x="2339975" y="549275"/>
            <a:ext cx="32416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3600" b="0">
                <a:solidFill>
                  <a:srgbClr val="FF0066"/>
                </a:solidFill>
              </a:rPr>
              <a:t>     </a:t>
            </a:r>
            <a:r>
              <a:rPr lang="en-US" altLang="zh-CN" sz="4000" b="0">
                <a:solidFill>
                  <a:srgbClr val="FF0066"/>
                </a:solidFill>
              </a:rPr>
              <a:t>2.2 </a:t>
            </a:r>
            <a:r>
              <a:rPr lang="zh-CN" altLang="en-US" sz="4000" b="0">
                <a:solidFill>
                  <a:srgbClr val="FF0066"/>
                </a:solidFill>
              </a:rPr>
              <a:t>关键字</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51307" name="Group 75">
            <a:extLst>
              <a:ext uri="{FF2B5EF4-FFF2-40B4-BE49-F238E27FC236}">
                <a16:creationId xmlns:a16="http://schemas.microsoft.com/office/drawing/2014/main" id="{E7B2A385-9708-4DD7-A7F2-FDC11B3C26EF}"/>
              </a:ext>
            </a:extLst>
          </p:cNvPr>
          <p:cNvGraphicFramePr>
            <a:graphicFrameLocks noGrp="1"/>
          </p:cNvGraphicFramePr>
          <p:nvPr>
            <p:ph/>
            <p:extLst>
              <p:ext uri="{D42A27DB-BD31-4B8C-83A1-F6EECF244321}">
                <p14:modId xmlns:p14="http://schemas.microsoft.com/office/powerpoint/2010/main" val="2439303994"/>
              </p:ext>
            </p:extLst>
          </p:nvPr>
        </p:nvGraphicFramePr>
        <p:xfrm>
          <a:off x="532730" y="599282"/>
          <a:ext cx="8078540" cy="5659436"/>
        </p:xfrm>
        <a:graphic>
          <a:graphicData uri="http://schemas.openxmlformats.org/drawingml/2006/table">
            <a:tbl>
              <a:tblPr/>
              <a:tblGrid>
                <a:gridCol w="1446982">
                  <a:extLst>
                    <a:ext uri="{9D8B030D-6E8A-4147-A177-3AD203B41FA5}">
                      <a16:colId xmlns:a16="http://schemas.microsoft.com/office/drawing/2014/main" val="20000"/>
                    </a:ext>
                  </a:extLst>
                </a:gridCol>
                <a:gridCol w="1512168">
                  <a:extLst>
                    <a:ext uri="{9D8B030D-6E8A-4147-A177-3AD203B41FA5}">
                      <a16:colId xmlns:a16="http://schemas.microsoft.com/office/drawing/2014/main" val="20001"/>
                    </a:ext>
                  </a:extLst>
                </a:gridCol>
                <a:gridCol w="1728192">
                  <a:extLst>
                    <a:ext uri="{9D8B030D-6E8A-4147-A177-3AD203B41FA5}">
                      <a16:colId xmlns:a16="http://schemas.microsoft.com/office/drawing/2014/main" val="20002"/>
                    </a:ext>
                  </a:extLst>
                </a:gridCol>
                <a:gridCol w="1872208">
                  <a:extLst>
                    <a:ext uri="{9D8B030D-6E8A-4147-A177-3AD203B41FA5}">
                      <a16:colId xmlns:a16="http://schemas.microsoft.com/office/drawing/2014/main" val="20003"/>
                    </a:ext>
                  </a:extLst>
                </a:gridCol>
                <a:gridCol w="1518990">
                  <a:extLst>
                    <a:ext uri="{9D8B030D-6E8A-4147-A177-3AD203B41FA5}">
                      <a16:colId xmlns:a16="http://schemas.microsoft.com/office/drawing/2014/main" val="20004"/>
                    </a:ext>
                  </a:extLst>
                </a:gridCol>
              </a:tblGrid>
              <a:tr h="587292">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abstract </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default </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if </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private </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throw </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42849">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boolean </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do </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implements </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protected </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throws </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40067">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break </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double </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import </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public </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transient </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46024">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byte </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else </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instanceof </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return </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try </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46024">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case </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extends </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err="1">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int</a:t>
                      </a:r>
                      <a:r>
                        <a:rPr kumimoji="0" lang="en-US" altLang="zh-CN" sz="18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short </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void </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19041">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catch </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final </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interface </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static </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volatile </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46024">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char </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finally </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long </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super </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while </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46024">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class </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float </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native </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switch </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 </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640067">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const </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for </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new </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synchronized </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 </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546024">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continue </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goto </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package </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this </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 </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afterEffect">
                                  <p:stCondLst>
                                    <p:cond delay="0"/>
                                  </p:stCondLst>
                                  <p:childTnLst>
                                    <p:set>
                                      <p:cBhvr>
                                        <p:cTn id="6" dur="1" fill="hold">
                                          <p:stCondLst>
                                            <p:cond delay="0"/>
                                          </p:stCondLst>
                                        </p:cTn>
                                        <p:tgtEl>
                                          <p:spTgt spid="351307"/>
                                        </p:tgtEl>
                                        <p:attrNameLst>
                                          <p:attrName>style.visibility</p:attrName>
                                        </p:attrNameLst>
                                      </p:cBhvr>
                                      <p:to>
                                        <p:strVal val="visible"/>
                                      </p:to>
                                    </p:set>
                                    <p:animEffect transition="in" filter="fade">
                                      <p:cBhvr>
                                        <p:cTn id="7" dur="2000"/>
                                        <p:tgtEl>
                                          <p:spTgt spid="3513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51307" name="Group 75">
            <a:extLst>
              <a:ext uri="{FF2B5EF4-FFF2-40B4-BE49-F238E27FC236}">
                <a16:creationId xmlns:a16="http://schemas.microsoft.com/office/drawing/2014/main" id="{E7B2A385-9708-4DD7-A7F2-FDC11B3C26EF}"/>
              </a:ext>
            </a:extLst>
          </p:cNvPr>
          <p:cNvGraphicFramePr>
            <a:graphicFrameLocks noGrp="1"/>
          </p:cNvGraphicFramePr>
          <p:nvPr>
            <p:ph/>
            <p:extLst>
              <p:ext uri="{D42A27DB-BD31-4B8C-83A1-F6EECF244321}">
                <p14:modId xmlns:p14="http://schemas.microsoft.com/office/powerpoint/2010/main" val="3549070607"/>
              </p:ext>
            </p:extLst>
          </p:nvPr>
        </p:nvGraphicFramePr>
        <p:xfrm>
          <a:off x="532730" y="599282"/>
          <a:ext cx="8078540" cy="5659436"/>
        </p:xfrm>
        <a:graphic>
          <a:graphicData uri="http://schemas.openxmlformats.org/drawingml/2006/table">
            <a:tbl>
              <a:tblPr/>
              <a:tblGrid>
                <a:gridCol w="1446982">
                  <a:extLst>
                    <a:ext uri="{9D8B030D-6E8A-4147-A177-3AD203B41FA5}">
                      <a16:colId xmlns:a16="http://schemas.microsoft.com/office/drawing/2014/main" val="20000"/>
                    </a:ext>
                  </a:extLst>
                </a:gridCol>
                <a:gridCol w="1512168">
                  <a:extLst>
                    <a:ext uri="{9D8B030D-6E8A-4147-A177-3AD203B41FA5}">
                      <a16:colId xmlns:a16="http://schemas.microsoft.com/office/drawing/2014/main" val="20001"/>
                    </a:ext>
                  </a:extLst>
                </a:gridCol>
                <a:gridCol w="1728192">
                  <a:extLst>
                    <a:ext uri="{9D8B030D-6E8A-4147-A177-3AD203B41FA5}">
                      <a16:colId xmlns:a16="http://schemas.microsoft.com/office/drawing/2014/main" val="20002"/>
                    </a:ext>
                  </a:extLst>
                </a:gridCol>
                <a:gridCol w="1872208">
                  <a:extLst>
                    <a:ext uri="{9D8B030D-6E8A-4147-A177-3AD203B41FA5}">
                      <a16:colId xmlns:a16="http://schemas.microsoft.com/office/drawing/2014/main" val="20003"/>
                    </a:ext>
                  </a:extLst>
                </a:gridCol>
                <a:gridCol w="1518990">
                  <a:extLst>
                    <a:ext uri="{9D8B030D-6E8A-4147-A177-3AD203B41FA5}">
                      <a16:colId xmlns:a16="http://schemas.microsoft.com/office/drawing/2014/main" val="20004"/>
                    </a:ext>
                  </a:extLst>
                </a:gridCol>
              </a:tblGrid>
              <a:tr h="587292">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CC"/>
                          </a:solidFill>
                          <a:effectLst/>
                          <a:latin typeface="Courier New" panose="02070309020205020404" pitchFamily="49" charset="0"/>
                          <a:ea typeface="宋体" panose="02010600030101010101" pitchFamily="2" charset="-122"/>
                          <a:cs typeface="Courier New" panose="02070309020205020404" pitchFamily="49" charset="0"/>
                        </a:rPr>
                        <a:t>abstract</a:t>
                      </a:r>
                      <a:r>
                        <a:rPr kumimoji="0" lang="en-US" altLang="zh-CN" sz="18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kern="1200" cap="none" normalizeH="0" baseline="0" dirty="0">
                          <a:ln>
                            <a:noFill/>
                          </a:ln>
                          <a:solidFill>
                            <a:srgbClr val="7030A0"/>
                          </a:solidFill>
                          <a:effectLst/>
                          <a:latin typeface="Courier New" panose="02070309020205020404" pitchFamily="49" charset="0"/>
                          <a:ea typeface="宋体" panose="02010600030101010101" pitchFamily="2" charset="-122"/>
                          <a:cs typeface="Courier New" panose="02070309020205020404" pitchFamily="49" charset="0"/>
                        </a:rPr>
                        <a:t>default </a:t>
                      </a: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7030A0"/>
                          </a:solidFill>
                          <a:effectLst/>
                          <a:latin typeface="Courier New" panose="02070309020205020404" pitchFamily="49" charset="0"/>
                          <a:ea typeface="宋体" panose="02010600030101010101" pitchFamily="2" charset="-122"/>
                          <a:cs typeface="Courier New" panose="02070309020205020404" pitchFamily="49" charset="0"/>
                        </a:rPr>
                        <a:t>if</a:t>
                      </a:r>
                      <a:r>
                        <a:rPr kumimoji="0" lang="en-US" altLang="zh-CN" sz="18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FFC000"/>
                          </a:solidFill>
                          <a:effectLst/>
                          <a:latin typeface="Courier New" panose="02070309020205020404" pitchFamily="49" charset="0"/>
                          <a:ea typeface="宋体" panose="02010600030101010101" pitchFamily="2" charset="-122"/>
                          <a:cs typeface="Courier New" panose="02070309020205020404" pitchFamily="49" charset="0"/>
                        </a:rPr>
                        <a:t>private </a:t>
                      </a:r>
                      <a:endParaRPr kumimoji="0" lang="en-US" altLang="zh-CN" sz="1800" b="1" i="0" u="none" strike="noStrike" cap="none" normalizeH="0" baseline="0" dirty="0">
                        <a:ln>
                          <a:noFill/>
                        </a:ln>
                        <a:solidFill>
                          <a:srgbClr val="FFC000"/>
                        </a:solidFill>
                        <a:effectLst/>
                        <a:latin typeface="Arial" panose="020B0604020202020204" pitchFamily="34" charset="0"/>
                        <a:ea typeface="宋体" panose="02010600030101010101" pitchFamily="2" charset="-122"/>
                      </a:endParaRP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92D050"/>
                          </a:solidFill>
                          <a:effectLst/>
                          <a:latin typeface="Courier New" panose="02070309020205020404" pitchFamily="49" charset="0"/>
                          <a:ea typeface="宋体" panose="02010600030101010101" pitchFamily="2" charset="-122"/>
                          <a:cs typeface="Courier New" panose="02070309020205020404" pitchFamily="49" charset="0"/>
                        </a:rPr>
                        <a:t>throw</a:t>
                      </a:r>
                      <a:r>
                        <a:rPr kumimoji="0" lang="en-US" altLang="zh-CN" sz="18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42849">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err="1">
                          <a:ln>
                            <a:noFill/>
                          </a:ln>
                          <a:solidFill>
                            <a:srgbClr val="FF0000"/>
                          </a:solidFill>
                          <a:effectLst/>
                          <a:latin typeface="Courier New" panose="02070309020205020404" pitchFamily="49" charset="0"/>
                          <a:ea typeface="宋体" panose="02010600030101010101" pitchFamily="2" charset="-122"/>
                          <a:cs typeface="Courier New" panose="02070309020205020404" pitchFamily="49" charset="0"/>
                        </a:rPr>
                        <a:t>boolean</a:t>
                      </a:r>
                      <a:r>
                        <a:rPr kumimoji="0" lang="en-US" altLang="zh-CN" sz="1800" b="1" i="0" u="none" strike="noStrike" cap="none" normalizeH="0" baseline="0" dirty="0">
                          <a:ln>
                            <a:noFill/>
                          </a:ln>
                          <a:solidFill>
                            <a:srgbClr val="FF0000"/>
                          </a:solidFill>
                          <a:effectLst/>
                          <a:latin typeface="Courier New" panose="02070309020205020404" pitchFamily="49" charset="0"/>
                          <a:ea typeface="宋体" panose="02010600030101010101" pitchFamily="2" charset="-122"/>
                          <a:cs typeface="Courier New" panose="02070309020205020404" pitchFamily="49" charset="0"/>
                        </a:rPr>
                        <a:t> </a:t>
                      </a:r>
                      <a:endParaRPr kumimoji="0" lang="en-US" altLang="zh-CN" sz="1800" b="1" i="0" u="none" strike="noStrike" cap="none" normalizeH="0" baseline="0" dirty="0">
                        <a:ln>
                          <a:noFill/>
                        </a:ln>
                        <a:solidFill>
                          <a:srgbClr val="FF0000"/>
                        </a:solidFill>
                        <a:effectLst/>
                        <a:latin typeface="Arial" panose="020B0604020202020204" pitchFamily="34" charset="0"/>
                        <a:ea typeface="宋体" panose="02010600030101010101" pitchFamily="2" charset="-122"/>
                      </a:endParaRP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7030A0"/>
                          </a:solidFill>
                          <a:effectLst/>
                          <a:latin typeface="Courier New" panose="02070309020205020404" pitchFamily="49" charset="0"/>
                          <a:ea typeface="宋体" panose="02010600030101010101" pitchFamily="2" charset="-122"/>
                          <a:cs typeface="Courier New" panose="02070309020205020404" pitchFamily="49" charset="0"/>
                        </a:rPr>
                        <a:t>do</a:t>
                      </a:r>
                      <a:r>
                        <a:rPr kumimoji="0" lang="en-US" altLang="zh-CN" sz="18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CC"/>
                          </a:solidFill>
                          <a:effectLst/>
                          <a:latin typeface="Courier New" panose="02070309020205020404" pitchFamily="49" charset="0"/>
                          <a:ea typeface="宋体" panose="02010600030101010101" pitchFamily="2" charset="-122"/>
                          <a:cs typeface="Courier New" panose="02070309020205020404" pitchFamily="49" charset="0"/>
                        </a:rPr>
                        <a:t>implements</a:t>
                      </a:r>
                      <a:r>
                        <a:rPr kumimoji="0" lang="en-US" altLang="zh-CN" sz="18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FFC000"/>
                          </a:solidFill>
                          <a:effectLst/>
                          <a:latin typeface="Courier New" panose="02070309020205020404" pitchFamily="49" charset="0"/>
                          <a:ea typeface="宋体" panose="02010600030101010101" pitchFamily="2" charset="-122"/>
                          <a:cs typeface="Courier New" panose="02070309020205020404" pitchFamily="49" charset="0"/>
                        </a:rPr>
                        <a:t>protected </a:t>
                      </a:r>
                      <a:endParaRPr kumimoji="0" lang="en-US" altLang="zh-CN" sz="1800" b="1" i="0" u="none" strike="noStrike" cap="none" normalizeH="0" baseline="0" dirty="0">
                        <a:ln>
                          <a:noFill/>
                        </a:ln>
                        <a:solidFill>
                          <a:srgbClr val="FFC000"/>
                        </a:solidFill>
                        <a:effectLst/>
                        <a:latin typeface="Arial" panose="020B0604020202020204" pitchFamily="34" charset="0"/>
                        <a:ea typeface="宋体" panose="02010600030101010101" pitchFamily="2" charset="-122"/>
                      </a:endParaRP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92D050"/>
                          </a:solidFill>
                          <a:effectLst/>
                          <a:latin typeface="Courier New" panose="02070309020205020404" pitchFamily="49" charset="0"/>
                          <a:ea typeface="宋体" panose="02010600030101010101" pitchFamily="2" charset="-122"/>
                          <a:cs typeface="Courier New" panose="02070309020205020404" pitchFamily="49" charset="0"/>
                        </a:rPr>
                        <a:t>throws</a:t>
                      </a:r>
                      <a:r>
                        <a:rPr kumimoji="0" lang="en-US" altLang="zh-CN" sz="18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40067">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7030A0"/>
                          </a:solidFill>
                          <a:effectLst/>
                          <a:latin typeface="Courier New" panose="02070309020205020404" pitchFamily="49" charset="0"/>
                          <a:ea typeface="宋体" panose="02010600030101010101" pitchFamily="2" charset="-122"/>
                          <a:cs typeface="Courier New" panose="02070309020205020404" pitchFamily="49" charset="0"/>
                        </a:rPr>
                        <a:t>break</a:t>
                      </a:r>
                      <a:r>
                        <a:rPr kumimoji="0" lang="en-US" altLang="zh-CN" sz="18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kern="1200" cap="none" normalizeH="0" baseline="0" dirty="0">
                          <a:ln>
                            <a:noFill/>
                          </a:ln>
                          <a:solidFill>
                            <a:srgbClr val="FF0000"/>
                          </a:solidFill>
                          <a:effectLst/>
                          <a:latin typeface="Courier New" panose="02070309020205020404" pitchFamily="49" charset="0"/>
                          <a:ea typeface="宋体" panose="02010600030101010101" pitchFamily="2" charset="-122"/>
                          <a:cs typeface="Courier New" panose="02070309020205020404" pitchFamily="49" charset="0"/>
                        </a:rPr>
                        <a:t>double</a:t>
                      </a:r>
                      <a:r>
                        <a:rPr kumimoji="0" lang="en-US" altLang="zh-CN" sz="18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kern="1200" cap="none" normalizeH="0" baseline="0" dirty="0">
                          <a:ln>
                            <a:noFill/>
                          </a:ln>
                          <a:solidFill>
                            <a:srgbClr val="0000CC"/>
                          </a:solidFill>
                          <a:effectLst/>
                          <a:latin typeface="Courier New" panose="02070309020205020404" pitchFamily="49" charset="0"/>
                          <a:ea typeface="宋体" panose="02010600030101010101" pitchFamily="2" charset="-122"/>
                          <a:cs typeface="Courier New" panose="02070309020205020404" pitchFamily="49" charset="0"/>
                        </a:rPr>
                        <a:t>import </a:t>
                      </a: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FFC000"/>
                          </a:solidFill>
                          <a:effectLst/>
                          <a:latin typeface="Courier New" panose="02070309020205020404" pitchFamily="49" charset="0"/>
                          <a:ea typeface="宋体" panose="02010600030101010101" pitchFamily="2" charset="-122"/>
                          <a:cs typeface="Courier New" panose="02070309020205020404" pitchFamily="49" charset="0"/>
                        </a:rPr>
                        <a:t>public </a:t>
                      </a:r>
                      <a:endParaRPr kumimoji="0" lang="en-US" altLang="zh-CN" sz="1800" b="1" i="0" u="none" strike="noStrike" cap="none" normalizeH="0" baseline="0" dirty="0">
                        <a:ln>
                          <a:noFill/>
                        </a:ln>
                        <a:solidFill>
                          <a:srgbClr val="FFC000"/>
                        </a:solidFill>
                        <a:effectLst/>
                        <a:latin typeface="Arial" panose="020B0604020202020204" pitchFamily="34" charset="0"/>
                        <a:ea typeface="宋体" panose="02010600030101010101" pitchFamily="2" charset="-122"/>
                      </a:endParaRP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transient </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46024">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FF0000"/>
                          </a:solidFill>
                          <a:effectLst/>
                          <a:latin typeface="Courier New" panose="02070309020205020404" pitchFamily="49" charset="0"/>
                          <a:ea typeface="宋体" panose="02010600030101010101" pitchFamily="2" charset="-122"/>
                          <a:cs typeface="Courier New" panose="02070309020205020404" pitchFamily="49" charset="0"/>
                        </a:rPr>
                        <a:t>byte </a:t>
                      </a:r>
                      <a:endParaRPr kumimoji="0" lang="en-US" altLang="zh-CN" sz="1800" b="1" i="0" u="none" strike="noStrike" cap="none" normalizeH="0" baseline="0" dirty="0">
                        <a:ln>
                          <a:noFill/>
                        </a:ln>
                        <a:solidFill>
                          <a:srgbClr val="FF0000"/>
                        </a:solidFill>
                        <a:effectLst/>
                        <a:latin typeface="Arial" panose="020B0604020202020204" pitchFamily="34" charset="0"/>
                        <a:ea typeface="宋体" panose="02010600030101010101" pitchFamily="2" charset="-122"/>
                      </a:endParaRP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7030A0"/>
                          </a:solidFill>
                          <a:effectLst/>
                          <a:latin typeface="Courier New" panose="02070309020205020404" pitchFamily="49" charset="0"/>
                          <a:ea typeface="宋体" panose="02010600030101010101" pitchFamily="2" charset="-122"/>
                          <a:cs typeface="Courier New" panose="02070309020205020404" pitchFamily="49" charset="0"/>
                        </a:rPr>
                        <a:t>else</a:t>
                      </a:r>
                      <a:r>
                        <a:rPr kumimoji="0" lang="en-US" altLang="zh-CN" sz="18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kern="1200" cap="none" normalizeH="0" baseline="0" dirty="0" err="1">
                          <a:ln>
                            <a:noFill/>
                          </a:ln>
                          <a:solidFill>
                            <a:srgbClr val="0000CC"/>
                          </a:solidFill>
                          <a:effectLst/>
                          <a:latin typeface="Courier New" panose="02070309020205020404" pitchFamily="49" charset="0"/>
                          <a:ea typeface="宋体" panose="02010600030101010101" pitchFamily="2" charset="-122"/>
                          <a:cs typeface="Courier New" panose="02070309020205020404" pitchFamily="49" charset="0"/>
                        </a:rPr>
                        <a:t>instanceof</a:t>
                      </a:r>
                      <a:r>
                        <a:rPr kumimoji="0" lang="en-US" altLang="zh-CN" sz="18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kern="1200" cap="none" normalizeH="0" baseline="0" dirty="0">
                          <a:ln>
                            <a:noFill/>
                          </a:ln>
                          <a:solidFill>
                            <a:srgbClr val="7030A0"/>
                          </a:solidFill>
                          <a:effectLst/>
                          <a:latin typeface="Courier New" panose="02070309020205020404" pitchFamily="49" charset="0"/>
                          <a:ea typeface="宋体" panose="02010600030101010101" pitchFamily="2" charset="-122"/>
                          <a:cs typeface="Courier New" panose="02070309020205020404" pitchFamily="49" charset="0"/>
                        </a:rPr>
                        <a:t>return </a:t>
                      </a: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92D050"/>
                          </a:solidFill>
                          <a:effectLst/>
                          <a:latin typeface="Courier New" panose="02070309020205020404" pitchFamily="49" charset="0"/>
                          <a:ea typeface="宋体" panose="02010600030101010101" pitchFamily="2" charset="-122"/>
                          <a:cs typeface="Courier New" panose="02070309020205020404" pitchFamily="49" charset="0"/>
                        </a:rPr>
                        <a:t>try</a:t>
                      </a:r>
                      <a:r>
                        <a:rPr kumimoji="0" lang="en-US" altLang="zh-CN" sz="18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46024">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kern="1200" cap="none" normalizeH="0" baseline="0" dirty="0">
                          <a:ln>
                            <a:noFill/>
                          </a:ln>
                          <a:solidFill>
                            <a:srgbClr val="7030A0"/>
                          </a:solidFill>
                          <a:effectLst/>
                          <a:latin typeface="Courier New" panose="02070309020205020404" pitchFamily="49" charset="0"/>
                          <a:ea typeface="宋体" panose="02010600030101010101" pitchFamily="2" charset="-122"/>
                          <a:cs typeface="Courier New" panose="02070309020205020404" pitchFamily="49" charset="0"/>
                        </a:rPr>
                        <a:t>case </a:t>
                      </a: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kern="1200" cap="none" normalizeH="0" baseline="0" dirty="0">
                          <a:ln>
                            <a:noFill/>
                          </a:ln>
                          <a:solidFill>
                            <a:srgbClr val="FF0000"/>
                          </a:solidFill>
                          <a:effectLst/>
                          <a:latin typeface="Courier New" panose="02070309020205020404" pitchFamily="49" charset="0"/>
                          <a:ea typeface="宋体" panose="02010600030101010101" pitchFamily="2" charset="-122"/>
                          <a:cs typeface="Courier New" panose="02070309020205020404" pitchFamily="49" charset="0"/>
                        </a:rPr>
                        <a:t>extends </a:t>
                      </a: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kern="1200" cap="none" normalizeH="0" baseline="0" dirty="0" err="1">
                          <a:ln>
                            <a:noFill/>
                          </a:ln>
                          <a:solidFill>
                            <a:srgbClr val="FF0000"/>
                          </a:solidFill>
                          <a:effectLst/>
                          <a:latin typeface="Courier New" panose="02070309020205020404" pitchFamily="49" charset="0"/>
                          <a:ea typeface="宋体" panose="02010600030101010101" pitchFamily="2" charset="-122"/>
                          <a:cs typeface="Courier New" panose="02070309020205020404" pitchFamily="49" charset="0"/>
                        </a:rPr>
                        <a:t>int</a:t>
                      </a:r>
                      <a:r>
                        <a:rPr kumimoji="0" lang="en-US" altLang="zh-CN" sz="1800" b="1" i="0" u="none" strike="noStrike" kern="1200" cap="none" normalizeH="0" baseline="0" dirty="0">
                          <a:ln>
                            <a:noFill/>
                          </a:ln>
                          <a:solidFill>
                            <a:srgbClr val="FF0000"/>
                          </a:solidFill>
                          <a:effectLst/>
                          <a:latin typeface="Courier New" panose="02070309020205020404" pitchFamily="49" charset="0"/>
                          <a:ea typeface="宋体" panose="02010600030101010101" pitchFamily="2" charset="-122"/>
                          <a:cs typeface="Courier New" panose="02070309020205020404" pitchFamily="49" charset="0"/>
                        </a:rPr>
                        <a:t> </a:t>
                      </a: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kern="1200" cap="none" normalizeH="0" baseline="0" dirty="0">
                          <a:ln>
                            <a:noFill/>
                          </a:ln>
                          <a:solidFill>
                            <a:srgbClr val="FF0000"/>
                          </a:solidFill>
                          <a:effectLst/>
                          <a:latin typeface="Courier New" panose="02070309020205020404" pitchFamily="49" charset="0"/>
                          <a:ea typeface="宋体" panose="02010600030101010101" pitchFamily="2" charset="-122"/>
                          <a:cs typeface="Courier New" panose="02070309020205020404" pitchFamily="49" charset="0"/>
                        </a:rPr>
                        <a:t>short </a:t>
                      </a: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void </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19041">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kern="1200" cap="none" normalizeH="0" baseline="0" dirty="0">
                          <a:ln>
                            <a:noFill/>
                          </a:ln>
                          <a:solidFill>
                            <a:srgbClr val="92D050"/>
                          </a:solidFill>
                          <a:effectLst/>
                          <a:latin typeface="Courier New" panose="02070309020205020404" pitchFamily="49" charset="0"/>
                          <a:ea typeface="宋体" panose="02010600030101010101" pitchFamily="2" charset="-122"/>
                          <a:cs typeface="Courier New" panose="02070309020205020404" pitchFamily="49" charset="0"/>
                        </a:rPr>
                        <a:t>catch </a:t>
                      </a: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final </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CC"/>
                          </a:solidFill>
                          <a:effectLst/>
                          <a:latin typeface="Courier New" panose="02070309020205020404" pitchFamily="49" charset="0"/>
                          <a:ea typeface="宋体" panose="02010600030101010101" pitchFamily="2" charset="-122"/>
                          <a:cs typeface="Courier New" panose="02070309020205020404" pitchFamily="49" charset="0"/>
                        </a:rPr>
                        <a:t>interface</a:t>
                      </a:r>
                      <a:r>
                        <a:rPr kumimoji="0" lang="en-US" altLang="zh-CN" sz="18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static </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volatile </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46024">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FF0000"/>
                          </a:solidFill>
                          <a:effectLst/>
                          <a:latin typeface="Courier New" panose="02070309020205020404" pitchFamily="49" charset="0"/>
                          <a:ea typeface="宋体" panose="02010600030101010101" pitchFamily="2" charset="-122"/>
                          <a:cs typeface="Courier New" panose="02070309020205020404" pitchFamily="49" charset="0"/>
                        </a:rPr>
                        <a:t>char</a:t>
                      </a:r>
                      <a:r>
                        <a:rPr kumimoji="0" lang="en-US" altLang="zh-CN" sz="18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kern="1200" cap="none" normalizeH="0" baseline="0" dirty="0">
                          <a:ln>
                            <a:noFill/>
                          </a:ln>
                          <a:solidFill>
                            <a:srgbClr val="92D050"/>
                          </a:solidFill>
                          <a:effectLst/>
                          <a:latin typeface="Courier New" panose="02070309020205020404" pitchFamily="49" charset="0"/>
                          <a:ea typeface="宋体" panose="02010600030101010101" pitchFamily="2" charset="-122"/>
                          <a:cs typeface="Courier New" panose="02070309020205020404" pitchFamily="49" charset="0"/>
                        </a:rPr>
                        <a:t>finally </a:t>
                      </a: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FF0000"/>
                          </a:solidFill>
                          <a:effectLst/>
                          <a:latin typeface="Courier New" panose="02070309020205020404" pitchFamily="49" charset="0"/>
                          <a:ea typeface="宋体" panose="02010600030101010101" pitchFamily="2" charset="-122"/>
                          <a:cs typeface="Courier New" panose="02070309020205020404" pitchFamily="49" charset="0"/>
                        </a:rPr>
                        <a:t>long </a:t>
                      </a:r>
                      <a:endParaRPr kumimoji="0" lang="en-US" altLang="zh-CN" sz="1800" b="1" i="0" u="none" strike="noStrike" cap="none" normalizeH="0" baseline="0" dirty="0">
                        <a:ln>
                          <a:noFill/>
                        </a:ln>
                        <a:solidFill>
                          <a:srgbClr val="FF0000"/>
                        </a:solidFill>
                        <a:effectLst/>
                        <a:latin typeface="Arial" panose="020B0604020202020204" pitchFamily="34" charset="0"/>
                        <a:ea typeface="宋体" panose="02010600030101010101" pitchFamily="2" charset="-122"/>
                      </a:endParaRP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kern="1200" cap="none" normalizeH="0" baseline="0" dirty="0">
                          <a:ln>
                            <a:noFill/>
                          </a:ln>
                          <a:solidFill>
                            <a:srgbClr val="0000CC"/>
                          </a:solidFill>
                          <a:effectLst/>
                          <a:latin typeface="Courier New" panose="02070309020205020404" pitchFamily="49" charset="0"/>
                          <a:ea typeface="宋体" panose="02010600030101010101" pitchFamily="2" charset="-122"/>
                          <a:cs typeface="Courier New" panose="02070309020205020404" pitchFamily="49" charset="0"/>
                        </a:rPr>
                        <a:t>super </a:t>
                      </a: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7030A0"/>
                          </a:solidFill>
                          <a:effectLst/>
                          <a:latin typeface="Courier New" panose="02070309020205020404" pitchFamily="49" charset="0"/>
                          <a:ea typeface="宋体" panose="02010600030101010101" pitchFamily="2" charset="-122"/>
                          <a:cs typeface="Courier New" panose="02070309020205020404" pitchFamily="49" charset="0"/>
                        </a:rPr>
                        <a:t>while</a:t>
                      </a:r>
                      <a:r>
                        <a:rPr kumimoji="0" lang="en-US" altLang="zh-CN" sz="18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46024">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0000CC"/>
                          </a:solidFill>
                          <a:effectLst/>
                          <a:latin typeface="Courier New" panose="02070309020205020404" pitchFamily="49" charset="0"/>
                          <a:ea typeface="宋体" panose="02010600030101010101" pitchFamily="2" charset="-122"/>
                          <a:cs typeface="Courier New" panose="02070309020205020404" pitchFamily="49" charset="0"/>
                        </a:rPr>
                        <a:t>class</a:t>
                      </a:r>
                      <a:r>
                        <a:rPr kumimoji="0" lang="en-US" altLang="zh-CN" sz="18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kern="1200" cap="none" normalizeH="0" baseline="0" dirty="0">
                          <a:ln>
                            <a:noFill/>
                          </a:ln>
                          <a:solidFill>
                            <a:srgbClr val="FF0000"/>
                          </a:solidFill>
                          <a:effectLst/>
                          <a:latin typeface="Courier New" panose="02070309020205020404" pitchFamily="49" charset="0"/>
                          <a:ea typeface="宋体" panose="02010600030101010101" pitchFamily="2" charset="-122"/>
                          <a:cs typeface="Courier New" panose="02070309020205020404" pitchFamily="49" charset="0"/>
                        </a:rPr>
                        <a:t>float</a:t>
                      </a:r>
                      <a:r>
                        <a:rPr kumimoji="0" lang="en-US" altLang="zh-CN" sz="18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native </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kern="1200" cap="none" normalizeH="0" baseline="0" dirty="0">
                          <a:ln>
                            <a:noFill/>
                          </a:ln>
                          <a:solidFill>
                            <a:srgbClr val="7030A0"/>
                          </a:solidFill>
                          <a:effectLst/>
                          <a:latin typeface="Courier New" panose="02070309020205020404" pitchFamily="49" charset="0"/>
                          <a:ea typeface="宋体" panose="02010600030101010101" pitchFamily="2" charset="-122"/>
                          <a:cs typeface="Courier New" panose="02070309020205020404" pitchFamily="49" charset="0"/>
                        </a:rPr>
                        <a:t>switch </a:t>
                      </a: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 </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640067">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err="1">
                          <a:ln>
                            <a:noFill/>
                          </a:ln>
                          <a:solidFill>
                            <a:schemeClr val="bg2">
                              <a:lumMod val="60000"/>
                              <a:lumOff val="40000"/>
                            </a:schemeClr>
                          </a:solidFill>
                          <a:effectLst/>
                          <a:latin typeface="Courier New" panose="02070309020205020404" pitchFamily="49" charset="0"/>
                          <a:ea typeface="宋体" panose="02010600030101010101" pitchFamily="2" charset="-122"/>
                          <a:cs typeface="Courier New" panose="02070309020205020404" pitchFamily="49" charset="0"/>
                        </a:rPr>
                        <a:t>const</a:t>
                      </a:r>
                      <a:r>
                        <a:rPr kumimoji="0" lang="en-US" altLang="zh-CN" sz="1800" b="1" i="0" u="none" strike="noStrike" cap="none" normalizeH="0" baseline="0" dirty="0">
                          <a:ln>
                            <a:noFill/>
                          </a:ln>
                          <a:solidFill>
                            <a:schemeClr val="bg2">
                              <a:lumMod val="60000"/>
                              <a:lumOff val="40000"/>
                            </a:schemeClr>
                          </a:solidFill>
                          <a:effectLst/>
                          <a:latin typeface="Courier New" panose="02070309020205020404" pitchFamily="49" charset="0"/>
                          <a:ea typeface="宋体" panose="02010600030101010101" pitchFamily="2" charset="-122"/>
                          <a:cs typeface="Courier New" panose="02070309020205020404" pitchFamily="49" charset="0"/>
                        </a:rPr>
                        <a:t> </a:t>
                      </a:r>
                      <a:endParaRPr kumimoji="0" lang="en-US" altLang="zh-CN" sz="1800" b="1" i="0" u="none" strike="noStrike" cap="none" normalizeH="0" baseline="0" dirty="0">
                        <a:ln>
                          <a:noFill/>
                        </a:ln>
                        <a:solidFill>
                          <a:schemeClr val="bg2">
                            <a:lumMod val="60000"/>
                            <a:lumOff val="40000"/>
                          </a:schemeClr>
                        </a:solidFill>
                        <a:effectLst/>
                        <a:latin typeface="Arial" panose="020B0604020202020204" pitchFamily="34" charset="0"/>
                        <a:ea typeface="宋体" panose="02010600030101010101" pitchFamily="2" charset="-122"/>
                      </a:endParaRP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7030A0"/>
                          </a:solidFill>
                          <a:effectLst/>
                          <a:latin typeface="Courier New" panose="02070309020205020404" pitchFamily="49" charset="0"/>
                          <a:ea typeface="宋体" panose="02010600030101010101" pitchFamily="2" charset="-122"/>
                          <a:cs typeface="Courier New" panose="02070309020205020404" pitchFamily="49" charset="0"/>
                        </a:rPr>
                        <a:t>for</a:t>
                      </a:r>
                      <a:r>
                        <a:rPr kumimoji="0" lang="en-US" altLang="zh-CN" sz="18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kern="1200" cap="none" normalizeH="0" baseline="0" dirty="0">
                          <a:ln>
                            <a:noFill/>
                          </a:ln>
                          <a:solidFill>
                            <a:srgbClr val="0000CC"/>
                          </a:solidFill>
                          <a:effectLst/>
                          <a:latin typeface="Courier New" panose="02070309020205020404" pitchFamily="49" charset="0"/>
                          <a:ea typeface="宋体" panose="02010600030101010101" pitchFamily="2" charset="-122"/>
                          <a:cs typeface="Courier New" panose="02070309020205020404" pitchFamily="49" charset="0"/>
                        </a:rPr>
                        <a:t>new</a:t>
                      </a:r>
                      <a:r>
                        <a:rPr kumimoji="0" lang="en-US" altLang="zh-CN" sz="18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synchronized </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 </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546024">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kern="1200" cap="none" normalizeH="0" baseline="0" dirty="0">
                          <a:ln>
                            <a:noFill/>
                          </a:ln>
                          <a:solidFill>
                            <a:srgbClr val="7030A0"/>
                          </a:solidFill>
                          <a:effectLst/>
                          <a:latin typeface="Courier New" panose="02070309020205020404" pitchFamily="49" charset="0"/>
                          <a:ea typeface="宋体" panose="02010600030101010101" pitchFamily="2" charset="-122"/>
                          <a:cs typeface="Courier New" panose="02070309020205020404" pitchFamily="49" charset="0"/>
                        </a:rPr>
                        <a:t>continue </a:t>
                      </a: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err="1">
                          <a:ln>
                            <a:noFill/>
                          </a:ln>
                          <a:solidFill>
                            <a:schemeClr val="bg2">
                              <a:lumMod val="60000"/>
                              <a:lumOff val="40000"/>
                            </a:schemeClr>
                          </a:solidFill>
                          <a:effectLst/>
                          <a:latin typeface="Courier New" panose="02070309020205020404" pitchFamily="49" charset="0"/>
                          <a:ea typeface="宋体" panose="02010600030101010101" pitchFamily="2" charset="-122"/>
                          <a:cs typeface="Courier New" panose="02070309020205020404" pitchFamily="49" charset="0"/>
                        </a:rPr>
                        <a:t>goto</a:t>
                      </a:r>
                      <a:r>
                        <a:rPr kumimoji="0" lang="en-US" altLang="zh-CN" sz="18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kern="1200" cap="none" normalizeH="0" baseline="0" dirty="0">
                          <a:ln>
                            <a:noFill/>
                          </a:ln>
                          <a:solidFill>
                            <a:srgbClr val="0000CC"/>
                          </a:solidFill>
                          <a:effectLst/>
                          <a:latin typeface="Courier New" panose="02070309020205020404" pitchFamily="49" charset="0"/>
                          <a:ea typeface="宋体" panose="02010600030101010101" pitchFamily="2" charset="-122"/>
                          <a:cs typeface="Courier New" panose="02070309020205020404" pitchFamily="49" charset="0"/>
                        </a:rPr>
                        <a:t>package </a:t>
                      </a: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kern="1200" cap="none" normalizeH="0" baseline="0" dirty="0">
                          <a:ln>
                            <a:noFill/>
                          </a:ln>
                          <a:solidFill>
                            <a:srgbClr val="FF0000"/>
                          </a:solidFill>
                          <a:effectLst/>
                          <a:latin typeface="Courier New" panose="02070309020205020404" pitchFamily="49" charset="0"/>
                          <a:ea typeface="宋体" panose="02010600030101010101" pitchFamily="2" charset="-122"/>
                          <a:cs typeface="Courier New" panose="02070309020205020404" pitchFamily="49" charset="0"/>
                        </a:rPr>
                        <a:t>this </a:t>
                      </a: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 </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4" marB="45714"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191694939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afterEffect">
                                  <p:stCondLst>
                                    <p:cond delay="0"/>
                                  </p:stCondLst>
                                  <p:childTnLst>
                                    <p:set>
                                      <p:cBhvr>
                                        <p:cTn id="6" dur="1" fill="hold">
                                          <p:stCondLst>
                                            <p:cond delay="0"/>
                                          </p:stCondLst>
                                        </p:cTn>
                                        <p:tgtEl>
                                          <p:spTgt spid="351307"/>
                                        </p:tgtEl>
                                        <p:attrNameLst>
                                          <p:attrName>style.visibility</p:attrName>
                                        </p:attrNameLst>
                                      </p:cBhvr>
                                      <p:to>
                                        <p:strVal val="visible"/>
                                      </p:to>
                                    </p:set>
                                    <p:animEffect transition="in" filter="fade">
                                      <p:cBhvr>
                                        <p:cTn id="7" dur="2000"/>
                                        <p:tgtEl>
                                          <p:spTgt spid="3513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A1EC5ED6-C963-45FF-94C7-E3690E7804D0}"/>
              </a:ext>
            </a:extLst>
          </p:cNvPr>
          <p:cNvSpPr>
            <a:spLocks noGrp="1" noChangeArrowheads="1"/>
          </p:cNvSpPr>
          <p:nvPr>
            <p:ph type="title"/>
          </p:nvPr>
        </p:nvSpPr>
        <p:spPr>
          <a:xfrm>
            <a:off x="457200" y="332656"/>
            <a:ext cx="8229600" cy="1143000"/>
          </a:xfrm>
        </p:spPr>
        <p:txBody>
          <a:bodyPr/>
          <a:lstStyle/>
          <a:p>
            <a:pPr eaLnBrk="1" hangingPunct="1"/>
            <a:r>
              <a:rPr lang="en-US" altLang="zh-CN" sz="4000" baseline="0">
                <a:solidFill>
                  <a:srgbClr val="FF0066"/>
                </a:solidFill>
                <a:latin typeface="Times New Roman" panose="02020603050405020304" pitchFamily="18" charset="0"/>
                <a:ea typeface="楷体-简" panose="02010600040101010101" pitchFamily="2" charset="-122"/>
              </a:rPr>
              <a:t>2.3  </a:t>
            </a:r>
            <a:r>
              <a:rPr lang="zh-CN" altLang="en-US" sz="4000" baseline="0">
                <a:solidFill>
                  <a:srgbClr val="FF0066"/>
                </a:solidFill>
                <a:latin typeface="Times New Roman" panose="02020603050405020304" pitchFamily="18" charset="0"/>
                <a:ea typeface="楷体-简" panose="02010600040101010101" pitchFamily="2" charset="-122"/>
              </a:rPr>
              <a:t>数据类型概述</a:t>
            </a:r>
          </a:p>
        </p:txBody>
      </p:sp>
      <p:sp>
        <p:nvSpPr>
          <p:cNvPr id="11267" name="Rectangle 3">
            <a:extLst>
              <a:ext uri="{FF2B5EF4-FFF2-40B4-BE49-F238E27FC236}">
                <a16:creationId xmlns:a16="http://schemas.microsoft.com/office/drawing/2014/main" id="{FF451ED1-BBA8-4CF3-A66B-CECD291F6AB4}"/>
              </a:ext>
            </a:extLst>
          </p:cNvPr>
          <p:cNvSpPr>
            <a:spLocks noGrp="1" noChangeArrowheads="1"/>
          </p:cNvSpPr>
          <p:nvPr>
            <p:ph type="body" idx="1"/>
          </p:nvPr>
        </p:nvSpPr>
        <p:spPr>
          <a:xfrm>
            <a:off x="179388" y="1600200"/>
            <a:ext cx="7993012" cy="4525963"/>
          </a:xfrm>
        </p:spPr>
        <p:txBody>
          <a:bodyPr/>
          <a:lstStyle/>
          <a:p>
            <a:pPr eaLnBrk="1" hangingPunct="1">
              <a:lnSpc>
                <a:spcPct val="90000"/>
              </a:lnSpc>
              <a:buFontTx/>
              <a:buNone/>
            </a:pPr>
            <a:r>
              <a:rPr lang="en-US" altLang="zh-CN" sz="2400" b="1" baseline="0" dirty="0">
                <a:solidFill>
                  <a:srgbClr val="FF0066"/>
                </a:solidFill>
                <a:latin typeface="Times New Roman" panose="02020603050405020304" pitchFamily="18" charset="0"/>
                <a:ea typeface="楷体-简" panose="02010600040101010101" pitchFamily="2" charset="-122"/>
              </a:rPr>
              <a:t>1</a:t>
            </a:r>
            <a:r>
              <a:rPr lang="zh-CN" altLang="en-US" sz="2400" b="1" baseline="0" dirty="0">
                <a:solidFill>
                  <a:srgbClr val="FF0066"/>
                </a:solidFill>
                <a:latin typeface="Times New Roman" panose="02020603050405020304" pitchFamily="18" charset="0"/>
                <a:ea typeface="楷体-简" panose="02010600040101010101" pitchFamily="2" charset="-122"/>
              </a:rPr>
              <a:t>． </a:t>
            </a:r>
            <a:r>
              <a:rPr lang="en-US" altLang="zh-CN" sz="2400" b="1" baseline="0" dirty="0">
                <a:solidFill>
                  <a:srgbClr val="FF0066"/>
                </a:solidFill>
                <a:latin typeface="Times New Roman" panose="02020603050405020304" pitchFamily="18" charset="0"/>
                <a:ea typeface="楷体-简" panose="02010600040101010101" pitchFamily="2" charset="-122"/>
              </a:rPr>
              <a:t>Java</a:t>
            </a:r>
            <a:r>
              <a:rPr lang="zh-CN" altLang="en-US" sz="2400" b="1" baseline="0" dirty="0">
                <a:solidFill>
                  <a:srgbClr val="FF0066"/>
                </a:solidFill>
                <a:latin typeface="Times New Roman" panose="02020603050405020304" pitchFamily="18" charset="0"/>
                <a:ea typeface="楷体-简" panose="02010600040101010101" pitchFamily="2" charset="-122"/>
              </a:rPr>
              <a:t>中的数据类型划分</a:t>
            </a:r>
          </a:p>
          <a:p>
            <a:pPr eaLnBrk="1" hangingPunct="1">
              <a:lnSpc>
                <a:spcPct val="90000"/>
              </a:lnSpc>
              <a:buFontTx/>
              <a:buNone/>
            </a:pPr>
            <a:r>
              <a:rPr lang="en-US" altLang="zh-CN" sz="2400" b="1" baseline="0" dirty="0">
                <a:latin typeface="Times New Roman" panose="02020603050405020304" pitchFamily="18" charset="0"/>
                <a:ea typeface="楷体-简" panose="02010600040101010101" pitchFamily="2" charset="-122"/>
              </a:rPr>
              <a:t> Java</a:t>
            </a:r>
            <a:r>
              <a:rPr lang="zh-CN" altLang="en-US" sz="2400" b="1" baseline="0" dirty="0">
                <a:latin typeface="Times New Roman" panose="02020603050405020304" pitchFamily="18" charset="0"/>
                <a:ea typeface="楷体-简" panose="02010600040101010101" pitchFamily="2" charset="-122"/>
              </a:rPr>
              <a:t>语言的数据类型有</a:t>
            </a:r>
            <a:r>
              <a:rPr lang="zh-CN" altLang="en-US" sz="2400" b="1" baseline="0" dirty="0">
                <a:solidFill>
                  <a:srgbClr val="0000CC"/>
                </a:solidFill>
                <a:latin typeface="Times New Roman" panose="02020603050405020304" pitchFamily="18" charset="0"/>
                <a:ea typeface="楷体-简" panose="02010600040101010101" pitchFamily="2" charset="-122"/>
              </a:rPr>
              <a:t>基本数据类型</a:t>
            </a:r>
            <a:r>
              <a:rPr lang="zh-CN" altLang="en-US" sz="2400" b="1" baseline="0" dirty="0">
                <a:latin typeface="Times New Roman" panose="02020603050405020304" pitchFamily="18" charset="0"/>
                <a:ea typeface="楷体-简" panose="02010600040101010101" pitchFamily="2" charset="-122"/>
              </a:rPr>
              <a:t>和</a:t>
            </a:r>
            <a:r>
              <a:rPr lang="zh-CN" altLang="en-US" sz="2400" b="1" baseline="0" dirty="0">
                <a:solidFill>
                  <a:srgbClr val="0000CC"/>
                </a:solidFill>
                <a:latin typeface="Times New Roman" panose="02020603050405020304" pitchFamily="18" charset="0"/>
                <a:ea typeface="楷体-简" panose="02010600040101010101" pitchFamily="2" charset="-122"/>
              </a:rPr>
              <a:t>引用数据类型</a:t>
            </a:r>
            <a:r>
              <a:rPr lang="zh-CN" altLang="en-US" sz="2400" b="1" baseline="0" dirty="0">
                <a:latin typeface="Times New Roman" panose="02020603050405020304" pitchFamily="18" charset="0"/>
                <a:ea typeface="楷体-简" panose="02010600040101010101" pitchFamily="2" charset="-122"/>
              </a:rPr>
              <a:t>：</a:t>
            </a:r>
          </a:p>
          <a:p>
            <a:pPr eaLnBrk="1" hangingPunct="1">
              <a:lnSpc>
                <a:spcPct val="90000"/>
              </a:lnSpc>
              <a:buFontTx/>
              <a:buNone/>
            </a:pPr>
            <a:endParaRPr lang="zh-CN" altLang="en-US" sz="2400" b="1" baseline="0" dirty="0">
              <a:latin typeface="Times New Roman" panose="02020603050405020304" pitchFamily="18" charset="0"/>
              <a:ea typeface="楷体-简" panose="02010600040101010101" pitchFamily="2" charset="-122"/>
            </a:endParaRPr>
          </a:p>
          <a:p>
            <a:pPr eaLnBrk="1" hangingPunct="1">
              <a:lnSpc>
                <a:spcPct val="90000"/>
              </a:lnSpc>
              <a:buFont typeface="Wingdings" panose="05000000000000000000" pitchFamily="2" charset="2"/>
              <a:buChar char="Ø"/>
            </a:pPr>
            <a:r>
              <a:rPr lang="zh-CN" altLang="en-US" sz="2400" b="1" baseline="0" dirty="0">
                <a:latin typeface="Times New Roman" panose="02020603050405020304" pitchFamily="18" charset="0"/>
                <a:ea typeface="楷体-简" panose="02010600040101010101" pitchFamily="2" charset="-122"/>
              </a:rPr>
              <a:t>基本数据类型</a:t>
            </a:r>
            <a:r>
              <a:rPr lang="en-US" altLang="zh-CN" sz="2400" b="1" baseline="0" dirty="0">
                <a:latin typeface="Times New Roman" panose="02020603050405020304" pitchFamily="18" charset="0"/>
                <a:ea typeface="楷体-简" panose="02010600040101010101" pitchFamily="2" charset="-122"/>
              </a:rPr>
              <a:t>(primitive type)</a:t>
            </a:r>
            <a:r>
              <a:rPr lang="zh-CN" altLang="en-US" sz="2400" b="1" baseline="0" dirty="0">
                <a:latin typeface="Times New Roman" panose="02020603050405020304" pitchFamily="18" charset="0"/>
                <a:ea typeface="楷体-简" panose="02010600040101010101" pitchFamily="2" charset="-122"/>
              </a:rPr>
              <a:t>也称作简单数据类型，包括：</a:t>
            </a:r>
          </a:p>
          <a:p>
            <a:pPr eaLnBrk="1" hangingPunct="1">
              <a:lnSpc>
                <a:spcPct val="90000"/>
              </a:lnSpc>
              <a:buSzPct val="80000"/>
              <a:buFont typeface="Wingdings" panose="05000000000000000000" pitchFamily="2" charset="2"/>
              <a:buNone/>
            </a:pPr>
            <a:r>
              <a:rPr lang="zh-CN" altLang="en-US" sz="2400" b="1" baseline="0" dirty="0">
                <a:latin typeface="Times New Roman" panose="02020603050405020304" pitchFamily="18" charset="0"/>
                <a:ea typeface="楷体-简" panose="02010600040101010101" pitchFamily="2" charset="-122"/>
              </a:rPr>
              <a:t>          逻辑类型：</a:t>
            </a:r>
            <a:r>
              <a:rPr lang="en-US" altLang="zh-CN" sz="2400" b="1" baseline="0" dirty="0" err="1">
                <a:latin typeface="Times New Roman" panose="02020603050405020304" pitchFamily="18" charset="0"/>
                <a:ea typeface="楷体-简" panose="02010600040101010101" pitchFamily="2" charset="-122"/>
              </a:rPr>
              <a:t>boolean</a:t>
            </a:r>
            <a:endParaRPr lang="en-US" altLang="zh-CN" sz="2400" b="1" baseline="0" dirty="0">
              <a:latin typeface="Times New Roman" panose="02020603050405020304" pitchFamily="18" charset="0"/>
              <a:ea typeface="楷体-简" panose="02010600040101010101" pitchFamily="2" charset="-122"/>
            </a:endParaRPr>
          </a:p>
          <a:p>
            <a:pPr eaLnBrk="1" hangingPunct="1">
              <a:lnSpc>
                <a:spcPct val="90000"/>
              </a:lnSpc>
              <a:buSzPct val="80000"/>
              <a:buFont typeface="Wingdings" panose="05000000000000000000" pitchFamily="2" charset="2"/>
              <a:buNone/>
            </a:pPr>
            <a:r>
              <a:rPr lang="en-US" altLang="zh-CN" sz="2400" b="1" baseline="0" dirty="0">
                <a:latin typeface="Times New Roman" panose="02020603050405020304" pitchFamily="18" charset="0"/>
                <a:ea typeface="楷体-简" panose="02010600040101010101" pitchFamily="2" charset="-122"/>
              </a:rPr>
              <a:t>          </a:t>
            </a:r>
            <a:r>
              <a:rPr lang="zh-CN" altLang="en-US" sz="2400" b="1" baseline="0" dirty="0">
                <a:latin typeface="Times New Roman" panose="02020603050405020304" pitchFamily="18" charset="0"/>
                <a:ea typeface="楷体-简" panose="02010600040101010101" pitchFamily="2" charset="-122"/>
              </a:rPr>
              <a:t>字符类型：</a:t>
            </a:r>
            <a:r>
              <a:rPr lang="en-US" altLang="zh-CN" sz="2400" b="1" baseline="0" dirty="0">
                <a:latin typeface="Times New Roman" panose="02020603050405020304" pitchFamily="18" charset="0"/>
                <a:ea typeface="楷体-简" panose="02010600040101010101" pitchFamily="2" charset="-122"/>
              </a:rPr>
              <a:t>char</a:t>
            </a:r>
          </a:p>
          <a:p>
            <a:pPr eaLnBrk="1" hangingPunct="1">
              <a:lnSpc>
                <a:spcPct val="90000"/>
              </a:lnSpc>
              <a:buSzPct val="80000"/>
              <a:buFont typeface="Wingdings" panose="05000000000000000000" pitchFamily="2" charset="2"/>
              <a:buNone/>
            </a:pPr>
            <a:r>
              <a:rPr lang="en-US" altLang="zh-CN" sz="2400" b="1" baseline="0" dirty="0">
                <a:latin typeface="Times New Roman" panose="02020603050405020304" pitchFamily="18" charset="0"/>
                <a:ea typeface="楷体-简" panose="02010600040101010101" pitchFamily="2" charset="-122"/>
              </a:rPr>
              <a:t>          </a:t>
            </a:r>
            <a:r>
              <a:rPr lang="zh-CN" altLang="en-US" sz="2400" b="1" baseline="0" dirty="0">
                <a:latin typeface="Times New Roman" panose="02020603050405020304" pitchFamily="18" charset="0"/>
                <a:ea typeface="楷体-简" panose="02010600040101010101" pitchFamily="2" charset="-122"/>
              </a:rPr>
              <a:t>整数类型：</a:t>
            </a:r>
            <a:r>
              <a:rPr lang="en-US" altLang="zh-CN" sz="2400" b="1" baseline="0" dirty="0">
                <a:latin typeface="Times New Roman" panose="02020603050405020304" pitchFamily="18" charset="0"/>
                <a:ea typeface="楷体-简" panose="02010600040101010101" pitchFamily="2" charset="-122"/>
              </a:rPr>
              <a:t>byte</a:t>
            </a:r>
            <a:r>
              <a:rPr lang="zh-CN" altLang="en-US" sz="2400" b="1" baseline="0" dirty="0">
                <a:latin typeface="Times New Roman" panose="02020603050405020304" pitchFamily="18" charset="0"/>
                <a:ea typeface="楷体-简" panose="02010600040101010101" pitchFamily="2" charset="-122"/>
              </a:rPr>
              <a:t>、</a:t>
            </a:r>
            <a:r>
              <a:rPr lang="en-US" altLang="zh-CN" sz="2400" b="1" baseline="0" dirty="0">
                <a:latin typeface="Times New Roman" panose="02020603050405020304" pitchFamily="18" charset="0"/>
                <a:ea typeface="楷体-简" panose="02010600040101010101" pitchFamily="2" charset="-122"/>
              </a:rPr>
              <a:t>short</a:t>
            </a:r>
            <a:r>
              <a:rPr lang="zh-CN" altLang="en-US" sz="2400" b="1" baseline="0" dirty="0">
                <a:latin typeface="Times New Roman" panose="02020603050405020304" pitchFamily="18" charset="0"/>
                <a:ea typeface="楷体-简" panose="02010600040101010101" pitchFamily="2" charset="-122"/>
              </a:rPr>
              <a:t>、</a:t>
            </a:r>
            <a:r>
              <a:rPr lang="en-US" altLang="zh-CN" sz="2400" b="1" baseline="0" dirty="0">
                <a:latin typeface="Times New Roman" panose="02020603050405020304" pitchFamily="18" charset="0"/>
                <a:ea typeface="楷体-简" panose="02010600040101010101" pitchFamily="2" charset="-122"/>
              </a:rPr>
              <a:t>int</a:t>
            </a:r>
            <a:r>
              <a:rPr lang="zh-CN" altLang="en-US" sz="2400" b="1" baseline="0" dirty="0">
                <a:latin typeface="Times New Roman" panose="02020603050405020304" pitchFamily="18" charset="0"/>
                <a:ea typeface="楷体-简" panose="02010600040101010101" pitchFamily="2" charset="-122"/>
              </a:rPr>
              <a:t>、</a:t>
            </a:r>
            <a:r>
              <a:rPr lang="en-US" altLang="zh-CN" sz="2400" b="1" baseline="0" dirty="0">
                <a:latin typeface="Times New Roman" panose="02020603050405020304" pitchFamily="18" charset="0"/>
                <a:ea typeface="楷体-简" panose="02010600040101010101" pitchFamily="2" charset="-122"/>
              </a:rPr>
              <a:t>long</a:t>
            </a:r>
          </a:p>
          <a:p>
            <a:pPr eaLnBrk="1" hangingPunct="1">
              <a:lnSpc>
                <a:spcPct val="90000"/>
              </a:lnSpc>
              <a:buSzPct val="80000"/>
              <a:buFont typeface="Wingdings" panose="05000000000000000000" pitchFamily="2" charset="2"/>
              <a:buNone/>
            </a:pPr>
            <a:r>
              <a:rPr lang="en-US" altLang="zh-CN" sz="2400" b="1" baseline="0" dirty="0">
                <a:latin typeface="Times New Roman" panose="02020603050405020304" pitchFamily="18" charset="0"/>
                <a:ea typeface="楷体-简" panose="02010600040101010101" pitchFamily="2" charset="-122"/>
              </a:rPr>
              <a:t>          </a:t>
            </a:r>
            <a:r>
              <a:rPr lang="zh-CN" altLang="en-US" sz="2400" b="1" baseline="0" dirty="0">
                <a:latin typeface="Times New Roman" panose="02020603050405020304" pitchFamily="18" charset="0"/>
                <a:ea typeface="楷体-简" panose="02010600040101010101" pitchFamily="2" charset="-122"/>
              </a:rPr>
              <a:t>浮点类型：</a:t>
            </a:r>
            <a:r>
              <a:rPr lang="en-US" altLang="zh-CN" sz="2400" b="1" baseline="0" dirty="0">
                <a:latin typeface="Times New Roman" panose="02020603050405020304" pitchFamily="18" charset="0"/>
                <a:ea typeface="楷体-简" panose="02010600040101010101" pitchFamily="2" charset="-122"/>
              </a:rPr>
              <a:t>float</a:t>
            </a:r>
            <a:r>
              <a:rPr lang="zh-CN" altLang="en-US" sz="2400" b="1" baseline="0" dirty="0">
                <a:latin typeface="Times New Roman" panose="02020603050405020304" pitchFamily="18" charset="0"/>
                <a:ea typeface="楷体-简" panose="02010600040101010101" pitchFamily="2" charset="-122"/>
              </a:rPr>
              <a:t>、</a:t>
            </a:r>
            <a:r>
              <a:rPr lang="en-US" altLang="zh-CN" sz="2400" b="1" baseline="0" dirty="0">
                <a:latin typeface="Times New Roman" panose="02020603050405020304" pitchFamily="18" charset="0"/>
                <a:ea typeface="楷体-简" panose="02010600040101010101" pitchFamily="2" charset="-122"/>
              </a:rPr>
              <a:t>double</a:t>
            </a:r>
          </a:p>
          <a:p>
            <a:pPr eaLnBrk="1" hangingPunct="1">
              <a:lnSpc>
                <a:spcPct val="90000"/>
              </a:lnSpc>
              <a:buSzPct val="80000"/>
              <a:buFont typeface="Wingdings" panose="05000000000000000000" pitchFamily="2" charset="2"/>
              <a:buNone/>
            </a:pPr>
            <a:endParaRPr lang="en-US" altLang="zh-CN" sz="2400" b="1" baseline="0" dirty="0">
              <a:latin typeface="Times New Roman" panose="02020603050405020304" pitchFamily="18" charset="0"/>
              <a:ea typeface="楷体-简" panose="02010600040101010101" pitchFamily="2" charset="-122"/>
            </a:endParaRPr>
          </a:p>
          <a:p>
            <a:pPr eaLnBrk="1" hangingPunct="1">
              <a:lnSpc>
                <a:spcPct val="90000"/>
              </a:lnSpc>
              <a:buSzPct val="80000"/>
              <a:buFont typeface="Wingdings" panose="05000000000000000000" pitchFamily="2" charset="2"/>
              <a:buChar char="Ø"/>
            </a:pPr>
            <a:r>
              <a:rPr lang="zh-CN" altLang="en-US" sz="2400" b="1" baseline="0" dirty="0">
                <a:latin typeface="Times New Roman" panose="02020603050405020304" pitchFamily="18" charset="0"/>
                <a:ea typeface="楷体-简" panose="02010600040101010101" pitchFamily="2" charset="-122"/>
              </a:rPr>
              <a:t>引用数据类型</a:t>
            </a:r>
            <a:r>
              <a:rPr lang="en-US" altLang="zh-CN" sz="2400" b="1" baseline="0" dirty="0">
                <a:latin typeface="Times New Roman" panose="02020603050405020304" pitchFamily="18" charset="0"/>
                <a:ea typeface="楷体-简" panose="02010600040101010101" pitchFamily="2" charset="-122"/>
              </a:rPr>
              <a:t>(reference type)</a:t>
            </a:r>
            <a:r>
              <a:rPr lang="zh-CN" altLang="en-US" sz="2400" b="1" baseline="0" dirty="0">
                <a:latin typeface="Times New Roman" panose="02020603050405020304" pitchFamily="18" charset="0"/>
                <a:ea typeface="楷体-简" panose="02010600040101010101" pitchFamily="2" charset="-122"/>
              </a:rPr>
              <a:t>也称作对象数据类型</a:t>
            </a:r>
            <a:r>
              <a:rPr lang="en-US" altLang="zh-CN" sz="2400" b="1" baseline="0" dirty="0">
                <a:latin typeface="Times New Roman" panose="02020603050405020304" pitchFamily="18" charset="0"/>
                <a:ea typeface="楷体-简" panose="02010600040101010101" pitchFamily="2" charset="-122"/>
              </a:rPr>
              <a:t>,</a:t>
            </a:r>
            <a:r>
              <a:rPr lang="zh-CN" altLang="en-US" sz="2400" b="1" baseline="0" dirty="0">
                <a:latin typeface="Times New Roman" panose="02020603050405020304" pitchFamily="18" charset="0"/>
                <a:ea typeface="楷体-简" panose="02010600040101010101" pitchFamily="2" charset="-122"/>
              </a:rPr>
              <a:t>包括：</a:t>
            </a:r>
          </a:p>
          <a:p>
            <a:pPr lvl="3" eaLnBrk="1" hangingPunct="1">
              <a:lnSpc>
                <a:spcPct val="90000"/>
              </a:lnSpc>
              <a:buSzPct val="80000"/>
              <a:buFont typeface="Wingdings" panose="05000000000000000000" pitchFamily="2" charset="2"/>
              <a:buNone/>
            </a:pPr>
            <a:r>
              <a:rPr lang="zh-CN" altLang="en-US" sz="2400" b="1" baseline="0" dirty="0">
                <a:latin typeface="Times New Roman" panose="02020603050405020304" pitchFamily="18" charset="0"/>
                <a:ea typeface="楷体-简" panose="02010600040101010101" pitchFamily="2" charset="-122"/>
              </a:rPr>
              <a:t>类、接口、数组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1458" name="Group 2">
            <a:extLst>
              <a:ext uri="{FF2B5EF4-FFF2-40B4-BE49-F238E27FC236}">
                <a16:creationId xmlns:a16="http://schemas.microsoft.com/office/drawing/2014/main" id="{C788FC9C-7BCA-41AC-A870-980DBCB88376}"/>
              </a:ext>
            </a:extLst>
          </p:cNvPr>
          <p:cNvGrpSpPr>
            <a:grpSpLocks noChangeAspect="1"/>
          </p:cNvGrpSpPr>
          <p:nvPr/>
        </p:nvGrpSpPr>
        <p:grpSpPr bwMode="auto">
          <a:xfrm>
            <a:off x="755650" y="873125"/>
            <a:ext cx="7632700" cy="5111750"/>
            <a:chOff x="2220" y="1518"/>
            <a:chExt cx="8340" cy="3900"/>
          </a:xfrm>
        </p:grpSpPr>
        <p:sp>
          <p:nvSpPr>
            <p:cNvPr id="13315" name="AutoShape 3" descr="白色大理石">
              <a:extLst>
                <a:ext uri="{FF2B5EF4-FFF2-40B4-BE49-F238E27FC236}">
                  <a16:creationId xmlns:a16="http://schemas.microsoft.com/office/drawing/2014/main" id="{A9481433-67DA-49CC-999B-EF468EDF80F7}"/>
                </a:ext>
              </a:extLst>
            </p:cNvPr>
            <p:cNvSpPr>
              <a:spLocks noChangeAspect="1" noChangeArrowheads="1"/>
            </p:cNvSpPr>
            <p:nvPr/>
          </p:nvSpPr>
          <p:spPr bwMode="auto">
            <a:xfrm>
              <a:off x="2220" y="1518"/>
              <a:ext cx="8340" cy="3900"/>
            </a:xfrm>
            <a:prstGeom prst="rect">
              <a:avLst/>
            </a:prstGeom>
            <a:blipFill dpi="0" rotWithShape="1">
              <a:blip r:embed="rId2"/>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900">
                <a:solidFill>
                  <a:srgbClr val="008000"/>
                </a:solidFill>
                <a:latin typeface="Lucida Console" panose="020B0609040504020204" pitchFamily="49" charset="0"/>
              </a:endParaRPr>
            </a:p>
          </p:txBody>
        </p:sp>
        <p:sp>
          <p:nvSpPr>
            <p:cNvPr id="13316" name="AutoShape 4">
              <a:extLst>
                <a:ext uri="{FF2B5EF4-FFF2-40B4-BE49-F238E27FC236}">
                  <a16:creationId xmlns:a16="http://schemas.microsoft.com/office/drawing/2014/main" id="{8B413ACC-5522-4439-B648-A2E5930744FE}"/>
                </a:ext>
              </a:extLst>
            </p:cNvPr>
            <p:cNvSpPr>
              <a:spLocks noChangeArrowheads="1"/>
            </p:cNvSpPr>
            <p:nvPr/>
          </p:nvSpPr>
          <p:spPr bwMode="auto">
            <a:xfrm>
              <a:off x="2400" y="1674"/>
              <a:ext cx="5940" cy="3588"/>
            </a:xfrm>
            <a:prstGeom prst="triangle">
              <a:avLst>
                <a:gd name="adj" fmla="val 50000"/>
              </a:avLst>
            </a:prstGeom>
            <a:gradFill rotWithShape="1">
              <a:gsLst>
                <a:gs pos="0">
                  <a:srgbClr val="FFFFFF"/>
                </a:gs>
                <a:gs pos="100000">
                  <a:srgbClr val="C0C0C0"/>
                </a:gs>
              </a:gsLst>
              <a:lin ang="5400000" scaled="1"/>
            </a:gradFill>
            <a:ln w="57150" cmpd="thinThick"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900">
                <a:solidFill>
                  <a:srgbClr val="008000"/>
                </a:solidFill>
                <a:latin typeface="Lucida Console" panose="020B0609040504020204" pitchFamily="49" charset="0"/>
              </a:endParaRPr>
            </a:p>
          </p:txBody>
        </p:sp>
        <p:sp>
          <p:nvSpPr>
            <p:cNvPr id="13317" name="Text Box 5">
              <a:extLst>
                <a:ext uri="{FF2B5EF4-FFF2-40B4-BE49-F238E27FC236}">
                  <a16:creationId xmlns:a16="http://schemas.microsoft.com/office/drawing/2014/main" id="{4FD39475-92FF-4EE1-9099-CD9C8BE26A8F}"/>
                </a:ext>
              </a:extLst>
            </p:cNvPr>
            <p:cNvSpPr txBox="1">
              <a:spLocks noChangeArrowheads="1"/>
            </p:cNvSpPr>
            <p:nvPr/>
          </p:nvSpPr>
          <p:spPr bwMode="auto">
            <a:xfrm>
              <a:off x="4380" y="3858"/>
              <a:ext cx="2160" cy="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zh-CN" altLang="en-US" sz="1400" b="0">
                  <a:latin typeface="Times New Roman" panose="02020603050405020304" pitchFamily="18" charset="0"/>
                </a:rPr>
                <a:t>整数、字符、布尔、实数</a:t>
              </a:r>
              <a:endParaRPr lang="zh-CN" altLang="en-US" sz="2800" b="0">
                <a:latin typeface="Verdana" panose="020B0604030504040204" pitchFamily="34" charset="0"/>
              </a:endParaRPr>
            </a:p>
          </p:txBody>
        </p:sp>
        <p:sp>
          <p:nvSpPr>
            <p:cNvPr id="13318" name="Text Box 6">
              <a:extLst>
                <a:ext uri="{FF2B5EF4-FFF2-40B4-BE49-F238E27FC236}">
                  <a16:creationId xmlns:a16="http://schemas.microsoft.com/office/drawing/2014/main" id="{F603371A-B167-4769-B8A5-F97BCEEE0BF9}"/>
                </a:ext>
              </a:extLst>
            </p:cNvPr>
            <p:cNvSpPr txBox="1">
              <a:spLocks noChangeArrowheads="1"/>
            </p:cNvSpPr>
            <p:nvPr/>
          </p:nvSpPr>
          <p:spPr bwMode="auto">
            <a:xfrm>
              <a:off x="4920" y="2610"/>
              <a:ext cx="900" cy="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zh-CN" altLang="en-US" sz="1400" b="0">
                  <a:latin typeface="Times New Roman" panose="02020603050405020304" pitchFamily="18" charset="0"/>
                </a:rPr>
                <a:t>类、接口</a:t>
              </a:r>
              <a:endParaRPr lang="zh-CN" altLang="en-US" sz="2800" b="0">
                <a:latin typeface="Verdana" panose="020B0604030504040204" pitchFamily="34" charset="0"/>
              </a:endParaRPr>
            </a:p>
          </p:txBody>
        </p:sp>
        <p:sp>
          <p:nvSpPr>
            <p:cNvPr id="13319" name="Text Box 7">
              <a:extLst>
                <a:ext uri="{FF2B5EF4-FFF2-40B4-BE49-F238E27FC236}">
                  <a16:creationId xmlns:a16="http://schemas.microsoft.com/office/drawing/2014/main" id="{0C12E2EC-7D46-43EA-A080-63107F09849F}"/>
                </a:ext>
              </a:extLst>
            </p:cNvPr>
            <p:cNvSpPr txBox="1">
              <a:spLocks noChangeArrowheads="1"/>
            </p:cNvSpPr>
            <p:nvPr/>
          </p:nvSpPr>
          <p:spPr bwMode="auto">
            <a:xfrm>
              <a:off x="4920" y="4638"/>
              <a:ext cx="1260" cy="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zh-CN" altLang="en-US" sz="1400" b="0">
                  <a:latin typeface="Times New Roman" panose="02020603050405020304" pitchFamily="18" charset="0"/>
                </a:rPr>
                <a:t>字、字节、位</a:t>
              </a:r>
              <a:endParaRPr lang="zh-CN" altLang="en-US" sz="2800" b="0">
                <a:latin typeface="Verdana" panose="020B0604030504040204" pitchFamily="34" charset="0"/>
              </a:endParaRPr>
            </a:p>
          </p:txBody>
        </p:sp>
        <p:sp>
          <p:nvSpPr>
            <p:cNvPr id="13320" name="Text Box 8">
              <a:extLst>
                <a:ext uri="{FF2B5EF4-FFF2-40B4-BE49-F238E27FC236}">
                  <a16:creationId xmlns:a16="http://schemas.microsoft.com/office/drawing/2014/main" id="{88BCEAB6-62CD-4021-BC0E-7BB1D71A8023}"/>
                </a:ext>
              </a:extLst>
            </p:cNvPr>
            <p:cNvSpPr txBox="1">
              <a:spLocks noChangeArrowheads="1"/>
            </p:cNvSpPr>
            <p:nvPr/>
          </p:nvSpPr>
          <p:spPr bwMode="auto">
            <a:xfrm>
              <a:off x="4560" y="3078"/>
              <a:ext cx="1620" cy="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zh-CN" altLang="en-US" sz="1400" b="0">
                  <a:latin typeface="Times New Roman" panose="02020603050405020304" pitchFamily="18" charset="0"/>
                </a:rPr>
                <a:t>字符串、集合、数组</a:t>
              </a:r>
              <a:endParaRPr lang="zh-CN" altLang="en-US" sz="2800" b="0">
                <a:latin typeface="Verdana" panose="020B0604030504040204" pitchFamily="34" charset="0"/>
              </a:endParaRPr>
            </a:p>
          </p:txBody>
        </p:sp>
        <p:sp>
          <p:nvSpPr>
            <p:cNvPr id="13321" name="Line 9">
              <a:extLst>
                <a:ext uri="{FF2B5EF4-FFF2-40B4-BE49-F238E27FC236}">
                  <a16:creationId xmlns:a16="http://schemas.microsoft.com/office/drawing/2014/main" id="{629FA551-610F-463A-A127-A34BBD4C8EAF}"/>
                </a:ext>
              </a:extLst>
            </p:cNvPr>
            <p:cNvSpPr>
              <a:spLocks noChangeShapeType="1"/>
            </p:cNvSpPr>
            <p:nvPr/>
          </p:nvSpPr>
          <p:spPr bwMode="auto">
            <a:xfrm>
              <a:off x="3840" y="3546"/>
              <a:ext cx="3060" cy="1"/>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3322" name="Line 10">
              <a:extLst>
                <a:ext uri="{FF2B5EF4-FFF2-40B4-BE49-F238E27FC236}">
                  <a16:creationId xmlns:a16="http://schemas.microsoft.com/office/drawing/2014/main" id="{64C55937-9580-4B28-8C3F-C3BE349954C9}"/>
                </a:ext>
              </a:extLst>
            </p:cNvPr>
            <p:cNvSpPr>
              <a:spLocks noChangeShapeType="1"/>
            </p:cNvSpPr>
            <p:nvPr/>
          </p:nvSpPr>
          <p:spPr bwMode="auto">
            <a:xfrm>
              <a:off x="3120" y="4482"/>
              <a:ext cx="4500" cy="1"/>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3323" name="AutoShape 11">
              <a:extLst>
                <a:ext uri="{FF2B5EF4-FFF2-40B4-BE49-F238E27FC236}">
                  <a16:creationId xmlns:a16="http://schemas.microsoft.com/office/drawing/2014/main" id="{1B2E95E7-F2D2-4705-B3AB-5F5924A4E68C}"/>
                </a:ext>
              </a:extLst>
            </p:cNvPr>
            <p:cNvSpPr>
              <a:spLocks/>
            </p:cNvSpPr>
            <p:nvPr/>
          </p:nvSpPr>
          <p:spPr bwMode="auto">
            <a:xfrm>
              <a:off x="8340" y="3078"/>
              <a:ext cx="2040" cy="492"/>
            </a:xfrm>
            <a:prstGeom prst="borderCallout1">
              <a:avLst>
                <a:gd name="adj1" fmla="val 36583"/>
                <a:gd name="adj2" fmla="val -5884"/>
                <a:gd name="adj3" fmla="val 210977"/>
                <a:gd name="adj4" fmla="val -68384"/>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zh-CN" altLang="en-US" sz="2000" b="0">
                  <a:latin typeface="Times New Roman" panose="02020603050405020304" pitchFamily="18" charset="0"/>
                </a:rPr>
                <a:t>基本数据类型</a:t>
              </a:r>
              <a:endParaRPr lang="zh-CN" altLang="en-US" sz="3600" b="0">
                <a:latin typeface="Verdana" panose="020B0604030504040204" pitchFamily="34" charset="0"/>
              </a:endParaRPr>
            </a:p>
          </p:txBody>
        </p:sp>
        <p:sp>
          <p:nvSpPr>
            <p:cNvPr id="13324" name="AutoShape 12">
              <a:extLst>
                <a:ext uri="{FF2B5EF4-FFF2-40B4-BE49-F238E27FC236}">
                  <a16:creationId xmlns:a16="http://schemas.microsoft.com/office/drawing/2014/main" id="{254B347D-31D2-4D81-B865-046C7DD3A37D}"/>
                </a:ext>
              </a:extLst>
            </p:cNvPr>
            <p:cNvSpPr>
              <a:spLocks/>
            </p:cNvSpPr>
            <p:nvPr/>
          </p:nvSpPr>
          <p:spPr bwMode="auto">
            <a:xfrm>
              <a:off x="8340" y="4014"/>
              <a:ext cx="2040" cy="492"/>
            </a:xfrm>
            <a:prstGeom prst="borderCallout1">
              <a:avLst>
                <a:gd name="adj1" fmla="val 36583"/>
                <a:gd name="adj2" fmla="val -5884"/>
                <a:gd name="adj3" fmla="val 182315"/>
                <a:gd name="adj4" fmla="val -41912"/>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zh-CN" altLang="en-US" sz="2000" b="0">
                  <a:latin typeface="Times New Roman" panose="02020603050405020304" pitchFamily="18" charset="0"/>
                </a:rPr>
                <a:t>机器内部表示</a:t>
              </a:r>
              <a:endParaRPr lang="zh-CN" altLang="en-US" sz="3600" b="0">
                <a:latin typeface="Verdana" panose="020B0604030504040204" pitchFamily="34" charset="0"/>
              </a:endParaRPr>
            </a:p>
          </p:txBody>
        </p:sp>
        <p:sp>
          <p:nvSpPr>
            <p:cNvPr id="13325" name="AutoShape 13">
              <a:extLst>
                <a:ext uri="{FF2B5EF4-FFF2-40B4-BE49-F238E27FC236}">
                  <a16:creationId xmlns:a16="http://schemas.microsoft.com/office/drawing/2014/main" id="{38CDF83C-F67F-433C-9322-F255CC588DA0}"/>
                </a:ext>
              </a:extLst>
            </p:cNvPr>
            <p:cNvSpPr>
              <a:spLocks/>
            </p:cNvSpPr>
            <p:nvPr/>
          </p:nvSpPr>
          <p:spPr bwMode="auto">
            <a:xfrm>
              <a:off x="8340" y="2142"/>
              <a:ext cx="2040" cy="492"/>
            </a:xfrm>
            <a:prstGeom prst="borderCallout1">
              <a:avLst>
                <a:gd name="adj1" fmla="val 36583"/>
                <a:gd name="adj2" fmla="val -5884"/>
                <a:gd name="adj3" fmla="val 232315"/>
                <a:gd name="adj4" fmla="val -102204"/>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zh-CN" altLang="en-US" sz="2000" b="0">
                  <a:latin typeface="Times New Roman" panose="02020603050405020304" pitchFamily="18" charset="0"/>
                </a:rPr>
                <a:t>对象数据类型</a:t>
              </a:r>
              <a:endParaRPr lang="zh-CN" altLang="en-US" sz="3600" b="0">
                <a:latin typeface="Verdana" panose="020B0604030504040204" pitchFamily="34" charset="0"/>
              </a:endParaRPr>
            </a:p>
          </p:txBody>
        </p:sp>
        <p:sp>
          <p:nvSpPr>
            <p:cNvPr id="13326" name="AutoShape 14">
              <a:extLst>
                <a:ext uri="{FF2B5EF4-FFF2-40B4-BE49-F238E27FC236}">
                  <a16:creationId xmlns:a16="http://schemas.microsoft.com/office/drawing/2014/main" id="{50AE053C-BE3F-45B7-B165-65CC35702DDD}"/>
                </a:ext>
              </a:extLst>
            </p:cNvPr>
            <p:cNvSpPr>
              <a:spLocks noChangeArrowheads="1"/>
            </p:cNvSpPr>
            <p:nvPr/>
          </p:nvSpPr>
          <p:spPr bwMode="auto">
            <a:xfrm rot="-5400000">
              <a:off x="1752" y="2142"/>
              <a:ext cx="2340" cy="1404"/>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11796480 60000 65536"/>
                <a:gd name="T10" fmla="*/ 5898240 60000 65536"/>
                <a:gd name="T11" fmla="*/ 0 60000 65536"/>
                <a:gd name="T12" fmla="*/ 3378 w 21600"/>
                <a:gd name="T13" fmla="*/ 5400 h 21600"/>
                <a:gd name="T14" fmla="*/ 18905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eaVert"/>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531458"/>
                                        </p:tgtEl>
                                        <p:attrNameLst>
                                          <p:attrName>style.visibility</p:attrName>
                                        </p:attrNameLst>
                                      </p:cBhvr>
                                      <p:to>
                                        <p:strVal val="visible"/>
                                      </p:to>
                                    </p:set>
                                    <p:animEffect transition="in" filter="fade">
                                      <p:cBhvr>
                                        <p:cTn id="7" dur="2000"/>
                                        <p:tgtEl>
                                          <p:spTgt spid="5314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3">
            <a:extLst>
              <a:ext uri="{FF2B5EF4-FFF2-40B4-BE49-F238E27FC236}">
                <a16:creationId xmlns:a16="http://schemas.microsoft.com/office/drawing/2014/main" id="{E285404D-C83F-4A3E-B605-6C2EA0D07DFC}"/>
              </a:ext>
            </a:extLst>
          </p:cNvPr>
          <p:cNvSpPr>
            <a:spLocks noGrp="1" noChangeArrowheads="1"/>
          </p:cNvSpPr>
          <p:nvPr>
            <p:ph type="body" idx="1"/>
          </p:nvPr>
        </p:nvSpPr>
        <p:spPr>
          <a:xfrm>
            <a:off x="446856" y="621407"/>
            <a:ext cx="8229600" cy="5615905"/>
          </a:xfrm>
        </p:spPr>
        <p:txBody>
          <a:bodyPr/>
          <a:lstStyle/>
          <a:p>
            <a:pPr eaLnBrk="1" hangingPunct="1">
              <a:buFontTx/>
              <a:buNone/>
            </a:pPr>
            <a:r>
              <a:rPr lang="en-US" altLang="zh-CN" sz="2200" b="1" baseline="0">
                <a:solidFill>
                  <a:srgbClr val="FF0066"/>
                </a:solidFill>
                <a:latin typeface="Times New Roman" panose="02020603050405020304" pitchFamily="18" charset="0"/>
                <a:ea typeface="楷体-简" panose="02010600040101010101" pitchFamily="2" charset="-122"/>
              </a:rPr>
              <a:t>2</a:t>
            </a:r>
            <a:r>
              <a:rPr lang="zh-CN" altLang="en-US" sz="2200" b="1" baseline="0">
                <a:solidFill>
                  <a:srgbClr val="FF0066"/>
                </a:solidFill>
                <a:latin typeface="Times New Roman" panose="02020603050405020304" pitchFamily="18" charset="0"/>
                <a:ea typeface="楷体-简" panose="02010600040101010101" pitchFamily="2" charset="-122"/>
              </a:rPr>
              <a:t>．常量和变量</a:t>
            </a:r>
            <a:br>
              <a:rPr lang="zh-CN" altLang="en-US" sz="2200" baseline="0">
                <a:solidFill>
                  <a:srgbClr val="FF0066"/>
                </a:solidFill>
                <a:latin typeface="Times New Roman" panose="02020603050405020304" pitchFamily="18" charset="0"/>
                <a:ea typeface="楷体-简" panose="02010600040101010101" pitchFamily="2" charset="-122"/>
              </a:rPr>
            </a:br>
            <a:r>
              <a:rPr lang="zh-CN" altLang="en-US" sz="2200" b="1" baseline="0">
                <a:solidFill>
                  <a:srgbClr val="6666FF"/>
                </a:solidFill>
                <a:latin typeface="Times New Roman" panose="02020603050405020304" pitchFamily="18" charset="0"/>
                <a:ea typeface="楷体-简" panose="02010600040101010101" pitchFamily="2" charset="-122"/>
              </a:rPr>
              <a:t>常量</a:t>
            </a:r>
            <a:r>
              <a:rPr lang="zh-CN" altLang="en-US" sz="2200" baseline="0">
                <a:latin typeface="Times New Roman" panose="02020603050405020304" pitchFamily="18" charset="0"/>
                <a:ea typeface="楷体-简" panose="02010600040101010101" pitchFamily="2" charset="-122"/>
              </a:rPr>
              <a:t>：</a:t>
            </a:r>
            <a:r>
              <a:rPr lang="zh-CN" altLang="en-US" sz="2200" b="1" baseline="0">
                <a:latin typeface="Times New Roman" panose="02020603050405020304" pitchFamily="18" charset="0"/>
                <a:ea typeface="楷体-简" panose="02010600040101010101" pitchFamily="2" charset="-122"/>
              </a:rPr>
              <a:t>用保留字</a:t>
            </a:r>
            <a:r>
              <a:rPr lang="en-US" altLang="zh-CN" sz="2200" b="1" baseline="0">
                <a:latin typeface="Times New Roman" panose="02020603050405020304" pitchFamily="18" charset="0"/>
                <a:ea typeface="楷体-简" panose="02010600040101010101" pitchFamily="2" charset="-122"/>
              </a:rPr>
              <a:t>final</a:t>
            </a:r>
            <a:r>
              <a:rPr lang="zh-CN" altLang="en-US" sz="2200" b="1" baseline="0">
                <a:latin typeface="Times New Roman" panose="02020603050405020304" pitchFamily="18" charset="0"/>
                <a:ea typeface="楷体-简" panose="02010600040101010101" pitchFamily="2" charset="-122"/>
              </a:rPr>
              <a:t>来实现</a:t>
            </a:r>
            <a:br>
              <a:rPr lang="zh-CN" altLang="en-US" sz="2200" b="1" baseline="0">
                <a:latin typeface="Times New Roman" panose="02020603050405020304" pitchFamily="18" charset="0"/>
                <a:ea typeface="楷体-简" panose="02010600040101010101" pitchFamily="2" charset="-122"/>
              </a:rPr>
            </a:br>
            <a:r>
              <a:rPr lang="zh-CN" altLang="en-US" sz="2200" b="1" baseline="0">
                <a:latin typeface="Times New Roman" panose="02020603050405020304" pitchFamily="18" charset="0"/>
                <a:ea typeface="楷体-简" panose="02010600040101010101" pitchFamily="2" charset="-122"/>
              </a:rPr>
              <a:t>　　　　如：</a:t>
            </a:r>
            <a:r>
              <a:rPr lang="en-US" altLang="zh-CN" sz="2200" b="1" baseline="0">
                <a:latin typeface="Times New Roman" panose="02020603050405020304" pitchFamily="18" charset="0"/>
                <a:ea typeface="楷体-简" panose="02010600040101010101" pitchFamily="2" charset="-122"/>
              </a:rPr>
              <a:t>final int NUM=100;</a:t>
            </a:r>
            <a:br>
              <a:rPr lang="en-US" altLang="zh-CN" sz="2200" b="1" baseline="0">
                <a:latin typeface="Times New Roman" panose="02020603050405020304" pitchFamily="18" charset="0"/>
                <a:ea typeface="楷体-简" panose="02010600040101010101" pitchFamily="2" charset="-122"/>
              </a:rPr>
            </a:br>
            <a:r>
              <a:rPr lang="zh-CN" altLang="en-US" sz="2200" b="1" baseline="0">
                <a:solidFill>
                  <a:srgbClr val="6666FF"/>
                </a:solidFill>
                <a:latin typeface="Times New Roman" panose="02020603050405020304" pitchFamily="18" charset="0"/>
                <a:ea typeface="楷体-简" panose="02010600040101010101" pitchFamily="2" charset="-122"/>
              </a:rPr>
              <a:t>变量</a:t>
            </a:r>
            <a:r>
              <a:rPr lang="zh-CN" altLang="en-US" sz="2200" baseline="0">
                <a:solidFill>
                  <a:srgbClr val="6666FF"/>
                </a:solidFill>
                <a:latin typeface="Times New Roman" panose="02020603050405020304" pitchFamily="18" charset="0"/>
                <a:ea typeface="楷体-简" panose="02010600040101010101" pitchFamily="2" charset="-122"/>
              </a:rPr>
              <a:t>：</a:t>
            </a:r>
            <a:r>
              <a:rPr lang="zh-CN" altLang="en-US" sz="2200" b="1" baseline="0">
                <a:latin typeface="Times New Roman" panose="02020603050405020304" pitchFamily="18" charset="0"/>
                <a:ea typeface="楷体-简" panose="02010600040101010101" pitchFamily="2" charset="-122"/>
              </a:rPr>
              <a:t>是</a:t>
            </a:r>
            <a:r>
              <a:rPr lang="en-US" altLang="zh-CN" sz="2200" b="1" baseline="0">
                <a:latin typeface="Times New Roman" panose="02020603050405020304" pitchFamily="18" charset="0"/>
                <a:ea typeface="楷体-简" panose="02010600040101010101" pitchFamily="2" charset="-122"/>
              </a:rPr>
              <a:t>Java </a:t>
            </a:r>
            <a:r>
              <a:rPr lang="zh-CN" altLang="en-US" sz="2200" b="1" baseline="0">
                <a:latin typeface="Times New Roman" panose="02020603050405020304" pitchFamily="18" charset="0"/>
                <a:ea typeface="楷体-简" panose="02010600040101010101" pitchFamily="2" charset="-122"/>
              </a:rPr>
              <a:t>程序中的基本存储单元，它的定义包括变量名、变量类型和作用域几个部分。</a:t>
            </a:r>
          </a:p>
          <a:p>
            <a:pPr eaLnBrk="1" hangingPunct="1">
              <a:buFontTx/>
              <a:buNone/>
            </a:pPr>
            <a:r>
              <a:rPr lang="zh-CN" altLang="en-US" sz="2200" b="1" baseline="0">
                <a:latin typeface="Times New Roman" panose="02020603050405020304" pitchFamily="18" charset="0"/>
                <a:ea typeface="楷体-简" panose="02010600040101010101" pitchFamily="2" charset="-122"/>
              </a:rPr>
              <a:t>　　　 　   如：</a:t>
            </a:r>
            <a:r>
              <a:rPr lang="en-US" altLang="zh-CN" sz="2200" b="1" baseline="0">
                <a:latin typeface="Times New Roman" panose="02020603050405020304" pitchFamily="18" charset="0"/>
                <a:ea typeface="楷体-简" panose="02010600040101010101" pitchFamily="2" charset="-122"/>
              </a:rPr>
              <a:t>int count; char c=‘a’;</a:t>
            </a:r>
            <a:br>
              <a:rPr lang="en-US" altLang="zh-CN" sz="2200" b="1" baseline="0">
                <a:latin typeface="Times New Roman" panose="02020603050405020304" pitchFamily="18" charset="0"/>
                <a:ea typeface="楷体-简" panose="02010600040101010101" pitchFamily="2" charset="-122"/>
              </a:rPr>
            </a:br>
            <a:br>
              <a:rPr lang="en-US" altLang="zh-CN" sz="2200" baseline="0">
                <a:latin typeface="Times New Roman" panose="02020603050405020304" pitchFamily="18" charset="0"/>
                <a:ea typeface="楷体-简" panose="02010600040101010101" pitchFamily="2" charset="-122"/>
              </a:rPr>
            </a:br>
            <a:r>
              <a:rPr lang="en-US" altLang="zh-CN" sz="2200" baseline="0">
                <a:latin typeface="Times New Roman" panose="02020603050405020304" pitchFamily="18" charset="0"/>
                <a:ea typeface="楷体-简" panose="02010600040101010101" pitchFamily="2" charset="-122"/>
              </a:rPr>
              <a:t>	</a:t>
            </a:r>
            <a:r>
              <a:rPr lang="zh-CN" altLang="en-US" sz="2200" baseline="0">
                <a:latin typeface="Times New Roman" panose="02020603050405020304" pitchFamily="18" charset="0"/>
                <a:ea typeface="楷体-简" panose="02010600040101010101" pitchFamily="2" charset="-122"/>
              </a:rPr>
              <a:t>变量</a:t>
            </a:r>
            <a:r>
              <a:rPr lang="zh-CN" altLang="en-US" sz="2200" b="1" baseline="0">
                <a:latin typeface="Times New Roman" panose="02020603050405020304" pitchFamily="18" charset="0"/>
                <a:ea typeface="楷体-简" panose="02010600040101010101" pitchFamily="2" charset="-122"/>
              </a:rPr>
              <a:t>按被声明的位置划分：</a:t>
            </a:r>
          </a:p>
          <a:p>
            <a:pPr eaLnBrk="1" hangingPunct="1">
              <a:buFontTx/>
              <a:buNone/>
            </a:pPr>
            <a:r>
              <a:rPr lang="zh-CN" altLang="en-US" sz="2200" b="1" baseline="0">
                <a:latin typeface="Times New Roman" panose="02020603050405020304" pitchFamily="18" charset="0"/>
                <a:ea typeface="楷体-简" panose="02010600040101010101" pitchFamily="2" charset="-122"/>
              </a:rPr>
              <a:t> 		－</a:t>
            </a:r>
            <a:r>
              <a:rPr lang="zh-CN" altLang="en-US" sz="2200" b="1" baseline="0">
                <a:solidFill>
                  <a:srgbClr val="6666FF"/>
                </a:solidFill>
                <a:latin typeface="Times New Roman" panose="02020603050405020304" pitchFamily="18" charset="0"/>
                <a:ea typeface="楷体-简" panose="02010600040101010101" pitchFamily="2" charset="-122"/>
              </a:rPr>
              <a:t>局部变量</a:t>
            </a:r>
            <a:r>
              <a:rPr lang="zh-CN" altLang="en-US" sz="2200" b="1" baseline="0">
                <a:latin typeface="Times New Roman" panose="02020603050405020304" pitchFamily="18" charset="0"/>
                <a:ea typeface="楷体-简" panose="02010600040101010101" pitchFamily="2" charset="-122"/>
              </a:rPr>
              <a:t>： 方法或语句块内部定义的变量</a:t>
            </a:r>
          </a:p>
          <a:p>
            <a:pPr eaLnBrk="1" hangingPunct="1">
              <a:buFontTx/>
              <a:buNone/>
            </a:pPr>
            <a:r>
              <a:rPr lang="zh-CN" altLang="en-US" sz="2200" b="1" baseline="0">
                <a:latin typeface="Times New Roman" panose="02020603050405020304" pitchFamily="18" charset="0"/>
                <a:ea typeface="楷体-简" panose="02010600040101010101" pitchFamily="2" charset="-122"/>
              </a:rPr>
              <a:t>		－</a:t>
            </a:r>
            <a:r>
              <a:rPr lang="zh-CN" altLang="en-US" sz="2200" b="1" baseline="0">
                <a:solidFill>
                  <a:srgbClr val="6666FF"/>
                </a:solidFill>
                <a:latin typeface="Times New Roman" panose="02020603050405020304" pitchFamily="18" charset="0"/>
                <a:ea typeface="楷体-简" panose="02010600040101010101" pitchFamily="2" charset="-122"/>
              </a:rPr>
              <a:t>成员变量</a:t>
            </a:r>
            <a:r>
              <a:rPr lang="zh-CN" altLang="en-US" sz="2200" b="1" baseline="0">
                <a:latin typeface="Times New Roman" panose="02020603050405020304" pitchFamily="18" charset="0"/>
                <a:ea typeface="楷体-简" panose="02010600040101010101" pitchFamily="2" charset="-122"/>
              </a:rPr>
              <a:t>：方法外部，类的内部定义的变量</a:t>
            </a:r>
          </a:p>
          <a:p>
            <a:pPr eaLnBrk="1" hangingPunct="1">
              <a:buFontTx/>
              <a:buNone/>
            </a:pPr>
            <a:endParaRPr lang="zh-CN" altLang="en-US" sz="2200" b="1" baseline="0">
              <a:latin typeface="Times New Roman" panose="02020603050405020304" pitchFamily="18" charset="0"/>
              <a:ea typeface="楷体-简" panose="02010600040101010101" pitchFamily="2" charset="-122"/>
            </a:endParaRPr>
          </a:p>
          <a:p>
            <a:pPr eaLnBrk="1" hangingPunct="1">
              <a:buFontTx/>
              <a:buNone/>
            </a:pPr>
            <a:r>
              <a:rPr lang="zh-CN" altLang="en-US" sz="2200" b="1" baseline="0">
                <a:latin typeface="Times New Roman" panose="02020603050405020304" pitchFamily="18" charset="0"/>
                <a:ea typeface="楷体-简" panose="02010600040101010101" pitchFamily="2" charset="-122"/>
              </a:rPr>
              <a:t>		按所属的数据类型划分：</a:t>
            </a:r>
          </a:p>
          <a:p>
            <a:pPr eaLnBrk="1" hangingPunct="1">
              <a:buFontTx/>
              <a:buNone/>
            </a:pPr>
            <a:r>
              <a:rPr lang="zh-CN" altLang="en-US" sz="2200" b="1" baseline="0">
                <a:latin typeface="Times New Roman" panose="02020603050405020304" pitchFamily="18" charset="0"/>
                <a:ea typeface="楷体-简" panose="02010600040101010101" pitchFamily="2" charset="-122"/>
              </a:rPr>
              <a:t>		－</a:t>
            </a:r>
            <a:r>
              <a:rPr lang="zh-CN" altLang="en-US" sz="2200" b="1" baseline="0">
                <a:solidFill>
                  <a:srgbClr val="6666FF"/>
                </a:solidFill>
                <a:latin typeface="Times New Roman" panose="02020603050405020304" pitchFamily="18" charset="0"/>
                <a:ea typeface="楷体-简" panose="02010600040101010101" pitchFamily="2" charset="-122"/>
              </a:rPr>
              <a:t>基本数据类型变量</a:t>
            </a:r>
          </a:p>
          <a:p>
            <a:pPr eaLnBrk="1" hangingPunct="1">
              <a:buFontTx/>
              <a:buNone/>
            </a:pPr>
            <a:r>
              <a:rPr lang="zh-CN" altLang="en-US" sz="2200" b="1" baseline="0">
                <a:latin typeface="Times New Roman" panose="02020603050405020304" pitchFamily="18" charset="0"/>
                <a:ea typeface="楷体-简" panose="02010600040101010101" pitchFamily="2" charset="-122"/>
              </a:rPr>
              <a:t>		－</a:t>
            </a:r>
            <a:r>
              <a:rPr lang="zh-CN" altLang="en-US" sz="2200" b="1" baseline="0">
                <a:solidFill>
                  <a:srgbClr val="6666FF"/>
                </a:solidFill>
                <a:latin typeface="Times New Roman" panose="02020603050405020304" pitchFamily="18" charset="0"/>
                <a:ea typeface="楷体-简" panose="02010600040101010101" pitchFamily="2" charset="-122"/>
              </a:rPr>
              <a:t>引用数据类型变量</a:t>
            </a:r>
            <a:endParaRPr lang="zh-CN" altLang="en-US" baseline="0">
              <a:latin typeface="Times New Roman" panose="02020603050405020304" pitchFamily="18" charset="0"/>
              <a:ea typeface="楷体-简" panose="02010600040101010101" pitchFamily="2" charset="-122"/>
            </a:endParaRPr>
          </a:p>
          <a:p>
            <a:pPr eaLnBrk="1" hangingPunct="1">
              <a:buFontTx/>
              <a:buNone/>
            </a:pPr>
            <a:endParaRPr lang="en-US" altLang="zh-CN" baseline="0">
              <a:latin typeface="Times New Roman" panose="02020603050405020304" pitchFamily="18" charset="0"/>
              <a:ea typeface="楷体-简" panose="02010600040101010101" pitchFamily="2"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3">
            <a:extLst>
              <a:ext uri="{FF2B5EF4-FFF2-40B4-BE49-F238E27FC236}">
                <a16:creationId xmlns:a16="http://schemas.microsoft.com/office/drawing/2014/main" id="{16C63683-3643-41FE-A806-69113571CD93}"/>
              </a:ext>
            </a:extLst>
          </p:cNvPr>
          <p:cNvSpPr>
            <a:spLocks noGrp="1" noChangeArrowheads="1"/>
          </p:cNvSpPr>
          <p:nvPr>
            <p:ph type="body" idx="1"/>
          </p:nvPr>
        </p:nvSpPr>
        <p:spPr>
          <a:xfrm>
            <a:off x="395536" y="1196752"/>
            <a:ext cx="8153400" cy="3816275"/>
          </a:xfrm>
        </p:spPr>
        <p:txBody>
          <a:bodyPr/>
          <a:lstStyle/>
          <a:p>
            <a:pPr eaLnBrk="1" hangingPunct="1">
              <a:lnSpc>
                <a:spcPct val="160000"/>
              </a:lnSpc>
              <a:buFontTx/>
              <a:buChar char=" "/>
            </a:pPr>
            <a:r>
              <a:rPr lang="zh-CN" altLang="en-US" sz="2800" baseline="0">
                <a:solidFill>
                  <a:srgbClr val="FF0066"/>
                </a:solidFill>
                <a:latin typeface="Times New Roman" panose="02020603050405020304" pitchFamily="18" charset="0"/>
                <a:ea typeface="楷体-简" panose="02010600040101010101" pitchFamily="2" charset="-122"/>
              </a:rPr>
              <a:t>举例：</a:t>
            </a:r>
            <a:r>
              <a:rPr lang="en-US" altLang="zh-CN" sz="2800" baseline="0">
                <a:solidFill>
                  <a:srgbClr val="FF0066"/>
                </a:solidFill>
                <a:latin typeface="Times New Roman" panose="02020603050405020304" pitchFamily="18" charset="0"/>
                <a:ea typeface="楷体-简" panose="02010600040101010101" pitchFamily="2" charset="-122"/>
              </a:rPr>
              <a:t>final</a:t>
            </a:r>
            <a:r>
              <a:rPr lang="zh-CN" altLang="en-US" sz="2800" baseline="0">
                <a:solidFill>
                  <a:srgbClr val="FF0066"/>
                </a:solidFill>
                <a:latin typeface="Times New Roman" panose="02020603050405020304" pitchFamily="18" charset="0"/>
                <a:ea typeface="楷体-简" panose="02010600040101010101" pitchFamily="2" charset="-122"/>
              </a:rPr>
              <a:t>定义常量</a:t>
            </a:r>
            <a:r>
              <a:rPr lang="en-US" altLang="zh-CN" sz="2800" baseline="0">
                <a:solidFill>
                  <a:srgbClr val="FF0066"/>
                </a:solidFill>
                <a:latin typeface="Times New Roman" panose="02020603050405020304" pitchFamily="18" charset="0"/>
                <a:ea typeface="楷体-简" panose="02010600040101010101" pitchFamily="2" charset="-122"/>
              </a:rPr>
              <a:t> </a:t>
            </a:r>
            <a:endParaRPr lang="zh-CN" altLang="en-US" b="1" baseline="0">
              <a:latin typeface="Times New Roman" panose="02020603050405020304" pitchFamily="18" charset="0"/>
              <a:ea typeface="楷体-简" panose="02010600040101010101" pitchFamily="2" charset="-122"/>
            </a:endParaRPr>
          </a:p>
          <a:p>
            <a:pPr eaLnBrk="1" hangingPunct="1">
              <a:lnSpc>
                <a:spcPct val="160000"/>
              </a:lnSpc>
              <a:buFontTx/>
              <a:buChar char=" "/>
            </a:pPr>
            <a:r>
              <a:rPr lang="zh-CN" altLang="en-US" sz="2400" b="1" baseline="0">
                <a:latin typeface="Times New Roman" panose="02020603050405020304" pitchFamily="18" charset="0"/>
                <a:ea typeface="楷体-简" panose="02010600040101010101" pitchFamily="2" charset="-122"/>
              </a:rPr>
              <a:t>在 </a:t>
            </a:r>
            <a:r>
              <a:rPr lang="en-US" altLang="zh-CN" sz="2400" b="1" baseline="0">
                <a:latin typeface="Times New Roman" panose="02020603050405020304" pitchFamily="18" charset="0"/>
                <a:ea typeface="楷体-简" panose="02010600040101010101" pitchFamily="2" charset="-122"/>
              </a:rPr>
              <a:t>Java </a:t>
            </a:r>
            <a:r>
              <a:rPr lang="zh-CN" altLang="en-US" sz="2400" b="1" baseline="0">
                <a:latin typeface="Times New Roman" panose="02020603050405020304" pitchFamily="18" charset="0"/>
                <a:ea typeface="楷体-简" panose="02010600040101010101" pitchFamily="2" charset="-122"/>
              </a:rPr>
              <a:t>语言中，可以利用关键字</a:t>
            </a:r>
            <a:r>
              <a:rPr lang="en-US" altLang="zh-CN" sz="2400" b="1" baseline="0">
                <a:latin typeface="Times New Roman" panose="02020603050405020304" pitchFamily="18" charset="0"/>
                <a:ea typeface="楷体-简" panose="02010600040101010101" pitchFamily="2" charset="-122"/>
              </a:rPr>
              <a:t>final </a:t>
            </a:r>
            <a:r>
              <a:rPr lang="zh-CN" altLang="en-US" sz="2400" b="1" baseline="0">
                <a:latin typeface="Times New Roman" panose="02020603050405020304" pitchFamily="18" charset="0"/>
                <a:ea typeface="楷体-简" panose="02010600040101010101" pitchFamily="2" charset="-122"/>
              </a:rPr>
              <a:t>将一个变量定义为常量标识符。</a:t>
            </a:r>
          </a:p>
          <a:p>
            <a:pPr eaLnBrk="1" hangingPunct="1">
              <a:lnSpc>
                <a:spcPct val="160000"/>
              </a:lnSpc>
              <a:buFontTx/>
              <a:buChar char=" "/>
            </a:pPr>
            <a:r>
              <a:rPr lang="zh-CN" altLang="en-US" sz="2400" b="1" baseline="0">
                <a:latin typeface="Times New Roman" panose="02020603050405020304" pitchFamily="18" charset="0"/>
                <a:ea typeface="楷体-简" panose="02010600040101010101" pitchFamily="2" charset="-122"/>
              </a:rPr>
              <a:t>      </a:t>
            </a:r>
            <a:r>
              <a:rPr lang="en-US" altLang="zh-CN" sz="2400" b="1" baseline="0">
                <a:latin typeface="Times New Roman" panose="02020603050405020304" pitchFamily="18" charset="0"/>
                <a:ea typeface="楷体-简" panose="02010600040101010101" pitchFamily="2" charset="-122"/>
              </a:rPr>
              <a:t>final double PI=3.1415926;</a:t>
            </a:r>
          </a:p>
          <a:p>
            <a:pPr eaLnBrk="1" hangingPunct="1">
              <a:lnSpc>
                <a:spcPct val="160000"/>
              </a:lnSpc>
              <a:buFontTx/>
              <a:buChar char=" "/>
            </a:pPr>
            <a:r>
              <a:rPr lang="zh-CN" altLang="en-US" sz="2400" b="1" baseline="0">
                <a:latin typeface="Times New Roman" panose="02020603050405020304" pitchFamily="18" charset="0"/>
                <a:ea typeface="楷体-简" panose="02010600040101010101" pitchFamily="2" charset="-122"/>
              </a:rPr>
              <a:t>变量 </a:t>
            </a:r>
            <a:r>
              <a:rPr lang="en-US" altLang="zh-CN" sz="2400" b="1" baseline="0">
                <a:latin typeface="Times New Roman" panose="02020603050405020304" pitchFamily="18" charset="0"/>
                <a:ea typeface="楷体-简" panose="02010600040101010101" pitchFamily="2" charset="-122"/>
              </a:rPr>
              <a:t>PI </a:t>
            </a:r>
            <a:r>
              <a:rPr lang="zh-CN" altLang="en-US" sz="2400" b="1" baseline="0">
                <a:latin typeface="Times New Roman" panose="02020603050405020304" pitchFamily="18" charset="0"/>
                <a:ea typeface="楷体-简" panose="02010600040101010101" pitchFamily="2" charset="-122"/>
              </a:rPr>
              <a:t>的值在作用域范围内，只能被使用，不能被修改。</a:t>
            </a:r>
          </a:p>
        </p:txBody>
      </p:sp>
    </p:spTree>
  </p:cSld>
  <p:clrMapOvr>
    <a:masterClrMapping/>
  </p:clrMapOvr>
  <p:transition>
    <p:split orient="ver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5321E995-7A79-4C50-AAAA-99E46205518F}"/>
              </a:ext>
            </a:extLst>
          </p:cNvPr>
          <p:cNvSpPr>
            <a:spLocks noGrp="1" noChangeArrowheads="1"/>
          </p:cNvSpPr>
          <p:nvPr>
            <p:ph type="body" idx="1"/>
          </p:nvPr>
        </p:nvSpPr>
        <p:spPr>
          <a:xfrm>
            <a:off x="528092" y="404664"/>
            <a:ext cx="8087816" cy="6264547"/>
          </a:xfrm>
        </p:spPr>
        <p:txBody>
          <a:bodyPr/>
          <a:lstStyle/>
          <a:p>
            <a:pPr eaLnBrk="1" hangingPunct="1">
              <a:lnSpc>
                <a:spcPct val="80000"/>
              </a:lnSpc>
              <a:buFontTx/>
              <a:buNone/>
            </a:pPr>
            <a:r>
              <a:rPr lang="zh-CN" altLang="en-US" sz="2400" b="1" baseline="0" dirty="0">
                <a:latin typeface="Times New Roman" panose="02020603050405020304" pitchFamily="18" charset="0"/>
                <a:ea typeface="楷体-简" panose="02010600040101010101" pitchFamily="2" charset="-122"/>
              </a:rPr>
              <a:t>练习：</a:t>
            </a:r>
          </a:p>
          <a:p>
            <a:pPr eaLnBrk="1" hangingPunct="1">
              <a:lnSpc>
                <a:spcPct val="80000"/>
              </a:lnSpc>
              <a:buFontTx/>
              <a:buNone/>
            </a:pPr>
            <a:r>
              <a:rPr lang="zh-CN" altLang="en-US" sz="2400" baseline="0" dirty="0">
                <a:solidFill>
                  <a:srgbClr val="FF0066"/>
                </a:solidFill>
                <a:latin typeface="Times New Roman" panose="02020603050405020304" pitchFamily="18" charset="0"/>
                <a:ea typeface="楷体-简" panose="02010600040101010101" pitchFamily="2" charset="-122"/>
              </a:rPr>
              <a:t>局部变量与成员变量例子</a:t>
            </a:r>
            <a:endParaRPr lang="zh-CN" altLang="en-US" sz="4000" baseline="0" dirty="0">
              <a:latin typeface="Times New Roman" panose="02020603050405020304" pitchFamily="18" charset="0"/>
              <a:ea typeface="楷体-简" panose="02010600040101010101" pitchFamily="2" charset="-122"/>
            </a:endParaRPr>
          </a:p>
          <a:p>
            <a:pPr eaLnBrk="1" hangingPunct="1">
              <a:lnSpc>
                <a:spcPct val="80000"/>
              </a:lnSpc>
              <a:buFontTx/>
              <a:buNone/>
            </a:pPr>
            <a:r>
              <a:rPr lang="en-US" altLang="zh-CN" sz="2400" baseline="0" dirty="0">
                <a:latin typeface="Times New Roman" panose="02020603050405020304" pitchFamily="18" charset="0"/>
                <a:ea typeface="楷体-简" panose="02010600040101010101" pitchFamily="2" charset="-122"/>
              </a:rPr>
              <a:t>//</a:t>
            </a:r>
            <a:r>
              <a:rPr lang="zh-CN" altLang="en-US" sz="2400" baseline="0" dirty="0">
                <a:latin typeface="Times New Roman" panose="02020603050405020304" pitchFamily="18" charset="0"/>
                <a:ea typeface="楷体-简" panose="02010600040101010101" pitchFamily="2" charset="-122"/>
              </a:rPr>
              <a:t>这里不能声明变量</a:t>
            </a:r>
          </a:p>
          <a:p>
            <a:pPr eaLnBrk="1" hangingPunct="1">
              <a:lnSpc>
                <a:spcPct val="80000"/>
              </a:lnSpc>
              <a:buFontTx/>
              <a:buNone/>
            </a:pPr>
            <a:r>
              <a:rPr lang="en-US" altLang="zh-CN" sz="2400" baseline="0" dirty="0">
                <a:solidFill>
                  <a:srgbClr val="0000CC"/>
                </a:solidFill>
                <a:latin typeface="Times New Roman" panose="02020603050405020304" pitchFamily="18" charset="0"/>
                <a:ea typeface="楷体-简" panose="02010600040101010101" pitchFamily="2" charset="-122"/>
              </a:rPr>
              <a:t>public class</a:t>
            </a:r>
            <a:r>
              <a:rPr lang="en-US" altLang="zh-CN" sz="2400" baseline="0" dirty="0">
                <a:latin typeface="Times New Roman" panose="02020603050405020304" pitchFamily="18" charset="0"/>
                <a:ea typeface="楷体-简" panose="02010600040101010101" pitchFamily="2" charset="-122"/>
              </a:rPr>
              <a:t> HelloWorld {</a:t>
            </a:r>
          </a:p>
          <a:p>
            <a:pPr eaLnBrk="1" hangingPunct="1">
              <a:lnSpc>
                <a:spcPct val="80000"/>
              </a:lnSpc>
              <a:buFontTx/>
              <a:buNone/>
            </a:pPr>
            <a:r>
              <a:rPr lang="en-US" altLang="zh-CN" sz="2400" baseline="0" dirty="0">
                <a:latin typeface="Times New Roman" panose="02020603050405020304" pitchFamily="18" charset="0"/>
                <a:ea typeface="楷体-简" panose="02010600040101010101" pitchFamily="2" charset="-122"/>
              </a:rPr>
              <a:t>		int </a:t>
            </a:r>
            <a:r>
              <a:rPr lang="en-US" altLang="zh-CN" sz="2400" baseline="0" dirty="0" err="1">
                <a:latin typeface="Times New Roman" panose="02020603050405020304" pitchFamily="18" charset="0"/>
                <a:ea typeface="楷体-简" panose="02010600040101010101" pitchFamily="2" charset="-122"/>
              </a:rPr>
              <a:t>i</a:t>
            </a:r>
            <a:r>
              <a:rPr lang="en-US" altLang="zh-CN" sz="2400" baseline="0" dirty="0">
                <a:latin typeface="Times New Roman" panose="02020603050405020304" pitchFamily="18" charset="0"/>
                <a:ea typeface="楷体-简" panose="02010600040101010101" pitchFamily="2" charset="-122"/>
              </a:rPr>
              <a:t>=0;    //</a:t>
            </a:r>
            <a:r>
              <a:rPr lang="zh-CN" altLang="en-US" sz="2400" baseline="0" dirty="0">
                <a:latin typeface="Times New Roman" panose="02020603050405020304" pitchFamily="18" charset="0"/>
                <a:ea typeface="楷体-简" panose="02010600040101010101" pitchFamily="2" charset="-122"/>
              </a:rPr>
              <a:t>成员变量</a:t>
            </a:r>
          </a:p>
          <a:p>
            <a:pPr eaLnBrk="1" hangingPunct="1">
              <a:lnSpc>
                <a:spcPct val="80000"/>
              </a:lnSpc>
              <a:buFontTx/>
              <a:buNone/>
            </a:pPr>
            <a:r>
              <a:rPr lang="zh-CN" altLang="en-US" sz="2400" baseline="0" dirty="0">
                <a:latin typeface="Times New Roman" panose="02020603050405020304" pitchFamily="18" charset="0"/>
                <a:ea typeface="楷体-简" panose="02010600040101010101" pitchFamily="2" charset="-122"/>
              </a:rPr>
              <a:t>		</a:t>
            </a:r>
            <a:r>
              <a:rPr lang="en-US" altLang="zh-CN" sz="2400" baseline="0" dirty="0">
                <a:latin typeface="Times New Roman" panose="02020603050405020304" pitchFamily="18" charset="0"/>
                <a:ea typeface="楷体-简" panose="02010600040101010101" pitchFamily="2" charset="-122"/>
              </a:rPr>
              <a:t>int p; </a:t>
            </a:r>
          </a:p>
          <a:p>
            <a:pPr eaLnBrk="1" hangingPunct="1">
              <a:lnSpc>
                <a:spcPct val="80000"/>
              </a:lnSpc>
              <a:buFontTx/>
              <a:buNone/>
            </a:pPr>
            <a:r>
              <a:rPr lang="en-US" altLang="zh-CN" sz="2400" baseline="0" dirty="0">
                <a:latin typeface="Times New Roman" panose="02020603050405020304" pitchFamily="18" charset="0"/>
                <a:ea typeface="楷体-简" panose="02010600040101010101" pitchFamily="2" charset="-122"/>
              </a:rPr>
              <a:t>		</a:t>
            </a:r>
            <a:r>
              <a:rPr lang="en-US" altLang="zh-CN" sz="2400" baseline="0" dirty="0">
                <a:solidFill>
                  <a:srgbClr val="0000CC"/>
                </a:solidFill>
                <a:latin typeface="Times New Roman" panose="02020603050405020304" pitchFamily="18" charset="0"/>
                <a:ea typeface="楷体-简" panose="02010600040101010101" pitchFamily="2" charset="-122"/>
              </a:rPr>
              <a:t>public static void</a:t>
            </a:r>
            <a:r>
              <a:rPr lang="en-US" altLang="zh-CN" sz="2400" baseline="0" dirty="0">
                <a:latin typeface="Times New Roman" panose="02020603050405020304" pitchFamily="18" charset="0"/>
                <a:ea typeface="楷体-简" panose="02010600040101010101" pitchFamily="2" charset="-122"/>
              </a:rPr>
              <a:t> main(</a:t>
            </a:r>
            <a:r>
              <a:rPr lang="en-US" altLang="zh-CN" sz="2400" baseline="0" dirty="0">
                <a:solidFill>
                  <a:srgbClr val="FF0066"/>
                </a:solidFill>
                <a:latin typeface="Times New Roman" panose="02020603050405020304" pitchFamily="18" charset="0"/>
                <a:ea typeface="楷体-简" panose="02010600040101010101" pitchFamily="2" charset="-122"/>
              </a:rPr>
              <a:t>String</a:t>
            </a:r>
            <a:r>
              <a:rPr lang="en-US" altLang="zh-CN" sz="2400" baseline="0" dirty="0">
                <a:latin typeface="Times New Roman" panose="02020603050405020304" pitchFamily="18" charset="0"/>
                <a:ea typeface="楷体-简" panose="02010600040101010101" pitchFamily="2" charset="-122"/>
              </a:rPr>
              <a:t>[] </a:t>
            </a:r>
            <a:r>
              <a:rPr lang="en-US" altLang="zh-CN" sz="2400" baseline="0" dirty="0" err="1">
                <a:latin typeface="Times New Roman" panose="02020603050405020304" pitchFamily="18" charset="0"/>
                <a:ea typeface="楷体-简" panose="02010600040101010101" pitchFamily="2" charset="-122"/>
              </a:rPr>
              <a:t>args</a:t>
            </a:r>
            <a:r>
              <a:rPr lang="en-US" altLang="zh-CN" sz="2400" baseline="0" dirty="0">
                <a:latin typeface="Times New Roman" panose="02020603050405020304" pitchFamily="18" charset="0"/>
                <a:ea typeface="楷体-简" panose="02010600040101010101" pitchFamily="2" charset="-122"/>
              </a:rPr>
              <a:t>)  //</a:t>
            </a:r>
            <a:r>
              <a:rPr lang="zh-CN" altLang="en-US" sz="2400" baseline="0" dirty="0">
                <a:latin typeface="Times New Roman" panose="02020603050405020304" pitchFamily="18" charset="0"/>
                <a:ea typeface="楷体-简" panose="02010600040101010101" pitchFamily="2" charset="-122"/>
              </a:rPr>
              <a:t>局部变量</a:t>
            </a:r>
          </a:p>
          <a:p>
            <a:pPr eaLnBrk="1" hangingPunct="1">
              <a:lnSpc>
                <a:spcPct val="80000"/>
              </a:lnSpc>
              <a:buFontTx/>
              <a:buNone/>
            </a:pPr>
            <a:r>
              <a:rPr lang="zh-CN" altLang="en-US" sz="2400" baseline="0" dirty="0">
                <a:latin typeface="Times New Roman" panose="02020603050405020304" pitchFamily="18" charset="0"/>
                <a:ea typeface="楷体-简" panose="02010600040101010101" pitchFamily="2" charset="-122"/>
              </a:rPr>
              <a:t>		</a:t>
            </a:r>
            <a:r>
              <a:rPr lang="en-US" altLang="zh-CN" sz="2400" baseline="0" dirty="0">
                <a:latin typeface="Times New Roman" panose="02020603050405020304" pitchFamily="18" charset="0"/>
                <a:ea typeface="楷体-简" panose="02010600040101010101" pitchFamily="2" charset="-122"/>
              </a:rPr>
              <a:t>{</a:t>
            </a:r>
          </a:p>
          <a:p>
            <a:pPr eaLnBrk="1" hangingPunct="1">
              <a:lnSpc>
                <a:spcPct val="80000"/>
              </a:lnSpc>
              <a:buFontTx/>
              <a:buNone/>
            </a:pPr>
            <a:r>
              <a:rPr lang="en-US" altLang="zh-CN" sz="2400" baseline="0" dirty="0">
                <a:latin typeface="Times New Roman" panose="02020603050405020304" pitchFamily="18" charset="0"/>
                <a:ea typeface="楷体-简" panose="02010600040101010101" pitchFamily="2" charset="-122"/>
              </a:rPr>
              <a:t>  			 int j=0;    //</a:t>
            </a:r>
            <a:r>
              <a:rPr lang="zh-CN" altLang="en-US" sz="2400" baseline="0" dirty="0">
                <a:latin typeface="Times New Roman" panose="02020603050405020304" pitchFamily="18" charset="0"/>
                <a:ea typeface="楷体-简" panose="02010600040101010101" pitchFamily="2" charset="-122"/>
              </a:rPr>
              <a:t>局部变量</a:t>
            </a:r>
          </a:p>
          <a:p>
            <a:pPr eaLnBrk="1" hangingPunct="1">
              <a:lnSpc>
                <a:spcPct val="80000"/>
              </a:lnSpc>
              <a:buFontTx/>
              <a:buNone/>
            </a:pPr>
            <a:r>
              <a:rPr lang="zh-CN" altLang="en-US" sz="2400" baseline="0" dirty="0">
                <a:latin typeface="Times New Roman" panose="02020603050405020304" pitchFamily="18" charset="0"/>
                <a:ea typeface="楷体-简" panose="02010600040101010101" pitchFamily="2" charset="-122"/>
              </a:rPr>
              <a:t>			 </a:t>
            </a:r>
            <a:r>
              <a:rPr lang="en-US" altLang="zh-CN" sz="2400" baseline="0" dirty="0">
                <a:latin typeface="Times New Roman" panose="02020603050405020304" pitchFamily="18" charset="0"/>
                <a:ea typeface="楷体-简" panose="02010600040101010101" pitchFamily="2" charset="-122"/>
              </a:rPr>
              <a:t>j=p+5;     //</a:t>
            </a:r>
            <a:r>
              <a:rPr lang="zh-CN" altLang="en-US" sz="2400" b="1" baseline="0" dirty="0">
                <a:solidFill>
                  <a:srgbClr val="FF0000"/>
                </a:solidFill>
                <a:latin typeface="Times New Roman" panose="02020603050405020304" pitchFamily="18" charset="0"/>
                <a:ea typeface="楷体-简" panose="02010600040101010101" pitchFamily="2" charset="-122"/>
              </a:rPr>
              <a:t>编译会出错吗</a:t>
            </a:r>
            <a:r>
              <a:rPr lang="en-US" altLang="zh-CN" sz="2400" b="1" baseline="0" dirty="0">
                <a:solidFill>
                  <a:srgbClr val="FF0000"/>
                </a:solidFill>
                <a:latin typeface="Times New Roman" panose="02020603050405020304" pitchFamily="18" charset="0"/>
                <a:ea typeface="楷体-简" panose="02010600040101010101" pitchFamily="2" charset="-122"/>
              </a:rPr>
              <a:t>? </a:t>
            </a:r>
          </a:p>
          <a:p>
            <a:pPr eaLnBrk="1" hangingPunct="1">
              <a:lnSpc>
                <a:spcPct val="80000"/>
              </a:lnSpc>
              <a:buFontTx/>
              <a:buNone/>
            </a:pPr>
            <a:r>
              <a:rPr lang="en-US" altLang="zh-CN" sz="2400" baseline="0" dirty="0">
                <a:latin typeface="Times New Roman" panose="02020603050405020304" pitchFamily="18" charset="0"/>
                <a:ea typeface="楷体-简" panose="02010600040101010101" pitchFamily="2" charset="-122"/>
              </a:rPr>
              <a:t>		}</a:t>
            </a:r>
          </a:p>
          <a:p>
            <a:pPr eaLnBrk="1" hangingPunct="1">
              <a:lnSpc>
                <a:spcPct val="80000"/>
              </a:lnSpc>
              <a:buFontTx/>
              <a:buNone/>
            </a:pPr>
            <a:r>
              <a:rPr lang="en-US" altLang="zh-CN" sz="2400" baseline="0" dirty="0">
                <a:latin typeface="Times New Roman" panose="02020603050405020304" pitchFamily="18" charset="0"/>
                <a:ea typeface="楷体-简" panose="02010600040101010101" pitchFamily="2" charset="-122"/>
              </a:rPr>
              <a:t>		</a:t>
            </a:r>
            <a:r>
              <a:rPr lang="en-US" altLang="zh-CN" sz="2400" baseline="0" dirty="0">
                <a:solidFill>
                  <a:srgbClr val="0000CC"/>
                </a:solidFill>
                <a:latin typeface="Times New Roman" panose="02020603050405020304" pitchFamily="18" charset="0"/>
                <a:ea typeface="楷体-简" panose="02010600040101010101" pitchFamily="2" charset="-122"/>
              </a:rPr>
              <a:t>public void</a:t>
            </a:r>
            <a:r>
              <a:rPr lang="en-US" altLang="zh-CN" sz="2400" baseline="0" dirty="0">
                <a:latin typeface="Times New Roman" panose="02020603050405020304" pitchFamily="18" charset="0"/>
                <a:ea typeface="楷体-简" panose="02010600040101010101" pitchFamily="2" charset="-122"/>
              </a:rPr>
              <a:t> </a:t>
            </a:r>
            <a:r>
              <a:rPr lang="en-US" altLang="zh-CN" sz="2400" baseline="0" dirty="0" err="1">
                <a:latin typeface="Times New Roman" panose="02020603050405020304" pitchFamily="18" charset="0"/>
                <a:ea typeface="楷体-简" panose="02010600040101010101" pitchFamily="2" charset="-122"/>
              </a:rPr>
              <a:t>aMethod</a:t>
            </a:r>
            <a:r>
              <a:rPr lang="en-US" altLang="zh-CN" sz="2400" baseline="0" dirty="0">
                <a:latin typeface="Times New Roman" panose="02020603050405020304" pitchFamily="18" charset="0"/>
                <a:ea typeface="楷体-简" panose="02010600040101010101" pitchFamily="2" charset="-122"/>
              </a:rPr>
              <a:t>() {</a:t>
            </a:r>
          </a:p>
          <a:p>
            <a:pPr eaLnBrk="1" hangingPunct="1">
              <a:lnSpc>
                <a:spcPct val="80000"/>
              </a:lnSpc>
              <a:buFontTx/>
              <a:buNone/>
            </a:pPr>
            <a:r>
              <a:rPr lang="en-US" altLang="zh-CN" sz="2400" baseline="0" dirty="0">
                <a:latin typeface="Times New Roman" panose="02020603050405020304" pitchFamily="18" charset="0"/>
                <a:ea typeface="楷体-简" panose="02010600040101010101" pitchFamily="2" charset="-122"/>
              </a:rPr>
              <a:t>			int k;           //</a:t>
            </a:r>
            <a:r>
              <a:rPr lang="zh-CN" altLang="en-US" sz="2400" baseline="0" dirty="0">
                <a:latin typeface="Times New Roman" panose="02020603050405020304" pitchFamily="18" charset="0"/>
                <a:ea typeface="楷体-简" panose="02010600040101010101" pitchFamily="2" charset="-122"/>
              </a:rPr>
              <a:t>局部变量</a:t>
            </a:r>
          </a:p>
          <a:p>
            <a:pPr eaLnBrk="1" hangingPunct="1">
              <a:lnSpc>
                <a:spcPct val="80000"/>
              </a:lnSpc>
              <a:buFontTx/>
              <a:buNone/>
            </a:pPr>
            <a:r>
              <a:rPr lang="zh-CN" altLang="en-US" sz="2400" baseline="0" dirty="0">
                <a:latin typeface="Times New Roman" panose="02020603050405020304" pitchFamily="18" charset="0"/>
                <a:ea typeface="楷体-简" panose="02010600040101010101" pitchFamily="2" charset="-122"/>
              </a:rPr>
              <a:t>			</a:t>
            </a:r>
            <a:r>
              <a:rPr lang="en-US" altLang="zh-CN" sz="2400" baseline="0" dirty="0">
                <a:latin typeface="Times New Roman" panose="02020603050405020304" pitchFamily="18" charset="0"/>
                <a:ea typeface="楷体-简" panose="02010600040101010101" pitchFamily="2" charset="-122"/>
              </a:rPr>
              <a:t>int j=k+5;    //</a:t>
            </a:r>
            <a:r>
              <a:rPr lang="zh-CN" altLang="en-US" sz="2400" baseline="0" dirty="0">
                <a:latin typeface="Times New Roman" panose="02020603050405020304" pitchFamily="18" charset="0"/>
                <a:ea typeface="楷体-简" panose="02010600040101010101" pitchFamily="2" charset="-122"/>
              </a:rPr>
              <a:t>编译出错，变量</a:t>
            </a:r>
            <a:r>
              <a:rPr lang="en-US" altLang="zh-CN" sz="2400" baseline="0" dirty="0">
                <a:latin typeface="Times New Roman" panose="02020603050405020304" pitchFamily="18" charset="0"/>
                <a:ea typeface="楷体-简" panose="02010600040101010101" pitchFamily="2" charset="-122"/>
              </a:rPr>
              <a:t>k</a:t>
            </a:r>
            <a:r>
              <a:rPr lang="zh-CN" altLang="en-US" sz="2400" baseline="0" dirty="0">
                <a:latin typeface="Times New Roman" panose="02020603050405020304" pitchFamily="18" charset="0"/>
                <a:ea typeface="楷体-简" panose="02010600040101010101" pitchFamily="2" charset="-122"/>
              </a:rPr>
              <a:t>还未被初始化</a:t>
            </a:r>
          </a:p>
          <a:p>
            <a:pPr eaLnBrk="1" hangingPunct="1">
              <a:lnSpc>
                <a:spcPct val="80000"/>
              </a:lnSpc>
              <a:buFontTx/>
              <a:buNone/>
            </a:pPr>
            <a:r>
              <a:rPr lang="zh-CN" altLang="en-US" sz="2400" baseline="0" dirty="0">
                <a:latin typeface="Times New Roman" panose="02020603050405020304" pitchFamily="18" charset="0"/>
                <a:ea typeface="楷体-简" panose="02010600040101010101" pitchFamily="2" charset="-122"/>
              </a:rPr>
              <a:t>			</a:t>
            </a:r>
            <a:r>
              <a:rPr lang="en-US" altLang="zh-CN" sz="2400" baseline="0" dirty="0" err="1">
                <a:latin typeface="Times New Roman" panose="02020603050405020304" pitchFamily="18" charset="0"/>
                <a:ea typeface="楷体-简" panose="02010600040101010101" pitchFamily="2" charset="-122"/>
              </a:rPr>
              <a:t>i</a:t>
            </a:r>
            <a:r>
              <a:rPr lang="en-US" altLang="zh-CN" sz="2400" baseline="0" dirty="0">
                <a:latin typeface="Times New Roman" panose="02020603050405020304" pitchFamily="18" charset="0"/>
                <a:ea typeface="楷体-简" panose="02010600040101010101" pitchFamily="2" charset="-122"/>
              </a:rPr>
              <a:t>=p+5;         //</a:t>
            </a:r>
            <a:r>
              <a:rPr lang="zh-CN" altLang="en-US" sz="2400" b="1" baseline="0" dirty="0">
                <a:solidFill>
                  <a:srgbClr val="FF0000"/>
                </a:solidFill>
                <a:latin typeface="Times New Roman" panose="02020603050405020304" pitchFamily="18" charset="0"/>
                <a:ea typeface="楷体-简" panose="02010600040101010101" pitchFamily="2" charset="-122"/>
              </a:rPr>
              <a:t>编译会出错吗</a:t>
            </a:r>
            <a:r>
              <a:rPr lang="en-US" altLang="zh-CN" sz="2400" b="1" baseline="0" dirty="0">
                <a:solidFill>
                  <a:srgbClr val="FF0000"/>
                </a:solidFill>
                <a:latin typeface="Times New Roman" panose="02020603050405020304" pitchFamily="18" charset="0"/>
                <a:ea typeface="楷体-简" panose="02010600040101010101" pitchFamily="2" charset="-122"/>
              </a:rPr>
              <a:t>? </a:t>
            </a:r>
          </a:p>
          <a:p>
            <a:pPr eaLnBrk="1" hangingPunct="1">
              <a:lnSpc>
                <a:spcPct val="80000"/>
              </a:lnSpc>
              <a:buFontTx/>
              <a:buNone/>
            </a:pPr>
            <a:r>
              <a:rPr lang="en-US" altLang="zh-CN" sz="2400" baseline="0" dirty="0">
                <a:latin typeface="Times New Roman" panose="02020603050405020304" pitchFamily="18" charset="0"/>
                <a:ea typeface="楷体-简" panose="02010600040101010101" pitchFamily="2" charset="-122"/>
              </a:rPr>
              <a:t>		}</a:t>
            </a:r>
          </a:p>
          <a:p>
            <a:pPr eaLnBrk="1" hangingPunct="1">
              <a:lnSpc>
                <a:spcPct val="80000"/>
              </a:lnSpc>
              <a:buFontTx/>
              <a:buNone/>
            </a:pPr>
            <a:r>
              <a:rPr lang="en-US" altLang="zh-CN" sz="2400" baseline="0" dirty="0">
                <a:latin typeface="Times New Roman" panose="02020603050405020304" pitchFamily="18" charset="0"/>
                <a:ea typeface="楷体-简" panose="02010600040101010101" pitchFamily="2" charset="-122"/>
              </a:rPr>
              <a:t>}</a:t>
            </a:r>
          </a:p>
          <a:p>
            <a:pPr eaLnBrk="1" hangingPunct="1">
              <a:lnSpc>
                <a:spcPct val="80000"/>
              </a:lnSpc>
            </a:pPr>
            <a:endParaRPr lang="en-US" altLang="zh-CN" sz="2400" baseline="0" dirty="0">
              <a:latin typeface="Times New Roman" panose="02020603050405020304" pitchFamily="18" charset="0"/>
              <a:ea typeface="楷体-简" panose="02010600040101010101" pitchFamily="2"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29B38D99-FD3A-4165-939B-11B39B05168E}"/>
              </a:ext>
            </a:extLst>
          </p:cNvPr>
          <p:cNvSpPr>
            <a:spLocks noGrp="1" noChangeArrowheads="1"/>
          </p:cNvSpPr>
          <p:nvPr>
            <p:ph type="body" idx="1"/>
          </p:nvPr>
        </p:nvSpPr>
        <p:spPr>
          <a:xfrm>
            <a:off x="1043260" y="512812"/>
            <a:ext cx="7057479" cy="5832375"/>
          </a:xfrm>
        </p:spPr>
        <p:txBody>
          <a:bodyPr/>
          <a:lstStyle/>
          <a:p>
            <a:pPr eaLnBrk="1" hangingPunct="1">
              <a:spcBef>
                <a:spcPct val="50000"/>
              </a:spcBef>
              <a:buFontTx/>
              <a:buNone/>
            </a:pPr>
            <a:r>
              <a:rPr lang="zh-CN" altLang="en-US" sz="2400" baseline="0" dirty="0">
                <a:solidFill>
                  <a:srgbClr val="FF0066"/>
                </a:solidFill>
                <a:latin typeface="Times New Roman" panose="02020603050405020304" pitchFamily="18" charset="0"/>
                <a:ea typeface="楷体-简" panose="02010600040101010101" pitchFamily="2" charset="-122"/>
              </a:rPr>
              <a:t>变量作用域例子</a:t>
            </a:r>
            <a:endParaRPr lang="zh-CN" altLang="en-US" sz="2400" b="1" baseline="0" dirty="0">
              <a:solidFill>
                <a:srgbClr val="0000CC"/>
              </a:solidFill>
              <a:latin typeface="Times New Roman" panose="02020603050405020304" pitchFamily="18" charset="0"/>
              <a:ea typeface="楷体-简" panose="02010600040101010101" pitchFamily="2" charset="-122"/>
            </a:endParaRPr>
          </a:p>
          <a:p>
            <a:pPr eaLnBrk="1" hangingPunct="1">
              <a:lnSpc>
                <a:spcPct val="90000"/>
              </a:lnSpc>
              <a:buFontTx/>
              <a:buNone/>
            </a:pPr>
            <a:r>
              <a:rPr lang="en-US" altLang="zh-CN" sz="2400" b="1" baseline="0" dirty="0">
                <a:solidFill>
                  <a:srgbClr val="0000CC"/>
                </a:solidFill>
                <a:latin typeface="Times New Roman" panose="02020603050405020304" pitchFamily="18" charset="0"/>
                <a:ea typeface="楷体-简" panose="02010600040101010101" pitchFamily="2" charset="-122"/>
              </a:rPr>
              <a:t>public class</a:t>
            </a:r>
            <a:r>
              <a:rPr lang="en-US" altLang="zh-CN" sz="2400" b="1" baseline="0" dirty="0">
                <a:latin typeface="Times New Roman" panose="02020603050405020304" pitchFamily="18" charset="0"/>
                <a:ea typeface="楷体-简" panose="02010600040101010101" pitchFamily="2" charset="-122"/>
              </a:rPr>
              <a:t> </a:t>
            </a:r>
            <a:r>
              <a:rPr lang="en-US" altLang="zh-CN" sz="2400" b="1" baseline="0" dirty="0" err="1">
                <a:latin typeface="Times New Roman" panose="02020603050405020304" pitchFamily="18" charset="0"/>
                <a:ea typeface="楷体-简" panose="02010600040101010101" pitchFamily="2" charset="-122"/>
              </a:rPr>
              <a:t>VariableScope</a:t>
            </a:r>
            <a:endParaRPr lang="en-US" altLang="zh-CN" sz="2400" b="1" baseline="0" dirty="0">
              <a:latin typeface="Times New Roman" panose="02020603050405020304" pitchFamily="18" charset="0"/>
              <a:ea typeface="楷体-简" panose="02010600040101010101" pitchFamily="2" charset="-122"/>
            </a:endParaRPr>
          </a:p>
          <a:p>
            <a:pPr eaLnBrk="1" hangingPunct="1">
              <a:lnSpc>
                <a:spcPct val="90000"/>
              </a:lnSpc>
              <a:buFontTx/>
              <a:buNone/>
            </a:pPr>
            <a:r>
              <a:rPr lang="en-US" altLang="zh-CN" sz="2400" b="1" baseline="0" dirty="0">
                <a:latin typeface="Times New Roman" panose="02020603050405020304" pitchFamily="18" charset="0"/>
                <a:ea typeface="楷体-简" panose="02010600040101010101" pitchFamily="2" charset="-122"/>
              </a:rPr>
              <a:t>{</a:t>
            </a:r>
          </a:p>
          <a:p>
            <a:pPr eaLnBrk="1" hangingPunct="1">
              <a:lnSpc>
                <a:spcPct val="90000"/>
              </a:lnSpc>
              <a:buFontTx/>
              <a:buNone/>
            </a:pPr>
            <a:r>
              <a:rPr lang="en-US" altLang="zh-CN" sz="2400" b="1" baseline="0" dirty="0">
                <a:latin typeface="Times New Roman" panose="02020603050405020304" pitchFamily="18" charset="0"/>
                <a:ea typeface="楷体-简" panose="02010600040101010101" pitchFamily="2" charset="-122"/>
              </a:rPr>
              <a:t> 	 </a:t>
            </a:r>
            <a:r>
              <a:rPr lang="en-US" altLang="zh-CN" sz="2400" b="1" baseline="0" dirty="0">
                <a:solidFill>
                  <a:srgbClr val="0000CC"/>
                </a:solidFill>
                <a:latin typeface="Times New Roman" panose="02020603050405020304" pitchFamily="18" charset="0"/>
                <a:ea typeface="楷体-简" panose="02010600040101010101" pitchFamily="2" charset="-122"/>
              </a:rPr>
              <a:t>public static void</a:t>
            </a:r>
            <a:r>
              <a:rPr lang="en-US" altLang="zh-CN" sz="2400" b="1" baseline="0" dirty="0">
                <a:latin typeface="Times New Roman" panose="02020603050405020304" pitchFamily="18" charset="0"/>
                <a:ea typeface="楷体-简" panose="02010600040101010101" pitchFamily="2" charset="-122"/>
              </a:rPr>
              <a:t> main(</a:t>
            </a:r>
            <a:r>
              <a:rPr lang="en-US" altLang="zh-CN" sz="2400" b="1" baseline="0" dirty="0">
                <a:solidFill>
                  <a:srgbClr val="FF0066"/>
                </a:solidFill>
                <a:latin typeface="Times New Roman" panose="02020603050405020304" pitchFamily="18" charset="0"/>
                <a:ea typeface="楷体-简" panose="02010600040101010101" pitchFamily="2" charset="-122"/>
              </a:rPr>
              <a:t>String</a:t>
            </a:r>
            <a:r>
              <a:rPr lang="en-US" altLang="zh-CN" sz="2400" b="1" baseline="0" dirty="0">
                <a:latin typeface="Times New Roman" panose="02020603050405020304" pitchFamily="18" charset="0"/>
                <a:ea typeface="楷体-简" panose="02010600040101010101" pitchFamily="2" charset="-122"/>
              </a:rPr>
              <a:t> </a:t>
            </a:r>
            <a:r>
              <a:rPr lang="en-US" altLang="zh-CN" sz="2400" b="1" baseline="0" dirty="0" err="1">
                <a:latin typeface="Times New Roman" panose="02020603050405020304" pitchFamily="18" charset="0"/>
                <a:ea typeface="楷体-简" panose="02010600040101010101" pitchFamily="2" charset="-122"/>
              </a:rPr>
              <a:t>args</a:t>
            </a:r>
            <a:r>
              <a:rPr lang="en-US" altLang="zh-CN" sz="2400" b="1" baseline="0" dirty="0">
                <a:latin typeface="Times New Roman" panose="02020603050405020304" pitchFamily="18" charset="0"/>
                <a:ea typeface="楷体-简" panose="02010600040101010101" pitchFamily="2" charset="-122"/>
              </a:rPr>
              <a:t>[ ])</a:t>
            </a:r>
          </a:p>
          <a:p>
            <a:pPr eaLnBrk="1" hangingPunct="1">
              <a:lnSpc>
                <a:spcPct val="90000"/>
              </a:lnSpc>
              <a:buFontTx/>
              <a:buNone/>
            </a:pPr>
            <a:r>
              <a:rPr lang="en-US" altLang="zh-CN" sz="2400" b="1" baseline="0" dirty="0">
                <a:latin typeface="Times New Roman" panose="02020603050405020304" pitchFamily="18" charset="0"/>
                <a:ea typeface="楷体-简" panose="02010600040101010101" pitchFamily="2" charset="-122"/>
              </a:rPr>
              <a:t>  	{  	 </a:t>
            </a:r>
            <a:r>
              <a:rPr lang="en-US" altLang="zh-CN" sz="2400" b="1" baseline="0" dirty="0" err="1">
                <a:solidFill>
                  <a:schemeClr val="tx2"/>
                </a:solidFill>
                <a:latin typeface="Times New Roman" panose="02020603050405020304" pitchFamily="18" charset="0"/>
                <a:ea typeface="楷体-简" panose="02010600040101010101" pitchFamily="2" charset="-122"/>
              </a:rPr>
              <a:t>int</a:t>
            </a:r>
            <a:r>
              <a:rPr lang="en-US" altLang="zh-CN" sz="2400" b="1" baseline="0" dirty="0">
                <a:solidFill>
                  <a:schemeClr val="tx2"/>
                </a:solidFill>
                <a:latin typeface="Times New Roman" panose="02020603050405020304" pitchFamily="18" charset="0"/>
                <a:ea typeface="楷体-简" panose="02010600040101010101" pitchFamily="2" charset="-122"/>
              </a:rPr>
              <a:t> x=10</a:t>
            </a:r>
            <a:r>
              <a:rPr lang="en-US" altLang="zh-CN" sz="2400" b="1" baseline="0" dirty="0">
                <a:latin typeface="Times New Roman" panose="02020603050405020304" pitchFamily="18" charset="0"/>
                <a:ea typeface="楷体-简" panose="02010600040101010101" pitchFamily="2" charset="-122"/>
              </a:rPr>
              <a:t>;</a:t>
            </a:r>
          </a:p>
          <a:p>
            <a:pPr eaLnBrk="1" hangingPunct="1">
              <a:lnSpc>
                <a:spcPct val="90000"/>
              </a:lnSpc>
              <a:buFontTx/>
              <a:buNone/>
            </a:pPr>
            <a:r>
              <a:rPr lang="en-US" altLang="zh-CN" sz="2400" b="1" baseline="0" dirty="0">
                <a:latin typeface="Times New Roman" panose="02020603050405020304" pitchFamily="18" charset="0"/>
                <a:ea typeface="楷体-简" panose="02010600040101010101" pitchFamily="2" charset="-122"/>
              </a:rPr>
              <a:t>		 if ( x ==10 )</a:t>
            </a:r>
          </a:p>
          <a:p>
            <a:pPr eaLnBrk="1" hangingPunct="1">
              <a:lnSpc>
                <a:spcPct val="90000"/>
              </a:lnSpc>
              <a:buFontTx/>
              <a:buNone/>
            </a:pPr>
            <a:r>
              <a:rPr lang="en-US" altLang="zh-CN" sz="2400" b="1" baseline="0" dirty="0">
                <a:latin typeface="Times New Roman" panose="02020603050405020304" pitchFamily="18" charset="0"/>
                <a:ea typeface="楷体-简" panose="02010600040101010101" pitchFamily="2" charset="-122"/>
              </a:rPr>
              <a:t>     	 {         </a:t>
            </a:r>
            <a:r>
              <a:rPr lang="en-US" altLang="zh-CN" sz="2400" b="1" baseline="0" dirty="0" err="1">
                <a:latin typeface="Times New Roman" panose="02020603050405020304" pitchFamily="18" charset="0"/>
                <a:ea typeface="楷体-简" panose="02010600040101010101" pitchFamily="2" charset="-122"/>
              </a:rPr>
              <a:t>int</a:t>
            </a:r>
            <a:r>
              <a:rPr lang="en-US" altLang="zh-CN" sz="2400" b="1" baseline="0" dirty="0">
                <a:latin typeface="Times New Roman" panose="02020603050405020304" pitchFamily="18" charset="0"/>
                <a:ea typeface="楷体-简" panose="02010600040101010101" pitchFamily="2" charset="-122"/>
              </a:rPr>
              <a:t>  </a:t>
            </a:r>
            <a:r>
              <a:rPr lang="en-US" altLang="zh-CN" sz="2400" b="1" baseline="0" dirty="0">
                <a:solidFill>
                  <a:schemeClr val="tx2"/>
                </a:solidFill>
                <a:latin typeface="Times New Roman" panose="02020603050405020304" pitchFamily="18" charset="0"/>
                <a:ea typeface="楷体-简" panose="02010600040101010101" pitchFamily="2" charset="-122"/>
              </a:rPr>
              <a:t>y = 20</a:t>
            </a:r>
            <a:r>
              <a:rPr lang="en-US" altLang="zh-CN" sz="2400" b="1" baseline="0" dirty="0">
                <a:latin typeface="Times New Roman" panose="02020603050405020304" pitchFamily="18" charset="0"/>
                <a:ea typeface="楷体-简" panose="02010600040101010101" pitchFamily="2" charset="-122"/>
              </a:rPr>
              <a:t>;	</a:t>
            </a:r>
          </a:p>
          <a:p>
            <a:pPr eaLnBrk="1" hangingPunct="1">
              <a:lnSpc>
                <a:spcPct val="90000"/>
              </a:lnSpc>
              <a:buFontTx/>
              <a:buNone/>
            </a:pPr>
            <a:r>
              <a:rPr lang="en-US" altLang="zh-CN" sz="2400" b="1" baseline="0" dirty="0">
                <a:latin typeface="Times New Roman" panose="02020603050405020304" pitchFamily="18" charset="0"/>
                <a:ea typeface="楷体-简" panose="02010600040101010101" pitchFamily="2" charset="-122"/>
              </a:rPr>
              <a:t>		           </a:t>
            </a:r>
            <a:r>
              <a:rPr lang="en-US" altLang="zh-CN" sz="2400" b="1" baseline="0" dirty="0" err="1">
                <a:latin typeface="Times New Roman" panose="02020603050405020304" pitchFamily="18" charset="0"/>
                <a:ea typeface="楷体-简" panose="02010600040101010101" pitchFamily="2" charset="-122"/>
              </a:rPr>
              <a:t>System.out.println</a:t>
            </a:r>
            <a:r>
              <a:rPr lang="en-US" altLang="zh-CN" sz="2400" b="1" baseline="0" dirty="0">
                <a:latin typeface="Times New Roman" panose="02020603050405020304" pitchFamily="18" charset="0"/>
                <a:ea typeface="楷体-简" panose="02010600040101010101" pitchFamily="2" charset="-122"/>
              </a:rPr>
              <a:t>(" x = " + x);</a:t>
            </a:r>
          </a:p>
          <a:p>
            <a:pPr eaLnBrk="1" hangingPunct="1">
              <a:lnSpc>
                <a:spcPct val="90000"/>
              </a:lnSpc>
              <a:buFontTx/>
              <a:buNone/>
            </a:pPr>
            <a:r>
              <a:rPr lang="en-US" altLang="zh-CN" sz="2400" b="1" baseline="0" dirty="0">
                <a:latin typeface="Times New Roman" panose="02020603050405020304" pitchFamily="18" charset="0"/>
                <a:ea typeface="楷体-简" panose="02010600040101010101" pitchFamily="2" charset="-122"/>
              </a:rPr>
              <a:t>		           </a:t>
            </a:r>
            <a:r>
              <a:rPr lang="en-US" altLang="zh-CN" sz="2400" b="1" baseline="0" dirty="0" err="1">
                <a:latin typeface="Times New Roman" panose="02020603050405020304" pitchFamily="18" charset="0"/>
                <a:ea typeface="楷体-简" panose="02010600040101010101" pitchFamily="2" charset="-122"/>
              </a:rPr>
              <a:t>System.out.println</a:t>
            </a:r>
            <a:r>
              <a:rPr lang="en-US" altLang="zh-CN" sz="2400" b="1" baseline="0" dirty="0">
                <a:latin typeface="Times New Roman" panose="02020603050405020304" pitchFamily="18" charset="0"/>
                <a:ea typeface="楷体-简" panose="02010600040101010101" pitchFamily="2" charset="-122"/>
              </a:rPr>
              <a:t>(" y = " + y);	</a:t>
            </a:r>
          </a:p>
          <a:p>
            <a:pPr eaLnBrk="1" hangingPunct="1">
              <a:lnSpc>
                <a:spcPct val="90000"/>
              </a:lnSpc>
              <a:buFontTx/>
              <a:buNone/>
            </a:pPr>
            <a:r>
              <a:rPr lang="en-US" altLang="zh-CN" sz="2400" b="1" baseline="0" dirty="0">
                <a:latin typeface="Times New Roman" panose="02020603050405020304" pitchFamily="18" charset="0"/>
                <a:ea typeface="楷体-简" panose="02010600040101010101" pitchFamily="2" charset="-122"/>
              </a:rPr>
              <a:t>		 }</a:t>
            </a:r>
          </a:p>
          <a:p>
            <a:pPr eaLnBrk="1" hangingPunct="1">
              <a:lnSpc>
                <a:spcPct val="90000"/>
              </a:lnSpc>
              <a:buFontTx/>
              <a:buNone/>
            </a:pPr>
            <a:r>
              <a:rPr lang="en-US" altLang="zh-CN" sz="2400" b="1" baseline="0" dirty="0">
                <a:latin typeface="Times New Roman" panose="02020603050405020304" pitchFamily="18" charset="0"/>
                <a:ea typeface="楷体-简" panose="02010600040101010101" pitchFamily="2" charset="-122"/>
              </a:rPr>
              <a:t>          </a:t>
            </a:r>
            <a:r>
              <a:rPr lang="en-US" altLang="zh-CN" sz="2400" b="1" baseline="0" dirty="0" err="1">
                <a:solidFill>
                  <a:srgbClr val="FF0066"/>
                </a:solidFill>
                <a:latin typeface="Times New Roman" panose="02020603050405020304" pitchFamily="18" charset="0"/>
                <a:ea typeface="楷体-简" panose="02010600040101010101" pitchFamily="2" charset="-122"/>
              </a:rPr>
              <a:t>System</a:t>
            </a:r>
            <a:r>
              <a:rPr lang="en-US" altLang="zh-CN" sz="2400" b="1" baseline="0" dirty="0" err="1">
                <a:latin typeface="Times New Roman" panose="02020603050405020304" pitchFamily="18" charset="0"/>
                <a:ea typeface="楷体-简" panose="02010600040101010101" pitchFamily="2" charset="-122"/>
              </a:rPr>
              <a:t>.out.println</a:t>
            </a:r>
            <a:r>
              <a:rPr lang="en-US" altLang="zh-CN" sz="2400" b="1" baseline="0" dirty="0">
                <a:latin typeface="Times New Roman" panose="02020603050405020304" pitchFamily="18" charset="0"/>
                <a:ea typeface="楷体-简" panose="02010600040101010101" pitchFamily="2" charset="-122"/>
              </a:rPr>
              <a:t>(" x = "+ x);  </a:t>
            </a:r>
          </a:p>
          <a:p>
            <a:pPr eaLnBrk="1" hangingPunct="1">
              <a:lnSpc>
                <a:spcPct val="90000"/>
              </a:lnSpc>
              <a:buFontTx/>
              <a:buNone/>
            </a:pPr>
            <a:r>
              <a:rPr lang="en-US" altLang="zh-CN" sz="2400" b="1" baseline="0" dirty="0">
                <a:latin typeface="Times New Roman" panose="02020603050405020304" pitchFamily="18" charset="0"/>
                <a:ea typeface="楷体-简" panose="02010600040101010101" pitchFamily="2" charset="-122"/>
              </a:rPr>
              <a:t>    	     </a:t>
            </a:r>
            <a:r>
              <a:rPr lang="en-US" altLang="zh-CN" sz="2400" b="1" baseline="0" dirty="0" err="1">
                <a:solidFill>
                  <a:srgbClr val="FF0066"/>
                </a:solidFill>
                <a:latin typeface="Times New Roman" panose="02020603050405020304" pitchFamily="18" charset="0"/>
                <a:ea typeface="楷体-简" panose="02010600040101010101" pitchFamily="2" charset="-122"/>
              </a:rPr>
              <a:t>System</a:t>
            </a:r>
            <a:r>
              <a:rPr lang="en-US" altLang="zh-CN" sz="2400" b="1" baseline="0" dirty="0" err="1">
                <a:latin typeface="Times New Roman" panose="02020603050405020304" pitchFamily="18" charset="0"/>
                <a:ea typeface="楷体-简" panose="02010600040101010101" pitchFamily="2" charset="-122"/>
              </a:rPr>
              <a:t>.out.println</a:t>
            </a:r>
            <a:r>
              <a:rPr lang="en-US" altLang="zh-CN" sz="2400" b="1" baseline="0" dirty="0">
                <a:latin typeface="Times New Roman" panose="02020603050405020304" pitchFamily="18" charset="0"/>
                <a:ea typeface="楷体-简" panose="02010600040101010101" pitchFamily="2" charset="-122"/>
              </a:rPr>
              <a:t>(" y = "+ </a:t>
            </a:r>
            <a:r>
              <a:rPr lang="en-US" altLang="zh-CN" sz="2400" b="1" baseline="0" dirty="0">
                <a:solidFill>
                  <a:schemeClr val="tx2"/>
                </a:solidFill>
                <a:latin typeface="Times New Roman" panose="02020603050405020304" pitchFamily="18" charset="0"/>
                <a:ea typeface="楷体-简" panose="02010600040101010101" pitchFamily="2" charset="-122"/>
              </a:rPr>
              <a:t>y</a:t>
            </a:r>
            <a:r>
              <a:rPr lang="en-US" altLang="zh-CN" sz="2400" b="1" baseline="0" dirty="0">
                <a:latin typeface="Times New Roman" panose="02020603050405020304" pitchFamily="18" charset="0"/>
                <a:ea typeface="楷体-简" panose="02010600040101010101" pitchFamily="2" charset="-122"/>
              </a:rPr>
              <a:t>);    //</a:t>
            </a:r>
            <a:r>
              <a:rPr lang="en-US" altLang="zh-CN" sz="2400" b="1" baseline="0" dirty="0">
                <a:solidFill>
                  <a:srgbClr val="FF0000"/>
                </a:solidFill>
                <a:latin typeface="Times New Roman" panose="02020603050405020304" pitchFamily="18" charset="0"/>
                <a:ea typeface="楷体-简" panose="02010600040101010101" pitchFamily="2" charset="-122"/>
              </a:rPr>
              <a:t>y</a:t>
            </a:r>
            <a:r>
              <a:rPr lang="zh-CN" altLang="en-US" sz="2400" b="1" baseline="0" dirty="0">
                <a:solidFill>
                  <a:srgbClr val="FF0000"/>
                </a:solidFill>
                <a:latin typeface="Times New Roman" panose="02020603050405020304" pitchFamily="18" charset="0"/>
                <a:ea typeface="楷体-简" panose="02010600040101010101" pitchFamily="2" charset="-122"/>
              </a:rPr>
              <a:t>没有定义</a:t>
            </a:r>
          </a:p>
          <a:p>
            <a:pPr eaLnBrk="1" hangingPunct="1">
              <a:lnSpc>
                <a:spcPct val="90000"/>
              </a:lnSpc>
              <a:buFontTx/>
              <a:buNone/>
            </a:pPr>
            <a:r>
              <a:rPr lang="zh-CN" altLang="en-US" sz="2400" b="1" baseline="0" dirty="0">
                <a:latin typeface="Times New Roman" panose="02020603050405020304" pitchFamily="18" charset="0"/>
                <a:ea typeface="楷体-简" panose="02010600040101010101" pitchFamily="2" charset="-122"/>
              </a:rPr>
              <a:t>  </a:t>
            </a:r>
            <a:r>
              <a:rPr lang="en-US" altLang="zh-CN" sz="2400" b="1" baseline="0" dirty="0">
                <a:latin typeface="Times New Roman" panose="02020603050405020304" pitchFamily="18" charset="0"/>
                <a:ea typeface="楷体-简" panose="02010600040101010101" pitchFamily="2" charset="-122"/>
              </a:rPr>
              <a:t>}</a:t>
            </a:r>
          </a:p>
          <a:p>
            <a:pPr eaLnBrk="1" hangingPunct="1">
              <a:lnSpc>
                <a:spcPct val="90000"/>
              </a:lnSpc>
              <a:buFontTx/>
              <a:buNone/>
            </a:pPr>
            <a:r>
              <a:rPr lang="en-US" altLang="zh-CN" sz="2400" b="1" baseline="0" dirty="0">
                <a:latin typeface="Times New Roman" panose="02020603050405020304" pitchFamily="18" charset="0"/>
                <a:ea typeface="楷体-简" panose="02010600040101010101" pitchFamily="2" charset="-122"/>
              </a:rPr>
              <a:t>}</a:t>
            </a:r>
          </a:p>
        </p:txBody>
      </p:sp>
    </p:spTree>
  </p:cSld>
  <p:clrMapOvr>
    <a:masterClrMapping/>
  </p:clrMapOvr>
  <p:transition>
    <p:split orient="ver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F1A853B7-471B-4C39-80C3-A3704876B1E7}"/>
              </a:ext>
            </a:extLst>
          </p:cNvPr>
          <p:cNvSpPr>
            <a:spLocks noGrp="1" noChangeArrowheads="1"/>
          </p:cNvSpPr>
          <p:nvPr>
            <p:ph type="title"/>
          </p:nvPr>
        </p:nvSpPr>
        <p:spPr/>
        <p:txBody>
          <a:bodyPr/>
          <a:lstStyle/>
          <a:p>
            <a:pPr eaLnBrk="1" hangingPunct="1"/>
            <a:r>
              <a:rPr lang="en-US" altLang="zh-CN" sz="3600" baseline="0">
                <a:solidFill>
                  <a:srgbClr val="FF0066"/>
                </a:solidFill>
                <a:latin typeface="Times New Roman" panose="02020603050405020304" pitchFamily="18" charset="0"/>
                <a:ea typeface="楷体-简" panose="02010600040101010101" pitchFamily="2" charset="-122"/>
              </a:rPr>
              <a:t>2.4 </a:t>
            </a:r>
            <a:r>
              <a:rPr lang="zh-CN" altLang="en-US" sz="3600" baseline="0">
                <a:solidFill>
                  <a:srgbClr val="FF0066"/>
                </a:solidFill>
                <a:latin typeface="Times New Roman" panose="02020603050405020304" pitchFamily="18" charset="0"/>
                <a:ea typeface="楷体-简" panose="02010600040101010101" pitchFamily="2" charset="-122"/>
              </a:rPr>
              <a:t>基本数据类型</a:t>
            </a:r>
          </a:p>
        </p:txBody>
      </p:sp>
      <p:sp>
        <p:nvSpPr>
          <p:cNvPr id="20483" name="Rectangle 3">
            <a:extLst>
              <a:ext uri="{FF2B5EF4-FFF2-40B4-BE49-F238E27FC236}">
                <a16:creationId xmlns:a16="http://schemas.microsoft.com/office/drawing/2014/main" id="{2E8730F3-5BEF-4E45-90D8-4E9B9F95F7FE}"/>
              </a:ext>
            </a:extLst>
          </p:cNvPr>
          <p:cNvSpPr>
            <a:spLocks noGrp="1" noChangeArrowheads="1"/>
          </p:cNvSpPr>
          <p:nvPr>
            <p:ph type="body" idx="1"/>
          </p:nvPr>
        </p:nvSpPr>
        <p:spPr/>
        <p:txBody>
          <a:bodyPr/>
          <a:lstStyle/>
          <a:p>
            <a:pPr eaLnBrk="1" hangingPunct="1">
              <a:buFontTx/>
              <a:buNone/>
            </a:pPr>
            <a:r>
              <a:rPr lang="en-US" altLang="zh-CN" sz="2400" b="1" baseline="0">
                <a:solidFill>
                  <a:srgbClr val="FF0066"/>
                </a:solidFill>
                <a:latin typeface="Times New Roman" panose="02020603050405020304" pitchFamily="18" charset="0"/>
                <a:ea typeface="楷体-简" panose="02010600040101010101" pitchFamily="2" charset="-122"/>
              </a:rPr>
              <a:t>1</a:t>
            </a:r>
            <a:r>
              <a:rPr lang="zh-CN" altLang="en-US" sz="2400" b="1" baseline="0">
                <a:solidFill>
                  <a:srgbClr val="FF0066"/>
                </a:solidFill>
                <a:latin typeface="Times New Roman" panose="02020603050405020304" pitchFamily="18" charset="0"/>
                <a:ea typeface="楷体-简" panose="02010600040101010101" pitchFamily="2" charset="-122"/>
              </a:rPr>
              <a:t>．布尔类型</a:t>
            </a:r>
            <a:r>
              <a:rPr lang="en-US" altLang="zh-CN" sz="2400" b="1" baseline="0">
                <a:solidFill>
                  <a:srgbClr val="FF0066"/>
                </a:solidFill>
                <a:latin typeface="Times New Roman" panose="02020603050405020304" pitchFamily="18" charset="0"/>
                <a:ea typeface="楷体-简" panose="02010600040101010101" pitchFamily="2" charset="-122"/>
              </a:rPr>
              <a:t>--boolean</a:t>
            </a:r>
            <a:br>
              <a:rPr lang="en-US" altLang="zh-CN" sz="2400" baseline="0">
                <a:solidFill>
                  <a:srgbClr val="FF0066"/>
                </a:solidFill>
                <a:latin typeface="Times New Roman" panose="02020603050405020304" pitchFamily="18" charset="0"/>
                <a:ea typeface="楷体-简" panose="02010600040101010101" pitchFamily="2" charset="-122"/>
              </a:rPr>
            </a:br>
            <a:r>
              <a:rPr lang="en-US" altLang="zh-CN" sz="2400" b="1" baseline="0">
                <a:latin typeface="Times New Roman" panose="02020603050405020304" pitchFamily="18" charset="0"/>
                <a:ea typeface="楷体-简" panose="02010600040101010101" pitchFamily="2" charset="-122"/>
              </a:rPr>
              <a:t> </a:t>
            </a:r>
          </a:p>
          <a:p>
            <a:pPr eaLnBrk="1" hangingPunct="1">
              <a:buFont typeface="Wingdings" panose="05000000000000000000" pitchFamily="2" charset="2"/>
              <a:buChar char="Ø"/>
            </a:pPr>
            <a:r>
              <a:rPr lang="zh-CN" altLang="en-US" sz="2400" b="1" baseline="0">
                <a:latin typeface="Times New Roman" panose="02020603050405020304" pitchFamily="18" charset="0"/>
                <a:ea typeface="楷体-简" panose="02010600040101010101" pitchFamily="2" charset="-122"/>
              </a:rPr>
              <a:t>常量：</a:t>
            </a:r>
            <a:r>
              <a:rPr lang="en-US" altLang="zh-CN" sz="2400" b="1" baseline="0">
                <a:solidFill>
                  <a:srgbClr val="6666FF"/>
                </a:solidFill>
                <a:latin typeface="Times New Roman" panose="02020603050405020304" pitchFamily="18" charset="0"/>
                <a:ea typeface="楷体-简" panose="02010600040101010101" pitchFamily="2" charset="-122"/>
              </a:rPr>
              <a:t>true </a:t>
            </a:r>
            <a:r>
              <a:rPr lang="zh-CN" altLang="en-US" sz="2400" b="1" baseline="0">
                <a:solidFill>
                  <a:srgbClr val="6666FF"/>
                </a:solidFill>
                <a:latin typeface="Times New Roman" panose="02020603050405020304" pitchFamily="18" charset="0"/>
                <a:ea typeface="楷体-简" panose="02010600040101010101" pitchFamily="2" charset="-122"/>
              </a:rPr>
              <a:t>，</a:t>
            </a:r>
            <a:r>
              <a:rPr lang="en-US" altLang="zh-CN" sz="2400" b="1" baseline="0">
                <a:solidFill>
                  <a:srgbClr val="6666FF"/>
                </a:solidFill>
                <a:latin typeface="Times New Roman" panose="02020603050405020304" pitchFamily="18" charset="0"/>
                <a:ea typeface="楷体-简" panose="02010600040101010101" pitchFamily="2" charset="-122"/>
              </a:rPr>
              <a:t>false</a:t>
            </a:r>
            <a:r>
              <a:rPr lang="en-US" altLang="zh-CN" sz="2400" b="1" baseline="0">
                <a:solidFill>
                  <a:schemeClr val="folHlink"/>
                </a:solidFill>
                <a:latin typeface="Times New Roman" panose="02020603050405020304" pitchFamily="18" charset="0"/>
                <a:ea typeface="楷体-简" panose="02010600040101010101" pitchFamily="2" charset="-122"/>
              </a:rPr>
              <a:t> </a:t>
            </a:r>
            <a:r>
              <a:rPr lang="zh-CN" altLang="en-US" sz="2400" b="1" baseline="0">
                <a:latin typeface="Times New Roman" panose="02020603050405020304" pitchFamily="18" charset="0"/>
                <a:ea typeface="楷体-简" panose="02010600040101010101" pitchFamily="2" charset="-122"/>
              </a:rPr>
              <a:t>且它们不对应于任何整数值</a:t>
            </a:r>
            <a:endParaRPr lang="zh-CN" altLang="en-US" sz="2400" b="1" baseline="0">
              <a:solidFill>
                <a:schemeClr val="folHlink"/>
              </a:solidFill>
              <a:latin typeface="Times New Roman" panose="02020603050405020304" pitchFamily="18" charset="0"/>
              <a:ea typeface="楷体-简" panose="02010600040101010101" pitchFamily="2" charset="-122"/>
            </a:endParaRPr>
          </a:p>
          <a:p>
            <a:pPr eaLnBrk="1" hangingPunct="1">
              <a:buFont typeface="Wingdings" panose="05000000000000000000" pitchFamily="2" charset="2"/>
              <a:buChar char="Ø"/>
            </a:pPr>
            <a:r>
              <a:rPr lang="zh-CN" altLang="en-US" sz="2400" b="1" baseline="0">
                <a:latin typeface="Times New Roman" panose="02020603050405020304" pitchFamily="18" charset="0"/>
                <a:ea typeface="楷体-简" panose="02010600040101010101" pitchFamily="2" charset="-122"/>
              </a:rPr>
              <a:t>变量的定义：使用关键字</a:t>
            </a:r>
            <a:r>
              <a:rPr lang="en-US" altLang="zh-CN" sz="2400" b="1" baseline="0">
                <a:latin typeface="Times New Roman" panose="02020603050405020304" pitchFamily="18" charset="0"/>
                <a:ea typeface="楷体-简" panose="02010600040101010101" pitchFamily="2" charset="-122"/>
              </a:rPr>
              <a:t>boolean</a:t>
            </a:r>
            <a:r>
              <a:rPr lang="zh-CN" altLang="en-US" sz="2400" b="1" baseline="0">
                <a:latin typeface="Times New Roman" panose="02020603050405020304" pitchFamily="18" charset="0"/>
                <a:ea typeface="楷体-简" panose="02010600040101010101" pitchFamily="2" charset="-122"/>
              </a:rPr>
              <a:t>来定义逻辑变量，定义时也可以赋给初值。</a:t>
            </a:r>
          </a:p>
          <a:p>
            <a:pPr eaLnBrk="1" hangingPunct="1">
              <a:buFontTx/>
              <a:buNone/>
            </a:pPr>
            <a:endParaRPr lang="en-US" altLang="zh-CN" baseline="0">
              <a:latin typeface="Times New Roman" panose="02020603050405020304" pitchFamily="18" charset="0"/>
              <a:ea typeface="楷体-简" panose="02010600040101010101" pitchFamily="2"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854667E2-6484-4CF1-8C41-1D378C0F7AFA}"/>
              </a:ext>
            </a:extLst>
          </p:cNvPr>
          <p:cNvSpPr>
            <a:spLocks noGrp="1" noChangeArrowheads="1"/>
          </p:cNvSpPr>
          <p:nvPr>
            <p:ph type="body" idx="1"/>
          </p:nvPr>
        </p:nvSpPr>
        <p:spPr>
          <a:xfrm>
            <a:off x="457200" y="332656"/>
            <a:ext cx="8229600" cy="5976069"/>
          </a:xfrm>
        </p:spPr>
        <p:txBody>
          <a:bodyPr/>
          <a:lstStyle/>
          <a:p>
            <a:pPr eaLnBrk="1" hangingPunct="1">
              <a:buFontTx/>
              <a:buNone/>
            </a:pPr>
            <a:r>
              <a:rPr lang="en-US" altLang="zh-CN" sz="2200" b="1" baseline="0">
                <a:solidFill>
                  <a:srgbClr val="FF0066"/>
                </a:solidFill>
                <a:latin typeface="Times New Roman" panose="02020603050405020304" pitchFamily="18" charset="0"/>
                <a:ea typeface="楷体-简" panose="02010600040101010101" pitchFamily="2" charset="-122"/>
              </a:rPr>
              <a:t>2</a:t>
            </a:r>
            <a:r>
              <a:rPr lang="zh-CN" altLang="en-US" sz="2200" b="1" baseline="0">
                <a:solidFill>
                  <a:srgbClr val="FF0066"/>
                </a:solidFill>
                <a:latin typeface="Times New Roman" panose="02020603050405020304" pitchFamily="18" charset="0"/>
                <a:ea typeface="楷体-简" panose="02010600040101010101" pitchFamily="2" charset="-122"/>
              </a:rPr>
              <a:t>．字符类型</a:t>
            </a:r>
          </a:p>
          <a:p>
            <a:pPr eaLnBrk="1" hangingPunct="1">
              <a:buFontTx/>
              <a:buNone/>
            </a:pPr>
            <a:r>
              <a:rPr lang="zh-CN" altLang="en-US" sz="2200" b="1" baseline="0">
                <a:latin typeface="Times New Roman" panose="02020603050405020304" pitchFamily="18" charset="0"/>
                <a:ea typeface="楷体-简" panose="02010600040101010101" pitchFamily="2" charset="-122"/>
              </a:rPr>
              <a:t>     </a:t>
            </a:r>
            <a:r>
              <a:rPr lang="zh-CN" altLang="en-US" sz="2200" b="1" baseline="0">
                <a:solidFill>
                  <a:srgbClr val="6666FF"/>
                </a:solidFill>
                <a:latin typeface="Times New Roman" panose="02020603050405020304" pitchFamily="18" charset="0"/>
                <a:ea typeface="楷体-简" panose="02010600040101010101" pitchFamily="2" charset="-122"/>
              </a:rPr>
              <a:t>字符常量</a:t>
            </a:r>
            <a:r>
              <a:rPr lang="zh-CN" altLang="en-US" sz="2200" b="1" baseline="0">
                <a:latin typeface="Times New Roman" panose="02020603050405020304" pitchFamily="18" charset="0"/>
                <a:ea typeface="楷体-简" panose="02010600040101010101" pitchFamily="2" charset="-122"/>
              </a:rPr>
              <a:t>：</a:t>
            </a:r>
            <a:r>
              <a:rPr lang="zh-CN" altLang="en-US" sz="2400" baseline="0">
                <a:latin typeface="Times New Roman" panose="02020603050405020304" pitchFamily="18" charset="0"/>
                <a:ea typeface="楷体-简" panose="02010600040101010101" pitchFamily="2" charset="-122"/>
              </a:rPr>
              <a:t>字符常量是用单引号括起来的一个字符，</a:t>
            </a:r>
            <a:r>
              <a:rPr lang="en-US" altLang="zh-CN" sz="1800" b="1" baseline="0">
                <a:latin typeface="Times New Roman" panose="02020603050405020304" pitchFamily="18" charset="0"/>
                <a:ea typeface="楷体-简" panose="02010600040101010101" pitchFamily="2" charset="-122"/>
              </a:rPr>
              <a:t>Uincode</a:t>
            </a:r>
            <a:r>
              <a:rPr lang="zh-CN" altLang="en-US" sz="2200" b="1" baseline="0">
                <a:latin typeface="Times New Roman" panose="02020603050405020304" pitchFamily="18" charset="0"/>
                <a:ea typeface="楷体-简" panose="02010600040101010101" pitchFamily="2" charset="-122"/>
              </a:rPr>
              <a:t>表中的字符就是一个字符常量，例如‘</a:t>
            </a:r>
            <a:r>
              <a:rPr lang="en-US" altLang="zh-CN" sz="2200" b="1" baseline="0">
                <a:latin typeface="Times New Roman" panose="02020603050405020304" pitchFamily="18" charset="0"/>
                <a:ea typeface="楷体-简" panose="02010600040101010101" pitchFamily="2" charset="-122"/>
              </a:rPr>
              <a:t>A’</a:t>
            </a:r>
            <a:r>
              <a:rPr lang="zh-CN" altLang="en-US" sz="2200" b="1" baseline="0">
                <a:latin typeface="Times New Roman" panose="02020603050405020304" pitchFamily="18" charset="0"/>
                <a:ea typeface="楷体-简" panose="02010600040101010101" pitchFamily="2" charset="-122"/>
              </a:rPr>
              <a:t>，‘</a:t>
            </a:r>
            <a:r>
              <a:rPr lang="en-US" altLang="zh-CN" sz="2200" b="1" baseline="0">
                <a:latin typeface="Times New Roman" panose="02020603050405020304" pitchFamily="18" charset="0"/>
                <a:ea typeface="楷体-简" panose="02010600040101010101" pitchFamily="2" charset="-122"/>
              </a:rPr>
              <a:t>?’</a:t>
            </a:r>
            <a:r>
              <a:rPr lang="zh-CN" altLang="en-US" sz="2200" b="1" baseline="0">
                <a:latin typeface="Times New Roman" panose="02020603050405020304" pitchFamily="18" charset="0"/>
                <a:ea typeface="楷体-简" panose="02010600040101010101" pitchFamily="2" charset="-122"/>
              </a:rPr>
              <a:t>，‘</a:t>
            </a:r>
            <a:r>
              <a:rPr lang="en-US" altLang="zh-CN" sz="2200" b="1" baseline="0">
                <a:latin typeface="Times New Roman" panose="02020603050405020304" pitchFamily="18" charset="0"/>
                <a:ea typeface="楷体-简" panose="02010600040101010101" pitchFamily="2" charset="-122"/>
              </a:rPr>
              <a:t>9’</a:t>
            </a:r>
            <a:r>
              <a:rPr lang="zh-CN" altLang="en-US" sz="2200" b="1" baseline="0">
                <a:latin typeface="Times New Roman" panose="02020603050405020304" pitchFamily="18" charset="0"/>
                <a:ea typeface="楷体-简" panose="02010600040101010101" pitchFamily="2" charset="-122"/>
              </a:rPr>
              <a:t>，‘好’，‘き’等。</a:t>
            </a:r>
            <a:r>
              <a:rPr lang="en-US" altLang="zh-CN" sz="2200" b="1" baseline="0">
                <a:latin typeface="Times New Roman" panose="02020603050405020304" pitchFamily="18" charset="0"/>
                <a:ea typeface="楷体-简" panose="02010600040101010101" pitchFamily="2" charset="-122"/>
              </a:rPr>
              <a:t>Java</a:t>
            </a:r>
            <a:r>
              <a:rPr lang="zh-CN" altLang="en-US" sz="2200" b="1" baseline="0">
                <a:latin typeface="Times New Roman" panose="02020603050405020304" pitchFamily="18" charset="0"/>
                <a:ea typeface="楷体-简" panose="02010600040101010101" pitchFamily="2" charset="-122"/>
              </a:rPr>
              <a:t>还使用转意字符常量，如：</a:t>
            </a:r>
          </a:p>
          <a:p>
            <a:pPr eaLnBrk="1" hangingPunct="1">
              <a:buFontTx/>
              <a:buNone/>
            </a:pPr>
            <a:r>
              <a:rPr lang="zh-CN" altLang="en-US" sz="2200" b="1" baseline="0">
                <a:latin typeface="Times New Roman" panose="02020603050405020304" pitchFamily="18" charset="0"/>
                <a:ea typeface="楷体-简" panose="02010600040101010101" pitchFamily="2" charset="-122"/>
              </a:rPr>
              <a:t>     ‘</a:t>
            </a:r>
            <a:r>
              <a:rPr lang="en-US" altLang="zh-CN" sz="2200" b="1" baseline="0">
                <a:latin typeface="Times New Roman" panose="02020603050405020304" pitchFamily="18" charset="0"/>
                <a:ea typeface="楷体-简" panose="02010600040101010101" pitchFamily="2" charset="-122"/>
              </a:rPr>
              <a:t>\n’</a:t>
            </a:r>
            <a:r>
              <a:rPr lang="zh-CN" altLang="en-US" sz="2200" b="1" baseline="0">
                <a:latin typeface="Times New Roman" panose="02020603050405020304" pitchFamily="18" charset="0"/>
                <a:ea typeface="楷体-简" panose="02010600040101010101" pitchFamily="2" charset="-122"/>
              </a:rPr>
              <a:t>：换行          ‘</a:t>
            </a:r>
            <a:r>
              <a:rPr lang="en-US" altLang="zh-CN" sz="2200" b="1" baseline="0">
                <a:latin typeface="Times New Roman" panose="02020603050405020304" pitchFamily="18" charset="0"/>
                <a:ea typeface="楷体-简" panose="02010600040101010101" pitchFamily="2" charset="-122"/>
              </a:rPr>
              <a:t>\b’</a:t>
            </a:r>
            <a:r>
              <a:rPr lang="zh-CN" altLang="en-US" sz="2200" b="1" baseline="0">
                <a:latin typeface="Times New Roman" panose="02020603050405020304" pitchFamily="18" charset="0"/>
                <a:ea typeface="楷体-简" panose="02010600040101010101" pitchFamily="2" charset="-122"/>
              </a:rPr>
              <a:t>：退格</a:t>
            </a:r>
          </a:p>
          <a:p>
            <a:pPr eaLnBrk="1" hangingPunct="1">
              <a:buFontTx/>
              <a:buNone/>
            </a:pPr>
            <a:r>
              <a:rPr lang="zh-CN" altLang="en-US" sz="2200" b="1" baseline="0">
                <a:latin typeface="Times New Roman" panose="02020603050405020304" pitchFamily="18" charset="0"/>
                <a:ea typeface="楷体-简" panose="02010600040101010101" pitchFamily="2" charset="-122"/>
              </a:rPr>
              <a:t>     ‘</a:t>
            </a:r>
            <a:r>
              <a:rPr lang="en-US" altLang="zh-CN" sz="2200" b="1" baseline="0">
                <a:latin typeface="Times New Roman" panose="02020603050405020304" pitchFamily="18" charset="0"/>
                <a:ea typeface="楷体-简" panose="02010600040101010101" pitchFamily="2" charset="-122"/>
              </a:rPr>
              <a:t>\t’</a:t>
            </a:r>
            <a:r>
              <a:rPr lang="zh-CN" altLang="en-US" sz="2200" b="1" baseline="0">
                <a:latin typeface="Times New Roman" panose="02020603050405020304" pitchFamily="18" charset="0"/>
                <a:ea typeface="楷体-简" panose="02010600040101010101" pitchFamily="2" charset="-122"/>
              </a:rPr>
              <a:t>：水平制表      ‘ </a:t>
            </a:r>
            <a:r>
              <a:rPr lang="en-US" altLang="zh-CN" sz="2200" b="1" baseline="0">
                <a:latin typeface="Times New Roman" panose="02020603050405020304" pitchFamily="18" charset="0"/>
                <a:ea typeface="楷体-简" panose="02010600040101010101" pitchFamily="2" charset="-122"/>
              </a:rPr>
              <a:t>\’’</a:t>
            </a:r>
            <a:r>
              <a:rPr lang="zh-CN" altLang="en-US" sz="2200" b="1" baseline="0">
                <a:latin typeface="Times New Roman" panose="02020603050405020304" pitchFamily="18" charset="0"/>
                <a:ea typeface="楷体-简" panose="02010600040101010101" pitchFamily="2" charset="-122"/>
              </a:rPr>
              <a:t>：单引号</a:t>
            </a:r>
          </a:p>
          <a:p>
            <a:pPr eaLnBrk="1" hangingPunct="1">
              <a:buFontTx/>
              <a:buNone/>
            </a:pPr>
            <a:r>
              <a:rPr lang="zh-CN" altLang="en-US" sz="2200" b="1" baseline="0">
                <a:latin typeface="Times New Roman" panose="02020603050405020304" pitchFamily="18" charset="0"/>
                <a:ea typeface="楷体-简" panose="02010600040101010101" pitchFamily="2" charset="-122"/>
              </a:rPr>
              <a:t>     </a:t>
            </a:r>
            <a:r>
              <a:rPr lang="zh-CN" altLang="en-US" sz="2200" b="1" baseline="0">
                <a:solidFill>
                  <a:srgbClr val="6666FF"/>
                </a:solidFill>
                <a:latin typeface="Times New Roman" panose="02020603050405020304" pitchFamily="18" charset="0"/>
                <a:ea typeface="楷体-简" panose="02010600040101010101" pitchFamily="2" charset="-122"/>
              </a:rPr>
              <a:t>字符型变量</a:t>
            </a:r>
            <a:r>
              <a:rPr lang="zh-CN" altLang="en-US" sz="2200" b="1" baseline="0">
                <a:latin typeface="Times New Roman" panose="02020603050405020304" pitchFamily="18" charset="0"/>
                <a:ea typeface="楷体-简" panose="02010600040101010101" pitchFamily="2" charset="-122"/>
              </a:rPr>
              <a:t>：</a:t>
            </a:r>
          </a:p>
          <a:p>
            <a:pPr eaLnBrk="1" hangingPunct="1">
              <a:buFontTx/>
              <a:buNone/>
            </a:pPr>
            <a:r>
              <a:rPr lang="zh-CN" altLang="en-US" sz="2200" b="1" baseline="0">
                <a:latin typeface="Times New Roman" panose="02020603050405020304" pitchFamily="18" charset="0"/>
                <a:ea typeface="楷体-简" panose="02010600040101010101" pitchFamily="2" charset="-122"/>
              </a:rPr>
              <a:t>     使用关键字</a:t>
            </a:r>
            <a:r>
              <a:rPr lang="en-US" altLang="zh-CN" sz="2200" b="1" baseline="0">
                <a:latin typeface="Times New Roman" panose="02020603050405020304" pitchFamily="18" charset="0"/>
                <a:ea typeface="楷体-简" panose="02010600040101010101" pitchFamily="2" charset="-122"/>
              </a:rPr>
              <a:t>char</a:t>
            </a:r>
            <a:r>
              <a:rPr lang="zh-CN" altLang="en-US" sz="2200" b="1" baseline="0">
                <a:latin typeface="Times New Roman" panose="02020603050405020304" pitchFamily="18" charset="0"/>
                <a:ea typeface="楷体-简" panose="02010600040101010101" pitchFamily="2" charset="-122"/>
              </a:rPr>
              <a:t>来定义字符变量，例如：</a:t>
            </a:r>
          </a:p>
          <a:p>
            <a:pPr eaLnBrk="1" hangingPunct="1">
              <a:buFontTx/>
              <a:buNone/>
            </a:pPr>
            <a:r>
              <a:rPr lang="zh-CN" altLang="en-US" sz="2200" b="1" baseline="0">
                <a:latin typeface="Times New Roman" panose="02020603050405020304" pitchFamily="18" charset="0"/>
                <a:ea typeface="楷体-简" panose="02010600040101010101" pitchFamily="2" charset="-122"/>
              </a:rPr>
              <a:t>      </a:t>
            </a:r>
            <a:r>
              <a:rPr lang="en-US" altLang="zh-CN" sz="2200" b="1" baseline="0">
                <a:latin typeface="Times New Roman" panose="02020603050405020304" pitchFamily="18" charset="0"/>
                <a:ea typeface="楷体-简" panose="02010600040101010101" pitchFamily="2" charset="-122"/>
              </a:rPr>
              <a:t>char x= ‘A’</a:t>
            </a:r>
            <a:r>
              <a:rPr lang="zh-CN" altLang="en-US" sz="2200" b="1" baseline="0">
                <a:latin typeface="Times New Roman" panose="02020603050405020304" pitchFamily="18" charset="0"/>
                <a:ea typeface="楷体-简" panose="02010600040101010101" pitchFamily="2" charset="-122"/>
              </a:rPr>
              <a:t>；</a:t>
            </a:r>
            <a:endParaRPr lang="en-US" altLang="zh-CN" sz="2200" b="1" baseline="0">
              <a:latin typeface="Times New Roman" panose="02020603050405020304" pitchFamily="18" charset="0"/>
              <a:ea typeface="楷体-简" panose="02010600040101010101" pitchFamily="2" charset="-122"/>
            </a:endParaRPr>
          </a:p>
          <a:p>
            <a:pPr eaLnBrk="1" hangingPunct="1">
              <a:buFontTx/>
              <a:buNone/>
            </a:pPr>
            <a:endParaRPr lang="zh-CN" altLang="en-US" sz="2200" b="1" baseline="0">
              <a:latin typeface="Times New Roman" panose="02020603050405020304" pitchFamily="18" charset="0"/>
              <a:ea typeface="楷体-简" panose="02010600040101010101" pitchFamily="2" charset="-122"/>
            </a:endParaRPr>
          </a:p>
          <a:p>
            <a:pPr eaLnBrk="1" hangingPunct="1">
              <a:lnSpc>
                <a:spcPct val="110000"/>
              </a:lnSpc>
              <a:buFont typeface="Wingdings" panose="05000000000000000000" pitchFamily="2" charset="2"/>
              <a:buChar char="Ø"/>
            </a:pPr>
            <a:r>
              <a:rPr lang="en-US" altLang="zh-CN" sz="2200" b="1" baseline="0">
                <a:solidFill>
                  <a:srgbClr val="FF0000"/>
                </a:solidFill>
                <a:latin typeface="Times New Roman" panose="02020603050405020304" pitchFamily="18" charset="0"/>
                <a:ea typeface="楷体-简" panose="02010600040101010101" pitchFamily="2" charset="-122"/>
              </a:rPr>
              <a:t>char</a:t>
            </a:r>
            <a:r>
              <a:rPr lang="zh-CN" altLang="en-US" sz="2200" b="1" baseline="0">
                <a:solidFill>
                  <a:srgbClr val="FF0000"/>
                </a:solidFill>
                <a:latin typeface="Times New Roman" panose="02020603050405020304" pitchFamily="18" charset="0"/>
                <a:ea typeface="楷体-简" panose="02010600040101010101" pitchFamily="2" charset="-122"/>
              </a:rPr>
              <a:t>型变量</a:t>
            </a:r>
            <a:r>
              <a:rPr lang="zh-CN" altLang="en-US" sz="2200" b="1" baseline="0">
                <a:latin typeface="Times New Roman" panose="02020603050405020304" pitchFamily="18" charset="0"/>
                <a:ea typeface="楷体-简" panose="02010600040101010101" pitchFamily="2" charset="-122"/>
              </a:rPr>
              <a:t>，内存分配给</a:t>
            </a:r>
            <a:r>
              <a:rPr lang="en-US" altLang="zh-CN" sz="2200" b="1" baseline="0">
                <a:latin typeface="Times New Roman" panose="02020603050405020304" pitchFamily="18" charset="0"/>
                <a:ea typeface="楷体-简" panose="02010600040101010101" pitchFamily="2" charset="-122"/>
              </a:rPr>
              <a:t>2</a:t>
            </a:r>
            <a:r>
              <a:rPr lang="zh-CN" altLang="en-US" sz="2200" b="1" baseline="0">
                <a:latin typeface="Times New Roman" panose="02020603050405020304" pitchFamily="18" charset="0"/>
                <a:ea typeface="楷体-简" panose="02010600040101010101" pitchFamily="2" charset="-122"/>
              </a:rPr>
              <a:t>个字节，占</a:t>
            </a:r>
            <a:r>
              <a:rPr lang="en-US" altLang="zh-CN" sz="2200" b="1" baseline="0">
                <a:latin typeface="Times New Roman" panose="02020603050405020304" pitchFamily="18" charset="0"/>
                <a:ea typeface="楷体-简" panose="02010600040101010101" pitchFamily="2" charset="-122"/>
              </a:rPr>
              <a:t>16</a:t>
            </a:r>
            <a:r>
              <a:rPr lang="zh-CN" altLang="en-US" sz="2200" b="1" baseline="0">
                <a:latin typeface="Times New Roman" panose="02020603050405020304" pitchFamily="18" charset="0"/>
                <a:ea typeface="楷体-简" panose="02010600040101010101" pitchFamily="2" charset="-122"/>
              </a:rPr>
              <a:t>位，最高位不是符号位，没有负数的</a:t>
            </a:r>
            <a:r>
              <a:rPr lang="en-US" altLang="zh-CN" sz="2200" b="1" baseline="0">
                <a:latin typeface="Times New Roman" panose="02020603050405020304" pitchFamily="18" charset="0"/>
                <a:ea typeface="楷体-简" panose="02010600040101010101" pitchFamily="2" charset="-122"/>
              </a:rPr>
              <a:t>char</a:t>
            </a:r>
            <a:r>
              <a:rPr lang="zh-CN" altLang="en-US" sz="2200" b="1" baseline="0">
                <a:latin typeface="Times New Roman" panose="02020603050405020304" pitchFamily="18" charset="0"/>
                <a:ea typeface="楷体-简" panose="02010600040101010101" pitchFamily="2" charset="-122"/>
              </a:rPr>
              <a:t>。</a:t>
            </a:r>
            <a:r>
              <a:rPr lang="en-US" altLang="zh-CN" sz="2200" b="1" baseline="0">
                <a:latin typeface="Times New Roman" panose="02020603050405020304" pitchFamily="18" charset="0"/>
                <a:ea typeface="楷体-简" panose="02010600040101010101" pitchFamily="2" charset="-122"/>
              </a:rPr>
              <a:t>char</a:t>
            </a:r>
            <a:r>
              <a:rPr lang="zh-CN" altLang="en-US" sz="2200" b="1" baseline="0">
                <a:latin typeface="Times New Roman" panose="02020603050405020304" pitchFamily="18" charset="0"/>
                <a:ea typeface="楷体-简" panose="02010600040101010101" pitchFamily="2" charset="-122"/>
              </a:rPr>
              <a:t>型变量的取值范围是</a:t>
            </a:r>
            <a:r>
              <a:rPr lang="en-US" altLang="zh-CN" sz="2200" b="1" baseline="0">
                <a:latin typeface="Times New Roman" panose="02020603050405020304" pitchFamily="18" charset="0"/>
                <a:ea typeface="楷体-简" panose="02010600040101010101" pitchFamily="2" charset="-122"/>
              </a:rPr>
              <a:t>0~65536</a:t>
            </a:r>
            <a:r>
              <a:rPr lang="zh-CN" altLang="en-US" sz="2200" b="1" baseline="0">
                <a:latin typeface="Times New Roman" panose="02020603050405020304" pitchFamily="18" charset="0"/>
                <a:ea typeface="楷体-简" panose="02010600040101010101" pitchFamily="2" charset="-122"/>
              </a:rPr>
              <a:t>。要观察一个字符在</a:t>
            </a:r>
            <a:r>
              <a:rPr lang="en-US" altLang="zh-CN" sz="2200" b="1" baseline="0">
                <a:latin typeface="Times New Roman" panose="02020603050405020304" pitchFamily="18" charset="0"/>
                <a:ea typeface="楷体-简" panose="02010600040101010101" pitchFamily="2" charset="-122"/>
              </a:rPr>
              <a:t>unicode</a:t>
            </a:r>
            <a:r>
              <a:rPr lang="zh-CN" altLang="en-US" sz="2200" b="1" baseline="0">
                <a:latin typeface="Times New Roman" panose="02020603050405020304" pitchFamily="18" charset="0"/>
                <a:ea typeface="楷体-简" panose="02010600040101010101" pitchFamily="2" charset="-122"/>
              </a:rPr>
              <a:t>表中的顺序位置，必须使用</a:t>
            </a:r>
            <a:r>
              <a:rPr lang="en-US" altLang="zh-CN" sz="2200" b="1" baseline="0">
                <a:solidFill>
                  <a:srgbClr val="0000CC"/>
                </a:solidFill>
                <a:latin typeface="Times New Roman" panose="02020603050405020304" pitchFamily="18" charset="0"/>
                <a:ea typeface="楷体-简" panose="02010600040101010101" pitchFamily="2" charset="-122"/>
              </a:rPr>
              <a:t>int</a:t>
            </a:r>
            <a:r>
              <a:rPr lang="zh-CN" altLang="en-US" sz="2200" b="1" baseline="0">
                <a:solidFill>
                  <a:srgbClr val="0000CC"/>
                </a:solidFill>
                <a:latin typeface="Times New Roman" panose="02020603050405020304" pitchFamily="18" charset="0"/>
                <a:ea typeface="楷体-简" panose="02010600040101010101" pitchFamily="2" charset="-122"/>
              </a:rPr>
              <a:t>类型</a:t>
            </a:r>
            <a:r>
              <a:rPr lang="zh-CN" altLang="en-US" sz="2200" b="1" baseline="0">
                <a:latin typeface="Times New Roman" panose="02020603050405020304" pitchFamily="18" charset="0"/>
                <a:ea typeface="楷体-简" panose="02010600040101010101" pitchFamily="2" charset="-122"/>
              </a:rPr>
              <a:t>显示转换，不可以使用</a:t>
            </a:r>
            <a:r>
              <a:rPr lang="en-US" altLang="zh-CN" sz="2200" b="1" baseline="0">
                <a:latin typeface="Times New Roman" panose="02020603050405020304" pitchFamily="18" charset="0"/>
                <a:ea typeface="楷体-简" panose="02010600040101010101" pitchFamily="2" charset="-122"/>
              </a:rPr>
              <a:t>short</a:t>
            </a:r>
            <a:r>
              <a:rPr lang="zh-CN" altLang="en-US" sz="2200" b="1" baseline="0">
                <a:latin typeface="Times New Roman" panose="02020603050405020304" pitchFamily="18" charset="0"/>
                <a:ea typeface="楷体-简" panose="02010600040101010101" pitchFamily="2" charset="-122"/>
              </a:rPr>
              <a:t>型转换，因为</a:t>
            </a:r>
            <a:r>
              <a:rPr lang="en-US" altLang="zh-CN" sz="2200" b="1" baseline="0">
                <a:latin typeface="Times New Roman" panose="02020603050405020304" pitchFamily="18" charset="0"/>
                <a:ea typeface="楷体-简" panose="02010600040101010101" pitchFamily="2" charset="-122"/>
              </a:rPr>
              <a:t>char</a:t>
            </a:r>
            <a:r>
              <a:rPr lang="zh-CN" altLang="en-US" sz="2200" b="1" baseline="0">
                <a:latin typeface="Times New Roman" panose="02020603050405020304" pitchFamily="18" charset="0"/>
                <a:ea typeface="楷体-简" panose="02010600040101010101" pitchFamily="2" charset="-122"/>
              </a:rPr>
              <a:t>的最高位不是符号位。同样，要得到一个</a:t>
            </a:r>
            <a:r>
              <a:rPr lang="en-US" altLang="zh-CN" sz="2200" b="1" baseline="0">
                <a:solidFill>
                  <a:srgbClr val="0000CC"/>
                </a:solidFill>
                <a:latin typeface="Times New Roman" panose="02020603050405020304" pitchFamily="18" charset="0"/>
                <a:ea typeface="楷体-简" panose="02010600040101010101" pitchFamily="2" charset="-122"/>
              </a:rPr>
              <a:t>0~65536</a:t>
            </a:r>
            <a:r>
              <a:rPr lang="zh-CN" altLang="en-US" sz="2200" b="1" baseline="0">
                <a:solidFill>
                  <a:srgbClr val="0000CC"/>
                </a:solidFill>
                <a:latin typeface="Times New Roman" panose="02020603050405020304" pitchFamily="18" charset="0"/>
                <a:ea typeface="楷体-简" panose="02010600040101010101" pitchFamily="2" charset="-122"/>
              </a:rPr>
              <a:t>之间</a:t>
            </a:r>
            <a:r>
              <a:rPr lang="zh-CN" altLang="en-US" sz="2200" b="1" baseline="0">
                <a:latin typeface="Times New Roman" panose="02020603050405020304" pitchFamily="18" charset="0"/>
                <a:ea typeface="楷体-简" panose="02010600040101010101" pitchFamily="2" charset="-122"/>
              </a:rPr>
              <a:t>的数所代表的</a:t>
            </a:r>
            <a:r>
              <a:rPr lang="en-US" altLang="zh-CN" sz="2200" b="1" baseline="0">
                <a:latin typeface="Times New Roman" panose="02020603050405020304" pitchFamily="18" charset="0"/>
                <a:ea typeface="楷体-简" panose="02010600040101010101" pitchFamily="2" charset="-122"/>
              </a:rPr>
              <a:t>Unicode</a:t>
            </a:r>
            <a:r>
              <a:rPr lang="zh-CN" altLang="en-US" sz="2200" b="1" baseline="0">
                <a:latin typeface="Times New Roman" panose="02020603050405020304" pitchFamily="18" charset="0"/>
                <a:ea typeface="楷体-简" panose="02010600040101010101" pitchFamily="2" charset="-122"/>
              </a:rPr>
              <a:t>表中相应位置上的字符也必须使用</a:t>
            </a:r>
            <a:r>
              <a:rPr lang="en-US" altLang="zh-CN" sz="2200" b="1" baseline="0">
                <a:latin typeface="Times New Roman" panose="02020603050405020304" pitchFamily="18" charset="0"/>
                <a:ea typeface="楷体-简" panose="02010600040101010101" pitchFamily="2" charset="-122"/>
              </a:rPr>
              <a:t>char</a:t>
            </a:r>
            <a:r>
              <a:rPr lang="zh-CN" altLang="en-US" sz="2200" b="1" baseline="0">
                <a:latin typeface="Times New Roman" panose="02020603050405020304" pitchFamily="18" charset="0"/>
                <a:ea typeface="楷体-简" panose="02010600040101010101" pitchFamily="2" charset="-122"/>
              </a:rPr>
              <a:t>型显示转换。</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3">
            <a:extLst>
              <a:ext uri="{FF2B5EF4-FFF2-40B4-BE49-F238E27FC236}">
                <a16:creationId xmlns:a16="http://schemas.microsoft.com/office/drawing/2014/main" id="{6A2EDBFD-3621-4FBD-8A3C-825E06D5F411}"/>
              </a:ext>
            </a:extLst>
          </p:cNvPr>
          <p:cNvSpPr>
            <a:spLocks noGrp="1" noChangeArrowheads="1"/>
          </p:cNvSpPr>
          <p:nvPr>
            <p:ph type="body" idx="1"/>
          </p:nvPr>
        </p:nvSpPr>
        <p:spPr>
          <a:xfrm>
            <a:off x="457200" y="404813"/>
            <a:ext cx="8291264" cy="5721350"/>
          </a:xfrm>
        </p:spPr>
        <p:txBody>
          <a:bodyPr/>
          <a:lstStyle/>
          <a:p>
            <a:pPr eaLnBrk="1" hangingPunct="1">
              <a:lnSpc>
                <a:spcPct val="80000"/>
              </a:lnSpc>
              <a:buFontTx/>
              <a:buNone/>
            </a:pPr>
            <a:r>
              <a:rPr lang="en-US" altLang="zh-CN" sz="2400" b="1" baseline="0">
                <a:solidFill>
                  <a:srgbClr val="FF0066"/>
                </a:solidFill>
                <a:latin typeface="Times New Roman" panose="02020603050405020304" pitchFamily="18" charset="0"/>
                <a:ea typeface="楷体-简" panose="02010600040101010101" pitchFamily="2" charset="-122"/>
              </a:rPr>
              <a:t>3</a:t>
            </a:r>
            <a:r>
              <a:rPr lang="zh-CN" altLang="en-US" sz="2400" b="1" baseline="0">
                <a:solidFill>
                  <a:srgbClr val="FF0066"/>
                </a:solidFill>
                <a:latin typeface="Times New Roman" panose="02020603050405020304" pitchFamily="18" charset="0"/>
                <a:ea typeface="楷体-简" panose="02010600040101010101" pitchFamily="2" charset="-122"/>
              </a:rPr>
              <a:t>．整型数据</a:t>
            </a:r>
            <a:br>
              <a:rPr lang="zh-CN" altLang="en-US" sz="2400" baseline="0">
                <a:solidFill>
                  <a:srgbClr val="FF0066"/>
                </a:solidFill>
                <a:latin typeface="Times New Roman" panose="02020603050405020304" pitchFamily="18" charset="0"/>
                <a:ea typeface="楷体-简" panose="02010600040101010101" pitchFamily="2" charset="-122"/>
              </a:rPr>
            </a:br>
            <a:r>
              <a:rPr lang="zh-CN" altLang="en-US" sz="2400" baseline="0">
                <a:latin typeface="Times New Roman" panose="02020603050405020304" pitchFamily="18" charset="0"/>
                <a:ea typeface="楷体-简" panose="02010600040101010101" pitchFamily="2" charset="-122"/>
              </a:rPr>
              <a:t>　　</a:t>
            </a:r>
            <a:endParaRPr lang="en-US" altLang="zh-CN" sz="2400" baseline="0">
              <a:latin typeface="Times New Roman" panose="02020603050405020304" pitchFamily="18" charset="0"/>
              <a:ea typeface="楷体-简" panose="02010600040101010101" pitchFamily="2" charset="-122"/>
            </a:endParaRPr>
          </a:p>
          <a:p>
            <a:pPr eaLnBrk="1" hangingPunct="1">
              <a:lnSpc>
                <a:spcPct val="80000"/>
              </a:lnSpc>
              <a:buFont typeface="Wingdings" panose="05000000000000000000" pitchFamily="2" charset="2"/>
              <a:buChar char="Ø"/>
            </a:pPr>
            <a:r>
              <a:rPr lang="zh-CN" altLang="en-US" sz="2400" b="1" baseline="0">
                <a:latin typeface="Times New Roman" panose="02020603050405020304" pitchFamily="18" charset="0"/>
                <a:ea typeface="楷体-简" panose="02010600040101010101" pitchFamily="2" charset="-122"/>
              </a:rPr>
              <a:t>整型常量：</a:t>
            </a:r>
            <a:endParaRPr lang="en-US" altLang="zh-CN" sz="2400" b="1" baseline="0">
              <a:latin typeface="Times New Roman" panose="02020603050405020304" pitchFamily="18" charset="0"/>
              <a:ea typeface="楷体-简" panose="02010600040101010101" pitchFamily="2" charset="-122"/>
            </a:endParaRPr>
          </a:p>
          <a:p>
            <a:pPr marL="0" indent="0" eaLnBrk="1" hangingPunct="1">
              <a:lnSpc>
                <a:spcPct val="80000"/>
              </a:lnSpc>
              <a:buNone/>
            </a:pPr>
            <a:r>
              <a:rPr lang="en-US" altLang="zh-CN" sz="2400" baseline="0">
                <a:latin typeface="Times New Roman" panose="02020603050405020304" pitchFamily="18" charset="0"/>
                <a:ea typeface="楷体-简" panose="02010600040101010101" pitchFamily="2" charset="-122"/>
              </a:rPr>
              <a:t>    </a:t>
            </a:r>
            <a:r>
              <a:rPr lang="zh-CN" altLang="en-US" sz="2400" baseline="0">
                <a:latin typeface="Times New Roman" panose="02020603050405020304" pitchFamily="18" charset="0"/>
                <a:ea typeface="楷体-简" panose="02010600040101010101" pitchFamily="2" charset="-122"/>
              </a:rPr>
              <a:t>◇ 十进制整数</a:t>
            </a:r>
            <a:br>
              <a:rPr lang="zh-CN" altLang="en-US" sz="2400" baseline="0">
                <a:latin typeface="Times New Roman" panose="02020603050405020304" pitchFamily="18" charset="0"/>
                <a:ea typeface="楷体-简" panose="02010600040101010101" pitchFamily="2" charset="-122"/>
              </a:rPr>
            </a:br>
            <a:r>
              <a:rPr lang="zh-CN" altLang="en-US" sz="2400" baseline="0">
                <a:latin typeface="Times New Roman" panose="02020603050405020304" pitchFamily="18" charset="0"/>
                <a:ea typeface="楷体-简" panose="02010600040101010101" pitchFamily="2" charset="-122"/>
              </a:rPr>
              <a:t>　　     </a:t>
            </a:r>
            <a:r>
              <a:rPr lang="zh-CN" altLang="en-US" sz="2000" baseline="0">
                <a:latin typeface="Times New Roman" panose="02020603050405020304" pitchFamily="18" charset="0"/>
                <a:ea typeface="楷体-简" panose="02010600040101010101" pitchFamily="2" charset="-122"/>
              </a:rPr>
              <a:t>如：</a:t>
            </a:r>
            <a:r>
              <a:rPr lang="en-US" altLang="zh-CN" sz="2000" baseline="0">
                <a:latin typeface="Times New Roman" panose="02020603050405020304" pitchFamily="18" charset="0"/>
                <a:ea typeface="楷体-简" panose="02010600040101010101" pitchFamily="2" charset="-122"/>
              </a:rPr>
              <a:t>123</a:t>
            </a:r>
            <a:r>
              <a:rPr lang="zh-CN" altLang="en-US" sz="2000" baseline="0">
                <a:latin typeface="Times New Roman" panose="02020603050405020304" pitchFamily="18" charset="0"/>
                <a:ea typeface="楷体-简" panose="02010600040101010101" pitchFamily="2" charset="-122"/>
              </a:rPr>
              <a:t>，－</a:t>
            </a:r>
            <a:r>
              <a:rPr lang="en-US" altLang="zh-CN" sz="2000" baseline="0">
                <a:latin typeface="Times New Roman" panose="02020603050405020304" pitchFamily="18" charset="0"/>
                <a:ea typeface="楷体-简" panose="02010600040101010101" pitchFamily="2" charset="-122"/>
              </a:rPr>
              <a:t>456</a:t>
            </a:r>
            <a:r>
              <a:rPr lang="zh-CN" altLang="en-US" sz="2000" baseline="0">
                <a:latin typeface="Times New Roman" panose="02020603050405020304" pitchFamily="18" charset="0"/>
                <a:ea typeface="楷体-简" panose="02010600040101010101" pitchFamily="2" charset="-122"/>
              </a:rPr>
              <a:t>，</a:t>
            </a:r>
            <a:r>
              <a:rPr lang="en-US" altLang="zh-CN" sz="2000" baseline="0">
                <a:latin typeface="Times New Roman" panose="02020603050405020304" pitchFamily="18" charset="0"/>
                <a:ea typeface="楷体-简" panose="02010600040101010101" pitchFamily="2" charset="-122"/>
              </a:rPr>
              <a:t>0</a:t>
            </a:r>
          </a:p>
          <a:p>
            <a:pPr marL="0" indent="0" eaLnBrk="1" hangingPunct="1">
              <a:lnSpc>
                <a:spcPct val="80000"/>
              </a:lnSpc>
              <a:buNone/>
            </a:pPr>
            <a:r>
              <a:rPr lang="zh-CN" altLang="en-US" sz="2400" baseline="0">
                <a:latin typeface="Times New Roman" panose="02020603050405020304" pitchFamily="18" charset="0"/>
                <a:ea typeface="楷体-简" panose="02010600040101010101" pitchFamily="2" charset="-122"/>
              </a:rPr>
              <a:t>    ◇ 八进制整数</a:t>
            </a:r>
            <a:br>
              <a:rPr lang="zh-CN" altLang="en-US" sz="2400" baseline="0">
                <a:latin typeface="Times New Roman" panose="02020603050405020304" pitchFamily="18" charset="0"/>
                <a:ea typeface="楷体-简" panose="02010600040101010101" pitchFamily="2" charset="-122"/>
              </a:rPr>
            </a:br>
            <a:r>
              <a:rPr lang="zh-CN" altLang="en-US" sz="2400" baseline="0">
                <a:latin typeface="Times New Roman" panose="02020603050405020304" pitchFamily="18" charset="0"/>
                <a:ea typeface="楷体-简" panose="02010600040101010101" pitchFamily="2" charset="-122"/>
              </a:rPr>
              <a:t>　　　 </a:t>
            </a:r>
            <a:r>
              <a:rPr lang="zh-CN" altLang="en-US" sz="2000" baseline="0">
                <a:latin typeface="Times New Roman" panose="02020603050405020304" pitchFamily="18" charset="0"/>
                <a:ea typeface="楷体-简" panose="02010600040101010101" pitchFamily="2" charset="-122"/>
              </a:rPr>
              <a:t>以</a:t>
            </a:r>
            <a:r>
              <a:rPr lang="en-US" altLang="zh-CN" sz="2000" baseline="0">
                <a:latin typeface="Times New Roman" panose="02020603050405020304" pitchFamily="18" charset="0"/>
                <a:ea typeface="楷体-简" panose="02010600040101010101" pitchFamily="2" charset="-122"/>
              </a:rPr>
              <a:t>0</a:t>
            </a:r>
            <a:r>
              <a:rPr lang="zh-CN" altLang="en-US" sz="2000" baseline="0">
                <a:latin typeface="Times New Roman" panose="02020603050405020304" pitchFamily="18" charset="0"/>
                <a:ea typeface="楷体-简" panose="02010600040101010101" pitchFamily="2" charset="-122"/>
              </a:rPr>
              <a:t>开头，如</a:t>
            </a:r>
            <a:r>
              <a:rPr lang="en-US" altLang="zh-CN" sz="2000" baseline="0">
                <a:latin typeface="Times New Roman" panose="02020603050405020304" pitchFamily="18" charset="0"/>
                <a:ea typeface="楷体-简" panose="02010600040101010101" pitchFamily="2" charset="-122"/>
              </a:rPr>
              <a:t>0123</a:t>
            </a:r>
            <a:r>
              <a:rPr lang="zh-CN" altLang="en-US" sz="2000" baseline="0">
                <a:latin typeface="Times New Roman" panose="02020603050405020304" pitchFamily="18" charset="0"/>
                <a:ea typeface="楷体-简" panose="02010600040101010101" pitchFamily="2" charset="-122"/>
              </a:rPr>
              <a:t>表示十进制数</a:t>
            </a:r>
            <a:r>
              <a:rPr lang="en-US" altLang="zh-CN" sz="2000" baseline="0">
                <a:latin typeface="Times New Roman" panose="02020603050405020304" pitchFamily="18" charset="0"/>
                <a:ea typeface="楷体-简" panose="02010600040101010101" pitchFamily="2" charset="-122"/>
              </a:rPr>
              <a:t>83</a:t>
            </a:r>
            <a:r>
              <a:rPr lang="zh-CN" altLang="en-US" sz="2000" baseline="0">
                <a:latin typeface="Times New Roman" panose="02020603050405020304" pitchFamily="18" charset="0"/>
                <a:ea typeface="楷体-简" panose="02010600040101010101" pitchFamily="2" charset="-122"/>
              </a:rPr>
              <a:t>，－</a:t>
            </a:r>
            <a:r>
              <a:rPr lang="en-US" altLang="zh-CN" sz="2000" baseline="0">
                <a:latin typeface="Times New Roman" panose="02020603050405020304" pitchFamily="18" charset="0"/>
                <a:ea typeface="楷体-简" panose="02010600040101010101" pitchFamily="2" charset="-122"/>
              </a:rPr>
              <a:t>011</a:t>
            </a:r>
            <a:r>
              <a:rPr lang="zh-CN" altLang="en-US" sz="2000" baseline="0">
                <a:latin typeface="Times New Roman" panose="02020603050405020304" pitchFamily="18" charset="0"/>
                <a:ea typeface="楷体-简" panose="02010600040101010101" pitchFamily="2" charset="-122"/>
              </a:rPr>
              <a:t>表示十进制数－</a:t>
            </a:r>
            <a:r>
              <a:rPr lang="en-US" altLang="zh-CN" sz="2000" baseline="0">
                <a:latin typeface="Times New Roman" panose="02020603050405020304" pitchFamily="18" charset="0"/>
                <a:ea typeface="楷体-简" panose="02010600040101010101" pitchFamily="2" charset="-122"/>
              </a:rPr>
              <a:t>9</a:t>
            </a:r>
            <a:r>
              <a:rPr lang="zh-CN" altLang="en-US" sz="2000" baseline="0">
                <a:latin typeface="Times New Roman" panose="02020603050405020304" pitchFamily="18" charset="0"/>
                <a:ea typeface="楷体-简" panose="02010600040101010101" pitchFamily="2" charset="-122"/>
              </a:rPr>
              <a:t>。</a:t>
            </a:r>
            <a:br>
              <a:rPr lang="zh-CN" altLang="en-US" sz="2400" baseline="0">
                <a:latin typeface="Times New Roman" panose="02020603050405020304" pitchFamily="18" charset="0"/>
                <a:ea typeface="楷体-简" panose="02010600040101010101" pitchFamily="2" charset="-122"/>
              </a:rPr>
            </a:br>
            <a:r>
              <a:rPr lang="zh-CN" altLang="en-US" sz="2400" baseline="0">
                <a:latin typeface="Times New Roman" panose="02020603050405020304" pitchFamily="18" charset="0"/>
                <a:ea typeface="楷体-简" panose="02010600040101010101" pitchFamily="2" charset="-122"/>
              </a:rPr>
              <a:t>    ◇ 十六进制整数</a:t>
            </a:r>
            <a:endParaRPr lang="en-US" altLang="zh-CN" sz="2400" baseline="0">
              <a:latin typeface="Times New Roman" panose="02020603050405020304" pitchFamily="18" charset="0"/>
              <a:ea typeface="楷体-简" panose="02010600040101010101" pitchFamily="2" charset="-122"/>
            </a:endParaRPr>
          </a:p>
          <a:p>
            <a:pPr marL="0" indent="0" eaLnBrk="1" hangingPunct="1">
              <a:lnSpc>
                <a:spcPct val="80000"/>
              </a:lnSpc>
              <a:buNone/>
            </a:pPr>
            <a:r>
              <a:rPr lang="zh-CN" altLang="en-US" sz="2000" baseline="0">
                <a:latin typeface="Times New Roman" panose="02020603050405020304" pitchFamily="18" charset="0"/>
                <a:ea typeface="楷体-简" panose="02010600040101010101" pitchFamily="2" charset="-122"/>
              </a:rPr>
              <a:t>      </a:t>
            </a:r>
            <a:r>
              <a:rPr lang="en-US" altLang="zh-CN" sz="2000" baseline="0">
                <a:latin typeface="Times New Roman" panose="02020603050405020304" pitchFamily="18" charset="0"/>
                <a:ea typeface="楷体-简" panose="02010600040101010101" pitchFamily="2" charset="-122"/>
              </a:rPr>
              <a:t>        </a:t>
            </a:r>
            <a:r>
              <a:rPr lang="zh-CN" altLang="en-US" sz="2000" baseline="0">
                <a:latin typeface="Times New Roman" panose="02020603050405020304" pitchFamily="18" charset="0"/>
                <a:ea typeface="楷体-简" panose="02010600040101010101" pitchFamily="2" charset="-122"/>
              </a:rPr>
              <a:t>以</a:t>
            </a:r>
            <a:r>
              <a:rPr lang="en-US" altLang="zh-CN" sz="2000" baseline="0">
                <a:latin typeface="Times New Roman" panose="02020603050405020304" pitchFamily="18" charset="0"/>
                <a:ea typeface="楷体-简" panose="02010600040101010101" pitchFamily="2" charset="-122"/>
              </a:rPr>
              <a:t>0x</a:t>
            </a:r>
            <a:r>
              <a:rPr lang="zh-CN" altLang="en-US" sz="2000" baseline="0">
                <a:latin typeface="Times New Roman" panose="02020603050405020304" pitchFamily="18" charset="0"/>
                <a:ea typeface="楷体-简" panose="02010600040101010101" pitchFamily="2" charset="-122"/>
              </a:rPr>
              <a:t>或</a:t>
            </a:r>
            <a:r>
              <a:rPr lang="en-US" altLang="zh-CN" sz="2000" baseline="0">
                <a:latin typeface="Times New Roman" panose="02020603050405020304" pitchFamily="18" charset="0"/>
                <a:ea typeface="楷体-简" panose="02010600040101010101" pitchFamily="2" charset="-122"/>
              </a:rPr>
              <a:t>0X</a:t>
            </a:r>
            <a:r>
              <a:rPr lang="zh-CN" altLang="en-US" sz="2000" baseline="0">
                <a:latin typeface="Times New Roman" panose="02020603050405020304" pitchFamily="18" charset="0"/>
                <a:ea typeface="楷体-简" panose="02010600040101010101" pitchFamily="2" charset="-122"/>
              </a:rPr>
              <a:t>开头，如</a:t>
            </a:r>
            <a:r>
              <a:rPr lang="en-US" altLang="zh-CN" sz="2000" baseline="0">
                <a:latin typeface="Times New Roman" panose="02020603050405020304" pitchFamily="18" charset="0"/>
                <a:ea typeface="楷体-简" panose="02010600040101010101" pitchFamily="2" charset="-122"/>
              </a:rPr>
              <a:t>0x123</a:t>
            </a:r>
            <a:r>
              <a:rPr lang="zh-CN" altLang="en-US" sz="2000" baseline="0">
                <a:latin typeface="Times New Roman" panose="02020603050405020304" pitchFamily="18" charset="0"/>
                <a:ea typeface="楷体-简" panose="02010600040101010101" pitchFamily="2" charset="-122"/>
              </a:rPr>
              <a:t>表示十进制数</a:t>
            </a:r>
            <a:r>
              <a:rPr lang="en-US" altLang="zh-CN" sz="2000" baseline="0">
                <a:latin typeface="Times New Roman" panose="02020603050405020304" pitchFamily="18" charset="0"/>
                <a:ea typeface="楷体-简" panose="02010600040101010101" pitchFamily="2" charset="-122"/>
              </a:rPr>
              <a:t>291</a:t>
            </a:r>
            <a:r>
              <a:rPr lang="zh-CN" altLang="en-US" sz="2000" baseline="0">
                <a:latin typeface="Times New Roman" panose="02020603050405020304" pitchFamily="18" charset="0"/>
                <a:ea typeface="楷体-简" panose="02010600040101010101" pitchFamily="2" charset="-122"/>
              </a:rPr>
              <a:t>。</a:t>
            </a:r>
            <a:br>
              <a:rPr lang="zh-CN" altLang="en-US" sz="2000" baseline="0">
                <a:latin typeface="Times New Roman" panose="02020603050405020304" pitchFamily="18" charset="0"/>
                <a:ea typeface="楷体-简" panose="02010600040101010101" pitchFamily="2" charset="-122"/>
              </a:rPr>
            </a:br>
            <a:endParaRPr lang="zh-CN" altLang="en-US" sz="2000" baseline="0">
              <a:latin typeface="Times New Roman" panose="02020603050405020304" pitchFamily="18" charset="0"/>
              <a:ea typeface="楷体-简" panose="02010600040101010101" pitchFamily="2" charset="-122"/>
            </a:endParaRPr>
          </a:p>
          <a:p>
            <a:pPr eaLnBrk="1" hangingPunct="1">
              <a:lnSpc>
                <a:spcPct val="80000"/>
              </a:lnSpc>
              <a:buFont typeface="Wingdings" panose="05000000000000000000" pitchFamily="2" charset="2"/>
              <a:buChar char="ü"/>
            </a:pPr>
            <a:r>
              <a:rPr lang="en-US" altLang="zh-CN" sz="2000" b="1" baseline="0">
                <a:solidFill>
                  <a:srgbClr val="0000CC"/>
                </a:solidFill>
                <a:latin typeface="Times New Roman" panose="02020603050405020304" pitchFamily="18" charset="0"/>
                <a:ea typeface="楷体-简" panose="02010600040101010101" pitchFamily="2" charset="-122"/>
              </a:rPr>
              <a:t>long </a:t>
            </a:r>
            <a:r>
              <a:rPr lang="zh-CN" altLang="en-US" sz="2000" b="1" baseline="0">
                <a:solidFill>
                  <a:srgbClr val="0000CC"/>
                </a:solidFill>
                <a:latin typeface="Times New Roman" panose="02020603050405020304" pitchFamily="18" charset="0"/>
                <a:ea typeface="楷体-简" panose="02010600040101010101" pitchFamily="2" charset="-122"/>
              </a:rPr>
              <a:t>变量赋值时必须在后面加</a:t>
            </a:r>
            <a:r>
              <a:rPr lang="en-US" altLang="zh-CN" sz="2000" b="1" baseline="0">
                <a:solidFill>
                  <a:srgbClr val="0000CC"/>
                </a:solidFill>
                <a:latin typeface="Times New Roman" panose="02020603050405020304" pitchFamily="18" charset="0"/>
                <a:ea typeface="楷体-简" panose="02010600040101010101" pitchFamily="2" charset="-122"/>
              </a:rPr>
              <a:t>l </a:t>
            </a:r>
            <a:r>
              <a:rPr lang="zh-CN" altLang="en-US" sz="2000" b="1" baseline="0">
                <a:solidFill>
                  <a:srgbClr val="0000CC"/>
                </a:solidFill>
                <a:latin typeface="Times New Roman" panose="02020603050405020304" pitchFamily="18" charset="0"/>
                <a:ea typeface="楷体-简" panose="02010600040101010101" pitchFamily="2" charset="-122"/>
              </a:rPr>
              <a:t>或</a:t>
            </a:r>
            <a:r>
              <a:rPr lang="en-US" altLang="zh-CN" sz="2000" b="1" baseline="0">
                <a:solidFill>
                  <a:srgbClr val="0000CC"/>
                </a:solidFill>
                <a:latin typeface="Times New Roman" panose="02020603050405020304" pitchFamily="18" charset="0"/>
                <a:ea typeface="楷体-简" panose="02010600040101010101" pitchFamily="2" charset="-122"/>
              </a:rPr>
              <a:t>L</a:t>
            </a:r>
            <a:r>
              <a:rPr lang="zh-CN" altLang="en-US" sz="2000" b="1" baseline="0">
                <a:solidFill>
                  <a:srgbClr val="0000CC"/>
                </a:solidFill>
                <a:latin typeface="Times New Roman" panose="02020603050405020304" pitchFamily="18" charset="0"/>
                <a:ea typeface="楷体-简" panose="02010600040101010101" pitchFamily="2" charset="-122"/>
              </a:rPr>
              <a:t>，没有添加的默认是</a:t>
            </a:r>
            <a:r>
              <a:rPr lang="en-US" altLang="zh-CN" sz="2000" b="1" baseline="0">
                <a:solidFill>
                  <a:srgbClr val="0000CC"/>
                </a:solidFill>
                <a:latin typeface="Times New Roman" panose="02020603050405020304" pitchFamily="18" charset="0"/>
                <a:ea typeface="楷体-简" panose="02010600040101010101" pitchFamily="2" charset="-122"/>
              </a:rPr>
              <a:t>int</a:t>
            </a:r>
            <a:r>
              <a:rPr lang="zh-CN" altLang="en-US" sz="2000" b="1" baseline="0">
                <a:solidFill>
                  <a:srgbClr val="0000CC"/>
                </a:solidFill>
                <a:latin typeface="Times New Roman" panose="02020603050405020304" pitchFamily="18" charset="0"/>
                <a:ea typeface="楷体-简" panose="02010600040101010101" pitchFamily="2" charset="-122"/>
              </a:rPr>
              <a:t>型</a:t>
            </a:r>
            <a:br>
              <a:rPr lang="zh-CN" altLang="en-US" sz="2400" b="1" baseline="0">
                <a:solidFill>
                  <a:srgbClr val="0000CC"/>
                </a:solidFill>
                <a:latin typeface="Times New Roman" panose="02020603050405020304" pitchFamily="18" charset="0"/>
                <a:ea typeface="楷体-简" panose="02010600040101010101" pitchFamily="2" charset="-122"/>
              </a:rPr>
            </a:br>
            <a:endParaRPr lang="zh-CN" altLang="en-US" sz="2400" b="1" baseline="0">
              <a:latin typeface="Times New Roman" panose="02020603050405020304" pitchFamily="18" charset="0"/>
              <a:ea typeface="楷体-简" panose="02010600040101010101" pitchFamily="2" charset="-122"/>
            </a:endParaRPr>
          </a:p>
          <a:p>
            <a:pPr eaLnBrk="1" hangingPunct="1">
              <a:lnSpc>
                <a:spcPct val="80000"/>
              </a:lnSpc>
              <a:buFont typeface="Wingdings" panose="05000000000000000000" pitchFamily="2" charset="2"/>
              <a:buChar char="Ø"/>
            </a:pPr>
            <a:r>
              <a:rPr lang="zh-CN" altLang="en-US" sz="2400" b="1" baseline="0">
                <a:latin typeface="Times New Roman" panose="02020603050405020304" pitchFamily="18" charset="0"/>
                <a:ea typeface="楷体-简" panose="02010600040101010101" pitchFamily="2" charset="-122"/>
              </a:rPr>
              <a:t>整型变量：</a:t>
            </a:r>
            <a:br>
              <a:rPr lang="zh-CN" altLang="en-US" sz="2400" baseline="0">
                <a:latin typeface="Times New Roman" panose="02020603050405020304" pitchFamily="18" charset="0"/>
                <a:ea typeface="楷体-简" panose="02010600040101010101" pitchFamily="2" charset="-122"/>
              </a:rPr>
            </a:br>
            <a:endParaRPr lang="zh-CN" altLang="en-US" sz="2400" b="1" baseline="0">
              <a:latin typeface="Times New Roman" panose="02020603050405020304" pitchFamily="18" charset="0"/>
              <a:ea typeface="楷体-简" panose="02010600040101010101" pitchFamily="2" charset="-122"/>
            </a:endParaRPr>
          </a:p>
        </p:txBody>
      </p:sp>
      <p:pic>
        <p:nvPicPr>
          <p:cNvPr id="2" name="图片 1">
            <a:extLst>
              <a:ext uri="{FF2B5EF4-FFF2-40B4-BE49-F238E27FC236}">
                <a16:creationId xmlns:a16="http://schemas.microsoft.com/office/drawing/2014/main" id="{97CF61A3-5DD4-DF42-31DB-F6E4A89AEFA2}"/>
              </a:ext>
            </a:extLst>
          </p:cNvPr>
          <p:cNvPicPr>
            <a:picLocks noChangeAspect="1"/>
          </p:cNvPicPr>
          <p:nvPr/>
        </p:nvPicPr>
        <p:blipFill>
          <a:blip r:embed="rId3"/>
          <a:stretch>
            <a:fillRect/>
          </a:stretch>
        </p:blipFill>
        <p:spPr>
          <a:xfrm>
            <a:off x="2267744" y="4145291"/>
            <a:ext cx="6732240" cy="232505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3">
            <a:extLst>
              <a:ext uri="{FF2B5EF4-FFF2-40B4-BE49-F238E27FC236}">
                <a16:creationId xmlns:a16="http://schemas.microsoft.com/office/drawing/2014/main" id="{268ED1B6-DA8D-4273-8BB9-8C8F40DDC5B6}"/>
              </a:ext>
            </a:extLst>
          </p:cNvPr>
          <p:cNvSpPr>
            <a:spLocks noGrp="1" noChangeArrowheads="1"/>
          </p:cNvSpPr>
          <p:nvPr>
            <p:ph type="body" idx="1"/>
          </p:nvPr>
        </p:nvSpPr>
        <p:spPr>
          <a:xfrm>
            <a:off x="457200" y="333375"/>
            <a:ext cx="8229600" cy="5792788"/>
          </a:xfrm>
        </p:spPr>
        <p:txBody>
          <a:bodyPr/>
          <a:lstStyle/>
          <a:p>
            <a:pPr eaLnBrk="1" hangingPunct="1">
              <a:buFontTx/>
              <a:buNone/>
            </a:pPr>
            <a:r>
              <a:rPr lang="en-US" altLang="zh-CN" sz="2400" b="1" baseline="0">
                <a:solidFill>
                  <a:srgbClr val="FF0066"/>
                </a:solidFill>
                <a:latin typeface="Times New Roman" panose="02020603050405020304" pitchFamily="18" charset="0"/>
                <a:ea typeface="楷体-简" panose="02010600040101010101" pitchFamily="2" charset="-122"/>
              </a:rPr>
              <a:t>4</a:t>
            </a:r>
            <a:r>
              <a:rPr lang="zh-CN" altLang="en-US" sz="2400" b="1" baseline="0">
                <a:solidFill>
                  <a:srgbClr val="FF0066"/>
                </a:solidFill>
                <a:latin typeface="Times New Roman" panose="02020603050405020304" pitchFamily="18" charset="0"/>
                <a:ea typeface="楷体-简" panose="02010600040101010101" pitchFamily="2" charset="-122"/>
              </a:rPr>
              <a:t>．浮点型（实型）数据</a:t>
            </a:r>
            <a:endParaRPr lang="en-US" altLang="zh-CN" sz="2400" b="1" baseline="0">
              <a:solidFill>
                <a:srgbClr val="FF0066"/>
              </a:solidFill>
              <a:latin typeface="Times New Roman" panose="02020603050405020304" pitchFamily="18" charset="0"/>
              <a:ea typeface="楷体-简" panose="02010600040101010101" pitchFamily="2" charset="-122"/>
            </a:endParaRPr>
          </a:p>
          <a:p>
            <a:pPr eaLnBrk="1" hangingPunct="1">
              <a:buFont typeface="Wingdings" panose="05000000000000000000" pitchFamily="2" charset="2"/>
              <a:buChar char="Ø"/>
            </a:pPr>
            <a:endParaRPr lang="en-US" altLang="zh-CN" sz="2000" b="1" baseline="0">
              <a:solidFill>
                <a:srgbClr val="FF0066"/>
              </a:solidFill>
              <a:latin typeface="Times New Roman" panose="02020603050405020304" pitchFamily="18" charset="0"/>
              <a:ea typeface="楷体-简" panose="02010600040101010101" pitchFamily="2" charset="-122"/>
            </a:endParaRPr>
          </a:p>
          <a:p>
            <a:pPr eaLnBrk="1" hangingPunct="1">
              <a:buFont typeface="Wingdings" panose="05000000000000000000" pitchFamily="2" charset="2"/>
              <a:buChar char="Ø"/>
            </a:pPr>
            <a:r>
              <a:rPr lang="zh-CN" altLang="en-US" sz="2400" b="1" baseline="0">
                <a:latin typeface="Times New Roman" panose="02020603050405020304" pitchFamily="18" charset="0"/>
                <a:ea typeface="楷体-简" panose="02010600040101010101" pitchFamily="2" charset="-122"/>
              </a:rPr>
              <a:t>实型常量：</a:t>
            </a:r>
            <a:br>
              <a:rPr lang="zh-CN" altLang="en-US" sz="2400" baseline="0">
                <a:latin typeface="Times New Roman" panose="02020603050405020304" pitchFamily="18" charset="0"/>
                <a:ea typeface="楷体-简" panose="02010600040101010101" pitchFamily="2" charset="-122"/>
              </a:rPr>
            </a:br>
            <a:r>
              <a:rPr lang="zh-CN" altLang="en-US" sz="2400" baseline="0">
                <a:latin typeface="Times New Roman" panose="02020603050405020304" pitchFamily="18" charset="0"/>
                <a:ea typeface="楷体-简" panose="02010600040101010101" pitchFamily="2" charset="-122"/>
              </a:rPr>
              <a:t>◇ 十进制数形式</a:t>
            </a:r>
            <a:br>
              <a:rPr lang="zh-CN" altLang="en-US" sz="2400" baseline="0">
                <a:latin typeface="Times New Roman" panose="02020603050405020304" pitchFamily="18" charset="0"/>
                <a:ea typeface="楷体-简" panose="02010600040101010101" pitchFamily="2" charset="-122"/>
              </a:rPr>
            </a:br>
            <a:r>
              <a:rPr lang="zh-CN" altLang="en-US" sz="2400" baseline="0">
                <a:latin typeface="Times New Roman" panose="02020603050405020304" pitchFamily="18" charset="0"/>
                <a:ea typeface="楷体-简" panose="02010600040101010101" pitchFamily="2" charset="-122"/>
              </a:rPr>
              <a:t>　   </a:t>
            </a:r>
            <a:r>
              <a:rPr lang="zh-CN" altLang="en-US" sz="2000" baseline="0">
                <a:latin typeface="Times New Roman" panose="02020603050405020304" pitchFamily="18" charset="0"/>
                <a:ea typeface="楷体-简" panose="02010600040101010101" pitchFamily="2" charset="-122"/>
              </a:rPr>
              <a:t>由数字和小数点组成，且必须有小数点，如</a:t>
            </a:r>
            <a:r>
              <a:rPr lang="en-US" altLang="zh-CN" sz="2000" baseline="0">
                <a:latin typeface="Times New Roman" panose="02020603050405020304" pitchFamily="18" charset="0"/>
                <a:ea typeface="楷体-简" panose="02010600040101010101" pitchFamily="2" charset="-122"/>
              </a:rPr>
              <a:t>0.123, 1.23, 123.0</a:t>
            </a:r>
            <a:br>
              <a:rPr lang="en-US" altLang="zh-CN" sz="2400" baseline="0">
                <a:latin typeface="Times New Roman" panose="02020603050405020304" pitchFamily="18" charset="0"/>
                <a:ea typeface="楷体-简" panose="02010600040101010101" pitchFamily="2" charset="-122"/>
              </a:rPr>
            </a:br>
            <a:r>
              <a:rPr lang="zh-CN" altLang="en-US" sz="2400" baseline="0">
                <a:latin typeface="Times New Roman" panose="02020603050405020304" pitchFamily="18" charset="0"/>
                <a:ea typeface="楷体-简" panose="02010600040101010101" pitchFamily="2" charset="-122"/>
              </a:rPr>
              <a:t>◇ 科学计数法形式</a:t>
            </a:r>
            <a:br>
              <a:rPr lang="zh-CN" altLang="en-US" sz="2400" baseline="0">
                <a:latin typeface="Times New Roman" panose="02020603050405020304" pitchFamily="18" charset="0"/>
                <a:ea typeface="楷体-简" panose="02010600040101010101" pitchFamily="2" charset="-122"/>
              </a:rPr>
            </a:br>
            <a:r>
              <a:rPr lang="zh-CN" altLang="en-US" sz="2400" baseline="0">
                <a:latin typeface="Times New Roman" panose="02020603050405020304" pitchFamily="18" charset="0"/>
                <a:ea typeface="楷体-简" panose="02010600040101010101" pitchFamily="2" charset="-122"/>
              </a:rPr>
              <a:t>　   </a:t>
            </a:r>
            <a:r>
              <a:rPr lang="zh-CN" altLang="en-US" sz="2000" baseline="0">
                <a:latin typeface="Times New Roman" panose="02020603050405020304" pitchFamily="18" charset="0"/>
                <a:ea typeface="楷体-简" panose="02010600040101010101" pitchFamily="2" charset="-122"/>
              </a:rPr>
              <a:t>如：</a:t>
            </a:r>
            <a:r>
              <a:rPr lang="en-US" altLang="zh-CN" sz="2000" baseline="0">
                <a:latin typeface="Times New Roman" panose="02020603050405020304" pitchFamily="18" charset="0"/>
                <a:ea typeface="楷体-简" panose="02010600040101010101" pitchFamily="2" charset="-122"/>
              </a:rPr>
              <a:t>123e3</a:t>
            </a:r>
            <a:r>
              <a:rPr lang="zh-CN" altLang="en-US" sz="2000" baseline="0">
                <a:latin typeface="Times New Roman" panose="02020603050405020304" pitchFamily="18" charset="0"/>
                <a:ea typeface="楷体-简" panose="02010600040101010101" pitchFamily="2" charset="-122"/>
              </a:rPr>
              <a:t>或</a:t>
            </a:r>
            <a:r>
              <a:rPr lang="en-US" altLang="zh-CN" sz="2000" baseline="0">
                <a:latin typeface="Times New Roman" panose="02020603050405020304" pitchFamily="18" charset="0"/>
                <a:ea typeface="楷体-简" panose="02010600040101010101" pitchFamily="2" charset="-122"/>
              </a:rPr>
              <a:t>123E3</a:t>
            </a:r>
            <a:r>
              <a:rPr lang="zh-CN" altLang="en-US" sz="2000" baseline="0">
                <a:latin typeface="Times New Roman" panose="02020603050405020304" pitchFamily="18" charset="0"/>
                <a:ea typeface="楷体-简" panose="02010600040101010101" pitchFamily="2" charset="-122"/>
              </a:rPr>
              <a:t>，其中</a:t>
            </a:r>
            <a:r>
              <a:rPr lang="en-US" altLang="zh-CN" sz="2000" baseline="0">
                <a:latin typeface="Times New Roman" panose="02020603050405020304" pitchFamily="18" charset="0"/>
                <a:ea typeface="楷体-简" panose="02010600040101010101" pitchFamily="2" charset="-122"/>
              </a:rPr>
              <a:t>e</a:t>
            </a:r>
            <a:r>
              <a:rPr lang="zh-CN" altLang="en-US" sz="2000" baseline="0">
                <a:latin typeface="Times New Roman" panose="02020603050405020304" pitchFamily="18" charset="0"/>
                <a:ea typeface="楷体-简" panose="02010600040101010101" pitchFamily="2" charset="-122"/>
              </a:rPr>
              <a:t>或</a:t>
            </a:r>
            <a:r>
              <a:rPr lang="en-US" altLang="zh-CN" sz="2000" baseline="0">
                <a:latin typeface="Times New Roman" panose="02020603050405020304" pitchFamily="18" charset="0"/>
                <a:ea typeface="楷体-简" panose="02010600040101010101" pitchFamily="2" charset="-122"/>
              </a:rPr>
              <a:t>E</a:t>
            </a:r>
            <a:r>
              <a:rPr lang="zh-CN" altLang="en-US" sz="2000" baseline="0">
                <a:latin typeface="Times New Roman" panose="02020603050405020304" pitchFamily="18" charset="0"/>
                <a:ea typeface="楷体-简" panose="02010600040101010101" pitchFamily="2" charset="-122"/>
              </a:rPr>
              <a:t>之前必须有数字，且</a:t>
            </a:r>
            <a:r>
              <a:rPr lang="en-US" altLang="zh-CN" sz="2000" baseline="0">
                <a:latin typeface="Times New Roman" panose="02020603050405020304" pitchFamily="18" charset="0"/>
                <a:ea typeface="楷体-简" panose="02010600040101010101" pitchFamily="2" charset="-122"/>
              </a:rPr>
              <a:t>e</a:t>
            </a:r>
            <a:r>
              <a:rPr lang="zh-CN" altLang="en-US" sz="2000" baseline="0">
                <a:latin typeface="Times New Roman" panose="02020603050405020304" pitchFamily="18" charset="0"/>
                <a:ea typeface="楷体-简" panose="02010600040101010101" pitchFamily="2" charset="-122"/>
              </a:rPr>
              <a:t>或</a:t>
            </a:r>
            <a:r>
              <a:rPr lang="en-US" altLang="zh-CN" sz="2000" baseline="0">
                <a:latin typeface="Times New Roman" panose="02020603050405020304" pitchFamily="18" charset="0"/>
                <a:ea typeface="楷体-简" panose="02010600040101010101" pitchFamily="2" charset="-122"/>
              </a:rPr>
              <a:t>E</a:t>
            </a:r>
            <a:r>
              <a:rPr lang="zh-CN" altLang="en-US" sz="2000" baseline="0">
                <a:latin typeface="Times New Roman" panose="02020603050405020304" pitchFamily="18" charset="0"/>
                <a:ea typeface="楷体-简" panose="02010600040101010101" pitchFamily="2" charset="-122"/>
              </a:rPr>
              <a:t>后面的指数必须为整数。</a:t>
            </a:r>
            <a:br>
              <a:rPr lang="zh-CN" altLang="en-US" sz="2000" baseline="0">
                <a:latin typeface="Times New Roman" panose="02020603050405020304" pitchFamily="18" charset="0"/>
                <a:ea typeface="楷体-简" panose="02010600040101010101" pitchFamily="2" charset="-122"/>
              </a:rPr>
            </a:br>
            <a:r>
              <a:rPr lang="zh-CN" altLang="en-US" sz="2400" baseline="0">
                <a:latin typeface="Times New Roman" panose="02020603050405020304" pitchFamily="18" charset="0"/>
                <a:ea typeface="楷体-简" panose="02010600040101010101" pitchFamily="2" charset="-122"/>
              </a:rPr>
              <a:t>◇ </a:t>
            </a:r>
            <a:r>
              <a:rPr lang="en-US" altLang="zh-CN" sz="2400" baseline="0">
                <a:solidFill>
                  <a:srgbClr val="0000CC"/>
                </a:solidFill>
                <a:latin typeface="Times New Roman" panose="02020603050405020304" pitchFamily="18" charset="0"/>
                <a:ea typeface="楷体-简" panose="02010600040101010101" pitchFamily="2" charset="-122"/>
              </a:rPr>
              <a:t>float</a:t>
            </a:r>
            <a:r>
              <a:rPr lang="zh-CN" altLang="en-US" sz="2400" baseline="0">
                <a:solidFill>
                  <a:srgbClr val="0000CC"/>
                </a:solidFill>
                <a:latin typeface="Times New Roman" panose="02020603050405020304" pitchFamily="18" charset="0"/>
                <a:ea typeface="楷体-简" panose="02010600040101010101" pitchFamily="2" charset="-122"/>
              </a:rPr>
              <a:t>型的值</a:t>
            </a:r>
            <a:r>
              <a:rPr lang="en-US" altLang="zh-CN" sz="2400" baseline="0">
                <a:latin typeface="Times New Roman" panose="02020603050405020304" pitchFamily="18" charset="0"/>
                <a:ea typeface="楷体-简" panose="02010600040101010101" pitchFamily="2" charset="-122"/>
              </a:rPr>
              <a:t>,</a:t>
            </a:r>
            <a:r>
              <a:rPr lang="zh-CN" altLang="en-US" sz="2400" b="1" baseline="0">
                <a:solidFill>
                  <a:srgbClr val="FF0066"/>
                </a:solidFill>
                <a:latin typeface="Times New Roman" panose="02020603050405020304" pitchFamily="18" charset="0"/>
                <a:ea typeface="楷体-简" panose="02010600040101010101" pitchFamily="2" charset="-122"/>
              </a:rPr>
              <a:t>必须</a:t>
            </a:r>
            <a:r>
              <a:rPr lang="zh-CN" altLang="en-US" sz="2400" baseline="0">
                <a:latin typeface="Times New Roman" panose="02020603050405020304" pitchFamily="18" charset="0"/>
                <a:ea typeface="楷体-简" panose="02010600040101010101" pitchFamily="2" charset="-122"/>
              </a:rPr>
              <a:t>在数字后加</a:t>
            </a:r>
            <a:r>
              <a:rPr lang="en-US" altLang="zh-CN" sz="2400" baseline="0">
                <a:latin typeface="Times New Roman" panose="02020603050405020304" pitchFamily="18" charset="0"/>
                <a:ea typeface="楷体-简" panose="02010600040101010101" pitchFamily="2" charset="-122"/>
              </a:rPr>
              <a:t>f</a:t>
            </a:r>
            <a:r>
              <a:rPr lang="zh-CN" altLang="en-US" sz="2400" baseline="0">
                <a:latin typeface="Times New Roman" panose="02020603050405020304" pitchFamily="18" charset="0"/>
                <a:ea typeface="楷体-简" panose="02010600040101010101" pitchFamily="2" charset="-122"/>
              </a:rPr>
              <a:t>或</a:t>
            </a:r>
            <a:r>
              <a:rPr lang="en-US" altLang="zh-CN" sz="2400" baseline="0">
                <a:latin typeface="Times New Roman" panose="02020603050405020304" pitchFamily="18" charset="0"/>
                <a:ea typeface="楷体-简" panose="02010600040101010101" pitchFamily="2" charset="-122"/>
              </a:rPr>
              <a:t>F,</a:t>
            </a:r>
            <a:r>
              <a:rPr lang="zh-CN" altLang="en-US" sz="2400" baseline="0">
                <a:latin typeface="Times New Roman" panose="02020603050405020304" pitchFamily="18" charset="0"/>
                <a:ea typeface="楷体-简" panose="02010600040101010101" pitchFamily="2" charset="-122"/>
              </a:rPr>
              <a:t>如</a:t>
            </a:r>
            <a:r>
              <a:rPr lang="en-US" altLang="zh-CN" sz="2400" baseline="0">
                <a:latin typeface="Times New Roman" panose="02020603050405020304" pitchFamily="18" charset="0"/>
                <a:ea typeface="楷体-简" panose="02010600040101010101" pitchFamily="2" charset="-122"/>
              </a:rPr>
              <a:t>1.23f</a:t>
            </a:r>
            <a:r>
              <a:rPr lang="zh-CN" altLang="en-US" sz="2400" baseline="0">
                <a:latin typeface="Times New Roman" panose="02020603050405020304" pitchFamily="18" charset="0"/>
                <a:ea typeface="楷体-简" panose="02010600040101010101" pitchFamily="2" charset="-122"/>
              </a:rPr>
              <a:t>。 </a:t>
            </a:r>
          </a:p>
          <a:p>
            <a:pPr eaLnBrk="1" hangingPunct="1">
              <a:buFontTx/>
              <a:buNone/>
            </a:pPr>
            <a:r>
              <a:rPr lang="zh-CN" altLang="en-US" sz="2400" baseline="0">
                <a:latin typeface="Times New Roman" panose="02020603050405020304" pitchFamily="18" charset="0"/>
                <a:ea typeface="楷体-简" panose="02010600040101010101" pitchFamily="2" charset="-122"/>
              </a:rPr>
              <a:t>	◇ </a:t>
            </a:r>
            <a:r>
              <a:rPr lang="en-US" altLang="zh-CN" sz="2400" baseline="0">
                <a:solidFill>
                  <a:srgbClr val="0000CC"/>
                </a:solidFill>
                <a:latin typeface="Times New Roman" panose="02020603050405020304" pitchFamily="18" charset="0"/>
                <a:ea typeface="楷体-简" panose="02010600040101010101" pitchFamily="2" charset="-122"/>
              </a:rPr>
              <a:t>double</a:t>
            </a:r>
            <a:r>
              <a:rPr lang="zh-CN" altLang="en-US" sz="2400" baseline="0">
                <a:solidFill>
                  <a:srgbClr val="0000CC"/>
                </a:solidFill>
                <a:latin typeface="Times New Roman" panose="02020603050405020304" pitchFamily="18" charset="0"/>
                <a:ea typeface="楷体-简" panose="02010600040101010101" pitchFamily="2" charset="-122"/>
              </a:rPr>
              <a:t>型的值</a:t>
            </a:r>
            <a:r>
              <a:rPr lang="en-US" altLang="zh-CN" sz="2400" baseline="0">
                <a:latin typeface="Times New Roman" panose="02020603050405020304" pitchFamily="18" charset="0"/>
                <a:ea typeface="楷体-简" panose="02010600040101010101" pitchFamily="2" charset="-122"/>
              </a:rPr>
              <a:t>,</a:t>
            </a:r>
            <a:r>
              <a:rPr lang="zh-CN" altLang="en-US" sz="2400" b="1" baseline="0">
                <a:solidFill>
                  <a:srgbClr val="FF0066"/>
                </a:solidFill>
                <a:latin typeface="Times New Roman" panose="02020603050405020304" pitchFamily="18" charset="0"/>
                <a:ea typeface="楷体-简" panose="02010600040101010101" pitchFamily="2" charset="-122"/>
              </a:rPr>
              <a:t>可以</a:t>
            </a:r>
            <a:r>
              <a:rPr lang="zh-CN" altLang="en-US" sz="2400" baseline="0">
                <a:latin typeface="Times New Roman" panose="02020603050405020304" pitchFamily="18" charset="0"/>
                <a:ea typeface="楷体-简" panose="02010600040101010101" pitchFamily="2" charset="-122"/>
              </a:rPr>
              <a:t>在数字后加</a:t>
            </a:r>
            <a:r>
              <a:rPr lang="en-US" altLang="zh-CN" sz="2400" baseline="0">
                <a:latin typeface="Times New Roman" panose="02020603050405020304" pitchFamily="18" charset="0"/>
                <a:ea typeface="楷体-简" panose="02010600040101010101" pitchFamily="2" charset="-122"/>
              </a:rPr>
              <a:t>d</a:t>
            </a:r>
            <a:r>
              <a:rPr lang="zh-CN" altLang="en-US" sz="2400" baseline="0">
                <a:latin typeface="Times New Roman" panose="02020603050405020304" pitchFamily="18" charset="0"/>
                <a:ea typeface="楷体-简" panose="02010600040101010101" pitchFamily="2" charset="-122"/>
              </a:rPr>
              <a:t>或</a:t>
            </a:r>
            <a:r>
              <a:rPr lang="en-US" altLang="zh-CN" sz="2400" baseline="0">
                <a:latin typeface="Times New Roman" panose="02020603050405020304" pitchFamily="18" charset="0"/>
                <a:ea typeface="楷体-简" panose="02010600040101010101" pitchFamily="2" charset="-122"/>
              </a:rPr>
              <a:t>D,</a:t>
            </a:r>
            <a:r>
              <a:rPr lang="zh-CN" altLang="en-US" sz="2400" baseline="0">
                <a:latin typeface="Times New Roman" panose="02020603050405020304" pitchFamily="18" charset="0"/>
                <a:ea typeface="楷体-简" panose="02010600040101010101" pitchFamily="2" charset="-122"/>
              </a:rPr>
              <a:t>如</a:t>
            </a:r>
            <a:r>
              <a:rPr lang="en-US" altLang="zh-CN" sz="2400" baseline="0">
                <a:latin typeface="Times New Roman" panose="02020603050405020304" pitchFamily="18" charset="0"/>
                <a:ea typeface="楷体-简" panose="02010600040101010101" pitchFamily="2" charset="-122"/>
              </a:rPr>
              <a:t>1.23d</a:t>
            </a:r>
            <a:r>
              <a:rPr lang="zh-CN" altLang="en-US" sz="2400" baseline="0">
                <a:latin typeface="Times New Roman" panose="02020603050405020304" pitchFamily="18" charset="0"/>
                <a:ea typeface="楷体-简" panose="02010600040101010101" pitchFamily="2" charset="-122"/>
              </a:rPr>
              <a:t>，</a:t>
            </a:r>
            <a:r>
              <a:rPr lang="zh-CN" altLang="en-US" sz="2400" b="1" baseline="0">
                <a:solidFill>
                  <a:srgbClr val="FF0066"/>
                </a:solidFill>
                <a:latin typeface="Times New Roman" panose="02020603050405020304" pitchFamily="18" charset="0"/>
                <a:ea typeface="楷体-简" panose="02010600040101010101" pitchFamily="2" charset="-122"/>
              </a:rPr>
              <a:t>也可以不加。</a:t>
            </a:r>
            <a:r>
              <a:rPr lang="zh-CN" altLang="en-US" sz="2400" baseline="0">
                <a:latin typeface="Times New Roman" panose="02020603050405020304" pitchFamily="18" charset="0"/>
                <a:ea typeface="楷体-简" panose="02010600040101010101" pitchFamily="2" charset="-122"/>
              </a:rPr>
              <a:t>如</a:t>
            </a:r>
            <a:r>
              <a:rPr lang="en-US" altLang="zh-CN" sz="2400" baseline="0">
                <a:latin typeface="Times New Roman" panose="02020603050405020304" pitchFamily="18" charset="0"/>
                <a:ea typeface="楷体-简" panose="02010600040101010101" pitchFamily="2" charset="-122"/>
              </a:rPr>
              <a:t>1.23</a:t>
            </a:r>
            <a:r>
              <a:rPr lang="zh-CN" altLang="en-US" sz="2400" baseline="0">
                <a:latin typeface="Times New Roman" panose="02020603050405020304" pitchFamily="18" charset="0"/>
                <a:ea typeface="楷体-简" panose="02010600040101010101" pitchFamily="2" charset="-122"/>
              </a:rPr>
              <a:t>。 </a:t>
            </a:r>
          </a:p>
          <a:p>
            <a:pPr eaLnBrk="1" hangingPunct="1">
              <a:buFontTx/>
              <a:buNone/>
            </a:pPr>
            <a:endParaRPr lang="zh-CN" altLang="en-US" sz="2400" baseline="0">
              <a:latin typeface="Times New Roman" panose="02020603050405020304" pitchFamily="18" charset="0"/>
              <a:ea typeface="楷体-简" panose="02010600040101010101" pitchFamily="2" charset="-122"/>
            </a:endParaRPr>
          </a:p>
          <a:p>
            <a:pPr eaLnBrk="1" hangingPunct="1">
              <a:buFontTx/>
              <a:buNone/>
            </a:pPr>
            <a:r>
              <a:rPr lang="zh-CN" altLang="en-US" sz="2400" baseline="0">
                <a:latin typeface="Times New Roman" panose="02020603050405020304" pitchFamily="18" charset="0"/>
                <a:ea typeface="楷体-简" panose="02010600040101010101" pitchFamily="2" charset="-122"/>
              </a:rPr>
              <a:t>　     </a:t>
            </a:r>
            <a:r>
              <a:rPr lang="zh-CN" altLang="en-US" sz="2400" b="1" baseline="0">
                <a:latin typeface="Times New Roman" panose="02020603050405020304" pitchFamily="18" charset="0"/>
                <a:ea typeface="楷体-简" panose="02010600040101010101" pitchFamily="2" charset="-122"/>
              </a:rPr>
              <a:t>实型变量：</a:t>
            </a:r>
            <a:br>
              <a:rPr lang="zh-CN" altLang="en-US" sz="2400" baseline="0">
                <a:latin typeface="Times New Roman" panose="02020603050405020304" pitchFamily="18" charset="0"/>
                <a:ea typeface="楷体-简" panose="02010600040101010101" pitchFamily="2" charset="-122"/>
              </a:rPr>
            </a:br>
            <a:endParaRPr lang="zh-CN" altLang="en-US" sz="2400" baseline="0">
              <a:latin typeface="Times New Roman" panose="02020603050405020304" pitchFamily="18" charset="0"/>
              <a:ea typeface="楷体-简" panose="02010600040101010101" pitchFamily="2" charset="-122"/>
            </a:endParaRPr>
          </a:p>
        </p:txBody>
      </p:sp>
      <p:pic>
        <p:nvPicPr>
          <p:cNvPr id="25603" name="Picture 4">
            <a:extLst>
              <a:ext uri="{FF2B5EF4-FFF2-40B4-BE49-F238E27FC236}">
                <a16:creationId xmlns:a16="http://schemas.microsoft.com/office/drawing/2014/main" id="{E09951C8-E922-4B32-B511-AA4DB61ADA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7700" y="4797152"/>
            <a:ext cx="7848600" cy="1873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701BA2CA-E6FD-46C9-8BED-C4A730714718}"/>
              </a:ext>
            </a:extLst>
          </p:cNvPr>
          <p:cNvSpPr>
            <a:spLocks noGrp="1" noChangeArrowheads="1"/>
          </p:cNvSpPr>
          <p:nvPr>
            <p:ph type="title" idx="4294967295"/>
          </p:nvPr>
        </p:nvSpPr>
        <p:spPr>
          <a:xfrm>
            <a:off x="539750" y="304800"/>
            <a:ext cx="8001000" cy="1216025"/>
          </a:xfrm>
        </p:spPr>
        <p:txBody>
          <a:bodyPr/>
          <a:lstStyle/>
          <a:p>
            <a:pPr eaLnBrk="1" hangingPunct="1"/>
            <a:r>
              <a:rPr lang="en-US" altLang="zh-CN" sz="3600" baseline="0">
                <a:solidFill>
                  <a:srgbClr val="FF0066"/>
                </a:solidFill>
                <a:latin typeface="Times New Roman" panose="02020603050405020304" pitchFamily="18" charset="0"/>
                <a:ea typeface="楷体-简" panose="02010600040101010101" pitchFamily="2" charset="-122"/>
              </a:rPr>
              <a:t>2.5 </a:t>
            </a:r>
            <a:r>
              <a:rPr lang="zh-CN" altLang="en-US" sz="3600" b="1" baseline="0">
                <a:solidFill>
                  <a:srgbClr val="FF0066"/>
                </a:solidFill>
                <a:latin typeface="Times New Roman" panose="02020603050405020304" pitchFamily="18" charset="0"/>
                <a:ea typeface="楷体-简" panose="02010600040101010101" pitchFamily="2" charset="-122"/>
              </a:rPr>
              <a:t>基本数据类型的转换</a:t>
            </a:r>
          </a:p>
        </p:txBody>
      </p:sp>
      <p:sp>
        <p:nvSpPr>
          <p:cNvPr id="27651" name="Rectangle 3">
            <a:extLst>
              <a:ext uri="{FF2B5EF4-FFF2-40B4-BE49-F238E27FC236}">
                <a16:creationId xmlns:a16="http://schemas.microsoft.com/office/drawing/2014/main" id="{575C24D7-775D-4512-9DE5-1C5D7A79A409}"/>
              </a:ext>
            </a:extLst>
          </p:cNvPr>
          <p:cNvSpPr>
            <a:spLocks noGrp="1" noChangeArrowheads="1"/>
          </p:cNvSpPr>
          <p:nvPr>
            <p:ph type="body" idx="4294967295"/>
          </p:nvPr>
        </p:nvSpPr>
        <p:spPr>
          <a:xfrm>
            <a:off x="0" y="1341438"/>
            <a:ext cx="8316913" cy="2108200"/>
          </a:xfrm>
        </p:spPr>
        <p:txBody>
          <a:bodyPr/>
          <a:lstStyle/>
          <a:p>
            <a:pPr lvl="1" eaLnBrk="1" hangingPunct="1">
              <a:lnSpc>
                <a:spcPct val="120000"/>
              </a:lnSpc>
              <a:buFontTx/>
              <a:buNone/>
            </a:pPr>
            <a:r>
              <a:rPr lang="en-US" altLang="zh-CN" sz="2200" baseline="0">
                <a:latin typeface="Times New Roman" panose="02020603050405020304" pitchFamily="18" charset="0"/>
                <a:ea typeface="楷体-简" panose="02010600040101010101" pitchFamily="2" charset="-122"/>
              </a:rPr>
              <a:t>	</a:t>
            </a:r>
            <a:r>
              <a:rPr lang="en-US" altLang="zh-CN" sz="2200" b="1" baseline="0">
                <a:latin typeface="Times New Roman" panose="02020603050405020304" pitchFamily="18" charset="0"/>
                <a:ea typeface="楷体-简" panose="02010600040101010101" pitchFamily="2" charset="-122"/>
              </a:rPr>
              <a:t>Java</a:t>
            </a:r>
            <a:r>
              <a:rPr lang="zh-CN" altLang="en-US" sz="2200" b="1" baseline="0">
                <a:latin typeface="Times New Roman" panose="02020603050405020304" pitchFamily="18" charset="0"/>
                <a:ea typeface="楷体-简" panose="02010600040101010101" pitchFamily="2" charset="-122"/>
              </a:rPr>
              <a:t>程序在首次声明变量时，需要为其指定一种类型。</a:t>
            </a:r>
            <a:r>
              <a:rPr lang="zh-CN" altLang="en-US" sz="2200" b="1" baseline="0">
                <a:solidFill>
                  <a:srgbClr val="FF0066"/>
                </a:solidFill>
                <a:latin typeface="Times New Roman" panose="02020603050405020304" pitchFamily="18" charset="0"/>
                <a:ea typeface="楷体-简" panose="02010600040101010101" pitchFamily="2" charset="-122"/>
              </a:rPr>
              <a:t>类型决定了变量中存储的值的范围</a:t>
            </a:r>
            <a:r>
              <a:rPr lang="zh-CN" altLang="en-US" sz="2200" b="1" baseline="0">
                <a:latin typeface="Times New Roman" panose="02020603050405020304" pitchFamily="18" charset="0"/>
                <a:ea typeface="楷体-简" panose="02010600040101010101" pitchFamily="2" charset="-122"/>
              </a:rPr>
              <a:t>，以及能对变量值执行的操作。</a:t>
            </a:r>
            <a:r>
              <a:rPr lang="en-US" altLang="zh-CN" sz="2200" b="1" baseline="0">
                <a:latin typeface="Times New Roman" panose="02020603050405020304" pitchFamily="18" charset="0"/>
                <a:ea typeface="楷体-简" panose="02010600040101010101" pitchFamily="2" charset="-122"/>
              </a:rPr>
              <a:t>Java</a:t>
            </a:r>
            <a:r>
              <a:rPr lang="zh-CN" altLang="en-US" sz="2200" b="1" baseline="0">
                <a:latin typeface="Times New Roman" panose="02020603050405020304" pitchFamily="18" charset="0"/>
                <a:ea typeface="楷体-简" panose="02010600040101010101" pitchFamily="2" charset="-122"/>
              </a:rPr>
              <a:t>是一种</a:t>
            </a:r>
            <a:r>
              <a:rPr lang="zh-CN" altLang="en-US" sz="2200" b="1" baseline="0">
                <a:solidFill>
                  <a:srgbClr val="0000CC"/>
                </a:solidFill>
                <a:latin typeface="Times New Roman" panose="02020603050405020304" pitchFamily="18" charset="0"/>
                <a:ea typeface="楷体-简" panose="02010600040101010101" pitchFamily="2" charset="-122"/>
              </a:rPr>
              <a:t>强类型语言</a:t>
            </a:r>
            <a:r>
              <a:rPr lang="zh-CN" altLang="en-US" sz="2200" b="1" baseline="0">
                <a:latin typeface="Times New Roman" panose="02020603050405020304" pitchFamily="18" charset="0"/>
                <a:ea typeface="楷体-简" panose="02010600040101010101" pitchFamily="2" charset="-122"/>
              </a:rPr>
              <a:t>，它能区别多种数据类型，并且</a:t>
            </a:r>
            <a:r>
              <a:rPr lang="zh-CN" altLang="en-US" sz="2200" b="1" baseline="0">
                <a:solidFill>
                  <a:srgbClr val="FF0066"/>
                </a:solidFill>
                <a:latin typeface="Times New Roman" panose="02020603050405020304" pitchFamily="18" charset="0"/>
                <a:ea typeface="楷体-简" panose="02010600040101010101" pitchFamily="2" charset="-122"/>
              </a:rPr>
              <a:t>通常</a:t>
            </a:r>
            <a:r>
              <a:rPr lang="zh-CN" altLang="en-US" sz="2200" b="1" baseline="0">
                <a:latin typeface="Times New Roman" panose="02020603050405020304" pitchFamily="18" charset="0"/>
                <a:ea typeface="楷体-简" panose="02010600040101010101" pitchFamily="2" charset="-122"/>
              </a:rPr>
              <a:t>不允许用一种类型替换另一种。这样，使得编译器能高效处理数据，防止由于类型不匹配导致的运行时错误。当需要更高的灵活性时，</a:t>
            </a:r>
            <a:r>
              <a:rPr lang="en-US" altLang="zh-CN" sz="2200" b="1" baseline="0">
                <a:latin typeface="Times New Roman" panose="02020603050405020304" pitchFamily="18" charset="0"/>
                <a:ea typeface="楷体-简" panose="02010600040101010101" pitchFamily="2" charset="-122"/>
              </a:rPr>
              <a:t>Java</a:t>
            </a:r>
            <a:r>
              <a:rPr lang="zh-CN" altLang="en-US" sz="2200" b="1" baseline="0">
                <a:latin typeface="Times New Roman" panose="02020603050405020304" pitchFamily="18" charset="0"/>
                <a:ea typeface="楷体-简" panose="02010600040101010101" pitchFamily="2" charset="-122"/>
              </a:rPr>
              <a:t>语言</a:t>
            </a:r>
            <a:r>
              <a:rPr lang="zh-CN" altLang="en-US" sz="2200" b="1" baseline="0">
                <a:solidFill>
                  <a:srgbClr val="FF0066"/>
                </a:solidFill>
                <a:latin typeface="Times New Roman" panose="02020603050405020304" pitchFamily="18" charset="0"/>
                <a:ea typeface="楷体-简" panose="02010600040101010101" pitchFamily="2" charset="-122"/>
              </a:rPr>
              <a:t>也提供了类型转换的机制</a:t>
            </a:r>
            <a:r>
              <a:rPr lang="zh-CN" altLang="en-US" sz="2200" b="1" baseline="0">
                <a:latin typeface="Times New Roman" panose="02020603050405020304" pitchFamily="18" charset="0"/>
                <a:ea typeface="楷体-简" panose="02010600040101010101" pitchFamily="2" charset="-122"/>
              </a:rPr>
              <a:t>。</a:t>
            </a:r>
            <a:r>
              <a:rPr lang="zh-CN" altLang="en-US" sz="2200" baseline="0">
                <a:latin typeface="Times New Roman" panose="02020603050405020304" pitchFamily="18" charset="0"/>
                <a:ea typeface="楷体-简" panose="02010600040101010101" pitchFamily="2" charset="-122"/>
              </a:rPr>
              <a:t> </a:t>
            </a:r>
          </a:p>
          <a:p>
            <a:pPr lvl="1" eaLnBrk="1" hangingPunct="1">
              <a:lnSpc>
                <a:spcPct val="120000"/>
              </a:lnSpc>
              <a:buFontTx/>
              <a:buNone/>
            </a:pPr>
            <a:endParaRPr lang="en-US" altLang="zh-CN" sz="2200" baseline="0">
              <a:latin typeface="Times New Roman" panose="02020603050405020304" pitchFamily="18" charset="0"/>
              <a:ea typeface="楷体-简" panose="02010600040101010101" pitchFamily="2" charset="-122"/>
            </a:endParaRPr>
          </a:p>
        </p:txBody>
      </p:sp>
      <p:sp>
        <p:nvSpPr>
          <p:cNvPr id="27652" name="Rectangle 22">
            <a:extLst>
              <a:ext uri="{FF2B5EF4-FFF2-40B4-BE49-F238E27FC236}">
                <a16:creationId xmlns:a16="http://schemas.microsoft.com/office/drawing/2014/main" id="{CA906476-19C8-4CEF-8C81-E09948ED512C}"/>
              </a:ext>
            </a:extLst>
          </p:cNvPr>
          <p:cNvSpPr>
            <a:spLocks noChangeArrowheads="1"/>
          </p:cNvSpPr>
          <p:nvPr/>
        </p:nvSpPr>
        <p:spPr bwMode="auto">
          <a:xfrm>
            <a:off x="1943100" y="3067050"/>
            <a:ext cx="9144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900">
              <a:solidFill>
                <a:srgbClr val="008000"/>
              </a:solidFill>
              <a:latin typeface="Lucida Console" panose="020B0609040504020204" pitchFamily="49" charset="0"/>
            </a:endParaRPr>
          </a:p>
        </p:txBody>
      </p:sp>
      <p:sp>
        <p:nvSpPr>
          <p:cNvPr id="27653" name="Rectangle 34">
            <a:extLst>
              <a:ext uri="{FF2B5EF4-FFF2-40B4-BE49-F238E27FC236}">
                <a16:creationId xmlns:a16="http://schemas.microsoft.com/office/drawing/2014/main" id="{17D4C563-499A-4094-8E11-64546E842120}"/>
              </a:ext>
            </a:extLst>
          </p:cNvPr>
          <p:cNvSpPr>
            <a:spLocks noChangeArrowheads="1"/>
          </p:cNvSpPr>
          <p:nvPr/>
        </p:nvSpPr>
        <p:spPr bwMode="auto">
          <a:xfrm>
            <a:off x="684213" y="4005263"/>
            <a:ext cx="8208962" cy="191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a:t>1</a:t>
            </a:r>
            <a:r>
              <a:rPr lang="zh-CN" altLang="en-US" sz="2400"/>
              <a:t>．不同类型数据间的优先关系如下：</a:t>
            </a:r>
            <a:br>
              <a:rPr lang="zh-CN" altLang="en-US" sz="2400" b="0"/>
            </a:br>
            <a:br>
              <a:rPr lang="zh-CN" altLang="en-US" sz="2400" b="0"/>
            </a:br>
            <a:r>
              <a:rPr lang="zh-CN" altLang="en-US" sz="2400" b="0"/>
              <a:t>　　　低</a:t>
            </a:r>
            <a:r>
              <a:rPr lang="en-US" altLang="zh-CN" sz="2400" b="0"/>
              <a:t>-------------------------------------------&gt;</a:t>
            </a:r>
            <a:r>
              <a:rPr lang="zh-CN" altLang="en-US" sz="2400" b="0"/>
              <a:t>高</a:t>
            </a:r>
            <a:br>
              <a:rPr lang="zh-CN" altLang="en-US" sz="2400" b="0"/>
            </a:br>
            <a:r>
              <a:rPr lang="zh-CN" altLang="en-US" sz="2400" b="0"/>
              <a:t>　　　</a:t>
            </a:r>
            <a:r>
              <a:rPr lang="en-US" altLang="zh-CN" sz="2400" b="0"/>
              <a:t>byte,short,char-&gt; int -&gt; long -&gt; float -&gt; double</a:t>
            </a:r>
            <a:br>
              <a:rPr lang="en-US" altLang="zh-CN" sz="2400" b="0"/>
            </a:br>
            <a:endParaRPr lang="en-US" altLang="zh-CN" sz="2400" b="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3">
            <a:extLst>
              <a:ext uri="{FF2B5EF4-FFF2-40B4-BE49-F238E27FC236}">
                <a16:creationId xmlns:a16="http://schemas.microsoft.com/office/drawing/2014/main" id="{BD36A221-80AE-4BE6-A240-25432C0BE5EC}"/>
              </a:ext>
            </a:extLst>
          </p:cNvPr>
          <p:cNvSpPr>
            <a:spLocks noGrp="1" noChangeArrowheads="1"/>
          </p:cNvSpPr>
          <p:nvPr>
            <p:ph type="body" idx="4294967295"/>
          </p:nvPr>
        </p:nvSpPr>
        <p:spPr>
          <a:xfrm>
            <a:off x="0" y="404664"/>
            <a:ext cx="8748713" cy="2108200"/>
          </a:xfrm>
        </p:spPr>
        <p:txBody>
          <a:bodyPr/>
          <a:lstStyle/>
          <a:p>
            <a:pPr lvl="1" eaLnBrk="1" hangingPunct="1">
              <a:buFontTx/>
              <a:buNone/>
            </a:pPr>
            <a:r>
              <a:rPr lang="en-US" altLang="zh-CN" sz="2400" b="1" baseline="0" dirty="0">
                <a:latin typeface="Times New Roman" panose="02020603050405020304" pitchFamily="18" charset="0"/>
                <a:ea typeface="楷体-简" panose="02010600040101010101" pitchFamily="2" charset="-122"/>
              </a:rPr>
              <a:t>2</a:t>
            </a:r>
            <a:r>
              <a:rPr lang="zh-CN" altLang="en-US" sz="2400" b="1" baseline="0" dirty="0">
                <a:latin typeface="Times New Roman" panose="02020603050405020304" pitchFamily="18" charset="0"/>
                <a:ea typeface="楷体-简" panose="02010600040101010101" pitchFamily="2" charset="-122"/>
              </a:rPr>
              <a:t>．自动类型转换规则</a:t>
            </a:r>
            <a:br>
              <a:rPr lang="zh-CN" altLang="en-US" sz="2400" baseline="0" dirty="0">
                <a:latin typeface="Times New Roman" panose="02020603050405020304" pitchFamily="18" charset="0"/>
                <a:ea typeface="楷体-简" panose="02010600040101010101" pitchFamily="2" charset="-122"/>
              </a:rPr>
            </a:br>
            <a:br>
              <a:rPr lang="zh-CN" altLang="en-US" sz="2400" baseline="0" dirty="0">
                <a:latin typeface="Times New Roman" panose="02020603050405020304" pitchFamily="18" charset="0"/>
                <a:ea typeface="楷体-简" panose="02010600040101010101" pitchFamily="2" charset="-122"/>
              </a:rPr>
            </a:br>
            <a:endParaRPr lang="en-US" altLang="zh-CN" sz="1000" baseline="0" dirty="0">
              <a:latin typeface="Times New Roman" panose="02020603050405020304" pitchFamily="18" charset="0"/>
              <a:ea typeface="楷体-简" panose="02010600040101010101" pitchFamily="2" charset="-122"/>
            </a:endParaRPr>
          </a:p>
          <a:p>
            <a:pPr lvl="1" eaLnBrk="1" hangingPunct="1">
              <a:buFont typeface="Wingdings" panose="05000000000000000000" pitchFamily="2" charset="2"/>
              <a:buChar char="Ø"/>
            </a:pPr>
            <a:r>
              <a:rPr lang="zh-CN" altLang="en-US" sz="2400" b="1" baseline="0" dirty="0">
                <a:latin typeface="Times New Roman" panose="02020603050405020304" pitchFamily="18" charset="0"/>
                <a:ea typeface="楷体-简" panose="02010600040101010101" pitchFamily="2" charset="-122"/>
              </a:rPr>
              <a:t>整型</a:t>
            </a:r>
            <a:r>
              <a:rPr lang="en-US" altLang="zh-CN" sz="2400" b="1" baseline="0" dirty="0">
                <a:latin typeface="Times New Roman" panose="02020603050405020304" pitchFamily="18" charset="0"/>
                <a:ea typeface="楷体-简" panose="02010600040101010101" pitchFamily="2" charset="-122"/>
              </a:rPr>
              <a:t>,</a:t>
            </a:r>
            <a:r>
              <a:rPr lang="zh-CN" altLang="en-US" sz="2400" b="1" baseline="0" dirty="0">
                <a:latin typeface="Times New Roman" panose="02020603050405020304" pitchFamily="18" charset="0"/>
                <a:ea typeface="楷体-简" panose="02010600040101010101" pitchFamily="2" charset="-122"/>
              </a:rPr>
              <a:t>实型</a:t>
            </a:r>
            <a:r>
              <a:rPr lang="en-US" altLang="zh-CN" sz="2400" b="1" baseline="0" dirty="0">
                <a:latin typeface="Times New Roman" panose="02020603050405020304" pitchFamily="18" charset="0"/>
                <a:ea typeface="楷体-简" panose="02010600040101010101" pitchFamily="2" charset="-122"/>
              </a:rPr>
              <a:t>,</a:t>
            </a:r>
            <a:r>
              <a:rPr lang="zh-CN" altLang="en-US" sz="2400" b="1" baseline="0" dirty="0">
                <a:latin typeface="Times New Roman" panose="02020603050405020304" pitchFamily="18" charset="0"/>
                <a:ea typeface="楷体-简" panose="02010600040101010101" pitchFamily="2" charset="-122"/>
              </a:rPr>
              <a:t>字符型数据</a:t>
            </a:r>
            <a:r>
              <a:rPr lang="zh-CN" altLang="en-US" sz="2400" b="1" baseline="0" dirty="0">
                <a:solidFill>
                  <a:srgbClr val="0000CC"/>
                </a:solidFill>
                <a:latin typeface="Times New Roman" panose="02020603050405020304" pitchFamily="18" charset="0"/>
                <a:ea typeface="楷体-简" panose="02010600040101010101" pitchFamily="2" charset="-122"/>
              </a:rPr>
              <a:t>可以混合运算</a:t>
            </a:r>
            <a:r>
              <a:rPr lang="zh-CN" altLang="en-US" sz="2400" b="1" baseline="0" dirty="0">
                <a:latin typeface="Times New Roman" panose="02020603050405020304" pitchFamily="18" charset="0"/>
                <a:ea typeface="楷体-简" panose="02010600040101010101" pitchFamily="2" charset="-122"/>
              </a:rPr>
              <a:t>。运算中，不同类型的数据先转化为同一类型，然后进行运算，转换从低级到高级；</a:t>
            </a:r>
            <a:endParaRPr lang="zh-CN" altLang="en-US" sz="3100" b="1" baseline="0" dirty="0">
              <a:latin typeface="Times New Roman" panose="02020603050405020304" pitchFamily="18" charset="0"/>
              <a:ea typeface="楷体-简" panose="02010600040101010101" pitchFamily="2" charset="-122"/>
            </a:endParaRPr>
          </a:p>
          <a:p>
            <a:pPr lvl="1" eaLnBrk="1" hangingPunct="1">
              <a:buFontTx/>
              <a:buNone/>
            </a:pPr>
            <a:endParaRPr lang="en-US" altLang="zh-CN" sz="3100" baseline="0" dirty="0">
              <a:latin typeface="Times New Roman" panose="02020603050405020304" pitchFamily="18" charset="0"/>
              <a:ea typeface="楷体-简" panose="02010600040101010101" pitchFamily="2" charset="-122"/>
            </a:endParaRPr>
          </a:p>
        </p:txBody>
      </p:sp>
      <p:grpSp>
        <p:nvGrpSpPr>
          <p:cNvPr id="28675" name="Group 4">
            <a:extLst>
              <a:ext uri="{FF2B5EF4-FFF2-40B4-BE49-F238E27FC236}">
                <a16:creationId xmlns:a16="http://schemas.microsoft.com/office/drawing/2014/main" id="{81E60F7E-51A1-48A0-BA0D-413033643986}"/>
              </a:ext>
            </a:extLst>
          </p:cNvPr>
          <p:cNvGrpSpPr>
            <a:grpSpLocks noChangeAspect="1"/>
          </p:cNvGrpSpPr>
          <p:nvPr/>
        </p:nvGrpSpPr>
        <p:grpSpPr bwMode="auto">
          <a:xfrm>
            <a:off x="3132138" y="3501877"/>
            <a:ext cx="4686300" cy="1657350"/>
            <a:chOff x="2218" y="6977"/>
            <a:chExt cx="7380" cy="2964"/>
          </a:xfrm>
        </p:grpSpPr>
        <p:sp>
          <p:nvSpPr>
            <p:cNvPr id="28687" name="AutoShape 5">
              <a:extLst>
                <a:ext uri="{FF2B5EF4-FFF2-40B4-BE49-F238E27FC236}">
                  <a16:creationId xmlns:a16="http://schemas.microsoft.com/office/drawing/2014/main" id="{BA449212-285B-47AB-B9B1-4A3E9B045C88}"/>
                </a:ext>
              </a:extLst>
            </p:cNvPr>
            <p:cNvSpPr>
              <a:spLocks noChangeAspect="1" noChangeArrowheads="1"/>
            </p:cNvSpPr>
            <p:nvPr/>
          </p:nvSpPr>
          <p:spPr bwMode="auto">
            <a:xfrm>
              <a:off x="2218" y="6977"/>
              <a:ext cx="7380" cy="2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900">
                <a:solidFill>
                  <a:srgbClr val="008000"/>
                </a:solidFill>
                <a:latin typeface="Lucida Console" panose="020B0609040504020204" pitchFamily="49" charset="0"/>
              </a:endParaRPr>
            </a:p>
          </p:txBody>
        </p:sp>
        <p:sp>
          <p:nvSpPr>
            <p:cNvPr id="28688" name="Rectangle 6">
              <a:extLst>
                <a:ext uri="{FF2B5EF4-FFF2-40B4-BE49-F238E27FC236}">
                  <a16:creationId xmlns:a16="http://schemas.microsoft.com/office/drawing/2014/main" id="{3CCBA0AC-132C-4D47-81E3-281E355886B5}"/>
                </a:ext>
              </a:extLst>
            </p:cNvPr>
            <p:cNvSpPr>
              <a:spLocks noChangeArrowheads="1"/>
            </p:cNvSpPr>
            <p:nvPr/>
          </p:nvSpPr>
          <p:spPr bwMode="auto">
            <a:xfrm>
              <a:off x="5998" y="6977"/>
              <a:ext cx="901" cy="4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1200" b="0" dirty="0">
                  <a:latin typeface="Arial Black" panose="020B0A04020102020204" pitchFamily="34" charset="0"/>
                </a:rPr>
                <a:t>char</a:t>
              </a:r>
              <a:endParaRPr lang="en-US" altLang="zh-CN" sz="1800" b="0" dirty="0">
                <a:latin typeface="Verdana" panose="020B0604030504040204" pitchFamily="34" charset="0"/>
              </a:endParaRPr>
            </a:p>
          </p:txBody>
        </p:sp>
        <p:sp>
          <p:nvSpPr>
            <p:cNvPr id="28689" name="Rectangle 7">
              <a:extLst>
                <a:ext uri="{FF2B5EF4-FFF2-40B4-BE49-F238E27FC236}">
                  <a16:creationId xmlns:a16="http://schemas.microsoft.com/office/drawing/2014/main" id="{29F563F6-BD8E-4A6C-9AAF-6FDE7ABCD147}"/>
                </a:ext>
              </a:extLst>
            </p:cNvPr>
            <p:cNvSpPr>
              <a:spLocks noChangeArrowheads="1"/>
            </p:cNvSpPr>
            <p:nvPr/>
          </p:nvSpPr>
          <p:spPr bwMode="auto">
            <a:xfrm>
              <a:off x="2398" y="8069"/>
              <a:ext cx="720" cy="62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1200" b="0" dirty="0">
                  <a:latin typeface="Arial Black" panose="020B0A04020102020204" pitchFamily="34" charset="0"/>
                </a:rPr>
                <a:t>byte</a:t>
              </a:r>
              <a:endParaRPr lang="en-US" altLang="zh-CN" sz="1800" b="0" dirty="0">
                <a:latin typeface="Verdana" panose="020B0604030504040204" pitchFamily="34" charset="0"/>
              </a:endParaRPr>
            </a:p>
          </p:txBody>
        </p:sp>
        <p:sp>
          <p:nvSpPr>
            <p:cNvPr id="28690" name="Rectangle 8">
              <a:extLst>
                <a:ext uri="{FF2B5EF4-FFF2-40B4-BE49-F238E27FC236}">
                  <a16:creationId xmlns:a16="http://schemas.microsoft.com/office/drawing/2014/main" id="{3ACE21C4-8E38-4FB7-9CA3-58F01E32CA8D}"/>
                </a:ext>
              </a:extLst>
            </p:cNvPr>
            <p:cNvSpPr>
              <a:spLocks noChangeArrowheads="1"/>
            </p:cNvSpPr>
            <p:nvPr/>
          </p:nvSpPr>
          <p:spPr bwMode="auto">
            <a:xfrm>
              <a:off x="4018" y="8069"/>
              <a:ext cx="900" cy="4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1200" b="0">
                  <a:latin typeface="Arial Black" panose="020B0A04020102020204" pitchFamily="34" charset="0"/>
                </a:rPr>
                <a:t>short</a:t>
              </a:r>
              <a:endParaRPr lang="en-US" altLang="zh-CN" sz="1800" b="0">
                <a:latin typeface="Verdana" panose="020B0604030504040204" pitchFamily="34" charset="0"/>
              </a:endParaRPr>
            </a:p>
          </p:txBody>
        </p:sp>
        <p:sp>
          <p:nvSpPr>
            <p:cNvPr id="28691" name="Rectangle 9">
              <a:extLst>
                <a:ext uri="{FF2B5EF4-FFF2-40B4-BE49-F238E27FC236}">
                  <a16:creationId xmlns:a16="http://schemas.microsoft.com/office/drawing/2014/main" id="{8155083E-0B74-40EB-83D8-99A7357BFA85}"/>
                </a:ext>
              </a:extLst>
            </p:cNvPr>
            <p:cNvSpPr>
              <a:spLocks noChangeArrowheads="1"/>
            </p:cNvSpPr>
            <p:nvPr/>
          </p:nvSpPr>
          <p:spPr bwMode="auto">
            <a:xfrm>
              <a:off x="6178" y="8069"/>
              <a:ext cx="540" cy="4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1200" b="0">
                  <a:latin typeface="Arial Black" panose="020B0A04020102020204" pitchFamily="34" charset="0"/>
                </a:rPr>
                <a:t>int</a:t>
              </a:r>
              <a:endParaRPr lang="en-US" altLang="zh-CN" sz="1800" b="0">
                <a:latin typeface="Verdana" panose="020B0604030504040204" pitchFamily="34" charset="0"/>
              </a:endParaRPr>
            </a:p>
          </p:txBody>
        </p:sp>
        <p:sp>
          <p:nvSpPr>
            <p:cNvPr id="28692" name="Rectangle 10">
              <a:extLst>
                <a:ext uri="{FF2B5EF4-FFF2-40B4-BE49-F238E27FC236}">
                  <a16:creationId xmlns:a16="http://schemas.microsoft.com/office/drawing/2014/main" id="{C2993109-923B-40CD-B8DF-F048F9985972}"/>
                </a:ext>
              </a:extLst>
            </p:cNvPr>
            <p:cNvSpPr>
              <a:spLocks noChangeArrowheads="1"/>
            </p:cNvSpPr>
            <p:nvPr/>
          </p:nvSpPr>
          <p:spPr bwMode="auto">
            <a:xfrm>
              <a:off x="8698" y="8069"/>
              <a:ext cx="900" cy="46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1200" b="0">
                  <a:latin typeface="Arial Black" panose="020B0A04020102020204" pitchFamily="34" charset="0"/>
                </a:rPr>
                <a:t>long</a:t>
              </a:r>
              <a:endParaRPr lang="en-US" altLang="zh-CN" sz="1800" b="0">
                <a:latin typeface="Verdana" panose="020B0604030504040204" pitchFamily="34" charset="0"/>
              </a:endParaRPr>
            </a:p>
          </p:txBody>
        </p:sp>
        <p:sp>
          <p:nvSpPr>
            <p:cNvPr id="28693" name="Rectangle 11">
              <a:extLst>
                <a:ext uri="{FF2B5EF4-FFF2-40B4-BE49-F238E27FC236}">
                  <a16:creationId xmlns:a16="http://schemas.microsoft.com/office/drawing/2014/main" id="{B7C6B30D-D437-4A0A-BE10-8FD780462ADF}"/>
                </a:ext>
              </a:extLst>
            </p:cNvPr>
            <p:cNvSpPr>
              <a:spLocks noChangeArrowheads="1"/>
            </p:cNvSpPr>
            <p:nvPr/>
          </p:nvSpPr>
          <p:spPr bwMode="auto">
            <a:xfrm>
              <a:off x="6178" y="9317"/>
              <a:ext cx="901" cy="62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1200" b="0">
                  <a:latin typeface="Arial Black" panose="020B0A04020102020204" pitchFamily="34" charset="0"/>
                </a:rPr>
                <a:t>float</a:t>
              </a:r>
              <a:endParaRPr lang="en-US" altLang="zh-CN" sz="1800" b="0">
                <a:latin typeface="Verdana" panose="020B0604030504040204" pitchFamily="34" charset="0"/>
              </a:endParaRPr>
            </a:p>
          </p:txBody>
        </p:sp>
        <p:sp>
          <p:nvSpPr>
            <p:cNvPr id="28694" name="Rectangle 12">
              <a:extLst>
                <a:ext uri="{FF2B5EF4-FFF2-40B4-BE49-F238E27FC236}">
                  <a16:creationId xmlns:a16="http://schemas.microsoft.com/office/drawing/2014/main" id="{0764BBD0-78DE-4ACB-82C5-10508B56CD51}"/>
                </a:ext>
              </a:extLst>
            </p:cNvPr>
            <p:cNvSpPr>
              <a:spLocks noChangeArrowheads="1"/>
            </p:cNvSpPr>
            <p:nvPr/>
          </p:nvSpPr>
          <p:spPr bwMode="auto">
            <a:xfrm>
              <a:off x="8698" y="9317"/>
              <a:ext cx="900" cy="46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1200" b="0">
                  <a:latin typeface="Arial Black" panose="020B0A04020102020204" pitchFamily="34" charset="0"/>
                </a:rPr>
                <a:t>double</a:t>
              </a:r>
              <a:endParaRPr lang="en-US" altLang="zh-CN" sz="1800" b="0">
                <a:latin typeface="Verdana" panose="020B0604030504040204" pitchFamily="34" charset="0"/>
              </a:endParaRPr>
            </a:p>
          </p:txBody>
        </p:sp>
        <p:sp>
          <p:nvSpPr>
            <p:cNvPr id="28695" name="Line 13">
              <a:extLst>
                <a:ext uri="{FF2B5EF4-FFF2-40B4-BE49-F238E27FC236}">
                  <a16:creationId xmlns:a16="http://schemas.microsoft.com/office/drawing/2014/main" id="{5459A41C-C21C-466A-8C90-4669246D1AA4}"/>
                </a:ext>
              </a:extLst>
            </p:cNvPr>
            <p:cNvSpPr>
              <a:spLocks noChangeShapeType="1"/>
            </p:cNvSpPr>
            <p:nvPr/>
          </p:nvSpPr>
          <p:spPr bwMode="auto">
            <a:xfrm>
              <a:off x="6358" y="7445"/>
              <a:ext cx="1" cy="62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696" name="Line 14">
              <a:extLst>
                <a:ext uri="{FF2B5EF4-FFF2-40B4-BE49-F238E27FC236}">
                  <a16:creationId xmlns:a16="http://schemas.microsoft.com/office/drawing/2014/main" id="{A858F434-0BC2-40B3-922A-323CA56517A4}"/>
                </a:ext>
              </a:extLst>
            </p:cNvPr>
            <p:cNvSpPr>
              <a:spLocks noChangeShapeType="1"/>
            </p:cNvSpPr>
            <p:nvPr/>
          </p:nvSpPr>
          <p:spPr bwMode="auto">
            <a:xfrm>
              <a:off x="3118" y="8381"/>
              <a:ext cx="720" cy="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697" name="Line 15">
              <a:extLst>
                <a:ext uri="{FF2B5EF4-FFF2-40B4-BE49-F238E27FC236}">
                  <a16:creationId xmlns:a16="http://schemas.microsoft.com/office/drawing/2014/main" id="{1AF2CAF2-F379-48D5-ACF3-81AD2F531D9C}"/>
                </a:ext>
              </a:extLst>
            </p:cNvPr>
            <p:cNvSpPr>
              <a:spLocks noChangeShapeType="1"/>
            </p:cNvSpPr>
            <p:nvPr/>
          </p:nvSpPr>
          <p:spPr bwMode="auto">
            <a:xfrm>
              <a:off x="4918" y="8380"/>
              <a:ext cx="108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698" name="Line 16">
              <a:extLst>
                <a:ext uri="{FF2B5EF4-FFF2-40B4-BE49-F238E27FC236}">
                  <a16:creationId xmlns:a16="http://schemas.microsoft.com/office/drawing/2014/main" id="{B7C446EF-5D4F-4FD5-AD0F-7B80228AE334}"/>
                </a:ext>
              </a:extLst>
            </p:cNvPr>
            <p:cNvSpPr>
              <a:spLocks noChangeShapeType="1"/>
            </p:cNvSpPr>
            <p:nvPr/>
          </p:nvSpPr>
          <p:spPr bwMode="auto">
            <a:xfrm>
              <a:off x="6718" y="8381"/>
              <a:ext cx="1800" cy="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699" name="Line 17">
              <a:extLst>
                <a:ext uri="{FF2B5EF4-FFF2-40B4-BE49-F238E27FC236}">
                  <a16:creationId xmlns:a16="http://schemas.microsoft.com/office/drawing/2014/main" id="{C4868ED7-7F9C-45F9-93FD-54B0BC64F42F}"/>
                </a:ext>
              </a:extLst>
            </p:cNvPr>
            <p:cNvSpPr>
              <a:spLocks noChangeShapeType="1"/>
            </p:cNvSpPr>
            <p:nvPr/>
          </p:nvSpPr>
          <p:spPr bwMode="auto">
            <a:xfrm>
              <a:off x="6718" y="8537"/>
              <a:ext cx="1800" cy="93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700" name="Line 18">
              <a:extLst>
                <a:ext uri="{FF2B5EF4-FFF2-40B4-BE49-F238E27FC236}">
                  <a16:creationId xmlns:a16="http://schemas.microsoft.com/office/drawing/2014/main" id="{D0943D52-8602-4F32-B7E6-37C72533E2BF}"/>
                </a:ext>
              </a:extLst>
            </p:cNvPr>
            <p:cNvSpPr>
              <a:spLocks noChangeShapeType="1"/>
            </p:cNvSpPr>
            <p:nvPr/>
          </p:nvSpPr>
          <p:spPr bwMode="auto">
            <a:xfrm>
              <a:off x="6898" y="9629"/>
              <a:ext cx="1620" cy="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701" name="Line 19">
              <a:extLst>
                <a:ext uri="{FF2B5EF4-FFF2-40B4-BE49-F238E27FC236}">
                  <a16:creationId xmlns:a16="http://schemas.microsoft.com/office/drawing/2014/main" id="{16D0A01D-D470-4DC6-904F-E332A4899386}"/>
                </a:ext>
              </a:extLst>
            </p:cNvPr>
            <p:cNvSpPr>
              <a:spLocks noChangeShapeType="1"/>
            </p:cNvSpPr>
            <p:nvPr/>
          </p:nvSpPr>
          <p:spPr bwMode="auto">
            <a:xfrm>
              <a:off x="6358" y="8693"/>
              <a:ext cx="1" cy="780"/>
            </a:xfrm>
            <a:prstGeom prst="line">
              <a:avLst/>
            </a:prstGeom>
            <a:noFill/>
            <a:ln w="952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702" name="Line 20">
              <a:extLst>
                <a:ext uri="{FF2B5EF4-FFF2-40B4-BE49-F238E27FC236}">
                  <a16:creationId xmlns:a16="http://schemas.microsoft.com/office/drawing/2014/main" id="{34824962-A80A-42CB-93BB-443F322BE5BC}"/>
                </a:ext>
              </a:extLst>
            </p:cNvPr>
            <p:cNvSpPr>
              <a:spLocks noChangeShapeType="1"/>
            </p:cNvSpPr>
            <p:nvPr/>
          </p:nvSpPr>
          <p:spPr bwMode="auto">
            <a:xfrm>
              <a:off x="9058" y="8693"/>
              <a:ext cx="1" cy="780"/>
            </a:xfrm>
            <a:prstGeom prst="line">
              <a:avLst/>
            </a:prstGeom>
            <a:noFill/>
            <a:ln w="952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703" name="Line 21">
              <a:extLst>
                <a:ext uri="{FF2B5EF4-FFF2-40B4-BE49-F238E27FC236}">
                  <a16:creationId xmlns:a16="http://schemas.microsoft.com/office/drawing/2014/main" id="{F31D1887-11D1-46F0-83D5-2A85E1E16EDF}"/>
                </a:ext>
              </a:extLst>
            </p:cNvPr>
            <p:cNvSpPr>
              <a:spLocks noChangeShapeType="1"/>
            </p:cNvSpPr>
            <p:nvPr/>
          </p:nvSpPr>
          <p:spPr bwMode="auto">
            <a:xfrm flipH="1">
              <a:off x="6718" y="8537"/>
              <a:ext cx="1980" cy="936"/>
            </a:xfrm>
            <a:prstGeom prst="line">
              <a:avLst/>
            </a:prstGeom>
            <a:noFill/>
            <a:ln w="952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28676" name="Rectangle 22">
            <a:extLst>
              <a:ext uri="{FF2B5EF4-FFF2-40B4-BE49-F238E27FC236}">
                <a16:creationId xmlns:a16="http://schemas.microsoft.com/office/drawing/2014/main" id="{A18D084A-9CFF-456B-AE61-0D7F1BB6E5B8}"/>
              </a:ext>
            </a:extLst>
          </p:cNvPr>
          <p:cNvSpPr>
            <a:spLocks noChangeArrowheads="1"/>
          </p:cNvSpPr>
          <p:nvPr/>
        </p:nvSpPr>
        <p:spPr bwMode="auto">
          <a:xfrm>
            <a:off x="1943100" y="3211364"/>
            <a:ext cx="9144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900">
              <a:solidFill>
                <a:srgbClr val="008000"/>
              </a:solidFill>
              <a:latin typeface="Lucida Console" panose="020B0609040504020204" pitchFamily="49" charset="0"/>
            </a:endParaRPr>
          </a:p>
        </p:txBody>
      </p:sp>
      <p:pic>
        <p:nvPicPr>
          <p:cNvPr id="28677" name="Picture 23" descr="语法和规则_调整大小">
            <a:extLst>
              <a:ext uri="{FF2B5EF4-FFF2-40B4-BE49-F238E27FC236}">
                <a16:creationId xmlns:a16="http://schemas.microsoft.com/office/drawing/2014/main" id="{96ED6DE6-5CEC-48F2-888C-73AFAF0998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7450" y="3644752"/>
            <a:ext cx="533400"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39680" name="Group 32">
            <a:extLst>
              <a:ext uri="{FF2B5EF4-FFF2-40B4-BE49-F238E27FC236}">
                <a16:creationId xmlns:a16="http://schemas.microsoft.com/office/drawing/2014/main" id="{A3329094-D5B4-47B8-B142-AFD814BF1294}"/>
              </a:ext>
            </a:extLst>
          </p:cNvPr>
          <p:cNvGraphicFramePr>
            <a:graphicFrameLocks noGrp="1"/>
          </p:cNvGraphicFramePr>
          <p:nvPr>
            <p:extLst>
              <p:ext uri="{D42A27DB-BD31-4B8C-83A1-F6EECF244321}">
                <p14:modId xmlns:p14="http://schemas.microsoft.com/office/powerpoint/2010/main" val="2125194276"/>
              </p:ext>
            </p:extLst>
          </p:nvPr>
        </p:nvGraphicFramePr>
        <p:xfrm>
          <a:off x="322263" y="2925242"/>
          <a:ext cx="8499475" cy="2810247"/>
        </p:xfrm>
        <a:graphic>
          <a:graphicData uri="http://schemas.openxmlformats.org/drawingml/2006/table">
            <a:tbl>
              <a:tblPr/>
              <a:tblGrid>
                <a:gridCol w="1949814">
                  <a:extLst>
                    <a:ext uri="{9D8B030D-6E8A-4147-A177-3AD203B41FA5}">
                      <a16:colId xmlns:a16="http://schemas.microsoft.com/office/drawing/2014/main" val="20000"/>
                    </a:ext>
                  </a:extLst>
                </a:gridCol>
                <a:gridCol w="6549661">
                  <a:extLst>
                    <a:ext uri="{9D8B030D-6E8A-4147-A177-3AD203B41FA5}">
                      <a16:colId xmlns:a16="http://schemas.microsoft.com/office/drawing/2014/main" val="20001"/>
                    </a:ext>
                  </a:extLst>
                </a:gridCol>
              </a:tblGrid>
              <a:tr h="2810247">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zh-CN" sz="1100" b="0"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900" b="0"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语法与规则</a:t>
                      </a:r>
                      <a:endParaRPr kumimoji="0" lang="zh-CN" altLang="en-US" sz="34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57" marR="9145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9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endParaRPr>
                    </a:p>
                  </a:txBody>
                  <a:tcPr marL="91457" marR="9145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8686" name="Rectangle 34">
            <a:extLst>
              <a:ext uri="{FF2B5EF4-FFF2-40B4-BE49-F238E27FC236}">
                <a16:creationId xmlns:a16="http://schemas.microsoft.com/office/drawing/2014/main" id="{F4A2127C-5A10-453A-8448-D6CC3A17D6BB}"/>
              </a:ext>
            </a:extLst>
          </p:cNvPr>
          <p:cNvSpPr>
            <a:spLocks noChangeArrowheads="1"/>
          </p:cNvSpPr>
          <p:nvPr/>
        </p:nvSpPr>
        <p:spPr bwMode="auto">
          <a:xfrm>
            <a:off x="539750" y="5262414"/>
            <a:ext cx="82089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3">
            <a:extLst>
              <a:ext uri="{FF2B5EF4-FFF2-40B4-BE49-F238E27FC236}">
                <a16:creationId xmlns:a16="http://schemas.microsoft.com/office/drawing/2014/main" id="{B86A83A5-DFA8-466F-A9F2-C71C6FF37E82}"/>
              </a:ext>
            </a:extLst>
          </p:cNvPr>
          <p:cNvSpPr>
            <a:spLocks noGrp="1" noChangeArrowheads="1"/>
          </p:cNvSpPr>
          <p:nvPr>
            <p:ph type="body" idx="1"/>
          </p:nvPr>
        </p:nvSpPr>
        <p:spPr>
          <a:xfrm>
            <a:off x="457200" y="404813"/>
            <a:ext cx="8229600" cy="5721350"/>
          </a:xfrm>
        </p:spPr>
        <p:txBody>
          <a:bodyPr/>
          <a:lstStyle/>
          <a:p>
            <a:pPr eaLnBrk="1" hangingPunct="1">
              <a:lnSpc>
                <a:spcPct val="90000"/>
              </a:lnSpc>
              <a:buFontTx/>
              <a:buNone/>
            </a:pPr>
            <a:endParaRPr lang="en-US" altLang="zh-CN" sz="2400" b="1" baseline="0">
              <a:latin typeface="Times New Roman" panose="02020603050405020304" pitchFamily="18" charset="0"/>
              <a:ea typeface="楷体-简" panose="02010600040101010101" pitchFamily="2" charset="-122"/>
            </a:endParaRPr>
          </a:p>
          <a:p>
            <a:pPr eaLnBrk="1" hangingPunct="1">
              <a:lnSpc>
                <a:spcPct val="90000"/>
              </a:lnSpc>
              <a:buFont typeface="Wingdings" panose="05000000000000000000" pitchFamily="2" charset="2"/>
              <a:buChar char="Ø"/>
            </a:pPr>
            <a:r>
              <a:rPr lang="zh-CN" altLang="en-US" sz="2400" b="1" baseline="0">
                <a:latin typeface="Times New Roman" panose="02020603050405020304" pitchFamily="18" charset="0"/>
                <a:ea typeface="楷体-简" panose="02010600040101010101" pitchFamily="2" charset="-122"/>
              </a:rPr>
              <a:t>当把级别低的变量值赋给级别高的变量时，系统自动完成数据类型转换，如</a:t>
            </a:r>
            <a:r>
              <a:rPr lang="en-US" altLang="zh-CN" sz="2400" b="1" baseline="0">
                <a:latin typeface="Times New Roman" panose="02020603050405020304" pitchFamily="18" charset="0"/>
                <a:ea typeface="楷体-简" panose="02010600040101010101" pitchFamily="2" charset="-122"/>
              </a:rPr>
              <a:t>int</a:t>
            </a:r>
            <a:r>
              <a:rPr lang="zh-CN" altLang="en-US" sz="2400" b="1" baseline="0">
                <a:latin typeface="Times New Roman" panose="02020603050405020304" pitchFamily="18" charset="0"/>
                <a:ea typeface="楷体-简" panose="02010600040101010101" pitchFamily="2" charset="-122"/>
              </a:rPr>
              <a:t>型转换成</a:t>
            </a:r>
            <a:r>
              <a:rPr lang="en-US" altLang="zh-CN" sz="2400" b="1" baseline="0">
                <a:latin typeface="Times New Roman" panose="02020603050405020304" pitchFamily="18" charset="0"/>
                <a:ea typeface="楷体-简" panose="02010600040101010101" pitchFamily="2" charset="-122"/>
              </a:rPr>
              <a:t>long</a:t>
            </a:r>
            <a:r>
              <a:rPr lang="zh-CN" altLang="en-US" sz="2400" b="1" baseline="0">
                <a:latin typeface="Times New Roman" panose="02020603050405020304" pitchFamily="18" charset="0"/>
                <a:ea typeface="楷体-简" panose="02010600040101010101" pitchFamily="2" charset="-122"/>
              </a:rPr>
              <a:t>型，</a:t>
            </a:r>
            <a:r>
              <a:rPr lang="zh-CN" altLang="en-US" sz="2400" b="1" baseline="0">
                <a:solidFill>
                  <a:srgbClr val="0000CC"/>
                </a:solidFill>
                <a:latin typeface="Times New Roman" panose="02020603050405020304" pitchFamily="18" charset="0"/>
                <a:ea typeface="楷体-简" panose="02010600040101010101" pitchFamily="2" charset="-122"/>
              </a:rPr>
              <a:t>隐性转换</a:t>
            </a:r>
            <a:r>
              <a:rPr lang="zh-CN" altLang="en-US" sz="2400" b="1" baseline="0">
                <a:latin typeface="Times New Roman" panose="02020603050405020304" pitchFamily="18" charset="0"/>
                <a:ea typeface="楷体-简" panose="02010600040101010101" pitchFamily="2" charset="-122"/>
              </a:rPr>
              <a:t>。</a:t>
            </a:r>
          </a:p>
          <a:p>
            <a:pPr eaLnBrk="1" hangingPunct="1">
              <a:lnSpc>
                <a:spcPct val="90000"/>
              </a:lnSpc>
              <a:buFontTx/>
              <a:buNone/>
            </a:pPr>
            <a:r>
              <a:rPr lang="zh-CN" altLang="en-US" sz="2400" b="1" baseline="0">
                <a:latin typeface="Times New Roman" panose="02020603050405020304" pitchFamily="18" charset="0"/>
                <a:ea typeface="楷体-简" panose="02010600040101010101" pitchFamily="2" charset="-122"/>
              </a:rPr>
              <a:t>	</a:t>
            </a:r>
            <a:r>
              <a:rPr lang="en-US" altLang="zh-CN" sz="2400" b="1" baseline="0">
                <a:latin typeface="Times New Roman" panose="02020603050405020304" pitchFamily="18" charset="0"/>
                <a:ea typeface="楷体-简" panose="02010600040101010101" pitchFamily="2" charset="-122"/>
              </a:rPr>
              <a:t>byte b;</a:t>
            </a:r>
          </a:p>
          <a:p>
            <a:pPr eaLnBrk="1" hangingPunct="1">
              <a:lnSpc>
                <a:spcPct val="90000"/>
              </a:lnSpc>
              <a:buFontTx/>
              <a:buNone/>
            </a:pPr>
            <a:r>
              <a:rPr lang="en-US" altLang="zh-CN" sz="2400" b="1" baseline="0">
                <a:latin typeface="Times New Roman" panose="02020603050405020304" pitchFamily="18" charset="0"/>
                <a:ea typeface="楷体-简" panose="02010600040101010101" pitchFamily="2" charset="-122"/>
              </a:rPr>
              <a:t>	int i=b;</a:t>
            </a:r>
          </a:p>
          <a:p>
            <a:pPr eaLnBrk="1" hangingPunct="1">
              <a:lnSpc>
                <a:spcPct val="90000"/>
              </a:lnSpc>
              <a:buFontTx/>
              <a:buNone/>
            </a:pPr>
            <a:r>
              <a:rPr lang="en-US" altLang="zh-CN" sz="2400" b="1" baseline="0">
                <a:latin typeface="Times New Roman" panose="02020603050405020304" pitchFamily="18" charset="0"/>
                <a:ea typeface="楷体-简" panose="02010600040101010101" pitchFamily="2" charset="-122"/>
              </a:rPr>
              <a:t>	long l=b;</a:t>
            </a:r>
          </a:p>
          <a:p>
            <a:pPr eaLnBrk="1" hangingPunct="1">
              <a:lnSpc>
                <a:spcPct val="90000"/>
              </a:lnSpc>
              <a:buFontTx/>
              <a:buNone/>
            </a:pPr>
            <a:r>
              <a:rPr lang="en-US" altLang="zh-CN" sz="2400" b="1" baseline="0">
                <a:latin typeface="Times New Roman" panose="02020603050405020304" pitchFamily="18" charset="0"/>
                <a:ea typeface="楷体-简" panose="02010600040101010101" pitchFamily="2" charset="-122"/>
              </a:rPr>
              <a:t>	float f=b;</a:t>
            </a:r>
          </a:p>
          <a:p>
            <a:pPr eaLnBrk="1" hangingPunct="1">
              <a:lnSpc>
                <a:spcPct val="90000"/>
              </a:lnSpc>
              <a:buFontTx/>
              <a:buNone/>
            </a:pPr>
            <a:r>
              <a:rPr lang="en-US" altLang="zh-CN" sz="2400" b="1" baseline="0">
                <a:latin typeface="Times New Roman" panose="02020603050405020304" pitchFamily="18" charset="0"/>
                <a:ea typeface="楷体-简" panose="02010600040101010101" pitchFamily="2" charset="-122"/>
              </a:rPr>
              <a:t>	double d=b;</a:t>
            </a:r>
          </a:p>
          <a:p>
            <a:pPr eaLnBrk="1" hangingPunct="1">
              <a:lnSpc>
                <a:spcPct val="90000"/>
              </a:lnSpc>
              <a:buFontTx/>
              <a:buNone/>
            </a:pPr>
            <a:endParaRPr lang="en-US" altLang="zh-CN" sz="2400" b="1" baseline="0">
              <a:latin typeface="Times New Roman" panose="02020603050405020304" pitchFamily="18" charset="0"/>
              <a:ea typeface="楷体-简" panose="02010600040101010101" pitchFamily="2" charset="-122"/>
            </a:endParaRPr>
          </a:p>
          <a:p>
            <a:pPr eaLnBrk="1" hangingPunct="1">
              <a:lnSpc>
                <a:spcPct val="90000"/>
              </a:lnSpc>
              <a:buFont typeface="Wingdings" panose="05000000000000000000" pitchFamily="2" charset="2"/>
              <a:buChar char="Ø"/>
            </a:pPr>
            <a:r>
              <a:rPr lang="zh-CN" altLang="en-US" sz="2400" b="1" baseline="0">
                <a:latin typeface="Times New Roman" panose="02020603050405020304" pitchFamily="18" charset="0"/>
                <a:ea typeface="楷体-简" panose="02010600040101010101" pitchFamily="2" charset="-122"/>
              </a:rPr>
              <a:t>如果低级类型为</a:t>
            </a:r>
            <a:r>
              <a:rPr lang="en-US" altLang="zh-CN" sz="2400" b="1" baseline="0">
                <a:latin typeface="Times New Roman" panose="02020603050405020304" pitchFamily="18" charset="0"/>
                <a:ea typeface="楷体-简" panose="02010600040101010101" pitchFamily="2" charset="-122"/>
              </a:rPr>
              <a:t>char</a:t>
            </a:r>
            <a:r>
              <a:rPr lang="zh-CN" altLang="en-US" sz="2400" b="1" baseline="0">
                <a:latin typeface="Times New Roman" panose="02020603050405020304" pitchFamily="18" charset="0"/>
                <a:ea typeface="楷体-简" panose="02010600040101010101" pitchFamily="2" charset="-122"/>
              </a:rPr>
              <a:t>型，向高级类型（整型）转换时，会转换为对应</a:t>
            </a:r>
            <a:r>
              <a:rPr lang="en-US" altLang="zh-CN" sz="2400" b="1" baseline="0">
                <a:latin typeface="Times New Roman" panose="02020603050405020304" pitchFamily="18" charset="0"/>
                <a:ea typeface="楷体-简" panose="02010600040101010101" pitchFamily="2" charset="-122"/>
              </a:rPr>
              <a:t>ASCII</a:t>
            </a:r>
            <a:r>
              <a:rPr lang="zh-CN" altLang="en-US" sz="2400" b="1" baseline="0">
                <a:latin typeface="Times New Roman" panose="02020603050405020304" pitchFamily="18" charset="0"/>
                <a:ea typeface="楷体-简" panose="02010600040101010101" pitchFamily="2" charset="-122"/>
              </a:rPr>
              <a:t>码值。</a:t>
            </a:r>
            <a:endParaRPr lang="en-US" altLang="zh-CN" sz="2400" b="1" baseline="0">
              <a:latin typeface="Times New Roman" panose="02020603050405020304" pitchFamily="18" charset="0"/>
              <a:ea typeface="楷体-简" panose="02010600040101010101" pitchFamily="2" charset="-122"/>
            </a:endParaRPr>
          </a:p>
          <a:p>
            <a:pPr marL="0" indent="0" eaLnBrk="1" hangingPunct="1">
              <a:lnSpc>
                <a:spcPct val="90000"/>
              </a:lnSpc>
              <a:buNone/>
            </a:pPr>
            <a:r>
              <a:rPr lang="en-US" altLang="zh-CN" sz="2400" b="1" baseline="0">
                <a:latin typeface="Times New Roman" panose="02020603050405020304" pitchFamily="18" charset="0"/>
                <a:ea typeface="楷体-简" panose="02010600040101010101" pitchFamily="2" charset="-122"/>
              </a:rPr>
              <a:t>    </a:t>
            </a:r>
            <a:r>
              <a:rPr lang="zh-CN" altLang="en-US" sz="2000" b="1" baseline="0">
                <a:latin typeface="Times New Roman" panose="02020603050405020304" pitchFamily="18" charset="0"/>
                <a:ea typeface="楷体-简" panose="02010600040101010101" pitchFamily="2" charset="-122"/>
              </a:rPr>
              <a:t>例如：</a:t>
            </a:r>
            <a:r>
              <a:rPr lang="en-US" altLang="zh-CN" sz="2000" b="1" baseline="0">
                <a:latin typeface="Times New Roman" panose="02020603050405020304" pitchFamily="18" charset="0"/>
                <a:ea typeface="楷体-简" panose="02010600040101010101" pitchFamily="2" charset="-122"/>
              </a:rPr>
              <a:t>char c=‘c’; </a:t>
            </a:r>
          </a:p>
          <a:p>
            <a:pPr eaLnBrk="1" hangingPunct="1">
              <a:lnSpc>
                <a:spcPct val="90000"/>
              </a:lnSpc>
              <a:buFontTx/>
              <a:buNone/>
            </a:pPr>
            <a:r>
              <a:rPr lang="en-US" altLang="zh-CN" sz="2000" b="1" baseline="0">
                <a:latin typeface="Times New Roman" panose="02020603050405020304" pitchFamily="18" charset="0"/>
                <a:ea typeface="楷体-简" panose="02010600040101010101" pitchFamily="2" charset="-122"/>
              </a:rPr>
              <a:t> 	           int i=c;     // i=99</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3">
            <a:extLst>
              <a:ext uri="{FF2B5EF4-FFF2-40B4-BE49-F238E27FC236}">
                <a16:creationId xmlns:a16="http://schemas.microsoft.com/office/drawing/2014/main" id="{505718EB-8F81-4FE9-AF7C-8F1AEE87F4A7}"/>
              </a:ext>
            </a:extLst>
          </p:cNvPr>
          <p:cNvSpPr>
            <a:spLocks noGrp="1" noChangeArrowheads="1"/>
          </p:cNvSpPr>
          <p:nvPr>
            <p:ph type="body" idx="1"/>
          </p:nvPr>
        </p:nvSpPr>
        <p:spPr>
          <a:xfrm>
            <a:off x="468313" y="260350"/>
            <a:ext cx="8208143" cy="6481763"/>
          </a:xfrm>
        </p:spPr>
        <p:txBody>
          <a:bodyPr/>
          <a:lstStyle/>
          <a:p>
            <a:pPr marL="0" indent="0" eaLnBrk="1" hangingPunct="1">
              <a:spcBef>
                <a:spcPct val="0"/>
              </a:spcBef>
              <a:buFontTx/>
              <a:buNone/>
              <a:defRPr/>
            </a:pPr>
            <a:r>
              <a:rPr lang="en-US" altLang="zh-CN" sz="2400" b="1" baseline="0" dirty="0">
                <a:latin typeface="Times New Roman" panose="02020603050405020304" pitchFamily="18" charset="0"/>
                <a:ea typeface="楷体-简" panose="02010600040101010101" pitchFamily="2" charset="-122"/>
              </a:rPr>
              <a:t>3</a:t>
            </a:r>
            <a:r>
              <a:rPr lang="zh-CN" altLang="en-US" sz="2400" b="1" baseline="0" dirty="0">
                <a:latin typeface="Times New Roman" panose="02020603050405020304" pitchFamily="18" charset="0"/>
                <a:ea typeface="楷体-简" panose="02010600040101010101" pitchFamily="2" charset="-122"/>
              </a:rPr>
              <a:t>．强制类型转换</a:t>
            </a:r>
            <a:br>
              <a:rPr lang="zh-CN" altLang="en-US" sz="2400" baseline="0" dirty="0">
                <a:latin typeface="Times New Roman" panose="02020603050405020304" pitchFamily="18" charset="0"/>
                <a:ea typeface="楷体-简" panose="02010600040101010101" pitchFamily="2" charset="-122"/>
              </a:rPr>
            </a:br>
            <a:endParaRPr lang="en-US" altLang="zh-CN" sz="2400" baseline="0" dirty="0">
              <a:latin typeface="Times New Roman" panose="02020603050405020304" pitchFamily="18" charset="0"/>
              <a:ea typeface="楷体-简" panose="02010600040101010101" pitchFamily="2" charset="-122"/>
            </a:endParaRPr>
          </a:p>
          <a:p>
            <a:pPr eaLnBrk="1" hangingPunct="1">
              <a:spcBef>
                <a:spcPct val="0"/>
              </a:spcBef>
              <a:buFont typeface="Wingdings" panose="05000000000000000000" pitchFamily="2" charset="2"/>
              <a:buChar char="Ø"/>
              <a:defRPr/>
            </a:pPr>
            <a:r>
              <a:rPr lang="zh-CN" altLang="en-US" sz="2400" baseline="0" dirty="0">
                <a:latin typeface="Times New Roman" panose="02020603050405020304" pitchFamily="18" charset="0"/>
                <a:ea typeface="楷体-简" panose="02010600040101010101" pitchFamily="2" charset="-122"/>
              </a:rPr>
              <a:t>当把级别高的变量值赋给级别低的变量时，必须使用</a:t>
            </a:r>
            <a:r>
              <a:rPr lang="zh-CN" altLang="en-US" sz="2400" b="1" baseline="0" dirty="0">
                <a:solidFill>
                  <a:srgbClr val="C00000"/>
                </a:solidFill>
                <a:latin typeface="Times New Roman" panose="02020603050405020304" pitchFamily="18" charset="0"/>
                <a:ea typeface="楷体-简" panose="02010600040101010101" pitchFamily="2" charset="-122"/>
              </a:rPr>
              <a:t>显式类型转换运算</a:t>
            </a:r>
            <a:r>
              <a:rPr lang="zh-CN" altLang="en-US" sz="2400" baseline="0" dirty="0">
                <a:latin typeface="Times New Roman" panose="02020603050405020304" pitchFamily="18" charset="0"/>
                <a:ea typeface="楷体-简" panose="02010600040101010101" pitchFamily="2" charset="-122"/>
              </a:rPr>
              <a:t>。显示转换的格式： （类型名）要转换的值。例如：</a:t>
            </a:r>
            <a:br>
              <a:rPr lang="zh-CN" altLang="en-US" sz="2400" baseline="0" dirty="0">
                <a:latin typeface="Times New Roman" panose="02020603050405020304" pitchFamily="18" charset="0"/>
                <a:ea typeface="楷体-简" panose="02010600040101010101" pitchFamily="2" charset="-122"/>
              </a:rPr>
            </a:br>
            <a:r>
              <a:rPr lang="zh-CN" altLang="en-US" sz="1800" baseline="0" dirty="0">
                <a:latin typeface="Times New Roman" panose="02020603050405020304" pitchFamily="18" charset="0"/>
                <a:ea typeface="楷体-简" panose="02010600040101010101" pitchFamily="2" charset="-122"/>
              </a:rPr>
              <a:t>              </a:t>
            </a:r>
            <a:r>
              <a:rPr lang="en-US" altLang="zh-CN" sz="1800" b="1" baseline="0" dirty="0">
                <a:solidFill>
                  <a:schemeClr val="hlink"/>
                </a:solidFill>
                <a:latin typeface="Times New Roman" panose="02020603050405020304" pitchFamily="18" charset="0"/>
                <a:ea typeface="楷体-简" panose="02010600040101010101" pitchFamily="2" charset="-122"/>
              </a:rPr>
              <a:t>double pi = 3.1415926;</a:t>
            </a:r>
          </a:p>
          <a:p>
            <a:pPr marL="457200" lvl="1" indent="0" eaLnBrk="1" hangingPunct="1">
              <a:spcBef>
                <a:spcPct val="0"/>
              </a:spcBef>
              <a:buFontTx/>
              <a:buNone/>
              <a:defRPr/>
            </a:pPr>
            <a:r>
              <a:rPr lang="en-US" altLang="zh-CN" sz="1800" b="1" baseline="0" dirty="0">
                <a:solidFill>
                  <a:schemeClr val="hlink"/>
                </a:solidFill>
                <a:latin typeface="Times New Roman" panose="02020603050405020304" pitchFamily="18" charset="0"/>
                <a:ea typeface="楷体-简" panose="02010600040101010101" pitchFamily="2" charset="-122"/>
              </a:rPr>
              <a:t>            int p = (int)pi;   //p=3</a:t>
            </a:r>
          </a:p>
          <a:p>
            <a:pPr eaLnBrk="1" hangingPunct="1">
              <a:lnSpc>
                <a:spcPct val="80000"/>
              </a:lnSpc>
              <a:buFontTx/>
              <a:buNone/>
              <a:defRPr/>
            </a:pPr>
            <a:endParaRPr lang="zh-CN" altLang="en-US" sz="1800" baseline="0" dirty="0">
              <a:latin typeface="Times New Roman" panose="02020603050405020304" pitchFamily="18" charset="0"/>
              <a:ea typeface="楷体-简" panose="02010600040101010101" pitchFamily="2" charset="-122"/>
            </a:endParaRPr>
          </a:p>
          <a:p>
            <a:pPr eaLnBrk="1" hangingPunct="1">
              <a:lnSpc>
                <a:spcPct val="80000"/>
              </a:lnSpc>
              <a:buFontTx/>
              <a:buNone/>
              <a:defRPr/>
            </a:pPr>
            <a:r>
              <a:rPr lang="zh-CN" altLang="en-US" sz="1800" b="1" baseline="0" dirty="0">
                <a:latin typeface="Times New Roman" panose="02020603050405020304" pitchFamily="18" charset="0"/>
                <a:ea typeface="楷体-简" panose="02010600040101010101" pitchFamily="2" charset="-122"/>
              </a:rPr>
              <a:t>		     </a:t>
            </a:r>
            <a:r>
              <a:rPr lang="en-US" altLang="zh-CN" sz="1800" b="1" baseline="0" dirty="0">
                <a:latin typeface="Times New Roman" panose="02020603050405020304" pitchFamily="18" charset="0"/>
                <a:ea typeface="楷体-简" panose="02010600040101010101" pitchFamily="2" charset="-122"/>
              </a:rPr>
              <a:t>int</a:t>
            </a:r>
            <a:r>
              <a:rPr lang="en-US" altLang="zh-CN" sz="1800" baseline="0" dirty="0">
                <a:latin typeface="Times New Roman" panose="02020603050405020304" pitchFamily="18" charset="0"/>
                <a:ea typeface="楷体-简" panose="02010600040101010101" pitchFamily="2" charset="-122"/>
              </a:rPr>
              <a:t> </a:t>
            </a:r>
            <a:r>
              <a:rPr lang="en-US" altLang="zh-CN" sz="1800" baseline="0" dirty="0" err="1">
                <a:latin typeface="Times New Roman" panose="02020603050405020304" pitchFamily="18" charset="0"/>
                <a:ea typeface="楷体-简" panose="02010600040101010101" pitchFamily="2" charset="-122"/>
              </a:rPr>
              <a:t>i</a:t>
            </a:r>
            <a:r>
              <a:rPr lang="en-US" altLang="zh-CN" sz="1800" baseline="0" dirty="0">
                <a:latin typeface="Times New Roman" panose="02020603050405020304" pitchFamily="18" charset="0"/>
                <a:ea typeface="楷体-简" panose="02010600040101010101" pitchFamily="2" charset="-122"/>
              </a:rPr>
              <a:t>=99;</a:t>
            </a:r>
          </a:p>
          <a:p>
            <a:pPr eaLnBrk="1" hangingPunct="1">
              <a:lnSpc>
                <a:spcPct val="80000"/>
              </a:lnSpc>
              <a:buFontTx/>
              <a:buNone/>
              <a:defRPr/>
            </a:pPr>
            <a:r>
              <a:rPr lang="en-US" altLang="zh-CN" sz="1800" baseline="0" dirty="0">
                <a:latin typeface="Times New Roman" panose="02020603050405020304" pitchFamily="18" charset="0"/>
                <a:ea typeface="楷体-简" panose="02010600040101010101" pitchFamily="2" charset="-122"/>
              </a:rPr>
              <a:t>		     byte b=(byte) </a:t>
            </a:r>
            <a:r>
              <a:rPr lang="en-US" altLang="zh-CN" sz="1800" baseline="0" dirty="0" err="1">
                <a:latin typeface="Times New Roman" panose="02020603050405020304" pitchFamily="18" charset="0"/>
                <a:ea typeface="楷体-简" panose="02010600040101010101" pitchFamily="2" charset="-122"/>
              </a:rPr>
              <a:t>i</a:t>
            </a:r>
            <a:r>
              <a:rPr lang="en-US" altLang="zh-CN" sz="1800" baseline="0" dirty="0">
                <a:latin typeface="Times New Roman" panose="02020603050405020304" pitchFamily="18" charset="0"/>
                <a:ea typeface="楷体-简" panose="02010600040101010101" pitchFamily="2" charset="-122"/>
              </a:rPr>
              <a:t>;</a:t>
            </a:r>
          </a:p>
          <a:p>
            <a:pPr eaLnBrk="1" hangingPunct="1">
              <a:lnSpc>
                <a:spcPct val="80000"/>
              </a:lnSpc>
              <a:buFontTx/>
              <a:buNone/>
              <a:defRPr/>
            </a:pPr>
            <a:r>
              <a:rPr lang="en-US" altLang="zh-CN" sz="1800" baseline="0" dirty="0">
                <a:latin typeface="Times New Roman" panose="02020603050405020304" pitchFamily="18" charset="0"/>
                <a:ea typeface="楷体-简" panose="02010600040101010101" pitchFamily="2" charset="-122"/>
              </a:rPr>
              <a:t>		     char c=(char) </a:t>
            </a:r>
            <a:r>
              <a:rPr lang="en-US" altLang="zh-CN" sz="1800" baseline="0" dirty="0" err="1">
                <a:latin typeface="Times New Roman" panose="02020603050405020304" pitchFamily="18" charset="0"/>
                <a:ea typeface="楷体-简" panose="02010600040101010101" pitchFamily="2" charset="-122"/>
              </a:rPr>
              <a:t>i</a:t>
            </a:r>
            <a:r>
              <a:rPr lang="en-US" altLang="zh-CN" sz="1800" baseline="0" dirty="0">
                <a:latin typeface="Times New Roman" panose="02020603050405020304" pitchFamily="18" charset="0"/>
                <a:ea typeface="楷体-简" panose="02010600040101010101" pitchFamily="2" charset="-122"/>
              </a:rPr>
              <a:t>;</a:t>
            </a:r>
          </a:p>
          <a:p>
            <a:pPr eaLnBrk="1" hangingPunct="1">
              <a:lnSpc>
                <a:spcPct val="80000"/>
              </a:lnSpc>
              <a:buFontTx/>
              <a:buNone/>
              <a:defRPr/>
            </a:pPr>
            <a:endParaRPr lang="en-US" altLang="zh-CN" sz="1800" baseline="0" dirty="0">
              <a:latin typeface="Times New Roman" panose="02020603050405020304" pitchFamily="18" charset="0"/>
              <a:ea typeface="楷体-简" panose="02010600040101010101" pitchFamily="2" charset="-122"/>
            </a:endParaRPr>
          </a:p>
          <a:p>
            <a:pPr eaLnBrk="1" hangingPunct="1">
              <a:lnSpc>
                <a:spcPct val="80000"/>
              </a:lnSpc>
              <a:buFont typeface="Wingdings" panose="05000000000000000000" pitchFamily="2" charset="2"/>
              <a:buChar char="Ø"/>
              <a:defRPr/>
            </a:pPr>
            <a:r>
              <a:rPr lang="zh-CN" altLang="en-US" sz="2400" b="1" baseline="0" dirty="0">
                <a:latin typeface="Times New Roman" panose="02020603050405020304" pitchFamily="18" charset="0"/>
                <a:ea typeface="楷体-简" panose="02010600040101010101" pitchFamily="2" charset="-122"/>
              </a:rPr>
              <a:t>对于</a:t>
            </a:r>
            <a:r>
              <a:rPr lang="en-US" altLang="zh-CN" sz="2400" b="1" baseline="0" dirty="0">
                <a:latin typeface="Times New Roman" panose="02020603050405020304" pitchFamily="18" charset="0"/>
                <a:ea typeface="楷体-简" panose="02010600040101010101" pitchFamily="2" charset="-122"/>
              </a:rPr>
              <a:t>byte/short</a:t>
            </a:r>
            <a:r>
              <a:rPr lang="zh-CN" altLang="en-US" sz="2400" b="1" baseline="0" dirty="0">
                <a:latin typeface="Times New Roman" panose="02020603050405020304" pitchFamily="18" charset="0"/>
                <a:ea typeface="楷体-简" panose="02010600040101010101" pitchFamily="2" charset="-122"/>
              </a:rPr>
              <a:t>与</a:t>
            </a:r>
            <a:r>
              <a:rPr lang="en-US" altLang="zh-CN" sz="2400" b="1" baseline="0" dirty="0">
                <a:latin typeface="Times New Roman" panose="02020603050405020304" pitchFamily="18" charset="0"/>
                <a:ea typeface="楷体-简" panose="02010600040101010101" pitchFamily="2" charset="-122"/>
              </a:rPr>
              <a:t>char</a:t>
            </a:r>
            <a:r>
              <a:rPr lang="zh-CN" altLang="en-US" sz="2400" b="1" baseline="0" dirty="0">
                <a:latin typeface="Times New Roman" panose="02020603050405020304" pitchFamily="18" charset="0"/>
                <a:ea typeface="楷体-简" panose="02010600040101010101" pitchFamily="2" charset="-122"/>
              </a:rPr>
              <a:t>是</a:t>
            </a:r>
            <a:r>
              <a:rPr lang="zh-CN" altLang="en-US" sz="2400" b="1" baseline="0" dirty="0">
                <a:solidFill>
                  <a:srgbClr val="0000CC"/>
                </a:solidFill>
                <a:latin typeface="Times New Roman" panose="02020603050405020304" pitchFamily="18" charset="0"/>
                <a:ea typeface="楷体-简" panose="02010600040101010101" pitchFamily="2" charset="-122"/>
              </a:rPr>
              <a:t>平级的</a:t>
            </a:r>
            <a:r>
              <a:rPr lang="zh-CN" altLang="en-US" sz="2400" b="1" baseline="0" dirty="0">
                <a:latin typeface="Times New Roman" panose="02020603050405020304" pitchFamily="18" charset="0"/>
                <a:ea typeface="楷体-简" panose="02010600040101010101" pitchFamily="2" charset="-122"/>
              </a:rPr>
              <a:t>，因此不能相互自动转换，可以使用下述的强制类型转换</a:t>
            </a:r>
            <a:r>
              <a:rPr lang="zh-CN" altLang="en-US" sz="2400" baseline="0" dirty="0">
                <a:latin typeface="Times New Roman" panose="02020603050405020304" pitchFamily="18" charset="0"/>
                <a:ea typeface="楷体-简" panose="02010600040101010101" pitchFamily="2" charset="-122"/>
              </a:rPr>
              <a:t> </a:t>
            </a:r>
            <a:endParaRPr lang="zh-CN" altLang="en-US" sz="2400" b="1" baseline="0" dirty="0">
              <a:latin typeface="Times New Roman" panose="02020603050405020304" pitchFamily="18" charset="0"/>
              <a:ea typeface="楷体-简" panose="02010600040101010101" pitchFamily="2" charset="-122"/>
            </a:endParaRPr>
          </a:p>
          <a:p>
            <a:pPr eaLnBrk="1" hangingPunct="1">
              <a:lnSpc>
                <a:spcPct val="80000"/>
              </a:lnSpc>
              <a:buFontTx/>
              <a:buNone/>
              <a:defRPr/>
            </a:pPr>
            <a:r>
              <a:rPr lang="zh-CN" altLang="en-US" sz="2400" b="1" baseline="0" dirty="0">
                <a:latin typeface="Times New Roman" panose="02020603050405020304" pitchFamily="18" charset="0"/>
                <a:ea typeface="楷体-简" panose="02010600040101010101" pitchFamily="2" charset="-122"/>
              </a:rPr>
              <a:t>		</a:t>
            </a:r>
            <a:r>
              <a:rPr lang="en-US" altLang="zh-CN" sz="2400" b="1" baseline="0" dirty="0">
                <a:latin typeface="Times New Roman" panose="02020603050405020304" pitchFamily="18" charset="0"/>
                <a:ea typeface="楷体-简" panose="02010600040101010101" pitchFamily="2" charset="-122"/>
              </a:rPr>
              <a:t>short </a:t>
            </a:r>
            <a:r>
              <a:rPr lang="en-US" altLang="zh-CN" sz="2400" b="1" baseline="0" dirty="0" err="1">
                <a:latin typeface="Times New Roman" panose="02020603050405020304" pitchFamily="18" charset="0"/>
                <a:ea typeface="楷体-简" panose="02010600040101010101" pitchFamily="2" charset="-122"/>
              </a:rPr>
              <a:t>i</a:t>
            </a:r>
            <a:r>
              <a:rPr lang="en-US" altLang="zh-CN" sz="2400" b="1" baseline="0" dirty="0">
                <a:latin typeface="Times New Roman" panose="02020603050405020304" pitchFamily="18" charset="0"/>
                <a:ea typeface="楷体-简" panose="02010600040101010101" pitchFamily="2" charset="-122"/>
              </a:rPr>
              <a:t>=99;</a:t>
            </a:r>
          </a:p>
          <a:p>
            <a:pPr eaLnBrk="1" hangingPunct="1">
              <a:lnSpc>
                <a:spcPct val="80000"/>
              </a:lnSpc>
              <a:buFontTx/>
              <a:buNone/>
              <a:defRPr/>
            </a:pPr>
            <a:r>
              <a:rPr lang="en-US" altLang="zh-CN" sz="2400" b="1" baseline="0" dirty="0">
                <a:latin typeface="Times New Roman" panose="02020603050405020304" pitchFamily="18" charset="0"/>
                <a:ea typeface="楷体-简" panose="02010600040101010101" pitchFamily="2" charset="-122"/>
              </a:rPr>
              <a:t>		char c=(char) </a:t>
            </a:r>
            <a:r>
              <a:rPr lang="en-US" altLang="zh-CN" sz="2400" b="1" baseline="0" dirty="0" err="1">
                <a:latin typeface="Times New Roman" panose="02020603050405020304" pitchFamily="18" charset="0"/>
                <a:ea typeface="楷体-简" panose="02010600040101010101" pitchFamily="2" charset="-122"/>
              </a:rPr>
              <a:t>i</a:t>
            </a:r>
            <a:r>
              <a:rPr lang="en-US" altLang="zh-CN" sz="2400" baseline="0" dirty="0">
                <a:latin typeface="Times New Roman" panose="02020603050405020304" pitchFamily="18" charset="0"/>
                <a:ea typeface="楷体-简" panose="02010600040101010101" pitchFamily="2" charset="-122"/>
              </a:rPr>
              <a:t>     // c=‘c’</a:t>
            </a:r>
          </a:p>
          <a:p>
            <a:pPr eaLnBrk="1" hangingPunct="1">
              <a:lnSpc>
                <a:spcPct val="80000"/>
              </a:lnSpc>
              <a:buFontTx/>
              <a:buNone/>
              <a:defRPr/>
            </a:pPr>
            <a:endParaRPr lang="en-US" altLang="zh-CN" sz="2400" baseline="0" dirty="0">
              <a:latin typeface="Times New Roman" panose="02020603050405020304" pitchFamily="18" charset="0"/>
              <a:ea typeface="楷体-简" panose="02010600040101010101" pitchFamily="2" charset="-122"/>
            </a:endParaRPr>
          </a:p>
          <a:p>
            <a:pPr eaLnBrk="1" hangingPunct="1">
              <a:lnSpc>
                <a:spcPct val="80000"/>
              </a:lnSpc>
              <a:buFont typeface="Wingdings" panose="05000000000000000000" pitchFamily="2" charset="2"/>
              <a:buChar char="Ø"/>
              <a:defRPr/>
            </a:pPr>
            <a:r>
              <a:rPr lang="en-US" altLang="zh-CN" sz="2400" baseline="0" dirty="0" err="1">
                <a:latin typeface="Times New Roman" panose="02020603050405020304" pitchFamily="18" charset="0"/>
                <a:ea typeface="楷体-简" panose="02010600040101010101" pitchFamily="2" charset="-122"/>
              </a:rPr>
              <a:t>byte,short,</a:t>
            </a:r>
            <a:r>
              <a:rPr lang="en-US" altLang="zh-CN" sz="2400" b="1" baseline="0" dirty="0" err="1">
                <a:latin typeface="Times New Roman" panose="02020603050405020304" pitchFamily="18" charset="0"/>
                <a:ea typeface="楷体-简" panose="02010600040101010101" pitchFamily="2" charset="-122"/>
              </a:rPr>
              <a:t>char</a:t>
            </a:r>
            <a:r>
              <a:rPr lang="zh-CN" altLang="en-US" sz="2400" baseline="0" dirty="0">
                <a:latin typeface="Times New Roman" panose="02020603050405020304" pitchFamily="18" charset="0"/>
                <a:ea typeface="楷体-简" panose="02010600040101010101" pitchFamily="2" charset="-122"/>
              </a:rPr>
              <a:t>三种类型都是整型，因此如果操作整型数据时，最好统一使用</a:t>
            </a:r>
            <a:r>
              <a:rPr lang="en-US" altLang="zh-CN" sz="2400" b="1" baseline="0" dirty="0">
                <a:latin typeface="Times New Roman" panose="02020603050405020304" pitchFamily="18" charset="0"/>
                <a:ea typeface="楷体-简" panose="02010600040101010101" pitchFamily="2" charset="-122"/>
              </a:rPr>
              <a:t>int</a:t>
            </a:r>
            <a:r>
              <a:rPr lang="zh-CN" altLang="en-US" sz="2400" baseline="0" dirty="0">
                <a:latin typeface="Times New Roman" panose="02020603050405020304" pitchFamily="18" charset="0"/>
                <a:ea typeface="楷体-简" panose="02010600040101010101" pitchFamily="2" charset="-122"/>
              </a:rPr>
              <a:t>型。</a:t>
            </a:r>
            <a:br>
              <a:rPr lang="zh-CN" altLang="en-US" sz="2400" baseline="0" dirty="0">
                <a:latin typeface="Times New Roman" panose="02020603050405020304" pitchFamily="18" charset="0"/>
                <a:ea typeface="楷体-简" panose="02010600040101010101" pitchFamily="2" charset="-122"/>
              </a:rPr>
            </a:br>
            <a:endParaRPr lang="zh-CN" altLang="en-US" sz="2400" baseline="0" dirty="0">
              <a:latin typeface="Times New Roman" panose="02020603050405020304" pitchFamily="18" charset="0"/>
              <a:ea typeface="楷体-简" panose="02010600040101010101" pitchFamily="2" charset="-122"/>
            </a:endParaRPr>
          </a:p>
          <a:p>
            <a:pPr eaLnBrk="1" hangingPunct="1">
              <a:lnSpc>
                <a:spcPct val="80000"/>
              </a:lnSpc>
              <a:buFontTx/>
              <a:buNone/>
              <a:defRPr/>
            </a:pPr>
            <a:endParaRPr lang="en-US" altLang="zh-CN" sz="2400" baseline="0" dirty="0">
              <a:latin typeface="Times New Roman" panose="02020603050405020304" pitchFamily="18" charset="0"/>
              <a:ea typeface="楷体-简" panose="02010600040101010101" pitchFamily="2"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3">
            <a:extLst>
              <a:ext uri="{FF2B5EF4-FFF2-40B4-BE49-F238E27FC236}">
                <a16:creationId xmlns:a16="http://schemas.microsoft.com/office/drawing/2014/main" id="{BD16B4FF-FC8E-4BC4-B3FB-4866D129BEBA}"/>
              </a:ext>
            </a:extLst>
          </p:cNvPr>
          <p:cNvSpPr>
            <a:spLocks noGrp="1" noChangeArrowheads="1"/>
          </p:cNvSpPr>
          <p:nvPr>
            <p:ph type="body" idx="1"/>
          </p:nvPr>
        </p:nvSpPr>
        <p:spPr>
          <a:xfrm>
            <a:off x="0" y="0"/>
            <a:ext cx="9144000" cy="6858000"/>
          </a:xfrm>
        </p:spPr>
        <p:txBody>
          <a:bodyPr/>
          <a:lstStyle/>
          <a:p>
            <a:pPr eaLnBrk="1" hangingPunct="1">
              <a:lnSpc>
                <a:spcPct val="80000"/>
              </a:lnSpc>
              <a:buFontTx/>
              <a:buNone/>
            </a:pPr>
            <a:r>
              <a:rPr lang="en-US" altLang="zh-CN" sz="2400" b="1" baseline="0" dirty="0">
                <a:solidFill>
                  <a:srgbClr val="0000CC"/>
                </a:solidFill>
                <a:latin typeface="Times New Roman" panose="02020603050405020304" pitchFamily="18" charset="0"/>
                <a:ea typeface="楷体-简" panose="02010600040101010101" pitchFamily="2" charset="-122"/>
              </a:rPr>
              <a:t>public class</a:t>
            </a:r>
            <a:r>
              <a:rPr lang="en-US" altLang="zh-CN" sz="2400" b="1" baseline="0" dirty="0">
                <a:latin typeface="Times New Roman" panose="02020603050405020304" pitchFamily="18" charset="0"/>
                <a:ea typeface="楷体-简" panose="02010600040101010101" pitchFamily="2" charset="-122"/>
              </a:rPr>
              <a:t> </a:t>
            </a:r>
            <a:r>
              <a:rPr lang="en-US" altLang="zh-CN" sz="2400" b="1" baseline="0" dirty="0" err="1">
                <a:latin typeface="Times New Roman" panose="02020603050405020304" pitchFamily="18" charset="0"/>
                <a:ea typeface="楷体-简" panose="02010600040101010101" pitchFamily="2" charset="-122"/>
              </a:rPr>
              <a:t>TestConvert</a:t>
            </a:r>
            <a:r>
              <a:rPr lang="en-US" altLang="zh-CN" sz="2400" b="1" baseline="0" dirty="0">
                <a:latin typeface="Times New Roman" panose="02020603050405020304" pitchFamily="18" charset="0"/>
                <a:ea typeface="楷体-简" panose="02010600040101010101" pitchFamily="2" charset="-122"/>
              </a:rPr>
              <a:t> {</a:t>
            </a:r>
          </a:p>
          <a:p>
            <a:pPr eaLnBrk="1" hangingPunct="1">
              <a:lnSpc>
                <a:spcPct val="80000"/>
              </a:lnSpc>
              <a:buFontTx/>
              <a:buNone/>
            </a:pPr>
            <a:r>
              <a:rPr lang="en-US" altLang="zh-CN" sz="2400" b="1" baseline="0" dirty="0">
                <a:latin typeface="Times New Roman" panose="02020603050405020304" pitchFamily="18" charset="0"/>
                <a:ea typeface="楷体-简" panose="02010600040101010101" pitchFamily="2" charset="-122"/>
              </a:rPr>
              <a:t>    </a:t>
            </a:r>
            <a:r>
              <a:rPr lang="en-US" altLang="zh-CN" sz="2400" b="1" baseline="0" dirty="0">
                <a:solidFill>
                  <a:srgbClr val="0000CC"/>
                </a:solidFill>
                <a:latin typeface="Times New Roman" panose="02020603050405020304" pitchFamily="18" charset="0"/>
                <a:ea typeface="楷体-简" panose="02010600040101010101" pitchFamily="2" charset="-122"/>
              </a:rPr>
              <a:t>public static void</a:t>
            </a:r>
            <a:r>
              <a:rPr lang="en-US" altLang="zh-CN" sz="2400" b="1" baseline="0" dirty="0">
                <a:latin typeface="Times New Roman" panose="02020603050405020304" pitchFamily="18" charset="0"/>
                <a:ea typeface="楷体-简" panose="02010600040101010101" pitchFamily="2" charset="-122"/>
              </a:rPr>
              <a:t> main(</a:t>
            </a:r>
            <a:r>
              <a:rPr lang="en-US" altLang="zh-CN" sz="2400" b="1" baseline="0" dirty="0">
                <a:solidFill>
                  <a:srgbClr val="FF0066"/>
                </a:solidFill>
                <a:latin typeface="Times New Roman" panose="02020603050405020304" pitchFamily="18" charset="0"/>
                <a:ea typeface="楷体-简" panose="02010600040101010101" pitchFamily="2" charset="-122"/>
              </a:rPr>
              <a:t>String</a:t>
            </a:r>
            <a:r>
              <a:rPr lang="en-US" altLang="zh-CN" sz="2400" b="1" baseline="0" dirty="0">
                <a:latin typeface="Times New Roman" panose="02020603050405020304" pitchFamily="18" charset="0"/>
                <a:ea typeface="楷体-简" panose="02010600040101010101" pitchFamily="2" charset="-122"/>
              </a:rPr>
              <a:t> </a:t>
            </a:r>
            <a:r>
              <a:rPr lang="en-US" altLang="zh-CN" sz="2400" b="1" baseline="0" dirty="0" err="1">
                <a:latin typeface="Times New Roman" panose="02020603050405020304" pitchFamily="18" charset="0"/>
                <a:ea typeface="楷体-简" panose="02010600040101010101" pitchFamily="2" charset="-122"/>
              </a:rPr>
              <a:t>arg</a:t>
            </a:r>
            <a:r>
              <a:rPr lang="en-US" altLang="zh-CN" sz="2400" b="1" baseline="0" dirty="0">
                <a:latin typeface="Times New Roman" panose="02020603050405020304" pitchFamily="18" charset="0"/>
                <a:ea typeface="楷体-简" panose="02010600040101010101" pitchFamily="2" charset="-122"/>
              </a:rPr>
              <a:t>[]) {</a:t>
            </a:r>
          </a:p>
          <a:p>
            <a:pPr eaLnBrk="1" hangingPunct="1">
              <a:lnSpc>
                <a:spcPct val="80000"/>
              </a:lnSpc>
              <a:buFontTx/>
              <a:buNone/>
            </a:pPr>
            <a:r>
              <a:rPr lang="en-US" altLang="zh-CN" sz="2400" b="1" baseline="0" dirty="0">
                <a:latin typeface="Times New Roman" panose="02020603050405020304" pitchFamily="18" charset="0"/>
                <a:ea typeface="楷体-简" panose="02010600040101010101" pitchFamily="2" charset="-122"/>
              </a:rPr>
              <a:t>        </a:t>
            </a:r>
            <a:r>
              <a:rPr lang="en-US" altLang="zh-CN" sz="2400" b="1" baseline="0" dirty="0">
                <a:solidFill>
                  <a:srgbClr val="0000CC"/>
                </a:solidFill>
                <a:latin typeface="Times New Roman" panose="02020603050405020304" pitchFamily="18" charset="0"/>
                <a:ea typeface="楷体-简" panose="02010600040101010101" pitchFamily="2" charset="-122"/>
              </a:rPr>
              <a:t>int</a:t>
            </a:r>
            <a:r>
              <a:rPr lang="en-US" altLang="zh-CN" sz="2400" b="1" baseline="0" dirty="0">
                <a:latin typeface="Times New Roman" panose="02020603050405020304" pitchFamily="18" charset="0"/>
                <a:ea typeface="楷体-简" panose="02010600040101010101" pitchFamily="2" charset="-122"/>
              </a:rPr>
              <a:t> i1 = 123,  i2=456;</a:t>
            </a:r>
          </a:p>
          <a:p>
            <a:pPr eaLnBrk="1" hangingPunct="1">
              <a:lnSpc>
                <a:spcPct val="80000"/>
              </a:lnSpc>
              <a:buFontTx/>
              <a:buNone/>
            </a:pPr>
            <a:r>
              <a:rPr lang="en-US" altLang="zh-CN" sz="2400" b="1" baseline="0" dirty="0">
                <a:latin typeface="Times New Roman" panose="02020603050405020304" pitchFamily="18" charset="0"/>
                <a:ea typeface="楷体-简" panose="02010600040101010101" pitchFamily="2" charset="-122"/>
              </a:rPr>
              <a:t>       </a:t>
            </a:r>
            <a:r>
              <a:rPr lang="en-US" altLang="zh-CN" sz="2400" b="1" baseline="0" dirty="0">
                <a:solidFill>
                  <a:srgbClr val="0000CC"/>
                </a:solidFill>
                <a:latin typeface="Times New Roman" panose="02020603050405020304" pitchFamily="18" charset="0"/>
                <a:ea typeface="楷体-简" panose="02010600040101010101" pitchFamily="2" charset="-122"/>
              </a:rPr>
              <a:t>double</a:t>
            </a:r>
            <a:r>
              <a:rPr lang="en-US" altLang="zh-CN" sz="2400" b="1" baseline="0" dirty="0">
                <a:latin typeface="Times New Roman" panose="02020603050405020304" pitchFamily="18" charset="0"/>
                <a:ea typeface="楷体-简" panose="02010600040101010101" pitchFamily="2" charset="-122"/>
              </a:rPr>
              <a:t> d1 = (i1+i2)*1.2;  //</a:t>
            </a:r>
            <a:r>
              <a:rPr lang="zh-CN" altLang="en-US" sz="2400" b="1" baseline="0" dirty="0">
                <a:latin typeface="Times New Roman" panose="02020603050405020304" pitchFamily="18" charset="0"/>
                <a:ea typeface="楷体-简" panose="02010600040101010101" pitchFamily="2" charset="-122"/>
              </a:rPr>
              <a:t>系统将转换为</a:t>
            </a:r>
            <a:r>
              <a:rPr lang="en-US" altLang="zh-CN" sz="2400" b="1" baseline="0" dirty="0">
                <a:latin typeface="Times New Roman" panose="02020603050405020304" pitchFamily="18" charset="0"/>
                <a:ea typeface="楷体-简" panose="02010600040101010101" pitchFamily="2" charset="-122"/>
              </a:rPr>
              <a:t>double</a:t>
            </a:r>
            <a:r>
              <a:rPr lang="zh-CN" altLang="en-US" sz="2400" b="1" baseline="0" dirty="0">
                <a:latin typeface="Times New Roman" panose="02020603050405020304" pitchFamily="18" charset="0"/>
                <a:ea typeface="楷体-简" panose="02010600040101010101" pitchFamily="2" charset="-122"/>
              </a:rPr>
              <a:t>型运算</a:t>
            </a:r>
          </a:p>
          <a:p>
            <a:pPr eaLnBrk="1" hangingPunct="1">
              <a:lnSpc>
                <a:spcPct val="80000"/>
              </a:lnSpc>
              <a:buFontTx/>
              <a:buNone/>
            </a:pPr>
            <a:r>
              <a:rPr lang="zh-CN" altLang="en-US" sz="2400" b="1" baseline="0" dirty="0">
                <a:latin typeface="Times New Roman" panose="02020603050405020304" pitchFamily="18" charset="0"/>
                <a:ea typeface="楷体-简" panose="02010600040101010101" pitchFamily="2" charset="-122"/>
              </a:rPr>
              <a:t>        </a:t>
            </a:r>
            <a:r>
              <a:rPr lang="en-US" altLang="zh-CN" sz="2400" b="1" baseline="0" dirty="0">
                <a:solidFill>
                  <a:srgbClr val="0000CC"/>
                </a:solidFill>
                <a:latin typeface="Times New Roman" panose="02020603050405020304" pitchFamily="18" charset="0"/>
                <a:ea typeface="楷体-简" panose="02010600040101010101" pitchFamily="2" charset="-122"/>
              </a:rPr>
              <a:t>float</a:t>
            </a:r>
            <a:r>
              <a:rPr lang="en-US" altLang="zh-CN" sz="2400" b="1" baseline="0" dirty="0">
                <a:latin typeface="Times New Roman" panose="02020603050405020304" pitchFamily="18" charset="0"/>
                <a:ea typeface="楷体-简" panose="02010600040101010101" pitchFamily="2" charset="-122"/>
              </a:rPr>
              <a:t> f1 = (</a:t>
            </a:r>
            <a:r>
              <a:rPr lang="en-US" altLang="zh-CN" sz="2400" b="1" baseline="0" dirty="0">
                <a:solidFill>
                  <a:srgbClr val="0000CC"/>
                </a:solidFill>
                <a:latin typeface="Times New Roman" panose="02020603050405020304" pitchFamily="18" charset="0"/>
                <a:ea typeface="楷体-简" panose="02010600040101010101" pitchFamily="2" charset="-122"/>
              </a:rPr>
              <a:t>float</a:t>
            </a:r>
            <a:r>
              <a:rPr lang="en-US" altLang="zh-CN" sz="2400" b="1" baseline="0" dirty="0">
                <a:latin typeface="Times New Roman" panose="02020603050405020304" pitchFamily="18" charset="0"/>
                <a:ea typeface="楷体-简" panose="02010600040101010101" pitchFamily="2" charset="-122"/>
              </a:rPr>
              <a:t>)((i1+i2)*1.2);    //</a:t>
            </a:r>
            <a:r>
              <a:rPr lang="zh-CN" altLang="en-US" sz="2400" b="1" baseline="0" dirty="0">
                <a:latin typeface="Times New Roman" panose="02020603050405020304" pitchFamily="18" charset="0"/>
                <a:ea typeface="楷体-简" panose="02010600040101010101" pitchFamily="2" charset="-122"/>
              </a:rPr>
              <a:t>需要加强制转换符</a:t>
            </a:r>
          </a:p>
          <a:p>
            <a:pPr eaLnBrk="1" hangingPunct="1">
              <a:lnSpc>
                <a:spcPct val="80000"/>
              </a:lnSpc>
              <a:buFontTx/>
              <a:buNone/>
            </a:pPr>
            <a:r>
              <a:rPr lang="zh-CN" altLang="en-US" sz="2400" b="1" baseline="0" dirty="0">
                <a:latin typeface="Times New Roman" panose="02020603050405020304" pitchFamily="18" charset="0"/>
                <a:ea typeface="楷体-简" panose="02010600040101010101" pitchFamily="2" charset="-122"/>
              </a:rPr>
              <a:t>        </a:t>
            </a:r>
            <a:r>
              <a:rPr lang="en-US" altLang="zh-CN" sz="2400" b="1" baseline="0" dirty="0">
                <a:solidFill>
                  <a:srgbClr val="0000CC"/>
                </a:solidFill>
                <a:latin typeface="Times New Roman" panose="02020603050405020304" pitchFamily="18" charset="0"/>
                <a:ea typeface="楷体-简" panose="02010600040101010101" pitchFamily="2" charset="-122"/>
              </a:rPr>
              <a:t>byte</a:t>
            </a:r>
            <a:r>
              <a:rPr lang="en-US" altLang="zh-CN" sz="2400" b="1" baseline="0" dirty="0">
                <a:latin typeface="Times New Roman" panose="02020603050405020304" pitchFamily="18" charset="0"/>
                <a:ea typeface="楷体-简" panose="02010600040101010101" pitchFamily="2" charset="-122"/>
              </a:rPr>
              <a:t> b1 = 67, b2=89;</a:t>
            </a:r>
          </a:p>
          <a:p>
            <a:pPr eaLnBrk="1" hangingPunct="1">
              <a:lnSpc>
                <a:spcPct val="80000"/>
              </a:lnSpc>
              <a:buFontTx/>
              <a:buNone/>
            </a:pPr>
            <a:r>
              <a:rPr lang="en-US" altLang="zh-CN" sz="2400" b="1" baseline="0" dirty="0">
                <a:latin typeface="Times New Roman" panose="02020603050405020304" pitchFamily="18" charset="0"/>
                <a:ea typeface="楷体-简" panose="02010600040101010101" pitchFamily="2" charset="-122"/>
              </a:rPr>
              <a:t>	   </a:t>
            </a:r>
            <a:r>
              <a:rPr lang="en-US" altLang="zh-CN" sz="2400" b="1" baseline="0" dirty="0">
                <a:solidFill>
                  <a:srgbClr val="0000CC"/>
                </a:solidFill>
                <a:latin typeface="Times New Roman" panose="02020603050405020304" pitchFamily="18" charset="0"/>
                <a:ea typeface="楷体-简" panose="02010600040101010101" pitchFamily="2" charset="-122"/>
              </a:rPr>
              <a:t>byte</a:t>
            </a:r>
            <a:r>
              <a:rPr lang="en-US" altLang="zh-CN" sz="2400" b="1" baseline="0" dirty="0">
                <a:latin typeface="Times New Roman" panose="02020603050405020304" pitchFamily="18" charset="0"/>
                <a:ea typeface="楷体-简" panose="02010600040101010101" pitchFamily="2" charset="-122"/>
              </a:rPr>
              <a:t> b3 = (</a:t>
            </a:r>
            <a:r>
              <a:rPr lang="en-US" altLang="zh-CN" sz="2400" b="1" baseline="0" dirty="0">
                <a:solidFill>
                  <a:srgbClr val="0000CC"/>
                </a:solidFill>
                <a:latin typeface="Times New Roman" panose="02020603050405020304" pitchFamily="18" charset="0"/>
                <a:ea typeface="楷体-简" panose="02010600040101010101" pitchFamily="2" charset="-122"/>
              </a:rPr>
              <a:t>byte</a:t>
            </a:r>
            <a:r>
              <a:rPr lang="en-US" altLang="zh-CN" sz="2400" b="1" baseline="0" dirty="0">
                <a:latin typeface="Times New Roman" panose="02020603050405020304" pitchFamily="18" charset="0"/>
                <a:ea typeface="楷体-简" panose="02010600040101010101" pitchFamily="2" charset="-122"/>
              </a:rPr>
              <a:t>)(b1+b2);  //</a:t>
            </a:r>
            <a:r>
              <a:rPr lang="zh-CN" altLang="en-US" sz="2400" b="1" baseline="0" dirty="0">
                <a:latin typeface="Times New Roman" panose="02020603050405020304" pitchFamily="18" charset="0"/>
                <a:ea typeface="楷体-简" panose="02010600040101010101" pitchFamily="2" charset="-122"/>
              </a:rPr>
              <a:t>系统将转换为</a:t>
            </a:r>
            <a:r>
              <a:rPr lang="en-US" altLang="zh-CN" sz="2400" b="1" baseline="0" dirty="0">
                <a:latin typeface="Times New Roman" panose="02020603050405020304" pitchFamily="18" charset="0"/>
                <a:ea typeface="楷体-简" panose="02010600040101010101" pitchFamily="2" charset="-122"/>
              </a:rPr>
              <a:t>int</a:t>
            </a:r>
            <a:r>
              <a:rPr lang="zh-CN" altLang="en-US" sz="2400" b="1" baseline="0" dirty="0">
                <a:latin typeface="Times New Roman" panose="02020603050405020304" pitchFamily="18" charset="0"/>
                <a:ea typeface="楷体-简" panose="02010600040101010101" pitchFamily="2" charset="-122"/>
              </a:rPr>
              <a:t>型运算，需要强制转换符</a:t>
            </a:r>
          </a:p>
          <a:p>
            <a:pPr eaLnBrk="1" hangingPunct="1">
              <a:lnSpc>
                <a:spcPct val="80000"/>
              </a:lnSpc>
              <a:buFontTx/>
              <a:buNone/>
            </a:pPr>
            <a:r>
              <a:rPr lang="zh-CN" altLang="en-US" sz="2400" b="1" baseline="0" dirty="0">
                <a:latin typeface="Times New Roman" panose="02020603050405020304" pitchFamily="18" charset="0"/>
                <a:ea typeface="楷体-简" panose="02010600040101010101" pitchFamily="2" charset="-122"/>
              </a:rPr>
              <a:t>	  </a:t>
            </a:r>
            <a:r>
              <a:rPr lang="en-US" altLang="zh-CN" sz="2400" b="1" baseline="0" dirty="0" err="1">
                <a:solidFill>
                  <a:srgbClr val="FF0066"/>
                </a:solidFill>
                <a:latin typeface="Times New Roman" panose="02020603050405020304" pitchFamily="18" charset="0"/>
                <a:ea typeface="楷体-简" panose="02010600040101010101" pitchFamily="2" charset="-122"/>
              </a:rPr>
              <a:t>System</a:t>
            </a:r>
            <a:r>
              <a:rPr lang="en-US" altLang="zh-CN" sz="2400" b="1" baseline="0" dirty="0" err="1">
                <a:latin typeface="Times New Roman" panose="02020603050405020304" pitchFamily="18" charset="0"/>
                <a:ea typeface="楷体-简" panose="02010600040101010101" pitchFamily="2" charset="-122"/>
              </a:rPr>
              <a:t>.out.println</a:t>
            </a:r>
            <a:r>
              <a:rPr lang="en-US" altLang="zh-CN" sz="2400" b="1" baseline="0" dirty="0">
                <a:latin typeface="Times New Roman" panose="02020603050405020304" pitchFamily="18" charset="0"/>
                <a:ea typeface="楷体-简" panose="02010600040101010101" pitchFamily="2" charset="-122"/>
              </a:rPr>
              <a:t>(b3);  //b3=-100</a:t>
            </a:r>
          </a:p>
          <a:p>
            <a:pPr eaLnBrk="1" hangingPunct="1">
              <a:lnSpc>
                <a:spcPct val="80000"/>
              </a:lnSpc>
              <a:buFontTx/>
              <a:buNone/>
            </a:pPr>
            <a:r>
              <a:rPr lang="en-US" altLang="zh-CN" sz="2400" b="1" baseline="0" dirty="0">
                <a:latin typeface="Times New Roman" panose="02020603050405020304" pitchFamily="18" charset="0"/>
                <a:ea typeface="楷体-简" panose="02010600040101010101" pitchFamily="2" charset="-122"/>
              </a:rPr>
              <a:t>        </a:t>
            </a:r>
            <a:r>
              <a:rPr lang="en-US" altLang="zh-CN" sz="2400" b="1" baseline="0" dirty="0">
                <a:solidFill>
                  <a:srgbClr val="0000CC"/>
                </a:solidFill>
                <a:latin typeface="Times New Roman" panose="02020603050405020304" pitchFamily="18" charset="0"/>
                <a:ea typeface="楷体-简" panose="02010600040101010101" pitchFamily="2" charset="-122"/>
              </a:rPr>
              <a:t>double</a:t>
            </a:r>
            <a:r>
              <a:rPr lang="en-US" altLang="zh-CN" sz="2400" b="1" baseline="0" dirty="0">
                <a:latin typeface="Times New Roman" panose="02020603050405020304" pitchFamily="18" charset="0"/>
                <a:ea typeface="楷体-简" panose="02010600040101010101" pitchFamily="2" charset="-122"/>
              </a:rPr>
              <a:t> d2 = 1e200;</a:t>
            </a:r>
          </a:p>
          <a:p>
            <a:pPr eaLnBrk="1" hangingPunct="1">
              <a:lnSpc>
                <a:spcPct val="80000"/>
              </a:lnSpc>
              <a:buFontTx/>
              <a:buNone/>
            </a:pPr>
            <a:r>
              <a:rPr lang="en-US" altLang="zh-CN" sz="2400" b="1" baseline="0" dirty="0">
                <a:latin typeface="Times New Roman" panose="02020603050405020304" pitchFamily="18" charset="0"/>
                <a:ea typeface="楷体-简" panose="02010600040101010101" pitchFamily="2" charset="-122"/>
              </a:rPr>
              <a:t>        </a:t>
            </a:r>
            <a:r>
              <a:rPr lang="en-US" altLang="zh-CN" sz="2400" b="1" baseline="0" dirty="0">
                <a:solidFill>
                  <a:srgbClr val="0000CC"/>
                </a:solidFill>
                <a:latin typeface="Times New Roman" panose="02020603050405020304" pitchFamily="18" charset="0"/>
                <a:ea typeface="楷体-简" panose="02010600040101010101" pitchFamily="2" charset="-122"/>
              </a:rPr>
              <a:t>float</a:t>
            </a:r>
            <a:r>
              <a:rPr lang="en-US" altLang="zh-CN" sz="2400" b="1" baseline="0" dirty="0">
                <a:latin typeface="Times New Roman" panose="02020603050405020304" pitchFamily="18" charset="0"/>
                <a:ea typeface="楷体-简" panose="02010600040101010101" pitchFamily="2" charset="-122"/>
              </a:rPr>
              <a:t> f2 = (</a:t>
            </a:r>
            <a:r>
              <a:rPr lang="en-US" altLang="zh-CN" sz="2400" b="1" baseline="0" dirty="0">
                <a:solidFill>
                  <a:srgbClr val="0000CC"/>
                </a:solidFill>
                <a:latin typeface="Times New Roman" panose="02020603050405020304" pitchFamily="18" charset="0"/>
                <a:ea typeface="楷体-简" panose="02010600040101010101" pitchFamily="2" charset="-122"/>
              </a:rPr>
              <a:t>float</a:t>
            </a:r>
            <a:r>
              <a:rPr lang="en-US" altLang="zh-CN" sz="2400" b="1" baseline="0" dirty="0">
                <a:latin typeface="Times New Roman" panose="02020603050405020304" pitchFamily="18" charset="0"/>
                <a:ea typeface="楷体-简" panose="02010600040101010101" pitchFamily="2" charset="-122"/>
              </a:rPr>
              <a:t>) d2;  //</a:t>
            </a:r>
            <a:r>
              <a:rPr lang="zh-CN" altLang="en-US" sz="2400" b="1" baseline="0" dirty="0">
                <a:latin typeface="Times New Roman" panose="02020603050405020304" pitchFamily="18" charset="0"/>
                <a:ea typeface="楷体-简" panose="02010600040101010101" pitchFamily="2" charset="-122"/>
              </a:rPr>
              <a:t>会产生溢出</a:t>
            </a:r>
          </a:p>
          <a:p>
            <a:pPr eaLnBrk="1" hangingPunct="1">
              <a:lnSpc>
                <a:spcPct val="80000"/>
              </a:lnSpc>
              <a:buFontTx/>
              <a:buNone/>
            </a:pPr>
            <a:r>
              <a:rPr lang="zh-CN" altLang="en-US" sz="2400" b="1" baseline="0" dirty="0">
                <a:latin typeface="Times New Roman" panose="02020603050405020304" pitchFamily="18" charset="0"/>
                <a:ea typeface="楷体-简" panose="02010600040101010101" pitchFamily="2" charset="-122"/>
              </a:rPr>
              <a:t>        </a:t>
            </a:r>
            <a:r>
              <a:rPr lang="en-US" altLang="zh-CN" sz="2400" b="1" baseline="0" dirty="0" err="1">
                <a:solidFill>
                  <a:srgbClr val="FF0066"/>
                </a:solidFill>
                <a:latin typeface="Times New Roman" panose="02020603050405020304" pitchFamily="18" charset="0"/>
                <a:ea typeface="楷体-简" panose="02010600040101010101" pitchFamily="2" charset="-122"/>
              </a:rPr>
              <a:t>System</a:t>
            </a:r>
            <a:r>
              <a:rPr lang="en-US" altLang="zh-CN" sz="2400" b="1" baseline="0" dirty="0" err="1">
                <a:latin typeface="Times New Roman" panose="02020603050405020304" pitchFamily="18" charset="0"/>
                <a:ea typeface="楷体-简" panose="02010600040101010101" pitchFamily="2" charset="-122"/>
              </a:rPr>
              <a:t>.out.println</a:t>
            </a:r>
            <a:r>
              <a:rPr lang="en-US" altLang="zh-CN" sz="2400" b="1" baseline="0" dirty="0">
                <a:latin typeface="Times New Roman" panose="02020603050405020304" pitchFamily="18" charset="0"/>
                <a:ea typeface="楷体-简" panose="02010600040101010101" pitchFamily="2" charset="-122"/>
              </a:rPr>
              <a:t>(f2);  //Infinity</a:t>
            </a:r>
          </a:p>
          <a:p>
            <a:pPr eaLnBrk="1" hangingPunct="1">
              <a:lnSpc>
                <a:spcPct val="80000"/>
              </a:lnSpc>
              <a:buFontTx/>
              <a:buNone/>
            </a:pPr>
            <a:r>
              <a:rPr lang="en-US" altLang="zh-CN" sz="2400" b="1" baseline="0" dirty="0">
                <a:latin typeface="Times New Roman" panose="02020603050405020304" pitchFamily="18" charset="0"/>
                <a:ea typeface="楷体-简" panose="02010600040101010101" pitchFamily="2" charset="-122"/>
              </a:rPr>
              <a:t>        </a:t>
            </a:r>
            <a:r>
              <a:rPr lang="en-US" altLang="zh-CN" sz="2400" b="1" baseline="0" dirty="0">
                <a:solidFill>
                  <a:srgbClr val="0000CC"/>
                </a:solidFill>
                <a:latin typeface="Times New Roman" panose="02020603050405020304" pitchFamily="18" charset="0"/>
                <a:ea typeface="楷体-简" panose="02010600040101010101" pitchFamily="2" charset="-122"/>
              </a:rPr>
              <a:t>float</a:t>
            </a:r>
            <a:r>
              <a:rPr lang="en-US" altLang="zh-CN" sz="2400" b="1" baseline="0" dirty="0">
                <a:latin typeface="Times New Roman" panose="02020603050405020304" pitchFamily="18" charset="0"/>
                <a:ea typeface="楷体-简" panose="02010600040101010101" pitchFamily="2" charset="-122"/>
              </a:rPr>
              <a:t> f3 = 1.23f;  //</a:t>
            </a:r>
            <a:r>
              <a:rPr lang="zh-CN" altLang="en-US" sz="2400" b="1" baseline="0" dirty="0">
                <a:latin typeface="Times New Roman" panose="02020603050405020304" pitchFamily="18" charset="0"/>
                <a:ea typeface="楷体-简" panose="02010600040101010101" pitchFamily="2" charset="-122"/>
              </a:rPr>
              <a:t>必须加</a:t>
            </a:r>
            <a:r>
              <a:rPr lang="en-US" altLang="zh-CN" sz="2400" b="1" baseline="0" dirty="0">
                <a:latin typeface="Times New Roman" panose="02020603050405020304" pitchFamily="18" charset="0"/>
                <a:ea typeface="楷体-简" panose="02010600040101010101" pitchFamily="2" charset="-122"/>
              </a:rPr>
              <a:t>f</a:t>
            </a:r>
          </a:p>
          <a:p>
            <a:pPr eaLnBrk="1" hangingPunct="1">
              <a:lnSpc>
                <a:spcPct val="80000"/>
              </a:lnSpc>
              <a:buFontTx/>
              <a:buNone/>
            </a:pPr>
            <a:r>
              <a:rPr lang="en-US" altLang="zh-CN" sz="2400" b="1" baseline="0" dirty="0">
                <a:latin typeface="Times New Roman" panose="02020603050405020304" pitchFamily="18" charset="0"/>
                <a:ea typeface="楷体-简" panose="02010600040101010101" pitchFamily="2" charset="-122"/>
              </a:rPr>
              <a:t>        </a:t>
            </a:r>
            <a:r>
              <a:rPr lang="en-US" altLang="zh-CN" sz="2400" b="1" baseline="0" dirty="0">
                <a:solidFill>
                  <a:srgbClr val="0000CC"/>
                </a:solidFill>
                <a:latin typeface="Times New Roman" panose="02020603050405020304" pitchFamily="18" charset="0"/>
                <a:ea typeface="楷体-简" panose="02010600040101010101" pitchFamily="2" charset="-122"/>
              </a:rPr>
              <a:t>long</a:t>
            </a:r>
            <a:r>
              <a:rPr lang="en-US" altLang="zh-CN" sz="2400" b="1" baseline="0" dirty="0">
                <a:latin typeface="Times New Roman" panose="02020603050405020304" pitchFamily="18" charset="0"/>
                <a:ea typeface="楷体-简" panose="02010600040101010101" pitchFamily="2" charset="-122"/>
              </a:rPr>
              <a:t> l1 = 123, l2 = 30000000000L;  //</a:t>
            </a:r>
            <a:r>
              <a:rPr lang="zh-CN" altLang="en-US" sz="2400" b="1" baseline="0" dirty="0">
                <a:latin typeface="Times New Roman" panose="02020603050405020304" pitchFamily="18" charset="0"/>
                <a:ea typeface="楷体-简" panose="02010600040101010101" pitchFamily="2" charset="-122"/>
              </a:rPr>
              <a:t>必须加</a:t>
            </a:r>
            <a:r>
              <a:rPr lang="en-US" altLang="zh-CN" sz="2400" b="1" baseline="0" dirty="0">
                <a:latin typeface="Times New Roman" panose="02020603050405020304" pitchFamily="18" charset="0"/>
                <a:ea typeface="楷体-简" panose="02010600040101010101" pitchFamily="2" charset="-122"/>
              </a:rPr>
              <a:t>L</a:t>
            </a:r>
          </a:p>
          <a:p>
            <a:pPr eaLnBrk="1" hangingPunct="1">
              <a:lnSpc>
                <a:spcPct val="80000"/>
              </a:lnSpc>
              <a:buFontTx/>
              <a:buNone/>
            </a:pPr>
            <a:r>
              <a:rPr lang="en-US" altLang="zh-CN" sz="2400" b="1" baseline="0" dirty="0">
                <a:latin typeface="Times New Roman" panose="02020603050405020304" pitchFamily="18" charset="0"/>
                <a:ea typeface="楷体-简" panose="02010600040101010101" pitchFamily="2" charset="-122"/>
              </a:rPr>
              <a:t>	    </a:t>
            </a:r>
            <a:r>
              <a:rPr lang="en-US" altLang="zh-CN" sz="2400" b="1" baseline="0" dirty="0">
                <a:solidFill>
                  <a:srgbClr val="0000CC"/>
                </a:solidFill>
                <a:latin typeface="Times New Roman" panose="02020603050405020304" pitchFamily="18" charset="0"/>
                <a:ea typeface="楷体-简" panose="02010600040101010101" pitchFamily="2" charset="-122"/>
              </a:rPr>
              <a:t>float</a:t>
            </a:r>
            <a:r>
              <a:rPr lang="en-US" altLang="zh-CN" sz="2400" b="1" baseline="0" dirty="0">
                <a:latin typeface="Times New Roman" panose="02020603050405020304" pitchFamily="18" charset="0"/>
                <a:ea typeface="楷体-简" panose="02010600040101010101" pitchFamily="2" charset="-122"/>
              </a:rPr>
              <a:t> f = l1+l2+f3;  //</a:t>
            </a:r>
            <a:r>
              <a:rPr lang="zh-CN" altLang="en-US" sz="2400" b="1" baseline="0" dirty="0">
                <a:latin typeface="Times New Roman" panose="02020603050405020304" pitchFamily="18" charset="0"/>
                <a:ea typeface="楷体-简" panose="02010600040101010101" pitchFamily="2" charset="-122"/>
              </a:rPr>
              <a:t>系统将转换为</a:t>
            </a:r>
            <a:r>
              <a:rPr lang="en-US" altLang="zh-CN" sz="2400" b="1" baseline="0" dirty="0">
                <a:latin typeface="Times New Roman" panose="02020603050405020304" pitchFamily="18" charset="0"/>
                <a:ea typeface="楷体-简" panose="02010600040101010101" pitchFamily="2" charset="-122"/>
              </a:rPr>
              <a:t>float</a:t>
            </a:r>
            <a:r>
              <a:rPr lang="zh-CN" altLang="en-US" sz="2400" b="1" baseline="0" dirty="0">
                <a:latin typeface="Times New Roman" panose="02020603050405020304" pitchFamily="18" charset="0"/>
                <a:ea typeface="楷体-简" panose="02010600040101010101" pitchFamily="2" charset="-122"/>
              </a:rPr>
              <a:t>型计算</a:t>
            </a:r>
          </a:p>
          <a:p>
            <a:pPr eaLnBrk="1" hangingPunct="1">
              <a:lnSpc>
                <a:spcPct val="80000"/>
              </a:lnSpc>
              <a:buFontTx/>
              <a:buNone/>
            </a:pPr>
            <a:r>
              <a:rPr lang="zh-CN" altLang="en-US" sz="2400" b="1" baseline="0" dirty="0">
                <a:latin typeface="Times New Roman" panose="02020603050405020304" pitchFamily="18" charset="0"/>
                <a:ea typeface="楷体-简" panose="02010600040101010101" pitchFamily="2" charset="-122"/>
              </a:rPr>
              <a:t>        </a:t>
            </a:r>
            <a:r>
              <a:rPr lang="en-US" altLang="zh-CN" sz="2400" b="1" baseline="0" dirty="0">
                <a:solidFill>
                  <a:srgbClr val="0000CC"/>
                </a:solidFill>
                <a:latin typeface="Times New Roman" panose="02020603050405020304" pitchFamily="18" charset="0"/>
                <a:ea typeface="楷体-简" panose="02010600040101010101" pitchFamily="2" charset="-122"/>
              </a:rPr>
              <a:t>long</a:t>
            </a:r>
            <a:r>
              <a:rPr lang="en-US" altLang="zh-CN" sz="2400" b="1" baseline="0" dirty="0">
                <a:latin typeface="Times New Roman" panose="02020603050405020304" pitchFamily="18" charset="0"/>
                <a:ea typeface="楷体-简" panose="02010600040101010101" pitchFamily="2" charset="-122"/>
              </a:rPr>
              <a:t> l = (</a:t>
            </a:r>
            <a:r>
              <a:rPr lang="en-US" altLang="zh-CN" sz="2400" b="1" baseline="0" dirty="0">
                <a:solidFill>
                  <a:srgbClr val="0000CC"/>
                </a:solidFill>
                <a:latin typeface="Times New Roman" panose="02020603050405020304" pitchFamily="18" charset="0"/>
                <a:ea typeface="楷体-简" panose="02010600040101010101" pitchFamily="2" charset="-122"/>
              </a:rPr>
              <a:t>long</a:t>
            </a:r>
            <a:r>
              <a:rPr lang="en-US" altLang="zh-CN" sz="2400" b="1" baseline="0" dirty="0">
                <a:latin typeface="Times New Roman" panose="02020603050405020304" pitchFamily="18" charset="0"/>
                <a:ea typeface="楷体-简" panose="02010600040101010101" pitchFamily="2" charset="-122"/>
              </a:rPr>
              <a:t>) f;  //</a:t>
            </a:r>
            <a:r>
              <a:rPr lang="zh-CN" altLang="en-US" sz="2400" b="1" baseline="0" dirty="0">
                <a:latin typeface="Times New Roman" panose="02020603050405020304" pitchFamily="18" charset="0"/>
                <a:ea typeface="楷体-简" panose="02010600040101010101" pitchFamily="2" charset="-122"/>
              </a:rPr>
              <a:t>强制转换会舍去小数部分（不是四舍五入）</a:t>
            </a:r>
          </a:p>
          <a:p>
            <a:pPr eaLnBrk="1" hangingPunct="1">
              <a:lnSpc>
                <a:spcPct val="80000"/>
              </a:lnSpc>
              <a:buFontTx/>
              <a:buNone/>
            </a:pPr>
            <a:r>
              <a:rPr lang="zh-CN" altLang="en-US" sz="2400" b="1" baseline="0" dirty="0">
                <a:latin typeface="Times New Roman" panose="02020603050405020304" pitchFamily="18" charset="0"/>
                <a:ea typeface="楷体-简" panose="02010600040101010101" pitchFamily="2" charset="-122"/>
              </a:rPr>
              <a:t>       </a:t>
            </a:r>
            <a:r>
              <a:rPr lang="en-US" altLang="zh-CN" sz="2400" b="1" baseline="0" dirty="0" err="1">
                <a:solidFill>
                  <a:srgbClr val="FF0066"/>
                </a:solidFill>
                <a:latin typeface="Times New Roman" panose="02020603050405020304" pitchFamily="18" charset="0"/>
                <a:ea typeface="楷体-简" panose="02010600040101010101" pitchFamily="2" charset="-122"/>
              </a:rPr>
              <a:t>System</a:t>
            </a:r>
            <a:r>
              <a:rPr lang="en-US" altLang="zh-CN" sz="2400" b="1" baseline="0" dirty="0" err="1">
                <a:latin typeface="Times New Roman" panose="02020603050405020304" pitchFamily="18" charset="0"/>
                <a:ea typeface="楷体-简" panose="02010600040101010101" pitchFamily="2" charset="-122"/>
              </a:rPr>
              <a:t>.out.println</a:t>
            </a:r>
            <a:r>
              <a:rPr lang="en-US" altLang="zh-CN" sz="2400" b="1" baseline="0" dirty="0">
                <a:latin typeface="Times New Roman" panose="02020603050405020304" pitchFamily="18" charset="0"/>
                <a:ea typeface="楷体-简" panose="02010600040101010101" pitchFamily="2" charset="-122"/>
              </a:rPr>
              <a:t>(l);  //30000001024</a:t>
            </a:r>
          </a:p>
          <a:p>
            <a:pPr eaLnBrk="1" hangingPunct="1">
              <a:lnSpc>
                <a:spcPct val="80000"/>
              </a:lnSpc>
              <a:buFontTx/>
              <a:buNone/>
            </a:pPr>
            <a:r>
              <a:rPr lang="en-US" altLang="zh-CN" sz="2400" b="1" baseline="0" dirty="0">
                <a:latin typeface="Times New Roman" panose="02020603050405020304" pitchFamily="18" charset="0"/>
                <a:ea typeface="楷体-简" panose="02010600040101010101" pitchFamily="2" charset="-122"/>
              </a:rPr>
              <a:t>    }</a:t>
            </a:r>
          </a:p>
          <a:p>
            <a:pPr eaLnBrk="1" hangingPunct="1">
              <a:lnSpc>
                <a:spcPct val="80000"/>
              </a:lnSpc>
              <a:buFontTx/>
              <a:buNone/>
            </a:pPr>
            <a:r>
              <a:rPr lang="en-US" altLang="zh-CN" sz="2400" b="1" baseline="0" dirty="0">
                <a:latin typeface="Times New Roman" panose="02020603050405020304" pitchFamily="18" charset="0"/>
                <a:ea typeface="楷体-简" panose="02010600040101010101" pitchFamily="2" charset="-122"/>
              </a:rPr>
              <a:t>}</a:t>
            </a:r>
          </a:p>
          <a:p>
            <a:pPr eaLnBrk="1" hangingPunct="1">
              <a:lnSpc>
                <a:spcPct val="80000"/>
              </a:lnSpc>
              <a:buFontTx/>
              <a:buNone/>
            </a:pPr>
            <a:endParaRPr lang="en-US" altLang="zh-CN" sz="2400" b="1" baseline="0" dirty="0">
              <a:latin typeface="Times New Roman" panose="02020603050405020304" pitchFamily="18" charset="0"/>
              <a:ea typeface="楷体-简" panose="02010600040101010101" pitchFamily="2"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D6D43F76-543A-42A4-8A29-013D254EAC2D}"/>
              </a:ext>
            </a:extLst>
          </p:cNvPr>
          <p:cNvSpPr>
            <a:spLocks noGrp="1" noChangeArrowheads="1"/>
          </p:cNvSpPr>
          <p:nvPr>
            <p:ph type="title"/>
          </p:nvPr>
        </p:nvSpPr>
        <p:spPr/>
        <p:txBody>
          <a:bodyPr/>
          <a:lstStyle/>
          <a:p>
            <a:pPr eaLnBrk="1" hangingPunct="1"/>
            <a:r>
              <a:rPr lang="en-US" altLang="zh-CN" sz="3600" baseline="0" dirty="0">
                <a:solidFill>
                  <a:srgbClr val="FF0066"/>
                </a:solidFill>
                <a:latin typeface="Times New Roman" panose="02020603050405020304" pitchFamily="18" charset="0"/>
                <a:ea typeface="楷体-简" panose="02010600040101010101" pitchFamily="2" charset="-122"/>
              </a:rPr>
              <a:t>2.6 </a:t>
            </a:r>
            <a:r>
              <a:rPr lang="zh-CN" altLang="en-US" sz="3600" baseline="0" dirty="0">
                <a:solidFill>
                  <a:srgbClr val="FF0066"/>
                </a:solidFill>
                <a:latin typeface="Times New Roman" panose="02020603050405020304" pitchFamily="18" charset="0"/>
                <a:ea typeface="楷体-简" panose="02010600040101010101" pitchFamily="2" charset="-122"/>
              </a:rPr>
              <a:t>运算符</a:t>
            </a:r>
          </a:p>
        </p:txBody>
      </p:sp>
      <p:sp>
        <p:nvSpPr>
          <p:cNvPr id="35843" name="Rectangle 3">
            <a:extLst>
              <a:ext uri="{FF2B5EF4-FFF2-40B4-BE49-F238E27FC236}">
                <a16:creationId xmlns:a16="http://schemas.microsoft.com/office/drawing/2014/main" id="{B573829F-4B51-47F0-AA7E-4258A686CBF7}"/>
              </a:ext>
            </a:extLst>
          </p:cNvPr>
          <p:cNvSpPr>
            <a:spLocks noGrp="1" noChangeArrowheads="1"/>
          </p:cNvSpPr>
          <p:nvPr>
            <p:ph type="body" idx="1"/>
          </p:nvPr>
        </p:nvSpPr>
        <p:spPr>
          <a:xfrm>
            <a:off x="0" y="1341438"/>
            <a:ext cx="8229600" cy="5516562"/>
          </a:xfrm>
        </p:spPr>
        <p:txBody>
          <a:bodyPr/>
          <a:lstStyle/>
          <a:p>
            <a:pPr lvl="1" eaLnBrk="1" hangingPunct="1">
              <a:lnSpc>
                <a:spcPct val="80000"/>
              </a:lnSpc>
              <a:buFont typeface="Wingdings" panose="05000000000000000000" pitchFamily="2" charset="2"/>
              <a:buChar char="Ø"/>
            </a:pPr>
            <a:r>
              <a:rPr lang="zh-CN" altLang="en-US" b="1" baseline="0">
                <a:latin typeface="Times New Roman" panose="02020603050405020304" pitchFamily="18" charset="0"/>
                <a:ea typeface="楷体-简" panose="02010600040101010101" pitchFamily="2" charset="-122"/>
              </a:rPr>
              <a:t>对各种类型的数据进行加工的过程成为运算，表示各种不同运算的符号称为</a:t>
            </a:r>
            <a:r>
              <a:rPr lang="zh-CN" altLang="en-US" b="1" baseline="0">
                <a:solidFill>
                  <a:srgbClr val="C00000"/>
                </a:solidFill>
                <a:latin typeface="Times New Roman" panose="02020603050405020304" pitchFamily="18" charset="0"/>
                <a:ea typeface="楷体-简" panose="02010600040101010101" pitchFamily="2" charset="-122"/>
              </a:rPr>
              <a:t>运算符</a:t>
            </a:r>
            <a:r>
              <a:rPr lang="zh-CN" altLang="en-US" b="1" baseline="0">
                <a:latin typeface="Times New Roman" panose="02020603050405020304" pitchFamily="18" charset="0"/>
                <a:ea typeface="楷体-简" panose="02010600040101010101" pitchFamily="2" charset="-122"/>
              </a:rPr>
              <a:t>，参与运算的数据称为操作数，按操作数的数目来分，可有：</a:t>
            </a:r>
            <a:br>
              <a:rPr lang="zh-CN" altLang="en-US" b="1" baseline="0">
                <a:latin typeface="Times New Roman" panose="02020603050405020304" pitchFamily="18" charset="0"/>
                <a:ea typeface="楷体-简" panose="02010600040101010101" pitchFamily="2" charset="-122"/>
              </a:rPr>
            </a:br>
            <a:r>
              <a:rPr lang="zh-CN" altLang="en-US" b="1" baseline="0">
                <a:latin typeface="Times New Roman" panose="02020603050405020304" pitchFamily="18" charset="0"/>
                <a:ea typeface="楷体-简" panose="02010600040101010101" pitchFamily="2" charset="-122"/>
              </a:rPr>
              <a:t>　　</a:t>
            </a:r>
            <a:r>
              <a:rPr lang="zh-CN" altLang="en-US" baseline="0">
                <a:latin typeface="Times New Roman" panose="02020603050405020304" pitchFamily="18" charset="0"/>
                <a:ea typeface="楷体-简" panose="02010600040101010101" pitchFamily="2" charset="-122"/>
              </a:rPr>
              <a:t>◇ 一元运算符：＋＋，－－，＋，－</a:t>
            </a:r>
            <a:br>
              <a:rPr lang="zh-CN" altLang="en-US" baseline="0">
                <a:latin typeface="Times New Roman" panose="02020603050405020304" pitchFamily="18" charset="0"/>
                <a:ea typeface="楷体-简" panose="02010600040101010101" pitchFamily="2" charset="-122"/>
              </a:rPr>
            </a:br>
            <a:r>
              <a:rPr lang="zh-CN" altLang="en-US" baseline="0">
                <a:latin typeface="Times New Roman" panose="02020603050405020304" pitchFamily="18" charset="0"/>
                <a:ea typeface="楷体-简" panose="02010600040101010101" pitchFamily="2" charset="-122"/>
              </a:rPr>
              <a:t>　　◇ 二元运算符：＋，－，</a:t>
            </a:r>
            <a:r>
              <a:rPr lang="en-US" altLang="zh-CN" baseline="0">
                <a:latin typeface="Times New Roman" panose="02020603050405020304" pitchFamily="18" charset="0"/>
                <a:ea typeface="楷体-简" panose="02010600040101010101" pitchFamily="2" charset="-122"/>
              </a:rPr>
              <a:t>&gt;</a:t>
            </a:r>
            <a:br>
              <a:rPr lang="en-US" altLang="zh-CN" baseline="0">
                <a:latin typeface="Times New Roman" panose="02020603050405020304" pitchFamily="18" charset="0"/>
                <a:ea typeface="楷体-简" panose="02010600040101010101" pitchFamily="2" charset="-122"/>
              </a:rPr>
            </a:br>
            <a:r>
              <a:rPr lang="zh-CN" altLang="en-US" baseline="0">
                <a:latin typeface="Times New Roman" panose="02020603050405020304" pitchFamily="18" charset="0"/>
                <a:ea typeface="楷体-简" panose="02010600040101010101" pitchFamily="2" charset="-122"/>
              </a:rPr>
              <a:t>　　◇ 三元运算符：？：</a:t>
            </a:r>
            <a:br>
              <a:rPr lang="zh-CN" altLang="en-US" baseline="0">
                <a:latin typeface="Times New Roman" panose="02020603050405020304" pitchFamily="18" charset="0"/>
                <a:ea typeface="楷体-简" panose="02010600040101010101" pitchFamily="2" charset="-122"/>
              </a:rPr>
            </a:br>
            <a:br>
              <a:rPr lang="zh-CN" altLang="en-US" b="1" baseline="0">
                <a:latin typeface="Times New Roman" panose="02020603050405020304" pitchFamily="18" charset="0"/>
                <a:ea typeface="楷体-简" panose="02010600040101010101" pitchFamily="2" charset="-122"/>
              </a:rPr>
            </a:br>
            <a:r>
              <a:rPr lang="zh-CN" altLang="en-US" b="1" baseline="0">
                <a:latin typeface="Times New Roman" panose="02020603050405020304" pitchFamily="18" charset="0"/>
                <a:ea typeface="楷体-简" panose="02010600040101010101" pitchFamily="2" charset="-122"/>
              </a:rPr>
              <a:t>　　基本的运算符按功能划分，有下面几类：</a:t>
            </a:r>
          </a:p>
          <a:p>
            <a:pPr lvl="1" eaLnBrk="1" hangingPunct="1">
              <a:lnSpc>
                <a:spcPct val="80000"/>
              </a:lnSpc>
              <a:buFontTx/>
              <a:buNone/>
            </a:pPr>
            <a:r>
              <a:rPr lang="zh-CN" altLang="en-US" b="1" baseline="0">
                <a:latin typeface="Times New Roman" panose="02020603050405020304" pitchFamily="18" charset="0"/>
                <a:ea typeface="楷体-简" panose="02010600040101010101" pitchFamily="2" charset="-122"/>
              </a:rPr>
              <a:t>		     ◇</a:t>
            </a:r>
            <a:r>
              <a:rPr lang="zh-CN" altLang="en-US" baseline="0">
                <a:latin typeface="Times New Roman" panose="02020603050405020304" pitchFamily="18" charset="0"/>
                <a:ea typeface="楷体-简" panose="02010600040101010101" pitchFamily="2" charset="-122"/>
              </a:rPr>
              <a:t>赋值运算符</a:t>
            </a:r>
            <a:br>
              <a:rPr lang="zh-CN" altLang="en-US" b="1" baseline="0">
                <a:latin typeface="Times New Roman" panose="02020603050405020304" pitchFamily="18" charset="0"/>
                <a:ea typeface="楷体-简" panose="02010600040101010101" pitchFamily="2" charset="-122"/>
              </a:rPr>
            </a:br>
            <a:r>
              <a:rPr lang="zh-CN" altLang="en-US" b="1" baseline="0">
                <a:latin typeface="Times New Roman" panose="02020603050405020304" pitchFamily="18" charset="0"/>
                <a:ea typeface="楷体-简" panose="02010600040101010101" pitchFamily="2" charset="-122"/>
              </a:rPr>
              <a:t>       ◇</a:t>
            </a:r>
            <a:r>
              <a:rPr lang="zh-CN" altLang="en-US" baseline="0">
                <a:latin typeface="Times New Roman" panose="02020603050405020304" pitchFamily="18" charset="0"/>
                <a:ea typeface="楷体-简" panose="02010600040101010101" pitchFamily="2" charset="-122"/>
              </a:rPr>
              <a:t>算术运算符</a:t>
            </a:r>
            <a:endParaRPr lang="zh-CN" altLang="en-US" b="1" baseline="0">
              <a:latin typeface="Times New Roman" panose="02020603050405020304" pitchFamily="18" charset="0"/>
              <a:ea typeface="楷体-简" panose="02010600040101010101" pitchFamily="2" charset="-122"/>
            </a:endParaRPr>
          </a:p>
          <a:p>
            <a:pPr lvl="1" eaLnBrk="1" hangingPunct="1">
              <a:lnSpc>
                <a:spcPct val="80000"/>
              </a:lnSpc>
              <a:buFontTx/>
              <a:buNone/>
            </a:pPr>
            <a:r>
              <a:rPr lang="zh-CN" altLang="en-US" b="1" baseline="0">
                <a:latin typeface="Times New Roman" panose="02020603050405020304" pitchFamily="18" charset="0"/>
                <a:ea typeface="楷体-简" panose="02010600040101010101" pitchFamily="2" charset="-122"/>
              </a:rPr>
              <a:t>		     ◇</a:t>
            </a:r>
            <a:r>
              <a:rPr lang="zh-CN" altLang="en-US" baseline="0">
                <a:latin typeface="Times New Roman" panose="02020603050405020304" pitchFamily="18" charset="0"/>
                <a:ea typeface="楷体-简" panose="02010600040101010101" pitchFamily="2" charset="-122"/>
              </a:rPr>
              <a:t>关系运算符</a:t>
            </a:r>
            <a:endParaRPr lang="zh-CN" altLang="en-US" b="1" baseline="0">
              <a:latin typeface="Times New Roman" panose="02020603050405020304" pitchFamily="18" charset="0"/>
              <a:ea typeface="楷体-简" panose="02010600040101010101" pitchFamily="2" charset="-122"/>
            </a:endParaRPr>
          </a:p>
          <a:p>
            <a:pPr lvl="1" eaLnBrk="1" hangingPunct="1">
              <a:lnSpc>
                <a:spcPct val="80000"/>
              </a:lnSpc>
              <a:buFontTx/>
              <a:buNone/>
            </a:pPr>
            <a:r>
              <a:rPr lang="zh-CN" altLang="en-US" b="1" baseline="0">
                <a:latin typeface="Times New Roman" panose="02020603050405020304" pitchFamily="18" charset="0"/>
                <a:ea typeface="楷体-简" panose="02010600040101010101" pitchFamily="2" charset="-122"/>
              </a:rPr>
              <a:t>          ◇</a:t>
            </a:r>
            <a:r>
              <a:rPr lang="zh-CN" altLang="en-US" baseline="0">
                <a:latin typeface="Times New Roman" panose="02020603050405020304" pitchFamily="18" charset="0"/>
                <a:ea typeface="楷体-简" panose="02010600040101010101" pitchFamily="2" charset="-122"/>
              </a:rPr>
              <a:t>逻辑运算符</a:t>
            </a:r>
            <a:endParaRPr lang="zh-CN" altLang="en-US" b="1" baseline="0">
              <a:latin typeface="Times New Roman" panose="02020603050405020304" pitchFamily="18" charset="0"/>
              <a:ea typeface="楷体-简" panose="02010600040101010101" pitchFamily="2" charset="-122"/>
            </a:endParaRPr>
          </a:p>
          <a:p>
            <a:pPr lvl="1" eaLnBrk="1" hangingPunct="1">
              <a:lnSpc>
                <a:spcPct val="80000"/>
              </a:lnSpc>
              <a:buFontTx/>
              <a:buNone/>
            </a:pPr>
            <a:r>
              <a:rPr lang="zh-CN" altLang="en-US" b="1" baseline="0">
                <a:latin typeface="Times New Roman" panose="02020603050405020304" pitchFamily="18" charset="0"/>
                <a:ea typeface="楷体-简" panose="02010600040101010101" pitchFamily="2" charset="-122"/>
              </a:rPr>
              <a:t>	       ◇</a:t>
            </a:r>
            <a:r>
              <a:rPr lang="zh-CN" altLang="en-US" baseline="0">
                <a:latin typeface="Times New Roman" panose="02020603050405020304" pitchFamily="18" charset="0"/>
                <a:ea typeface="楷体-简" panose="02010600040101010101" pitchFamily="2" charset="-122"/>
              </a:rPr>
              <a:t>位运算符</a:t>
            </a:r>
          </a:p>
          <a:p>
            <a:pPr lvl="1" eaLnBrk="1" hangingPunct="1">
              <a:lnSpc>
                <a:spcPct val="80000"/>
              </a:lnSpc>
              <a:buFontTx/>
              <a:buNone/>
            </a:pPr>
            <a:br>
              <a:rPr lang="zh-CN" altLang="en-US" b="1" baseline="0">
                <a:latin typeface="Times New Roman" panose="02020603050405020304" pitchFamily="18" charset="0"/>
                <a:ea typeface="楷体-简" panose="02010600040101010101" pitchFamily="2" charset="-122"/>
              </a:rPr>
            </a:br>
            <a:endParaRPr lang="zh-CN" altLang="en-US" b="1" baseline="0">
              <a:latin typeface="Times New Roman" panose="02020603050405020304" pitchFamily="18" charset="0"/>
              <a:ea typeface="楷体-简" panose="02010600040101010101" pitchFamily="2" charset="-122"/>
            </a:endParaRPr>
          </a:p>
          <a:p>
            <a:pPr lvl="1" eaLnBrk="1" hangingPunct="1">
              <a:lnSpc>
                <a:spcPct val="80000"/>
              </a:lnSpc>
              <a:buFontTx/>
              <a:buNone/>
            </a:pPr>
            <a:r>
              <a:rPr lang="zh-CN" altLang="en-US" b="1" baseline="0">
                <a:latin typeface="Times New Roman" panose="02020603050405020304" pitchFamily="18" charset="0"/>
                <a:ea typeface="楷体-简" panose="02010600040101010101" pitchFamily="2" charset="-122"/>
              </a:rPr>
              <a:t>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4EFCF727-D35C-4427-ACBF-C911C8D63FA6}"/>
              </a:ext>
            </a:extLst>
          </p:cNvPr>
          <p:cNvSpPr>
            <a:spLocks noGrp="1" noChangeArrowheads="1"/>
          </p:cNvSpPr>
          <p:nvPr>
            <p:ph type="title"/>
          </p:nvPr>
        </p:nvSpPr>
        <p:spPr>
          <a:xfrm>
            <a:off x="611188" y="620713"/>
            <a:ext cx="7772400" cy="792162"/>
          </a:xfrm>
        </p:spPr>
        <p:txBody>
          <a:bodyPr/>
          <a:lstStyle/>
          <a:p>
            <a:pPr eaLnBrk="1" hangingPunct="1"/>
            <a:r>
              <a:rPr lang="zh-CN" altLang="en-US" sz="3600" baseline="0">
                <a:solidFill>
                  <a:srgbClr val="FF0066"/>
                </a:solidFill>
                <a:latin typeface="Times New Roman" panose="02020603050405020304" pitchFamily="18" charset="0"/>
                <a:ea typeface="楷体-简" panose="02010600040101010101" pitchFamily="2" charset="-122"/>
              </a:rPr>
              <a:t>算术运算符</a:t>
            </a:r>
          </a:p>
        </p:txBody>
      </p:sp>
      <p:pic>
        <p:nvPicPr>
          <p:cNvPr id="37891" name="Picture 4">
            <a:extLst>
              <a:ext uri="{FF2B5EF4-FFF2-40B4-BE49-F238E27FC236}">
                <a16:creationId xmlns:a16="http://schemas.microsoft.com/office/drawing/2014/main" id="{0A331ABB-7C86-4075-A421-0E16B2CE074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9F2C9090-0436-452E-97BD-F0667196B6FE}"/>
              </a:ext>
            </a:extLst>
          </p:cNvPr>
          <p:cNvSpPr>
            <a:spLocks noGrp="1" noChangeArrowheads="1"/>
          </p:cNvSpPr>
          <p:nvPr>
            <p:ph type="title"/>
          </p:nvPr>
        </p:nvSpPr>
        <p:spPr/>
        <p:txBody>
          <a:bodyPr/>
          <a:lstStyle/>
          <a:p>
            <a:pPr eaLnBrk="1" hangingPunct="1"/>
            <a:r>
              <a:rPr lang="zh-CN" altLang="en-US" sz="3600" baseline="0">
                <a:solidFill>
                  <a:srgbClr val="FF0066"/>
                </a:solidFill>
                <a:latin typeface="Times New Roman" panose="02020603050405020304" pitchFamily="18" charset="0"/>
                <a:ea typeface="楷体-简" panose="02010600040101010101" pitchFamily="2" charset="-122"/>
              </a:rPr>
              <a:t>算术运算符的注意问题</a:t>
            </a:r>
          </a:p>
        </p:txBody>
      </p:sp>
      <p:sp>
        <p:nvSpPr>
          <p:cNvPr id="435203" name="Rectangle 3">
            <a:extLst>
              <a:ext uri="{FF2B5EF4-FFF2-40B4-BE49-F238E27FC236}">
                <a16:creationId xmlns:a16="http://schemas.microsoft.com/office/drawing/2014/main" id="{9E9EAA60-BD1B-4CFF-B78A-FCCB2112D462}"/>
              </a:ext>
            </a:extLst>
          </p:cNvPr>
          <p:cNvSpPr>
            <a:spLocks noGrp="1" noChangeArrowheads="1"/>
          </p:cNvSpPr>
          <p:nvPr>
            <p:ph type="body" idx="1"/>
          </p:nvPr>
        </p:nvSpPr>
        <p:spPr>
          <a:xfrm>
            <a:off x="457200" y="1412875"/>
            <a:ext cx="8229600" cy="4713288"/>
          </a:xfrm>
        </p:spPr>
        <p:txBody>
          <a:bodyPr/>
          <a:lstStyle/>
          <a:p>
            <a:pPr eaLnBrk="1" hangingPunct="1">
              <a:lnSpc>
                <a:spcPct val="90000"/>
              </a:lnSpc>
              <a:defRPr/>
            </a:pPr>
            <a:r>
              <a:rPr lang="en-US" altLang="zh-CN" sz="2400" b="1" baseline="0" dirty="0">
                <a:latin typeface="Times New Roman" panose="02020603050405020304" pitchFamily="18" charset="0"/>
                <a:ea typeface="楷体-简" panose="02010600040101010101" pitchFamily="2" charset="-122"/>
              </a:rPr>
              <a:t>“+”</a:t>
            </a:r>
            <a:r>
              <a:rPr lang="zh-CN" altLang="en-US" sz="2400" b="1" baseline="0" dirty="0">
                <a:latin typeface="Times New Roman" panose="02020603050405020304" pitchFamily="18" charset="0"/>
                <a:ea typeface="楷体-简" panose="02010600040101010101" pitchFamily="2" charset="-122"/>
              </a:rPr>
              <a:t>除字符串相加功能外，</a:t>
            </a:r>
            <a:r>
              <a:rPr lang="zh-CN" altLang="en-US" sz="2400" b="1" baseline="0" dirty="0">
                <a:solidFill>
                  <a:srgbClr val="0000CC"/>
                </a:solidFill>
                <a:latin typeface="Times New Roman" panose="02020603050405020304" pitchFamily="18" charset="0"/>
                <a:ea typeface="楷体-简" panose="02010600040101010101" pitchFamily="2" charset="-122"/>
              </a:rPr>
              <a:t>还能把非字符串转换成字符串</a:t>
            </a:r>
            <a:r>
              <a:rPr lang="zh-CN" altLang="en-US" sz="2400" b="1" baseline="0" dirty="0">
                <a:latin typeface="Times New Roman" panose="02020603050405020304" pitchFamily="18" charset="0"/>
                <a:ea typeface="楷体-简" panose="02010600040101010101" pitchFamily="2" charset="-122"/>
              </a:rPr>
              <a:t>；当进行打印时无论何种类型，一律转为字符串进行；如：     </a:t>
            </a:r>
            <a:endParaRPr lang="en-US" altLang="zh-CN" sz="2400" b="1" baseline="0" dirty="0">
              <a:latin typeface="Times New Roman" panose="02020603050405020304" pitchFamily="18" charset="0"/>
              <a:ea typeface="楷体-简" panose="02010600040101010101" pitchFamily="2" charset="-122"/>
            </a:endParaRPr>
          </a:p>
          <a:p>
            <a:pPr marL="0" indent="0" eaLnBrk="1" hangingPunct="1">
              <a:lnSpc>
                <a:spcPct val="90000"/>
              </a:lnSpc>
              <a:buFontTx/>
              <a:buNone/>
              <a:defRPr/>
            </a:pPr>
            <a:r>
              <a:rPr lang="en-US" altLang="zh-CN" sz="2400" b="1" baseline="0" dirty="0">
                <a:latin typeface="Times New Roman" panose="02020603050405020304" pitchFamily="18" charset="0"/>
                <a:ea typeface="楷体-简" panose="02010600040101010101" pitchFamily="2" charset="-122"/>
              </a:rPr>
              <a:t>          </a:t>
            </a:r>
            <a:r>
              <a:rPr lang="zh-CN" altLang="en-US" sz="2400" b="1" baseline="0" dirty="0">
                <a:latin typeface="Times New Roman" panose="02020603050405020304" pitchFamily="18" charset="0"/>
                <a:ea typeface="楷体-简" panose="02010600040101010101" pitchFamily="2" charset="-122"/>
              </a:rPr>
              <a:t>“</a:t>
            </a:r>
            <a:r>
              <a:rPr lang="en-US" altLang="zh-CN" sz="2400" b="1" baseline="0" dirty="0">
                <a:latin typeface="Times New Roman" panose="02020603050405020304" pitchFamily="18" charset="0"/>
                <a:ea typeface="楷体-简" panose="02010600040101010101" pitchFamily="2" charset="-122"/>
              </a:rPr>
              <a:t>x”+123;</a:t>
            </a:r>
            <a:r>
              <a:rPr lang="zh-CN" altLang="en-US" sz="2400" b="1" baseline="0" dirty="0">
                <a:latin typeface="Times New Roman" panose="02020603050405020304" pitchFamily="18" charset="0"/>
                <a:ea typeface="楷体-简" panose="02010600040101010101" pitchFamily="2" charset="-122"/>
              </a:rPr>
              <a:t>的结果是“</a:t>
            </a:r>
            <a:r>
              <a:rPr lang="en-US" altLang="zh-CN" sz="2400" b="1" baseline="0" dirty="0">
                <a:latin typeface="Times New Roman" panose="02020603050405020304" pitchFamily="18" charset="0"/>
                <a:ea typeface="楷体-简" panose="02010600040101010101" pitchFamily="2" charset="-122"/>
              </a:rPr>
              <a:t>x123” </a:t>
            </a:r>
            <a:r>
              <a:rPr lang="zh-CN" altLang="en-US" sz="2400" b="1" baseline="0" dirty="0">
                <a:latin typeface="Times New Roman" panose="02020603050405020304" pitchFamily="18" charset="0"/>
                <a:ea typeface="楷体-简" panose="02010600040101010101" pitchFamily="2" charset="-122"/>
              </a:rPr>
              <a:t>；</a:t>
            </a:r>
          </a:p>
          <a:p>
            <a:pPr eaLnBrk="1" hangingPunct="1">
              <a:lnSpc>
                <a:spcPct val="90000"/>
              </a:lnSpc>
              <a:buFontTx/>
              <a:buNone/>
              <a:defRPr/>
            </a:pPr>
            <a:r>
              <a:rPr lang="zh-CN" altLang="en-US" sz="2400" b="1" baseline="0" dirty="0">
                <a:latin typeface="Times New Roman" panose="02020603050405020304" pitchFamily="18" charset="0"/>
                <a:ea typeface="楷体-简" panose="02010600040101010101" pitchFamily="2" charset="-122"/>
              </a:rPr>
              <a:t>		 </a:t>
            </a:r>
            <a:r>
              <a:rPr lang="en-US" altLang="zh-CN" sz="2400" b="1" baseline="0" dirty="0" err="1">
                <a:latin typeface="Times New Roman" panose="02020603050405020304" pitchFamily="18" charset="0"/>
                <a:ea typeface="楷体-简" panose="02010600040101010101" pitchFamily="2" charset="-122"/>
              </a:rPr>
              <a:t>int</a:t>
            </a:r>
            <a:r>
              <a:rPr lang="en-US" altLang="zh-CN" sz="2400" b="1" baseline="0" dirty="0">
                <a:latin typeface="Times New Roman" panose="02020603050405020304" pitchFamily="18" charset="0"/>
                <a:ea typeface="楷体-简" panose="02010600040101010101" pitchFamily="2" charset="-122"/>
              </a:rPr>
              <a:t> c=1; </a:t>
            </a:r>
            <a:r>
              <a:rPr lang="en-US" altLang="zh-CN" sz="2400" b="1" baseline="0" dirty="0" err="1">
                <a:latin typeface="Times New Roman" panose="02020603050405020304" pitchFamily="18" charset="0"/>
                <a:ea typeface="楷体-简" panose="02010600040101010101" pitchFamily="2" charset="-122"/>
              </a:rPr>
              <a:t>System.out.println</a:t>
            </a:r>
            <a:r>
              <a:rPr lang="en-US" altLang="zh-CN" sz="2400" b="1" baseline="0" dirty="0">
                <a:latin typeface="Times New Roman" panose="02020603050405020304" pitchFamily="18" charset="0"/>
                <a:ea typeface="楷体-简" panose="02010600040101010101" pitchFamily="2" charset="-122"/>
              </a:rPr>
              <a:t>( c );</a:t>
            </a:r>
          </a:p>
          <a:p>
            <a:pPr eaLnBrk="1" hangingPunct="1">
              <a:lnSpc>
                <a:spcPct val="90000"/>
              </a:lnSpc>
              <a:buFontTx/>
              <a:buNone/>
              <a:defRPr/>
            </a:pPr>
            <a:endParaRPr lang="en-US" altLang="zh-CN" sz="2400" b="1" baseline="0" dirty="0">
              <a:latin typeface="Times New Roman" panose="02020603050405020304" pitchFamily="18" charset="0"/>
              <a:ea typeface="楷体-简" panose="02010600040101010101" pitchFamily="2" charset="-122"/>
            </a:endParaRPr>
          </a:p>
          <a:p>
            <a:pPr eaLnBrk="1" hangingPunct="1">
              <a:lnSpc>
                <a:spcPct val="90000"/>
              </a:lnSpc>
              <a:defRPr/>
            </a:pPr>
            <a:r>
              <a:rPr lang="zh-CN" altLang="en-US" sz="2400" b="1" baseline="0" dirty="0">
                <a:latin typeface="Times New Roman" panose="02020603050405020304" pitchFamily="18" charset="0"/>
                <a:ea typeface="楷体-简" panose="02010600040101010101" pitchFamily="2" charset="-122"/>
              </a:rPr>
              <a:t>如果对负数取模，可以把模数负号忽略不记，如：</a:t>
            </a:r>
            <a:endParaRPr lang="en-US" altLang="zh-CN" sz="2400" b="1" baseline="0" dirty="0">
              <a:latin typeface="Times New Roman" panose="02020603050405020304" pitchFamily="18" charset="0"/>
              <a:ea typeface="楷体-简" panose="02010600040101010101" pitchFamily="2" charset="-122"/>
            </a:endParaRPr>
          </a:p>
          <a:p>
            <a:pPr marL="0" indent="0" eaLnBrk="1" hangingPunct="1">
              <a:lnSpc>
                <a:spcPct val="90000"/>
              </a:lnSpc>
              <a:buFontTx/>
              <a:buNone/>
              <a:defRPr/>
            </a:pPr>
            <a:r>
              <a:rPr lang="en-US" altLang="zh-CN" sz="2400" b="1" baseline="0" dirty="0">
                <a:latin typeface="Times New Roman" panose="02020603050405020304" pitchFamily="18" charset="0"/>
                <a:ea typeface="楷体-简" panose="02010600040101010101" pitchFamily="2" charset="-122"/>
              </a:rPr>
              <a:t>            5%-2 = 1</a:t>
            </a:r>
            <a:r>
              <a:rPr lang="zh-CN" altLang="en-US" sz="2400" b="1" baseline="0" dirty="0">
                <a:latin typeface="Times New Roman" panose="02020603050405020304" pitchFamily="18" charset="0"/>
                <a:ea typeface="楷体-简" panose="02010600040101010101" pitchFamily="2" charset="-122"/>
              </a:rPr>
              <a:t>。但被模数是负数就另当别论了。</a:t>
            </a:r>
          </a:p>
          <a:p>
            <a:pPr eaLnBrk="1" hangingPunct="1">
              <a:lnSpc>
                <a:spcPct val="90000"/>
              </a:lnSpc>
              <a:buFontTx/>
              <a:buNone/>
              <a:defRPr/>
            </a:pPr>
            <a:r>
              <a:rPr lang="zh-CN" altLang="en-US" sz="2400" b="1" baseline="0" dirty="0">
                <a:latin typeface="Times New Roman" panose="02020603050405020304" pitchFamily="18" charset="0"/>
                <a:ea typeface="楷体-简" panose="02010600040101010101" pitchFamily="2" charset="-122"/>
              </a:rPr>
              <a:t>            </a:t>
            </a:r>
            <a:r>
              <a:rPr lang="en-US" altLang="zh-CN" sz="2400" b="1" baseline="0" dirty="0">
                <a:latin typeface="Times New Roman" panose="02020603050405020304" pitchFamily="18" charset="0"/>
                <a:ea typeface="楷体-简" panose="02010600040101010101" pitchFamily="2" charset="-122"/>
              </a:rPr>
              <a:t>-5%2 = -1 </a:t>
            </a:r>
          </a:p>
          <a:p>
            <a:pPr eaLnBrk="1" hangingPunct="1">
              <a:lnSpc>
                <a:spcPct val="90000"/>
              </a:lnSpc>
              <a:buFontTx/>
              <a:buNone/>
              <a:defRPr/>
            </a:pPr>
            <a:endParaRPr lang="en-US" altLang="zh-CN" sz="2400" b="1" baseline="0" dirty="0">
              <a:latin typeface="Times New Roman" panose="02020603050405020304" pitchFamily="18" charset="0"/>
              <a:ea typeface="楷体-简" panose="02010600040101010101" pitchFamily="2" charset="-122"/>
            </a:endParaRPr>
          </a:p>
          <a:p>
            <a:pPr eaLnBrk="1" hangingPunct="1">
              <a:lnSpc>
                <a:spcPct val="90000"/>
              </a:lnSpc>
              <a:defRPr/>
            </a:pPr>
            <a:r>
              <a:rPr lang="zh-CN" altLang="en-US" sz="2400" b="1" baseline="0" dirty="0">
                <a:latin typeface="Times New Roman" panose="02020603050405020304" pitchFamily="18" charset="0"/>
                <a:ea typeface="楷体-简" panose="02010600040101010101" pitchFamily="2" charset="-122"/>
              </a:rPr>
              <a:t>对于除号“</a:t>
            </a:r>
            <a:r>
              <a:rPr lang="en-US" altLang="zh-CN" sz="2400" b="1" baseline="0" dirty="0">
                <a:latin typeface="Times New Roman" panose="02020603050405020304" pitchFamily="18" charset="0"/>
                <a:ea typeface="楷体-简" panose="02010600040101010101" pitchFamily="2" charset="-122"/>
              </a:rPr>
              <a:t>/”</a:t>
            </a:r>
            <a:r>
              <a:rPr lang="zh-CN" altLang="en-US" sz="2400" b="1" baseline="0" dirty="0">
                <a:latin typeface="Times New Roman" panose="02020603050405020304" pitchFamily="18" charset="0"/>
                <a:ea typeface="楷体-简" panose="02010600040101010101" pitchFamily="2" charset="-122"/>
              </a:rPr>
              <a:t>，它的</a:t>
            </a:r>
            <a:r>
              <a:rPr lang="zh-CN" altLang="en-US" sz="2400" b="1" baseline="0" dirty="0">
                <a:solidFill>
                  <a:srgbClr val="0000CC"/>
                </a:solidFill>
                <a:latin typeface="Times New Roman" panose="02020603050405020304" pitchFamily="18" charset="0"/>
                <a:ea typeface="楷体-简" panose="02010600040101010101" pitchFamily="2" charset="-122"/>
              </a:rPr>
              <a:t>整数除和小数除是有区别的</a:t>
            </a:r>
            <a:r>
              <a:rPr lang="zh-CN" altLang="en-US" sz="2400" b="1" baseline="0" dirty="0">
                <a:latin typeface="Times New Roman" panose="02020603050405020304" pitchFamily="18" charset="0"/>
                <a:ea typeface="楷体-简" panose="02010600040101010101" pitchFamily="2" charset="-122"/>
              </a:rPr>
              <a:t>：整数之间做除法时，只保留整数部分而舍弃小数部分。</a:t>
            </a:r>
            <a:endParaRPr lang="en-US" altLang="zh-CN" sz="2400" b="1" baseline="0" dirty="0">
              <a:latin typeface="Times New Roman" panose="02020603050405020304" pitchFamily="18" charset="0"/>
              <a:ea typeface="楷体-简" panose="02010600040101010101" pitchFamily="2" charset="-122"/>
            </a:endParaRPr>
          </a:p>
          <a:p>
            <a:pPr eaLnBrk="1" hangingPunct="1">
              <a:lnSpc>
                <a:spcPct val="90000"/>
              </a:lnSpc>
              <a:defRPr/>
            </a:pPr>
            <a:r>
              <a:rPr lang="zh-CN" altLang="en-US" sz="800" b="1" baseline="0" dirty="0">
                <a:latin typeface="Times New Roman" panose="02020603050405020304" pitchFamily="18" charset="0"/>
                <a:ea typeface="楷体-简" panose="02010600040101010101" pitchFamily="2" charset="-122"/>
              </a:rPr>
              <a:t> </a:t>
            </a:r>
            <a:endParaRPr lang="en-US" altLang="zh-CN" sz="800" b="1" baseline="0" dirty="0">
              <a:latin typeface="Times New Roman" panose="02020603050405020304" pitchFamily="18" charset="0"/>
              <a:ea typeface="楷体-简" panose="02010600040101010101" pitchFamily="2" charset="-122"/>
            </a:endParaRPr>
          </a:p>
          <a:p>
            <a:pPr marL="400050" lvl="1" indent="0" eaLnBrk="1" hangingPunct="1">
              <a:lnSpc>
                <a:spcPct val="90000"/>
              </a:lnSpc>
              <a:buNone/>
              <a:defRPr/>
            </a:pPr>
            <a:r>
              <a:rPr lang="zh-CN" altLang="en-US" sz="2000" b="1" baseline="0" dirty="0">
                <a:latin typeface="Times New Roman" panose="02020603050405020304" pitchFamily="18" charset="0"/>
                <a:ea typeface="楷体-简" panose="02010600040101010101" pitchFamily="2" charset="-122"/>
              </a:rPr>
              <a:t>例如：</a:t>
            </a:r>
            <a:r>
              <a:rPr lang="en-US" altLang="zh-CN" sz="2000" b="1" baseline="0" dirty="0">
                <a:latin typeface="Times New Roman" panose="02020603050405020304" pitchFamily="18" charset="0"/>
                <a:ea typeface="楷体-简" panose="02010600040101010101" pitchFamily="2" charset="-122"/>
              </a:rPr>
              <a:t>int x=3510; x=x/1000*1000; </a:t>
            </a:r>
            <a:r>
              <a:rPr lang="zh-CN" altLang="en-US" sz="2000" b="1" baseline="0" dirty="0">
                <a:latin typeface="Times New Roman" panose="02020603050405020304" pitchFamily="18" charset="0"/>
                <a:ea typeface="楷体-简" panose="02010600040101010101" pitchFamily="2" charset="-122"/>
              </a:rPr>
              <a:t>实际运行结果是</a:t>
            </a:r>
            <a:r>
              <a:rPr lang="en-US" altLang="zh-CN" sz="2000" b="1" baseline="0" dirty="0">
                <a:latin typeface="Times New Roman" panose="02020603050405020304" pitchFamily="18" charset="0"/>
                <a:ea typeface="楷体-简" panose="02010600040101010101" pitchFamily="2" charset="-122"/>
              </a:rPr>
              <a:t>3000</a:t>
            </a:r>
            <a:r>
              <a:rPr lang="zh-CN" altLang="en-US" sz="2000" b="1" baseline="0" dirty="0">
                <a:latin typeface="Times New Roman" panose="02020603050405020304" pitchFamily="18" charset="0"/>
                <a:ea typeface="楷体-简" panose="02010600040101010101" pitchFamily="2" charset="-122"/>
              </a:rPr>
              <a:t>，想想为什么？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435203">
                                            <p:txEl>
                                              <p:pRg st="0" end="0"/>
                                            </p:txEl>
                                          </p:spTgt>
                                        </p:tgtEl>
                                        <p:attrNameLst>
                                          <p:attrName>style.visibility</p:attrName>
                                        </p:attrNameLst>
                                      </p:cBhvr>
                                      <p:to>
                                        <p:strVal val="visible"/>
                                      </p:to>
                                    </p:set>
                                    <p:anim calcmode="lin" valueType="num">
                                      <p:cBhvr additive="base">
                                        <p:cTn id="7" dur="500" fill="hold"/>
                                        <p:tgtEl>
                                          <p:spTgt spid="43520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3520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435203">
                                            <p:txEl>
                                              <p:pRg st="1" end="1"/>
                                            </p:txEl>
                                          </p:spTgt>
                                        </p:tgtEl>
                                        <p:attrNameLst>
                                          <p:attrName>style.visibility</p:attrName>
                                        </p:attrNameLst>
                                      </p:cBhvr>
                                      <p:to>
                                        <p:strVal val="visible"/>
                                      </p:to>
                                    </p:set>
                                    <p:anim calcmode="lin" valueType="num">
                                      <p:cBhvr additive="base">
                                        <p:cTn id="13" dur="500" fill="hold"/>
                                        <p:tgtEl>
                                          <p:spTgt spid="43520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3520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435203">
                                            <p:txEl>
                                              <p:pRg st="4" end="4"/>
                                            </p:txEl>
                                          </p:spTgt>
                                        </p:tgtEl>
                                        <p:attrNameLst>
                                          <p:attrName>style.visibility</p:attrName>
                                        </p:attrNameLst>
                                      </p:cBhvr>
                                      <p:to>
                                        <p:strVal val="visible"/>
                                      </p:to>
                                    </p:set>
                                    <p:anim calcmode="lin" valueType="num">
                                      <p:cBhvr additive="base">
                                        <p:cTn id="19" dur="500" fill="hold"/>
                                        <p:tgtEl>
                                          <p:spTgt spid="43520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3520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435203">
                                            <p:txEl>
                                              <p:pRg st="5" end="5"/>
                                            </p:txEl>
                                          </p:spTgt>
                                        </p:tgtEl>
                                        <p:attrNameLst>
                                          <p:attrName>style.visibility</p:attrName>
                                        </p:attrNameLst>
                                      </p:cBhvr>
                                      <p:to>
                                        <p:strVal val="visible"/>
                                      </p:to>
                                    </p:set>
                                    <p:anim calcmode="lin" valueType="num">
                                      <p:cBhvr additive="base">
                                        <p:cTn id="25" dur="500" fill="hold"/>
                                        <p:tgtEl>
                                          <p:spTgt spid="43520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35203">
                                            <p:txEl>
                                              <p:pRg st="5" end="5"/>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435203">
                                            <p:txEl>
                                              <p:pRg st="6" end="6"/>
                                            </p:txEl>
                                          </p:spTgt>
                                        </p:tgtEl>
                                        <p:attrNameLst>
                                          <p:attrName>style.visibility</p:attrName>
                                        </p:attrNameLst>
                                      </p:cBhvr>
                                      <p:to>
                                        <p:strVal val="visible"/>
                                      </p:to>
                                    </p:set>
                                    <p:anim calcmode="lin" valueType="num">
                                      <p:cBhvr additive="base">
                                        <p:cTn id="29" dur="500" fill="hold"/>
                                        <p:tgtEl>
                                          <p:spTgt spid="435203">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3520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2" fill="hold" nodeType="clickEffect">
                                  <p:stCondLst>
                                    <p:cond delay="0"/>
                                  </p:stCondLst>
                                  <p:childTnLst>
                                    <p:set>
                                      <p:cBhvr>
                                        <p:cTn id="34" dur="1" fill="hold">
                                          <p:stCondLst>
                                            <p:cond delay="0"/>
                                          </p:stCondLst>
                                        </p:cTn>
                                        <p:tgtEl>
                                          <p:spTgt spid="435203">
                                            <p:txEl>
                                              <p:pRg st="8" end="8"/>
                                            </p:txEl>
                                          </p:spTgt>
                                        </p:tgtEl>
                                        <p:attrNameLst>
                                          <p:attrName>style.visibility</p:attrName>
                                        </p:attrNameLst>
                                      </p:cBhvr>
                                      <p:to>
                                        <p:strVal val="visible"/>
                                      </p:to>
                                    </p:set>
                                    <p:anim calcmode="lin" valueType="num">
                                      <p:cBhvr additive="base">
                                        <p:cTn id="35" dur="500" fill="hold"/>
                                        <p:tgtEl>
                                          <p:spTgt spid="435203">
                                            <p:txEl>
                                              <p:pRg st="8" end="8"/>
                                            </p:txEl>
                                          </p:spTgt>
                                        </p:tgtEl>
                                        <p:attrNameLst>
                                          <p:attrName>ppt_x</p:attrName>
                                        </p:attrNameLst>
                                      </p:cBhvr>
                                      <p:tavLst>
                                        <p:tav tm="0">
                                          <p:val>
                                            <p:strVal val="1+#ppt_w/2"/>
                                          </p:val>
                                        </p:tav>
                                        <p:tav tm="100000">
                                          <p:val>
                                            <p:strVal val="#ppt_x"/>
                                          </p:val>
                                        </p:tav>
                                      </p:tavLst>
                                    </p:anim>
                                    <p:anim calcmode="lin" valueType="num">
                                      <p:cBhvr additive="base">
                                        <p:cTn id="36" dur="500" fill="hold"/>
                                        <p:tgtEl>
                                          <p:spTgt spid="435203">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2" fill="hold" nodeType="clickEffect">
                                  <p:stCondLst>
                                    <p:cond delay="0"/>
                                  </p:stCondLst>
                                  <p:childTnLst>
                                    <p:set>
                                      <p:cBhvr>
                                        <p:cTn id="40" dur="1" fill="hold">
                                          <p:stCondLst>
                                            <p:cond delay="0"/>
                                          </p:stCondLst>
                                        </p:cTn>
                                        <p:tgtEl>
                                          <p:spTgt spid="435203">
                                            <p:txEl>
                                              <p:pRg st="9" end="9"/>
                                            </p:txEl>
                                          </p:spTgt>
                                        </p:tgtEl>
                                        <p:attrNameLst>
                                          <p:attrName>style.visibility</p:attrName>
                                        </p:attrNameLst>
                                      </p:cBhvr>
                                      <p:to>
                                        <p:strVal val="visible"/>
                                      </p:to>
                                    </p:set>
                                    <p:anim calcmode="lin" valueType="num">
                                      <p:cBhvr additive="base">
                                        <p:cTn id="41" dur="500" fill="hold"/>
                                        <p:tgtEl>
                                          <p:spTgt spid="435203">
                                            <p:txEl>
                                              <p:pRg st="9" end="9"/>
                                            </p:txEl>
                                          </p:spTgt>
                                        </p:tgtEl>
                                        <p:attrNameLst>
                                          <p:attrName>ppt_x</p:attrName>
                                        </p:attrNameLst>
                                      </p:cBhvr>
                                      <p:tavLst>
                                        <p:tav tm="0">
                                          <p:val>
                                            <p:strVal val="1+#ppt_w/2"/>
                                          </p:val>
                                        </p:tav>
                                        <p:tav tm="100000">
                                          <p:val>
                                            <p:strVal val="#ppt_x"/>
                                          </p:val>
                                        </p:tav>
                                      </p:tavLst>
                                    </p:anim>
                                    <p:anim calcmode="lin" valueType="num">
                                      <p:cBhvr additive="base">
                                        <p:cTn id="42" dur="500" fill="hold"/>
                                        <p:tgtEl>
                                          <p:spTgt spid="435203">
                                            <p:txEl>
                                              <p:pRg st="9" end="9"/>
                                            </p:txEl>
                                          </p:spTgt>
                                        </p:tgtEl>
                                        <p:attrNameLst>
                                          <p:attrName>ppt_y</p:attrName>
                                        </p:attrNameLst>
                                      </p:cBhvr>
                                      <p:tavLst>
                                        <p:tav tm="0">
                                          <p:val>
                                            <p:strVal val="#ppt_y"/>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2" fill="hold" nodeType="clickEffect">
                                  <p:stCondLst>
                                    <p:cond delay="0"/>
                                  </p:stCondLst>
                                  <p:childTnLst>
                                    <p:set>
                                      <p:cBhvr>
                                        <p:cTn id="46" dur="1" fill="hold">
                                          <p:stCondLst>
                                            <p:cond delay="0"/>
                                          </p:stCondLst>
                                        </p:cTn>
                                        <p:tgtEl>
                                          <p:spTgt spid="435203">
                                            <p:txEl>
                                              <p:pRg st="10" end="10"/>
                                            </p:txEl>
                                          </p:spTgt>
                                        </p:tgtEl>
                                        <p:attrNameLst>
                                          <p:attrName>style.visibility</p:attrName>
                                        </p:attrNameLst>
                                      </p:cBhvr>
                                      <p:to>
                                        <p:strVal val="visible"/>
                                      </p:to>
                                    </p:set>
                                    <p:anim calcmode="lin" valueType="num">
                                      <p:cBhvr additive="base">
                                        <p:cTn id="47" dur="500" fill="hold"/>
                                        <p:tgtEl>
                                          <p:spTgt spid="435203">
                                            <p:txEl>
                                              <p:pRg st="10" end="10"/>
                                            </p:txEl>
                                          </p:spTgt>
                                        </p:tgtEl>
                                        <p:attrNameLst>
                                          <p:attrName>ppt_x</p:attrName>
                                        </p:attrNameLst>
                                      </p:cBhvr>
                                      <p:tavLst>
                                        <p:tav tm="0">
                                          <p:val>
                                            <p:strVal val="1+#ppt_w/2"/>
                                          </p:val>
                                        </p:tav>
                                        <p:tav tm="100000">
                                          <p:val>
                                            <p:strVal val="#ppt_x"/>
                                          </p:val>
                                        </p:tav>
                                      </p:tavLst>
                                    </p:anim>
                                    <p:anim calcmode="lin" valueType="num">
                                      <p:cBhvr additive="base">
                                        <p:cTn id="48" dur="500" fill="hold"/>
                                        <p:tgtEl>
                                          <p:spTgt spid="435203">
                                            <p:txEl>
                                              <p:pRg st="10" end="1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6EE330E9-A465-4A2A-9992-4D36AC57B9BA}"/>
              </a:ext>
            </a:extLst>
          </p:cNvPr>
          <p:cNvSpPr>
            <a:spLocks noGrp="1" noChangeArrowheads="1"/>
          </p:cNvSpPr>
          <p:nvPr>
            <p:ph type="title"/>
          </p:nvPr>
        </p:nvSpPr>
        <p:spPr>
          <a:xfrm>
            <a:off x="457200" y="274638"/>
            <a:ext cx="8229600" cy="947737"/>
          </a:xfrm>
        </p:spPr>
        <p:txBody>
          <a:bodyPr/>
          <a:lstStyle/>
          <a:p>
            <a:pPr eaLnBrk="1" hangingPunct="1"/>
            <a:r>
              <a:rPr lang="zh-CN" altLang="en-US" sz="3600" baseline="0">
                <a:solidFill>
                  <a:srgbClr val="FF0066"/>
                </a:solidFill>
                <a:latin typeface="Times New Roman" panose="02020603050405020304" pitchFamily="18" charset="0"/>
                <a:ea typeface="楷体-简" panose="02010600040101010101" pitchFamily="2" charset="-122"/>
              </a:rPr>
              <a:t>赋值运算符</a:t>
            </a:r>
            <a:r>
              <a:rPr lang="zh-CN" altLang="en-US" baseline="0">
                <a:latin typeface="Times New Roman" panose="02020603050405020304" pitchFamily="18" charset="0"/>
                <a:ea typeface="楷体-简" panose="02010600040101010101" pitchFamily="2" charset="-122"/>
              </a:rPr>
              <a:t> </a:t>
            </a:r>
          </a:p>
        </p:txBody>
      </p:sp>
      <p:sp>
        <p:nvSpPr>
          <p:cNvPr id="40963" name="Text Box 4">
            <a:extLst>
              <a:ext uri="{FF2B5EF4-FFF2-40B4-BE49-F238E27FC236}">
                <a16:creationId xmlns:a16="http://schemas.microsoft.com/office/drawing/2014/main" id="{C6792E2B-D236-456C-8E5A-08783628CC61}"/>
              </a:ext>
            </a:extLst>
          </p:cNvPr>
          <p:cNvSpPr txBox="1">
            <a:spLocks noChangeArrowheads="1"/>
          </p:cNvSpPr>
          <p:nvPr/>
        </p:nvSpPr>
        <p:spPr bwMode="auto">
          <a:xfrm>
            <a:off x="684213" y="5157788"/>
            <a:ext cx="7343775" cy="366712"/>
          </a:xfrm>
          <a:prstGeom prst="rect">
            <a:avLst/>
          </a:prstGeom>
          <a:noFill/>
          <a:ln>
            <a:noFill/>
          </a:ln>
          <a:effectLst/>
          <a:extLst>
            <a:ext uri="{909E8E84-426E-40DD-AFC4-6F175D3DCCD1}">
              <a14:hiddenFill xmlns:a14="http://schemas.microsoft.com/office/drawing/2010/main">
                <a:solidFill>
                  <a:srgbClr val="969696"/>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endParaRPr lang="zh-CN" altLang="zh-CN" sz="1800" b="0">
              <a:latin typeface="Times New Roman" panose="02020603050405020304" pitchFamily="18" charset="0"/>
            </a:endParaRPr>
          </a:p>
        </p:txBody>
      </p:sp>
      <p:sp>
        <p:nvSpPr>
          <p:cNvPr id="40964" name="Text Box 5">
            <a:extLst>
              <a:ext uri="{FF2B5EF4-FFF2-40B4-BE49-F238E27FC236}">
                <a16:creationId xmlns:a16="http://schemas.microsoft.com/office/drawing/2014/main" id="{4335A044-E889-4885-BD9C-46C052816A0F}"/>
              </a:ext>
            </a:extLst>
          </p:cNvPr>
          <p:cNvSpPr txBox="1">
            <a:spLocks noChangeArrowheads="1"/>
          </p:cNvSpPr>
          <p:nvPr/>
        </p:nvSpPr>
        <p:spPr bwMode="auto">
          <a:xfrm>
            <a:off x="755650" y="5157788"/>
            <a:ext cx="7489825" cy="366712"/>
          </a:xfrm>
          <a:prstGeom prst="rect">
            <a:avLst/>
          </a:prstGeom>
          <a:noFill/>
          <a:ln>
            <a:noFill/>
          </a:ln>
          <a:effectLst/>
          <a:extLst>
            <a:ext uri="{909E8E84-426E-40DD-AFC4-6F175D3DCCD1}">
              <a14:hiddenFill xmlns:a14="http://schemas.microsoft.com/office/drawing/2010/main">
                <a:solidFill>
                  <a:srgbClr val="969696"/>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1800" b="0">
              <a:latin typeface="Times New Roman" panose="02020603050405020304" pitchFamily="18" charset="0"/>
            </a:endParaRPr>
          </a:p>
        </p:txBody>
      </p:sp>
      <p:pic>
        <p:nvPicPr>
          <p:cNvPr id="40965" name="Picture 6">
            <a:extLst>
              <a:ext uri="{FF2B5EF4-FFF2-40B4-BE49-F238E27FC236}">
                <a16:creationId xmlns:a16="http://schemas.microsoft.com/office/drawing/2014/main" id="{F7D70DBF-8B35-45DB-9590-0266EBC70B9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BB8D16B2-2A34-4DC0-B06B-04FC3DA84229}"/>
              </a:ext>
            </a:extLst>
          </p:cNvPr>
          <p:cNvSpPr>
            <a:spLocks noGrp="1" noChangeArrowheads="1"/>
          </p:cNvSpPr>
          <p:nvPr>
            <p:ph type="title"/>
          </p:nvPr>
        </p:nvSpPr>
        <p:spPr>
          <a:xfrm>
            <a:off x="457200" y="332656"/>
            <a:ext cx="8229600" cy="1143000"/>
          </a:xfrm>
        </p:spPr>
        <p:txBody>
          <a:bodyPr/>
          <a:lstStyle/>
          <a:p>
            <a:pPr eaLnBrk="1" hangingPunct="1"/>
            <a:r>
              <a:rPr lang="zh-CN" altLang="en-US" sz="3600" baseline="0">
                <a:solidFill>
                  <a:srgbClr val="FF0066"/>
                </a:solidFill>
                <a:latin typeface="Times New Roman" panose="02020603050405020304" pitchFamily="18" charset="0"/>
                <a:ea typeface="楷体-简" panose="02010600040101010101" pitchFamily="2" charset="-122"/>
              </a:rPr>
              <a:t>赋值运算符的注意问题</a:t>
            </a:r>
          </a:p>
        </p:txBody>
      </p:sp>
      <p:sp>
        <p:nvSpPr>
          <p:cNvPr id="41987" name="Rectangle 3">
            <a:extLst>
              <a:ext uri="{FF2B5EF4-FFF2-40B4-BE49-F238E27FC236}">
                <a16:creationId xmlns:a16="http://schemas.microsoft.com/office/drawing/2014/main" id="{1D0ABC8A-2028-4E80-8AE4-2D7638F4187F}"/>
              </a:ext>
            </a:extLst>
          </p:cNvPr>
          <p:cNvSpPr>
            <a:spLocks noGrp="1" noChangeArrowheads="1"/>
          </p:cNvSpPr>
          <p:nvPr>
            <p:ph type="body" idx="1"/>
          </p:nvPr>
        </p:nvSpPr>
        <p:spPr>
          <a:xfrm>
            <a:off x="457200" y="1772816"/>
            <a:ext cx="8229600" cy="4349080"/>
          </a:xfrm>
        </p:spPr>
        <p:txBody>
          <a:bodyPr/>
          <a:lstStyle/>
          <a:p>
            <a:pPr eaLnBrk="1" hangingPunct="1">
              <a:lnSpc>
                <a:spcPct val="80000"/>
              </a:lnSpc>
            </a:pPr>
            <a:r>
              <a:rPr lang="zh-CN" altLang="en-US" sz="2400" b="1" baseline="0">
                <a:latin typeface="Times New Roman" panose="02020603050405020304" pitchFamily="18" charset="0"/>
                <a:ea typeface="楷体-简" panose="02010600040101010101" pitchFamily="2" charset="-122"/>
              </a:rPr>
              <a:t>在</a:t>
            </a:r>
            <a:r>
              <a:rPr lang="en-US" altLang="zh-CN" sz="2400" b="1" baseline="0">
                <a:latin typeface="Times New Roman" panose="02020603050405020304" pitchFamily="18" charset="0"/>
                <a:ea typeface="楷体-简" panose="02010600040101010101" pitchFamily="2" charset="-122"/>
              </a:rPr>
              <a:t>Java</a:t>
            </a:r>
            <a:r>
              <a:rPr lang="zh-CN" altLang="en-US" sz="2400" b="1" baseline="0">
                <a:latin typeface="Times New Roman" panose="02020603050405020304" pitchFamily="18" charset="0"/>
                <a:ea typeface="楷体-简" panose="02010600040101010101" pitchFamily="2" charset="-122"/>
              </a:rPr>
              <a:t>里</a:t>
            </a:r>
            <a:r>
              <a:rPr lang="zh-CN" altLang="en-US" sz="2400" b="1" baseline="0">
                <a:solidFill>
                  <a:srgbClr val="0000CC"/>
                </a:solidFill>
                <a:latin typeface="Times New Roman" panose="02020603050405020304" pitchFamily="18" charset="0"/>
                <a:ea typeface="楷体-简" panose="02010600040101010101" pitchFamily="2" charset="-122"/>
              </a:rPr>
              <a:t>可以把赋值语句连在一起</a:t>
            </a:r>
            <a:r>
              <a:rPr lang="zh-CN" altLang="en-US" sz="2400" b="1" baseline="0">
                <a:latin typeface="Times New Roman" panose="02020603050405020304" pitchFamily="18" charset="0"/>
                <a:ea typeface="楷体-简" panose="02010600040101010101" pitchFamily="2" charset="-122"/>
              </a:rPr>
              <a:t>。</a:t>
            </a:r>
            <a:endParaRPr lang="en-US" altLang="zh-CN" sz="2400" b="1" baseline="0">
              <a:latin typeface="Times New Roman" panose="02020603050405020304" pitchFamily="18" charset="0"/>
              <a:ea typeface="楷体-简" panose="02010600040101010101" pitchFamily="2" charset="-122"/>
            </a:endParaRPr>
          </a:p>
          <a:p>
            <a:pPr marL="0" indent="0" eaLnBrk="1" hangingPunct="1">
              <a:lnSpc>
                <a:spcPct val="80000"/>
              </a:lnSpc>
              <a:buNone/>
            </a:pPr>
            <a:r>
              <a:rPr lang="en-US" altLang="zh-CN" sz="2400" b="1" baseline="0">
                <a:latin typeface="Times New Roman" panose="02020603050405020304" pitchFamily="18" charset="0"/>
                <a:ea typeface="楷体-简" panose="02010600040101010101" pitchFamily="2" charset="-122"/>
              </a:rPr>
              <a:t>    	</a:t>
            </a:r>
            <a:r>
              <a:rPr lang="zh-CN" altLang="en-US" sz="2000" b="1" baseline="0">
                <a:latin typeface="Times New Roman" panose="02020603050405020304" pitchFamily="18" charset="0"/>
                <a:ea typeface="楷体-简" panose="02010600040101010101" pitchFamily="2" charset="-122"/>
              </a:rPr>
              <a:t>如：</a:t>
            </a:r>
            <a:r>
              <a:rPr lang="en-US" altLang="zh-CN" sz="2000" b="1" baseline="0">
                <a:latin typeface="Times New Roman" panose="02020603050405020304" pitchFamily="18" charset="0"/>
                <a:ea typeface="楷体-简" panose="02010600040101010101" pitchFamily="2" charset="-122"/>
              </a:rPr>
              <a:t>x = y = z = 5 ;</a:t>
            </a:r>
          </a:p>
          <a:p>
            <a:pPr eaLnBrk="1" hangingPunct="1">
              <a:lnSpc>
                <a:spcPct val="80000"/>
              </a:lnSpc>
              <a:buFontTx/>
              <a:buNone/>
            </a:pPr>
            <a:r>
              <a:rPr lang="en-US" altLang="zh-CN" sz="2000" b="1" baseline="0">
                <a:latin typeface="Times New Roman" panose="02020603050405020304" pitchFamily="18" charset="0"/>
                <a:ea typeface="楷体-简" panose="02010600040101010101" pitchFamily="2" charset="-122"/>
              </a:rPr>
              <a:t>                    //</a:t>
            </a:r>
            <a:r>
              <a:rPr lang="zh-CN" altLang="en-US" sz="2000" b="1" baseline="0">
                <a:latin typeface="Times New Roman" panose="02020603050405020304" pitchFamily="18" charset="0"/>
                <a:ea typeface="楷体-简" panose="02010600040101010101" pitchFamily="2" charset="-122"/>
              </a:rPr>
              <a:t>在这个语句中，所有三个变量都得到同样的值</a:t>
            </a:r>
            <a:r>
              <a:rPr lang="en-US" altLang="zh-CN" sz="2000" b="1" baseline="0">
                <a:latin typeface="Times New Roman" panose="02020603050405020304" pitchFamily="18" charset="0"/>
                <a:ea typeface="楷体-简" panose="02010600040101010101" pitchFamily="2" charset="-122"/>
              </a:rPr>
              <a:t>5</a:t>
            </a:r>
            <a:r>
              <a:rPr lang="zh-CN" altLang="en-US" sz="2000" b="1" baseline="0">
                <a:latin typeface="Times New Roman" panose="02020603050405020304" pitchFamily="18" charset="0"/>
                <a:ea typeface="楷体-简" panose="02010600040101010101" pitchFamily="2" charset="-122"/>
              </a:rPr>
              <a:t>。</a:t>
            </a:r>
          </a:p>
          <a:p>
            <a:pPr eaLnBrk="1" hangingPunct="1">
              <a:lnSpc>
                <a:spcPct val="80000"/>
              </a:lnSpc>
              <a:buFontTx/>
              <a:buNone/>
            </a:pPr>
            <a:endParaRPr lang="zh-CN" altLang="en-US" sz="2400" b="1" baseline="0">
              <a:latin typeface="Times New Roman" panose="02020603050405020304" pitchFamily="18" charset="0"/>
              <a:ea typeface="楷体-简" panose="02010600040101010101" pitchFamily="2" charset="-122"/>
            </a:endParaRPr>
          </a:p>
          <a:p>
            <a:pPr eaLnBrk="1" hangingPunct="1">
              <a:lnSpc>
                <a:spcPct val="80000"/>
              </a:lnSpc>
            </a:pPr>
            <a:r>
              <a:rPr lang="zh-CN" altLang="en-US" sz="2400" b="1" baseline="0">
                <a:latin typeface="Times New Roman" panose="02020603050405020304" pitchFamily="18" charset="0"/>
                <a:ea typeface="楷体-简" panose="02010600040101010101" pitchFamily="2" charset="-122"/>
              </a:rPr>
              <a:t>当“＝”两侧数据类型不一致时，可以适用默认类型转换或者使用强制类型转换原则进行处理。</a:t>
            </a:r>
            <a:endParaRPr lang="en-US" altLang="zh-CN" sz="2400" b="1" baseline="0">
              <a:latin typeface="Times New Roman" panose="02020603050405020304" pitchFamily="18" charset="0"/>
              <a:ea typeface="楷体-简" panose="02010600040101010101" pitchFamily="2" charset="-122"/>
            </a:endParaRPr>
          </a:p>
          <a:p>
            <a:pPr marL="0" indent="0" eaLnBrk="1" hangingPunct="1">
              <a:lnSpc>
                <a:spcPct val="80000"/>
              </a:lnSpc>
              <a:buNone/>
            </a:pPr>
            <a:r>
              <a:rPr lang="en-US" altLang="zh-CN" sz="2000" b="1" baseline="0">
                <a:latin typeface="Times New Roman" panose="02020603050405020304" pitchFamily="18" charset="0"/>
                <a:ea typeface="楷体-简" panose="02010600040101010101" pitchFamily="2" charset="-122"/>
              </a:rPr>
              <a:t>	</a:t>
            </a:r>
            <a:r>
              <a:rPr lang="zh-CN" altLang="en-US" sz="2000" b="1" baseline="0">
                <a:latin typeface="Times New Roman" panose="02020603050405020304" pitchFamily="18" charset="0"/>
                <a:ea typeface="楷体-简" panose="02010600040101010101" pitchFamily="2" charset="-122"/>
              </a:rPr>
              <a:t>如：</a:t>
            </a:r>
            <a:r>
              <a:rPr lang="en-US" altLang="zh-CN" sz="2000" b="1" baseline="0">
                <a:latin typeface="Times New Roman" panose="02020603050405020304" pitchFamily="18" charset="0"/>
                <a:ea typeface="楷体-简" panose="02010600040101010101" pitchFamily="2" charset="-122"/>
              </a:rPr>
              <a:t>long i=100; int j=(int) i; </a:t>
            </a:r>
          </a:p>
          <a:p>
            <a:pPr eaLnBrk="1" hangingPunct="1">
              <a:lnSpc>
                <a:spcPct val="80000"/>
              </a:lnSpc>
              <a:buFontTx/>
              <a:buNone/>
            </a:pPr>
            <a:r>
              <a:rPr lang="en-US" altLang="zh-CN" sz="2400" b="1" baseline="0">
                <a:latin typeface="Times New Roman" panose="02020603050405020304" pitchFamily="18" charset="0"/>
                <a:ea typeface="楷体-简" panose="02010600040101010101" pitchFamily="2" charset="-122"/>
              </a:rPr>
              <a:t>	</a:t>
            </a:r>
          </a:p>
          <a:p>
            <a:pPr eaLnBrk="1" hangingPunct="1">
              <a:lnSpc>
                <a:spcPct val="80000"/>
              </a:lnSpc>
            </a:pPr>
            <a:r>
              <a:rPr lang="zh-CN" altLang="en-US" sz="2400" b="1" baseline="0">
                <a:latin typeface="Times New Roman" panose="02020603050405020304" pitchFamily="18" charset="0"/>
                <a:ea typeface="楷体-简" panose="02010600040101010101" pitchFamily="2" charset="-122"/>
              </a:rPr>
              <a:t>可以将整形常量直接赋值给</a:t>
            </a:r>
            <a:r>
              <a:rPr lang="en-US" altLang="zh-CN" sz="2400" b="1" baseline="0">
                <a:latin typeface="Times New Roman" panose="02020603050405020304" pitchFamily="18" charset="0"/>
                <a:ea typeface="楷体-简" panose="02010600040101010101" pitchFamily="2" charset="-122"/>
              </a:rPr>
              <a:t>byte,short,char</a:t>
            </a:r>
            <a:r>
              <a:rPr lang="zh-CN" altLang="en-US" sz="2400" b="1" baseline="0">
                <a:latin typeface="Times New Roman" panose="02020603050405020304" pitchFamily="18" charset="0"/>
                <a:ea typeface="楷体-简" panose="02010600040101010101" pitchFamily="2" charset="-122"/>
              </a:rPr>
              <a:t>等类型变量，而不需要进行强制类型转换，只要不超出其表示范围。</a:t>
            </a:r>
            <a:r>
              <a:rPr lang="en-US" altLang="zh-CN" sz="2400" b="1" baseline="0">
                <a:latin typeface="Times New Roman" panose="02020603050405020304" pitchFamily="18" charset="0"/>
                <a:ea typeface="楷体-简" panose="02010600040101010101" pitchFamily="2" charset="-122"/>
              </a:rPr>
              <a:t>	</a:t>
            </a:r>
            <a:r>
              <a:rPr lang="zh-CN" altLang="en-US" sz="2000" b="1" baseline="0">
                <a:latin typeface="Times New Roman" panose="02020603050405020304" pitchFamily="18" charset="0"/>
                <a:ea typeface="楷体-简" panose="02010600040101010101" pitchFamily="2" charset="-122"/>
              </a:rPr>
              <a:t>如：</a:t>
            </a:r>
            <a:r>
              <a:rPr lang="en-US" altLang="zh-CN" sz="2000" b="1" baseline="0">
                <a:latin typeface="Times New Roman" panose="02020603050405020304" pitchFamily="18" charset="0"/>
                <a:ea typeface="楷体-简" panose="02010600040101010101" pitchFamily="2" charset="-122"/>
              </a:rPr>
              <a:t>byte b=12; char c=100; </a:t>
            </a:r>
          </a:p>
          <a:p>
            <a:pPr lvl="1" eaLnBrk="1" hangingPunct="1">
              <a:lnSpc>
                <a:spcPct val="80000"/>
              </a:lnSpc>
              <a:buNone/>
            </a:pPr>
            <a:r>
              <a:rPr lang="en-US" altLang="zh-CN" sz="2000" b="1" baseline="0">
                <a:latin typeface="Times New Roman" panose="02020603050405020304" pitchFamily="18" charset="0"/>
                <a:ea typeface="楷体-简" panose="02010600040101010101" pitchFamily="2" charset="-122"/>
              </a:rPr>
              <a:t>		       byte bb=256;      //</a:t>
            </a:r>
            <a:r>
              <a:rPr lang="zh-CN" altLang="en-US" sz="2000" b="1" baseline="0">
                <a:latin typeface="Times New Roman" panose="02020603050405020304" pitchFamily="18" charset="0"/>
                <a:ea typeface="楷体-简" panose="02010600040101010101" pitchFamily="2" charset="-122"/>
              </a:rPr>
              <a:t>不可以</a:t>
            </a:r>
          </a:p>
          <a:p>
            <a:pPr lvl="1" eaLnBrk="1" hangingPunct="1">
              <a:lnSpc>
                <a:spcPct val="80000"/>
              </a:lnSpc>
              <a:buNone/>
            </a:pPr>
            <a:r>
              <a:rPr lang="zh-CN" altLang="en-US" sz="2000" b="1" baseline="0">
                <a:latin typeface="Times New Roman" panose="02020603050405020304" pitchFamily="18" charset="0"/>
                <a:ea typeface="楷体-简" panose="02010600040101010101" pitchFamily="2" charset="-122"/>
              </a:rPr>
              <a:t>	</a:t>
            </a:r>
            <a:r>
              <a:rPr lang="en-US" altLang="zh-CN" sz="2000" b="1" baseline="0">
                <a:latin typeface="Times New Roman" panose="02020603050405020304" pitchFamily="18" charset="0"/>
                <a:ea typeface="楷体-简" panose="02010600040101010101" pitchFamily="2" charset="-122"/>
              </a:rPr>
              <a:t>	       short s=-32769;  //</a:t>
            </a:r>
            <a:r>
              <a:rPr lang="zh-CN" altLang="en-US" sz="2000" b="1" baseline="0">
                <a:latin typeface="Times New Roman" panose="02020603050405020304" pitchFamily="18" charset="0"/>
                <a:ea typeface="楷体-简" panose="02010600040101010101" pitchFamily="2" charset="-122"/>
              </a:rPr>
              <a:t>不可以</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aseline="0" dirty="0">
                <a:latin typeface="Times New Roman" panose="02020603050405020304" pitchFamily="18" charset="0"/>
                <a:ea typeface="楷体-简" panose="02010600040101010101" pitchFamily="2" charset="-122"/>
              </a:rPr>
              <a:t>    Is “</a:t>
            </a:r>
            <a:r>
              <a:rPr lang="en-US" altLang="zh-CN" baseline="0" dirty="0">
                <a:solidFill>
                  <a:srgbClr val="FF0000"/>
                </a:solidFill>
                <a:latin typeface="Times New Roman" panose="02020603050405020304" pitchFamily="18" charset="0"/>
                <a:ea typeface="楷体-简" panose="02010600040101010101" pitchFamily="2" charset="-122"/>
              </a:rPr>
              <a:t>a+=b</a:t>
            </a:r>
            <a:r>
              <a:rPr lang="en-US" altLang="zh-CN" baseline="0" dirty="0">
                <a:latin typeface="Times New Roman" panose="02020603050405020304" pitchFamily="18" charset="0"/>
                <a:ea typeface="楷体-简" panose="02010600040101010101" pitchFamily="2" charset="-122"/>
              </a:rPr>
              <a:t>” same as “</a:t>
            </a:r>
            <a:r>
              <a:rPr lang="en-US" altLang="zh-CN" baseline="0" dirty="0">
                <a:solidFill>
                  <a:srgbClr val="FF0000"/>
                </a:solidFill>
                <a:latin typeface="Times New Roman" panose="02020603050405020304" pitchFamily="18" charset="0"/>
                <a:ea typeface="楷体-简" panose="02010600040101010101" pitchFamily="2" charset="-122"/>
              </a:rPr>
              <a:t>a =a + b</a:t>
            </a:r>
            <a:r>
              <a:rPr lang="en-US" altLang="zh-CN" baseline="0" dirty="0">
                <a:latin typeface="Times New Roman" panose="02020603050405020304" pitchFamily="18" charset="0"/>
                <a:ea typeface="楷体-简" panose="02010600040101010101" pitchFamily="2" charset="-122"/>
              </a:rPr>
              <a:t>” ?     </a:t>
            </a:r>
            <a:endParaRPr lang="zh-CN" altLang="en-US" baseline="0" dirty="0">
              <a:latin typeface="Times New Roman" panose="02020603050405020304" pitchFamily="18" charset="0"/>
              <a:ea typeface="楷体-简" panose="02010600040101010101" pitchFamily="2" charset="-122"/>
            </a:endParaRPr>
          </a:p>
        </p:txBody>
      </p:sp>
      <p:pic>
        <p:nvPicPr>
          <p:cNvPr id="225283"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381000"/>
            <a:ext cx="990600" cy="10211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2528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1427598"/>
            <a:ext cx="3940040" cy="2743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5" name="TextBox 4"/>
              <p:cNvSpPr txBox="1"/>
              <p:nvPr/>
            </p:nvSpPr>
            <p:spPr>
              <a:xfrm>
                <a:off x="3962400" y="2806184"/>
                <a:ext cx="533400" cy="50571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zh-CN" altLang="en-US" sz="2500" b="1" i="1" smtClean="0">
                          <a:solidFill>
                            <a:srgbClr val="FF0000"/>
                          </a:solidFill>
                          <a:latin typeface="Cambria Math"/>
                        </a:rPr>
                        <m:t>√</m:t>
                      </m:r>
                    </m:oMath>
                  </m:oMathPara>
                </a14:m>
                <a:endParaRPr lang="zh-CN" altLang="en-US" sz="2500" b="1" dirty="0">
                  <a:solidFill>
                    <a:srgbClr val="FF0000"/>
                  </a:solidFill>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3962400" y="2806184"/>
                <a:ext cx="533400" cy="505716"/>
              </a:xfrm>
              <a:prstGeom prst="rect">
                <a:avLst/>
              </a:prstGeom>
              <a:blipFill rotWithShape="1">
                <a:blip r:embed="rId4"/>
                <a:stretch>
                  <a:fillRect/>
                </a:stretch>
              </a:blipFill>
            </p:spPr>
            <p:txBody>
              <a:bodyPr/>
              <a:lstStyle/>
              <a:p>
                <a:r>
                  <a:rPr lang="zh-CN" altLang="en-US">
                    <a:noFill/>
                  </a:rPr>
                  <a:t> </a:t>
                </a:r>
              </a:p>
            </p:txBody>
          </p:sp>
        </mc:Fallback>
      </mc:AlternateContent>
      <p:sp>
        <p:nvSpPr>
          <p:cNvPr id="6" name="矩形 5"/>
          <p:cNvSpPr/>
          <p:nvPr/>
        </p:nvSpPr>
        <p:spPr>
          <a:xfrm>
            <a:off x="4191000" y="3505200"/>
            <a:ext cx="4953000" cy="646331"/>
          </a:xfrm>
          <a:prstGeom prst="rect">
            <a:avLst/>
          </a:prstGeom>
        </p:spPr>
        <p:txBody>
          <a:bodyPr wrap="square">
            <a:spAutoFit/>
          </a:bodyPr>
          <a:lstStyle/>
          <a:p>
            <a:r>
              <a:rPr lang="en-US" altLang="zh-CN" dirty="0">
                <a:solidFill>
                  <a:srgbClr val="FF0000"/>
                </a:solidFill>
              </a:rPr>
              <a:t>Type mismatch: cannot convert from </a:t>
            </a:r>
            <a:r>
              <a:rPr lang="en-US" altLang="zh-CN" dirty="0" err="1">
                <a:solidFill>
                  <a:srgbClr val="FF0000"/>
                </a:solidFill>
              </a:rPr>
              <a:t>int</a:t>
            </a:r>
            <a:r>
              <a:rPr lang="en-US" altLang="zh-CN" dirty="0">
                <a:solidFill>
                  <a:srgbClr val="FF0000"/>
                </a:solidFill>
              </a:rPr>
              <a:t> to short</a:t>
            </a:r>
          </a:p>
        </p:txBody>
      </p:sp>
    </p:spTree>
    <p:extLst>
      <p:ext uri="{BB962C8B-B14F-4D97-AF65-F5344CB8AC3E}">
        <p14:creationId xmlns:p14="http://schemas.microsoft.com/office/powerpoint/2010/main" val="574284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528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25D609F7-E533-4321-8D75-C515BBAD69FB}"/>
              </a:ext>
            </a:extLst>
          </p:cNvPr>
          <p:cNvSpPr>
            <a:spLocks noGrp="1" noChangeArrowheads="1"/>
          </p:cNvSpPr>
          <p:nvPr>
            <p:ph type="title"/>
          </p:nvPr>
        </p:nvSpPr>
        <p:spPr/>
        <p:txBody>
          <a:bodyPr/>
          <a:lstStyle/>
          <a:p>
            <a:pPr eaLnBrk="1" hangingPunct="1"/>
            <a:r>
              <a:rPr lang="zh-CN" altLang="en-US" sz="3600" baseline="0">
                <a:solidFill>
                  <a:srgbClr val="FF0066"/>
                </a:solidFill>
                <a:latin typeface="Times New Roman" panose="02020603050405020304" pitchFamily="18" charset="0"/>
                <a:ea typeface="楷体-简" panose="02010600040101010101" pitchFamily="2" charset="-122"/>
              </a:rPr>
              <a:t>关系运算符</a:t>
            </a:r>
            <a:r>
              <a:rPr lang="zh-CN" altLang="en-US" baseline="0">
                <a:latin typeface="Times New Roman" panose="02020603050405020304" pitchFamily="18" charset="0"/>
                <a:ea typeface="楷体-简" panose="02010600040101010101" pitchFamily="2" charset="-122"/>
              </a:rPr>
              <a:t> </a:t>
            </a:r>
            <a:r>
              <a:rPr lang="zh-CN" altLang="en-US" sz="3600" baseline="0">
                <a:solidFill>
                  <a:srgbClr val="FF0066"/>
                </a:solidFill>
                <a:latin typeface="Times New Roman" panose="02020603050405020304" pitchFamily="18" charset="0"/>
                <a:ea typeface="楷体-简" panose="02010600040101010101" pitchFamily="2" charset="-122"/>
              </a:rPr>
              <a:t>（比较运行符）</a:t>
            </a:r>
          </a:p>
        </p:txBody>
      </p:sp>
      <p:sp>
        <p:nvSpPr>
          <p:cNvPr id="44035" name="Text Box 4">
            <a:extLst>
              <a:ext uri="{FF2B5EF4-FFF2-40B4-BE49-F238E27FC236}">
                <a16:creationId xmlns:a16="http://schemas.microsoft.com/office/drawing/2014/main" id="{85390D1C-A228-4D4D-8A95-DEB423F6EF1A}"/>
              </a:ext>
            </a:extLst>
          </p:cNvPr>
          <p:cNvSpPr txBox="1">
            <a:spLocks noChangeArrowheads="1"/>
          </p:cNvSpPr>
          <p:nvPr/>
        </p:nvSpPr>
        <p:spPr bwMode="auto">
          <a:xfrm>
            <a:off x="755650" y="5445125"/>
            <a:ext cx="8064500" cy="366713"/>
          </a:xfrm>
          <a:prstGeom prst="rect">
            <a:avLst/>
          </a:prstGeom>
          <a:noFill/>
          <a:ln>
            <a:noFill/>
          </a:ln>
          <a:effectLst/>
          <a:extLst>
            <a:ext uri="{909E8E84-426E-40DD-AFC4-6F175D3DCCD1}">
              <a14:hiddenFill xmlns:a14="http://schemas.microsoft.com/office/drawing/2010/main">
                <a:solidFill>
                  <a:srgbClr val="969696"/>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endParaRPr lang="zh-CN" altLang="zh-CN" sz="1800" b="0">
              <a:latin typeface="Times New Roman" panose="02020603050405020304" pitchFamily="18" charset="0"/>
            </a:endParaRPr>
          </a:p>
        </p:txBody>
      </p:sp>
      <p:sp>
        <p:nvSpPr>
          <p:cNvPr id="44036" name="Text Box 5">
            <a:extLst>
              <a:ext uri="{FF2B5EF4-FFF2-40B4-BE49-F238E27FC236}">
                <a16:creationId xmlns:a16="http://schemas.microsoft.com/office/drawing/2014/main" id="{9883CAC4-EDE9-4FF0-82F8-139EEB5EE6F1}"/>
              </a:ext>
            </a:extLst>
          </p:cNvPr>
          <p:cNvSpPr txBox="1">
            <a:spLocks noChangeArrowheads="1"/>
          </p:cNvSpPr>
          <p:nvPr/>
        </p:nvSpPr>
        <p:spPr bwMode="auto">
          <a:xfrm>
            <a:off x="755650" y="4941888"/>
            <a:ext cx="7931150" cy="1384300"/>
          </a:xfrm>
          <a:prstGeom prst="rect">
            <a:avLst/>
          </a:prstGeom>
          <a:noFill/>
          <a:ln>
            <a:noFill/>
          </a:ln>
          <a:effectLst/>
          <a:extLst>
            <a:ext uri="{909E8E84-426E-40DD-AFC4-6F175D3DCCD1}">
              <a14:hiddenFill xmlns:a14="http://schemas.microsoft.com/office/drawing/2010/main">
                <a:solidFill>
                  <a:srgbClr val="969696"/>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a:latin typeface="Times New Roman" panose="02020603050405020304" pitchFamily="18" charset="0"/>
              </a:rPr>
              <a:t> </a:t>
            </a:r>
            <a:r>
              <a:rPr lang="zh-CN" altLang="en-US" sz="2400">
                <a:latin typeface="Times New Roman" panose="02020603050405020304" pitchFamily="18" charset="0"/>
              </a:rPr>
              <a:t>关系运算符的结果都是</a:t>
            </a:r>
            <a:r>
              <a:rPr lang="en-US" altLang="zh-CN" sz="2400">
                <a:latin typeface="Times New Roman" panose="02020603050405020304" pitchFamily="18" charset="0"/>
              </a:rPr>
              <a:t>boolean</a:t>
            </a:r>
            <a:r>
              <a:rPr lang="zh-CN" altLang="en-US" sz="2400">
                <a:latin typeface="Times New Roman" panose="02020603050405020304" pitchFamily="18" charset="0"/>
              </a:rPr>
              <a:t>型，也就是要么是</a:t>
            </a:r>
            <a:r>
              <a:rPr lang="en-US" altLang="zh-CN" sz="2400">
                <a:latin typeface="Times New Roman" panose="02020603050405020304" pitchFamily="18" charset="0"/>
              </a:rPr>
              <a:t>true</a:t>
            </a:r>
            <a:r>
              <a:rPr lang="zh-CN" altLang="en-US" sz="2400">
                <a:latin typeface="Times New Roman" panose="02020603050405020304" pitchFamily="18" charset="0"/>
              </a:rPr>
              <a:t>，要么是</a:t>
            </a:r>
            <a:r>
              <a:rPr lang="en-US" altLang="zh-CN" sz="2400">
                <a:latin typeface="Times New Roman" panose="02020603050405020304" pitchFamily="18" charset="0"/>
              </a:rPr>
              <a:t>false</a:t>
            </a:r>
            <a:r>
              <a:rPr lang="zh-CN" altLang="en-US" sz="2400">
                <a:latin typeface="Times New Roman" panose="02020603050405020304" pitchFamily="18" charset="0"/>
              </a:rPr>
              <a:t>。</a:t>
            </a:r>
          </a:p>
          <a:p>
            <a:pPr eaLnBrk="1" hangingPunct="1">
              <a:spcBef>
                <a:spcPct val="50000"/>
              </a:spcBef>
            </a:pPr>
            <a:r>
              <a:rPr lang="zh-CN" altLang="en-US" sz="2400">
                <a:latin typeface="Times New Roman" panose="02020603050405020304" pitchFamily="18" charset="0"/>
              </a:rPr>
              <a:t> 比较运算符</a:t>
            </a:r>
            <a:r>
              <a:rPr lang="zh-CN" altLang="en-US" sz="2400"/>
              <a:t>“</a:t>
            </a:r>
            <a:r>
              <a:rPr lang="en-US" altLang="zh-CN" sz="2400">
                <a:latin typeface="Times New Roman" panose="02020603050405020304" pitchFamily="18" charset="0"/>
              </a:rPr>
              <a:t>==</a:t>
            </a:r>
            <a:r>
              <a:rPr lang="en-US" altLang="zh-CN" sz="2400"/>
              <a:t>”</a:t>
            </a:r>
            <a:r>
              <a:rPr lang="zh-CN" altLang="en-US" sz="2400">
                <a:latin typeface="Times New Roman" panose="02020603050405020304" pitchFamily="18" charset="0"/>
              </a:rPr>
              <a:t>不能误写成</a:t>
            </a:r>
            <a:r>
              <a:rPr lang="zh-CN" altLang="en-US" sz="2400"/>
              <a:t>“</a:t>
            </a:r>
            <a:r>
              <a:rPr lang="en-US" altLang="zh-CN" sz="2400">
                <a:latin typeface="Times New Roman" panose="02020603050405020304" pitchFamily="18" charset="0"/>
              </a:rPr>
              <a:t>=</a:t>
            </a:r>
            <a:r>
              <a:rPr lang="en-US" altLang="zh-CN" sz="2400"/>
              <a:t>”</a:t>
            </a:r>
            <a:r>
              <a:rPr lang="en-US" altLang="zh-CN" sz="2400">
                <a:latin typeface="Times New Roman" panose="02020603050405020304" pitchFamily="18" charset="0"/>
              </a:rPr>
              <a:t> </a:t>
            </a:r>
            <a:r>
              <a:rPr lang="zh-CN" altLang="en-US" sz="2400">
                <a:latin typeface="Times New Roman" panose="02020603050405020304" pitchFamily="18" charset="0"/>
              </a:rPr>
              <a:t>，切记！</a:t>
            </a:r>
          </a:p>
        </p:txBody>
      </p:sp>
      <p:pic>
        <p:nvPicPr>
          <p:cNvPr id="44037" name="Picture 6">
            <a:extLst>
              <a:ext uri="{FF2B5EF4-FFF2-40B4-BE49-F238E27FC236}">
                <a16:creationId xmlns:a16="http://schemas.microsoft.com/office/drawing/2014/main" id="{248FE49C-2D6B-4C49-8C1E-BA11D6B8880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684213" y="1412875"/>
            <a:ext cx="8013700" cy="3197225"/>
          </a:xfr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11F50E6D-EA9B-4CFE-B86F-7074203887EB}"/>
              </a:ext>
            </a:extLst>
          </p:cNvPr>
          <p:cNvSpPr>
            <a:spLocks noGrp="1" noChangeArrowheads="1"/>
          </p:cNvSpPr>
          <p:nvPr>
            <p:ph type="title"/>
          </p:nvPr>
        </p:nvSpPr>
        <p:spPr>
          <a:xfrm>
            <a:off x="611188" y="188913"/>
            <a:ext cx="8080375" cy="863600"/>
          </a:xfrm>
        </p:spPr>
        <p:txBody>
          <a:bodyPr/>
          <a:lstStyle/>
          <a:p>
            <a:pPr eaLnBrk="1" hangingPunct="1"/>
            <a:r>
              <a:rPr lang="zh-CN" altLang="en-US" sz="3600" baseline="0">
                <a:solidFill>
                  <a:srgbClr val="FF0066"/>
                </a:solidFill>
                <a:latin typeface="Times New Roman" panose="02020603050405020304" pitchFamily="18" charset="0"/>
                <a:ea typeface="楷体-简" panose="02010600040101010101" pitchFamily="2" charset="-122"/>
              </a:rPr>
              <a:t>逻辑运算符</a:t>
            </a:r>
            <a:r>
              <a:rPr lang="zh-CN" altLang="en-US" baseline="0">
                <a:latin typeface="Times New Roman" panose="02020603050405020304" pitchFamily="18" charset="0"/>
                <a:ea typeface="楷体-简" panose="02010600040101010101" pitchFamily="2" charset="-122"/>
              </a:rPr>
              <a:t> </a:t>
            </a:r>
          </a:p>
        </p:txBody>
      </p:sp>
      <p:sp>
        <p:nvSpPr>
          <p:cNvPr id="45059" name="Text Box 4">
            <a:extLst>
              <a:ext uri="{FF2B5EF4-FFF2-40B4-BE49-F238E27FC236}">
                <a16:creationId xmlns:a16="http://schemas.microsoft.com/office/drawing/2014/main" id="{7A039FED-D1B9-40E3-8A5A-825FE0AFF4CE}"/>
              </a:ext>
            </a:extLst>
          </p:cNvPr>
          <p:cNvSpPr txBox="1">
            <a:spLocks noChangeArrowheads="1"/>
          </p:cNvSpPr>
          <p:nvPr/>
        </p:nvSpPr>
        <p:spPr bwMode="auto">
          <a:xfrm>
            <a:off x="431639" y="4245737"/>
            <a:ext cx="8280722" cy="2492990"/>
          </a:xfrm>
          <a:prstGeom prst="rect">
            <a:avLst/>
          </a:prstGeom>
          <a:noFill/>
          <a:ln>
            <a:noFill/>
          </a:ln>
          <a:effectLst/>
          <a:extLst>
            <a:ext uri="{909E8E84-426E-40DD-AFC4-6F175D3DCCD1}">
              <a14:hiddenFill xmlns:a14="http://schemas.microsoft.com/office/drawing/2010/main">
                <a:solidFill>
                  <a:srgbClr val="969696"/>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a:latin typeface="Times New Roman" panose="02020603050405020304" pitchFamily="18" charset="0"/>
              </a:rPr>
              <a:t> </a:t>
            </a:r>
            <a:r>
              <a:rPr lang="zh-CN" altLang="en-US" sz="2400">
                <a:latin typeface="Times New Roman" panose="02020603050405020304" pitchFamily="18" charset="0"/>
              </a:rPr>
              <a:t>逻辑运算符用于对</a:t>
            </a:r>
            <a:r>
              <a:rPr lang="en-US" altLang="zh-CN" sz="2400">
                <a:latin typeface="Times New Roman" panose="02020603050405020304" pitchFamily="18" charset="0"/>
              </a:rPr>
              <a:t>boolean</a:t>
            </a:r>
            <a:r>
              <a:rPr lang="zh-CN" altLang="en-US" sz="2400">
                <a:latin typeface="Times New Roman" panose="02020603050405020304" pitchFamily="18" charset="0"/>
              </a:rPr>
              <a:t>型结果的表达式进行运算，运算的结果都是</a:t>
            </a:r>
            <a:r>
              <a:rPr lang="en-US" altLang="zh-CN" sz="2400">
                <a:latin typeface="Times New Roman" panose="02020603050405020304" pitchFamily="18" charset="0"/>
              </a:rPr>
              <a:t>boolean</a:t>
            </a:r>
            <a:r>
              <a:rPr lang="zh-CN" altLang="en-US" sz="2400">
                <a:latin typeface="Times New Roman" panose="02020603050405020304" pitchFamily="18" charset="0"/>
              </a:rPr>
              <a:t>型 。</a:t>
            </a:r>
          </a:p>
          <a:p>
            <a:pPr eaLnBrk="1" hangingPunct="1">
              <a:spcBef>
                <a:spcPct val="50000"/>
              </a:spcBef>
            </a:pPr>
            <a:r>
              <a:rPr lang="zh-CN" altLang="en-US" sz="2400">
                <a:latin typeface="Times New Roman" panose="02020603050405020304" pitchFamily="18" charset="0"/>
              </a:rPr>
              <a:t> </a:t>
            </a:r>
            <a:r>
              <a:rPr lang="zh-CN" altLang="en-US" sz="2400"/>
              <a:t>“</a:t>
            </a:r>
            <a:r>
              <a:rPr lang="en-US" altLang="zh-CN" sz="2400">
                <a:latin typeface="Times New Roman" panose="02020603050405020304" pitchFamily="18" charset="0"/>
              </a:rPr>
              <a:t>&amp;</a:t>
            </a:r>
            <a:r>
              <a:rPr lang="en-US" altLang="zh-CN" sz="2400"/>
              <a:t>”</a:t>
            </a:r>
            <a:r>
              <a:rPr lang="zh-CN" altLang="en-US" sz="2400">
                <a:latin typeface="Times New Roman" panose="02020603050405020304" pitchFamily="18" charset="0"/>
              </a:rPr>
              <a:t>和</a:t>
            </a:r>
            <a:r>
              <a:rPr lang="zh-CN" altLang="en-US" sz="2400"/>
              <a:t>“</a:t>
            </a:r>
            <a:r>
              <a:rPr lang="en-US" altLang="zh-CN" sz="2400">
                <a:latin typeface="Times New Roman" panose="02020603050405020304" pitchFamily="18" charset="0"/>
              </a:rPr>
              <a:t>&amp;&amp;</a:t>
            </a:r>
            <a:r>
              <a:rPr lang="en-US" altLang="zh-CN" sz="2400"/>
              <a:t>”</a:t>
            </a:r>
            <a:r>
              <a:rPr lang="zh-CN" altLang="en-US" sz="2400">
                <a:latin typeface="Times New Roman" panose="02020603050405020304" pitchFamily="18" charset="0"/>
              </a:rPr>
              <a:t>的</a:t>
            </a:r>
            <a:r>
              <a:rPr lang="zh-CN" altLang="en-US" sz="2400">
                <a:solidFill>
                  <a:srgbClr val="0000CC"/>
                </a:solidFill>
                <a:latin typeface="Times New Roman" panose="02020603050405020304" pitchFamily="18" charset="0"/>
              </a:rPr>
              <a:t>除了语义上的区别</a:t>
            </a:r>
            <a:r>
              <a:rPr lang="zh-CN" altLang="en-US" sz="2400">
                <a:latin typeface="Times New Roman" panose="02020603050405020304" pitchFamily="18" charset="0"/>
              </a:rPr>
              <a:t>，还有：如果使用前者连接，那么无论任何情况，</a:t>
            </a:r>
            <a:r>
              <a:rPr lang="zh-CN" altLang="en-US" sz="2400"/>
              <a:t>“</a:t>
            </a:r>
            <a:r>
              <a:rPr lang="en-US" altLang="zh-CN" sz="2400">
                <a:latin typeface="Times New Roman" panose="02020603050405020304" pitchFamily="18" charset="0"/>
              </a:rPr>
              <a:t>&amp;</a:t>
            </a:r>
            <a:r>
              <a:rPr lang="en-US" altLang="zh-CN" sz="2400"/>
              <a:t>”</a:t>
            </a:r>
            <a:r>
              <a:rPr lang="zh-CN" altLang="en-US" sz="2400">
                <a:solidFill>
                  <a:srgbClr val="FF0066"/>
                </a:solidFill>
                <a:latin typeface="Times New Roman" panose="02020603050405020304" pitchFamily="18" charset="0"/>
              </a:rPr>
              <a:t>两边的表达式都会参与计算</a:t>
            </a:r>
            <a:r>
              <a:rPr lang="zh-CN" altLang="en-US" sz="2400">
                <a:latin typeface="Times New Roman" panose="02020603050405020304" pitchFamily="18" charset="0"/>
              </a:rPr>
              <a:t>。如果使用后者连接，当</a:t>
            </a:r>
            <a:r>
              <a:rPr lang="zh-CN" altLang="en-US" sz="2400"/>
              <a:t>“</a:t>
            </a:r>
            <a:r>
              <a:rPr lang="en-US" altLang="zh-CN" sz="2400">
                <a:latin typeface="Times New Roman" panose="02020603050405020304" pitchFamily="18" charset="0"/>
              </a:rPr>
              <a:t>&amp;&amp;</a:t>
            </a:r>
            <a:r>
              <a:rPr lang="en-US" altLang="zh-CN" sz="2400"/>
              <a:t>”</a:t>
            </a:r>
            <a:r>
              <a:rPr lang="zh-CN" altLang="en-US" sz="2400">
                <a:latin typeface="Times New Roman" panose="02020603050405020304" pitchFamily="18" charset="0"/>
              </a:rPr>
              <a:t>的</a:t>
            </a:r>
            <a:r>
              <a:rPr lang="zh-CN" altLang="en-US" sz="2400">
                <a:solidFill>
                  <a:srgbClr val="FF0066"/>
                </a:solidFill>
                <a:latin typeface="Times New Roman" panose="02020603050405020304" pitchFamily="18" charset="0"/>
              </a:rPr>
              <a:t>左边为</a:t>
            </a:r>
            <a:r>
              <a:rPr lang="en-US" altLang="zh-CN" sz="2400">
                <a:solidFill>
                  <a:srgbClr val="FF0066"/>
                </a:solidFill>
                <a:latin typeface="Times New Roman" panose="02020603050405020304" pitchFamily="18" charset="0"/>
              </a:rPr>
              <a:t>false</a:t>
            </a:r>
            <a:r>
              <a:rPr lang="zh-CN" altLang="en-US" sz="2400">
                <a:solidFill>
                  <a:srgbClr val="FF0066"/>
                </a:solidFill>
                <a:latin typeface="Times New Roman" panose="02020603050405020304" pitchFamily="18" charset="0"/>
              </a:rPr>
              <a:t>，则将不会计算其右边的表达式</a:t>
            </a:r>
            <a:r>
              <a:rPr lang="zh-CN" altLang="en-US" sz="2400">
                <a:latin typeface="Times New Roman" panose="02020603050405020304" pitchFamily="18" charset="0"/>
              </a:rPr>
              <a:t>。</a:t>
            </a:r>
            <a:r>
              <a:rPr lang="zh-CN" altLang="en-US" sz="2400"/>
              <a:t>“</a:t>
            </a:r>
            <a:r>
              <a:rPr lang="en-US" altLang="zh-CN" sz="2400">
                <a:latin typeface="Times New Roman" panose="02020603050405020304" pitchFamily="18" charset="0"/>
              </a:rPr>
              <a:t>|</a:t>
            </a:r>
            <a:r>
              <a:rPr lang="en-US" altLang="zh-CN" sz="2400"/>
              <a:t>”</a:t>
            </a:r>
            <a:r>
              <a:rPr lang="zh-CN" altLang="en-US" sz="2400">
                <a:latin typeface="Times New Roman" panose="02020603050405020304" pitchFamily="18" charset="0"/>
              </a:rPr>
              <a:t>和</a:t>
            </a:r>
            <a:r>
              <a:rPr lang="zh-CN" altLang="en-US" sz="2400"/>
              <a:t>“</a:t>
            </a:r>
            <a:r>
              <a:rPr lang="en-US" altLang="zh-CN" sz="2400">
                <a:latin typeface="Times New Roman" panose="02020603050405020304" pitchFamily="18" charset="0"/>
              </a:rPr>
              <a:t>||</a:t>
            </a:r>
            <a:r>
              <a:rPr lang="en-US" altLang="zh-CN" sz="2400"/>
              <a:t>”</a:t>
            </a:r>
            <a:r>
              <a:rPr lang="zh-CN" altLang="en-US" sz="2400">
                <a:latin typeface="Times New Roman" panose="02020603050405020304" pitchFamily="18" charset="0"/>
              </a:rPr>
              <a:t>的区别亦如此。</a:t>
            </a:r>
            <a:r>
              <a:rPr lang="zh-CN" altLang="en-US" sz="2000" b="0">
                <a:latin typeface="Times New Roman" panose="02020603050405020304" pitchFamily="18" charset="0"/>
              </a:rPr>
              <a:t>  </a:t>
            </a:r>
          </a:p>
        </p:txBody>
      </p:sp>
      <p:pic>
        <p:nvPicPr>
          <p:cNvPr id="45060" name="Picture 5">
            <a:extLst>
              <a:ext uri="{FF2B5EF4-FFF2-40B4-BE49-F238E27FC236}">
                <a16:creationId xmlns:a16="http://schemas.microsoft.com/office/drawing/2014/main" id="{A39E79D5-FEA2-47FB-9F1D-F661D53DEF99}"/>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816721" y="1268760"/>
            <a:ext cx="7510558" cy="2760730"/>
          </a:xfr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293615D9-8CE4-46C1-9631-BC40529D8ABF}"/>
              </a:ext>
            </a:extLst>
          </p:cNvPr>
          <p:cNvSpPr>
            <a:spLocks noGrp="1" noChangeArrowheads="1"/>
          </p:cNvSpPr>
          <p:nvPr>
            <p:ph type="title"/>
          </p:nvPr>
        </p:nvSpPr>
        <p:spPr>
          <a:xfrm>
            <a:off x="457200" y="260648"/>
            <a:ext cx="8229600" cy="1143000"/>
          </a:xfrm>
        </p:spPr>
        <p:txBody>
          <a:bodyPr/>
          <a:lstStyle/>
          <a:p>
            <a:pPr eaLnBrk="1" hangingPunct="1"/>
            <a:r>
              <a:rPr lang="en-US" altLang="zh-CN" sz="3600" baseline="0">
                <a:solidFill>
                  <a:srgbClr val="FF0066"/>
                </a:solidFill>
                <a:latin typeface="Times New Roman" panose="02020603050405020304" pitchFamily="18" charset="0"/>
                <a:ea typeface="楷体-简" panose="02010600040101010101" pitchFamily="2" charset="-122"/>
              </a:rPr>
              <a:t>“&amp;”</a:t>
            </a:r>
            <a:r>
              <a:rPr lang="zh-CN" altLang="en-US" sz="3600" baseline="0">
                <a:solidFill>
                  <a:srgbClr val="FF0066"/>
                </a:solidFill>
                <a:latin typeface="Times New Roman" panose="02020603050405020304" pitchFamily="18" charset="0"/>
                <a:ea typeface="楷体-简" panose="02010600040101010101" pitchFamily="2" charset="-122"/>
              </a:rPr>
              <a:t>和“</a:t>
            </a:r>
            <a:r>
              <a:rPr lang="en-US" altLang="zh-CN" sz="3600" baseline="0">
                <a:solidFill>
                  <a:srgbClr val="FF0066"/>
                </a:solidFill>
                <a:latin typeface="Times New Roman" panose="02020603050405020304" pitchFamily="18" charset="0"/>
                <a:ea typeface="楷体-简" panose="02010600040101010101" pitchFamily="2" charset="-122"/>
              </a:rPr>
              <a:t>&amp;&amp;”</a:t>
            </a:r>
            <a:r>
              <a:rPr lang="zh-CN" altLang="en-US" sz="3600" baseline="0">
                <a:solidFill>
                  <a:srgbClr val="FF0066"/>
                </a:solidFill>
                <a:latin typeface="Times New Roman" panose="02020603050405020304" pitchFamily="18" charset="0"/>
                <a:ea typeface="楷体-简" panose="02010600040101010101" pitchFamily="2" charset="-122"/>
              </a:rPr>
              <a:t>的区别举例</a:t>
            </a:r>
          </a:p>
        </p:txBody>
      </p:sp>
      <p:sp>
        <p:nvSpPr>
          <p:cNvPr id="47107" name="Rectangle 3">
            <a:extLst>
              <a:ext uri="{FF2B5EF4-FFF2-40B4-BE49-F238E27FC236}">
                <a16:creationId xmlns:a16="http://schemas.microsoft.com/office/drawing/2014/main" id="{03C276DE-3ABF-4CE4-BDED-031E0E438385}"/>
              </a:ext>
            </a:extLst>
          </p:cNvPr>
          <p:cNvSpPr>
            <a:spLocks noGrp="1" noChangeArrowheads="1"/>
          </p:cNvSpPr>
          <p:nvPr>
            <p:ph type="body" idx="1"/>
          </p:nvPr>
        </p:nvSpPr>
        <p:spPr>
          <a:xfrm>
            <a:off x="971761" y="1772816"/>
            <a:ext cx="7200478" cy="4536157"/>
          </a:xfrm>
        </p:spPr>
        <p:txBody>
          <a:bodyPr/>
          <a:lstStyle/>
          <a:p>
            <a:pPr eaLnBrk="1" hangingPunct="1">
              <a:lnSpc>
                <a:spcPct val="70000"/>
              </a:lnSpc>
              <a:buFontTx/>
              <a:buNone/>
            </a:pPr>
            <a:r>
              <a:rPr lang="en-US" altLang="zh-CN" sz="2400" b="1">
                <a:solidFill>
                  <a:srgbClr val="0000CC"/>
                </a:solidFill>
              </a:rPr>
              <a:t>public class</a:t>
            </a:r>
            <a:r>
              <a:rPr lang="en-US" altLang="zh-CN" sz="2400" b="1"/>
              <a:t> TestAnd</a:t>
            </a:r>
          </a:p>
          <a:p>
            <a:pPr eaLnBrk="1" hangingPunct="1">
              <a:lnSpc>
                <a:spcPct val="70000"/>
              </a:lnSpc>
              <a:buFontTx/>
              <a:buNone/>
            </a:pPr>
            <a:r>
              <a:rPr lang="en-US" altLang="zh-CN" sz="2400" b="1"/>
              <a:t>{</a:t>
            </a:r>
          </a:p>
          <a:p>
            <a:pPr eaLnBrk="1" hangingPunct="1">
              <a:lnSpc>
                <a:spcPct val="70000"/>
              </a:lnSpc>
              <a:buFontTx/>
              <a:buNone/>
            </a:pPr>
            <a:r>
              <a:rPr lang="en-US" altLang="zh-CN" sz="2400" b="1"/>
              <a:t>   </a:t>
            </a:r>
            <a:r>
              <a:rPr lang="en-US" altLang="zh-CN" sz="2400" b="1">
                <a:solidFill>
                  <a:srgbClr val="0000CC"/>
                </a:solidFill>
              </a:rPr>
              <a:t>public static void</a:t>
            </a:r>
            <a:r>
              <a:rPr lang="en-US" altLang="zh-CN" sz="2400" b="1"/>
              <a:t> main(</a:t>
            </a:r>
            <a:r>
              <a:rPr lang="en-US" altLang="zh-CN" sz="2400" b="1">
                <a:solidFill>
                  <a:srgbClr val="FF0066"/>
                </a:solidFill>
              </a:rPr>
              <a:t>String</a:t>
            </a:r>
            <a:r>
              <a:rPr lang="en-US" altLang="zh-CN" sz="2400" b="1"/>
              <a:t>[] args)</a:t>
            </a:r>
          </a:p>
          <a:p>
            <a:pPr eaLnBrk="1" hangingPunct="1">
              <a:lnSpc>
                <a:spcPct val="70000"/>
              </a:lnSpc>
              <a:buFontTx/>
              <a:buNone/>
            </a:pPr>
            <a:r>
              <a:rPr lang="en-US" altLang="zh-CN" sz="2400" b="1"/>
              <a:t>   {</a:t>
            </a:r>
          </a:p>
          <a:p>
            <a:pPr eaLnBrk="1" hangingPunct="1">
              <a:lnSpc>
                <a:spcPct val="70000"/>
              </a:lnSpc>
              <a:buFontTx/>
              <a:buNone/>
            </a:pPr>
            <a:r>
              <a:rPr lang="en-US" altLang="zh-CN" sz="2400" b="1"/>
              <a:t>       int x=0, y=3;</a:t>
            </a:r>
          </a:p>
          <a:p>
            <a:pPr eaLnBrk="1" hangingPunct="1">
              <a:lnSpc>
                <a:spcPct val="70000"/>
              </a:lnSpc>
              <a:buFontTx/>
              <a:buNone/>
            </a:pPr>
            <a:r>
              <a:rPr lang="en-US" altLang="zh-CN" sz="2400" b="1"/>
              <a:t>	   </a:t>
            </a:r>
            <a:r>
              <a:rPr lang="en-US" altLang="zh-CN" sz="2400" b="1">
                <a:solidFill>
                  <a:srgbClr val="0000CC"/>
                </a:solidFill>
              </a:rPr>
              <a:t>if </a:t>
            </a:r>
            <a:r>
              <a:rPr lang="en-US" altLang="zh-CN" sz="2400" b="1"/>
              <a:t>(x!=0 &amp;&amp; y==y/x)    //</a:t>
            </a:r>
            <a:r>
              <a:rPr lang="zh-CN" altLang="en-US" sz="2400" b="1"/>
              <a:t>第二个操作数不再计算</a:t>
            </a:r>
          </a:p>
          <a:p>
            <a:pPr eaLnBrk="1" hangingPunct="1">
              <a:lnSpc>
                <a:spcPct val="70000"/>
              </a:lnSpc>
              <a:buFontTx/>
              <a:buNone/>
            </a:pPr>
            <a:r>
              <a:rPr lang="zh-CN" altLang="en-US" sz="2400" b="1"/>
              <a:t>      	</a:t>
            </a:r>
            <a:r>
              <a:rPr lang="en-US" altLang="zh-CN" sz="2400" b="1">
                <a:solidFill>
                  <a:srgbClr val="FF0066"/>
                </a:solidFill>
              </a:rPr>
              <a:t>System</a:t>
            </a:r>
            <a:r>
              <a:rPr lang="en-US" altLang="zh-CN" sz="2400" b="1"/>
              <a:t>.out.println("y = "+y);</a:t>
            </a:r>
          </a:p>
          <a:p>
            <a:pPr eaLnBrk="1" hangingPunct="1">
              <a:lnSpc>
                <a:spcPct val="70000"/>
              </a:lnSpc>
              <a:buFontTx/>
              <a:buNone/>
            </a:pPr>
            <a:r>
              <a:rPr lang="en-US" altLang="zh-CN" sz="2400" b="1"/>
              <a:t>	</a:t>
            </a:r>
          </a:p>
          <a:p>
            <a:pPr eaLnBrk="1" hangingPunct="1">
              <a:lnSpc>
                <a:spcPct val="70000"/>
              </a:lnSpc>
              <a:buFontTx/>
              <a:buNone/>
            </a:pPr>
            <a:r>
              <a:rPr lang="en-US" altLang="zh-CN" sz="2400" b="1"/>
              <a:t>       </a:t>
            </a:r>
            <a:r>
              <a:rPr lang="en-US" altLang="zh-CN" sz="2400" b="1">
                <a:solidFill>
                  <a:srgbClr val="0000CC"/>
                </a:solidFill>
              </a:rPr>
              <a:t>if </a:t>
            </a:r>
            <a:r>
              <a:rPr lang="en-US" altLang="zh-CN" sz="2400" b="1"/>
              <a:t>((x==0) || y==y/x)    //</a:t>
            </a:r>
            <a:r>
              <a:rPr lang="zh-CN" altLang="en-US" sz="2400" b="1"/>
              <a:t>第二个操作数不再计算</a:t>
            </a:r>
          </a:p>
          <a:p>
            <a:pPr eaLnBrk="1" hangingPunct="1">
              <a:lnSpc>
                <a:spcPct val="70000"/>
              </a:lnSpc>
              <a:buFontTx/>
              <a:buNone/>
            </a:pPr>
            <a:r>
              <a:rPr lang="zh-CN" altLang="en-US" sz="2400" b="1"/>
              <a:t>            </a:t>
            </a:r>
            <a:r>
              <a:rPr lang="en-US" altLang="zh-CN" sz="2400" b="1">
                <a:solidFill>
                  <a:srgbClr val="FF0066"/>
                </a:solidFill>
              </a:rPr>
              <a:t>System</a:t>
            </a:r>
            <a:r>
              <a:rPr lang="en-US" altLang="zh-CN" sz="2400" b="1"/>
              <a:t>.out.println("y = "+y); </a:t>
            </a:r>
          </a:p>
          <a:p>
            <a:pPr eaLnBrk="1" hangingPunct="1">
              <a:lnSpc>
                <a:spcPct val="70000"/>
              </a:lnSpc>
              <a:buFontTx/>
              <a:buNone/>
            </a:pPr>
            <a:endParaRPr lang="en-US" altLang="zh-CN" sz="2400" b="1"/>
          </a:p>
          <a:p>
            <a:pPr eaLnBrk="1" hangingPunct="1">
              <a:lnSpc>
                <a:spcPct val="70000"/>
              </a:lnSpc>
              <a:buFontTx/>
              <a:buNone/>
            </a:pPr>
            <a:r>
              <a:rPr lang="en-US" altLang="zh-CN" sz="2400" b="1"/>
              <a:t>   }</a:t>
            </a:r>
          </a:p>
          <a:p>
            <a:pPr eaLnBrk="1" hangingPunct="1">
              <a:lnSpc>
                <a:spcPct val="70000"/>
              </a:lnSpc>
              <a:buFontTx/>
              <a:buNone/>
            </a:pPr>
            <a:r>
              <a:rPr lang="en-US" altLang="zh-CN" sz="2400" b="1"/>
              <a: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EFED75E8-244C-427A-876F-F8650A8BD94A}"/>
              </a:ext>
            </a:extLst>
          </p:cNvPr>
          <p:cNvSpPr>
            <a:spLocks noGrp="1" noChangeArrowheads="1"/>
          </p:cNvSpPr>
          <p:nvPr>
            <p:ph type="title"/>
          </p:nvPr>
        </p:nvSpPr>
        <p:spPr>
          <a:xfrm>
            <a:off x="457200" y="274638"/>
            <a:ext cx="8229600" cy="706437"/>
          </a:xfrm>
        </p:spPr>
        <p:txBody>
          <a:bodyPr/>
          <a:lstStyle/>
          <a:p>
            <a:pPr eaLnBrk="1" hangingPunct="1"/>
            <a:r>
              <a:rPr lang="zh-CN" altLang="en-US" sz="3600" b="1" baseline="0">
                <a:solidFill>
                  <a:srgbClr val="FF0066"/>
                </a:solidFill>
                <a:latin typeface="Times New Roman" panose="02020603050405020304" pitchFamily="18" charset="0"/>
                <a:ea typeface="楷体-简" panose="02010600040101010101" pitchFamily="2" charset="-122"/>
              </a:rPr>
              <a:t>位运算符</a:t>
            </a:r>
          </a:p>
        </p:txBody>
      </p:sp>
      <p:sp>
        <p:nvSpPr>
          <p:cNvPr id="49155" name="Rectangle 3">
            <a:extLst>
              <a:ext uri="{FF2B5EF4-FFF2-40B4-BE49-F238E27FC236}">
                <a16:creationId xmlns:a16="http://schemas.microsoft.com/office/drawing/2014/main" id="{D2D61984-B064-4BC0-BA0D-5A83C7538F14}"/>
              </a:ext>
            </a:extLst>
          </p:cNvPr>
          <p:cNvSpPr>
            <a:spLocks noGrp="1" noChangeArrowheads="1"/>
          </p:cNvSpPr>
          <p:nvPr>
            <p:ph type="body" idx="1"/>
          </p:nvPr>
        </p:nvSpPr>
        <p:spPr>
          <a:xfrm>
            <a:off x="228600" y="1200972"/>
            <a:ext cx="8686800" cy="5400823"/>
          </a:xfrm>
        </p:spPr>
        <p:txBody>
          <a:bodyPr/>
          <a:lstStyle/>
          <a:p>
            <a:pPr eaLnBrk="1" hangingPunct="1">
              <a:lnSpc>
                <a:spcPct val="90000"/>
              </a:lnSpc>
              <a:buFont typeface="Wingdings" panose="05000000000000000000" pitchFamily="2" charset="2"/>
              <a:buChar char="Ø"/>
            </a:pPr>
            <a:r>
              <a:rPr lang="zh-CN" altLang="en-US" sz="2400" b="1" baseline="0">
                <a:latin typeface="Times New Roman" panose="02020603050405020304" pitchFamily="18" charset="0"/>
                <a:ea typeface="楷体-简" panose="02010600040101010101" pitchFamily="2" charset="-122"/>
              </a:rPr>
              <a:t>移位运算符</a:t>
            </a:r>
            <a:r>
              <a:rPr lang="en-US" altLang="zh-CN" sz="2400" b="1" baseline="0">
                <a:latin typeface="Times New Roman" panose="02020603050405020304" pitchFamily="18" charset="0"/>
                <a:ea typeface="楷体-简" panose="02010600040101010101" pitchFamily="2" charset="-122"/>
              </a:rPr>
              <a:t>: &lt;&lt;(</a:t>
            </a:r>
            <a:r>
              <a:rPr lang="zh-CN" altLang="en-US" sz="2400" b="1" baseline="0">
                <a:latin typeface="Times New Roman" panose="02020603050405020304" pitchFamily="18" charset="0"/>
                <a:ea typeface="楷体-简" panose="02010600040101010101" pitchFamily="2" charset="-122"/>
              </a:rPr>
              <a:t>左移</a:t>
            </a:r>
            <a:r>
              <a:rPr lang="en-US" altLang="zh-CN" sz="2400" b="1" baseline="0">
                <a:latin typeface="Times New Roman" panose="02020603050405020304" pitchFamily="18" charset="0"/>
                <a:ea typeface="楷体-简" panose="02010600040101010101" pitchFamily="2" charset="-122"/>
              </a:rPr>
              <a:t>)</a:t>
            </a:r>
            <a:r>
              <a:rPr lang="zh-CN" altLang="en-US" sz="2400" b="1" baseline="0">
                <a:latin typeface="Times New Roman" panose="02020603050405020304" pitchFamily="18" charset="0"/>
                <a:ea typeface="楷体-简" panose="02010600040101010101" pitchFamily="2" charset="-122"/>
              </a:rPr>
              <a:t>， </a:t>
            </a:r>
            <a:r>
              <a:rPr lang="en-US" altLang="zh-CN" sz="2400" b="1" baseline="0">
                <a:latin typeface="Times New Roman" panose="02020603050405020304" pitchFamily="18" charset="0"/>
                <a:ea typeface="楷体-简" panose="02010600040101010101" pitchFamily="2" charset="-122"/>
              </a:rPr>
              <a:t>&gt;&gt;(</a:t>
            </a:r>
            <a:r>
              <a:rPr lang="zh-CN" altLang="en-US" sz="2400" b="1" baseline="0">
                <a:latin typeface="Times New Roman" panose="02020603050405020304" pitchFamily="18" charset="0"/>
                <a:ea typeface="楷体-简" panose="02010600040101010101" pitchFamily="2" charset="-122"/>
              </a:rPr>
              <a:t>算术右移</a:t>
            </a:r>
            <a:r>
              <a:rPr lang="en-US" altLang="zh-CN" sz="2400" b="1" baseline="0">
                <a:latin typeface="Times New Roman" panose="02020603050405020304" pitchFamily="18" charset="0"/>
                <a:ea typeface="楷体-简" panose="02010600040101010101" pitchFamily="2" charset="-122"/>
              </a:rPr>
              <a:t>)</a:t>
            </a:r>
            <a:r>
              <a:rPr lang="zh-CN" altLang="en-US" sz="2400" b="1" baseline="0">
                <a:latin typeface="Times New Roman" panose="02020603050405020304" pitchFamily="18" charset="0"/>
                <a:ea typeface="楷体-简" panose="02010600040101010101" pitchFamily="2" charset="-122"/>
              </a:rPr>
              <a:t>，</a:t>
            </a:r>
            <a:r>
              <a:rPr lang="en-US" altLang="zh-CN" sz="2400" b="1" baseline="0">
                <a:latin typeface="Times New Roman" panose="02020603050405020304" pitchFamily="18" charset="0"/>
                <a:ea typeface="楷体-简" panose="02010600040101010101" pitchFamily="2" charset="-122"/>
              </a:rPr>
              <a:t>&gt;&gt;&gt;(</a:t>
            </a:r>
            <a:r>
              <a:rPr lang="zh-CN" altLang="en-US" sz="2400" b="1" baseline="0">
                <a:latin typeface="Times New Roman" panose="02020603050405020304" pitchFamily="18" charset="0"/>
                <a:ea typeface="楷体-简" panose="02010600040101010101" pitchFamily="2" charset="-122"/>
              </a:rPr>
              <a:t>无符号右移</a:t>
            </a:r>
            <a:r>
              <a:rPr lang="zh-CN" altLang="en-US" sz="2400" baseline="0">
                <a:latin typeface="Times New Roman" panose="02020603050405020304" pitchFamily="18" charset="0"/>
                <a:ea typeface="楷体-简" panose="02010600040101010101" pitchFamily="2" charset="-122"/>
              </a:rPr>
              <a:t> </a:t>
            </a:r>
            <a:r>
              <a:rPr lang="en-US" altLang="zh-CN" sz="2400" baseline="0">
                <a:latin typeface="Times New Roman" panose="02020603050405020304" pitchFamily="18" charset="0"/>
                <a:ea typeface="楷体-简" panose="02010600040101010101" pitchFamily="2" charset="-122"/>
              </a:rPr>
              <a:t>)</a:t>
            </a:r>
          </a:p>
          <a:p>
            <a:pPr eaLnBrk="1" hangingPunct="1">
              <a:lnSpc>
                <a:spcPct val="90000"/>
              </a:lnSpc>
              <a:buFontTx/>
              <a:buNone/>
            </a:pPr>
            <a:r>
              <a:rPr lang="en-US" altLang="zh-CN" sz="2400" b="1" baseline="0">
                <a:latin typeface="Times New Roman" panose="02020603050405020304" pitchFamily="18" charset="0"/>
                <a:ea typeface="楷体-简" panose="02010600040101010101" pitchFamily="2" charset="-122"/>
              </a:rPr>
              <a:t> </a:t>
            </a:r>
            <a:r>
              <a:rPr lang="zh-CN" altLang="en-US" sz="2400" baseline="0">
                <a:latin typeface="Times New Roman" panose="02020603050405020304" pitchFamily="18" charset="0"/>
                <a:ea typeface="楷体-简" panose="02010600040101010101" pitchFamily="2" charset="-122"/>
              </a:rPr>
              <a:t>例如：</a:t>
            </a:r>
          </a:p>
          <a:p>
            <a:pPr eaLnBrk="1" hangingPunct="1">
              <a:lnSpc>
                <a:spcPct val="90000"/>
              </a:lnSpc>
              <a:buFontTx/>
              <a:buNone/>
            </a:pPr>
            <a:r>
              <a:rPr lang="zh-CN" altLang="en-US" sz="2400" baseline="0">
                <a:latin typeface="Times New Roman" panose="02020603050405020304" pitchFamily="18" charset="0"/>
                <a:ea typeface="楷体-简" panose="02010600040101010101" pitchFamily="2" charset="-122"/>
              </a:rPr>
              <a:t>　	            </a:t>
            </a:r>
            <a:r>
              <a:rPr lang="en-US" altLang="zh-CN" sz="2400" baseline="0">
                <a:latin typeface="Times New Roman" panose="02020603050405020304" pitchFamily="18" charset="0"/>
                <a:ea typeface="楷体-简" panose="02010600040101010101" pitchFamily="2" charset="-122"/>
              </a:rPr>
              <a:t>a=10011101;</a:t>
            </a:r>
          </a:p>
          <a:p>
            <a:pPr eaLnBrk="1" hangingPunct="1">
              <a:lnSpc>
                <a:spcPct val="90000"/>
              </a:lnSpc>
              <a:buFontTx/>
              <a:buNone/>
            </a:pPr>
            <a:r>
              <a:rPr lang="en-US" altLang="zh-CN" sz="2400" baseline="0">
                <a:latin typeface="Times New Roman" panose="02020603050405020304" pitchFamily="18" charset="0"/>
                <a:ea typeface="楷体-简" panose="02010600040101010101" pitchFamily="2" charset="-122"/>
              </a:rPr>
              <a:t>                b=00111001</a:t>
            </a:r>
            <a:r>
              <a:rPr lang="zh-CN" altLang="en-US" sz="2400" baseline="0">
                <a:latin typeface="Times New Roman" panose="02020603050405020304" pitchFamily="18" charset="0"/>
                <a:ea typeface="楷体-简" panose="02010600040101010101" pitchFamily="2" charset="-122"/>
              </a:rPr>
              <a:t>；</a:t>
            </a:r>
          </a:p>
          <a:p>
            <a:pPr eaLnBrk="1" hangingPunct="1">
              <a:lnSpc>
                <a:spcPct val="90000"/>
              </a:lnSpc>
              <a:buFontTx/>
              <a:buNone/>
            </a:pPr>
            <a:r>
              <a:rPr lang="zh-CN" altLang="en-US" sz="2400" baseline="0">
                <a:latin typeface="Times New Roman" panose="02020603050405020304" pitchFamily="18" charset="0"/>
                <a:ea typeface="楷体-简" panose="02010600040101010101" pitchFamily="2" charset="-122"/>
              </a:rPr>
              <a:t>     　　　</a:t>
            </a:r>
            <a:r>
              <a:rPr lang="en-US" altLang="zh-CN" sz="2400" baseline="0">
                <a:latin typeface="Times New Roman" panose="02020603050405020304" pitchFamily="18" charset="0"/>
                <a:ea typeface="楷体-简" panose="02010600040101010101" pitchFamily="2" charset="-122"/>
              </a:rPr>
              <a:t>a&lt;&lt;3 =11101000;</a:t>
            </a:r>
            <a:br>
              <a:rPr lang="en-US" altLang="zh-CN" sz="2400" baseline="0">
                <a:latin typeface="Times New Roman" panose="02020603050405020304" pitchFamily="18" charset="0"/>
                <a:ea typeface="楷体-简" panose="02010600040101010101" pitchFamily="2" charset="-122"/>
              </a:rPr>
            </a:br>
            <a:r>
              <a:rPr lang="zh-CN" altLang="en-US" sz="2400" baseline="0">
                <a:latin typeface="Times New Roman" panose="02020603050405020304" pitchFamily="18" charset="0"/>
                <a:ea typeface="楷体-简" panose="02010600040101010101" pitchFamily="2" charset="-122"/>
              </a:rPr>
              <a:t>　　　 </a:t>
            </a:r>
            <a:r>
              <a:rPr lang="en-US" altLang="zh-CN" sz="2400" baseline="0">
                <a:latin typeface="Times New Roman" panose="02020603050405020304" pitchFamily="18" charset="0"/>
                <a:ea typeface="楷体-简" panose="02010600040101010101" pitchFamily="2" charset="-122"/>
              </a:rPr>
              <a:t>a&gt;&gt;3 =11110011 </a:t>
            </a:r>
          </a:p>
          <a:p>
            <a:pPr eaLnBrk="1" hangingPunct="1">
              <a:lnSpc>
                <a:spcPct val="90000"/>
              </a:lnSpc>
              <a:buFontTx/>
              <a:buNone/>
            </a:pPr>
            <a:r>
              <a:rPr lang="en-US" altLang="zh-CN" sz="2400" baseline="0">
                <a:latin typeface="Times New Roman" panose="02020603050405020304" pitchFamily="18" charset="0"/>
                <a:ea typeface="楷体-简" panose="02010600040101010101" pitchFamily="2" charset="-122"/>
              </a:rPr>
              <a:t>                a&gt;&gt;&gt;3=00010011;</a:t>
            </a:r>
            <a:br>
              <a:rPr lang="en-US" altLang="zh-CN" sz="2400" baseline="0">
                <a:latin typeface="Times New Roman" panose="02020603050405020304" pitchFamily="18" charset="0"/>
                <a:ea typeface="楷体-简" panose="02010600040101010101" pitchFamily="2" charset="-122"/>
              </a:rPr>
            </a:br>
            <a:endParaRPr lang="en-US" altLang="zh-CN" sz="2400" b="1" baseline="0">
              <a:latin typeface="Times New Roman" panose="02020603050405020304" pitchFamily="18" charset="0"/>
              <a:ea typeface="楷体-简" panose="02010600040101010101" pitchFamily="2" charset="-122"/>
            </a:endParaRPr>
          </a:p>
          <a:p>
            <a:pPr eaLnBrk="1" hangingPunct="1">
              <a:lnSpc>
                <a:spcPct val="90000"/>
              </a:lnSpc>
              <a:buFont typeface="Wingdings" panose="05000000000000000000" pitchFamily="2" charset="2"/>
              <a:buChar char="Ø"/>
            </a:pPr>
            <a:r>
              <a:rPr lang="zh-CN" altLang="en-US" sz="2400" b="1" baseline="0">
                <a:latin typeface="Times New Roman" panose="02020603050405020304" pitchFamily="18" charset="0"/>
                <a:ea typeface="楷体-简" panose="02010600040101010101" pitchFamily="2" charset="-122"/>
              </a:rPr>
              <a:t>位逻辑运算符</a:t>
            </a:r>
            <a:r>
              <a:rPr lang="en-US" altLang="zh-CN" sz="2400" b="1" baseline="0">
                <a:latin typeface="Times New Roman" panose="02020603050405020304" pitchFamily="18" charset="0"/>
                <a:ea typeface="楷体-简" panose="02010600040101010101" pitchFamily="2" charset="-122"/>
              </a:rPr>
              <a:t>:  &amp; (</a:t>
            </a:r>
            <a:r>
              <a:rPr lang="zh-CN" altLang="en-US" sz="2400" b="1" baseline="0">
                <a:latin typeface="Times New Roman" panose="02020603050405020304" pitchFamily="18" charset="0"/>
                <a:ea typeface="楷体-简" panose="02010600040101010101" pitchFamily="2" charset="-122"/>
              </a:rPr>
              <a:t>与</a:t>
            </a:r>
            <a:r>
              <a:rPr lang="en-US" altLang="zh-CN" sz="2400" b="1" baseline="0">
                <a:latin typeface="Times New Roman" panose="02020603050405020304" pitchFamily="18" charset="0"/>
                <a:ea typeface="楷体-简" panose="02010600040101010101" pitchFamily="2" charset="-122"/>
              </a:rPr>
              <a:t>)  ,   | (</a:t>
            </a:r>
            <a:r>
              <a:rPr lang="zh-CN" altLang="en-US" sz="2400" b="1" baseline="0">
                <a:latin typeface="Times New Roman" panose="02020603050405020304" pitchFamily="18" charset="0"/>
                <a:ea typeface="楷体-简" panose="02010600040101010101" pitchFamily="2" charset="-122"/>
              </a:rPr>
              <a:t>或</a:t>
            </a:r>
            <a:r>
              <a:rPr lang="en-US" altLang="zh-CN" sz="2400" b="1" baseline="0">
                <a:latin typeface="Times New Roman" panose="02020603050405020304" pitchFamily="18" charset="0"/>
                <a:ea typeface="楷体-简" panose="02010600040101010101" pitchFamily="2" charset="-122"/>
              </a:rPr>
              <a:t>),  ~ </a:t>
            </a:r>
            <a:r>
              <a:rPr lang="zh-CN" altLang="en-US" sz="2400" b="1" baseline="0">
                <a:latin typeface="Times New Roman" panose="02020603050405020304" pitchFamily="18" charset="0"/>
                <a:ea typeface="楷体-简" panose="02010600040101010101" pitchFamily="2" charset="-122"/>
              </a:rPr>
              <a:t>非（也叫做求反） </a:t>
            </a:r>
            <a:r>
              <a:rPr lang="en-US" altLang="zh-CN" sz="2400" b="1" baseline="0">
                <a:latin typeface="Times New Roman" panose="02020603050405020304" pitchFamily="18" charset="0"/>
                <a:ea typeface="楷体-简" panose="02010600040101010101" pitchFamily="2" charset="-122"/>
              </a:rPr>
              <a:t>^(</a:t>
            </a:r>
            <a:r>
              <a:rPr lang="zh-CN" altLang="en-US" sz="2400" b="1" baseline="0">
                <a:latin typeface="Times New Roman" panose="02020603050405020304" pitchFamily="18" charset="0"/>
                <a:ea typeface="楷体-简" panose="02010600040101010101" pitchFamily="2" charset="-122"/>
              </a:rPr>
              <a:t>异或</a:t>
            </a:r>
            <a:r>
              <a:rPr lang="en-US" altLang="zh-CN" sz="2400" b="1" baseline="0">
                <a:latin typeface="Times New Roman" panose="02020603050405020304" pitchFamily="18" charset="0"/>
                <a:ea typeface="楷体-简" panose="02010600040101010101" pitchFamily="2" charset="-122"/>
              </a:rPr>
              <a:t>)</a:t>
            </a:r>
            <a:r>
              <a:rPr lang="en-US" altLang="zh-CN" sz="2400" baseline="0">
                <a:latin typeface="Times New Roman" panose="02020603050405020304" pitchFamily="18" charset="0"/>
                <a:ea typeface="楷体-简" panose="02010600040101010101" pitchFamily="2" charset="-122"/>
              </a:rPr>
              <a:t> </a:t>
            </a:r>
            <a:r>
              <a:rPr lang="zh-CN" altLang="en-US" sz="2400" b="1" baseline="0">
                <a:latin typeface="Times New Roman" panose="02020603050405020304" pitchFamily="18" charset="0"/>
                <a:ea typeface="楷体-简" panose="02010600040101010101" pitchFamily="2" charset="-122"/>
              </a:rPr>
              <a:t>　　</a:t>
            </a:r>
          </a:p>
          <a:p>
            <a:pPr eaLnBrk="1" hangingPunct="1">
              <a:lnSpc>
                <a:spcPct val="90000"/>
              </a:lnSpc>
              <a:buFontTx/>
              <a:buNone/>
            </a:pPr>
            <a:r>
              <a:rPr lang="zh-CN" altLang="en-US" sz="2400" b="1" baseline="0">
                <a:latin typeface="Times New Roman" panose="02020603050405020304" pitchFamily="18" charset="0"/>
                <a:ea typeface="楷体-简" panose="02010600040101010101" pitchFamily="2" charset="-122"/>
              </a:rPr>
              <a:t> </a:t>
            </a:r>
            <a:r>
              <a:rPr lang="zh-CN" altLang="en-US" sz="2400" baseline="0">
                <a:latin typeface="Times New Roman" panose="02020603050405020304" pitchFamily="18" charset="0"/>
                <a:ea typeface="楷体-简" panose="02010600040101010101" pitchFamily="2" charset="-122"/>
              </a:rPr>
              <a:t>例如：</a:t>
            </a:r>
            <a:br>
              <a:rPr lang="zh-CN" altLang="en-US" sz="2400" baseline="0">
                <a:latin typeface="Times New Roman" panose="02020603050405020304" pitchFamily="18" charset="0"/>
                <a:ea typeface="楷体-简" panose="02010600040101010101" pitchFamily="2" charset="-122"/>
              </a:rPr>
            </a:br>
            <a:r>
              <a:rPr lang="zh-CN" altLang="en-US" sz="2400" baseline="0">
                <a:latin typeface="Times New Roman" panose="02020603050405020304" pitchFamily="18" charset="0"/>
                <a:ea typeface="楷体-简" panose="02010600040101010101" pitchFamily="2" charset="-122"/>
              </a:rPr>
              <a:t>　　　</a:t>
            </a:r>
            <a:r>
              <a:rPr lang="en-US" altLang="zh-CN" sz="2400" baseline="0">
                <a:latin typeface="Times New Roman" panose="02020603050405020304" pitchFamily="18" charset="0"/>
                <a:ea typeface="楷体-简" panose="02010600040101010101" pitchFamily="2" charset="-122"/>
              </a:rPr>
              <a:t>a&amp;b=00011001; </a:t>
            </a:r>
          </a:p>
          <a:p>
            <a:pPr eaLnBrk="1" hangingPunct="1">
              <a:lnSpc>
                <a:spcPct val="90000"/>
              </a:lnSpc>
              <a:buFontTx/>
              <a:buNone/>
            </a:pPr>
            <a:r>
              <a:rPr lang="en-US" altLang="zh-CN" sz="2400" baseline="0">
                <a:latin typeface="Times New Roman" panose="02020603050405020304" pitchFamily="18" charset="0"/>
                <a:ea typeface="楷体-简" panose="02010600040101010101" pitchFamily="2" charset="-122"/>
              </a:rPr>
              <a:t>               a|b=10111101;</a:t>
            </a:r>
            <a:br>
              <a:rPr lang="en-US" altLang="zh-CN" sz="2400" baseline="0">
                <a:latin typeface="Times New Roman" panose="02020603050405020304" pitchFamily="18" charset="0"/>
                <a:ea typeface="楷体-简" panose="02010600040101010101" pitchFamily="2" charset="-122"/>
              </a:rPr>
            </a:br>
            <a:r>
              <a:rPr lang="zh-CN" altLang="en-US" sz="2400" baseline="0">
                <a:latin typeface="Times New Roman" panose="02020603050405020304" pitchFamily="18" charset="0"/>
                <a:ea typeface="楷体-简" panose="02010600040101010101" pitchFamily="2" charset="-122"/>
              </a:rPr>
              <a:t>　　    </a:t>
            </a:r>
            <a:r>
              <a:rPr lang="en-US" altLang="zh-CN" sz="2400" baseline="0">
                <a:latin typeface="Times New Roman" panose="02020603050405020304" pitchFamily="18" charset="0"/>
                <a:ea typeface="楷体-简" panose="02010600040101010101" pitchFamily="2" charset="-122"/>
              </a:rPr>
              <a:t>~a=01100010; </a:t>
            </a:r>
          </a:p>
          <a:p>
            <a:pPr eaLnBrk="1" hangingPunct="1">
              <a:lnSpc>
                <a:spcPct val="90000"/>
              </a:lnSpc>
              <a:buFontTx/>
              <a:buNone/>
            </a:pPr>
            <a:r>
              <a:rPr lang="en-US" altLang="zh-CN" sz="2400" baseline="0">
                <a:latin typeface="Times New Roman" panose="02020603050405020304" pitchFamily="18" charset="0"/>
                <a:ea typeface="楷体-简" panose="02010600040101010101" pitchFamily="2" charset="-122"/>
              </a:rPr>
              <a:t>               a^b=10100100; </a:t>
            </a: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3">
            <a:extLst>
              <a:ext uri="{FF2B5EF4-FFF2-40B4-BE49-F238E27FC236}">
                <a16:creationId xmlns:a16="http://schemas.microsoft.com/office/drawing/2014/main" id="{D89D2104-566D-4594-9F3A-8A12BEB30363}"/>
              </a:ext>
            </a:extLst>
          </p:cNvPr>
          <p:cNvSpPr>
            <a:spLocks noGrp="1" noChangeArrowheads="1"/>
          </p:cNvSpPr>
          <p:nvPr>
            <p:ph type="body" idx="1"/>
          </p:nvPr>
        </p:nvSpPr>
        <p:spPr>
          <a:xfrm>
            <a:off x="570384" y="584758"/>
            <a:ext cx="8003232" cy="5688483"/>
          </a:xfrm>
        </p:spPr>
        <p:txBody>
          <a:bodyPr/>
          <a:lstStyle/>
          <a:p>
            <a:pPr algn="ctr" eaLnBrk="1" hangingPunct="1">
              <a:lnSpc>
                <a:spcPct val="90000"/>
              </a:lnSpc>
              <a:buFontTx/>
              <a:buNone/>
            </a:pPr>
            <a:r>
              <a:rPr lang="zh-CN" altLang="en-US" sz="3600" baseline="0" dirty="0">
                <a:solidFill>
                  <a:srgbClr val="FF0066"/>
                </a:solidFill>
                <a:latin typeface="Times New Roman" panose="02020603050405020304" pitchFamily="18" charset="0"/>
                <a:ea typeface="楷体-简" panose="02010600040101010101" pitchFamily="2" charset="-122"/>
              </a:rPr>
              <a:t>移位运算的注意事项</a:t>
            </a:r>
          </a:p>
          <a:p>
            <a:pPr eaLnBrk="1" hangingPunct="1">
              <a:lnSpc>
                <a:spcPct val="90000"/>
              </a:lnSpc>
            </a:pPr>
            <a:endParaRPr lang="en-US" altLang="zh-CN" sz="2400" baseline="0" dirty="0">
              <a:latin typeface="Times New Roman" panose="02020603050405020304" pitchFamily="18" charset="0"/>
              <a:ea typeface="楷体-简" panose="02010600040101010101" pitchFamily="2" charset="-122"/>
            </a:endParaRPr>
          </a:p>
          <a:p>
            <a:pPr eaLnBrk="1" hangingPunct="1">
              <a:lnSpc>
                <a:spcPct val="90000"/>
              </a:lnSpc>
            </a:pPr>
            <a:r>
              <a:rPr lang="zh-CN" altLang="en-US" sz="2400" baseline="0" dirty="0">
                <a:latin typeface="Times New Roman" panose="02020603050405020304" pitchFamily="18" charset="0"/>
                <a:ea typeface="楷体-简" panose="02010600040101010101" pitchFamily="2" charset="-122"/>
                <a:cs typeface="Times New Roman" panose="02020603050405020304" pitchFamily="18" charset="0"/>
              </a:rPr>
              <a:t>移位运算符适用类型有</a:t>
            </a:r>
            <a:r>
              <a:rPr lang="en-US" altLang="zh-CN" sz="2400" baseline="0" dirty="0">
                <a:latin typeface="Times New Roman" panose="02020603050405020304" pitchFamily="18" charset="0"/>
                <a:ea typeface="楷体-简" panose="02010600040101010101" pitchFamily="2" charset="-122"/>
                <a:cs typeface="Times New Roman" panose="02020603050405020304" pitchFamily="18" charset="0"/>
              </a:rPr>
              <a:t>byte</a:t>
            </a:r>
            <a:r>
              <a:rPr lang="zh-CN" altLang="en-US" sz="2400" baseline="0" dirty="0">
                <a:latin typeface="Times New Roman" panose="02020603050405020304" pitchFamily="18" charset="0"/>
                <a:ea typeface="楷体-简" panose="02010600040101010101" pitchFamily="2" charset="-122"/>
                <a:cs typeface="Times New Roman" panose="02020603050405020304" pitchFamily="18" charset="0"/>
              </a:rPr>
              <a:t>、</a:t>
            </a:r>
            <a:r>
              <a:rPr lang="en-US" altLang="zh-CN" sz="2400" baseline="0" dirty="0">
                <a:latin typeface="Times New Roman" panose="02020603050405020304" pitchFamily="18" charset="0"/>
                <a:ea typeface="楷体-简" panose="02010600040101010101" pitchFamily="2" charset="-122"/>
                <a:cs typeface="Times New Roman" panose="02020603050405020304" pitchFamily="18" charset="0"/>
              </a:rPr>
              <a:t>short</a:t>
            </a:r>
            <a:r>
              <a:rPr lang="zh-CN" altLang="en-US" sz="2400" baseline="0" dirty="0">
                <a:latin typeface="Times New Roman" panose="02020603050405020304" pitchFamily="18" charset="0"/>
                <a:ea typeface="楷体-简" panose="02010600040101010101" pitchFamily="2" charset="-122"/>
                <a:cs typeface="Times New Roman" panose="02020603050405020304" pitchFamily="18" charset="0"/>
              </a:rPr>
              <a:t>、</a:t>
            </a:r>
            <a:r>
              <a:rPr lang="en-US" altLang="zh-CN" sz="2400" baseline="0" dirty="0">
                <a:latin typeface="Times New Roman" panose="02020603050405020304" pitchFamily="18" charset="0"/>
                <a:ea typeface="楷体-简" panose="02010600040101010101" pitchFamily="2" charset="-122"/>
                <a:cs typeface="Times New Roman" panose="02020603050405020304" pitchFamily="18" charset="0"/>
              </a:rPr>
              <a:t>char</a:t>
            </a:r>
            <a:r>
              <a:rPr lang="zh-CN" altLang="en-US" sz="2400" baseline="0" dirty="0">
                <a:latin typeface="Times New Roman" panose="02020603050405020304" pitchFamily="18" charset="0"/>
                <a:ea typeface="楷体-简" panose="02010600040101010101" pitchFamily="2" charset="-122"/>
                <a:cs typeface="Times New Roman" panose="02020603050405020304" pitchFamily="18" charset="0"/>
              </a:rPr>
              <a:t>、</a:t>
            </a:r>
            <a:r>
              <a:rPr lang="en-US" altLang="zh-CN" sz="2400" baseline="0" dirty="0">
                <a:latin typeface="Times New Roman" panose="02020603050405020304" pitchFamily="18" charset="0"/>
                <a:ea typeface="楷体-简" panose="02010600040101010101" pitchFamily="2" charset="-122"/>
                <a:cs typeface="Times New Roman" panose="02020603050405020304" pitchFamily="18" charset="0"/>
              </a:rPr>
              <a:t>int</a:t>
            </a:r>
            <a:r>
              <a:rPr lang="zh-CN" altLang="en-US" sz="2400" baseline="0" dirty="0">
                <a:latin typeface="Times New Roman" panose="02020603050405020304" pitchFamily="18" charset="0"/>
                <a:ea typeface="楷体-简" panose="02010600040101010101" pitchFamily="2" charset="-122"/>
                <a:cs typeface="Times New Roman" panose="02020603050405020304" pitchFamily="18" charset="0"/>
              </a:rPr>
              <a:t>、</a:t>
            </a:r>
            <a:r>
              <a:rPr lang="en-US" altLang="zh-CN" sz="2400" baseline="0" dirty="0">
                <a:latin typeface="Times New Roman" panose="02020603050405020304" pitchFamily="18" charset="0"/>
                <a:ea typeface="楷体-简" panose="02010600040101010101" pitchFamily="2" charset="-122"/>
                <a:cs typeface="Times New Roman" panose="02020603050405020304" pitchFamily="18" charset="0"/>
              </a:rPr>
              <a:t>long</a:t>
            </a:r>
            <a:r>
              <a:rPr lang="zh-CN" altLang="en-US" sz="2400" baseline="0" dirty="0">
                <a:latin typeface="Times New Roman" panose="02020603050405020304" pitchFamily="18" charset="0"/>
                <a:ea typeface="楷体-简" panose="02010600040101010101" pitchFamily="2" charset="-122"/>
                <a:cs typeface="Times New Roman" panose="02020603050405020304" pitchFamily="18" charset="0"/>
              </a:rPr>
              <a:t>。</a:t>
            </a:r>
            <a:endParaRPr lang="en-US" altLang="zh-CN" sz="2400" baseline="0" dirty="0">
              <a:latin typeface="Times New Roman" panose="02020603050405020304" pitchFamily="18" charset="0"/>
              <a:ea typeface="楷体-简" panose="02010600040101010101" pitchFamily="2" charset="-122"/>
              <a:cs typeface="Times New Roman" panose="02020603050405020304" pitchFamily="18" charset="0"/>
            </a:endParaRPr>
          </a:p>
          <a:p>
            <a:pPr eaLnBrk="1" hangingPunct="1">
              <a:lnSpc>
                <a:spcPct val="90000"/>
              </a:lnSpc>
            </a:pPr>
            <a:r>
              <a:rPr lang="zh-CN" altLang="en-US" sz="2400" baseline="0" dirty="0">
                <a:solidFill>
                  <a:srgbClr val="0000CC"/>
                </a:solidFill>
                <a:latin typeface="Times New Roman" panose="02020603050405020304" pitchFamily="18" charset="0"/>
                <a:ea typeface="楷体-简" panose="02010600040101010101" pitchFamily="2" charset="-122"/>
                <a:cs typeface="Times New Roman" panose="02020603050405020304" pitchFamily="18" charset="0"/>
              </a:rPr>
              <a:t>对低于</a:t>
            </a:r>
            <a:r>
              <a:rPr lang="en-US" altLang="zh-CN" sz="2400" baseline="0" dirty="0">
                <a:solidFill>
                  <a:srgbClr val="0000CC"/>
                </a:solidFill>
                <a:latin typeface="Times New Roman" panose="02020603050405020304" pitchFamily="18" charset="0"/>
                <a:ea typeface="楷体-简" panose="02010600040101010101" pitchFamily="2" charset="-122"/>
                <a:cs typeface="Times New Roman" panose="02020603050405020304" pitchFamily="18" charset="0"/>
              </a:rPr>
              <a:t>int</a:t>
            </a:r>
            <a:r>
              <a:rPr lang="zh-CN" altLang="en-US" sz="2400" baseline="0" dirty="0">
                <a:solidFill>
                  <a:srgbClr val="0000CC"/>
                </a:solidFill>
                <a:latin typeface="Times New Roman" panose="02020603050405020304" pitchFamily="18" charset="0"/>
                <a:ea typeface="楷体-简" panose="02010600040101010101" pitchFamily="2" charset="-122"/>
                <a:cs typeface="Times New Roman" panose="02020603050405020304" pitchFamily="18" charset="0"/>
              </a:rPr>
              <a:t>型的操作数</a:t>
            </a:r>
            <a:r>
              <a:rPr lang="zh-CN" altLang="en-US" sz="2400" baseline="0" dirty="0">
                <a:latin typeface="Times New Roman" panose="02020603050405020304" pitchFamily="18" charset="0"/>
                <a:ea typeface="楷体-简" panose="02010600040101010101" pitchFamily="2" charset="-122"/>
                <a:cs typeface="Times New Roman" panose="02020603050405020304" pitchFamily="18" charset="0"/>
              </a:rPr>
              <a:t>将先自动转换为</a:t>
            </a:r>
            <a:r>
              <a:rPr lang="en-US" altLang="zh-CN" sz="2400" baseline="0" dirty="0">
                <a:latin typeface="Times New Roman" panose="02020603050405020304" pitchFamily="18" charset="0"/>
                <a:ea typeface="楷体-简" panose="02010600040101010101" pitchFamily="2" charset="-122"/>
                <a:cs typeface="Times New Roman" panose="02020603050405020304" pitchFamily="18" charset="0"/>
              </a:rPr>
              <a:t>int</a:t>
            </a:r>
            <a:r>
              <a:rPr lang="zh-CN" altLang="en-US" sz="2400" baseline="0" dirty="0">
                <a:latin typeface="Times New Roman" panose="02020603050405020304" pitchFamily="18" charset="0"/>
                <a:ea typeface="楷体-简" panose="02010600040101010101" pitchFamily="2" charset="-122"/>
                <a:cs typeface="Times New Roman" panose="02020603050405020304" pitchFamily="18" charset="0"/>
              </a:rPr>
              <a:t>型再移位。	</a:t>
            </a:r>
          </a:p>
          <a:p>
            <a:pPr eaLnBrk="1" hangingPunct="1">
              <a:lnSpc>
                <a:spcPct val="90000"/>
              </a:lnSpc>
            </a:pPr>
            <a:r>
              <a:rPr lang="zh-CN" altLang="en-US" sz="2400" baseline="0" dirty="0">
                <a:solidFill>
                  <a:srgbClr val="0000CC"/>
                </a:solidFill>
                <a:latin typeface="Times New Roman" panose="02020603050405020304" pitchFamily="18" charset="0"/>
                <a:ea typeface="楷体-简" panose="02010600040101010101" pitchFamily="2" charset="-122"/>
                <a:cs typeface="Times New Roman" panose="02020603050405020304" pitchFamily="18" charset="0"/>
              </a:rPr>
              <a:t>对于</a:t>
            </a:r>
            <a:r>
              <a:rPr lang="en-US" altLang="zh-CN" sz="2400" baseline="0" dirty="0">
                <a:solidFill>
                  <a:srgbClr val="0000CC"/>
                </a:solidFill>
                <a:latin typeface="Times New Roman" panose="02020603050405020304" pitchFamily="18" charset="0"/>
                <a:ea typeface="楷体-简" panose="02010600040101010101" pitchFamily="2" charset="-122"/>
                <a:cs typeface="Times New Roman" panose="02020603050405020304" pitchFamily="18" charset="0"/>
              </a:rPr>
              <a:t>int</a:t>
            </a:r>
            <a:r>
              <a:rPr lang="zh-CN" altLang="en-US" sz="2400" baseline="0" dirty="0">
                <a:solidFill>
                  <a:srgbClr val="0000CC"/>
                </a:solidFill>
                <a:latin typeface="Times New Roman" panose="02020603050405020304" pitchFamily="18" charset="0"/>
                <a:ea typeface="楷体-简" panose="02010600040101010101" pitchFamily="2" charset="-122"/>
                <a:cs typeface="Times New Roman" panose="02020603050405020304" pitchFamily="18" charset="0"/>
              </a:rPr>
              <a:t>型整数移位</a:t>
            </a:r>
            <a:r>
              <a:rPr lang="en-US" altLang="zh-CN" sz="2400" baseline="0" dirty="0">
                <a:solidFill>
                  <a:srgbClr val="0000CC"/>
                </a:solidFill>
                <a:latin typeface="Times New Roman" panose="02020603050405020304" pitchFamily="18" charset="0"/>
                <a:ea typeface="楷体-简" panose="02010600040101010101" pitchFamily="2" charset="-122"/>
                <a:cs typeface="Times New Roman" panose="02020603050405020304" pitchFamily="18" charset="0"/>
              </a:rPr>
              <a:t>a&gt;&gt;b</a:t>
            </a:r>
            <a:r>
              <a:rPr lang="zh-CN" altLang="en-US" sz="2400" baseline="0" dirty="0">
                <a:solidFill>
                  <a:srgbClr val="0000CC"/>
                </a:solidFill>
                <a:latin typeface="Times New Roman" panose="02020603050405020304" pitchFamily="18" charset="0"/>
                <a:ea typeface="楷体-简" panose="02010600040101010101" pitchFamily="2" charset="-122"/>
                <a:cs typeface="Times New Roman" panose="02020603050405020304" pitchFamily="18" charset="0"/>
              </a:rPr>
              <a:t>，系统先将</a:t>
            </a:r>
            <a:r>
              <a:rPr lang="en-US" altLang="zh-CN" sz="2400" baseline="0" dirty="0">
                <a:solidFill>
                  <a:srgbClr val="0000CC"/>
                </a:solidFill>
                <a:latin typeface="Times New Roman" panose="02020603050405020304" pitchFamily="18" charset="0"/>
                <a:ea typeface="楷体-简" panose="02010600040101010101" pitchFamily="2" charset="-122"/>
                <a:cs typeface="Times New Roman" panose="02020603050405020304" pitchFamily="18" charset="0"/>
              </a:rPr>
              <a:t>b</a:t>
            </a:r>
            <a:r>
              <a:rPr lang="zh-CN" altLang="en-US" sz="2400" baseline="0" dirty="0">
                <a:solidFill>
                  <a:srgbClr val="0000CC"/>
                </a:solidFill>
                <a:latin typeface="Times New Roman" panose="02020603050405020304" pitchFamily="18" charset="0"/>
                <a:ea typeface="楷体-简" panose="02010600040101010101" pitchFamily="2" charset="-122"/>
                <a:cs typeface="Times New Roman" panose="02020603050405020304" pitchFamily="18" charset="0"/>
              </a:rPr>
              <a:t>对</a:t>
            </a:r>
            <a:r>
              <a:rPr lang="en-US" altLang="zh-CN" sz="2400" baseline="0" dirty="0">
                <a:solidFill>
                  <a:srgbClr val="0000CC"/>
                </a:solidFill>
                <a:latin typeface="Times New Roman" panose="02020603050405020304" pitchFamily="18" charset="0"/>
                <a:ea typeface="楷体-简" panose="02010600040101010101" pitchFamily="2" charset="-122"/>
                <a:cs typeface="Times New Roman" panose="02020603050405020304" pitchFamily="18" charset="0"/>
              </a:rPr>
              <a:t>32</a:t>
            </a:r>
            <a:r>
              <a:rPr lang="zh-CN" altLang="en-US" sz="2400" baseline="0" dirty="0">
                <a:solidFill>
                  <a:srgbClr val="0000CC"/>
                </a:solidFill>
                <a:latin typeface="Times New Roman" panose="02020603050405020304" pitchFamily="18" charset="0"/>
                <a:ea typeface="楷体-简" panose="02010600040101010101" pitchFamily="2" charset="-122"/>
                <a:cs typeface="Times New Roman" panose="02020603050405020304" pitchFamily="18" charset="0"/>
              </a:rPr>
              <a:t>取模</a:t>
            </a:r>
            <a:r>
              <a:rPr lang="zh-CN" altLang="en-US" sz="2400" baseline="0" dirty="0">
                <a:latin typeface="Times New Roman" panose="02020603050405020304" pitchFamily="18" charset="0"/>
                <a:ea typeface="楷体-简" panose="02010600040101010101" pitchFamily="2" charset="-122"/>
                <a:cs typeface="Times New Roman" panose="02020603050405020304" pitchFamily="18" charset="0"/>
              </a:rPr>
              <a:t>，得到的结果才是真正移位的位数。例如：</a:t>
            </a:r>
            <a:r>
              <a:rPr lang="en-US" altLang="zh-CN" sz="2400" baseline="0" dirty="0">
                <a:latin typeface="Times New Roman" panose="02020603050405020304" pitchFamily="18" charset="0"/>
                <a:ea typeface="楷体-简" panose="02010600040101010101" pitchFamily="2" charset="-122"/>
                <a:cs typeface="Times New Roman" panose="02020603050405020304" pitchFamily="18" charset="0"/>
              </a:rPr>
              <a:t>a&gt;&gt;33</a:t>
            </a:r>
            <a:r>
              <a:rPr lang="zh-CN" altLang="en-US" sz="2400" baseline="0" dirty="0">
                <a:latin typeface="Times New Roman" panose="02020603050405020304" pitchFamily="18" charset="0"/>
                <a:ea typeface="楷体-简" panose="02010600040101010101" pitchFamily="2" charset="-122"/>
                <a:cs typeface="Times New Roman" panose="02020603050405020304" pitchFamily="18" charset="0"/>
              </a:rPr>
              <a:t>和</a:t>
            </a:r>
            <a:r>
              <a:rPr lang="en-US" altLang="zh-CN" sz="2400" baseline="0" dirty="0">
                <a:latin typeface="Times New Roman" panose="02020603050405020304" pitchFamily="18" charset="0"/>
                <a:ea typeface="楷体-简" panose="02010600040101010101" pitchFamily="2" charset="-122"/>
                <a:cs typeface="Times New Roman" panose="02020603050405020304" pitchFamily="18" charset="0"/>
              </a:rPr>
              <a:t>a&gt;&gt;1</a:t>
            </a:r>
            <a:r>
              <a:rPr lang="zh-CN" altLang="en-US" sz="2400" baseline="0" dirty="0">
                <a:latin typeface="Times New Roman" panose="02020603050405020304" pitchFamily="18" charset="0"/>
                <a:ea typeface="楷体-简" panose="02010600040101010101" pitchFamily="2" charset="-122"/>
                <a:cs typeface="Times New Roman" panose="02020603050405020304" pitchFamily="18" charset="0"/>
              </a:rPr>
              <a:t>结果是一样的，</a:t>
            </a:r>
            <a:r>
              <a:rPr lang="en-US" altLang="zh-CN" sz="2400" baseline="0" dirty="0">
                <a:latin typeface="Times New Roman" panose="02020603050405020304" pitchFamily="18" charset="0"/>
                <a:ea typeface="楷体-简" panose="02010600040101010101" pitchFamily="2" charset="-122"/>
                <a:cs typeface="Times New Roman" panose="02020603050405020304" pitchFamily="18" charset="0"/>
              </a:rPr>
              <a:t>a&gt;&gt;32</a:t>
            </a:r>
            <a:r>
              <a:rPr lang="zh-CN" altLang="en-US" sz="2400" baseline="0" dirty="0">
                <a:latin typeface="Times New Roman" panose="02020603050405020304" pitchFamily="18" charset="0"/>
                <a:ea typeface="楷体-简" panose="02010600040101010101" pitchFamily="2" charset="-122"/>
                <a:cs typeface="Times New Roman" panose="02020603050405020304" pitchFamily="18" charset="0"/>
              </a:rPr>
              <a:t>的结果还是</a:t>
            </a:r>
            <a:r>
              <a:rPr lang="en-US" altLang="zh-CN" sz="2400" baseline="0" dirty="0">
                <a:latin typeface="Times New Roman" panose="02020603050405020304" pitchFamily="18" charset="0"/>
                <a:ea typeface="楷体-简" panose="02010600040101010101" pitchFamily="2" charset="-122"/>
                <a:cs typeface="Times New Roman" panose="02020603050405020304" pitchFamily="18" charset="0"/>
              </a:rPr>
              <a:t>a</a:t>
            </a:r>
            <a:r>
              <a:rPr lang="zh-CN" altLang="en-US" sz="2400" baseline="0" dirty="0">
                <a:latin typeface="Times New Roman" panose="02020603050405020304" pitchFamily="18" charset="0"/>
                <a:ea typeface="楷体-简" panose="02010600040101010101" pitchFamily="2" charset="-122"/>
                <a:cs typeface="Times New Roman" panose="02020603050405020304" pitchFamily="18" charset="0"/>
              </a:rPr>
              <a:t>原来的数字。</a:t>
            </a:r>
          </a:p>
          <a:p>
            <a:pPr eaLnBrk="1" hangingPunct="1">
              <a:lnSpc>
                <a:spcPct val="90000"/>
              </a:lnSpc>
            </a:pPr>
            <a:r>
              <a:rPr lang="zh-CN" altLang="en-US" sz="2400" baseline="0" dirty="0">
                <a:latin typeface="Times New Roman" panose="02020603050405020304" pitchFamily="18" charset="0"/>
                <a:ea typeface="楷体-简" panose="02010600040101010101" pitchFamily="2" charset="-122"/>
                <a:cs typeface="Times New Roman" panose="02020603050405020304" pitchFamily="18" charset="0"/>
              </a:rPr>
              <a:t>对于</a:t>
            </a:r>
            <a:r>
              <a:rPr lang="en-US" altLang="zh-CN" sz="2400" baseline="0" dirty="0">
                <a:latin typeface="Times New Roman" panose="02020603050405020304" pitchFamily="18" charset="0"/>
                <a:ea typeface="楷体-简" panose="02010600040101010101" pitchFamily="2" charset="-122"/>
                <a:cs typeface="Times New Roman" panose="02020603050405020304" pitchFamily="18" charset="0"/>
              </a:rPr>
              <a:t>long</a:t>
            </a:r>
            <a:r>
              <a:rPr lang="zh-CN" altLang="en-US" sz="2400" baseline="0" dirty="0">
                <a:latin typeface="Times New Roman" panose="02020603050405020304" pitchFamily="18" charset="0"/>
                <a:ea typeface="楷体-简" panose="02010600040101010101" pitchFamily="2" charset="-122"/>
                <a:cs typeface="Times New Roman" panose="02020603050405020304" pitchFamily="18" charset="0"/>
              </a:rPr>
              <a:t>型整数移位时</a:t>
            </a:r>
            <a:r>
              <a:rPr lang="en-US" altLang="zh-CN" sz="2400" baseline="0" dirty="0">
                <a:latin typeface="Times New Roman" panose="02020603050405020304" pitchFamily="18" charset="0"/>
                <a:ea typeface="楷体-简" panose="02010600040101010101" pitchFamily="2" charset="-122"/>
                <a:cs typeface="Times New Roman" panose="02020603050405020304" pitchFamily="18" charset="0"/>
              </a:rPr>
              <a:t>a&gt;&gt;b </a:t>
            </a:r>
            <a:r>
              <a:rPr lang="zh-CN" altLang="en-US" sz="2400" baseline="0" dirty="0">
                <a:latin typeface="Times New Roman" panose="02020603050405020304" pitchFamily="18" charset="0"/>
                <a:ea typeface="楷体-简" panose="02010600040101010101" pitchFamily="2" charset="-122"/>
                <a:cs typeface="Times New Roman" panose="02020603050405020304" pitchFamily="18" charset="0"/>
              </a:rPr>
              <a:t>，则是先将移位位数</a:t>
            </a:r>
            <a:r>
              <a:rPr lang="en-US" altLang="zh-CN" sz="2400" baseline="0" dirty="0">
                <a:latin typeface="Times New Roman" panose="02020603050405020304" pitchFamily="18" charset="0"/>
                <a:ea typeface="楷体-简" panose="02010600040101010101" pitchFamily="2" charset="-122"/>
                <a:cs typeface="Times New Roman" panose="02020603050405020304" pitchFamily="18" charset="0"/>
              </a:rPr>
              <a:t>b</a:t>
            </a:r>
            <a:r>
              <a:rPr lang="zh-CN" altLang="en-US" sz="2400" baseline="0" dirty="0">
                <a:latin typeface="Times New Roman" panose="02020603050405020304" pitchFamily="18" charset="0"/>
                <a:ea typeface="楷体-简" panose="02010600040101010101" pitchFamily="2" charset="-122"/>
                <a:cs typeface="Times New Roman" panose="02020603050405020304" pitchFamily="18" charset="0"/>
              </a:rPr>
              <a:t>对</a:t>
            </a:r>
            <a:r>
              <a:rPr lang="en-US" altLang="zh-CN" sz="2400" baseline="0" dirty="0">
                <a:latin typeface="Times New Roman" panose="02020603050405020304" pitchFamily="18" charset="0"/>
                <a:ea typeface="楷体-简" panose="02010600040101010101" pitchFamily="2" charset="-122"/>
                <a:cs typeface="Times New Roman" panose="02020603050405020304" pitchFamily="18" charset="0"/>
              </a:rPr>
              <a:t>64</a:t>
            </a:r>
            <a:r>
              <a:rPr lang="zh-CN" altLang="en-US" sz="2400" baseline="0" dirty="0">
                <a:latin typeface="Times New Roman" panose="02020603050405020304" pitchFamily="18" charset="0"/>
                <a:ea typeface="楷体-简" panose="02010600040101010101" pitchFamily="2" charset="-122"/>
                <a:cs typeface="Times New Roman" panose="02020603050405020304" pitchFamily="18" charset="0"/>
              </a:rPr>
              <a:t>取模。</a:t>
            </a:r>
          </a:p>
          <a:p>
            <a:pPr eaLnBrk="1" hangingPunct="1">
              <a:lnSpc>
                <a:spcPct val="90000"/>
              </a:lnSpc>
            </a:pPr>
            <a:r>
              <a:rPr lang="en-US" altLang="zh-CN" sz="2400" baseline="0" dirty="0">
                <a:latin typeface="Times New Roman" panose="02020603050405020304" pitchFamily="18" charset="0"/>
                <a:ea typeface="楷体-简" panose="02010600040101010101" pitchFamily="2" charset="-122"/>
                <a:cs typeface="Times New Roman" panose="02020603050405020304" pitchFamily="18" charset="0"/>
              </a:rPr>
              <a:t>x&gt;&gt;1</a:t>
            </a:r>
            <a:r>
              <a:rPr lang="zh-CN" altLang="en-US" sz="2400" baseline="0" dirty="0">
                <a:latin typeface="Times New Roman" panose="02020603050405020304" pitchFamily="18" charset="0"/>
                <a:ea typeface="楷体-简" panose="02010600040101010101" pitchFamily="2" charset="-122"/>
                <a:cs typeface="Times New Roman" panose="02020603050405020304" pitchFamily="18" charset="0"/>
              </a:rPr>
              <a:t>的结果和</a:t>
            </a:r>
            <a:r>
              <a:rPr lang="en-US" altLang="zh-CN" sz="2400" baseline="0" dirty="0">
                <a:latin typeface="Times New Roman" panose="02020603050405020304" pitchFamily="18" charset="0"/>
                <a:ea typeface="楷体-简" panose="02010600040101010101" pitchFamily="2" charset="-122"/>
                <a:cs typeface="Times New Roman" panose="02020603050405020304" pitchFamily="18" charset="0"/>
              </a:rPr>
              <a:t>x/2</a:t>
            </a:r>
            <a:r>
              <a:rPr lang="zh-CN" altLang="en-US" sz="2400" baseline="0" dirty="0">
                <a:latin typeface="Times New Roman" panose="02020603050405020304" pitchFamily="18" charset="0"/>
                <a:ea typeface="楷体-简" panose="02010600040101010101" pitchFamily="2" charset="-122"/>
                <a:cs typeface="Times New Roman" panose="02020603050405020304" pitchFamily="18" charset="0"/>
              </a:rPr>
              <a:t>的结果是一样的，</a:t>
            </a:r>
            <a:r>
              <a:rPr lang="en-US" altLang="zh-CN" sz="2400" baseline="0" dirty="0">
                <a:latin typeface="Times New Roman" panose="02020603050405020304" pitchFamily="18" charset="0"/>
                <a:ea typeface="楷体-简" panose="02010600040101010101" pitchFamily="2" charset="-122"/>
                <a:cs typeface="Times New Roman" panose="02020603050405020304" pitchFamily="18" charset="0"/>
              </a:rPr>
              <a:t>x&lt;&lt;2</a:t>
            </a:r>
            <a:r>
              <a:rPr lang="zh-CN" altLang="en-US" sz="2400" baseline="0" dirty="0">
                <a:latin typeface="Times New Roman" panose="02020603050405020304" pitchFamily="18" charset="0"/>
                <a:ea typeface="楷体-简" panose="02010600040101010101" pitchFamily="2" charset="-122"/>
                <a:cs typeface="Times New Roman" panose="02020603050405020304" pitchFamily="18" charset="0"/>
              </a:rPr>
              <a:t>和</a:t>
            </a:r>
            <a:r>
              <a:rPr lang="en-US" altLang="zh-CN" sz="2400" baseline="0" dirty="0">
                <a:latin typeface="Times New Roman" panose="02020603050405020304" pitchFamily="18" charset="0"/>
                <a:ea typeface="楷体-简" panose="02010600040101010101" pitchFamily="2" charset="-122"/>
                <a:cs typeface="Times New Roman" panose="02020603050405020304" pitchFamily="18" charset="0"/>
              </a:rPr>
              <a:t>x*4</a:t>
            </a:r>
            <a:r>
              <a:rPr lang="zh-CN" altLang="en-US" sz="2400" baseline="0" dirty="0">
                <a:latin typeface="Times New Roman" panose="02020603050405020304" pitchFamily="18" charset="0"/>
                <a:ea typeface="楷体-简" panose="02010600040101010101" pitchFamily="2" charset="-122"/>
                <a:cs typeface="Times New Roman" panose="02020603050405020304" pitchFamily="18" charset="0"/>
              </a:rPr>
              <a:t>的结果也是一样的。总之，一个数</a:t>
            </a:r>
            <a:r>
              <a:rPr lang="zh-CN" altLang="en-US" sz="2400" b="1" baseline="0" dirty="0">
                <a:solidFill>
                  <a:srgbClr val="FF0066"/>
                </a:solidFill>
                <a:latin typeface="Times New Roman" panose="02020603050405020304" pitchFamily="18" charset="0"/>
                <a:ea typeface="楷体-简" panose="02010600040101010101" pitchFamily="2" charset="-122"/>
                <a:cs typeface="Times New Roman" panose="02020603050405020304" pitchFamily="18" charset="0"/>
              </a:rPr>
              <a:t>左移</a:t>
            </a:r>
            <a:r>
              <a:rPr lang="en-US" altLang="zh-CN" sz="2400" b="1" baseline="0" dirty="0">
                <a:solidFill>
                  <a:srgbClr val="FF0066"/>
                </a:solidFill>
                <a:latin typeface="Times New Roman" panose="02020603050405020304" pitchFamily="18" charset="0"/>
                <a:ea typeface="楷体-简" panose="02010600040101010101" pitchFamily="2" charset="-122"/>
                <a:cs typeface="Times New Roman" panose="02020603050405020304" pitchFamily="18" charset="0"/>
              </a:rPr>
              <a:t>n</a:t>
            </a:r>
            <a:r>
              <a:rPr lang="zh-CN" altLang="en-US" sz="2400" b="1" baseline="0" dirty="0">
                <a:solidFill>
                  <a:srgbClr val="FF0066"/>
                </a:solidFill>
                <a:latin typeface="Times New Roman" panose="02020603050405020304" pitchFamily="18" charset="0"/>
                <a:ea typeface="楷体-简" panose="02010600040101010101" pitchFamily="2" charset="-122"/>
                <a:cs typeface="Times New Roman" panose="02020603050405020304" pitchFamily="18" charset="0"/>
              </a:rPr>
              <a:t>位</a:t>
            </a:r>
            <a:r>
              <a:rPr lang="zh-CN" altLang="en-US" sz="2400" baseline="0" dirty="0">
                <a:latin typeface="Times New Roman" panose="02020603050405020304" pitchFamily="18" charset="0"/>
                <a:ea typeface="楷体-简" panose="02010600040101010101" pitchFamily="2" charset="-122"/>
                <a:cs typeface="Times New Roman" panose="02020603050405020304" pitchFamily="18" charset="0"/>
              </a:rPr>
              <a:t>，就等于这个数</a:t>
            </a:r>
            <a:r>
              <a:rPr lang="zh-CN" altLang="en-US" sz="2400" b="1" baseline="0" dirty="0">
                <a:solidFill>
                  <a:srgbClr val="FF0066"/>
                </a:solidFill>
                <a:latin typeface="Times New Roman" panose="02020603050405020304" pitchFamily="18" charset="0"/>
                <a:ea typeface="楷体-简" panose="02010600040101010101" pitchFamily="2" charset="-122"/>
                <a:cs typeface="Times New Roman" panose="02020603050405020304" pitchFamily="18" charset="0"/>
              </a:rPr>
              <a:t>乘以</a:t>
            </a:r>
            <a:r>
              <a:rPr lang="en-US" altLang="zh-CN" sz="2400" b="1" baseline="0" dirty="0">
                <a:solidFill>
                  <a:srgbClr val="FF0066"/>
                </a:solidFill>
                <a:latin typeface="Times New Roman" panose="02020603050405020304" pitchFamily="18" charset="0"/>
                <a:ea typeface="楷体-简" panose="02010600040101010101" pitchFamily="2" charset="-122"/>
                <a:cs typeface="Times New Roman" panose="02020603050405020304" pitchFamily="18" charset="0"/>
              </a:rPr>
              <a:t>2</a:t>
            </a:r>
            <a:r>
              <a:rPr lang="zh-CN" altLang="en-US" sz="2400" b="1" baseline="0" dirty="0">
                <a:solidFill>
                  <a:srgbClr val="FF0066"/>
                </a:solidFill>
                <a:latin typeface="Times New Roman" panose="02020603050405020304" pitchFamily="18" charset="0"/>
                <a:ea typeface="楷体-简" panose="02010600040101010101" pitchFamily="2" charset="-122"/>
                <a:cs typeface="Times New Roman" panose="02020603050405020304" pitchFamily="18" charset="0"/>
              </a:rPr>
              <a:t>的</a:t>
            </a:r>
            <a:r>
              <a:rPr lang="en-US" altLang="zh-CN" sz="2400" b="1" baseline="0" dirty="0">
                <a:solidFill>
                  <a:srgbClr val="FF0066"/>
                </a:solidFill>
                <a:latin typeface="Times New Roman" panose="02020603050405020304" pitchFamily="18" charset="0"/>
                <a:ea typeface="楷体-简" panose="02010600040101010101" pitchFamily="2" charset="-122"/>
                <a:cs typeface="Times New Roman" panose="02020603050405020304" pitchFamily="18" charset="0"/>
              </a:rPr>
              <a:t>n</a:t>
            </a:r>
            <a:r>
              <a:rPr lang="zh-CN" altLang="en-US" sz="2400" b="1" baseline="0" dirty="0">
                <a:solidFill>
                  <a:srgbClr val="FF0066"/>
                </a:solidFill>
                <a:latin typeface="Times New Roman" panose="02020603050405020304" pitchFamily="18" charset="0"/>
                <a:ea typeface="楷体-简" panose="02010600040101010101" pitchFamily="2" charset="-122"/>
                <a:cs typeface="Times New Roman" panose="02020603050405020304" pitchFamily="18" charset="0"/>
              </a:rPr>
              <a:t>次方</a:t>
            </a:r>
            <a:r>
              <a:rPr lang="zh-CN" altLang="en-US" sz="2400" baseline="0" dirty="0">
                <a:latin typeface="Times New Roman" panose="02020603050405020304" pitchFamily="18" charset="0"/>
                <a:ea typeface="楷体-简" panose="02010600040101010101" pitchFamily="2" charset="-122"/>
                <a:cs typeface="Times New Roman" panose="02020603050405020304" pitchFamily="18" charset="0"/>
              </a:rPr>
              <a:t>，一个数</a:t>
            </a:r>
            <a:r>
              <a:rPr lang="zh-CN" altLang="en-US" sz="2400" b="1" baseline="0" dirty="0">
                <a:solidFill>
                  <a:srgbClr val="FF0066"/>
                </a:solidFill>
                <a:latin typeface="Times New Roman" panose="02020603050405020304" pitchFamily="18" charset="0"/>
                <a:ea typeface="楷体-简" panose="02010600040101010101" pitchFamily="2" charset="-122"/>
                <a:cs typeface="Times New Roman" panose="02020603050405020304" pitchFamily="18" charset="0"/>
              </a:rPr>
              <a:t>右移</a:t>
            </a:r>
            <a:r>
              <a:rPr lang="en-US" altLang="zh-CN" sz="2400" b="1" baseline="0" dirty="0">
                <a:solidFill>
                  <a:srgbClr val="FF0066"/>
                </a:solidFill>
                <a:latin typeface="Times New Roman" panose="02020603050405020304" pitchFamily="18" charset="0"/>
                <a:ea typeface="楷体-简" panose="02010600040101010101" pitchFamily="2" charset="-122"/>
                <a:cs typeface="Times New Roman" panose="02020603050405020304" pitchFamily="18" charset="0"/>
              </a:rPr>
              <a:t>n</a:t>
            </a:r>
            <a:r>
              <a:rPr lang="zh-CN" altLang="en-US" sz="2400" b="1" baseline="0" dirty="0">
                <a:solidFill>
                  <a:srgbClr val="FF0066"/>
                </a:solidFill>
                <a:latin typeface="Times New Roman" panose="02020603050405020304" pitchFamily="18" charset="0"/>
                <a:ea typeface="楷体-简" panose="02010600040101010101" pitchFamily="2" charset="-122"/>
                <a:cs typeface="Times New Roman" panose="02020603050405020304" pitchFamily="18" charset="0"/>
              </a:rPr>
              <a:t>位</a:t>
            </a:r>
            <a:r>
              <a:rPr lang="zh-CN" altLang="en-US" sz="2400" baseline="0" dirty="0">
                <a:latin typeface="Times New Roman" panose="02020603050405020304" pitchFamily="18" charset="0"/>
                <a:ea typeface="楷体-简" panose="02010600040101010101" pitchFamily="2" charset="-122"/>
                <a:cs typeface="Times New Roman" panose="02020603050405020304" pitchFamily="18" charset="0"/>
              </a:rPr>
              <a:t>，就等于这个数</a:t>
            </a:r>
            <a:r>
              <a:rPr lang="zh-CN" altLang="en-US" sz="2400" b="1" baseline="0" dirty="0">
                <a:solidFill>
                  <a:srgbClr val="FF0066"/>
                </a:solidFill>
                <a:latin typeface="Times New Roman" panose="02020603050405020304" pitchFamily="18" charset="0"/>
                <a:ea typeface="楷体-简" panose="02010600040101010101" pitchFamily="2" charset="-122"/>
                <a:cs typeface="Times New Roman" panose="02020603050405020304" pitchFamily="18" charset="0"/>
              </a:rPr>
              <a:t>除以</a:t>
            </a:r>
            <a:r>
              <a:rPr lang="en-US" altLang="zh-CN" sz="2400" b="1" baseline="0" dirty="0">
                <a:solidFill>
                  <a:srgbClr val="FF0066"/>
                </a:solidFill>
                <a:latin typeface="Times New Roman" panose="02020603050405020304" pitchFamily="18" charset="0"/>
                <a:ea typeface="楷体-简" panose="02010600040101010101" pitchFamily="2" charset="-122"/>
                <a:cs typeface="Times New Roman" panose="02020603050405020304" pitchFamily="18" charset="0"/>
              </a:rPr>
              <a:t>2</a:t>
            </a:r>
            <a:r>
              <a:rPr lang="zh-CN" altLang="en-US" sz="2400" b="1" baseline="0" dirty="0">
                <a:solidFill>
                  <a:srgbClr val="FF0066"/>
                </a:solidFill>
                <a:latin typeface="Times New Roman" panose="02020603050405020304" pitchFamily="18" charset="0"/>
                <a:ea typeface="楷体-简" panose="02010600040101010101" pitchFamily="2" charset="-122"/>
                <a:cs typeface="Times New Roman" panose="02020603050405020304" pitchFamily="18" charset="0"/>
              </a:rPr>
              <a:t>的</a:t>
            </a:r>
            <a:r>
              <a:rPr lang="en-US" altLang="zh-CN" sz="2400" b="1" baseline="0" dirty="0">
                <a:solidFill>
                  <a:srgbClr val="FF0066"/>
                </a:solidFill>
                <a:latin typeface="Times New Roman" panose="02020603050405020304" pitchFamily="18" charset="0"/>
                <a:ea typeface="楷体-简" panose="02010600040101010101" pitchFamily="2" charset="-122"/>
                <a:cs typeface="Times New Roman" panose="02020603050405020304" pitchFamily="18" charset="0"/>
              </a:rPr>
              <a:t>n</a:t>
            </a:r>
            <a:r>
              <a:rPr lang="zh-CN" altLang="en-US" sz="2400" b="1" baseline="0" dirty="0">
                <a:solidFill>
                  <a:srgbClr val="FF0066"/>
                </a:solidFill>
                <a:latin typeface="Times New Roman" panose="02020603050405020304" pitchFamily="18" charset="0"/>
                <a:ea typeface="楷体-简" panose="02010600040101010101" pitchFamily="2" charset="-122"/>
                <a:cs typeface="Times New Roman" panose="02020603050405020304" pitchFamily="18" charset="0"/>
              </a:rPr>
              <a:t>次方</a:t>
            </a:r>
            <a:r>
              <a:rPr lang="zh-CN" altLang="en-US" sz="2400" baseline="0" dirty="0">
                <a:latin typeface="Times New Roman" panose="02020603050405020304" pitchFamily="18" charset="0"/>
                <a:ea typeface="楷体-简" panose="02010600040101010101" pitchFamily="2" charset="-122"/>
                <a:cs typeface="Times New Roman" panose="02020603050405020304" pitchFamily="18" charset="0"/>
              </a:rPr>
              <a:t>。</a:t>
            </a:r>
            <a:endParaRPr lang="en-US" altLang="zh-CN" sz="2400" baseline="0" dirty="0">
              <a:latin typeface="Times New Roman" panose="02020603050405020304" pitchFamily="18" charset="0"/>
              <a:ea typeface="楷体-简" panose="02010600040101010101" pitchFamily="2" charset="-122"/>
              <a:cs typeface="Times New Roman" panose="02020603050405020304" pitchFamily="18" charset="0"/>
            </a:endParaRPr>
          </a:p>
          <a:p>
            <a:pPr eaLnBrk="1" hangingPunct="1">
              <a:lnSpc>
                <a:spcPct val="90000"/>
              </a:lnSpc>
            </a:pPr>
            <a:endParaRPr lang="en-US" altLang="zh-CN" sz="2400" baseline="0" dirty="0">
              <a:latin typeface="Times New Roman" panose="02020603050405020304" pitchFamily="18" charset="0"/>
              <a:ea typeface="楷体-简" panose="02010600040101010101" pitchFamily="2" charset="-122"/>
              <a:cs typeface="Times New Roman" panose="02020603050405020304" pitchFamily="18" charset="0"/>
            </a:endParaRPr>
          </a:p>
          <a:p>
            <a:pPr eaLnBrk="1" hangingPunct="1">
              <a:lnSpc>
                <a:spcPct val="90000"/>
              </a:lnSpc>
              <a:buFont typeface="Wingdings" panose="05000000000000000000" pitchFamily="2" charset="2"/>
              <a:buChar char="Ø"/>
            </a:pPr>
            <a:r>
              <a:rPr lang="zh-CN" altLang="en-US" sz="2400" baseline="0" dirty="0">
                <a:latin typeface="Times New Roman" panose="02020603050405020304" pitchFamily="18" charset="0"/>
                <a:ea typeface="楷体-简" panose="02010600040101010101" pitchFamily="2" charset="-122"/>
                <a:cs typeface="Times New Roman" panose="02020603050405020304" pitchFamily="18" charset="0"/>
              </a:rPr>
              <a:t>请思考：如何用程序实现求</a:t>
            </a:r>
            <a:r>
              <a:rPr lang="en-US" altLang="zh-CN" sz="2400" baseline="0" dirty="0">
                <a:latin typeface="Times New Roman" panose="02020603050405020304" pitchFamily="18" charset="0"/>
                <a:ea typeface="楷体-简" panose="02010600040101010101" pitchFamily="2" charset="-122"/>
                <a:cs typeface="Times New Roman" panose="02020603050405020304" pitchFamily="18" charset="0"/>
              </a:rPr>
              <a:t>2</a:t>
            </a:r>
            <a:r>
              <a:rPr lang="zh-CN" altLang="en-US" sz="2400" baseline="0" dirty="0">
                <a:latin typeface="Times New Roman" panose="02020603050405020304" pitchFamily="18" charset="0"/>
                <a:ea typeface="楷体-简" panose="02010600040101010101" pitchFamily="2" charset="-122"/>
                <a:cs typeface="Times New Roman" panose="02020603050405020304" pitchFamily="18" charset="0"/>
              </a:rPr>
              <a:t>的</a:t>
            </a:r>
            <a:r>
              <a:rPr lang="en-US" altLang="zh-CN" sz="2400" baseline="0" dirty="0">
                <a:latin typeface="Times New Roman" panose="02020603050405020304" pitchFamily="18" charset="0"/>
                <a:ea typeface="楷体-简" panose="02010600040101010101" pitchFamily="2" charset="-122"/>
                <a:cs typeface="Times New Roman" panose="02020603050405020304" pitchFamily="18" charset="0"/>
              </a:rPr>
              <a:t>x</a:t>
            </a:r>
            <a:r>
              <a:rPr lang="zh-CN" altLang="en-US" sz="2400" baseline="0" dirty="0">
                <a:latin typeface="Times New Roman" panose="02020603050405020304" pitchFamily="18" charset="0"/>
                <a:ea typeface="楷体-简" panose="02010600040101010101" pitchFamily="2" charset="-122"/>
                <a:cs typeface="Times New Roman" panose="02020603050405020304" pitchFamily="18" charset="0"/>
              </a:rPr>
              <a:t>次方。答案：</a:t>
            </a:r>
            <a:r>
              <a:rPr lang="en-US" altLang="zh-CN" sz="2400" baseline="0" dirty="0">
                <a:latin typeface="Times New Roman" panose="02020603050405020304" pitchFamily="18" charset="0"/>
                <a:ea typeface="楷体-简" panose="02010600040101010101" pitchFamily="2" charset="-122"/>
                <a:cs typeface="Times New Roman" panose="02020603050405020304" pitchFamily="18" charset="0"/>
              </a:rPr>
              <a:t>y = 1&lt;&lt; x</a:t>
            </a:r>
            <a:r>
              <a:rPr lang="zh-CN" altLang="en-US" sz="2400" baseline="0" dirty="0">
                <a:latin typeface="Times New Roman" panose="02020603050405020304" pitchFamily="18" charset="0"/>
                <a:ea typeface="楷体-简" panose="02010600040101010101" pitchFamily="2" charset="-122"/>
              </a:rPr>
              <a:t>；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ED2F7537-9F01-4ADF-B4D1-3C78F5C7509B}"/>
              </a:ext>
            </a:extLst>
          </p:cNvPr>
          <p:cNvSpPr>
            <a:spLocks noGrp="1" noChangeArrowheads="1"/>
          </p:cNvSpPr>
          <p:nvPr>
            <p:ph type="title"/>
          </p:nvPr>
        </p:nvSpPr>
        <p:spPr/>
        <p:txBody>
          <a:bodyPr/>
          <a:lstStyle/>
          <a:p>
            <a:pPr eaLnBrk="1" hangingPunct="1"/>
            <a:r>
              <a:rPr lang="zh-CN" altLang="en-US" sz="3600" baseline="0">
                <a:solidFill>
                  <a:srgbClr val="FF0066"/>
                </a:solidFill>
                <a:latin typeface="Times New Roman" panose="02020603050405020304" pitchFamily="18" charset="0"/>
                <a:ea typeface="楷体-简" panose="02010600040101010101" pitchFamily="2" charset="-122"/>
              </a:rPr>
              <a:t>条件运算符</a:t>
            </a:r>
          </a:p>
        </p:txBody>
      </p:sp>
      <p:sp>
        <p:nvSpPr>
          <p:cNvPr id="53251" name="Rectangle 3">
            <a:extLst>
              <a:ext uri="{FF2B5EF4-FFF2-40B4-BE49-F238E27FC236}">
                <a16:creationId xmlns:a16="http://schemas.microsoft.com/office/drawing/2014/main" id="{BD3D941A-1702-43A3-B13B-C02FC0FB2269}"/>
              </a:ext>
            </a:extLst>
          </p:cNvPr>
          <p:cNvSpPr>
            <a:spLocks noGrp="1" noChangeArrowheads="1"/>
          </p:cNvSpPr>
          <p:nvPr>
            <p:ph type="body" idx="1"/>
          </p:nvPr>
        </p:nvSpPr>
        <p:spPr>
          <a:xfrm>
            <a:off x="457200" y="1600200"/>
            <a:ext cx="8075240" cy="4525963"/>
          </a:xfrm>
        </p:spPr>
        <p:txBody>
          <a:bodyPr/>
          <a:lstStyle/>
          <a:p>
            <a:pPr eaLnBrk="1" hangingPunct="1">
              <a:buFont typeface="Wingdings" panose="05000000000000000000" pitchFamily="2" charset="2"/>
              <a:buChar char="Ø"/>
            </a:pPr>
            <a:r>
              <a:rPr lang="zh-CN" altLang="en-US" sz="2800"/>
              <a:t>三目条件运算符语法格式：</a:t>
            </a:r>
            <a:r>
              <a:rPr lang="en-US" altLang="zh-CN" sz="2800"/>
              <a:t>x?y:z</a:t>
            </a:r>
          </a:p>
          <a:p>
            <a:pPr eaLnBrk="1" hangingPunct="1">
              <a:buFontTx/>
              <a:buNone/>
            </a:pPr>
            <a:endParaRPr lang="en-US" altLang="zh-CN" sz="1400"/>
          </a:p>
          <a:p>
            <a:pPr eaLnBrk="1" hangingPunct="1">
              <a:buFont typeface="Wingdings" panose="05000000000000000000" pitchFamily="2" charset="2"/>
              <a:buChar char="Ø"/>
            </a:pPr>
            <a:r>
              <a:rPr lang="zh-CN" altLang="en-US" sz="2800"/>
              <a:t>其中</a:t>
            </a:r>
            <a:r>
              <a:rPr lang="en-US" altLang="zh-CN" sz="2800"/>
              <a:t>x</a:t>
            </a:r>
            <a:r>
              <a:rPr lang="zh-CN" altLang="en-US" sz="2800"/>
              <a:t>为</a:t>
            </a:r>
            <a:r>
              <a:rPr lang="en-US" altLang="zh-CN" sz="2800"/>
              <a:t>boolean</a:t>
            </a:r>
            <a:r>
              <a:rPr lang="zh-CN" altLang="en-US" sz="2800"/>
              <a:t>类型表达式，先计算</a:t>
            </a:r>
            <a:r>
              <a:rPr lang="en-US" altLang="zh-CN" sz="2800"/>
              <a:t>x</a:t>
            </a:r>
            <a:r>
              <a:rPr lang="zh-CN" altLang="en-US" sz="2800"/>
              <a:t>的值，若为</a:t>
            </a:r>
            <a:r>
              <a:rPr lang="en-US" altLang="zh-CN" sz="2800"/>
              <a:t>true</a:t>
            </a:r>
            <a:r>
              <a:rPr lang="zh-CN" altLang="en-US" sz="2800"/>
              <a:t>，则整个三目运算的结果为表达式</a:t>
            </a:r>
            <a:r>
              <a:rPr lang="en-US" altLang="zh-CN" sz="2800"/>
              <a:t>y</a:t>
            </a:r>
            <a:r>
              <a:rPr lang="zh-CN" altLang="en-US" sz="2800"/>
              <a:t>的值，否则整个运算结果为表达式</a:t>
            </a:r>
            <a:r>
              <a:rPr lang="en-US" altLang="zh-CN" sz="2800"/>
              <a:t>z</a:t>
            </a:r>
            <a:r>
              <a:rPr lang="zh-CN" altLang="en-US" sz="2800"/>
              <a:t>的值。</a:t>
            </a:r>
            <a:endParaRPr lang="en-US" altLang="zh-CN" sz="2800"/>
          </a:p>
          <a:p>
            <a:pPr eaLnBrk="1" hangingPunct="1">
              <a:buFont typeface="Wingdings" panose="05000000000000000000" pitchFamily="2" charset="2"/>
              <a:buChar char="Ø"/>
            </a:pPr>
            <a:endParaRPr lang="en-US" altLang="zh-CN" sz="1400"/>
          </a:p>
          <a:p>
            <a:pPr eaLnBrk="1" hangingPunct="1">
              <a:buFont typeface="Wingdings" panose="05000000000000000000" pitchFamily="2" charset="2"/>
              <a:buChar char="Ø"/>
            </a:pPr>
            <a:r>
              <a:rPr lang="zh-CN" altLang="en-US" sz="2800"/>
              <a:t>举例：</a:t>
            </a:r>
          </a:p>
          <a:p>
            <a:pPr eaLnBrk="1" hangingPunct="1">
              <a:buFontTx/>
              <a:buNone/>
            </a:pPr>
            <a:r>
              <a:rPr lang="zh-CN" altLang="en-US" sz="2800"/>
              <a:t>	</a:t>
            </a:r>
            <a:r>
              <a:rPr lang="en-US" altLang="zh-CN" sz="2400"/>
              <a:t>int score = 80; int x=100;</a:t>
            </a:r>
          </a:p>
          <a:p>
            <a:pPr eaLnBrk="1" hangingPunct="1">
              <a:buFontTx/>
              <a:buNone/>
            </a:pPr>
            <a:r>
              <a:rPr lang="en-US" altLang="zh-CN" sz="2400"/>
              <a:t>	String type = score&lt;60 ? ”</a:t>
            </a:r>
            <a:r>
              <a:rPr lang="zh-CN" altLang="en-US" sz="2400"/>
              <a:t>不及格</a:t>
            </a:r>
            <a:r>
              <a:rPr lang="en-US" altLang="zh-CN" sz="2400"/>
              <a:t>” : ”</a:t>
            </a:r>
            <a:r>
              <a:rPr lang="zh-CN" altLang="en-US" sz="2400"/>
              <a:t>及格</a:t>
            </a:r>
            <a:r>
              <a:rPr lang="en-US" altLang="zh-CN" sz="2400"/>
              <a:t>”;</a:t>
            </a:r>
          </a:p>
          <a:p>
            <a:pPr eaLnBrk="1" hangingPunct="1">
              <a:buFontTx/>
              <a:buNone/>
            </a:pPr>
            <a:r>
              <a:rPr lang="en-US" altLang="zh-CN" sz="2400"/>
              <a:t>    system.out.println(“type=“+type);    //type=“</a:t>
            </a:r>
            <a:r>
              <a:rPr lang="zh-CN" altLang="en-US" sz="2400"/>
              <a:t>及格”</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E501B4AD-9830-4FC9-B61D-0A7C4C4141DA}"/>
              </a:ext>
            </a:extLst>
          </p:cNvPr>
          <p:cNvSpPr>
            <a:spLocks noGrp="1" noChangeArrowheads="1"/>
          </p:cNvSpPr>
          <p:nvPr>
            <p:ph type="title"/>
          </p:nvPr>
        </p:nvSpPr>
        <p:spPr>
          <a:xfrm>
            <a:off x="457200" y="49212"/>
            <a:ext cx="8229600" cy="1143000"/>
          </a:xfrm>
        </p:spPr>
        <p:txBody>
          <a:bodyPr/>
          <a:lstStyle/>
          <a:p>
            <a:pPr eaLnBrk="1" hangingPunct="1"/>
            <a:r>
              <a:rPr lang="zh-CN" altLang="en-US" sz="3600" baseline="0">
                <a:solidFill>
                  <a:srgbClr val="FF0066"/>
                </a:solidFill>
                <a:latin typeface="Times New Roman" panose="02020603050405020304" pitchFamily="18" charset="0"/>
                <a:ea typeface="楷体-简" panose="02010600040101010101" pitchFamily="2" charset="-122"/>
              </a:rPr>
              <a:t>运算符的优先级</a:t>
            </a:r>
            <a:r>
              <a:rPr lang="zh-CN" altLang="en-US" baseline="0">
                <a:latin typeface="Times New Roman" panose="02020603050405020304" pitchFamily="18" charset="0"/>
                <a:ea typeface="楷体-简" panose="02010600040101010101" pitchFamily="2" charset="-122"/>
              </a:rPr>
              <a:t> </a:t>
            </a:r>
          </a:p>
        </p:txBody>
      </p:sp>
      <p:sp>
        <p:nvSpPr>
          <p:cNvPr id="54275" name="Text Box 4">
            <a:extLst>
              <a:ext uri="{FF2B5EF4-FFF2-40B4-BE49-F238E27FC236}">
                <a16:creationId xmlns:a16="http://schemas.microsoft.com/office/drawing/2014/main" id="{9F736AFE-17D5-4E11-BE12-EC271B15D67E}"/>
              </a:ext>
            </a:extLst>
          </p:cNvPr>
          <p:cNvSpPr txBox="1">
            <a:spLocks noChangeArrowheads="1"/>
          </p:cNvSpPr>
          <p:nvPr/>
        </p:nvSpPr>
        <p:spPr bwMode="auto">
          <a:xfrm>
            <a:off x="1583358" y="6237312"/>
            <a:ext cx="5977284" cy="457200"/>
          </a:xfrm>
          <a:prstGeom prst="rect">
            <a:avLst/>
          </a:prstGeom>
          <a:noFill/>
          <a:ln>
            <a:noFill/>
          </a:ln>
          <a:effectLst/>
          <a:extLst>
            <a:ext uri="{909E8E84-426E-40DD-AFC4-6F175D3DCCD1}">
              <a14:hiddenFill xmlns:a14="http://schemas.microsoft.com/office/drawing/2010/main">
                <a:solidFill>
                  <a:srgbClr val="969696"/>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342900" indent="-342900" eaLnBrk="1" hangingPunct="1">
              <a:spcBef>
                <a:spcPct val="50000"/>
              </a:spcBef>
              <a:buFont typeface="Wingdings" panose="05000000000000000000" pitchFamily="2" charset="2"/>
              <a:buChar char="ü"/>
            </a:pPr>
            <a:r>
              <a:rPr lang="zh-CN" altLang="en-US" sz="2400">
                <a:latin typeface="Times New Roman" panose="02020603050405020304" pitchFamily="18" charset="0"/>
              </a:rPr>
              <a:t>我们可以使用括号改变运算赋的优先级</a:t>
            </a:r>
          </a:p>
        </p:txBody>
      </p:sp>
      <p:pic>
        <p:nvPicPr>
          <p:cNvPr id="54276" name="Picture 5">
            <a:extLst>
              <a:ext uri="{FF2B5EF4-FFF2-40B4-BE49-F238E27FC236}">
                <a16:creationId xmlns:a16="http://schemas.microsoft.com/office/drawing/2014/main" id="{62B14DAB-B281-4056-BD0F-7AF122271E2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457200" y="1192212"/>
            <a:ext cx="8229600" cy="4824413"/>
          </a:xfr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39E753FF-2548-45E4-B753-CF1A7D4701C7}"/>
              </a:ext>
            </a:extLst>
          </p:cNvPr>
          <p:cNvSpPr>
            <a:spLocks noGrp="1" noChangeArrowheads="1"/>
          </p:cNvSpPr>
          <p:nvPr>
            <p:ph type="title"/>
          </p:nvPr>
        </p:nvSpPr>
        <p:spPr>
          <a:xfrm>
            <a:off x="468313" y="347663"/>
            <a:ext cx="8229600" cy="777875"/>
          </a:xfrm>
        </p:spPr>
        <p:txBody>
          <a:bodyPr/>
          <a:lstStyle/>
          <a:p>
            <a:pPr eaLnBrk="1" hangingPunct="1"/>
            <a:r>
              <a:rPr lang="en-US" altLang="zh-CN" sz="3600" baseline="0">
                <a:solidFill>
                  <a:srgbClr val="FF0066"/>
                </a:solidFill>
                <a:latin typeface="Times New Roman" panose="02020603050405020304" pitchFamily="18" charset="0"/>
                <a:ea typeface="楷体-简" panose="02010600040101010101" pitchFamily="2" charset="-122"/>
              </a:rPr>
              <a:t>2.7 </a:t>
            </a:r>
            <a:r>
              <a:rPr lang="zh-CN" altLang="en-US" sz="3600" baseline="0">
                <a:solidFill>
                  <a:srgbClr val="FF0066"/>
                </a:solidFill>
                <a:latin typeface="Times New Roman" panose="02020603050405020304" pitchFamily="18" charset="0"/>
                <a:ea typeface="楷体-简" panose="02010600040101010101" pitchFamily="2" charset="-122"/>
              </a:rPr>
              <a:t>表达式</a:t>
            </a:r>
          </a:p>
        </p:txBody>
      </p:sp>
      <p:sp>
        <p:nvSpPr>
          <p:cNvPr id="55299" name="Rectangle 3">
            <a:extLst>
              <a:ext uri="{FF2B5EF4-FFF2-40B4-BE49-F238E27FC236}">
                <a16:creationId xmlns:a16="http://schemas.microsoft.com/office/drawing/2014/main" id="{DB8343C4-B59D-4DDD-8AD8-74802618F86F}"/>
              </a:ext>
            </a:extLst>
          </p:cNvPr>
          <p:cNvSpPr>
            <a:spLocks noGrp="1" noChangeArrowheads="1"/>
          </p:cNvSpPr>
          <p:nvPr>
            <p:ph type="body" idx="1"/>
          </p:nvPr>
        </p:nvSpPr>
        <p:spPr>
          <a:xfrm>
            <a:off x="107504" y="1628800"/>
            <a:ext cx="8352928" cy="4681537"/>
          </a:xfrm>
        </p:spPr>
        <p:txBody>
          <a:bodyPr/>
          <a:lstStyle/>
          <a:p>
            <a:pPr lvl="1" eaLnBrk="1" hangingPunct="1">
              <a:lnSpc>
                <a:spcPct val="90000"/>
              </a:lnSpc>
              <a:buFont typeface="Wingdings" panose="05000000000000000000" pitchFamily="2" charset="2"/>
              <a:buChar char="Ø"/>
            </a:pPr>
            <a:r>
              <a:rPr lang="zh-CN" altLang="en-US" sz="2400" b="1" baseline="0" dirty="0">
                <a:latin typeface="Times New Roman" panose="02020603050405020304" pitchFamily="18" charset="0"/>
                <a:ea typeface="楷体-简" panose="02010600040101010101" pitchFamily="2" charset="-122"/>
              </a:rPr>
              <a:t>一个</a:t>
            </a:r>
            <a:r>
              <a:rPr lang="zh-CN" altLang="en-US" sz="2400" b="1" baseline="0" dirty="0">
                <a:solidFill>
                  <a:srgbClr val="C00000"/>
                </a:solidFill>
                <a:latin typeface="Times New Roman" panose="02020603050405020304" pitchFamily="18" charset="0"/>
                <a:ea typeface="楷体-简" panose="02010600040101010101" pitchFamily="2" charset="-122"/>
              </a:rPr>
              <a:t>表达式</a:t>
            </a:r>
            <a:r>
              <a:rPr lang="zh-CN" altLang="en-US" sz="2400" b="1" baseline="0" dirty="0">
                <a:latin typeface="Times New Roman" panose="02020603050405020304" pitchFamily="18" charset="0"/>
                <a:ea typeface="楷体-简" panose="02010600040101010101" pitchFamily="2" charset="-122"/>
              </a:rPr>
              <a:t>就是一个能够返回值的简单结构。最简单的表达式是</a:t>
            </a:r>
            <a:r>
              <a:rPr lang="zh-CN" altLang="en-US" sz="2400" b="1" baseline="0" dirty="0">
                <a:solidFill>
                  <a:srgbClr val="FF0066"/>
                </a:solidFill>
                <a:latin typeface="Times New Roman" panose="02020603050405020304" pitchFamily="18" charset="0"/>
                <a:ea typeface="楷体-简" panose="02010600040101010101" pitchFamily="2" charset="-122"/>
              </a:rPr>
              <a:t>变量和常量</a:t>
            </a:r>
            <a:r>
              <a:rPr lang="zh-CN" altLang="en-US" sz="2400" b="1" baseline="0" dirty="0">
                <a:latin typeface="Times New Roman" panose="02020603050405020304" pitchFamily="18" charset="0"/>
                <a:ea typeface="楷体-简" panose="02010600040101010101" pitchFamily="2" charset="-122"/>
              </a:rPr>
              <a:t>。在</a:t>
            </a:r>
            <a:r>
              <a:rPr lang="en-US" altLang="zh-CN" sz="2400" b="1" baseline="0" dirty="0">
                <a:latin typeface="Times New Roman" panose="02020603050405020304" pitchFamily="18" charset="0"/>
                <a:ea typeface="楷体-简" panose="02010600040101010101" pitchFamily="2" charset="-122"/>
              </a:rPr>
              <a:t>Java</a:t>
            </a:r>
            <a:r>
              <a:rPr lang="zh-CN" altLang="en-US" sz="2400" b="1" baseline="0" dirty="0">
                <a:latin typeface="Times New Roman" panose="02020603050405020304" pitchFamily="18" charset="0"/>
                <a:ea typeface="楷体-简" panose="02010600040101010101" pitchFamily="2" charset="-122"/>
              </a:rPr>
              <a:t>中也可以通过使用运算符、方法调用以及类型转换等，建立复杂的表达式。</a:t>
            </a:r>
          </a:p>
          <a:p>
            <a:pPr lvl="1" eaLnBrk="1" hangingPunct="1">
              <a:lnSpc>
                <a:spcPct val="90000"/>
              </a:lnSpc>
              <a:buFontTx/>
              <a:buNone/>
            </a:pPr>
            <a:endParaRPr lang="zh-CN" altLang="en-US" sz="2400" b="1" baseline="0" dirty="0">
              <a:latin typeface="Times New Roman" panose="02020603050405020304" pitchFamily="18" charset="0"/>
              <a:ea typeface="楷体-简" panose="02010600040101010101" pitchFamily="2" charset="-122"/>
            </a:endParaRPr>
          </a:p>
          <a:p>
            <a:pPr lvl="1" eaLnBrk="1" hangingPunct="1">
              <a:lnSpc>
                <a:spcPct val="90000"/>
              </a:lnSpc>
              <a:buClr>
                <a:schemeClr val="tx1"/>
              </a:buClr>
              <a:buFont typeface="Wingdings" panose="05000000000000000000" pitchFamily="2" charset="2"/>
              <a:buChar char="Ø"/>
            </a:pPr>
            <a:r>
              <a:rPr lang="zh-CN" altLang="en-US" sz="2400" b="1" baseline="0" dirty="0">
                <a:solidFill>
                  <a:srgbClr val="0000CC"/>
                </a:solidFill>
                <a:latin typeface="Times New Roman" panose="02020603050405020304" pitchFamily="18" charset="0"/>
                <a:ea typeface="楷体-简" panose="02010600040101010101" pitchFamily="2" charset="-122"/>
              </a:rPr>
              <a:t>表达式可用于赋值给一个变量、计算方法的参数、或者判断一个条件，表达式也可以包含方法的调用</a:t>
            </a:r>
            <a:r>
              <a:rPr lang="zh-CN" altLang="en-US" sz="2400" b="1" baseline="0" dirty="0">
                <a:latin typeface="Times New Roman" panose="02020603050405020304" pitchFamily="18" charset="0"/>
                <a:ea typeface="楷体-简" panose="02010600040101010101" pitchFamily="2" charset="-122"/>
              </a:rPr>
              <a:t>。</a:t>
            </a:r>
            <a:endParaRPr lang="en-US" altLang="zh-CN" sz="2400" b="1" baseline="0" dirty="0">
              <a:latin typeface="Times New Roman" panose="02020603050405020304" pitchFamily="18" charset="0"/>
              <a:ea typeface="楷体-简" panose="02010600040101010101" pitchFamily="2" charset="-122"/>
            </a:endParaRPr>
          </a:p>
          <a:p>
            <a:pPr marL="457200" lvl="1" indent="0" eaLnBrk="1" hangingPunct="1">
              <a:lnSpc>
                <a:spcPct val="90000"/>
              </a:lnSpc>
              <a:buClr>
                <a:schemeClr val="tx1"/>
              </a:buClr>
              <a:buNone/>
            </a:pPr>
            <a:r>
              <a:rPr lang="en-US" altLang="zh-CN" sz="2400" b="1" baseline="0" dirty="0">
                <a:latin typeface="Times New Roman" panose="02020603050405020304" pitchFamily="18" charset="0"/>
                <a:ea typeface="楷体-简" panose="02010600040101010101" pitchFamily="2" charset="-122"/>
              </a:rPr>
              <a:t>	</a:t>
            </a:r>
            <a:r>
              <a:rPr lang="zh-CN" altLang="en-US" sz="2400" b="1" baseline="0" dirty="0">
                <a:latin typeface="Times New Roman" panose="02020603050405020304" pitchFamily="18" charset="0"/>
                <a:ea typeface="楷体-简" panose="02010600040101010101" pitchFamily="2" charset="-122"/>
              </a:rPr>
              <a:t>例如：</a:t>
            </a:r>
            <a:r>
              <a:rPr lang="en-US" altLang="zh-CN" sz="2000" b="1" baseline="0" dirty="0">
                <a:latin typeface="Times New Roman" panose="02020603050405020304" pitchFamily="18" charset="0"/>
                <a:ea typeface="楷体-简" panose="02010600040101010101" pitchFamily="2" charset="-122"/>
              </a:rPr>
              <a:t>x    //</a:t>
            </a:r>
            <a:r>
              <a:rPr lang="zh-CN" altLang="en-US" sz="2000" b="1" baseline="0" dirty="0">
                <a:latin typeface="Times New Roman" panose="02020603050405020304" pitchFamily="18" charset="0"/>
                <a:ea typeface="楷体-简" panose="02010600040101010101" pitchFamily="2" charset="-122"/>
              </a:rPr>
              <a:t>变量</a:t>
            </a:r>
            <a:endParaRPr lang="en-US" altLang="zh-CN" sz="2000" b="1" baseline="0" dirty="0">
              <a:latin typeface="Times New Roman" panose="02020603050405020304" pitchFamily="18" charset="0"/>
              <a:ea typeface="楷体-简" panose="02010600040101010101" pitchFamily="2" charset="-122"/>
            </a:endParaRPr>
          </a:p>
          <a:p>
            <a:pPr lvl="3" eaLnBrk="1" hangingPunct="1">
              <a:lnSpc>
                <a:spcPct val="90000"/>
              </a:lnSpc>
              <a:buNone/>
            </a:pPr>
            <a:r>
              <a:rPr lang="en-US" altLang="zh-CN" sz="1600" b="1" baseline="0" dirty="0">
                <a:latin typeface="Times New Roman" panose="02020603050405020304" pitchFamily="18" charset="0"/>
                <a:ea typeface="楷体-简" panose="02010600040101010101" pitchFamily="2" charset="-122"/>
              </a:rPr>
              <a:t>		</a:t>
            </a:r>
            <a:r>
              <a:rPr lang="en-US" altLang="zh-CN" b="1" baseline="0" dirty="0">
                <a:latin typeface="Times New Roman" panose="02020603050405020304" pitchFamily="18" charset="0"/>
                <a:ea typeface="楷体-简" panose="02010600040101010101" pitchFamily="2" charset="-122"/>
              </a:rPr>
              <a:t>PI    //</a:t>
            </a:r>
            <a:r>
              <a:rPr lang="zh-CN" altLang="en-US" b="1" baseline="0" dirty="0">
                <a:latin typeface="Times New Roman" panose="02020603050405020304" pitchFamily="18" charset="0"/>
                <a:ea typeface="楷体-简" panose="02010600040101010101" pitchFamily="2" charset="-122"/>
              </a:rPr>
              <a:t>常量</a:t>
            </a:r>
            <a:endParaRPr lang="en-US" altLang="zh-CN" b="1" baseline="0" dirty="0">
              <a:latin typeface="Times New Roman" panose="02020603050405020304" pitchFamily="18" charset="0"/>
              <a:ea typeface="楷体-简" panose="02010600040101010101" pitchFamily="2" charset="-122"/>
            </a:endParaRPr>
          </a:p>
          <a:p>
            <a:pPr lvl="3" eaLnBrk="1" hangingPunct="1">
              <a:lnSpc>
                <a:spcPct val="90000"/>
              </a:lnSpc>
              <a:buNone/>
            </a:pPr>
            <a:r>
              <a:rPr lang="en-US" altLang="zh-CN" b="1" baseline="0" dirty="0">
                <a:latin typeface="Times New Roman" panose="02020603050405020304" pitchFamily="18" charset="0"/>
                <a:ea typeface="楷体-简" panose="02010600040101010101" pitchFamily="2" charset="-122"/>
              </a:rPr>
              <a:t>      </a:t>
            </a:r>
            <a:r>
              <a:rPr lang="en-US" altLang="zh-CN" b="1" baseline="0" dirty="0" err="1">
                <a:latin typeface="Times New Roman" panose="02020603050405020304" pitchFamily="18" charset="0"/>
                <a:ea typeface="楷体-简" panose="02010600040101010101" pitchFamily="2" charset="-122"/>
              </a:rPr>
              <a:t>System.out.println</a:t>
            </a:r>
            <a:r>
              <a:rPr lang="en-US" altLang="zh-CN" b="1" baseline="0" dirty="0">
                <a:latin typeface="Times New Roman" panose="02020603050405020304" pitchFamily="18" charset="0"/>
                <a:ea typeface="楷体-简" panose="02010600040101010101" pitchFamily="2" charset="-122"/>
              </a:rPr>
              <a:t>("</a:t>
            </a:r>
            <a:r>
              <a:rPr lang="zh-CN" altLang="en-US" b="1" baseline="0" dirty="0">
                <a:latin typeface="Times New Roman" panose="02020603050405020304" pitchFamily="18" charset="0"/>
                <a:ea typeface="楷体-简" panose="02010600040101010101" pitchFamily="2" charset="-122"/>
              </a:rPr>
              <a:t>字符串长度：</a:t>
            </a:r>
            <a:r>
              <a:rPr lang="en-US" altLang="zh-CN" b="1" baseline="0" dirty="0">
                <a:latin typeface="Times New Roman" panose="02020603050405020304" pitchFamily="18" charset="0"/>
                <a:ea typeface="楷体-简" panose="02010600040101010101" pitchFamily="2" charset="-122"/>
              </a:rPr>
              <a:t>"+n)    //</a:t>
            </a:r>
            <a:r>
              <a:rPr lang="zh-CN" altLang="en-US" b="1" baseline="0" dirty="0">
                <a:latin typeface="Times New Roman" panose="02020603050405020304" pitchFamily="18" charset="0"/>
                <a:ea typeface="楷体-简" panose="02010600040101010101" pitchFamily="2" charset="-122"/>
              </a:rPr>
              <a:t>方法调用</a:t>
            </a:r>
            <a:endParaRPr lang="en-US" altLang="zh-CN" b="1" baseline="0" dirty="0">
              <a:latin typeface="Times New Roman" panose="02020603050405020304" pitchFamily="18" charset="0"/>
              <a:ea typeface="楷体-简" panose="02010600040101010101" pitchFamily="2" charset="-122"/>
            </a:endParaRPr>
          </a:p>
          <a:p>
            <a:pPr lvl="3" eaLnBrk="1" hangingPunct="1">
              <a:lnSpc>
                <a:spcPct val="90000"/>
              </a:lnSpc>
              <a:buNone/>
            </a:pPr>
            <a:r>
              <a:rPr lang="en-US" altLang="zh-CN" b="1" baseline="0" dirty="0">
                <a:latin typeface="Times New Roman" panose="02020603050405020304" pitchFamily="18" charset="0"/>
                <a:ea typeface="楷体-简" panose="02010600040101010101" pitchFamily="2" charset="-122"/>
              </a:rPr>
              <a:t>      x * y    //</a:t>
            </a:r>
            <a:r>
              <a:rPr lang="zh-CN" altLang="en-US" b="1" baseline="0" dirty="0">
                <a:latin typeface="Times New Roman" panose="02020603050405020304" pitchFamily="18" charset="0"/>
                <a:ea typeface="楷体-简" panose="02010600040101010101" pitchFamily="2" charset="-122"/>
              </a:rPr>
              <a:t>算术运算</a:t>
            </a:r>
            <a:endParaRPr lang="en-US" altLang="zh-CN" b="1" baseline="0" dirty="0">
              <a:latin typeface="Times New Roman" panose="02020603050405020304" pitchFamily="18" charset="0"/>
              <a:ea typeface="楷体-简" panose="02010600040101010101" pitchFamily="2" charset="-122"/>
            </a:endParaRPr>
          </a:p>
          <a:p>
            <a:pPr lvl="3" eaLnBrk="1" hangingPunct="1">
              <a:lnSpc>
                <a:spcPct val="90000"/>
              </a:lnSpc>
              <a:buNone/>
            </a:pPr>
            <a:r>
              <a:rPr lang="en-US" altLang="zh-CN" b="1" baseline="0" dirty="0">
                <a:latin typeface="Times New Roman" panose="02020603050405020304" pitchFamily="18" charset="0"/>
                <a:ea typeface="楷体-简" panose="02010600040101010101" pitchFamily="2" charset="-122"/>
              </a:rPr>
              <a:t>      x = 1.5    //</a:t>
            </a:r>
            <a:r>
              <a:rPr lang="zh-CN" altLang="en-US" b="1" baseline="0" dirty="0">
                <a:latin typeface="Times New Roman" panose="02020603050405020304" pitchFamily="18" charset="0"/>
                <a:ea typeface="楷体-简" panose="02010600040101010101" pitchFamily="2" charset="-122"/>
              </a:rPr>
              <a:t>变量赋值</a:t>
            </a:r>
            <a:endParaRPr lang="en-US" altLang="zh-CN" b="1" baseline="0" dirty="0">
              <a:latin typeface="Times New Roman" panose="02020603050405020304" pitchFamily="18" charset="0"/>
              <a:ea typeface="楷体-简" panose="02010600040101010101" pitchFamily="2" charset="-122"/>
            </a:endParaRPr>
          </a:p>
          <a:p>
            <a:pPr lvl="3" eaLnBrk="1" hangingPunct="1">
              <a:lnSpc>
                <a:spcPct val="90000"/>
              </a:lnSpc>
              <a:buNone/>
            </a:pPr>
            <a:r>
              <a:rPr lang="en-US" altLang="zh-CN" b="1" baseline="0" dirty="0">
                <a:latin typeface="Times New Roman" panose="02020603050405020304" pitchFamily="18" charset="0"/>
                <a:ea typeface="楷体-简" panose="02010600040101010101" pitchFamily="2" charset="-122"/>
              </a:rPr>
              <a:t>      love2.equals(love1)    //</a:t>
            </a:r>
            <a:r>
              <a:rPr lang="zh-CN" altLang="en-US" b="1" baseline="0" dirty="0">
                <a:latin typeface="Times New Roman" panose="02020603050405020304" pitchFamily="18" charset="0"/>
                <a:ea typeface="楷体-简" panose="02010600040101010101" pitchFamily="2" charset="-122"/>
              </a:rPr>
              <a:t>逻辑运算</a:t>
            </a:r>
            <a:endParaRPr lang="en-US" altLang="zh-CN" b="1" baseline="0" dirty="0">
              <a:latin typeface="Times New Roman" panose="02020603050405020304" pitchFamily="18" charset="0"/>
              <a:ea typeface="楷体-简" panose="02010600040101010101" pitchFamily="2" charset="-122"/>
            </a:endParaRPr>
          </a:p>
          <a:p>
            <a:pPr lvl="3" eaLnBrk="1" hangingPunct="1">
              <a:lnSpc>
                <a:spcPct val="90000"/>
              </a:lnSpc>
              <a:buNone/>
            </a:pPr>
            <a:r>
              <a:rPr lang="en-US" altLang="zh-CN" b="1" baseline="0" dirty="0">
                <a:latin typeface="Times New Roman" panose="02020603050405020304" pitchFamily="18" charset="0"/>
                <a:ea typeface="楷体-简" panose="02010600040101010101" pitchFamily="2" charset="-122"/>
              </a:rPr>
              <a:t>      int p = (int)PI    //</a:t>
            </a:r>
            <a:r>
              <a:rPr lang="zh-CN" altLang="en-US" b="1" baseline="0" dirty="0">
                <a:latin typeface="Times New Roman" panose="02020603050405020304" pitchFamily="18" charset="0"/>
                <a:ea typeface="楷体-简" panose="02010600040101010101" pitchFamily="2" charset="-122"/>
              </a:rPr>
              <a:t>类型转换</a:t>
            </a:r>
            <a:endParaRPr lang="zh-CN" altLang="en-US" baseline="0" dirty="0">
              <a:latin typeface="Times New Roman" panose="02020603050405020304" pitchFamily="18" charset="0"/>
              <a:ea typeface="楷体-简" panose="02010600040101010101" pitchFamily="2" charset="-122"/>
            </a:endParaRPr>
          </a:p>
          <a:p>
            <a:pPr lvl="1" eaLnBrk="1" hangingPunct="1">
              <a:lnSpc>
                <a:spcPct val="90000"/>
              </a:lnSpc>
              <a:buFontTx/>
              <a:buNone/>
            </a:pPr>
            <a:endParaRPr lang="zh-CN" altLang="en-US" sz="2400" baseline="0" dirty="0">
              <a:latin typeface="Times New Roman" panose="02020603050405020304" pitchFamily="18" charset="0"/>
              <a:ea typeface="楷体-简" panose="02010600040101010101" pitchFamily="2" charset="-122"/>
            </a:endParaRPr>
          </a:p>
          <a:p>
            <a:pPr lvl="1" eaLnBrk="1" hangingPunct="1">
              <a:lnSpc>
                <a:spcPct val="90000"/>
              </a:lnSpc>
              <a:buFontTx/>
              <a:buNone/>
            </a:pPr>
            <a:endParaRPr lang="en-US" altLang="zh-CN" sz="2400" baseline="0" dirty="0">
              <a:latin typeface="Times New Roman" panose="02020603050405020304" pitchFamily="18" charset="0"/>
              <a:ea typeface="楷体-简" panose="02010600040101010101" pitchFamily="2"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350EBECE-1876-41F5-A392-D4FDB195872E}"/>
              </a:ext>
            </a:extLst>
          </p:cNvPr>
          <p:cNvSpPr>
            <a:spLocks noGrp="1" noChangeArrowheads="1"/>
          </p:cNvSpPr>
          <p:nvPr>
            <p:ph type="title"/>
          </p:nvPr>
        </p:nvSpPr>
        <p:spPr/>
        <p:txBody>
          <a:bodyPr/>
          <a:lstStyle/>
          <a:p>
            <a:pPr eaLnBrk="1" hangingPunct="1"/>
            <a:r>
              <a:rPr lang="en-US" altLang="zh-CN" sz="3600" baseline="0">
                <a:solidFill>
                  <a:srgbClr val="FF0066"/>
                </a:solidFill>
                <a:latin typeface="Times New Roman" panose="02020603050405020304" pitchFamily="18" charset="0"/>
                <a:ea typeface="楷体-简" panose="02010600040101010101" pitchFamily="2" charset="-122"/>
              </a:rPr>
              <a:t>2.8 </a:t>
            </a:r>
            <a:r>
              <a:rPr lang="zh-CN" altLang="en-US" sz="3600" baseline="0">
                <a:solidFill>
                  <a:srgbClr val="FF0066"/>
                </a:solidFill>
                <a:latin typeface="Times New Roman" panose="02020603050405020304" pitchFamily="18" charset="0"/>
                <a:ea typeface="楷体-简" panose="02010600040101010101" pitchFamily="2" charset="-122"/>
              </a:rPr>
              <a:t>控制语句</a:t>
            </a:r>
            <a:r>
              <a:rPr lang="zh-CN" altLang="en-US" baseline="0">
                <a:latin typeface="Times New Roman" panose="02020603050405020304" pitchFamily="18" charset="0"/>
                <a:ea typeface="楷体-简" panose="02010600040101010101" pitchFamily="2" charset="-122"/>
              </a:rPr>
              <a:t> </a:t>
            </a:r>
          </a:p>
        </p:txBody>
      </p:sp>
      <p:sp>
        <p:nvSpPr>
          <p:cNvPr id="56323" name="Rectangle 3">
            <a:extLst>
              <a:ext uri="{FF2B5EF4-FFF2-40B4-BE49-F238E27FC236}">
                <a16:creationId xmlns:a16="http://schemas.microsoft.com/office/drawing/2014/main" id="{FE24AA5F-0A97-474F-A8E9-F89AA08A4D83}"/>
              </a:ext>
            </a:extLst>
          </p:cNvPr>
          <p:cNvSpPr>
            <a:spLocks noGrp="1" noChangeArrowheads="1"/>
          </p:cNvSpPr>
          <p:nvPr>
            <p:ph type="body" idx="1"/>
          </p:nvPr>
        </p:nvSpPr>
        <p:spPr>
          <a:xfrm>
            <a:off x="457200" y="1916832"/>
            <a:ext cx="8229600" cy="3744416"/>
          </a:xfrm>
        </p:spPr>
        <p:txBody>
          <a:bodyPr/>
          <a:lstStyle/>
          <a:p>
            <a:pPr eaLnBrk="1" hangingPunct="1">
              <a:buFont typeface="Wingdings" panose="05000000000000000000" pitchFamily="2" charset="2"/>
              <a:buChar char="Ø"/>
            </a:pPr>
            <a:r>
              <a:rPr lang="en-US" altLang="zh-CN" sz="2400" b="1" baseline="0" dirty="0">
                <a:latin typeface="Times New Roman" panose="02020603050405020304" pitchFamily="18" charset="0"/>
                <a:ea typeface="楷体-简" panose="02010600040101010101" pitchFamily="2" charset="-122"/>
              </a:rPr>
              <a:t>Java</a:t>
            </a:r>
            <a:r>
              <a:rPr lang="zh-CN" altLang="en-US" sz="2400" b="1" baseline="0" dirty="0">
                <a:latin typeface="Times New Roman" panose="02020603050405020304" pitchFamily="18" charset="0"/>
                <a:ea typeface="楷体-简" panose="02010600040101010101" pitchFamily="2" charset="-122"/>
              </a:rPr>
              <a:t>程序通过</a:t>
            </a:r>
            <a:r>
              <a:rPr lang="zh-CN" altLang="en-US" sz="2400" b="1" baseline="0" dirty="0">
                <a:solidFill>
                  <a:srgbClr val="C00000"/>
                </a:solidFill>
                <a:latin typeface="Times New Roman" panose="02020603050405020304" pitchFamily="18" charset="0"/>
                <a:ea typeface="楷体-简" panose="02010600040101010101" pitchFamily="2" charset="-122"/>
              </a:rPr>
              <a:t>控制语句</a:t>
            </a:r>
            <a:r>
              <a:rPr lang="zh-CN" altLang="en-US" sz="2400" b="1" baseline="0" dirty="0">
                <a:latin typeface="Times New Roman" panose="02020603050405020304" pitchFamily="18" charset="0"/>
                <a:ea typeface="楷体-简" panose="02010600040101010101" pitchFamily="2" charset="-122"/>
              </a:rPr>
              <a:t>来执行程序流，完成一定的任务。程序流是由若干个语句组成的，语句可以是一条语句，如</a:t>
            </a:r>
            <a:r>
              <a:rPr lang="en-US" altLang="zh-CN" sz="2400" b="1" baseline="0" dirty="0">
                <a:latin typeface="Times New Roman" panose="02020603050405020304" pitchFamily="18" charset="0"/>
                <a:ea typeface="楷体-简" panose="02010600040101010101" pitchFamily="2" charset="-122"/>
              </a:rPr>
              <a:t>c=</a:t>
            </a:r>
            <a:r>
              <a:rPr lang="en-US" altLang="zh-CN" sz="2400" b="1" baseline="0" dirty="0" err="1">
                <a:latin typeface="Times New Roman" panose="02020603050405020304" pitchFamily="18" charset="0"/>
                <a:ea typeface="楷体-简" panose="02010600040101010101" pitchFamily="2" charset="-122"/>
              </a:rPr>
              <a:t>a+b</a:t>
            </a:r>
            <a:r>
              <a:rPr lang="en-US" altLang="zh-CN" sz="2400" b="1" baseline="0" dirty="0">
                <a:latin typeface="Times New Roman" panose="02020603050405020304" pitchFamily="18" charset="0"/>
                <a:ea typeface="楷体-简" panose="02010600040101010101" pitchFamily="2" charset="-122"/>
              </a:rPr>
              <a:t>,</a:t>
            </a:r>
            <a:r>
              <a:rPr lang="zh-CN" altLang="en-US" sz="2400" b="1" baseline="0" dirty="0">
                <a:latin typeface="Times New Roman" panose="02020603050405020304" pitchFamily="18" charset="0"/>
                <a:ea typeface="楷体-简" panose="02010600040101010101" pitchFamily="2" charset="-122"/>
              </a:rPr>
              <a:t>也可以是用大括号</a:t>
            </a:r>
            <a:r>
              <a:rPr lang="en-US" altLang="zh-CN" sz="2400" b="1" baseline="0" dirty="0">
                <a:latin typeface="Times New Roman" panose="02020603050405020304" pitchFamily="18" charset="0"/>
                <a:ea typeface="楷体-简" panose="02010600040101010101" pitchFamily="2" charset="-122"/>
              </a:rPr>
              <a:t>{}</a:t>
            </a:r>
            <a:r>
              <a:rPr lang="zh-CN" altLang="en-US" sz="2400" b="1" baseline="0" dirty="0">
                <a:latin typeface="Times New Roman" panose="02020603050405020304" pitchFamily="18" charset="0"/>
                <a:ea typeface="楷体-简" panose="02010600040101010101" pitchFamily="2" charset="-122"/>
              </a:rPr>
              <a:t>括起来的一个复合语句。</a:t>
            </a:r>
            <a:endParaRPr lang="en-US" altLang="zh-CN" sz="2400" b="1" baseline="0" dirty="0">
              <a:latin typeface="Times New Roman" panose="02020603050405020304" pitchFamily="18" charset="0"/>
              <a:ea typeface="楷体-简" panose="02010600040101010101" pitchFamily="2" charset="-122"/>
            </a:endParaRPr>
          </a:p>
          <a:p>
            <a:pPr eaLnBrk="1" hangingPunct="1">
              <a:buFont typeface="Wingdings" panose="05000000000000000000" pitchFamily="2" charset="2"/>
              <a:buChar char="Ø"/>
            </a:pPr>
            <a:endParaRPr lang="en-US" altLang="zh-CN" sz="1400" b="1" baseline="0" dirty="0">
              <a:latin typeface="Times New Roman" panose="02020603050405020304" pitchFamily="18" charset="0"/>
              <a:ea typeface="楷体-简" panose="02010600040101010101" pitchFamily="2" charset="-122"/>
            </a:endParaRPr>
          </a:p>
          <a:p>
            <a:pPr eaLnBrk="1" hangingPunct="1">
              <a:buFont typeface="Wingdings" panose="05000000000000000000" pitchFamily="2" charset="2"/>
              <a:buChar char="Ø"/>
            </a:pPr>
            <a:r>
              <a:rPr lang="en-US" altLang="zh-CN" sz="2400" b="1" baseline="0" dirty="0">
                <a:latin typeface="Times New Roman" panose="02020603050405020304" pitchFamily="18" charset="0"/>
                <a:ea typeface="楷体-简" panose="02010600040101010101" pitchFamily="2" charset="-122"/>
              </a:rPr>
              <a:t>Java</a:t>
            </a:r>
            <a:r>
              <a:rPr lang="zh-CN" altLang="en-US" sz="2400" b="1" baseline="0" dirty="0">
                <a:latin typeface="Times New Roman" panose="02020603050405020304" pitchFamily="18" charset="0"/>
                <a:ea typeface="楷体-简" panose="02010600040101010101" pitchFamily="2" charset="-122"/>
              </a:rPr>
              <a:t>中的控制语句有以下几类：</a:t>
            </a:r>
            <a:br>
              <a:rPr lang="zh-CN" altLang="en-US" sz="2400" b="1" baseline="0" dirty="0">
                <a:latin typeface="Times New Roman" panose="02020603050405020304" pitchFamily="18" charset="0"/>
                <a:ea typeface="楷体-简" panose="02010600040101010101" pitchFamily="2" charset="-122"/>
              </a:rPr>
            </a:br>
            <a:r>
              <a:rPr lang="zh-CN" altLang="en-US" sz="2400" b="1" baseline="0" dirty="0">
                <a:latin typeface="Times New Roman" panose="02020603050405020304" pitchFamily="18" charset="0"/>
                <a:ea typeface="楷体-简" panose="02010600040101010101" pitchFamily="2" charset="-122"/>
              </a:rPr>
              <a:t>　◇ 分支语句：</a:t>
            </a:r>
            <a:r>
              <a:rPr lang="en-US" altLang="zh-CN" sz="2000" b="1" baseline="0" dirty="0">
                <a:latin typeface="Times New Roman" panose="02020603050405020304" pitchFamily="18" charset="0"/>
                <a:ea typeface="楷体-简" panose="02010600040101010101" pitchFamily="2" charset="-122"/>
              </a:rPr>
              <a:t>if-else, switch</a:t>
            </a:r>
            <a:br>
              <a:rPr lang="en-US" altLang="zh-CN" sz="2400" b="1" baseline="0" dirty="0">
                <a:latin typeface="Times New Roman" panose="02020603050405020304" pitchFamily="18" charset="0"/>
                <a:ea typeface="楷体-简" panose="02010600040101010101" pitchFamily="2" charset="-122"/>
              </a:rPr>
            </a:br>
            <a:r>
              <a:rPr lang="zh-CN" altLang="en-US" sz="2400" b="1" baseline="0" dirty="0">
                <a:latin typeface="Times New Roman" panose="02020603050405020304" pitchFamily="18" charset="0"/>
                <a:ea typeface="楷体-简" panose="02010600040101010101" pitchFamily="2" charset="-122"/>
              </a:rPr>
              <a:t>　◇ 循环语句：</a:t>
            </a:r>
            <a:r>
              <a:rPr lang="en-US" altLang="zh-CN" sz="2000" b="1" baseline="0" dirty="0">
                <a:latin typeface="Times New Roman" panose="02020603050405020304" pitchFamily="18" charset="0"/>
                <a:ea typeface="楷体-简" panose="02010600040101010101" pitchFamily="2" charset="-122"/>
              </a:rPr>
              <a:t>while, do-while, for</a:t>
            </a:r>
            <a:br>
              <a:rPr lang="en-US" altLang="zh-CN" sz="2400" b="1" baseline="0" dirty="0">
                <a:latin typeface="Times New Roman" panose="02020603050405020304" pitchFamily="18" charset="0"/>
                <a:ea typeface="楷体-简" panose="02010600040101010101" pitchFamily="2" charset="-122"/>
              </a:rPr>
            </a:br>
            <a:r>
              <a:rPr lang="zh-CN" altLang="en-US" sz="2400" b="1" baseline="0" dirty="0">
                <a:latin typeface="Times New Roman" panose="02020603050405020304" pitchFamily="18" charset="0"/>
                <a:ea typeface="楷体-简" panose="02010600040101010101" pitchFamily="2" charset="-122"/>
              </a:rPr>
              <a:t>    ◇ 与程序转移有关的跳转语句：</a:t>
            </a:r>
            <a:r>
              <a:rPr lang="en-US" altLang="zh-CN" sz="2000" b="1" baseline="0" dirty="0">
                <a:latin typeface="Times New Roman" panose="02020603050405020304" pitchFamily="18" charset="0"/>
                <a:ea typeface="楷体-简" panose="02010600040101010101" pitchFamily="2" charset="-122"/>
              </a:rPr>
              <a:t>break, continue, return</a:t>
            </a:r>
            <a:br>
              <a:rPr lang="en-US" altLang="zh-CN" sz="2000" b="1" baseline="0" dirty="0">
                <a:latin typeface="Times New Roman" panose="02020603050405020304" pitchFamily="18" charset="0"/>
                <a:ea typeface="楷体-简" panose="02010600040101010101" pitchFamily="2" charset="-122"/>
              </a:rPr>
            </a:br>
            <a:r>
              <a:rPr lang="zh-CN" altLang="en-US" sz="2400" b="1" baseline="0" dirty="0">
                <a:latin typeface="Times New Roman" panose="02020603050405020304" pitchFamily="18" charset="0"/>
                <a:ea typeface="楷体-简" panose="02010600040101010101" pitchFamily="2" charset="-122"/>
              </a:rPr>
              <a:t>　◇ 例外处理语句：</a:t>
            </a:r>
            <a:r>
              <a:rPr lang="en-US" altLang="zh-CN" sz="2000" b="1" baseline="0" dirty="0">
                <a:latin typeface="Times New Roman" panose="02020603050405020304" pitchFamily="18" charset="0"/>
                <a:ea typeface="楷体-简" panose="02010600040101010101" pitchFamily="2" charset="-122"/>
              </a:rPr>
              <a:t>try-catch-finally, throw</a:t>
            </a:r>
            <a:br>
              <a:rPr lang="en-US" altLang="zh-CN" sz="2400" b="1" baseline="0" dirty="0">
                <a:latin typeface="Times New Roman" panose="02020603050405020304" pitchFamily="18" charset="0"/>
                <a:ea typeface="楷体-简" panose="02010600040101010101" pitchFamily="2" charset="-122"/>
              </a:rPr>
            </a:br>
            <a:r>
              <a:rPr lang="zh-CN" altLang="en-US" sz="2400" b="1" baseline="0" dirty="0">
                <a:latin typeface="Times New Roman" panose="02020603050405020304" pitchFamily="18" charset="0"/>
                <a:ea typeface="楷体-简" panose="02010600040101010101" pitchFamily="2" charset="-122"/>
              </a:rPr>
              <a:t>　◇ 注释语句：</a:t>
            </a:r>
            <a:r>
              <a:rPr lang="en-US" altLang="zh-CN" sz="2000" b="1" baseline="0" dirty="0">
                <a:latin typeface="Times New Roman" panose="02020603050405020304" pitchFamily="18" charset="0"/>
                <a:ea typeface="楷体-简" panose="02010600040101010101" pitchFamily="2" charset="-122"/>
              </a:rPr>
              <a:t>//</a:t>
            </a:r>
            <a:r>
              <a:rPr lang="zh-CN" altLang="en-US" sz="2000" b="1" baseline="0" dirty="0">
                <a:latin typeface="Times New Roman" panose="02020603050405020304" pitchFamily="18" charset="0"/>
                <a:ea typeface="楷体-简" panose="02010600040101010101" pitchFamily="2" charset="-122"/>
              </a:rPr>
              <a:t>，</a:t>
            </a:r>
            <a:r>
              <a:rPr lang="en-US" altLang="zh-CN" sz="2000" b="1" baseline="0" dirty="0">
                <a:latin typeface="Times New Roman" panose="02020603050405020304" pitchFamily="18" charset="0"/>
                <a:ea typeface="楷体-简" panose="02010600040101010101" pitchFamily="2" charset="-122"/>
              </a:rPr>
              <a:t>/* */</a:t>
            </a:r>
            <a:r>
              <a:rPr lang="zh-CN" altLang="en-US" sz="2000" b="1" baseline="0" dirty="0">
                <a:latin typeface="Times New Roman" panose="02020603050405020304" pitchFamily="18" charset="0"/>
                <a:ea typeface="楷体-简" panose="02010600040101010101" pitchFamily="2" charset="-122"/>
              </a:rPr>
              <a:t>， </a:t>
            </a:r>
            <a:r>
              <a:rPr lang="en-US" altLang="zh-CN" sz="2000" b="1" baseline="0" dirty="0">
                <a:latin typeface="Times New Roman" panose="02020603050405020304" pitchFamily="18" charset="0"/>
                <a:ea typeface="楷体-简" panose="02010600040101010101" pitchFamily="2" charset="-122"/>
              </a:rPr>
              <a:t>/** */ </a:t>
            </a:r>
            <a:br>
              <a:rPr lang="en-US" altLang="zh-CN" sz="2400" b="1" baseline="0" dirty="0">
                <a:latin typeface="Times New Roman" panose="02020603050405020304" pitchFamily="18" charset="0"/>
                <a:ea typeface="楷体-简" panose="02010600040101010101" pitchFamily="2" charset="-122"/>
              </a:rPr>
            </a:br>
            <a:endParaRPr lang="en-US" altLang="zh-CN" sz="2400" b="1" baseline="0" dirty="0">
              <a:latin typeface="Times New Roman" panose="02020603050405020304" pitchFamily="18" charset="0"/>
              <a:ea typeface="楷体-简" panose="02010600040101010101" pitchFamily="2"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732CF38E-B4A1-4F81-B620-004D4CB5D171}"/>
              </a:ext>
            </a:extLst>
          </p:cNvPr>
          <p:cNvSpPr>
            <a:spLocks noGrp="1" noChangeArrowheads="1"/>
          </p:cNvSpPr>
          <p:nvPr>
            <p:ph type="title"/>
          </p:nvPr>
        </p:nvSpPr>
        <p:spPr>
          <a:xfrm>
            <a:off x="457200" y="332656"/>
            <a:ext cx="8229600" cy="706437"/>
          </a:xfrm>
        </p:spPr>
        <p:txBody>
          <a:bodyPr/>
          <a:lstStyle/>
          <a:p>
            <a:pPr eaLnBrk="1" hangingPunct="1"/>
            <a:r>
              <a:rPr lang="zh-CN" altLang="en-US" sz="3600" baseline="0">
                <a:solidFill>
                  <a:srgbClr val="FF0066"/>
                </a:solidFill>
                <a:latin typeface="Times New Roman" panose="02020603050405020304" pitchFamily="18" charset="0"/>
                <a:ea typeface="楷体-简" panose="02010600040101010101" pitchFamily="2" charset="-122"/>
              </a:rPr>
              <a:t>分支语句</a:t>
            </a:r>
            <a:r>
              <a:rPr lang="zh-CN" altLang="en-US" sz="4000" baseline="0">
                <a:latin typeface="Times New Roman" panose="02020603050405020304" pitchFamily="18" charset="0"/>
                <a:ea typeface="楷体-简" panose="02010600040101010101" pitchFamily="2" charset="-122"/>
              </a:rPr>
              <a:t> </a:t>
            </a:r>
          </a:p>
        </p:txBody>
      </p:sp>
      <p:sp>
        <p:nvSpPr>
          <p:cNvPr id="57347" name="Rectangle 3">
            <a:extLst>
              <a:ext uri="{FF2B5EF4-FFF2-40B4-BE49-F238E27FC236}">
                <a16:creationId xmlns:a16="http://schemas.microsoft.com/office/drawing/2014/main" id="{A9F3B6A5-E967-4BE8-BA76-FC7D0F26D218}"/>
              </a:ext>
            </a:extLst>
          </p:cNvPr>
          <p:cNvSpPr>
            <a:spLocks noGrp="1" noChangeArrowheads="1"/>
          </p:cNvSpPr>
          <p:nvPr>
            <p:ph type="body" idx="1"/>
          </p:nvPr>
        </p:nvSpPr>
        <p:spPr>
          <a:xfrm>
            <a:off x="457200" y="1218977"/>
            <a:ext cx="8270875" cy="5450383"/>
          </a:xfrm>
        </p:spPr>
        <p:txBody>
          <a:bodyPr/>
          <a:lstStyle/>
          <a:p>
            <a:pPr eaLnBrk="1" hangingPunct="1">
              <a:buFont typeface="Wingdings" panose="05000000000000000000" pitchFamily="2" charset="2"/>
              <a:buChar char="Ø"/>
            </a:pPr>
            <a:r>
              <a:rPr lang="zh-CN" altLang="en-US" sz="2400" b="1" baseline="0">
                <a:solidFill>
                  <a:srgbClr val="C00000"/>
                </a:solidFill>
                <a:latin typeface="Times New Roman" panose="02020603050405020304" pitchFamily="18" charset="0"/>
                <a:ea typeface="楷体-简" panose="02010600040101010101" pitchFamily="2" charset="-122"/>
              </a:rPr>
              <a:t>分支语句</a:t>
            </a:r>
            <a:r>
              <a:rPr lang="zh-CN" altLang="en-US" sz="2400" b="1" baseline="0">
                <a:latin typeface="Times New Roman" panose="02020603050405020304" pitchFamily="18" charset="0"/>
                <a:ea typeface="楷体-简" panose="02010600040101010101" pitchFamily="2" charset="-122"/>
              </a:rPr>
              <a:t>提供了一种控制机制，使得程序的执行可以跳过某些语句，而转去执行特定的语句。嵌套时最好使用</a:t>
            </a:r>
            <a:r>
              <a:rPr lang="en-US" altLang="zh-CN" sz="2400" b="1" baseline="0">
                <a:latin typeface="Times New Roman" panose="02020603050405020304" pitchFamily="18" charset="0"/>
                <a:ea typeface="楷体-简" panose="02010600040101010101" pitchFamily="2" charset="-122"/>
              </a:rPr>
              <a:t>{ }</a:t>
            </a:r>
            <a:r>
              <a:rPr lang="zh-CN" altLang="en-US" sz="2400" b="1" baseline="0">
                <a:latin typeface="Times New Roman" panose="02020603050405020304" pitchFamily="18" charset="0"/>
                <a:ea typeface="楷体-简" panose="02010600040101010101" pitchFamily="2" charset="-122"/>
              </a:rPr>
              <a:t>来确定层次界限</a:t>
            </a:r>
            <a:endParaRPr lang="en-US" altLang="zh-CN" sz="2400" b="1" baseline="0">
              <a:latin typeface="Times New Roman" panose="02020603050405020304" pitchFamily="18" charset="0"/>
              <a:ea typeface="楷体-简" panose="02010600040101010101" pitchFamily="2" charset="-122"/>
            </a:endParaRPr>
          </a:p>
          <a:p>
            <a:pPr eaLnBrk="1" hangingPunct="1">
              <a:buFontTx/>
              <a:buNone/>
            </a:pPr>
            <a:br>
              <a:rPr lang="zh-CN" altLang="en-US" sz="800" b="1" baseline="0">
                <a:latin typeface="Times New Roman" panose="02020603050405020304" pitchFamily="18" charset="0"/>
                <a:ea typeface="楷体-简" panose="02010600040101010101" pitchFamily="2" charset="-122"/>
              </a:rPr>
            </a:br>
            <a:r>
              <a:rPr lang="zh-CN" altLang="en-US" sz="2400" b="1" baseline="0">
                <a:latin typeface="Times New Roman" panose="02020603050405020304" pitchFamily="18" charset="0"/>
                <a:ea typeface="楷体-简" panose="02010600040101010101" pitchFamily="2" charset="-122"/>
              </a:rPr>
              <a:t>　　</a:t>
            </a:r>
            <a:r>
              <a:rPr lang="en-US" altLang="zh-CN" sz="2400" b="1" baseline="0">
                <a:solidFill>
                  <a:srgbClr val="FF0066"/>
                </a:solidFill>
                <a:latin typeface="Times New Roman" panose="02020603050405020304" pitchFamily="18" charset="0"/>
                <a:ea typeface="楷体-简" panose="02010600040101010101" pitchFamily="2" charset="-122"/>
              </a:rPr>
              <a:t>1</a:t>
            </a:r>
            <a:r>
              <a:rPr lang="zh-CN" altLang="en-US" sz="2400" b="1" baseline="0">
                <a:solidFill>
                  <a:srgbClr val="FF0066"/>
                </a:solidFill>
                <a:latin typeface="Times New Roman" panose="02020603050405020304" pitchFamily="18" charset="0"/>
                <a:ea typeface="楷体-简" panose="02010600040101010101" pitchFamily="2" charset="-122"/>
              </a:rPr>
              <a:t>．条件语句 </a:t>
            </a:r>
            <a:r>
              <a:rPr lang="en-US" altLang="zh-CN" sz="2400" b="1" baseline="0">
                <a:solidFill>
                  <a:srgbClr val="FF0066"/>
                </a:solidFill>
                <a:latin typeface="Times New Roman" panose="02020603050405020304" pitchFamily="18" charset="0"/>
                <a:ea typeface="楷体-简" panose="02010600040101010101" pitchFamily="2" charset="-122"/>
              </a:rPr>
              <a:t>if-else</a:t>
            </a:r>
            <a:br>
              <a:rPr lang="en-US" altLang="zh-CN" sz="2400" b="1" baseline="0">
                <a:solidFill>
                  <a:srgbClr val="FF0066"/>
                </a:solidFill>
                <a:latin typeface="Times New Roman" panose="02020603050405020304" pitchFamily="18" charset="0"/>
                <a:ea typeface="楷体-简" panose="02010600040101010101" pitchFamily="2" charset="-122"/>
              </a:rPr>
            </a:br>
            <a:r>
              <a:rPr lang="zh-CN" altLang="en-US" sz="2400" b="1" baseline="0">
                <a:latin typeface="Times New Roman" panose="02020603050405020304" pitchFamily="18" charset="0"/>
                <a:ea typeface="楷体-简" panose="02010600040101010101" pitchFamily="2" charset="-122"/>
              </a:rPr>
              <a:t>　　　</a:t>
            </a:r>
            <a:r>
              <a:rPr lang="en-US" altLang="zh-CN" sz="2400" b="1" baseline="0">
                <a:latin typeface="Times New Roman" panose="02020603050405020304" pitchFamily="18" charset="0"/>
                <a:ea typeface="楷体-简" panose="02010600040101010101" pitchFamily="2" charset="-122"/>
              </a:rPr>
              <a:t>if(boolean-expression)</a:t>
            </a:r>
            <a:br>
              <a:rPr lang="en-US" altLang="zh-CN" sz="2400" b="1" baseline="0">
                <a:latin typeface="Times New Roman" panose="02020603050405020304" pitchFamily="18" charset="0"/>
                <a:ea typeface="楷体-简" panose="02010600040101010101" pitchFamily="2" charset="-122"/>
              </a:rPr>
            </a:br>
            <a:r>
              <a:rPr lang="zh-CN" altLang="en-US" sz="2400" b="1" baseline="0">
                <a:latin typeface="Times New Roman" panose="02020603050405020304" pitchFamily="18" charset="0"/>
                <a:ea typeface="楷体-简" panose="02010600040101010101" pitchFamily="2" charset="-122"/>
              </a:rPr>
              <a:t>　　　　</a:t>
            </a:r>
            <a:r>
              <a:rPr lang="en-US" altLang="zh-CN" sz="2400" b="1" baseline="0">
                <a:latin typeface="Times New Roman" panose="02020603050405020304" pitchFamily="18" charset="0"/>
                <a:ea typeface="楷体-简" panose="02010600040101010101" pitchFamily="2" charset="-122"/>
              </a:rPr>
              <a:t>statement1;</a:t>
            </a:r>
            <a:br>
              <a:rPr lang="en-US" altLang="zh-CN" sz="2400" b="1" baseline="0">
                <a:latin typeface="Times New Roman" panose="02020603050405020304" pitchFamily="18" charset="0"/>
                <a:ea typeface="楷体-简" panose="02010600040101010101" pitchFamily="2" charset="-122"/>
              </a:rPr>
            </a:br>
            <a:r>
              <a:rPr lang="zh-CN" altLang="en-US" sz="2400" b="1" baseline="0">
                <a:latin typeface="Times New Roman" panose="02020603050405020304" pitchFamily="18" charset="0"/>
                <a:ea typeface="楷体-简" panose="02010600040101010101" pitchFamily="2" charset="-122"/>
              </a:rPr>
              <a:t>　　　</a:t>
            </a:r>
            <a:r>
              <a:rPr lang="en-US" altLang="zh-CN" sz="2400" b="1" baseline="0">
                <a:latin typeface="Times New Roman" panose="02020603050405020304" pitchFamily="18" charset="0"/>
                <a:ea typeface="楷体-简" panose="02010600040101010101" pitchFamily="2" charset="-122"/>
              </a:rPr>
              <a:t>[else statement2;]</a:t>
            </a:r>
            <a:br>
              <a:rPr lang="en-US" altLang="zh-CN" sz="2400" b="1" baseline="0">
                <a:latin typeface="Times New Roman" panose="02020603050405020304" pitchFamily="18" charset="0"/>
                <a:ea typeface="楷体-简" panose="02010600040101010101" pitchFamily="2" charset="-122"/>
              </a:rPr>
            </a:br>
            <a:endParaRPr lang="en-US" altLang="zh-CN" sz="2400" b="1" baseline="0">
              <a:latin typeface="Times New Roman" panose="02020603050405020304" pitchFamily="18" charset="0"/>
              <a:ea typeface="楷体-简" panose="02010600040101010101" pitchFamily="2" charset="-122"/>
            </a:endParaRPr>
          </a:p>
          <a:p>
            <a:pPr lvl="3" eaLnBrk="1" hangingPunct="1">
              <a:lnSpc>
                <a:spcPct val="70000"/>
              </a:lnSpc>
              <a:buFontTx/>
              <a:buNone/>
            </a:pPr>
            <a:r>
              <a:rPr lang="en-US" altLang="zh-CN" sz="2400" b="1" baseline="0">
                <a:latin typeface="Times New Roman" panose="02020603050405020304" pitchFamily="18" charset="0"/>
                <a:ea typeface="楷体-简" panose="02010600040101010101" pitchFamily="2" charset="-122"/>
              </a:rPr>
              <a:t>If</a:t>
            </a:r>
            <a:r>
              <a:rPr lang="zh-CN" altLang="en-US" sz="2400" b="1" baseline="0">
                <a:latin typeface="Times New Roman" panose="02020603050405020304" pitchFamily="18" charset="0"/>
                <a:ea typeface="楷体-简" panose="02010600040101010101" pitchFamily="2" charset="-122"/>
              </a:rPr>
              <a:t>语句还可以嵌套使用</a:t>
            </a:r>
          </a:p>
          <a:p>
            <a:pPr lvl="3" eaLnBrk="1" hangingPunct="1">
              <a:lnSpc>
                <a:spcPct val="70000"/>
              </a:lnSpc>
              <a:buFontTx/>
              <a:buNone/>
            </a:pPr>
            <a:r>
              <a:rPr lang="zh-CN" altLang="en-US" sz="2400" b="1" baseline="0">
                <a:latin typeface="Times New Roman" panose="02020603050405020304" pitchFamily="18" charset="0"/>
                <a:ea typeface="楷体-简" panose="02010600040101010101" pitchFamily="2" charset="-122"/>
              </a:rPr>
              <a:t>	</a:t>
            </a:r>
            <a:r>
              <a:rPr lang="en-US" altLang="zh-CN" sz="2400" b="1" baseline="0">
                <a:latin typeface="Times New Roman" panose="02020603050405020304" pitchFamily="18" charset="0"/>
                <a:ea typeface="楷体-简" panose="02010600040101010101" pitchFamily="2" charset="-122"/>
              </a:rPr>
              <a:t>if (</a:t>
            </a:r>
            <a:r>
              <a:rPr lang="zh-CN" altLang="en-US" sz="2400" b="1" baseline="0">
                <a:latin typeface="Times New Roman" panose="02020603050405020304" pitchFamily="18" charset="0"/>
                <a:ea typeface="楷体-简" panose="02010600040101010101" pitchFamily="2" charset="-122"/>
              </a:rPr>
              <a:t>表达式</a:t>
            </a:r>
            <a:r>
              <a:rPr lang="en-US" altLang="zh-CN" sz="2400" b="1" baseline="0">
                <a:latin typeface="Times New Roman" panose="02020603050405020304" pitchFamily="18" charset="0"/>
                <a:ea typeface="楷体-简" panose="02010600040101010101" pitchFamily="2" charset="-122"/>
              </a:rPr>
              <a:t>1)  </a:t>
            </a:r>
          </a:p>
          <a:p>
            <a:pPr lvl="3" eaLnBrk="1" hangingPunct="1">
              <a:lnSpc>
                <a:spcPct val="70000"/>
              </a:lnSpc>
              <a:buFontTx/>
              <a:buNone/>
            </a:pPr>
            <a:r>
              <a:rPr lang="en-US" altLang="zh-CN" sz="2400" b="1" baseline="0">
                <a:latin typeface="Times New Roman" panose="02020603050405020304" pitchFamily="18" charset="0"/>
                <a:ea typeface="楷体-简" panose="02010600040101010101" pitchFamily="2" charset="-122"/>
              </a:rPr>
              <a:t>		if (</a:t>
            </a:r>
            <a:r>
              <a:rPr lang="zh-CN" altLang="en-US" sz="2400" b="1" baseline="0">
                <a:latin typeface="Times New Roman" panose="02020603050405020304" pitchFamily="18" charset="0"/>
                <a:ea typeface="楷体-简" panose="02010600040101010101" pitchFamily="2" charset="-122"/>
              </a:rPr>
              <a:t>表达式</a:t>
            </a:r>
            <a:r>
              <a:rPr lang="en-US" altLang="zh-CN" sz="2400" b="1" baseline="0">
                <a:latin typeface="Times New Roman" panose="02020603050405020304" pitchFamily="18" charset="0"/>
                <a:ea typeface="楷体-简" panose="02010600040101010101" pitchFamily="2" charset="-122"/>
              </a:rPr>
              <a:t>2) </a:t>
            </a:r>
            <a:r>
              <a:rPr lang="zh-CN" altLang="en-US" sz="2400" b="1" baseline="0">
                <a:latin typeface="Times New Roman" panose="02020603050405020304" pitchFamily="18" charset="0"/>
                <a:ea typeface="楷体-简" panose="02010600040101010101" pitchFamily="2" charset="-122"/>
              </a:rPr>
              <a:t>语句</a:t>
            </a:r>
            <a:r>
              <a:rPr lang="en-US" altLang="zh-CN" sz="2400" b="1" baseline="0">
                <a:latin typeface="Times New Roman" panose="02020603050405020304" pitchFamily="18" charset="0"/>
                <a:ea typeface="楷体-简" panose="02010600040101010101" pitchFamily="2" charset="-122"/>
              </a:rPr>
              <a:t>1</a:t>
            </a:r>
            <a:r>
              <a:rPr lang="zh-CN" altLang="en-US" sz="2400" b="1" baseline="0">
                <a:latin typeface="Times New Roman" panose="02020603050405020304" pitchFamily="18" charset="0"/>
                <a:ea typeface="楷体-简" panose="02010600040101010101" pitchFamily="2" charset="-122"/>
              </a:rPr>
              <a:t>；</a:t>
            </a:r>
          </a:p>
          <a:p>
            <a:pPr lvl="3" eaLnBrk="1" hangingPunct="1">
              <a:lnSpc>
                <a:spcPct val="70000"/>
              </a:lnSpc>
              <a:buFontTx/>
              <a:buNone/>
            </a:pPr>
            <a:r>
              <a:rPr lang="zh-CN" altLang="en-US" sz="2400" b="1" baseline="0">
                <a:latin typeface="Times New Roman" panose="02020603050405020304" pitchFamily="18" charset="0"/>
                <a:ea typeface="楷体-简" panose="02010600040101010101" pitchFamily="2" charset="-122"/>
              </a:rPr>
              <a:t>		</a:t>
            </a:r>
            <a:r>
              <a:rPr lang="en-US" altLang="zh-CN" sz="2400" b="1" baseline="0">
                <a:latin typeface="Times New Roman" panose="02020603050405020304" pitchFamily="18" charset="0"/>
                <a:ea typeface="楷体-简" panose="02010600040101010101" pitchFamily="2" charset="-122"/>
              </a:rPr>
              <a:t>else</a:t>
            </a:r>
            <a:r>
              <a:rPr lang="zh-CN" altLang="en-US" sz="2400" b="1" baseline="0">
                <a:latin typeface="Times New Roman" panose="02020603050405020304" pitchFamily="18" charset="0"/>
                <a:ea typeface="楷体-简" panose="02010600040101010101" pitchFamily="2" charset="-122"/>
              </a:rPr>
              <a:t>语句</a:t>
            </a:r>
            <a:r>
              <a:rPr lang="en-US" altLang="zh-CN" sz="2400" b="1" baseline="0">
                <a:latin typeface="Times New Roman" panose="02020603050405020304" pitchFamily="18" charset="0"/>
                <a:ea typeface="楷体-简" panose="02010600040101010101" pitchFamily="2" charset="-122"/>
              </a:rPr>
              <a:t>2</a:t>
            </a:r>
            <a:r>
              <a:rPr lang="zh-CN" altLang="en-US" sz="2400" b="1" baseline="0">
                <a:latin typeface="Times New Roman" panose="02020603050405020304" pitchFamily="18" charset="0"/>
                <a:ea typeface="楷体-简" panose="02010600040101010101" pitchFamily="2" charset="-122"/>
              </a:rPr>
              <a:t>；</a:t>
            </a:r>
          </a:p>
          <a:p>
            <a:pPr lvl="3" eaLnBrk="1" hangingPunct="1">
              <a:lnSpc>
                <a:spcPct val="70000"/>
              </a:lnSpc>
              <a:buFontTx/>
              <a:buNone/>
            </a:pPr>
            <a:r>
              <a:rPr lang="zh-CN" altLang="en-US" sz="2400" b="1" baseline="0">
                <a:latin typeface="Times New Roman" panose="02020603050405020304" pitchFamily="18" charset="0"/>
                <a:ea typeface="楷体-简" panose="02010600040101010101" pitchFamily="2" charset="-122"/>
              </a:rPr>
              <a:t>   </a:t>
            </a:r>
            <a:r>
              <a:rPr lang="en-US" altLang="zh-CN" sz="2400" b="1" baseline="0">
                <a:latin typeface="Times New Roman" panose="02020603050405020304" pitchFamily="18" charset="0"/>
                <a:ea typeface="楷体-简" panose="02010600040101010101" pitchFamily="2" charset="-122"/>
              </a:rPr>
              <a:t>esle  </a:t>
            </a:r>
          </a:p>
          <a:p>
            <a:pPr lvl="3" eaLnBrk="1" hangingPunct="1">
              <a:lnSpc>
                <a:spcPct val="70000"/>
              </a:lnSpc>
              <a:buFontTx/>
              <a:buNone/>
            </a:pPr>
            <a:r>
              <a:rPr lang="en-US" altLang="zh-CN" sz="2400" b="1" baseline="0">
                <a:latin typeface="Times New Roman" panose="02020603050405020304" pitchFamily="18" charset="0"/>
                <a:ea typeface="楷体-简" panose="02010600040101010101" pitchFamily="2" charset="-122"/>
              </a:rPr>
              <a:t>		if (</a:t>
            </a:r>
            <a:r>
              <a:rPr lang="zh-CN" altLang="en-US" sz="2400" b="1" baseline="0">
                <a:latin typeface="Times New Roman" panose="02020603050405020304" pitchFamily="18" charset="0"/>
                <a:ea typeface="楷体-简" panose="02010600040101010101" pitchFamily="2" charset="-122"/>
              </a:rPr>
              <a:t>表达式</a:t>
            </a:r>
            <a:r>
              <a:rPr lang="en-US" altLang="zh-CN" sz="2400" b="1" baseline="0">
                <a:latin typeface="Times New Roman" panose="02020603050405020304" pitchFamily="18" charset="0"/>
                <a:ea typeface="楷体-简" panose="02010600040101010101" pitchFamily="2" charset="-122"/>
              </a:rPr>
              <a:t>2) </a:t>
            </a:r>
            <a:r>
              <a:rPr lang="zh-CN" altLang="en-US" sz="2400" b="1" baseline="0">
                <a:latin typeface="Times New Roman" panose="02020603050405020304" pitchFamily="18" charset="0"/>
                <a:ea typeface="楷体-简" panose="02010600040101010101" pitchFamily="2" charset="-122"/>
              </a:rPr>
              <a:t>语句</a:t>
            </a:r>
            <a:r>
              <a:rPr lang="en-US" altLang="zh-CN" sz="2400" b="1" baseline="0">
                <a:latin typeface="Times New Roman" panose="02020603050405020304" pitchFamily="18" charset="0"/>
                <a:ea typeface="楷体-简" panose="02010600040101010101" pitchFamily="2" charset="-122"/>
              </a:rPr>
              <a:t>3</a:t>
            </a:r>
            <a:r>
              <a:rPr lang="zh-CN" altLang="en-US" sz="2400" b="1" baseline="0">
                <a:latin typeface="Times New Roman" panose="02020603050405020304" pitchFamily="18" charset="0"/>
                <a:ea typeface="楷体-简" panose="02010600040101010101" pitchFamily="2" charset="-122"/>
              </a:rPr>
              <a:t>；</a:t>
            </a:r>
          </a:p>
          <a:p>
            <a:pPr lvl="3" eaLnBrk="1" hangingPunct="1">
              <a:lnSpc>
                <a:spcPct val="70000"/>
              </a:lnSpc>
              <a:buFontTx/>
              <a:buNone/>
            </a:pPr>
            <a:r>
              <a:rPr lang="zh-CN" altLang="en-US" sz="2400" b="1" baseline="0">
                <a:latin typeface="Times New Roman" panose="02020603050405020304" pitchFamily="18" charset="0"/>
                <a:ea typeface="楷体-简" panose="02010600040101010101" pitchFamily="2" charset="-122"/>
              </a:rPr>
              <a:t>		</a:t>
            </a:r>
            <a:r>
              <a:rPr lang="en-US" altLang="zh-CN" sz="2400" b="1" baseline="0">
                <a:latin typeface="Times New Roman" panose="02020603050405020304" pitchFamily="18" charset="0"/>
                <a:ea typeface="楷体-简" panose="02010600040101010101" pitchFamily="2" charset="-122"/>
              </a:rPr>
              <a:t>else</a:t>
            </a:r>
            <a:r>
              <a:rPr lang="zh-CN" altLang="en-US" sz="2400" b="1" baseline="0">
                <a:latin typeface="Times New Roman" panose="02020603050405020304" pitchFamily="18" charset="0"/>
                <a:ea typeface="楷体-简" panose="02010600040101010101" pitchFamily="2" charset="-122"/>
              </a:rPr>
              <a:t>语句</a:t>
            </a:r>
            <a:r>
              <a:rPr lang="en-US" altLang="zh-CN" sz="2400" b="1" baseline="0">
                <a:latin typeface="Times New Roman" panose="02020603050405020304" pitchFamily="18" charset="0"/>
                <a:ea typeface="楷体-简" panose="02010600040101010101" pitchFamily="2" charset="-122"/>
              </a:rPr>
              <a:t>4</a:t>
            </a:r>
            <a:r>
              <a:rPr lang="zh-CN" altLang="en-US" sz="2400" b="1" baseline="0">
                <a:latin typeface="Times New Roman" panose="02020603050405020304" pitchFamily="18" charset="0"/>
                <a:ea typeface="楷体-简" panose="02010600040101010101" pitchFamily="2" charset="-122"/>
              </a:rPr>
              <a: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ABD19D99-0D03-4E8D-9EB2-432B5D59ED12}"/>
              </a:ext>
            </a:extLst>
          </p:cNvPr>
          <p:cNvSpPr>
            <a:spLocks noChangeArrowheads="1"/>
          </p:cNvSpPr>
          <p:nvPr/>
        </p:nvSpPr>
        <p:spPr bwMode="auto">
          <a:xfrm>
            <a:off x="611188" y="1341438"/>
            <a:ext cx="7272337" cy="2663626"/>
          </a:xfrm>
          <a:prstGeom prst="rect">
            <a:avLst/>
          </a:prstGeom>
          <a:solidFill>
            <a:srgbClr val="FFE799"/>
          </a:solidFill>
          <a:ln>
            <a:noFill/>
          </a:ln>
          <a:effec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b="0" dirty="0">
                <a:cs typeface="Times New Roman" panose="02020603050405020304" pitchFamily="18" charset="0"/>
              </a:rPr>
              <a:t>If (  x&gt; 5 ) </a:t>
            </a:r>
            <a:r>
              <a:rPr lang="en-US" altLang="zh-CN" sz="2800" b="0" dirty="0">
                <a:solidFill>
                  <a:srgbClr val="FF3300"/>
                </a:solidFill>
                <a:cs typeface="Times New Roman" panose="02020603050405020304" pitchFamily="18" charset="0"/>
              </a:rPr>
              <a:t>{</a:t>
            </a:r>
          </a:p>
          <a:p>
            <a:pPr eaLnBrk="1" hangingPunct="1">
              <a:spcBef>
                <a:spcPct val="0"/>
              </a:spcBef>
              <a:buFontTx/>
              <a:buNone/>
            </a:pPr>
            <a:r>
              <a:rPr lang="en-US" altLang="zh-CN" sz="2800" b="0" dirty="0">
                <a:cs typeface="Times New Roman" panose="02020603050405020304" pitchFamily="18" charset="0"/>
              </a:rPr>
              <a:t>	if ( y &gt; 5 ) </a:t>
            </a:r>
          </a:p>
          <a:p>
            <a:pPr eaLnBrk="1" hangingPunct="1">
              <a:spcBef>
                <a:spcPct val="0"/>
              </a:spcBef>
              <a:buFontTx/>
              <a:buNone/>
            </a:pPr>
            <a:r>
              <a:rPr lang="en-US" altLang="zh-CN" sz="2800" b="0" dirty="0">
                <a:cs typeface="Times New Roman" panose="02020603050405020304" pitchFamily="18" charset="0"/>
              </a:rPr>
              <a:t>		</a:t>
            </a:r>
            <a:r>
              <a:rPr lang="en-US" altLang="zh-CN" sz="2800" b="0" dirty="0" err="1">
                <a:cs typeface="Times New Roman" panose="02020603050405020304" pitchFamily="18" charset="0"/>
              </a:rPr>
              <a:t>System.out.println</a:t>
            </a:r>
            <a:r>
              <a:rPr lang="en-US" altLang="zh-CN" sz="2800" b="0" dirty="0">
                <a:cs typeface="Times New Roman" panose="02020603050405020304" pitchFamily="18" charset="0"/>
              </a:rPr>
              <a:t>(“x and y are &gt;5”);</a:t>
            </a:r>
          </a:p>
          <a:p>
            <a:pPr eaLnBrk="1" hangingPunct="1">
              <a:spcBef>
                <a:spcPct val="0"/>
              </a:spcBef>
              <a:buFontTx/>
              <a:buNone/>
            </a:pPr>
            <a:r>
              <a:rPr lang="en-US" altLang="zh-CN" sz="2800" b="0" dirty="0">
                <a:solidFill>
                  <a:srgbClr val="FF3300"/>
                </a:solidFill>
                <a:cs typeface="Times New Roman" panose="02020603050405020304" pitchFamily="18" charset="0"/>
              </a:rPr>
              <a:t>}</a:t>
            </a:r>
          </a:p>
          <a:p>
            <a:pPr eaLnBrk="1" hangingPunct="1">
              <a:spcBef>
                <a:spcPct val="0"/>
              </a:spcBef>
              <a:buFontTx/>
              <a:buNone/>
            </a:pPr>
            <a:r>
              <a:rPr lang="en-US" altLang="zh-CN" sz="2800" b="0" dirty="0">
                <a:cs typeface="Times New Roman" panose="02020603050405020304" pitchFamily="18" charset="0"/>
              </a:rPr>
              <a:t>else </a:t>
            </a:r>
          </a:p>
          <a:p>
            <a:pPr eaLnBrk="1" hangingPunct="1">
              <a:spcBef>
                <a:spcPct val="0"/>
              </a:spcBef>
              <a:buFontTx/>
              <a:buNone/>
            </a:pPr>
            <a:r>
              <a:rPr lang="en-US" altLang="zh-CN" sz="2800" b="0" dirty="0">
                <a:cs typeface="Times New Roman" panose="02020603050405020304" pitchFamily="18" charset="0"/>
              </a:rPr>
              <a:t>	</a:t>
            </a:r>
            <a:r>
              <a:rPr lang="en-US" altLang="zh-CN" sz="2800" b="0" dirty="0" err="1">
                <a:cs typeface="Times New Roman" panose="02020603050405020304" pitchFamily="18" charset="0"/>
              </a:rPr>
              <a:t>System.out.println</a:t>
            </a:r>
            <a:r>
              <a:rPr lang="en-US" altLang="zh-CN" sz="2800" b="0" dirty="0">
                <a:cs typeface="Times New Roman" panose="02020603050405020304" pitchFamily="18" charset="0"/>
              </a:rPr>
              <a:t>(“x is &lt;= 5”);</a:t>
            </a:r>
          </a:p>
        </p:txBody>
      </p:sp>
      <p:sp>
        <p:nvSpPr>
          <p:cNvPr id="58371" name="Text Box 3">
            <a:extLst>
              <a:ext uri="{FF2B5EF4-FFF2-40B4-BE49-F238E27FC236}">
                <a16:creationId xmlns:a16="http://schemas.microsoft.com/office/drawing/2014/main" id="{AD1AFA3C-F8D0-4664-9C44-B56B59845970}"/>
              </a:ext>
            </a:extLst>
          </p:cNvPr>
          <p:cNvSpPr txBox="1">
            <a:spLocks noChangeArrowheads="1"/>
          </p:cNvSpPr>
          <p:nvPr/>
        </p:nvSpPr>
        <p:spPr bwMode="auto">
          <a:xfrm>
            <a:off x="684213" y="692150"/>
            <a:ext cx="5975350" cy="461665"/>
          </a:xfrm>
          <a:prstGeom prst="rect">
            <a:avLst/>
          </a:prstGeom>
          <a:noFill/>
          <a:ln>
            <a:noFill/>
          </a:ln>
          <a:effectLst/>
          <a:extLst>
            <a:ext uri="{909E8E84-426E-40DD-AFC4-6F175D3DCCD1}">
              <a14:hiddenFill xmlns:a14="http://schemas.microsoft.com/office/drawing/2010/main">
                <a:solidFill>
                  <a:srgbClr val="FFE699"/>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342900" indent="-342900" eaLnBrk="1" hangingPunct="1">
              <a:spcBef>
                <a:spcPct val="50000"/>
              </a:spcBef>
              <a:buFont typeface="Wingdings" panose="05000000000000000000" pitchFamily="2" charset="2"/>
              <a:buChar char="Ø"/>
            </a:pPr>
            <a:r>
              <a:rPr lang="zh-CN" altLang="en-US" sz="2400">
                <a:solidFill>
                  <a:srgbClr val="008000"/>
                </a:solidFill>
                <a:latin typeface="Lucida Console" panose="020B0609040504020204" pitchFamily="49" charset="0"/>
              </a:rPr>
              <a:t>试把大括号去掉与没有去掉有什么区别？</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3">
            <a:extLst>
              <a:ext uri="{FF2B5EF4-FFF2-40B4-BE49-F238E27FC236}">
                <a16:creationId xmlns:a16="http://schemas.microsoft.com/office/drawing/2014/main" id="{8911F30A-1CE9-4762-894F-B03660637519}"/>
              </a:ext>
            </a:extLst>
          </p:cNvPr>
          <p:cNvSpPr>
            <a:spLocks noGrp="1" noChangeArrowheads="1"/>
          </p:cNvSpPr>
          <p:nvPr>
            <p:ph type="body" idx="1"/>
          </p:nvPr>
        </p:nvSpPr>
        <p:spPr>
          <a:xfrm>
            <a:off x="457200" y="512751"/>
            <a:ext cx="8229600" cy="467978"/>
          </a:xfrm>
        </p:spPr>
        <p:txBody>
          <a:bodyPr/>
          <a:lstStyle/>
          <a:p>
            <a:pPr eaLnBrk="1" hangingPunct="1">
              <a:lnSpc>
                <a:spcPct val="90000"/>
              </a:lnSpc>
              <a:spcBef>
                <a:spcPct val="0"/>
              </a:spcBef>
              <a:buFontTx/>
              <a:buNone/>
            </a:pPr>
            <a:r>
              <a:rPr lang="zh-CN" altLang="en-US" sz="2400" b="1" baseline="0" dirty="0">
                <a:solidFill>
                  <a:srgbClr val="FF0066"/>
                </a:solidFill>
                <a:latin typeface="Times New Roman" panose="02020603050405020304" pitchFamily="18" charset="0"/>
                <a:ea typeface="楷体-简" panose="02010600040101010101" pitchFamily="2" charset="-122"/>
                <a:cs typeface="Times New Roman" panose="02020603050405020304" pitchFamily="18" charset="0"/>
              </a:rPr>
              <a:t>例子：</a:t>
            </a:r>
            <a:r>
              <a:rPr lang="zh-CN" altLang="en-US" sz="2400" b="1" baseline="0" dirty="0">
                <a:solidFill>
                  <a:srgbClr val="5F5F5F"/>
                </a:solidFill>
                <a:latin typeface="Times New Roman" panose="02020603050405020304" pitchFamily="18" charset="0"/>
                <a:ea typeface="楷体-简" panose="02010600040101010101" pitchFamily="2" charset="-122"/>
                <a:cs typeface="Times New Roman" panose="02020603050405020304" pitchFamily="18" charset="0"/>
              </a:rPr>
              <a:t>用户输入三个整数，输出最大值</a:t>
            </a:r>
          </a:p>
          <a:p>
            <a:pPr eaLnBrk="1" hangingPunct="1">
              <a:lnSpc>
                <a:spcPct val="90000"/>
              </a:lnSpc>
              <a:buFontTx/>
              <a:buNone/>
            </a:pPr>
            <a:endParaRPr lang="en-US" altLang="zh-CN" sz="2400" baseline="0" dirty="0">
              <a:latin typeface="Times New Roman" panose="02020603050405020304" pitchFamily="18" charset="0"/>
              <a:ea typeface="楷体-简" panose="02010600040101010101" pitchFamily="2" charset="-122"/>
            </a:endParaRPr>
          </a:p>
        </p:txBody>
      </p:sp>
      <p:pic>
        <p:nvPicPr>
          <p:cNvPr id="7" name="图片 6">
            <a:extLst>
              <a:ext uri="{FF2B5EF4-FFF2-40B4-BE49-F238E27FC236}">
                <a16:creationId xmlns:a16="http://schemas.microsoft.com/office/drawing/2014/main" id="{2D943F0C-EEF3-494A-8CC5-49A47294298E}"/>
              </a:ext>
            </a:extLst>
          </p:cNvPr>
          <p:cNvPicPr>
            <a:picLocks noChangeAspect="1"/>
          </p:cNvPicPr>
          <p:nvPr/>
        </p:nvPicPr>
        <p:blipFill>
          <a:blip r:embed="rId3"/>
          <a:stretch>
            <a:fillRect/>
          </a:stretch>
        </p:blipFill>
        <p:spPr>
          <a:xfrm>
            <a:off x="0" y="980729"/>
            <a:ext cx="9144000" cy="5503838"/>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4C2D3AE4-9CEA-2148-BBD9-8D2A0BD62907}"/>
              </a:ext>
            </a:extLst>
          </p:cNvPr>
          <p:cNvPicPr>
            <a:picLocks noChangeAspect="1"/>
          </p:cNvPicPr>
          <p:nvPr/>
        </p:nvPicPr>
        <p:blipFill>
          <a:blip r:embed="rId2"/>
          <a:stretch>
            <a:fillRect/>
          </a:stretch>
        </p:blipFill>
        <p:spPr>
          <a:xfrm>
            <a:off x="0" y="0"/>
            <a:ext cx="9144000" cy="4306315"/>
          </a:xfrm>
          <a:prstGeom prst="rect">
            <a:avLst/>
          </a:prstGeom>
        </p:spPr>
      </p:pic>
      <p:pic>
        <p:nvPicPr>
          <p:cNvPr id="5" name="图片 4">
            <a:extLst>
              <a:ext uri="{FF2B5EF4-FFF2-40B4-BE49-F238E27FC236}">
                <a16:creationId xmlns:a16="http://schemas.microsoft.com/office/drawing/2014/main" id="{AFB57913-69D5-B041-B0F2-3851C3930645}"/>
              </a:ext>
            </a:extLst>
          </p:cNvPr>
          <p:cNvPicPr>
            <a:picLocks noChangeAspect="1"/>
          </p:cNvPicPr>
          <p:nvPr/>
        </p:nvPicPr>
        <p:blipFill>
          <a:blip r:embed="rId3"/>
          <a:stretch>
            <a:fillRect/>
          </a:stretch>
        </p:blipFill>
        <p:spPr>
          <a:xfrm>
            <a:off x="-4057" y="5229200"/>
            <a:ext cx="9144000" cy="861208"/>
          </a:xfrm>
          <a:prstGeom prst="rect">
            <a:avLst/>
          </a:prstGeom>
        </p:spPr>
      </p:pic>
    </p:spTree>
    <p:extLst>
      <p:ext uri="{BB962C8B-B14F-4D97-AF65-F5344CB8AC3E}">
        <p14:creationId xmlns:p14="http://schemas.microsoft.com/office/powerpoint/2010/main" val="159966889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3">
            <a:extLst>
              <a:ext uri="{FF2B5EF4-FFF2-40B4-BE49-F238E27FC236}">
                <a16:creationId xmlns:a16="http://schemas.microsoft.com/office/drawing/2014/main" id="{A24A2C30-C0C6-467F-B463-97B7B5509C01}"/>
              </a:ext>
            </a:extLst>
          </p:cNvPr>
          <p:cNvSpPr>
            <a:spLocks noGrp="1" noChangeArrowheads="1"/>
          </p:cNvSpPr>
          <p:nvPr>
            <p:ph type="body" idx="1"/>
          </p:nvPr>
        </p:nvSpPr>
        <p:spPr>
          <a:xfrm>
            <a:off x="179512" y="404664"/>
            <a:ext cx="8569325" cy="6192688"/>
          </a:xfrm>
        </p:spPr>
        <p:txBody>
          <a:bodyPr/>
          <a:lstStyle/>
          <a:p>
            <a:pPr eaLnBrk="1" hangingPunct="1">
              <a:buFontTx/>
              <a:buNone/>
            </a:pPr>
            <a:r>
              <a:rPr lang="zh-CN" altLang="en-US" b="1" baseline="0" dirty="0">
                <a:latin typeface="Times New Roman" panose="02020603050405020304" pitchFamily="18" charset="0"/>
                <a:ea typeface="楷体-简" panose="02010600040101010101" pitchFamily="2" charset="-122"/>
              </a:rPr>
              <a:t>　</a:t>
            </a:r>
            <a:r>
              <a:rPr lang="en-US" altLang="zh-CN" sz="2400" b="1" baseline="0" dirty="0">
                <a:solidFill>
                  <a:srgbClr val="FF0066"/>
                </a:solidFill>
                <a:latin typeface="Times New Roman" panose="02020603050405020304" pitchFamily="18" charset="0"/>
                <a:ea typeface="楷体-简" panose="02010600040101010101" pitchFamily="2" charset="-122"/>
              </a:rPr>
              <a:t>2</a:t>
            </a:r>
            <a:r>
              <a:rPr lang="zh-CN" altLang="en-US" sz="2400" b="1" baseline="0" dirty="0">
                <a:solidFill>
                  <a:srgbClr val="FF0066"/>
                </a:solidFill>
                <a:latin typeface="Times New Roman" panose="02020603050405020304" pitchFamily="18" charset="0"/>
                <a:ea typeface="楷体-简" panose="02010600040101010101" pitchFamily="2" charset="-122"/>
              </a:rPr>
              <a:t>．多分支语句 </a:t>
            </a:r>
            <a:r>
              <a:rPr lang="en-US" altLang="zh-CN" sz="2400" b="1" baseline="0" dirty="0">
                <a:solidFill>
                  <a:srgbClr val="FF0066"/>
                </a:solidFill>
                <a:latin typeface="Times New Roman" panose="02020603050405020304" pitchFamily="18" charset="0"/>
                <a:ea typeface="楷体-简" panose="02010600040101010101" pitchFamily="2" charset="-122"/>
              </a:rPr>
              <a:t>switch</a:t>
            </a:r>
            <a:br>
              <a:rPr lang="en-US" altLang="zh-CN" sz="2400" b="1" baseline="0" dirty="0">
                <a:latin typeface="Times New Roman" panose="02020603050405020304" pitchFamily="18" charset="0"/>
                <a:ea typeface="楷体-简" panose="02010600040101010101" pitchFamily="2" charset="-122"/>
              </a:rPr>
            </a:br>
            <a:r>
              <a:rPr lang="zh-CN" altLang="en-US" sz="2400" b="1" baseline="0" dirty="0">
                <a:latin typeface="Times New Roman" panose="02020603050405020304" pitchFamily="18" charset="0"/>
                <a:ea typeface="楷体-简" panose="02010600040101010101" pitchFamily="2" charset="-122"/>
              </a:rPr>
              <a:t>　　　</a:t>
            </a:r>
            <a:r>
              <a:rPr lang="en-US" altLang="zh-CN" sz="2400" b="1" baseline="0" dirty="0">
                <a:latin typeface="Times New Roman" panose="02020603050405020304" pitchFamily="18" charset="0"/>
                <a:ea typeface="楷体-简" panose="02010600040101010101" pitchFamily="2" charset="-122"/>
              </a:rPr>
              <a:t>switch (expression) {</a:t>
            </a:r>
            <a:br>
              <a:rPr lang="en-US" altLang="zh-CN" sz="2400" b="1" baseline="0" dirty="0">
                <a:latin typeface="Times New Roman" panose="02020603050405020304" pitchFamily="18" charset="0"/>
                <a:ea typeface="楷体-简" panose="02010600040101010101" pitchFamily="2" charset="-122"/>
              </a:rPr>
            </a:br>
            <a:r>
              <a:rPr lang="zh-CN" altLang="en-US" sz="2400" b="1" baseline="0" dirty="0">
                <a:latin typeface="Times New Roman" panose="02020603050405020304" pitchFamily="18" charset="0"/>
                <a:ea typeface="楷体-简" panose="02010600040101010101" pitchFamily="2" charset="-122"/>
              </a:rPr>
              <a:t>　　　　</a:t>
            </a:r>
            <a:r>
              <a:rPr lang="en-US" altLang="zh-CN" sz="2400" b="1" baseline="0" dirty="0">
                <a:latin typeface="Times New Roman" panose="02020603050405020304" pitchFamily="18" charset="0"/>
                <a:ea typeface="楷体-简" panose="02010600040101010101" pitchFamily="2" charset="-122"/>
              </a:rPr>
              <a:t>case value1 : statement1;</a:t>
            </a:r>
            <a:r>
              <a:rPr lang="zh-CN" altLang="en-US" sz="2400" b="1" baseline="0" dirty="0">
                <a:latin typeface="Times New Roman" panose="02020603050405020304" pitchFamily="18" charset="0"/>
                <a:ea typeface="楷体-简" panose="02010600040101010101" pitchFamily="2" charset="-122"/>
              </a:rPr>
              <a:t>　　</a:t>
            </a:r>
            <a:r>
              <a:rPr lang="en-US" altLang="zh-CN" sz="2400" b="1" baseline="0" dirty="0">
                <a:latin typeface="Times New Roman" panose="02020603050405020304" pitchFamily="18" charset="0"/>
                <a:ea typeface="楷体-简" panose="02010600040101010101" pitchFamily="2" charset="-122"/>
              </a:rPr>
              <a:t>break;</a:t>
            </a:r>
            <a:br>
              <a:rPr lang="en-US" altLang="zh-CN" sz="2400" b="1" baseline="0" dirty="0">
                <a:latin typeface="Times New Roman" panose="02020603050405020304" pitchFamily="18" charset="0"/>
                <a:ea typeface="楷体-简" panose="02010600040101010101" pitchFamily="2" charset="-122"/>
              </a:rPr>
            </a:br>
            <a:r>
              <a:rPr lang="zh-CN" altLang="en-US" sz="2400" b="1" baseline="0" dirty="0">
                <a:latin typeface="Times New Roman" panose="02020603050405020304" pitchFamily="18" charset="0"/>
                <a:ea typeface="楷体-简" panose="02010600040101010101" pitchFamily="2" charset="-122"/>
              </a:rPr>
              <a:t>　　　　</a:t>
            </a:r>
            <a:r>
              <a:rPr lang="en-US" altLang="zh-CN" sz="2400" b="1" baseline="0" dirty="0">
                <a:latin typeface="Times New Roman" panose="02020603050405020304" pitchFamily="18" charset="0"/>
                <a:ea typeface="楷体-简" panose="02010600040101010101" pitchFamily="2" charset="-122"/>
              </a:rPr>
              <a:t>…………</a:t>
            </a:r>
            <a:br>
              <a:rPr lang="en-US" altLang="zh-CN" sz="2400" b="1" baseline="0" dirty="0">
                <a:latin typeface="Times New Roman" panose="02020603050405020304" pitchFamily="18" charset="0"/>
                <a:ea typeface="楷体-简" panose="02010600040101010101" pitchFamily="2" charset="-122"/>
              </a:rPr>
            </a:br>
            <a:r>
              <a:rPr lang="zh-CN" altLang="en-US" sz="2400" b="1" baseline="0" dirty="0">
                <a:latin typeface="Times New Roman" panose="02020603050405020304" pitchFamily="18" charset="0"/>
                <a:ea typeface="楷体-简" panose="02010600040101010101" pitchFamily="2" charset="-122"/>
              </a:rPr>
              <a:t>　　　　</a:t>
            </a:r>
            <a:r>
              <a:rPr lang="en-US" altLang="zh-CN" sz="2400" b="1" baseline="0" dirty="0">
                <a:latin typeface="Times New Roman" panose="02020603050405020304" pitchFamily="18" charset="0"/>
                <a:ea typeface="楷体-简" panose="02010600040101010101" pitchFamily="2" charset="-122"/>
              </a:rPr>
              <a:t>case </a:t>
            </a:r>
            <a:r>
              <a:rPr lang="en-US" altLang="zh-CN" sz="2400" b="1" baseline="0" dirty="0" err="1">
                <a:latin typeface="Times New Roman" panose="02020603050405020304" pitchFamily="18" charset="0"/>
                <a:ea typeface="楷体-简" panose="02010600040101010101" pitchFamily="2" charset="-122"/>
              </a:rPr>
              <a:t>valueN</a:t>
            </a:r>
            <a:r>
              <a:rPr lang="en-US" altLang="zh-CN" sz="2400" b="1" baseline="0" dirty="0">
                <a:latin typeface="Times New Roman" panose="02020603050405020304" pitchFamily="18" charset="0"/>
                <a:ea typeface="楷体-简" panose="02010600040101010101" pitchFamily="2" charset="-122"/>
              </a:rPr>
              <a:t> : </a:t>
            </a:r>
            <a:r>
              <a:rPr lang="en-US" altLang="zh-CN" sz="2400" b="1" baseline="0" dirty="0" err="1">
                <a:latin typeface="Times New Roman" panose="02020603050405020304" pitchFamily="18" charset="0"/>
                <a:ea typeface="楷体-简" panose="02010600040101010101" pitchFamily="2" charset="-122"/>
              </a:rPr>
              <a:t>statemendN</a:t>
            </a:r>
            <a:r>
              <a:rPr lang="en-US" altLang="zh-CN" sz="2400" b="1" baseline="0" dirty="0">
                <a:latin typeface="Times New Roman" panose="02020603050405020304" pitchFamily="18" charset="0"/>
                <a:ea typeface="楷体-简" panose="02010600040101010101" pitchFamily="2" charset="-122"/>
              </a:rPr>
              <a:t>;</a:t>
            </a:r>
            <a:r>
              <a:rPr lang="zh-CN" altLang="en-US" sz="2400" b="1" baseline="0" dirty="0">
                <a:latin typeface="Times New Roman" panose="02020603050405020304" pitchFamily="18" charset="0"/>
                <a:ea typeface="楷体-简" panose="02010600040101010101" pitchFamily="2" charset="-122"/>
              </a:rPr>
              <a:t>　　</a:t>
            </a:r>
            <a:r>
              <a:rPr lang="en-US" altLang="zh-CN" sz="2400" b="1" baseline="0" dirty="0">
                <a:latin typeface="Times New Roman" panose="02020603050405020304" pitchFamily="18" charset="0"/>
                <a:ea typeface="楷体-简" panose="02010600040101010101" pitchFamily="2" charset="-122"/>
              </a:rPr>
              <a:t>break;</a:t>
            </a:r>
            <a:br>
              <a:rPr lang="en-US" altLang="zh-CN" sz="2400" b="1" baseline="0" dirty="0">
                <a:latin typeface="Times New Roman" panose="02020603050405020304" pitchFamily="18" charset="0"/>
                <a:ea typeface="楷体-简" panose="02010600040101010101" pitchFamily="2" charset="-122"/>
              </a:rPr>
            </a:br>
            <a:r>
              <a:rPr lang="zh-CN" altLang="en-US" sz="2400" b="1" baseline="0" dirty="0">
                <a:latin typeface="Times New Roman" panose="02020603050405020304" pitchFamily="18" charset="0"/>
                <a:ea typeface="楷体-简" panose="02010600040101010101" pitchFamily="2" charset="-122"/>
              </a:rPr>
              <a:t>　　　　</a:t>
            </a:r>
            <a:r>
              <a:rPr lang="en-US" altLang="zh-CN" sz="2400" b="1" baseline="0" dirty="0">
                <a:latin typeface="Times New Roman" panose="02020603050405020304" pitchFamily="18" charset="0"/>
                <a:ea typeface="楷体-简" panose="02010600040101010101" pitchFamily="2" charset="-122"/>
              </a:rPr>
              <a:t>[default : </a:t>
            </a:r>
            <a:r>
              <a:rPr lang="en-US" altLang="zh-CN" sz="2400" b="1" baseline="0" dirty="0" err="1">
                <a:latin typeface="Times New Roman" panose="02020603050405020304" pitchFamily="18" charset="0"/>
                <a:ea typeface="楷体-简" panose="02010600040101010101" pitchFamily="2" charset="-122"/>
              </a:rPr>
              <a:t>defaultStatement</a:t>
            </a:r>
            <a:r>
              <a:rPr lang="en-US" altLang="zh-CN" sz="2400" b="1" baseline="0" dirty="0">
                <a:latin typeface="Times New Roman" panose="02020603050405020304" pitchFamily="18" charset="0"/>
                <a:ea typeface="楷体-简" panose="02010600040101010101" pitchFamily="2" charset="-122"/>
              </a:rPr>
              <a:t>; ]</a:t>
            </a:r>
            <a:br>
              <a:rPr lang="en-US" altLang="zh-CN" sz="2400" b="1" baseline="0" dirty="0">
                <a:latin typeface="Times New Roman" panose="02020603050405020304" pitchFamily="18" charset="0"/>
                <a:ea typeface="楷体-简" panose="02010600040101010101" pitchFamily="2" charset="-122"/>
              </a:rPr>
            </a:br>
            <a:r>
              <a:rPr lang="zh-CN" altLang="en-US" sz="2400" b="1" baseline="0" dirty="0">
                <a:latin typeface="Times New Roman" panose="02020603050405020304" pitchFamily="18" charset="0"/>
                <a:ea typeface="楷体-简" panose="02010600040101010101" pitchFamily="2" charset="-122"/>
              </a:rPr>
              <a:t>　　　</a:t>
            </a:r>
            <a:r>
              <a:rPr lang="en-US" altLang="zh-CN" sz="2400" b="1" baseline="0" dirty="0">
                <a:latin typeface="Times New Roman" panose="02020603050405020304" pitchFamily="18" charset="0"/>
                <a:ea typeface="楷体-简" panose="02010600040101010101" pitchFamily="2" charset="-122"/>
              </a:rPr>
              <a:t>}</a:t>
            </a:r>
          </a:p>
          <a:p>
            <a:pPr eaLnBrk="1" hangingPunct="1">
              <a:buFontTx/>
              <a:buNone/>
            </a:pPr>
            <a:br>
              <a:rPr lang="en-US" altLang="zh-CN" sz="2000" b="1" baseline="0" dirty="0">
                <a:latin typeface="Times New Roman" panose="02020603050405020304" pitchFamily="18" charset="0"/>
                <a:ea typeface="楷体-简" panose="02010600040101010101" pitchFamily="2" charset="-122"/>
              </a:rPr>
            </a:br>
            <a:r>
              <a:rPr lang="zh-CN" altLang="en-US" sz="2400" b="1" baseline="0" dirty="0">
                <a:latin typeface="Times New Roman" panose="02020603050405020304" pitchFamily="18" charset="0"/>
                <a:ea typeface="楷体-简" panose="02010600040101010101" pitchFamily="2" charset="-122"/>
              </a:rPr>
              <a:t>◇ 表达式</a:t>
            </a:r>
            <a:r>
              <a:rPr lang="en-US" altLang="zh-CN" sz="2400" b="1" baseline="0" dirty="0">
                <a:latin typeface="Times New Roman" panose="02020603050405020304" pitchFamily="18" charset="0"/>
                <a:ea typeface="楷体-简" panose="02010600040101010101" pitchFamily="2" charset="-122"/>
              </a:rPr>
              <a:t>expression</a:t>
            </a:r>
            <a:r>
              <a:rPr lang="zh-CN" altLang="en-US" sz="2400" b="1" baseline="0" dirty="0">
                <a:latin typeface="Times New Roman" panose="02020603050405020304" pitchFamily="18" charset="0"/>
                <a:ea typeface="楷体-简" panose="02010600040101010101" pitchFamily="2" charset="-122"/>
              </a:rPr>
              <a:t>的返回值类型必须是这几种类型之一：  </a:t>
            </a:r>
            <a:r>
              <a:rPr lang="en-US" altLang="zh-CN" sz="2400" b="1" baseline="0" dirty="0" err="1">
                <a:solidFill>
                  <a:srgbClr val="0000CC"/>
                </a:solidFill>
                <a:latin typeface="Times New Roman" panose="02020603050405020304" pitchFamily="18" charset="0"/>
                <a:ea typeface="楷体-简" panose="02010600040101010101" pitchFamily="2" charset="-122"/>
              </a:rPr>
              <a:t>int</a:t>
            </a:r>
            <a:r>
              <a:rPr lang="en-US" altLang="zh-CN" sz="2400" b="1" baseline="0" dirty="0">
                <a:solidFill>
                  <a:srgbClr val="0000CC"/>
                </a:solidFill>
                <a:latin typeface="Times New Roman" panose="02020603050405020304" pitchFamily="18" charset="0"/>
                <a:ea typeface="楷体-简" panose="02010600040101010101" pitchFamily="2" charset="-122"/>
              </a:rPr>
              <a:t>,  byte,  char, short</a:t>
            </a:r>
            <a:r>
              <a:rPr lang="zh-CN" altLang="en-US" sz="2400" b="1" baseline="0" dirty="0">
                <a:solidFill>
                  <a:srgbClr val="0000CC"/>
                </a:solidFill>
                <a:latin typeface="Times New Roman" panose="02020603050405020304" pitchFamily="18" charset="0"/>
                <a:ea typeface="楷体-简" panose="02010600040101010101" pitchFamily="2" charset="-122"/>
              </a:rPr>
              <a:t>，</a:t>
            </a:r>
            <a:r>
              <a:rPr lang="en-US" altLang="zh-CN" sz="2400" b="1" baseline="0" dirty="0" err="1">
                <a:solidFill>
                  <a:srgbClr val="0000CC"/>
                </a:solidFill>
                <a:latin typeface="Times New Roman" panose="02020603050405020304" pitchFamily="18" charset="0"/>
                <a:ea typeface="楷体-简" panose="02010600040101010101" pitchFamily="2" charset="-122"/>
              </a:rPr>
              <a:t>Enum</a:t>
            </a:r>
            <a:r>
              <a:rPr lang="en-US" altLang="zh-CN" sz="2400" b="1" baseline="0" dirty="0">
                <a:solidFill>
                  <a:srgbClr val="0000CC"/>
                </a:solidFill>
                <a:latin typeface="Times New Roman" panose="02020603050405020304" pitchFamily="18" charset="0"/>
                <a:ea typeface="楷体-简" panose="02010600040101010101" pitchFamily="2" charset="-122"/>
              </a:rPr>
              <a:t>, String</a:t>
            </a:r>
            <a:r>
              <a:rPr lang="zh-CN" altLang="en-US" sz="2400" b="1" baseline="0" dirty="0">
                <a:solidFill>
                  <a:srgbClr val="0000CC"/>
                </a:solidFill>
                <a:latin typeface="Times New Roman" panose="02020603050405020304" pitchFamily="18" charset="0"/>
                <a:ea typeface="楷体-简" panose="02010600040101010101" pitchFamily="2" charset="-122"/>
              </a:rPr>
              <a:t>。</a:t>
            </a:r>
            <a:br>
              <a:rPr lang="zh-CN" altLang="en-US" sz="2400" b="1" baseline="0" dirty="0">
                <a:solidFill>
                  <a:srgbClr val="0000CC"/>
                </a:solidFill>
                <a:latin typeface="Times New Roman" panose="02020603050405020304" pitchFamily="18" charset="0"/>
                <a:ea typeface="楷体-简" panose="02010600040101010101" pitchFamily="2" charset="-122"/>
              </a:rPr>
            </a:br>
            <a:r>
              <a:rPr lang="zh-CN" altLang="en-US" sz="2400" b="1" baseline="0" dirty="0">
                <a:latin typeface="Times New Roman" panose="02020603050405020304" pitchFamily="18" charset="0"/>
                <a:ea typeface="楷体-简" panose="02010600040101010101" pitchFamily="2" charset="-122"/>
              </a:rPr>
              <a:t>◇ </a:t>
            </a:r>
            <a:r>
              <a:rPr lang="en-US" altLang="zh-CN" sz="2400" b="1" baseline="0" dirty="0">
                <a:latin typeface="Times New Roman" panose="02020603050405020304" pitchFamily="18" charset="0"/>
                <a:ea typeface="楷体-简" panose="02010600040101010101" pitchFamily="2" charset="-122"/>
              </a:rPr>
              <a:t>case</a:t>
            </a:r>
            <a:r>
              <a:rPr lang="zh-CN" altLang="en-US" sz="2400" b="1" baseline="0" dirty="0">
                <a:latin typeface="Times New Roman" panose="02020603050405020304" pitchFamily="18" charset="0"/>
                <a:ea typeface="楷体-简" panose="02010600040101010101" pitchFamily="2" charset="-122"/>
              </a:rPr>
              <a:t>子句中的值</a:t>
            </a:r>
            <a:r>
              <a:rPr lang="en-US" altLang="zh-CN" sz="2400" b="1" baseline="0" dirty="0" err="1">
                <a:latin typeface="Times New Roman" panose="02020603050405020304" pitchFamily="18" charset="0"/>
                <a:ea typeface="楷体-简" panose="02010600040101010101" pitchFamily="2" charset="-122"/>
              </a:rPr>
              <a:t>valueN</a:t>
            </a:r>
            <a:r>
              <a:rPr lang="zh-CN" altLang="en-US" sz="2400" b="1" baseline="0" dirty="0">
                <a:latin typeface="Times New Roman" panose="02020603050405020304" pitchFamily="18" charset="0"/>
                <a:ea typeface="楷体-简" panose="02010600040101010101" pitchFamily="2" charset="-122"/>
              </a:rPr>
              <a:t>必须是常量，而且所有</a:t>
            </a:r>
            <a:r>
              <a:rPr lang="en-US" altLang="zh-CN" sz="2400" b="1" baseline="0" dirty="0">
                <a:latin typeface="Times New Roman" panose="02020603050405020304" pitchFamily="18" charset="0"/>
                <a:ea typeface="楷体-简" panose="02010600040101010101" pitchFamily="2" charset="-122"/>
              </a:rPr>
              <a:t>case</a:t>
            </a:r>
            <a:r>
              <a:rPr lang="zh-CN" altLang="en-US" sz="2400" b="1" baseline="0" dirty="0">
                <a:latin typeface="Times New Roman" panose="02020603050405020304" pitchFamily="18" charset="0"/>
                <a:ea typeface="楷体-简" panose="02010600040101010101" pitchFamily="2" charset="-122"/>
              </a:rPr>
              <a:t>子句中的值应是不同的。</a:t>
            </a:r>
            <a:br>
              <a:rPr lang="zh-CN" altLang="en-US" sz="2400" b="1" baseline="0" dirty="0">
                <a:latin typeface="Times New Roman" panose="02020603050405020304" pitchFamily="18" charset="0"/>
                <a:ea typeface="楷体-简" panose="02010600040101010101" pitchFamily="2" charset="-122"/>
              </a:rPr>
            </a:br>
            <a:r>
              <a:rPr lang="zh-CN" altLang="en-US" sz="2400" b="1" baseline="0" dirty="0">
                <a:latin typeface="Times New Roman" panose="02020603050405020304" pitchFamily="18" charset="0"/>
                <a:ea typeface="楷体-简" panose="02010600040101010101" pitchFamily="2" charset="-122"/>
              </a:rPr>
              <a:t>◇ </a:t>
            </a:r>
            <a:r>
              <a:rPr lang="en-US" altLang="zh-CN" sz="2400" b="1" baseline="0" dirty="0">
                <a:latin typeface="Times New Roman" panose="02020603050405020304" pitchFamily="18" charset="0"/>
                <a:ea typeface="楷体-简" panose="02010600040101010101" pitchFamily="2" charset="-122"/>
              </a:rPr>
              <a:t>default</a:t>
            </a:r>
            <a:r>
              <a:rPr lang="zh-CN" altLang="en-US" sz="2400" b="1" baseline="0" dirty="0">
                <a:latin typeface="Times New Roman" panose="02020603050405020304" pitchFamily="18" charset="0"/>
                <a:ea typeface="楷体-简" panose="02010600040101010101" pitchFamily="2" charset="-122"/>
              </a:rPr>
              <a:t>子句是可选的。</a:t>
            </a:r>
            <a:br>
              <a:rPr lang="zh-CN" altLang="en-US" sz="2400" b="1" baseline="0" dirty="0">
                <a:latin typeface="Times New Roman" panose="02020603050405020304" pitchFamily="18" charset="0"/>
                <a:ea typeface="楷体-简" panose="02010600040101010101" pitchFamily="2" charset="-122"/>
              </a:rPr>
            </a:br>
            <a:r>
              <a:rPr lang="zh-CN" altLang="en-US" sz="2400" b="1" baseline="0" dirty="0">
                <a:latin typeface="Times New Roman" panose="02020603050405020304" pitchFamily="18" charset="0"/>
                <a:ea typeface="楷体-简" panose="02010600040101010101" pitchFamily="2" charset="-122"/>
              </a:rPr>
              <a:t>◇一旦碰到第一次</a:t>
            </a:r>
            <a:r>
              <a:rPr lang="en-US" altLang="zh-CN" sz="2400" b="1" baseline="0" dirty="0">
                <a:latin typeface="Times New Roman" panose="02020603050405020304" pitchFamily="18" charset="0"/>
                <a:ea typeface="楷体-简" panose="02010600040101010101" pitchFamily="2" charset="-122"/>
              </a:rPr>
              <a:t>case</a:t>
            </a:r>
            <a:r>
              <a:rPr lang="zh-CN" altLang="en-US" sz="2400" b="1" baseline="0" dirty="0">
                <a:latin typeface="Times New Roman" panose="02020603050405020304" pitchFamily="18" charset="0"/>
                <a:ea typeface="楷体-简" panose="02010600040101010101" pitchFamily="2" charset="-122"/>
              </a:rPr>
              <a:t>匹配，就会开始顺序执行以后所有的程序代码，而不管后面的</a:t>
            </a:r>
            <a:r>
              <a:rPr lang="en-US" altLang="zh-CN" sz="2400" b="1" baseline="0" dirty="0">
                <a:latin typeface="Times New Roman" panose="02020603050405020304" pitchFamily="18" charset="0"/>
                <a:ea typeface="楷体-简" panose="02010600040101010101" pitchFamily="2" charset="-122"/>
              </a:rPr>
              <a:t>case</a:t>
            </a:r>
            <a:r>
              <a:rPr lang="zh-CN" altLang="en-US" sz="2400" b="1" baseline="0" dirty="0">
                <a:latin typeface="Times New Roman" panose="02020603050405020304" pitchFamily="18" charset="0"/>
                <a:ea typeface="楷体-简" panose="02010600040101010101" pitchFamily="2" charset="-122"/>
              </a:rPr>
              <a:t>条件是否匹配，</a:t>
            </a:r>
            <a:r>
              <a:rPr lang="zh-CN" altLang="en-US" sz="2400" b="1" baseline="0" dirty="0">
                <a:solidFill>
                  <a:srgbClr val="0000CC"/>
                </a:solidFill>
                <a:latin typeface="Times New Roman" panose="02020603050405020304" pitchFamily="18" charset="0"/>
                <a:ea typeface="楷体-简" panose="02010600040101010101" pitchFamily="2" charset="-122"/>
              </a:rPr>
              <a:t>后面</a:t>
            </a:r>
            <a:r>
              <a:rPr lang="en-US" altLang="zh-CN" sz="2400" b="1" baseline="0" dirty="0">
                <a:solidFill>
                  <a:srgbClr val="0000CC"/>
                </a:solidFill>
                <a:latin typeface="Times New Roman" panose="02020603050405020304" pitchFamily="18" charset="0"/>
                <a:ea typeface="楷体-简" panose="02010600040101010101" pitchFamily="2" charset="-122"/>
              </a:rPr>
              <a:t>case</a:t>
            </a:r>
            <a:r>
              <a:rPr lang="zh-CN" altLang="en-US" sz="2400" b="1" baseline="0" dirty="0">
                <a:solidFill>
                  <a:srgbClr val="0000CC"/>
                </a:solidFill>
                <a:latin typeface="Times New Roman" panose="02020603050405020304" pitchFamily="18" charset="0"/>
                <a:ea typeface="楷体-简" panose="02010600040101010101" pitchFamily="2" charset="-122"/>
              </a:rPr>
              <a:t>条件下的代码都会被执行，直到碰到</a:t>
            </a:r>
            <a:r>
              <a:rPr lang="en-US" altLang="zh-CN" sz="2400" b="1" baseline="0" dirty="0">
                <a:solidFill>
                  <a:srgbClr val="0000CC"/>
                </a:solidFill>
                <a:latin typeface="Times New Roman" panose="02020603050405020304" pitchFamily="18" charset="0"/>
                <a:ea typeface="楷体-简" panose="02010600040101010101" pitchFamily="2" charset="-122"/>
              </a:rPr>
              <a:t>break</a:t>
            </a:r>
            <a:r>
              <a:rPr lang="zh-CN" altLang="en-US" sz="2400" b="1" baseline="0" dirty="0">
                <a:solidFill>
                  <a:srgbClr val="0000CC"/>
                </a:solidFill>
                <a:latin typeface="Times New Roman" panose="02020603050405020304" pitchFamily="18" charset="0"/>
                <a:ea typeface="楷体-简" panose="02010600040101010101" pitchFamily="2" charset="-122"/>
              </a:rPr>
              <a:t>语句为止</a:t>
            </a:r>
            <a:r>
              <a:rPr lang="zh-CN" altLang="en-US" sz="2400" b="1" baseline="0" dirty="0">
                <a:latin typeface="Times New Roman" panose="02020603050405020304" pitchFamily="18" charset="0"/>
                <a:ea typeface="楷体-简" panose="02010600040101010101" pitchFamily="2" charset="-122"/>
              </a:rPr>
              <a:t>。</a:t>
            </a:r>
          </a:p>
          <a:p>
            <a:pPr eaLnBrk="1" hangingPunct="1">
              <a:buFontTx/>
              <a:buNone/>
            </a:pPr>
            <a:endParaRPr lang="zh-CN" altLang="en-US" sz="2400" b="1" baseline="0" dirty="0">
              <a:latin typeface="Times New Roman" panose="02020603050405020304" pitchFamily="18" charset="0"/>
              <a:ea typeface="楷体-简" panose="02010600040101010101" pitchFamily="2" charset="-122"/>
            </a:endParaRPr>
          </a:p>
          <a:p>
            <a:pPr eaLnBrk="1" hangingPunct="1">
              <a:buFontTx/>
              <a:buNone/>
            </a:pPr>
            <a:endParaRPr lang="en-US" altLang="zh-CN" sz="1400" baseline="0" dirty="0">
              <a:latin typeface="Times New Roman" panose="02020603050405020304" pitchFamily="18" charset="0"/>
              <a:ea typeface="楷体-简" panose="02010600040101010101" pitchFamily="2"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23" name="Rectangle 3">
            <a:extLst>
              <a:ext uri="{FF2B5EF4-FFF2-40B4-BE49-F238E27FC236}">
                <a16:creationId xmlns:a16="http://schemas.microsoft.com/office/drawing/2014/main" id="{9334D33B-D68B-414E-AB4B-6AED3136F483}"/>
              </a:ext>
            </a:extLst>
          </p:cNvPr>
          <p:cNvSpPr>
            <a:spLocks noGrp="1" noChangeArrowheads="1"/>
          </p:cNvSpPr>
          <p:nvPr>
            <p:ph type="body" idx="1"/>
          </p:nvPr>
        </p:nvSpPr>
        <p:spPr>
          <a:xfrm>
            <a:off x="468313" y="476250"/>
            <a:ext cx="8229600" cy="6094413"/>
          </a:xfrm>
        </p:spPr>
        <p:txBody>
          <a:bodyPr/>
          <a:lstStyle/>
          <a:p>
            <a:pPr eaLnBrk="1" hangingPunct="1">
              <a:lnSpc>
                <a:spcPct val="80000"/>
              </a:lnSpc>
              <a:buFontTx/>
              <a:buNone/>
            </a:pPr>
            <a:r>
              <a:rPr lang="en-US" altLang="zh-CN" sz="2400" b="1" baseline="0" dirty="0">
                <a:solidFill>
                  <a:srgbClr val="FF0066"/>
                </a:solidFill>
                <a:latin typeface="Times New Roman" panose="02020603050405020304" pitchFamily="18" charset="0"/>
                <a:ea typeface="楷体-简" panose="02010600040101010101" pitchFamily="2" charset="-122"/>
              </a:rPr>
              <a:t>switch</a:t>
            </a:r>
            <a:r>
              <a:rPr lang="zh-CN" altLang="en-US" sz="2400" b="1" baseline="0" dirty="0">
                <a:solidFill>
                  <a:srgbClr val="FF0066"/>
                </a:solidFill>
                <a:latin typeface="Times New Roman" panose="02020603050405020304" pitchFamily="18" charset="0"/>
                <a:ea typeface="楷体-简" panose="02010600040101010101" pitchFamily="2" charset="-122"/>
              </a:rPr>
              <a:t>语句举例</a:t>
            </a:r>
            <a:endParaRPr lang="zh-CN" altLang="en-US" sz="2800" b="1" baseline="0" dirty="0">
              <a:latin typeface="Times New Roman" panose="02020603050405020304" pitchFamily="18" charset="0"/>
              <a:ea typeface="楷体-简" panose="02010600040101010101" pitchFamily="2" charset="-122"/>
            </a:endParaRPr>
          </a:p>
          <a:p>
            <a:pPr eaLnBrk="1" hangingPunct="1">
              <a:lnSpc>
                <a:spcPct val="80000"/>
              </a:lnSpc>
              <a:buFontTx/>
              <a:buNone/>
            </a:pPr>
            <a:r>
              <a:rPr lang="en-US" altLang="zh-CN" sz="1800" b="1" baseline="0" dirty="0">
                <a:latin typeface="Times New Roman" panose="02020603050405020304" pitchFamily="18" charset="0"/>
                <a:ea typeface="楷体-简" panose="02010600040101010101" pitchFamily="2" charset="-122"/>
              </a:rPr>
              <a:t>public class </a:t>
            </a:r>
            <a:r>
              <a:rPr lang="en-US" altLang="zh-CN" sz="1800" b="1" baseline="0" dirty="0" err="1">
                <a:latin typeface="Times New Roman" panose="02020603050405020304" pitchFamily="18" charset="0"/>
                <a:ea typeface="楷体-简" panose="02010600040101010101" pitchFamily="2" charset="-122"/>
              </a:rPr>
              <a:t>TestSwitch</a:t>
            </a:r>
            <a:r>
              <a:rPr lang="en-US" altLang="zh-CN" sz="1800" b="1" baseline="0" dirty="0">
                <a:latin typeface="Times New Roman" panose="02020603050405020304" pitchFamily="18" charset="0"/>
                <a:ea typeface="楷体-简" panose="02010600040101010101" pitchFamily="2" charset="-122"/>
              </a:rPr>
              <a:t> {</a:t>
            </a:r>
          </a:p>
          <a:p>
            <a:pPr eaLnBrk="1" hangingPunct="1">
              <a:lnSpc>
                <a:spcPct val="80000"/>
              </a:lnSpc>
              <a:buFontTx/>
              <a:buNone/>
            </a:pPr>
            <a:r>
              <a:rPr lang="en-US" altLang="zh-CN" sz="1800" b="1" baseline="0" dirty="0">
                <a:latin typeface="Times New Roman" panose="02020603050405020304" pitchFamily="18" charset="0"/>
                <a:ea typeface="楷体-简" panose="02010600040101010101" pitchFamily="2" charset="-122"/>
              </a:rPr>
              <a:t>	public static void main(String[] </a:t>
            </a:r>
            <a:r>
              <a:rPr lang="en-US" altLang="zh-CN" sz="1800" b="1" baseline="0" dirty="0" err="1">
                <a:latin typeface="Times New Roman" panose="02020603050405020304" pitchFamily="18" charset="0"/>
                <a:ea typeface="楷体-简" panose="02010600040101010101" pitchFamily="2" charset="-122"/>
              </a:rPr>
              <a:t>args</a:t>
            </a:r>
            <a:r>
              <a:rPr lang="en-US" altLang="zh-CN" sz="1800" b="1" baseline="0" dirty="0">
                <a:latin typeface="Times New Roman" panose="02020603050405020304" pitchFamily="18" charset="0"/>
                <a:ea typeface="楷体-简" panose="02010600040101010101" pitchFamily="2" charset="-122"/>
              </a:rPr>
              <a:t>) {</a:t>
            </a:r>
          </a:p>
          <a:p>
            <a:pPr eaLnBrk="1" hangingPunct="1">
              <a:lnSpc>
                <a:spcPct val="80000"/>
              </a:lnSpc>
              <a:buFontTx/>
              <a:buNone/>
            </a:pPr>
            <a:r>
              <a:rPr lang="en-US" altLang="zh-CN" sz="1800" b="1" baseline="0" dirty="0">
                <a:latin typeface="Times New Roman" panose="02020603050405020304" pitchFamily="18" charset="0"/>
                <a:ea typeface="楷体-简" panose="02010600040101010101" pitchFamily="2" charset="-122"/>
              </a:rPr>
              <a:t>		</a:t>
            </a:r>
            <a:r>
              <a:rPr lang="en-US" altLang="zh-CN" sz="1800" b="1" baseline="0" dirty="0" err="1">
                <a:latin typeface="Times New Roman" panose="02020603050405020304" pitchFamily="18" charset="0"/>
                <a:ea typeface="楷体-简" panose="02010600040101010101" pitchFamily="2" charset="-122"/>
              </a:rPr>
              <a:t>int</a:t>
            </a:r>
            <a:r>
              <a:rPr lang="en-US" altLang="zh-CN" sz="1800" b="1" baseline="0" dirty="0">
                <a:latin typeface="Times New Roman" panose="02020603050405020304" pitchFamily="18" charset="0"/>
                <a:ea typeface="楷体-简" panose="02010600040101010101" pitchFamily="2" charset="-122"/>
              </a:rPr>
              <a:t> </a:t>
            </a:r>
            <a:r>
              <a:rPr lang="en-US" altLang="zh-CN" sz="1800" b="1" baseline="0" dirty="0" err="1">
                <a:latin typeface="Times New Roman" panose="02020603050405020304" pitchFamily="18" charset="0"/>
                <a:ea typeface="楷体-简" panose="02010600040101010101" pitchFamily="2" charset="-122"/>
              </a:rPr>
              <a:t>i</a:t>
            </a:r>
            <a:r>
              <a:rPr lang="en-US" altLang="zh-CN" sz="1800" b="1" baseline="0" dirty="0">
                <a:latin typeface="Times New Roman" panose="02020603050405020304" pitchFamily="18" charset="0"/>
                <a:ea typeface="楷体-简" panose="02010600040101010101" pitchFamily="2" charset="-122"/>
              </a:rPr>
              <a:t> = 8;</a:t>
            </a:r>
          </a:p>
          <a:p>
            <a:pPr eaLnBrk="1" hangingPunct="1">
              <a:lnSpc>
                <a:spcPct val="80000"/>
              </a:lnSpc>
              <a:buFontTx/>
              <a:buNone/>
            </a:pPr>
            <a:r>
              <a:rPr lang="en-US" altLang="zh-CN" sz="1800" b="1" baseline="0" dirty="0">
                <a:latin typeface="Times New Roman" panose="02020603050405020304" pitchFamily="18" charset="0"/>
                <a:ea typeface="楷体-简" panose="02010600040101010101" pitchFamily="2" charset="-122"/>
              </a:rPr>
              <a:t>		switch(</a:t>
            </a:r>
            <a:r>
              <a:rPr lang="en-US" altLang="zh-CN" sz="1800" b="1" baseline="0" dirty="0" err="1">
                <a:latin typeface="Times New Roman" panose="02020603050405020304" pitchFamily="18" charset="0"/>
                <a:ea typeface="楷体-简" panose="02010600040101010101" pitchFamily="2" charset="-122"/>
              </a:rPr>
              <a:t>i</a:t>
            </a:r>
            <a:r>
              <a:rPr lang="en-US" altLang="zh-CN" sz="1800" b="1" baseline="0" dirty="0">
                <a:latin typeface="Times New Roman" panose="02020603050405020304" pitchFamily="18" charset="0"/>
                <a:ea typeface="楷体-简" panose="02010600040101010101" pitchFamily="2" charset="-122"/>
              </a:rPr>
              <a:t>) {</a:t>
            </a:r>
          </a:p>
          <a:p>
            <a:pPr eaLnBrk="1" hangingPunct="1">
              <a:lnSpc>
                <a:spcPct val="80000"/>
              </a:lnSpc>
              <a:buFontTx/>
              <a:buNone/>
            </a:pPr>
            <a:r>
              <a:rPr lang="en-US" altLang="zh-CN" sz="1800" b="1" baseline="0" dirty="0">
                <a:latin typeface="Times New Roman" panose="02020603050405020304" pitchFamily="18" charset="0"/>
                <a:ea typeface="楷体-简" panose="02010600040101010101" pitchFamily="2" charset="-122"/>
              </a:rPr>
              <a:t>			case 8 :</a:t>
            </a:r>
          </a:p>
          <a:p>
            <a:pPr eaLnBrk="1" hangingPunct="1">
              <a:lnSpc>
                <a:spcPct val="80000"/>
              </a:lnSpc>
              <a:buFontTx/>
              <a:buNone/>
            </a:pPr>
            <a:r>
              <a:rPr lang="en-US" altLang="zh-CN" sz="1800" b="1" baseline="0" dirty="0">
                <a:latin typeface="Times New Roman" panose="02020603050405020304" pitchFamily="18" charset="0"/>
                <a:ea typeface="楷体-简" panose="02010600040101010101" pitchFamily="2" charset="-122"/>
              </a:rPr>
              <a:t>			case 3 :</a:t>
            </a:r>
          </a:p>
          <a:p>
            <a:pPr eaLnBrk="1" hangingPunct="1">
              <a:lnSpc>
                <a:spcPct val="80000"/>
              </a:lnSpc>
              <a:buFontTx/>
              <a:buNone/>
            </a:pPr>
            <a:r>
              <a:rPr lang="en-US" altLang="zh-CN" sz="1800" b="1" baseline="0" dirty="0">
                <a:latin typeface="Times New Roman" panose="02020603050405020304" pitchFamily="18" charset="0"/>
                <a:ea typeface="楷体-简" panose="02010600040101010101" pitchFamily="2" charset="-122"/>
              </a:rPr>
              <a:t>				</a:t>
            </a:r>
            <a:r>
              <a:rPr lang="en-US" altLang="zh-CN" sz="1800" b="1" baseline="0" dirty="0" err="1">
                <a:latin typeface="Times New Roman" panose="02020603050405020304" pitchFamily="18" charset="0"/>
                <a:ea typeface="楷体-简" panose="02010600040101010101" pitchFamily="2" charset="-122"/>
              </a:rPr>
              <a:t>System.out.println</a:t>
            </a:r>
            <a:r>
              <a:rPr lang="en-US" altLang="zh-CN" sz="1800" b="1" baseline="0" dirty="0">
                <a:latin typeface="Times New Roman" panose="02020603050405020304" pitchFamily="18" charset="0"/>
                <a:ea typeface="楷体-简" panose="02010600040101010101" pitchFamily="2" charset="-122"/>
              </a:rPr>
              <a:t>(“A");</a:t>
            </a:r>
          </a:p>
          <a:p>
            <a:pPr eaLnBrk="1" hangingPunct="1">
              <a:lnSpc>
                <a:spcPct val="80000"/>
              </a:lnSpc>
              <a:buFontTx/>
              <a:buNone/>
            </a:pPr>
            <a:endParaRPr lang="en-US" altLang="zh-CN" sz="1800" b="1" baseline="0" dirty="0">
              <a:latin typeface="Times New Roman" panose="02020603050405020304" pitchFamily="18" charset="0"/>
              <a:ea typeface="楷体-简" panose="02010600040101010101" pitchFamily="2" charset="-122"/>
            </a:endParaRPr>
          </a:p>
          <a:p>
            <a:pPr eaLnBrk="1" hangingPunct="1">
              <a:lnSpc>
                <a:spcPct val="80000"/>
              </a:lnSpc>
              <a:buFontTx/>
              <a:buNone/>
            </a:pPr>
            <a:r>
              <a:rPr lang="en-US" altLang="zh-CN" sz="1800" b="1" baseline="0" dirty="0">
                <a:latin typeface="Times New Roman" panose="02020603050405020304" pitchFamily="18" charset="0"/>
                <a:ea typeface="楷体-简" panose="02010600040101010101" pitchFamily="2" charset="-122"/>
              </a:rPr>
              <a:t>			case 2 :</a:t>
            </a:r>
          </a:p>
          <a:p>
            <a:pPr eaLnBrk="1" hangingPunct="1">
              <a:lnSpc>
                <a:spcPct val="80000"/>
              </a:lnSpc>
              <a:buFontTx/>
              <a:buNone/>
            </a:pPr>
            <a:r>
              <a:rPr lang="en-US" altLang="zh-CN" sz="1800" b="1" baseline="0" dirty="0">
                <a:latin typeface="Times New Roman" panose="02020603050405020304" pitchFamily="18" charset="0"/>
                <a:ea typeface="楷体-简" panose="02010600040101010101" pitchFamily="2" charset="-122"/>
              </a:rPr>
              <a:t>				</a:t>
            </a:r>
            <a:r>
              <a:rPr lang="en-US" altLang="zh-CN" sz="1800" b="1" baseline="0" dirty="0" err="1">
                <a:latin typeface="Times New Roman" panose="02020603050405020304" pitchFamily="18" charset="0"/>
                <a:ea typeface="楷体-简" panose="02010600040101010101" pitchFamily="2" charset="-122"/>
              </a:rPr>
              <a:t>System.out.println</a:t>
            </a:r>
            <a:r>
              <a:rPr lang="en-US" altLang="zh-CN" sz="1800" b="1" baseline="0" dirty="0">
                <a:latin typeface="Times New Roman" panose="02020603050405020304" pitchFamily="18" charset="0"/>
                <a:ea typeface="楷体-简" panose="02010600040101010101" pitchFamily="2" charset="-122"/>
              </a:rPr>
              <a:t>("C");</a:t>
            </a:r>
          </a:p>
          <a:p>
            <a:pPr eaLnBrk="1" hangingPunct="1">
              <a:lnSpc>
                <a:spcPct val="80000"/>
              </a:lnSpc>
              <a:buFontTx/>
              <a:buNone/>
            </a:pPr>
            <a:r>
              <a:rPr lang="en-US" altLang="zh-CN" sz="1800" b="1" baseline="0" dirty="0">
                <a:latin typeface="Times New Roman" panose="02020603050405020304" pitchFamily="18" charset="0"/>
                <a:ea typeface="楷体-简" panose="02010600040101010101" pitchFamily="2" charset="-122"/>
              </a:rPr>
              <a:t>				break;</a:t>
            </a:r>
          </a:p>
          <a:p>
            <a:pPr eaLnBrk="1" hangingPunct="1">
              <a:lnSpc>
                <a:spcPct val="80000"/>
              </a:lnSpc>
              <a:buFontTx/>
              <a:buNone/>
            </a:pPr>
            <a:r>
              <a:rPr lang="en-US" altLang="zh-CN" sz="1800" b="1" baseline="0" dirty="0">
                <a:latin typeface="Times New Roman" panose="02020603050405020304" pitchFamily="18" charset="0"/>
                <a:ea typeface="楷体-简" panose="02010600040101010101" pitchFamily="2" charset="-122"/>
              </a:rPr>
              <a:t>			case 9 :</a:t>
            </a:r>
          </a:p>
          <a:p>
            <a:pPr eaLnBrk="1" hangingPunct="1">
              <a:lnSpc>
                <a:spcPct val="80000"/>
              </a:lnSpc>
              <a:buFontTx/>
              <a:buNone/>
            </a:pPr>
            <a:r>
              <a:rPr lang="en-US" altLang="zh-CN" sz="1800" b="1" baseline="0" dirty="0">
                <a:latin typeface="Times New Roman" panose="02020603050405020304" pitchFamily="18" charset="0"/>
                <a:ea typeface="楷体-简" panose="02010600040101010101" pitchFamily="2" charset="-122"/>
              </a:rPr>
              <a:t>				</a:t>
            </a:r>
            <a:r>
              <a:rPr lang="en-US" altLang="zh-CN" sz="1800" b="1" baseline="0" dirty="0" err="1">
                <a:latin typeface="Times New Roman" panose="02020603050405020304" pitchFamily="18" charset="0"/>
                <a:ea typeface="楷体-简" panose="02010600040101010101" pitchFamily="2" charset="-122"/>
              </a:rPr>
              <a:t>System.out.println</a:t>
            </a:r>
            <a:r>
              <a:rPr lang="en-US" altLang="zh-CN" sz="1800" b="1" baseline="0" dirty="0">
                <a:latin typeface="Times New Roman" panose="02020603050405020304" pitchFamily="18" charset="0"/>
                <a:ea typeface="楷体-简" panose="02010600040101010101" pitchFamily="2" charset="-122"/>
              </a:rPr>
              <a:t>("D");</a:t>
            </a:r>
          </a:p>
          <a:p>
            <a:pPr eaLnBrk="1" hangingPunct="1">
              <a:lnSpc>
                <a:spcPct val="80000"/>
              </a:lnSpc>
              <a:buFontTx/>
              <a:buNone/>
            </a:pPr>
            <a:r>
              <a:rPr lang="en-US" altLang="zh-CN" sz="1800" b="1" baseline="0" dirty="0">
                <a:latin typeface="Times New Roman" panose="02020603050405020304" pitchFamily="18" charset="0"/>
                <a:ea typeface="楷体-简" panose="02010600040101010101" pitchFamily="2" charset="-122"/>
              </a:rPr>
              <a:t>				break;</a:t>
            </a:r>
          </a:p>
          <a:p>
            <a:pPr eaLnBrk="1" hangingPunct="1">
              <a:lnSpc>
                <a:spcPct val="80000"/>
              </a:lnSpc>
              <a:buFontTx/>
              <a:buNone/>
            </a:pPr>
            <a:r>
              <a:rPr lang="en-US" altLang="zh-CN" sz="1800" b="1" baseline="0" dirty="0">
                <a:latin typeface="Times New Roman" panose="02020603050405020304" pitchFamily="18" charset="0"/>
                <a:ea typeface="楷体-简" panose="02010600040101010101" pitchFamily="2" charset="-122"/>
              </a:rPr>
              <a:t>			default:</a:t>
            </a:r>
          </a:p>
          <a:p>
            <a:pPr eaLnBrk="1" hangingPunct="1">
              <a:lnSpc>
                <a:spcPct val="80000"/>
              </a:lnSpc>
              <a:buFontTx/>
              <a:buNone/>
            </a:pPr>
            <a:r>
              <a:rPr lang="en-US" altLang="zh-CN" sz="1800" b="1" baseline="0" dirty="0">
                <a:latin typeface="Times New Roman" panose="02020603050405020304" pitchFamily="18" charset="0"/>
                <a:ea typeface="楷体-简" panose="02010600040101010101" pitchFamily="2" charset="-122"/>
              </a:rPr>
              <a:t>				</a:t>
            </a:r>
            <a:r>
              <a:rPr lang="en-US" altLang="zh-CN" sz="1800" b="1" baseline="0" dirty="0" err="1">
                <a:latin typeface="Times New Roman" panose="02020603050405020304" pitchFamily="18" charset="0"/>
                <a:ea typeface="楷体-简" panose="02010600040101010101" pitchFamily="2" charset="-122"/>
              </a:rPr>
              <a:t>System.out.println</a:t>
            </a:r>
            <a:r>
              <a:rPr lang="en-US" altLang="zh-CN" sz="1800" b="1" baseline="0" dirty="0">
                <a:latin typeface="Times New Roman" panose="02020603050405020304" pitchFamily="18" charset="0"/>
                <a:ea typeface="楷体-简" panose="02010600040101010101" pitchFamily="2" charset="-122"/>
              </a:rPr>
              <a:t>("error");</a:t>
            </a:r>
          </a:p>
          <a:p>
            <a:pPr eaLnBrk="1" hangingPunct="1">
              <a:lnSpc>
                <a:spcPct val="80000"/>
              </a:lnSpc>
              <a:buFontTx/>
              <a:buNone/>
            </a:pPr>
            <a:r>
              <a:rPr lang="en-US" altLang="zh-CN" sz="1800" b="1" baseline="0" dirty="0">
                <a:latin typeface="Times New Roman" panose="02020603050405020304" pitchFamily="18" charset="0"/>
                <a:ea typeface="楷体-简" panose="02010600040101010101" pitchFamily="2" charset="-122"/>
              </a:rPr>
              <a:t>		}</a:t>
            </a:r>
          </a:p>
          <a:p>
            <a:pPr eaLnBrk="1" hangingPunct="1">
              <a:lnSpc>
                <a:spcPct val="80000"/>
              </a:lnSpc>
              <a:buFontTx/>
              <a:buNone/>
            </a:pPr>
            <a:r>
              <a:rPr lang="en-US" altLang="zh-CN" sz="1800" b="1" baseline="0" dirty="0">
                <a:latin typeface="Times New Roman" panose="02020603050405020304" pitchFamily="18" charset="0"/>
                <a:ea typeface="楷体-简" panose="02010600040101010101" pitchFamily="2" charset="-122"/>
              </a:rPr>
              <a:t>	}</a:t>
            </a:r>
          </a:p>
          <a:p>
            <a:pPr eaLnBrk="1" hangingPunct="1">
              <a:lnSpc>
                <a:spcPct val="80000"/>
              </a:lnSpc>
              <a:buFontTx/>
              <a:buNone/>
            </a:pPr>
            <a:r>
              <a:rPr lang="en-US" altLang="zh-CN" sz="1800" b="1" baseline="0" dirty="0">
                <a:latin typeface="Times New Roman" panose="02020603050405020304" pitchFamily="18" charset="0"/>
                <a:ea typeface="楷体-简" panose="02010600040101010101" pitchFamily="2" charset="-122"/>
              </a:rPr>
              <a:t>}</a:t>
            </a:r>
          </a:p>
        </p:txBody>
      </p:sp>
      <p:sp>
        <p:nvSpPr>
          <p:cNvPr id="491524" name="Text Box 4">
            <a:extLst>
              <a:ext uri="{FF2B5EF4-FFF2-40B4-BE49-F238E27FC236}">
                <a16:creationId xmlns:a16="http://schemas.microsoft.com/office/drawing/2014/main" id="{613ABB45-8AA4-4190-AF84-6E5F84FDE4DC}"/>
              </a:ext>
            </a:extLst>
          </p:cNvPr>
          <p:cNvSpPr txBox="1">
            <a:spLocks noChangeArrowheads="1"/>
          </p:cNvSpPr>
          <p:nvPr/>
        </p:nvSpPr>
        <p:spPr bwMode="auto">
          <a:xfrm>
            <a:off x="6588125" y="1773238"/>
            <a:ext cx="2016125"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a:t>结果：</a:t>
            </a:r>
          </a:p>
          <a:p>
            <a:pPr eaLnBrk="1" hangingPunct="1">
              <a:spcBef>
                <a:spcPct val="50000"/>
              </a:spcBef>
              <a:buFontTx/>
              <a:buNone/>
            </a:pPr>
            <a:r>
              <a:rPr lang="en-US" altLang="zh-CN" sz="2400"/>
              <a:t>A</a:t>
            </a:r>
          </a:p>
          <a:p>
            <a:pPr eaLnBrk="1" hangingPunct="1">
              <a:spcBef>
                <a:spcPct val="50000"/>
              </a:spcBef>
              <a:buFontTx/>
              <a:buNone/>
            </a:pPr>
            <a:r>
              <a:rPr lang="en-US" altLang="zh-CN" sz="2400"/>
              <a:t>C</a:t>
            </a:r>
          </a:p>
        </p:txBody>
      </p:sp>
      <p:sp>
        <p:nvSpPr>
          <p:cNvPr id="491525" name="Rectangle 5">
            <a:extLst>
              <a:ext uri="{FF2B5EF4-FFF2-40B4-BE49-F238E27FC236}">
                <a16:creationId xmlns:a16="http://schemas.microsoft.com/office/drawing/2014/main" id="{9C57172A-B07D-4FBA-8ACD-C0272F1B01F1}"/>
              </a:ext>
            </a:extLst>
          </p:cNvPr>
          <p:cNvSpPr>
            <a:spLocks noChangeArrowheads="1"/>
          </p:cNvSpPr>
          <p:nvPr/>
        </p:nvSpPr>
        <p:spPr bwMode="auto">
          <a:xfrm>
            <a:off x="6372225" y="1628775"/>
            <a:ext cx="2303463" cy="172878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900">
              <a:solidFill>
                <a:srgbClr val="008000"/>
              </a:solidFill>
              <a:latin typeface="Lucida Console" panose="020B06090405040202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91523">
                                            <p:txEl>
                                              <p:pRg st="1" end="1"/>
                                            </p:txEl>
                                          </p:spTgt>
                                        </p:tgtEl>
                                        <p:attrNameLst>
                                          <p:attrName>style.visibility</p:attrName>
                                        </p:attrNameLst>
                                      </p:cBhvr>
                                      <p:to>
                                        <p:strVal val="visible"/>
                                      </p:to>
                                    </p:set>
                                    <p:anim calcmode="lin" valueType="num">
                                      <p:cBhvr additive="base">
                                        <p:cTn id="7" dur="500" fill="hold"/>
                                        <p:tgtEl>
                                          <p:spTgt spid="49152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9152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491523">
                                            <p:txEl>
                                              <p:pRg st="0" end="0"/>
                                            </p:txEl>
                                          </p:spTgt>
                                        </p:tgtEl>
                                        <p:attrNameLst>
                                          <p:attrName>style.visibility</p:attrName>
                                        </p:attrNameLst>
                                      </p:cBhvr>
                                      <p:to>
                                        <p:strVal val="visible"/>
                                      </p:to>
                                    </p:set>
                                    <p:anim calcmode="lin" valueType="num">
                                      <p:cBhvr additive="base">
                                        <p:cTn id="13" dur="500" fill="hold"/>
                                        <p:tgtEl>
                                          <p:spTgt spid="49152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91523">
                                            <p:txEl>
                                              <p:pRg st="0" end="0"/>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491523">
                                            <p:txEl>
                                              <p:pRg st="2" end="2"/>
                                            </p:txEl>
                                          </p:spTgt>
                                        </p:tgtEl>
                                        <p:attrNameLst>
                                          <p:attrName>style.visibility</p:attrName>
                                        </p:attrNameLst>
                                      </p:cBhvr>
                                      <p:to>
                                        <p:strVal val="visible"/>
                                      </p:to>
                                    </p:set>
                                    <p:anim calcmode="lin" valueType="num">
                                      <p:cBhvr additive="base">
                                        <p:cTn id="17" dur="500" fill="hold"/>
                                        <p:tgtEl>
                                          <p:spTgt spid="49152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9152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491523">
                                            <p:txEl>
                                              <p:pRg st="3" end="3"/>
                                            </p:txEl>
                                          </p:spTgt>
                                        </p:tgtEl>
                                        <p:attrNameLst>
                                          <p:attrName>style.visibility</p:attrName>
                                        </p:attrNameLst>
                                      </p:cBhvr>
                                      <p:to>
                                        <p:strVal val="visible"/>
                                      </p:to>
                                    </p:set>
                                    <p:anim calcmode="lin" valueType="num">
                                      <p:cBhvr additive="base">
                                        <p:cTn id="21" dur="500" fill="hold"/>
                                        <p:tgtEl>
                                          <p:spTgt spid="49152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9152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491523">
                                            <p:txEl>
                                              <p:pRg st="4" end="4"/>
                                            </p:txEl>
                                          </p:spTgt>
                                        </p:tgtEl>
                                        <p:attrNameLst>
                                          <p:attrName>style.visibility</p:attrName>
                                        </p:attrNameLst>
                                      </p:cBhvr>
                                      <p:to>
                                        <p:strVal val="visible"/>
                                      </p:to>
                                    </p:set>
                                    <p:anim calcmode="lin" valueType="num">
                                      <p:cBhvr additive="base">
                                        <p:cTn id="25" dur="500" fill="hold"/>
                                        <p:tgtEl>
                                          <p:spTgt spid="49152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9152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491523">
                                            <p:txEl>
                                              <p:pRg st="5" end="5"/>
                                            </p:txEl>
                                          </p:spTgt>
                                        </p:tgtEl>
                                        <p:attrNameLst>
                                          <p:attrName>style.visibility</p:attrName>
                                        </p:attrNameLst>
                                      </p:cBhvr>
                                      <p:to>
                                        <p:strVal val="visible"/>
                                      </p:to>
                                    </p:set>
                                    <p:anim calcmode="lin" valueType="num">
                                      <p:cBhvr additive="base">
                                        <p:cTn id="29" dur="500" fill="hold"/>
                                        <p:tgtEl>
                                          <p:spTgt spid="49152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91523">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491523">
                                            <p:txEl>
                                              <p:pRg st="6" end="6"/>
                                            </p:txEl>
                                          </p:spTgt>
                                        </p:tgtEl>
                                        <p:attrNameLst>
                                          <p:attrName>style.visibility</p:attrName>
                                        </p:attrNameLst>
                                      </p:cBhvr>
                                      <p:to>
                                        <p:strVal val="visible"/>
                                      </p:to>
                                    </p:set>
                                    <p:anim calcmode="lin" valueType="num">
                                      <p:cBhvr additive="base">
                                        <p:cTn id="33" dur="500" fill="hold"/>
                                        <p:tgtEl>
                                          <p:spTgt spid="491523">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491523">
                                            <p:txEl>
                                              <p:pRg st="6" end="6"/>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491523">
                                            <p:txEl>
                                              <p:pRg st="7" end="7"/>
                                            </p:txEl>
                                          </p:spTgt>
                                        </p:tgtEl>
                                        <p:attrNameLst>
                                          <p:attrName>style.visibility</p:attrName>
                                        </p:attrNameLst>
                                      </p:cBhvr>
                                      <p:to>
                                        <p:strVal val="visible"/>
                                      </p:to>
                                    </p:set>
                                    <p:anim calcmode="lin" valueType="num">
                                      <p:cBhvr additive="base">
                                        <p:cTn id="37" dur="500" fill="hold"/>
                                        <p:tgtEl>
                                          <p:spTgt spid="491523">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91523">
                                            <p:txEl>
                                              <p:pRg st="7" end="7"/>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491523">
                                            <p:txEl>
                                              <p:pRg st="9" end="9"/>
                                            </p:txEl>
                                          </p:spTgt>
                                        </p:tgtEl>
                                        <p:attrNameLst>
                                          <p:attrName>style.visibility</p:attrName>
                                        </p:attrNameLst>
                                      </p:cBhvr>
                                      <p:to>
                                        <p:strVal val="visible"/>
                                      </p:to>
                                    </p:set>
                                    <p:anim calcmode="lin" valueType="num">
                                      <p:cBhvr additive="base">
                                        <p:cTn id="41" dur="500" fill="hold"/>
                                        <p:tgtEl>
                                          <p:spTgt spid="491523">
                                            <p:txEl>
                                              <p:pRg st="9" end="9"/>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491523">
                                            <p:txEl>
                                              <p:pRg st="9" end="9"/>
                                            </p:txEl>
                                          </p:spTgt>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491523">
                                            <p:txEl>
                                              <p:pRg st="10" end="10"/>
                                            </p:txEl>
                                          </p:spTgt>
                                        </p:tgtEl>
                                        <p:attrNameLst>
                                          <p:attrName>style.visibility</p:attrName>
                                        </p:attrNameLst>
                                      </p:cBhvr>
                                      <p:to>
                                        <p:strVal val="visible"/>
                                      </p:to>
                                    </p:set>
                                    <p:anim calcmode="lin" valueType="num">
                                      <p:cBhvr additive="base">
                                        <p:cTn id="45" dur="500" fill="hold"/>
                                        <p:tgtEl>
                                          <p:spTgt spid="491523">
                                            <p:txEl>
                                              <p:pRg st="10" end="10"/>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491523">
                                            <p:txEl>
                                              <p:pRg st="10" end="10"/>
                                            </p:txEl>
                                          </p:spTgt>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491523">
                                            <p:txEl>
                                              <p:pRg st="11" end="11"/>
                                            </p:txEl>
                                          </p:spTgt>
                                        </p:tgtEl>
                                        <p:attrNameLst>
                                          <p:attrName>style.visibility</p:attrName>
                                        </p:attrNameLst>
                                      </p:cBhvr>
                                      <p:to>
                                        <p:strVal val="visible"/>
                                      </p:to>
                                    </p:set>
                                    <p:anim calcmode="lin" valueType="num">
                                      <p:cBhvr additive="base">
                                        <p:cTn id="49" dur="500" fill="hold"/>
                                        <p:tgtEl>
                                          <p:spTgt spid="491523">
                                            <p:txEl>
                                              <p:pRg st="11" end="11"/>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491523">
                                            <p:txEl>
                                              <p:pRg st="11" end="11"/>
                                            </p:txEl>
                                          </p:spTgt>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491523">
                                            <p:txEl>
                                              <p:pRg st="12" end="12"/>
                                            </p:txEl>
                                          </p:spTgt>
                                        </p:tgtEl>
                                        <p:attrNameLst>
                                          <p:attrName>style.visibility</p:attrName>
                                        </p:attrNameLst>
                                      </p:cBhvr>
                                      <p:to>
                                        <p:strVal val="visible"/>
                                      </p:to>
                                    </p:set>
                                    <p:anim calcmode="lin" valueType="num">
                                      <p:cBhvr additive="base">
                                        <p:cTn id="53" dur="500" fill="hold"/>
                                        <p:tgtEl>
                                          <p:spTgt spid="491523">
                                            <p:txEl>
                                              <p:pRg st="12" end="12"/>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491523">
                                            <p:txEl>
                                              <p:pRg st="12" end="12"/>
                                            </p:txEl>
                                          </p:spTgt>
                                        </p:tgtEl>
                                        <p:attrNameLst>
                                          <p:attrName>ppt_y</p:attrName>
                                        </p:attrNameLst>
                                      </p:cBhvr>
                                      <p:tavLst>
                                        <p:tav tm="0">
                                          <p:val>
                                            <p:strVal val="1+#ppt_h/2"/>
                                          </p:val>
                                        </p:tav>
                                        <p:tav tm="100000">
                                          <p:val>
                                            <p:strVal val="#ppt_y"/>
                                          </p:val>
                                        </p:tav>
                                      </p:tavLst>
                                    </p:anim>
                                  </p:childTnLst>
                                </p:cTn>
                              </p:par>
                              <p:par>
                                <p:cTn id="55" presetID="2" presetClass="entr" presetSubtype="4" fill="hold" nodeType="withEffect">
                                  <p:stCondLst>
                                    <p:cond delay="0"/>
                                  </p:stCondLst>
                                  <p:childTnLst>
                                    <p:set>
                                      <p:cBhvr>
                                        <p:cTn id="56" dur="1" fill="hold">
                                          <p:stCondLst>
                                            <p:cond delay="0"/>
                                          </p:stCondLst>
                                        </p:cTn>
                                        <p:tgtEl>
                                          <p:spTgt spid="491523">
                                            <p:txEl>
                                              <p:pRg st="13" end="13"/>
                                            </p:txEl>
                                          </p:spTgt>
                                        </p:tgtEl>
                                        <p:attrNameLst>
                                          <p:attrName>style.visibility</p:attrName>
                                        </p:attrNameLst>
                                      </p:cBhvr>
                                      <p:to>
                                        <p:strVal val="visible"/>
                                      </p:to>
                                    </p:set>
                                    <p:anim calcmode="lin" valueType="num">
                                      <p:cBhvr additive="base">
                                        <p:cTn id="57" dur="500" fill="hold"/>
                                        <p:tgtEl>
                                          <p:spTgt spid="491523">
                                            <p:txEl>
                                              <p:pRg st="13" end="13"/>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491523">
                                            <p:txEl>
                                              <p:pRg st="13" end="13"/>
                                            </p:txEl>
                                          </p:spTgt>
                                        </p:tgtEl>
                                        <p:attrNameLst>
                                          <p:attrName>ppt_y</p:attrName>
                                        </p:attrNameLst>
                                      </p:cBhvr>
                                      <p:tavLst>
                                        <p:tav tm="0">
                                          <p:val>
                                            <p:strVal val="1+#ppt_h/2"/>
                                          </p:val>
                                        </p:tav>
                                        <p:tav tm="100000">
                                          <p:val>
                                            <p:strVal val="#ppt_y"/>
                                          </p:val>
                                        </p:tav>
                                      </p:tavLst>
                                    </p:anim>
                                  </p:childTnLst>
                                </p:cTn>
                              </p:par>
                              <p:par>
                                <p:cTn id="59" presetID="2" presetClass="entr" presetSubtype="4" fill="hold" nodeType="withEffect">
                                  <p:stCondLst>
                                    <p:cond delay="0"/>
                                  </p:stCondLst>
                                  <p:childTnLst>
                                    <p:set>
                                      <p:cBhvr>
                                        <p:cTn id="60" dur="1" fill="hold">
                                          <p:stCondLst>
                                            <p:cond delay="0"/>
                                          </p:stCondLst>
                                        </p:cTn>
                                        <p:tgtEl>
                                          <p:spTgt spid="491523">
                                            <p:txEl>
                                              <p:pRg st="14" end="14"/>
                                            </p:txEl>
                                          </p:spTgt>
                                        </p:tgtEl>
                                        <p:attrNameLst>
                                          <p:attrName>style.visibility</p:attrName>
                                        </p:attrNameLst>
                                      </p:cBhvr>
                                      <p:to>
                                        <p:strVal val="visible"/>
                                      </p:to>
                                    </p:set>
                                    <p:anim calcmode="lin" valueType="num">
                                      <p:cBhvr additive="base">
                                        <p:cTn id="61" dur="500" fill="hold"/>
                                        <p:tgtEl>
                                          <p:spTgt spid="491523">
                                            <p:txEl>
                                              <p:pRg st="14" end="14"/>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491523">
                                            <p:txEl>
                                              <p:pRg st="14" end="14"/>
                                            </p:txEl>
                                          </p:spTgt>
                                        </p:tgtEl>
                                        <p:attrNameLst>
                                          <p:attrName>ppt_y</p:attrName>
                                        </p:attrNameLst>
                                      </p:cBhvr>
                                      <p:tavLst>
                                        <p:tav tm="0">
                                          <p:val>
                                            <p:strVal val="1+#ppt_h/2"/>
                                          </p:val>
                                        </p:tav>
                                        <p:tav tm="100000">
                                          <p:val>
                                            <p:strVal val="#ppt_y"/>
                                          </p:val>
                                        </p:tav>
                                      </p:tavLst>
                                    </p:anim>
                                  </p:childTnLst>
                                </p:cTn>
                              </p:par>
                              <p:par>
                                <p:cTn id="63" presetID="2" presetClass="entr" presetSubtype="4" fill="hold" nodeType="withEffect">
                                  <p:stCondLst>
                                    <p:cond delay="0"/>
                                  </p:stCondLst>
                                  <p:childTnLst>
                                    <p:set>
                                      <p:cBhvr>
                                        <p:cTn id="64" dur="1" fill="hold">
                                          <p:stCondLst>
                                            <p:cond delay="0"/>
                                          </p:stCondLst>
                                        </p:cTn>
                                        <p:tgtEl>
                                          <p:spTgt spid="491523">
                                            <p:txEl>
                                              <p:pRg st="15" end="15"/>
                                            </p:txEl>
                                          </p:spTgt>
                                        </p:tgtEl>
                                        <p:attrNameLst>
                                          <p:attrName>style.visibility</p:attrName>
                                        </p:attrNameLst>
                                      </p:cBhvr>
                                      <p:to>
                                        <p:strVal val="visible"/>
                                      </p:to>
                                    </p:set>
                                    <p:anim calcmode="lin" valueType="num">
                                      <p:cBhvr additive="base">
                                        <p:cTn id="65" dur="500" fill="hold"/>
                                        <p:tgtEl>
                                          <p:spTgt spid="491523">
                                            <p:txEl>
                                              <p:pRg st="15" end="15"/>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491523">
                                            <p:txEl>
                                              <p:pRg st="15" end="15"/>
                                            </p:txEl>
                                          </p:spTgt>
                                        </p:tgtEl>
                                        <p:attrNameLst>
                                          <p:attrName>ppt_y</p:attrName>
                                        </p:attrNameLst>
                                      </p:cBhvr>
                                      <p:tavLst>
                                        <p:tav tm="0">
                                          <p:val>
                                            <p:strVal val="1+#ppt_h/2"/>
                                          </p:val>
                                        </p:tav>
                                        <p:tav tm="100000">
                                          <p:val>
                                            <p:strVal val="#ppt_y"/>
                                          </p:val>
                                        </p:tav>
                                      </p:tavLst>
                                    </p:anim>
                                  </p:childTnLst>
                                </p:cTn>
                              </p:par>
                              <p:par>
                                <p:cTn id="67" presetID="2" presetClass="entr" presetSubtype="4" fill="hold" nodeType="withEffect">
                                  <p:stCondLst>
                                    <p:cond delay="0"/>
                                  </p:stCondLst>
                                  <p:childTnLst>
                                    <p:set>
                                      <p:cBhvr>
                                        <p:cTn id="68" dur="1" fill="hold">
                                          <p:stCondLst>
                                            <p:cond delay="0"/>
                                          </p:stCondLst>
                                        </p:cTn>
                                        <p:tgtEl>
                                          <p:spTgt spid="491523">
                                            <p:txEl>
                                              <p:pRg st="16" end="16"/>
                                            </p:txEl>
                                          </p:spTgt>
                                        </p:tgtEl>
                                        <p:attrNameLst>
                                          <p:attrName>style.visibility</p:attrName>
                                        </p:attrNameLst>
                                      </p:cBhvr>
                                      <p:to>
                                        <p:strVal val="visible"/>
                                      </p:to>
                                    </p:set>
                                    <p:anim calcmode="lin" valueType="num">
                                      <p:cBhvr additive="base">
                                        <p:cTn id="69" dur="500" fill="hold"/>
                                        <p:tgtEl>
                                          <p:spTgt spid="491523">
                                            <p:txEl>
                                              <p:pRg st="16" end="16"/>
                                            </p:txEl>
                                          </p:spTgt>
                                        </p:tgtEl>
                                        <p:attrNameLst>
                                          <p:attrName>ppt_x</p:attrName>
                                        </p:attrNameLst>
                                      </p:cBhvr>
                                      <p:tavLst>
                                        <p:tav tm="0">
                                          <p:val>
                                            <p:strVal val="#ppt_x"/>
                                          </p:val>
                                        </p:tav>
                                        <p:tav tm="100000">
                                          <p:val>
                                            <p:strVal val="#ppt_x"/>
                                          </p:val>
                                        </p:tav>
                                      </p:tavLst>
                                    </p:anim>
                                    <p:anim calcmode="lin" valueType="num">
                                      <p:cBhvr additive="base">
                                        <p:cTn id="70" dur="500" fill="hold"/>
                                        <p:tgtEl>
                                          <p:spTgt spid="491523">
                                            <p:txEl>
                                              <p:pRg st="16" end="16"/>
                                            </p:txEl>
                                          </p:spTgt>
                                        </p:tgtEl>
                                        <p:attrNameLst>
                                          <p:attrName>ppt_y</p:attrName>
                                        </p:attrNameLst>
                                      </p:cBhvr>
                                      <p:tavLst>
                                        <p:tav tm="0">
                                          <p:val>
                                            <p:strVal val="1+#ppt_h/2"/>
                                          </p:val>
                                        </p:tav>
                                        <p:tav tm="100000">
                                          <p:val>
                                            <p:strVal val="#ppt_y"/>
                                          </p:val>
                                        </p:tav>
                                      </p:tavLst>
                                    </p:anim>
                                  </p:childTnLst>
                                </p:cTn>
                              </p:par>
                              <p:par>
                                <p:cTn id="71" presetID="2" presetClass="entr" presetSubtype="4" fill="hold" nodeType="withEffect">
                                  <p:stCondLst>
                                    <p:cond delay="0"/>
                                  </p:stCondLst>
                                  <p:childTnLst>
                                    <p:set>
                                      <p:cBhvr>
                                        <p:cTn id="72" dur="1" fill="hold">
                                          <p:stCondLst>
                                            <p:cond delay="0"/>
                                          </p:stCondLst>
                                        </p:cTn>
                                        <p:tgtEl>
                                          <p:spTgt spid="491523">
                                            <p:txEl>
                                              <p:pRg st="17" end="17"/>
                                            </p:txEl>
                                          </p:spTgt>
                                        </p:tgtEl>
                                        <p:attrNameLst>
                                          <p:attrName>style.visibility</p:attrName>
                                        </p:attrNameLst>
                                      </p:cBhvr>
                                      <p:to>
                                        <p:strVal val="visible"/>
                                      </p:to>
                                    </p:set>
                                    <p:anim calcmode="lin" valueType="num">
                                      <p:cBhvr additive="base">
                                        <p:cTn id="73" dur="500" fill="hold"/>
                                        <p:tgtEl>
                                          <p:spTgt spid="491523">
                                            <p:txEl>
                                              <p:pRg st="17" end="17"/>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491523">
                                            <p:txEl>
                                              <p:pRg st="17" end="17"/>
                                            </p:txEl>
                                          </p:spTgt>
                                        </p:tgtEl>
                                        <p:attrNameLst>
                                          <p:attrName>ppt_y</p:attrName>
                                        </p:attrNameLst>
                                      </p:cBhvr>
                                      <p:tavLst>
                                        <p:tav tm="0">
                                          <p:val>
                                            <p:strVal val="1+#ppt_h/2"/>
                                          </p:val>
                                        </p:tav>
                                        <p:tav tm="100000">
                                          <p:val>
                                            <p:strVal val="#ppt_y"/>
                                          </p:val>
                                        </p:tav>
                                      </p:tavLst>
                                    </p:anim>
                                  </p:childTnLst>
                                </p:cTn>
                              </p:par>
                              <p:par>
                                <p:cTn id="75" presetID="2" presetClass="entr" presetSubtype="4" fill="hold" nodeType="withEffect">
                                  <p:stCondLst>
                                    <p:cond delay="0"/>
                                  </p:stCondLst>
                                  <p:childTnLst>
                                    <p:set>
                                      <p:cBhvr>
                                        <p:cTn id="76" dur="1" fill="hold">
                                          <p:stCondLst>
                                            <p:cond delay="0"/>
                                          </p:stCondLst>
                                        </p:cTn>
                                        <p:tgtEl>
                                          <p:spTgt spid="491523">
                                            <p:txEl>
                                              <p:pRg st="18" end="18"/>
                                            </p:txEl>
                                          </p:spTgt>
                                        </p:tgtEl>
                                        <p:attrNameLst>
                                          <p:attrName>style.visibility</p:attrName>
                                        </p:attrNameLst>
                                      </p:cBhvr>
                                      <p:to>
                                        <p:strVal val="visible"/>
                                      </p:to>
                                    </p:set>
                                    <p:anim calcmode="lin" valueType="num">
                                      <p:cBhvr additive="base">
                                        <p:cTn id="77" dur="500" fill="hold"/>
                                        <p:tgtEl>
                                          <p:spTgt spid="491523">
                                            <p:txEl>
                                              <p:pRg st="18" end="18"/>
                                            </p:txEl>
                                          </p:spTgt>
                                        </p:tgtEl>
                                        <p:attrNameLst>
                                          <p:attrName>ppt_x</p:attrName>
                                        </p:attrNameLst>
                                      </p:cBhvr>
                                      <p:tavLst>
                                        <p:tav tm="0">
                                          <p:val>
                                            <p:strVal val="#ppt_x"/>
                                          </p:val>
                                        </p:tav>
                                        <p:tav tm="100000">
                                          <p:val>
                                            <p:strVal val="#ppt_x"/>
                                          </p:val>
                                        </p:tav>
                                      </p:tavLst>
                                    </p:anim>
                                    <p:anim calcmode="lin" valueType="num">
                                      <p:cBhvr additive="base">
                                        <p:cTn id="78" dur="500" fill="hold"/>
                                        <p:tgtEl>
                                          <p:spTgt spid="491523">
                                            <p:txEl>
                                              <p:pRg st="18" end="18"/>
                                            </p:txEl>
                                          </p:spTgt>
                                        </p:tgtEl>
                                        <p:attrNameLst>
                                          <p:attrName>ppt_y</p:attrName>
                                        </p:attrNameLst>
                                      </p:cBhvr>
                                      <p:tavLst>
                                        <p:tav tm="0">
                                          <p:val>
                                            <p:strVal val="1+#ppt_h/2"/>
                                          </p:val>
                                        </p:tav>
                                        <p:tav tm="100000">
                                          <p:val>
                                            <p:strVal val="#ppt_y"/>
                                          </p:val>
                                        </p:tav>
                                      </p:tavLst>
                                    </p:anim>
                                  </p:childTnLst>
                                </p:cTn>
                              </p:par>
                              <p:par>
                                <p:cTn id="79" presetID="2" presetClass="entr" presetSubtype="4" fill="hold" nodeType="withEffect">
                                  <p:stCondLst>
                                    <p:cond delay="0"/>
                                  </p:stCondLst>
                                  <p:childTnLst>
                                    <p:set>
                                      <p:cBhvr>
                                        <p:cTn id="80" dur="1" fill="hold">
                                          <p:stCondLst>
                                            <p:cond delay="0"/>
                                          </p:stCondLst>
                                        </p:cTn>
                                        <p:tgtEl>
                                          <p:spTgt spid="491523">
                                            <p:txEl>
                                              <p:pRg st="19" end="19"/>
                                            </p:txEl>
                                          </p:spTgt>
                                        </p:tgtEl>
                                        <p:attrNameLst>
                                          <p:attrName>style.visibility</p:attrName>
                                        </p:attrNameLst>
                                      </p:cBhvr>
                                      <p:to>
                                        <p:strVal val="visible"/>
                                      </p:to>
                                    </p:set>
                                    <p:anim calcmode="lin" valueType="num">
                                      <p:cBhvr additive="base">
                                        <p:cTn id="81" dur="500" fill="hold"/>
                                        <p:tgtEl>
                                          <p:spTgt spid="491523">
                                            <p:txEl>
                                              <p:pRg st="19" end="19"/>
                                            </p:txEl>
                                          </p:spTgt>
                                        </p:tgtEl>
                                        <p:attrNameLst>
                                          <p:attrName>ppt_x</p:attrName>
                                        </p:attrNameLst>
                                      </p:cBhvr>
                                      <p:tavLst>
                                        <p:tav tm="0">
                                          <p:val>
                                            <p:strVal val="#ppt_x"/>
                                          </p:val>
                                        </p:tav>
                                        <p:tav tm="100000">
                                          <p:val>
                                            <p:strVal val="#ppt_x"/>
                                          </p:val>
                                        </p:tav>
                                      </p:tavLst>
                                    </p:anim>
                                    <p:anim calcmode="lin" valueType="num">
                                      <p:cBhvr additive="base">
                                        <p:cTn id="82" dur="500" fill="hold"/>
                                        <p:tgtEl>
                                          <p:spTgt spid="491523">
                                            <p:txEl>
                                              <p:pRg st="19" end="19"/>
                                            </p:txEl>
                                          </p:spTgt>
                                        </p:tgtEl>
                                        <p:attrNameLst>
                                          <p:attrName>ppt_y</p:attrName>
                                        </p:attrNameLst>
                                      </p:cBhvr>
                                      <p:tavLst>
                                        <p:tav tm="0">
                                          <p:val>
                                            <p:strVal val="1+#ppt_h/2"/>
                                          </p:val>
                                        </p:tav>
                                        <p:tav tm="100000">
                                          <p:val>
                                            <p:strVal val="#ppt_y"/>
                                          </p:val>
                                        </p:tav>
                                      </p:tavLst>
                                    </p:anim>
                                  </p:childTnLst>
                                </p:cTn>
                              </p:par>
                            </p:childTnLst>
                          </p:cTn>
                        </p:par>
                      </p:childTnLst>
                    </p:cTn>
                  </p:par>
                  <p:par>
                    <p:cTn id="83" fill="hold" nodeType="clickPar">
                      <p:stCondLst>
                        <p:cond delay="indefinite"/>
                      </p:stCondLst>
                      <p:childTnLst>
                        <p:par>
                          <p:cTn id="84" fill="hold" nodeType="withGroup">
                            <p:stCondLst>
                              <p:cond delay="0"/>
                            </p:stCondLst>
                            <p:childTnLst>
                              <p:par>
                                <p:cTn id="85" presetID="2" presetClass="entr" presetSubtype="2" fill="hold" grpId="0" nodeType="clickEffect">
                                  <p:stCondLst>
                                    <p:cond delay="0"/>
                                  </p:stCondLst>
                                  <p:childTnLst>
                                    <p:set>
                                      <p:cBhvr>
                                        <p:cTn id="86" dur="1" fill="hold">
                                          <p:stCondLst>
                                            <p:cond delay="0"/>
                                          </p:stCondLst>
                                        </p:cTn>
                                        <p:tgtEl>
                                          <p:spTgt spid="491525"/>
                                        </p:tgtEl>
                                        <p:attrNameLst>
                                          <p:attrName>style.visibility</p:attrName>
                                        </p:attrNameLst>
                                      </p:cBhvr>
                                      <p:to>
                                        <p:strVal val="visible"/>
                                      </p:to>
                                    </p:set>
                                    <p:anim calcmode="lin" valueType="num">
                                      <p:cBhvr additive="base">
                                        <p:cTn id="87" dur="500" fill="hold"/>
                                        <p:tgtEl>
                                          <p:spTgt spid="491525"/>
                                        </p:tgtEl>
                                        <p:attrNameLst>
                                          <p:attrName>ppt_x</p:attrName>
                                        </p:attrNameLst>
                                      </p:cBhvr>
                                      <p:tavLst>
                                        <p:tav tm="0">
                                          <p:val>
                                            <p:strVal val="1+#ppt_w/2"/>
                                          </p:val>
                                        </p:tav>
                                        <p:tav tm="100000">
                                          <p:val>
                                            <p:strVal val="#ppt_x"/>
                                          </p:val>
                                        </p:tav>
                                      </p:tavLst>
                                    </p:anim>
                                    <p:anim calcmode="lin" valueType="num">
                                      <p:cBhvr additive="base">
                                        <p:cTn id="88" dur="500" fill="hold"/>
                                        <p:tgtEl>
                                          <p:spTgt spid="491525"/>
                                        </p:tgtEl>
                                        <p:attrNameLst>
                                          <p:attrName>ppt_y</p:attrName>
                                        </p:attrNameLst>
                                      </p:cBhvr>
                                      <p:tavLst>
                                        <p:tav tm="0">
                                          <p:val>
                                            <p:strVal val="#ppt_y"/>
                                          </p:val>
                                        </p:tav>
                                        <p:tav tm="100000">
                                          <p:val>
                                            <p:strVal val="#ppt_y"/>
                                          </p:val>
                                        </p:tav>
                                      </p:tavLst>
                                    </p:anim>
                                  </p:childTnLst>
                                </p:cTn>
                              </p:par>
                              <p:par>
                                <p:cTn id="89" presetID="2" presetClass="entr" presetSubtype="2" fill="hold" grpId="0" nodeType="withEffect">
                                  <p:stCondLst>
                                    <p:cond delay="0"/>
                                  </p:stCondLst>
                                  <p:childTnLst>
                                    <p:set>
                                      <p:cBhvr>
                                        <p:cTn id="90" dur="1" fill="hold">
                                          <p:stCondLst>
                                            <p:cond delay="0"/>
                                          </p:stCondLst>
                                        </p:cTn>
                                        <p:tgtEl>
                                          <p:spTgt spid="491524"/>
                                        </p:tgtEl>
                                        <p:attrNameLst>
                                          <p:attrName>style.visibility</p:attrName>
                                        </p:attrNameLst>
                                      </p:cBhvr>
                                      <p:to>
                                        <p:strVal val="visible"/>
                                      </p:to>
                                    </p:set>
                                    <p:anim calcmode="lin" valueType="num">
                                      <p:cBhvr additive="base">
                                        <p:cTn id="91" dur="500" fill="hold"/>
                                        <p:tgtEl>
                                          <p:spTgt spid="491524"/>
                                        </p:tgtEl>
                                        <p:attrNameLst>
                                          <p:attrName>ppt_x</p:attrName>
                                        </p:attrNameLst>
                                      </p:cBhvr>
                                      <p:tavLst>
                                        <p:tav tm="0">
                                          <p:val>
                                            <p:strVal val="1+#ppt_w/2"/>
                                          </p:val>
                                        </p:tav>
                                        <p:tav tm="100000">
                                          <p:val>
                                            <p:strVal val="#ppt_x"/>
                                          </p:val>
                                        </p:tav>
                                      </p:tavLst>
                                    </p:anim>
                                    <p:anim calcmode="lin" valueType="num">
                                      <p:cBhvr additive="base">
                                        <p:cTn id="92" dur="500" fill="hold"/>
                                        <p:tgtEl>
                                          <p:spTgt spid="4915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24" grpId="0"/>
      <p:bldP spid="491525"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E57A7A44-DE67-E8FD-47CD-CBB9BA4EFE44}"/>
              </a:ext>
            </a:extLst>
          </p:cNvPr>
          <p:cNvSpPr txBox="1"/>
          <p:nvPr/>
        </p:nvSpPr>
        <p:spPr>
          <a:xfrm>
            <a:off x="755576" y="980728"/>
            <a:ext cx="5904656" cy="1554272"/>
          </a:xfrm>
          <a:prstGeom prst="rect">
            <a:avLst/>
          </a:prstGeom>
          <a:noFill/>
        </p:spPr>
        <p:txBody>
          <a:bodyPr wrap="square">
            <a:spAutoFit/>
          </a:bodyPr>
          <a:lstStyle/>
          <a:p>
            <a:r>
              <a:rPr lang="en" altLang="zh-CN" b="1" dirty="0">
                <a:solidFill>
                  <a:srgbClr val="7F0055"/>
                </a:solidFill>
                <a:effectLst/>
                <a:latin typeface="Menlo" panose="020B0609030804020204" pitchFamily="49" charset="0"/>
              </a:rPr>
              <a:t>    int</a:t>
            </a:r>
            <a:r>
              <a:rPr lang="en" altLang="zh-CN" dirty="0">
                <a:effectLst/>
                <a:latin typeface="Menlo" panose="020B0609030804020204" pitchFamily="49" charset="0"/>
              </a:rPr>
              <a:t> </a:t>
            </a:r>
            <a:r>
              <a:rPr lang="en" altLang="zh-CN" dirty="0" err="1">
                <a:solidFill>
                  <a:srgbClr val="6A3E3E"/>
                </a:solidFill>
                <a:effectLst/>
                <a:latin typeface="Menlo" panose="020B0609030804020204" pitchFamily="49" charset="0"/>
              </a:rPr>
              <a:t>i</a:t>
            </a:r>
            <a:r>
              <a:rPr lang="en" altLang="zh-CN" dirty="0">
                <a:effectLst/>
                <a:latin typeface="Menlo" panose="020B0609030804020204" pitchFamily="49" charset="0"/>
              </a:rPr>
              <a:t>=3;</a:t>
            </a:r>
          </a:p>
          <a:p>
            <a:r>
              <a:rPr lang="en" altLang="zh-CN" dirty="0">
                <a:effectLst/>
                <a:latin typeface="Menlo" panose="020B0609030804020204" pitchFamily="49" charset="0"/>
              </a:rPr>
              <a:t>    </a:t>
            </a:r>
            <a:r>
              <a:rPr lang="en" altLang="zh-CN" b="1" dirty="0">
                <a:solidFill>
                  <a:srgbClr val="7F0055"/>
                </a:solidFill>
                <a:effectLst/>
                <a:latin typeface="Menlo" panose="020B0609030804020204" pitchFamily="49" charset="0"/>
              </a:rPr>
              <a:t>switch</a:t>
            </a:r>
            <a:r>
              <a:rPr lang="en" altLang="zh-CN" dirty="0">
                <a:effectLst/>
                <a:latin typeface="Menlo" panose="020B0609030804020204" pitchFamily="49" charset="0"/>
              </a:rPr>
              <a:t>(</a:t>
            </a:r>
            <a:r>
              <a:rPr lang="en" altLang="zh-CN" dirty="0" err="1">
                <a:solidFill>
                  <a:srgbClr val="6A3E3E"/>
                </a:solidFill>
                <a:effectLst/>
                <a:latin typeface="Menlo" panose="020B0609030804020204" pitchFamily="49" charset="0"/>
              </a:rPr>
              <a:t>i</a:t>
            </a:r>
            <a:r>
              <a:rPr lang="en" altLang="zh-CN" dirty="0">
                <a:effectLst/>
                <a:latin typeface="Menlo" panose="020B0609030804020204" pitchFamily="49" charset="0"/>
              </a:rPr>
              <a:t>) {</a:t>
            </a:r>
          </a:p>
          <a:p>
            <a:r>
              <a:rPr lang="en" altLang="zh-CN" dirty="0">
                <a:effectLst/>
                <a:latin typeface="Menlo" panose="020B0609030804020204" pitchFamily="49" charset="0"/>
              </a:rPr>
              <a:t>    </a:t>
            </a:r>
            <a:r>
              <a:rPr lang="en" altLang="zh-CN" b="1" dirty="0">
                <a:solidFill>
                  <a:srgbClr val="7F0055"/>
                </a:solidFill>
                <a:effectLst/>
                <a:latin typeface="Menlo" panose="020B0609030804020204" pitchFamily="49" charset="0"/>
              </a:rPr>
              <a:t>case</a:t>
            </a:r>
            <a:r>
              <a:rPr lang="en" altLang="zh-CN" dirty="0">
                <a:effectLst/>
                <a:latin typeface="Menlo" panose="020B0609030804020204" pitchFamily="49" charset="0"/>
              </a:rPr>
              <a:t> 1-&gt; </a:t>
            </a:r>
            <a:r>
              <a:rPr lang="en" altLang="zh-CN" dirty="0" err="1">
                <a:effectLst/>
                <a:latin typeface="Menlo" panose="020B0609030804020204" pitchFamily="49" charset="0"/>
              </a:rPr>
              <a:t>System.</a:t>
            </a:r>
            <a:r>
              <a:rPr lang="en" altLang="zh-CN" b="1" i="1" dirty="0" err="1">
                <a:solidFill>
                  <a:srgbClr val="0000C0"/>
                </a:solidFill>
                <a:effectLst/>
                <a:latin typeface="Menlo" panose="020B0609030804020204" pitchFamily="49" charset="0"/>
              </a:rPr>
              <a:t>out</a:t>
            </a:r>
            <a:r>
              <a:rPr lang="en" altLang="zh-CN" dirty="0" err="1">
                <a:effectLst/>
                <a:latin typeface="Menlo" panose="020B0609030804020204" pitchFamily="49" charset="0"/>
              </a:rPr>
              <a:t>.print</a:t>
            </a:r>
            <a:r>
              <a:rPr lang="en" altLang="zh-CN" dirty="0">
                <a:effectLst/>
                <a:latin typeface="Menlo" panose="020B0609030804020204" pitchFamily="49" charset="0"/>
              </a:rPr>
              <a:t>(</a:t>
            </a:r>
            <a:r>
              <a:rPr lang="en" altLang="zh-CN" dirty="0">
                <a:solidFill>
                  <a:srgbClr val="2A00FF"/>
                </a:solidFill>
                <a:effectLst/>
                <a:latin typeface="Menlo" panose="020B0609030804020204" pitchFamily="49" charset="0"/>
              </a:rPr>
              <a:t>"1"</a:t>
            </a:r>
            <a:r>
              <a:rPr lang="en" altLang="zh-CN" dirty="0">
                <a:effectLst/>
                <a:latin typeface="Menlo" panose="020B0609030804020204" pitchFamily="49" charset="0"/>
              </a:rPr>
              <a:t>);</a:t>
            </a:r>
          </a:p>
          <a:p>
            <a:r>
              <a:rPr lang="en" altLang="zh-CN" dirty="0">
                <a:effectLst/>
                <a:latin typeface="Menlo" panose="020B0609030804020204" pitchFamily="49" charset="0"/>
              </a:rPr>
              <a:t>    </a:t>
            </a:r>
            <a:r>
              <a:rPr lang="en" altLang="zh-CN" b="1" dirty="0">
                <a:solidFill>
                  <a:srgbClr val="7F0055"/>
                </a:solidFill>
                <a:effectLst/>
                <a:latin typeface="Menlo" panose="020B0609030804020204" pitchFamily="49" charset="0"/>
              </a:rPr>
              <a:t>case</a:t>
            </a:r>
            <a:r>
              <a:rPr lang="en" altLang="zh-CN" dirty="0">
                <a:effectLst/>
                <a:latin typeface="Menlo" panose="020B0609030804020204" pitchFamily="49" charset="0"/>
              </a:rPr>
              <a:t> 2-&gt; </a:t>
            </a:r>
            <a:r>
              <a:rPr lang="en" altLang="zh-CN" dirty="0" err="1">
                <a:effectLst/>
                <a:latin typeface="Menlo" panose="020B0609030804020204" pitchFamily="49" charset="0"/>
              </a:rPr>
              <a:t>System.</a:t>
            </a:r>
            <a:r>
              <a:rPr lang="en" altLang="zh-CN" b="1" i="1" dirty="0" err="1">
                <a:solidFill>
                  <a:srgbClr val="0000C0"/>
                </a:solidFill>
                <a:effectLst/>
                <a:latin typeface="Menlo" panose="020B0609030804020204" pitchFamily="49" charset="0"/>
              </a:rPr>
              <a:t>out</a:t>
            </a:r>
            <a:r>
              <a:rPr lang="en" altLang="zh-CN" dirty="0" err="1">
                <a:effectLst/>
                <a:latin typeface="Menlo" panose="020B0609030804020204" pitchFamily="49" charset="0"/>
              </a:rPr>
              <a:t>.print</a:t>
            </a:r>
            <a:r>
              <a:rPr lang="en" altLang="zh-CN" dirty="0">
                <a:effectLst/>
                <a:latin typeface="Menlo" panose="020B0609030804020204" pitchFamily="49" charset="0"/>
              </a:rPr>
              <a:t>(</a:t>
            </a:r>
            <a:r>
              <a:rPr lang="en" altLang="zh-CN" dirty="0">
                <a:solidFill>
                  <a:srgbClr val="2A00FF"/>
                </a:solidFill>
                <a:effectLst/>
                <a:latin typeface="Menlo" panose="020B0609030804020204" pitchFamily="49" charset="0"/>
              </a:rPr>
              <a:t>"2"</a:t>
            </a:r>
            <a:r>
              <a:rPr lang="en" altLang="zh-CN" dirty="0">
                <a:effectLst/>
                <a:latin typeface="Menlo" panose="020B0609030804020204" pitchFamily="49" charset="0"/>
              </a:rPr>
              <a:t>);</a:t>
            </a:r>
          </a:p>
          <a:p>
            <a:r>
              <a:rPr lang="en" altLang="zh-CN" dirty="0">
                <a:effectLst/>
                <a:latin typeface="Menlo" panose="020B0609030804020204" pitchFamily="49" charset="0"/>
              </a:rPr>
              <a:t>    </a:t>
            </a:r>
            <a:r>
              <a:rPr lang="en" altLang="zh-CN" b="1" dirty="0">
                <a:solidFill>
                  <a:srgbClr val="7F0055"/>
                </a:solidFill>
                <a:effectLst/>
                <a:latin typeface="Menlo" panose="020B0609030804020204" pitchFamily="49" charset="0"/>
              </a:rPr>
              <a:t>default</a:t>
            </a:r>
            <a:r>
              <a:rPr lang="en" altLang="zh-CN" dirty="0">
                <a:effectLst/>
                <a:latin typeface="Menlo" panose="020B0609030804020204" pitchFamily="49" charset="0"/>
              </a:rPr>
              <a:t>-&gt; </a:t>
            </a:r>
            <a:r>
              <a:rPr lang="en" altLang="zh-CN" dirty="0" err="1">
                <a:effectLst/>
                <a:latin typeface="Menlo" panose="020B0609030804020204" pitchFamily="49" charset="0"/>
              </a:rPr>
              <a:t>System.</a:t>
            </a:r>
            <a:r>
              <a:rPr lang="en" altLang="zh-CN" b="1" i="1" dirty="0" err="1">
                <a:solidFill>
                  <a:srgbClr val="0000C0"/>
                </a:solidFill>
                <a:effectLst/>
                <a:latin typeface="Menlo" panose="020B0609030804020204" pitchFamily="49" charset="0"/>
              </a:rPr>
              <a:t>out</a:t>
            </a:r>
            <a:r>
              <a:rPr lang="en" altLang="zh-CN" dirty="0" err="1">
                <a:effectLst/>
                <a:latin typeface="Menlo" panose="020B0609030804020204" pitchFamily="49" charset="0"/>
              </a:rPr>
              <a:t>.print</a:t>
            </a:r>
            <a:r>
              <a:rPr lang="en" altLang="zh-CN" dirty="0">
                <a:effectLst/>
                <a:latin typeface="Menlo" panose="020B0609030804020204" pitchFamily="49" charset="0"/>
              </a:rPr>
              <a:t>(</a:t>
            </a:r>
            <a:r>
              <a:rPr lang="en" altLang="zh-CN" dirty="0">
                <a:solidFill>
                  <a:srgbClr val="2A00FF"/>
                </a:solidFill>
                <a:effectLst/>
                <a:latin typeface="Menlo" panose="020B0609030804020204" pitchFamily="49" charset="0"/>
              </a:rPr>
              <a:t>"3"</a:t>
            </a:r>
            <a:r>
              <a:rPr lang="en" altLang="zh-CN" dirty="0">
                <a:effectLst/>
                <a:latin typeface="Menlo" panose="020B0609030804020204" pitchFamily="49" charset="0"/>
              </a:rPr>
              <a:t>);</a:t>
            </a:r>
          </a:p>
        </p:txBody>
      </p:sp>
      <p:sp>
        <p:nvSpPr>
          <p:cNvPr id="6" name="Rectangle 5">
            <a:extLst>
              <a:ext uri="{FF2B5EF4-FFF2-40B4-BE49-F238E27FC236}">
                <a16:creationId xmlns:a16="http://schemas.microsoft.com/office/drawing/2014/main" id="{A271A75C-F6BA-4115-3978-1931E0FDA6CD}"/>
              </a:ext>
            </a:extLst>
          </p:cNvPr>
          <p:cNvSpPr>
            <a:spLocks noChangeArrowheads="1"/>
          </p:cNvSpPr>
          <p:nvPr/>
        </p:nvSpPr>
        <p:spPr bwMode="auto">
          <a:xfrm>
            <a:off x="6084961" y="2009594"/>
            <a:ext cx="2303463" cy="172878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900">
              <a:solidFill>
                <a:srgbClr val="008000"/>
              </a:solidFill>
              <a:latin typeface="Lucida Console" panose="020B0609040504020204" pitchFamily="49" charset="0"/>
            </a:endParaRPr>
          </a:p>
        </p:txBody>
      </p:sp>
      <p:sp>
        <p:nvSpPr>
          <p:cNvPr id="7" name="文本框 6">
            <a:extLst>
              <a:ext uri="{FF2B5EF4-FFF2-40B4-BE49-F238E27FC236}">
                <a16:creationId xmlns:a16="http://schemas.microsoft.com/office/drawing/2014/main" id="{2392390E-6976-6D96-7E26-1029AE68F0C6}"/>
              </a:ext>
            </a:extLst>
          </p:cNvPr>
          <p:cNvSpPr txBox="1"/>
          <p:nvPr/>
        </p:nvSpPr>
        <p:spPr>
          <a:xfrm>
            <a:off x="6372200" y="2273293"/>
            <a:ext cx="1024595" cy="677108"/>
          </a:xfrm>
          <a:prstGeom prst="rect">
            <a:avLst/>
          </a:prstGeom>
          <a:noFill/>
        </p:spPr>
        <p:txBody>
          <a:bodyPr wrap="square" rtlCol="0">
            <a:spAutoFit/>
          </a:bodyPr>
          <a:lstStyle/>
          <a:p>
            <a:r>
              <a:rPr kumimoji="1" lang="zh-CN" altLang="en-US" dirty="0">
                <a:solidFill>
                  <a:schemeClr val="tx1"/>
                </a:solidFill>
              </a:rPr>
              <a:t>结果：</a:t>
            </a:r>
            <a:endParaRPr kumimoji="1" lang="en-US" altLang="zh-CN" dirty="0">
              <a:solidFill>
                <a:schemeClr val="tx1"/>
              </a:solidFill>
            </a:endParaRPr>
          </a:p>
          <a:p>
            <a:r>
              <a:rPr kumimoji="1" lang="en-US" altLang="zh-CN" dirty="0">
                <a:solidFill>
                  <a:schemeClr val="tx1"/>
                </a:solidFill>
              </a:rPr>
              <a:t>3</a:t>
            </a:r>
            <a:endParaRPr kumimoji="1" lang="zh-CN" altLang="en-US" dirty="0">
              <a:solidFill>
                <a:schemeClr val="tx1"/>
              </a:solidFill>
            </a:endParaRPr>
          </a:p>
        </p:txBody>
      </p:sp>
      <p:sp>
        <p:nvSpPr>
          <p:cNvPr id="3" name="文本框 2">
            <a:extLst>
              <a:ext uri="{FF2B5EF4-FFF2-40B4-BE49-F238E27FC236}">
                <a16:creationId xmlns:a16="http://schemas.microsoft.com/office/drawing/2014/main" id="{70210736-DAAE-787D-4EEB-0A0104CFA4B7}"/>
              </a:ext>
            </a:extLst>
          </p:cNvPr>
          <p:cNvSpPr txBox="1"/>
          <p:nvPr/>
        </p:nvSpPr>
        <p:spPr>
          <a:xfrm>
            <a:off x="755576" y="3892075"/>
            <a:ext cx="5616624" cy="2431435"/>
          </a:xfrm>
          <a:prstGeom prst="rect">
            <a:avLst/>
          </a:prstGeom>
          <a:noFill/>
        </p:spPr>
        <p:txBody>
          <a:bodyPr wrap="square">
            <a:spAutoFit/>
          </a:bodyPr>
          <a:lstStyle/>
          <a:p>
            <a:r>
              <a:rPr lang="en" altLang="zh-CN" dirty="0">
                <a:effectLst/>
                <a:latin typeface="Menlo" panose="020B0609030804020204" pitchFamily="49" charset="0"/>
              </a:rPr>
              <a:t>  </a:t>
            </a:r>
            <a:r>
              <a:rPr lang="en" altLang="zh-CN" b="1" dirty="0">
                <a:solidFill>
                  <a:srgbClr val="7F0055"/>
                </a:solidFill>
                <a:effectLst/>
                <a:latin typeface="Menlo" panose="020B0609030804020204" pitchFamily="49" charset="0"/>
              </a:rPr>
              <a:t> int</a:t>
            </a:r>
            <a:r>
              <a:rPr lang="en" altLang="zh-CN" dirty="0">
                <a:effectLst/>
                <a:latin typeface="Menlo" panose="020B0609030804020204" pitchFamily="49" charset="0"/>
              </a:rPr>
              <a:t> </a:t>
            </a:r>
            <a:r>
              <a:rPr lang="en" altLang="zh-CN" dirty="0" err="1">
                <a:solidFill>
                  <a:srgbClr val="6A3E3E"/>
                </a:solidFill>
                <a:effectLst/>
                <a:latin typeface="Menlo" panose="020B0609030804020204" pitchFamily="49" charset="0"/>
              </a:rPr>
              <a:t>i</a:t>
            </a:r>
            <a:r>
              <a:rPr lang="en" altLang="zh-CN" dirty="0">
                <a:effectLst/>
                <a:latin typeface="Menlo" panose="020B0609030804020204" pitchFamily="49" charset="0"/>
              </a:rPr>
              <a:t>=3;</a:t>
            </a:r>
          </a:p>
          <a:p>
            <a:r>
              <a:rPr lang="en" altLang="zh-CN" dirty="0">
                <a:effectLst/>
                <a:latin typeface="Menlo" panose="020B0609030804020204" pitchFamily="49" charset="0"/>
              </a:rPr>
              <a:t>   </a:t>
            </a:r>
            <a:r>
              <a:rPr lang="en" altLang="zh-CN" dirty="0" err="1">
                <a:effectLst/>
                <a:latin typeface="Menlo" panose="020B0609030804020204" pitchFamily="49" charset="0"/>
              </a:rPr>
              <a:t>System.</a:t>
            </a:r>
            <a:r>
              <a:rPr lang="en" altLang="zh-CN" b="1" i="1" dirty="0" err="1">
                <a:solidFill>
                  <a:srgbClr val="0000C0"/>
                </a:solidFill>
                <a:effectLst/>
                <a:latin typeface="Menlo" panose="020B0609030804020204" pitchFamily="49" charset="0"/>
              </a:rPr>
              <a:t>out</a:t>
            </a:r>
            <a:r>
              <a:rPr lang="en" altLang="zh-CN" dirty="0" err="1">
                <a:effectLst/>
                <a:latin typeface="Menlo" panose="020B0609030804020204" pitchFamily="49" charset="0"/>
              </a:rPr>
              <a:t>.println</a:t>
            </a:r>
            <a:r>
              <a:rPr lang="en" altLang="zh-CN" dirty="0">
                <a:effectLst/>
                <a:latin typeface="Menlo" panose="020B0609030804020204" pitchFamily="49" charset="0"/>
              </a:rPr>
              <a:t>(</a:t>
            </a:r>
            <a:r>
              <a:rPr lang="en" altLang="zh-CN" b="1" dirty="0">
                <a:solidFill>
                  <a:srgbClr val="7F0055"/>
                </a:solidFill>
                <a:effectLst/>
                <a:latin typeface="Menlo" panose="020B0609030804020204" pitchFamily="49" charset="0"/>
              </a:rPr>
              <a:t>switch</a:t>
            </a:r>
            <a:r>
              <a:rPr lang="en" altLang="zh-CN" dirty="0">
                <a:effectLst/>
                <a:latin typeface="Menlo" panose="020B0609030804020204" pitchFamily="49" charset="0"/>
              </a:rPr>
              <a:t>(</a:t>
            </a:r>
            <a:r>
              <a:rPr lang="en" altLang="zh-CN" dirty="0" err="1">
                <a:solidFill>
                  <a:srgbClr val="6A3E3E"/>
                </a:solidFill>
                <a:effectLst/>
                <a:latin typeface="Menlo" panose="020B0609030804020204" pitchFamily="49" charset="0"/>
              </a:rPr>
              <a:t>i</a:t>
            </a:r>
            <a:r>
              <a:rPr lang="en" altLang="zh-CN" dirty="0">
                <a:effectLst/>
                <a:latin typeface="Menlo" panose="020B0609030804020204" pitchFamily="49" charset="0"/>
              </a:rPr>
              <a:t>) {</a:t>
            </a:r>
          </a:p>
          <a:p>
            <a:r>
              <a:rPr lang="en" altLang="zh-CN" dirty="0">
                <a:effectLst/>
                <a:latin typeface="Menlo" panose="020B0609030804020204" pitchFamily="49" charset="0"/>
              </a:rPr>
              <a:t>     </a:t>
            </a:r>
            <a:r>
              <a:rPr lang="en" altLang="zh-CN" b="1" dirty="0">
                <a:solidFill>
                  <a:srgbClr val="7F0055"/>
                </a:solidFill>
                <a:effectLst/>
                <a:latin typeface="Menlo" panose="020B0609030804020204" pitchFamily="49" charset="0"/>
              </a:rPr>
              <a:t>case</a:t>
            </a:r>
            <a:r>
              <a:rPr lang="en" altLang="zh-CN" dirty="0">
                <a:effectLst/>
                <a:latin typeface="Menlo" panose="020B0609030804020204" pitchFamily="49" charset="0"/>
              </a:rPr>
              <a:t> 1-&gt; </a:t>
            </a:r>
            <a:r>
              <a:rPr lang="en" altLang="zh-CN" dirty="0">
                <a:solidFill>
                  <a:srgbClr val="2A00FF"/>
                </a:solidFill>
                <a:effectLst/>
                <a:latin typeface="Menlo" panose="020B0609030804020204" pitchFamily="49" charset="0"/>
              </a:rPr>
              <a:t>"great"</a:t>
            </a:r>
            <a:r>
              <a:rPr lang="en" altLang="zh-CN" dirty="0">
                <a:effectLst/>
                <a:latin typeface="Menlo" panose="020B0609030804020204" pitchFamily="49" charset="0"/>
              </a:rPr>
              <a:t> ;</a:t>
            </a:r>
          </a:p>
          <a:p>
            <a:r>
              <a:rPr lang="en" altLang="zh-CN" dirty="0">
                <a:effectLst/>
                <a:latin typeface="Menlo" panose="020B0609030804020204" pitchFamily="49" charset="0"/>
              </a:rPr>
              <a:t>     </a:t>
            </a:r>
            <a:r>
              <a:rPr lang="en" altLang="zh-CN" b="1" dirty="0">
                <a:solidFill>
                  <a:srgbClr val="7F0055"/>
                </a:solidFill>
                <a:effectLst/>
                <a:latin typeface="Menlo" panose="020B0609030804020204" pitchFamily="49" charset="0"/>
              </a:rPr>
              <a:t>case</a:t>
            </a:r>
            <a:r>
              <a:rPr lang="en" altLang="zh-CN" dirty="0">
                <a:effectLst/>
                <a:latin typeface="Menlo" panose="020B0609030804020204" pitchFamily="49" charset="0"/>
              </a:rPr>
              <a:t> 2-&gt; </a:t>
            </a:r>
            <a:r>
              <a:rPr lang="en" altLang="zh-CN" dirty="0">
                <a:solidFill>
                  <a:srgbClr val="2A00FF"/>
                </a:solidFill>
                <a:effectLst/>
                <a:latin typeface="Menlo" panose="020B0609030804020204" pitchFamily="49" charset="0"/>
              </a:rPr>
              <a:t>"good"</a:t>
            </a:r>
            <a:r>
              <a:rPr lang="en" altLang="zh-CN" dirty="0">
                <a:effectLst/>
                <a:latin typeface="Menlo" panose="020B0609030804020204" pitchFamily="49" charset="0"/>
              </a:rPr>
              <a:t>;</a:t>
            </a:r>
          </a:p>
          <a:p>
            <a:r>
              <a:rPr lang="en" altLang="zh-CN" dirty="0">
                <a:effectLst/>
                <a:latin typeface="Menlo" panose="020B0609030804020204" pitchFamily="49" charset="0"/>
              </a:rPr>
              <a:t>     </a:t>
            </a:r>
            <a:r>
              <a:rPr lang="en" altLang="zh-CN" b="1" dirty="0">
                <a:solidFill>
                  <a:srgbClr val="7F0055"/>
                </a:solidFill>
                <a:effectLst/>
                <a:latin typeface="Menlo" panose="020B0609030804020204" pitchFamily="49" charset="0"/>
              </a:rPr>
              <a:t>case</a:t>
            </a:r>
            <a:r>
              <a:rPr lang="en" altLang="zh-CN" dirty="0">
                <a:effectLst/>
                <a:latin typeface="Menlo" panose="020B0609030804020204" pitchFamily="49" charset="0"/>
              </a:rPr>
              <a:t> 3-&gt; </a:t>
            </a:r>
            <a:r>
              <a:rPr lang="en" altLang="zh-CN" dirty="0">
                <a:solidFill>
                  <a:srgbClr val="2A00FF"/>
                </a:solidFill>
                <a:effectLst/>
                <a:latin typeface="Menlo" panose="020B0609030804020204" pitchFamily="49" charset="0"/>
              </a:rPr>
              <a:t>"not bad"</a:t>
            </a:r>
            <a:r>
              <a:rPr lang="en" altLang="zh-CN" dirty="0">
                <a:effectLst/>
                <a:latin typeface="Menlo" panose="020B0609030804020204" pitchFamily="49" charset="0"/>
              </a:rPr>
              <a:t>;</a:t>
            </a:r>
          </a:p>
          <a:p>
            <a:r>
              <a:rPr lang="zh-CN" altLang="en-US" b="1" dirty="0">
                <a:solidFill>
                  <a:srgbClr val="7F0055"/>
                </a:solidFill>
                <a:effectLst/>
                <a:latin typeface="Menlo" panose="020B0609030804020204" pitchFamily="49" charset="0"/>
              </a:rPr>
              <a:t>     </a:t>
            </a:r>
            <a:r>
              <a:rPr lang="en" altLang="zh-CN" b="1" dirty="0">
                <a:solidFill>
                  <a:srgbClr val="7F0055"/>
                </a:solidFill>
                <a:effectLst/>
                <a:latin typeface="Menlo" panose="020B0609030804020204" pitchFamily="49" charset="0"/>
              </a:rPr>
              <a:t>default</a:t>
            </a:r>
            <a:r>
              <a:rPr lang="en" altLang="zh-CN" dirty="0">
                <a:effectLst/>
                <a:latin typeface="Menlo" panose="020B0609030804020204" pitchFamily="49" charset="0"/>
              </a:rPr>
              <a:t> -&gt; </a:t>
            </a:r>
            <a:r>
              <a:rPr lang="en" altLang="zh-CN" dirty="0">
                <a:solidFill>
                  <a:srgbClr val="2A00FF"/>
                </a:solidFill>
                <a:effectLst/>
                <a:latin typeface="Menlo" panose="020B0609030804020204" pitchFamily="49" charset="0"/>
              </a:rPr>
              <a:t>“ ”</a:t>
            </a:r>
            <a:r>
              <a:rPr lang="en" altLang="zh-CN" dirty="0">
                <a:effectLst/>
                <a:latin typeface="Menlo" panose="020B0609030804020204" pitchFamily="49" charset="0"/>
              </a:rPr>
              <a:t>;}</a:t>
            </a:r>
            <a:r>
              <a:rPr lang="en-US" altLang="zh-CN" dirty="0">
                <a:effectLst/>
                <a:latin typeface="Menlo" panose="020B0609030804020204" pitchFamily="49" charset="0"/>
              </a:rPr>
              <a:t>//</a:t>
            </a:r>
            <a:r>
              <a:rPr lang="zh-CN" altLang="en-US">
                <a:effectLst/>
                <a:latin typeface="Menlo" panose="020B0609030804020204" pitchFamily="49" charset="0"/>
              </a:rPr>
              <a:t>不能省略</a:t>
            </a:r>
            <a:endParaRPr lang="en" altLang="zh-CN" dirty="0">
              <a:effectLst/>
              <a:latin typeface="Menlo" panose="020B0609030804020204" pitchFamily="49" charset="0"/>
            </a:endParaRPr>
          </a:p>
          <a:p>
            <a:r>
              <a:rPr lang="en" altLang="zh-CN" dirty="0">
                <a:effectLst/>
                <a:latin typeface="Menlo" panose="020B0609030804020204" pitchFamily="49" charset="0"/>
              </a:rPr>
              <a:t>     );</a:t>
            </a:r>
          </a:p>
          <a:p>
            <a:r>
              <a:rPr lang="en" altLang="zh-CN" dirty="0">
                <a:effectLst/>
                <a:latin typeface="Menlo" panose="020B0609030804020204" pitchFamily="49" charset="0"/>
              </a:rPr>
              <a:t>   </a:t>
            </a:r>
          </a:p>
        </p:txBody>
      </p:sp>
      <p:sp>
        <p:nvSpPr>
          <p:cNvPr id="4" name="Rectangle 5">
            <a:extLst>
              <a:ext uri="{FF2B5EF4-FFF2-40B4-BE49-F238E27FC236}">
                <a16:creationId xmlns:a16="http://schemas.microsoft.com/office/drawing/2014/main" id="{54229F78-8139-723A-2124-528413A38D97}"/>
              </a:ext>
            </a:extLst>
          </p:cNvPr>
          <p:cNvSpPr>
            <a:spLocks noChangeArrowheads="1"/>
          </p:cNvSpPr>
          <p:nvPr/>
        </p:nvSpPr>
        <p:spPr bwMode="auto">
          <a:xfrm>
            <a:off x="6084961" y="4292877"/>
            <a:ext cx="2303463" cy="172878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900">
              <a:solidFill>
                <a:srgbClr val="008000"/>
              </a:solidFill>
              <a:latin typeface="Lucida Console" panose="020B0609040504020204" pitchFamily="49" charset="0"/>
            </a:endParaRPr>
          </a:p>
        </p:txBody>
      </p:sp>
      <p:sp>
        <p:nvSpPr>
          <p:cNvPr id="8" name="文本框 7">
            <a:extLst>
              <a:ext uri="{FF2B5EF4-FFF2-40B4-BE49-F238E27FC236}">
                <a16:creationId xmlns:a16="http://schemas.microsoft.com/office/drawing/2014/main" id="{C461BDF5-FE23-70AD-1974-65A6B8044558}"/>
              </a:ext>
            </a:extLst>
          </p:cNvPr>
          <p:cNvSpPr txBox="1"/>
          <p:nvPr/>
        </p:nvSpPr>
        <p:spPr>
          <a:xfrm>
            <a:off x="6372200" y="4556576"/>
            <a:ext cx="1656184" cy="677108"/>
          </a:xfrm>
          <a:prstGeom prst="rect">
            <a:avLst/>
          </a:prstGeom>
          <a:noFill/>
        </p:spPr>
        <p:txBody>
          <a:bodyPr wrap="square" rtlCol="0">
            <a:spAutoFit/>
          </a:bodyPr>
          <a:lstStyle/>
          <a:p>
            <a:r>
              <a:rPr kumimoji="1" lang="zh-CN" altLang="en-US" dirty="0">
                <a:solidFill>
                  <a:schemeClr val="tx1"/>
                </a:solidFill>
              </a:rPr>
              <a:t>结果：</a:t>
            </a:r>
            <a:endParaRPr kumimoji="1" lang="en-US" altLang="zh-CN" dirty="0">
              <a:solidFill>
                <a:schemeClr val="tx1"/>
              </a:solidFill>
            </a:endParaRPr>
          </a:p>
          <a:p>
            <a:r>
              <a:rPr kumimoji="1" lang="en-US" altLang="zh-CN" dirty="0">
                <a:solidFill>
                  <a:schemeClr val="tx1"/>
                </a:solidFill>
              </a:rPr>
              <a:t>not bad</a:t>
            </a:r>
            <a:endParaRPr kumimoji="1" lang="zh-CN" altLang="en-US" dirty="0">
              <a:solidFill>
                <a:schemeClr val="tx1"/>
              </a:solidFill>
            </a:endParaRPr>
          </a:p>
        </p:txBody>
      </p:sp>
    </p:spTree>
    <p:extLst>
      <p:ext uri="{BB962C8B-B14F-4D97-AF65-F5344CB8AC3E}">
        <p14:creationId xmlns:p14="http://schemas.microsoft.com/office/powerpoint/2010/main" val="2306203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1+#ppt_w/2"/>
                                          </p:val>
                                        </p:tav>
                                        <p:tav tm="100000">
                                          <p:val>
                                            <p:strVal val="#ppt_x"/>
                                          </p:val>
                                        </p:tav>
                                      </p:tavLst>
                                    </p:anim>
                                    <p:anim calcmode="lin" valueType="num">
                                      <p:cBhvr additive="base">
                                        <p:cTn id="14"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00B8B6B7-DD23-4CEC-B5AF-3FC3E8A76421}"/>
              </a:ext>
            </a:extLst>
          </p:cNvPr>
          <p:cNvSpPr>
            <a:spLocks noGrp="1" noChangeArrowheads="1"/>
          </p:cNvSpPr>
          <p:nvPr>
            <p:ph type="title"/>
          </p:nvPr>
        </p:nvSpPr>
        <p:spPr/>
        <p:txBody>
          <a:bodyPr/>
          <a:lstStyle/>
          <a:p>
            <a:pPr eaLnBrk="1" hangingPunct="1"/>
            <a:r>
              <a:rPr lang="zh-CN" altLang="en-US" sz="3600" b="1" baseline="0">
                <a:solidFill>
                  <a:srgbClr val="FF0066"/>
                </a:solidFill>
                <a:latin typeface="Times New Roman" panose="02020603050405020304" pitchFamily="18" charset="0"/>
                <a:ea typeface="楷体-简" panose="02010600040101010101" pitchFamily="2" charset="-122"/>
              </a:rPr>
              <a:t>循环语句</a:t>
            </a:r>
            <a:endParaRPr lang="zh-CN" altLang="en-US" sz="3600" baseline="0">
              <a:solidFill>
                <a:srgbClr val="FF0066"/>
              </a:solidFill>
              <a:latin typeface="Times New Roman" panose="02020603050405020304" pitchFamily="18" charset="0"/>
              <a:ea typeface="楷体-简" panose="02010600040101010101" pitchFamily="2" charset="-122"/>
            </a:endParaRPr>
          </a:p>
        </p:txBody>
      </p:sp>
      <p:sp>
        <p:nvSpPr>
          <p:cNvPr id="68611" name="Rectangle 3">
            <a:extLst>
              <a:ext uri="{FF2B5EF4-FFF2-40B4-BE49-F238E27FC236}">
                <a16:creationId xmlns:a16="http://schemas.microsoft.com/office/drawing/2014/main" id="{39E9EC36-BF22-492D-827A-DB92A2DA2B35}"/>
              </a:ext>
            </a:extLst>
          </p:cNvPr>
          <p:cNvSpPr>
            <a:spLocks noGrp="1" noChangeArrowheads="1"/>
          </p:cNvSpPr>
          <p:nvPr>
            <p:ph type="body" idx="1"/>
          </p:nvPr>
        </p:nvSpPr>
        <p:spPr/>
        <p:txBody>
          <a:bodyPr/>
          <a:lstStyle/>
          <a:p>
            <a:pPr eaLnBrk="1" hangingPunct="1">
              <a:buFont typeface="Wingdings" panose="05000000000000000000" pitchFamily="2" charset="2"/>
              <a:buChar char="Ø"/>
            </a:pPr>
            <a:r>
              <a:rPr lang="zh-CN" altLang="en-US" sz="2400" b="1" baseline="0" dirty="0">
                <a:latin typeface="Times New Roman" panose="02020603050405020304" pitchFamily="18" charset="0"/>
                <a:ea typeface="楷体-简" panose="02010600040101010101" pitchFamily="2" charset="-122"/>
              </a:rPr>
              <a:t>循环语句的作用是反复执行一段代码，直到满足终止循环的条件为止。</a:t>
            </a:r>
            <a:r>
              <a:rPr lang="en-US" altLang="zh-CN" sz="2400" b="1" baseline="0" dirty="0">
                <a:latin typeface="Times New Roman" panose="02020603050405020304" pitchFamily="18" charset="0"/>
                <a:ea typeface="楷体-简" panose="02010600040101010101" pitchFamily="2" charset="-122"/>
              </a:rPr>
              <a:t>Java</a:t>
            </a:r>
            <a:r>
              <a:rPr lang="zh-CN" altLang="en-US" sz="2400" b="1" baseline="0" dirty="0">
                <a:latin typeface="Times New Roman" panose="02020603050405020304" pitchFamily="18" charset="0"/>
                <a:ea typeface="楷体-简" panose="02010600040101010101" pitchFamily="2" charset="-122"/>
              </a:rPr>
              <a:t>语言中提供的循环语句有：</a:t>
            </a:r>
            <a:br>
              <a:rPr lang="zh-CN" altLang="en-US" sz="2400" b="1" baseline="0" dirty="0">
                <a:latin typeface="Times New Roman" panose="02020603050405020304" pitchFamily="18" charset="0"/>
                <a:ea typeface="楷体-简" panose="02010600040101010101" pitchFamily="2" charset="-122"/>
              </a:rPr>
            </a:br>
            <a:endParaRPr lang="zh-CN" altLang="en-US" sz="2400" b="1" baseline="0" dirty="0">
              <a:latin typeface="Times New Roman" panose="02020603050405020304" pitchFamily="18" charset="0"/>
              <a:ea typeface="楷体-简" panose="02010600040101010101" pitchFamily="2" charset="-122"/>
            </a:endParaRPr>
          </a:p>
          <a:p>
            <a:pPr eaLnBrk="1" hangingPunct="1">
              <a:buFontTx/>
              <a:buNone/>
            </a:pPr>
            <a:r>
              <a:rPr lang="zh-CN" altLang="en-US" sz="2400" b="1" baseline="0" dirty="0">
                <a:latin typeface="Times New Roman" panose="02020603050405020304" pitchFamily="18" charset="0"/>
                <a:ea typeface="楷体-简" panose="02010600040101010101" pitchFamily="2" charset="-122"/>
              </a:rPr>
              <a:t>    　　　◇ </a:t>
            </a:r>
            <a:r>
              <a:rPr lang="en-US" altLang="zh-CN" sz="2400" b="1" baseline="0" dirty="0">
                <a:latin typeface="Times New Roman" panose="02020603050405020304" pitchFamily="18" charset="0"/>
                <a:ea typeface="楷体-简" panose="02010600040101010101" pitchFamily="2" charset="-122"/>
              </a:rPr>
              <a:t>while</a:t>
            </a:r>
            <a:r>
              <a:rPr lang="zh-CN" altLang="en-US" sz="2400" b="1" baseline="0" dirty="0">
                <a:latin typeface="Times New Roman" panose="02020603050405020304" pitchFamily="18" charset="0"/>
                <a:ea typeface="楷体-简" panose="02010600040101010101" pitchFamily="2" charset="-122"/>
              </a:rPr>
              <a:t>语句</a:t>
            </a:r>
            <a:br>
              <a:rPr lang="zh-CN" altLang="en-US" sz="2400" b="1" baseline="0" dirty="0">
                <a:latin typeface="Times New Roman" panose="02020603050405020304" pitchFamily="18" charset="0"/>
                <a:ea typeface="楷体-简" panose="02010600040101010101" pitchFamily="2" charset="-122"/>
              </a:rPr>
            </a:br>
            <a:r>
              <a:rPr lang="zh-CN" altLang="en-US" sz="2400" b="1" baseline="0" dirty="0">
                <a:latin typeface="Times New Roman" panose="02020603050405020304" pitchFamily="18" charset="0"/>
                <a:ea typeface="楷体-简" panose="02010600040101010101" pitchFamily="2" charset="-122"/>
              </a:rPr>
              <a:t>　　　◇ </a:t>
            </a:r>
            <a:r>
              <a:rPr lang="en-US" altLang="zh-CN" sz="2400" b="1" baseline="0" dirty="0">
                <a:latin typeface="Times New Roman" panose="02020603050405020304" pitchFamily="18" charset="0"/>
                <a:ea typeface="楷体-简" panose="02010600040101010101" pitchFamily="2" charset="-122"/>
              </a:rPr>
              <a:t>do-while</a:t>
            </a:r>
            <a:r>
              <a:rPr lang="zh-CN" altLang="en-US" sz="2400" b="1" baseline="0" dirty="0">
                <a:latin typeface="Times New Roman" panose="02020603050405020304" pitchFamily="18" charset="0"/>
                <a:ea typeface="楷体-简" panose="02010600040101010101" pitchFamily="2" charset="-122"/>
              </a:rPr>
              <a:t>语句</a:t>
            </a:r>
            <a:br>
              <a:rPr lang="zh-CN" altLang="en-US" sz="2400" b="1" baseline="0" dirty="0">
                <a:latin typeface="Times New Roman" panose="02020603050405020304" pitchFamily="18" charset="0"/>
                <a:ea typeface="楷体-简" panose="02010600040101010101" pitchFamily="2" charset="-122"/>
              </a:rPr>
            </a:br>
            <a:r>
              <a:rPr lang="zh-CN" altLang="en-US" sz="2400" b="1" baseline="0" dirty="0">
                <a:latin typeface="Times New Roman" panose="02020603050405020304" pitchFamily="18" charset="0"/>
                <a:ea typeface="楷体-简" panose="02010600040101010101" pitchFamily="2" charset="-122"/>
              </a:rPr>
              <a:t>　　　◇ </a:t>
            </a:r>
            <a:r>
              <a:rPr lang="en-US" altLang="zh-CN" sz="2400" b="1" baseline="0" dirty="0">
                <a:latin typeface="Times New Roman" panose="02020603050405020304" pitchFamily="18" charset="0"/>
                <a:ea typeface="楷体-简" panose="02010600040101010101" pitchFamily="2" charset="-122"/>
              </a:rPr>
              <a:t>for</a:t>
            </a:r>
            <a:r>
              <a:rPr lang="zh-CN" altLang="en-US" sz="2400" b="1" baseline="0" dirty="0">
                <a:latin typeface="Times New Roman" panose="02020603050405020304" pitchFamily="18" charset="0"/>
                <a:ea typeface="楷体-简" panose="02010600040101010101" pitchFamily="2" charset="-122"/>
              </a:rPr>
              <a:t>语句</a:t>
            </a:r>
            <a:br>
              <a:rPr lang="zh-CN" altLang="en-US" sz="2400" b="1" baseline="0" dirty="0">
                <a:latin typeface="Times New Roman" panose="02020603050405020304" pitchFamily="18" charset="0"/>
                <a:ea typeface="楷体-简" panose="02010600040101010101" pitchFamily="2" charset="-122"/>
              </a:rPr>
            </a:br>
            <a:endParaRPr lang="zh-CN" altLang="en-US" sz="2400" b="1" baseline="0" dirty="0">
              <a:latin typeface="Times New Roman" panose="02020603050405020304" pitchFamily="18" charset="0"/>
              <a:ea typeface="楷体-简" panose="02010600040101010101" pitchFamily="2"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3">
            <a:extLst>
              <a:ext uri="{FF2B5EF4-FFF2-40B4-BE49-F238E27FC236}">
                <a16:creationId xmlns:a16="http://schemas.microsoft.com/office/drawing/2014/main" id="{FDCFD68D-9498-429E-A90A-32DE0768E8FE}"/>
              </a:ext>
            </a:extLst>
          </p:cNvPr>
          <p:cNvSpPr>
            <a:spLocks noGrp="1" noChangeArrowheads="1"/>
          </p:cNvSpPr>
          <p:nvPr>
            <p:ph type="body" sz="half" idx="1"/>
          </p:nvPr>
        </p:nvSpPr>
        <p:spPr>
          <a:xfrm>
            <a:off x="755650" y="333375"/>
            <a:ext cx="5113338" cy="5040313"/>
          </a:xfrm>
        </p:spPr>
        <p:txBody>
          <a:bodyPr/>
          <a:lstStyle/>
          <a:p>
            <a:pPr eaLnBrk="1" hangingPunct="1">
              <a:buFontTx/>
              <a:buNone/>
            </a:pPr>
            <a:r>
              <a:rPr lang="en-US" altLang="zh-CN" sz="2800" b="1" baseline="0">
                <a:solidFill>
                  <a:srgbClr val="FF0066"/>
                </a:solidFill>
                <a:latin typeface="Times New Roman" panose="02020603050405020304" pitchFamily="18" charset="0"/>
                <a:ea typeface="楷体-简" panose="02010600040101010101" pitchFamily="2" charset="-122"/>
              </a:rPr>
              <a:t>1: while</a:t>
            </a:r>
            <a:r>
              <a:rPr lang="zh-CN" altLang="en-US" sz="2800" baseline="0">
                <a:solidFill>
                  <a:srgbClr val="FF0066"/>
                </a:solidFill>
                <a:latin typeface="Times New Roman" panose="02020603050405020304" pitchFamily="18" charset="0"/>
                <a:ea typeface="楷体-简" panose="02010600040101010101" pitchFamily="2" charset="-122"/>
              </a:rPr>
              <a:t>循环</a:t>
            </a:r>
            <a:r>
              <a:rPr lang="zh-CN" altLang="en-US" sz="2800" b="1" baseline="0">
                <a:solidFill>
                  <a:srgbClr val="FF0066"/>
                </a:solidFill>
                <a:latin typeface="Times New Roman" panose="02020603050405020304" pitchFamily="18" charset="0"/>
                <a:ea typeface="楷体-简" panose="02010600040101010101" pitchFamily="2" charset="-122"/>
              </a:rPr>
              <a:t>语句</a:t>
            </a:r>
            <a:endParaRPr lang="zh-CN" altLang="en-US" sz="3600" baseline="0">
              <a:latin typeface="Times New Roman" panose="02020603050405020304" pitchFamily="18" charset="0"/>
              <a:ea typeface="楷体-简" panose="02010600040101010101" pitchFamily="2" charset="-122"/>
            </a:endParaRPr>
          </a:p>
          <a:p>
            <a:pPr eaLnBrk="1" hangingPunct="1">
              <a:buFontTx/>
              <a:buNone/>
            </a:pPr>
            <a:r>
              <a:rPr lang="en-US" altLang="zh-CN" sz="2800" baseline="0">
                <a:latin typeface="Times New Roman" panose="02020603050405020304" pitchFamily="18" charset="0"/>
                <a:ea typeface="楷体-简" panose="02010600040101010101" pitchFamily="2" charset="-122"/>
              </a:rPr>
              <a:t>while (</a:t>
            </a:r>
            <a:r>
              <a:rPr lang="zh-CN" altLang="en-US" sz="2800" baseline="0">
                <a:latin typeface="Times New Roman" panose="02020603050405020304" pitchFamily="18" charset="0"/>
                <a:ea typeface="楷体-简" panose="02010600040101010101" pitchFamily="2" charset="-122"/>
              </a:rPr>
              <a:t>表达式</a:t>
            </a:r>
            <a:r>
              <a:rPr lang="en-US" altLang="zh-CN" sz="2800" baseline="0">
                <a:latin typeface="Times New Roman" panose="02020603050405020304" pitchFamily="18" charset="0"/>
                <a:ea typeface="楷体-简" panose="02010600040101010101" pitchFamily="2" charset="-122"/>
              </a:rPr>
              <a:t>) </a:t>
            </a:r>
            <a:r>
              <a:rPr lang="zh-CN" altLang="en-US" sz="2800" baseline="0">
                <a:latin typeface="Times New Roman" panose="02020603050405020304" pitchFamily="18" charset="0"/>
                <a:ea typeface="楷体-简" panose="02010600040101010101" pitchFamily="2" charset="-122"/>
              </a:rPr>
              <a:t>语句</a:t>
            </a:r>
          </a:p>
          <a:p>
            <a:pPr eaLnBrk="1" hangingPunct="1">
              <a:buFontTx/>
              <a:buNone/>
            </a:pPr>
            <a:r>
              <a:rPr lang="en-US" altLang="zh-CN" sz="2800" baseline="0">
                <a:latin typeface="Times New Roman" panose="02020603050405020304" pitchFamily="18" charset="0"/>
                <a:ea typeface="楷体-简" panose="02010600040101010101" pitchFamily="2" charset="-122"/>
              </a:rPr>
              <a:t>int x=1;</a:t>
            </a:r>
          </a:p>
          <a:p>
            <a:pPr eaLnBrk="1" hangingPunct="1">
              <a:buFontTx/>
              <a:buNone/>
            </a:pPr>
            <a:r>
              <a:rPr lang="en-US" altLang="zh-CN" sz="2800" baseline="0">
                <a:solidFill>
                  <a:srgbClr val="0000CC"/>
                </a:solidFill>
                <a:latin typeface="Times New Roman" panose="02020603050405020304" pitchFamily="18" charset="0"/>
                <a:ea typeface="楷体-简" panose="02010600040101010101" pitchFamily="2" charset="-122"/>
              </a:rPr>
              <a:t>while </a:t>
            </a:r>
            <a:r>
              <a:rPr lang="en-US" altLang="zh-CN" sz="2800" baseline="0">
                <a:latin typeface="Times New Roman" panose="02020603050405020304" pitchFamily="18" charset="0"/>
                <a:ea typeface="楷体-简" panose="02010600040101010101" pitchFamily="2" charset="-122"/>
              </a:rPr>
              <a:t>(x&lt;3)</a:t>
            </a:r>
          </a:p>
          <a:p>
            <a:pPr eaLnBrk="1" hangingPunct="1">
              <a:buFontTx/>
              <a:buNone/>
            </a:pPr>
            <a:r>
              <a:rPr lang="en-US" altLang="zh-CN" sz="2800" baseline="0">
                <a:latin typeface="Times New Roman" panose="02020603050405020304" pitchFamily="18" charset="0"/>
                <a:ea typeface="楷体-简" panose="02010600040101010101" pitchFamily="2" charset="-122"/>
              </a:rPr>
              <a:t>{</a:t>
            </a:r>
          </a:p>
          <a:p>
            <a:pPr eaLnBrk="1" hangingPunct="1">
              <a:buFontTx/>
              <a:buNone/>
            </a:pPr>
            <a:r>
              <a:rPr lang="en-US" altLang="zh-CN" sz="2800" baseline="0">
                <a:latin typeface="Times New Roman" panose="02020603050405020304" pitchFamily="18" charset="0"/>
                <a:ea typeface="楷体-简" panose="02010600040101010101" pitchFamily="2" charset="-122"/>
              </a:rPr>
              <a:t>   </a:t>
            </a:r>
            <a:r>
              <a:rPr lang="en-US" altLang="zh-CN" sz="2800" baseline="0">
                <a:solidFill>
                  <a:srgbClr val="FF0066"/>
                </a:solidFill>
                <a:latin typeface="Times New Roman" panose="02020603050405020304" pitchFamily="18" charset="0"/>
                <a:ea typeface="楷体-简" panose="02010600040101010101" pitchFamily="2" charset="-122"/>
              </a:rPr>
              <a:t>System</a:t>
            </a:r>
            <a:r>
              <a:rPr lang="en-US" altLang="zh-CN" sz="2800" baseline="0">
                <a:latin typeface="Times New Roman" panose="02020603050405020304" pitchFamily="18" charset="0"/>
                <a:ea typeface="楷体-简" panose="02010600040101010101" pitchFamily="2" charset="-122"/>
              </a:rPr>
              <a:t>.out.println("x="+x); </a:t>
            </a:r>
          </a:p>
          <a:p>
            <a:pPr eaLnBrk="1" hangingPunct="1">
              <a:buFontTx/>
              <a:buNone/>
            </a:pPr>
            <a:r>
              <a:rPr lang="en-US" altLang="zh-CN" sz="2800" baseline="0">
                <a:latin typeface="Times New Roman" panose="02020603050405020304" pitchFamily="18" charset="0"/>
                <a:ea typeface="楷体-简" panose="02010600040101010101" pitchFamily="2" charset="-122"/>
              </a:rPr>
              <a:t>   x++; </a:t>
            </a:r>
          </a:p>
          <a:p>
            <a:pPr eaLnBrk="1" hangingPunct="1">
              <a:buFontTx/>
              <a:buNone/>
            </a:pPr>
            <a:r>
              <a:rPr lang="en-US" altLang="zh-CN" sz="2800" baseline="0">
                <a:latin typeface="Times New Roman" panose="02020603050405020304" pitchFamily="18" charset="0"/>
                <a:ea typeface="楷体-简" panose="02010600040101010101" pitchFamily="2" charset="-122"/>
              </a:rPr>
              <a:t>}</a:t>
            </a:r>
          </a:p>
        </p:txBody>
      </p:sp>
      <p:pic>
        <p:nvPicPr>
          <p:cNvPr id="69635" name="Picture 4" descr="循环控制图1">
            <a:extLst>
              <a:ext uri="{FF2B5EF4-FFF2-40B4-BE49-F238E27FC236}">
                <a16:creationId xmlns:a16="http://schemas.microsoft.com/office/drawing/2014/main" id="{29156CB6-E849-4A41-8CFA-5771F4CF0C33}"/>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5489575" y="1608138"/>
            <a:ext cx="3043238" cy="34051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36" name="AutoShape 7">
            <a:extLst>
              <a:ext uri="{FF2B5EF4-FFF2-40B4-BE49-F238E27FC236}">
                <a16:creationId xmlns:a16="http://schemas.microsoft.com/office/drawing/2014/main" id="{CCFFA76A-9C94-466C-8C3D-5F9141670841}"/>
              </a:ext>
            </a:extLst>
          </p:cNvPr>
          <p:cNvSpPr>
            <a:spLocks noChangeArrowheads="1"/>
          </p:cNvSpPr>
          <p:nvPr/>
        </p:nvSpPr>
        <p:spPr bwMode="auto">
          <a:xfrm>
            <a:off x="2195513" y="3933825"/>
            <a:ext cx="2808287" cy="609600"/>
          </a:xfrm>
          <a:prstGeom prst="wedgeRectCallout">
            <a:avLst>
              <a:gd name="adj1" fmla="val -87366"/>
              <a:gd name="adj2" fmla="val 4690"/>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800">
                <a:solidFill>
                  <a:srgbClr val="0000CC"/>
                </a:solidFill>
              </a:rPr>
              <a:t>这里没有分号！</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AE3B183C-A21A-4BB0-BF06-A970193E61FD}"/>
              </a:ext>
            </a:extLst>
          </p:cNvPr>
          <p:cNvSpPr>
            <a:spLocks noGrp="1" noChangeArrowheads="1"/>
          </p:cNvSpPr>
          <p:nvPr>
            <p:ph type="body" idx="1"/>
          </p:nvPr>
        </p:nvSpPr>
        <p:spPr>
          <a:xfrm>
            <a:off x="323850" y="547688"/>
            <a:ext cx="8569325" cy="5184775"/>
          </a:xfrm>
        </p:spPr>
        <p:txBody>
          <a:bodyPr/>
          <a:lstStyle/>
          <a:p>
            <a:pPr eaLnBrk="1" hangingPunct="1">
              <a:lnSpc>
                <a:spcPct val="70000"/>
              </a:lnSpc>
              <a:buFontTx/>
              <a:buNone/>
            </a:pPr>
            <a:r>
              <a:rPr lang="en-US" altLang="zh-CN" sz="2800" b="1" baseline="0">
                <a:solidFill>
                  <a:srgbClr val="FF0066"/>
                </a:solidFill>
                <a:latin typeface="Times New Roman" panose="02020603050405020304" pitchFamily="18" charset="0"/>
                <a:ea typeface="楷体-简" panose="02010600040101010101" pitchFamily="2" charset="-122"/>
              </a:rPr>
              <a:t>2: do-while</a:t>
            </a:r>
            <a:r>
              <a:rPr lang="zh-CN" altLang="en-US" sz="2800" baseline="0">
                <a:solidFill>
                  <a:srgbClr val="FF0066"/>
                </a:solidFill>
                <a:latin typeface="Times New Roman" panose="02020603050405020304" pitchFamily="18" charset="0"/>
                <a:ea typeface="楷体-简" panose="02010600040101010101" pitchFamily="2" charset="-122"/>
              </a:rPr>
              <a:t>循环</a:t>
            </a:r>
            <a:r>
              <a:rPr lang="zh-CN" altLang="en-US" sz="2800" b="1" baseline="0">
                <a:solidFill>
                  <a:srgbClr val="FF0066"/>
                </a:solidFill>
                <a:latin typeface="Times New Roman" panose="02020603050405020304" pitchFamily="18" charset="0"/>
                <a:ea typeface="楷体-简" panose="02010600040101010101" pitchFamily="2" charset="-122"/>
              </a:rPr>
              <a:t>语句</a:t>
            </a:r>
            <a:endParaRPr lang="zh-CN" altLang="en-US" sz="4000" b="1" baseline="0">
              <a:latin typeface="Times New Roman" panose="02020603050405020304" pitchFamily="18" charset="0"/>
              <a:ea typeface="楷体-简" panose="02010600040101010101" pitchFamily="2" charset="-122"/>
            </a:endParaRPr>
          </a:p>
          <a:p>
            <a:pPr eaLnBrk="1" hangingPunct="1">
              <a:lnSpc>
                <a:spcPct val="70000"/>
              </a:lnSpc>
              <a:buFontTx/>
              <a:buNone/>
            </a:pPr>
            <a:r>
              <a:rPr lang="en-US" altLang="zh-CN" sz="2400" b="1" baseline="0">
                <a:latin typeface="Times New Roman" panose="02020603050405020304" pitchFamily="18" charset="0"/>
                <a:ea typeface="楷体-简" panose="02010600040101010101" pitchFamily="2" charset="-122"/>
              </a:rPr>
              <a:t>do  </a:t>
            </a:r>
            <a:r>
              <a:rPr lang="zh-CN" altLang="en-US" sz="2400" b="1" baseline="0">
                <a:latin typeface="Times New Roman" panose="02020603050405020304" pitchFamily="18" charset="0"/>
                <a:ea typeface="楷体-简" panose="02010600040101010101" pitchFamily="2" charset="-122"/>
              </a:rPr>
              <a:t>语句</a:t>
            </a:r>
          </a:p>
          <a:p>
            <a:pPr eaLnBrk="1" hangingPunct="1">
              <a:lnSpc>
                <a:spcPct val="70000"/>
              </a:lnSpc>
              <a:buFontTx/>
              <a:buNone/>
            </a:pPr>
            <a:r>
              <a:rPr lang="en-US" altLang="zh-CN" sz="2400" b="1" baseline="0">
                <a:latin typeface="Times New Roman" panose="02020603050405020304" pitchFamily="18" charset="0"/>
                <a:ea typeface="楷体-简" panose="02010600040101010101" pitchFamily="2" charset="-122"/>
              </a:rPr>
              <a:t>while (</a:t>
            </a:r>
            <a:r>
              <a:rPr lang="zh-CN" altLang="en-US" sz="2400" b="1" baseline="0">
                <a:latin typeface="Times New Roman" panose="02020603050405020304" pitchFamily="18" charset="0"/>
                <a:ea typeface="楷体-简" panose="02010600040101010101" pitchFamily="2" charset="-122"/>
              </a:rPr>
              <a:t>表达式</a:t>
            </a:r>
            <a:r>
              <a:rPr lang="en-US" altLang="zh-CN" sz="2400" b="1" baseline="0">
                <a:latin typeface="Times New Roman" panose="02020603050405020304" pitchFamily="18" charset="0"/>
                <a:ea typeface="楷体-简" panose="02010600040101010101" pitchFamily="2" charset="-122"/>
              </a:rPr>
              <a:t>);</a:t>
            </a:r>
            <a:endParaRPr lang="en-US" altLang="zh-CN" sz="2800" b="1" baseline="0">
              <a:latin typeface="Times New Roman" panose="02020603050405020304" pitchFamily="18" charset="0"/>
              <a:ea typeface="楷体-简" panose="02010600040101010101" pitchFamily="2" charset="-122"/>
            </a:endParaRPr>
          </a:p>
          <a:p>
            <a:pPr eaLnBrk="1" hangingPunct="1">
              <a:lnSpc>
                <a:spcPct val="70000"/>
              </a:lnSpc>
              <a:buFontTx/>
              <a:buNone/>
            </a:pPr>
            <a:endParaRPr lang="en-US" altLang="zh-CN" sz="2200" b="1" baseline="0">
              <a:solidFill>
                <a:srgbClr val="0000CC"/>
              </a:solidFill>
              <a:latin typeface="Times New Roman" panose="02020603050405020304" pitchFamily="18" charset="0"/>
              <a:ea typeface="楷体-简" panose="02010600040101010101" pitchFamily="2" charset="-122"/>
            </a:endParaRPr>
          </a:p>
          <a:p>
            <a:pPr eaLnBrk="1" hangingPunct="1">
              <a:lnSpc>
                <a:spcPct val="70000"/>
              </a:lnSpc>
              <a:buFontTx/>
              <a:buNone/>
            </a:pPr>
            <a:r>
              <a:rPr lang="en-US" altLang="zh-CN" sz="2200" b="1" baseline="0">
                <a:solidFill>
                  <a:srgbClr val="0000CC"/>
                </a:solidFill>
                <a:latin typeface="Times New Roman" panose="02020603050405020304" pitchFamily="18" charset="0"/>
                <a:ea typeface="楷体-简" panose="02010600040101010101" pitchFamily="2" charset="-122"/>
              </a:rPr>
              <a:t>      public static void</a:t>
            </a:r>
            <a:r>
              <a:rPr lang="en-US" altLang="zh-CN" sz="2200" b="1" baseline="0">
                <a:latin typeface="Times New Roman" panose="02020603050405020304" pitchFamily="18" charset="0"/>
                <a:ea typeface="楷体-简" panose="02010600040101010101" pitchFamily="2" charset="-122"/>
              </a:rPr>
              <a:t> main(</a:t>
            </a:r>
            <a:r>
              <a:rPr lang="en-US" altLang="zh-CN" sz="2200" b="1" baseline="0">
                <a:solidFill>
                  <a:srgbClr val="FF0066"/>
                </a:solidFill>
                <a:latin typeface="Times New Roman" panose="02020603050405020304" pitchFamily="18" charset="0"/>
                <a:ea typeface="楷体-简" panose="02010600040101010101" pitchFamily="2" charset="-122"/>
              </a:rPr>
              <a:t>String</a:t>
            </a:r>
            <a:r>
              <a:rPr lang="en-US" altLang="zh-CN" sz="2200" b="1" baseline="0">
                <a:latin typeface="Times New Roman" panose="02020603050405020304" pitchFamily="18" charset="0"/>
                <a:ea typeface="楷体-简" panose="02010600040101010101" pitchFamily="2" charset="-122"/>
              </a:rPr>
              <a:t>[] args)</a:t>
            </a:r>
          </a:p>
          <a:p>
            <a:pPr lvl="1" eaLnBrk="1" hangingPunct="1">
              <a:buFontTx/>
              <a:buNone/>
            </a:pPr>
            <a:r>
              <a:rPr lang="en-US" altLang="zh-CN" sz="2200" b="1" baseline="0">
                <a:latin typeface="Times New Roman" panose="02020603050405020304" pitchFamily="18" charset="0"/>
                <a:ea typeface="楷体-简" panose="02010600040101010101" pitchFamily="2" charset="-122"/>
              </a:rPr>
              <a:t>{	</a:t>
            </a:r>
          </a:p>
          <a:p>
            <a:pPr lvl="1" eaLnBrk="1" hangingPunct="1">
              <a:buFontTx/>
              <a:buNone/>
            </a:pPr>
            <a:r>
              <a:rPr lang="en-US" altLang="zh-CN" sz="2200" b="1" baseline="0">
                <a:latin typeface="Times New Roman" panose="02020603050405020304" pitchFamily="18" charset="0"/>
                <a:ea typeface="楷体-简" panose="02010600040101010101" pitchFamily="2" charset="-122"/>
              </a:rPr>
              <a:t>    int y=3;</a:t>
            </a:r>
          </a:p>
          <a:p>
            <a:pPr lvl="1" eaLnBrk="1" hangingPunct="1">
              <a:buFontTx/>
              <a:buNone/>
            </a:pPr>
            <a:r>
              <a:rPr lang="en-US" altLang="zh-CN" sz="2200" b="1" baseline="0">
                <a:solidFill>
                  <a:srgbClr val="0000CC"/>
                </a:solidFill>
                <a:latin typeface="Times New Roman" panose="02020603050405020304" pitchFamily="18" charset="0"/>
                <a:ea typeface="楷体-简" panose="02010600040101010101" pitchFamily="2" charset="-122"/>
              </a:rPr>
              <a:t>    do</a:t>
            </a:r>
            <a:r>
              <a:rPr lang="en-US" altLang="zh-CN" sz="2200" b="1" baseline="0">
                <a:latin typeface="Times New Roman" panose="02020603050405020304" pitchFamily="18" charset="0"/>
                <a:ea typeface="楷体-简" panose="02010600040101010101" pitchFamily="2" charset="-122"/>
              </a:rPr>
              <a:t> {</a:t>
            </a:r>
          </a:p>
          <a:p>
            <a:pPr lvl="1" eaLnBrk="1" hangingPunct="1">
              <a:buFontTx/>
              <a:buNone/>
            </a:pPr>
            <a:r>
              <a:rPr lang="en-US" altLang="zh-CN" sz="2200" b="1" baseline="0">
                <a:latin typeface="Times New Roman" panose="02020603050405020304" pitchFamily="18" charset="0"/>
                <a:ea typeface="楷体-简" panose="02010600040101010101" pitchFamily="2" charset="-122"/>
              </a:rPr>
              <a:t>   	 	</a:t>
            </a:r>
            <a:r>
              <a:rPr lang="en-US" altLang="zh-CN" sz="2200" b="1" baseline="0">
                <a:solidFill>
                  <a:srgbClr val="FF0066"/>
                </a:solidFill>
                <a:latin typeface="Times New Roman" panose="02020603050405020304" pitchFamily="18" charset="0"/>
                <a:ea typeface="楷体-简" panose="02010600040101010101" pitchFamily="2" charset="-122"/>
              </a:rPr>
              <a:t>System</a:t>
            </a:r>
            <a:r>
              <a:rPr lang="en-US" altLang="zh-CN" sz="2200" b="1" baseline="0">
                <a:latin typeface="Times New Roman" panose="02020603050405020304" pitchFamily="18" charset="0"/>
                <a:ea typeface="楷体-简" panose="02010600040101010101" pitchFamily="2" charset="-122"/>
              </a:rPr>
              <a:t>.out.println(“ok2”);  //</a:t>
            </a:r>
            <a:r>
              <a:rPr lang="zh-CN" altLang="en-US" sz="2200" b="1" baseline="0">
                <a:latin typeface="Times New Roman" panose="02020603050405020304" pitchFamily="18" charset="0"/>
                <a:ea typeface="楷体-简" panose="02010600040101010101" pitchFamily="2" charset="-122"/>
              </a:rPr>
              <a:t>先打印，再判断条件是否满足</a:t>
            </a:r>
          </a:p>
          <a:p>
            <a:pPr lvl="1" eaLnBrk="1" hangingPunct="1">
              <a:buFontTx/>
              <a:buNone/>
            </a:pPr>
            <a:r>
              <a:rPr lang="zh-CN" altLang="en-US" sz="2200" b="1" baseline="0">
                <a:latin typeface="Times New Roman" panose="02020603050405020304" pitchFamily="18" charset="0"/>
                <a:ea typeface="楷体-简" panose="02010600040101010101" pitchFamily="2" charset="-122"/>
              </a:rPr>
              <a:t>   	 	</a:t>
            </a:r>
            <a:r>
              <a:rPr lang="en-US" altLang="zh-CN" sz="2200" b="1" baseline="0">
                <a:latin typeface="Times New Roman" panose="02020603050405020304" pitchFamily="18" charset="0"/>
                <a:ea typeface="楷体-简" panose="02010600040101010101" pitchFamily="2" charset="-122"/>
              </a:rPr>
              <a:t>y++;</a:t>
            </a:r>
          </a:p>
          <a:p>
            <a:pPr lvl="1" eaLnBrk="1" hangingPunct="1">
              <a:buFontTx/>
              <a:buNone/>
            </a:pPr>
            <a:r>
              <a:rPr lang="en-US" altLang="zh-CN" sz="2200" b="1" baseline="0">
                <a:latin typeface="Times New Roman" panose="02020603050405020304" pitchFamily="18" charset="0"/>
                <a:ea typeface="楷体-简" panose="02010600040101010101" pitchFamily="2" charset="-122"/>
              </a:rPr>
              <a:t>    } </a:t>
            </a:r>
            <a:r>
              <a:rPr lang="en-US" altLang="zh-CN" sz="2200" b="1" baseline="0">
                <a:solidFill>
                  <a:srgbClr val="0000CC"/>
                </a:solidFill>
                <a:latin typeface="Times New Roman" panose="02020603050405020304" pitchFamily="18" charset="0"/>
                <a:ea typeface="楷体-简" panose="02010600040101010101" pitchFamily="2" charset="-122"/>
              </a:rPr>
              <a:t>while</a:t>
            </a:r>
            <a:r>
              <a:rPr lang="en-US" altLang="zh-CN" sz="2200" b="1" baseline="0">
                <a:latin typeface="Times New Roman" panose="02020603050405020304" pitchFamily="18" charset="0"/>
                <a:ea typeface="楷体-简" panose="02010600040101010101" pitchFamily="2" charset="-122"/>
              </a:rPr>
              <a:t>(y==0);</a:t>
            </a:r>
          </a:p>
          <a:p>
            <a:pPr lvl="1" eaLnBrk="1" hangingPunct="1">
              <a:buFontTx/>
              <a:buNone/>
            </a:pPr>
            <a:r>
              <a:rPr lang="en-US" altLang="zh-CN" sz="2200" b="1" baseline="0">
                <a:latin typeface="Times New Roman" panose="02020603050405020304" pitchFamily="18" charset="0"/>
                <a:ea typeface="楷体-简" panose="02010600040101010101" pitchFamily="2" charset="-122"/>
              </a:rPr>
              <a:t>}</a:t>
            </a:r>
          </a:p>
        </p:txBody>
      </p:sp>
      <p:sp>
        <p:nvSpPr>
          <p:cNvPr id="70659" name="AutoShape 3">
            <a:extLst>
              <a:ext uri="{FF2B5EF4-FFF2-40B4-BE49-F238E27FC236}">
                <a16:creationId xmlns:a16="http://schemas.microsoft.com/office/drawing/2014/main" id="{22819BA8-B8D8-44E1-BA99-ED9B1FC955E0}"/>
              </a:ext>
            </a:extLst>
          </p:cNvPr>
          <p:cNvSpPr>
            <a:spLocks noChangeArrowheads="1"/>
          </p:cNvSpPr>
          <p:nvPr/>
        </p:nvSpPr>
        <p:spPr bwMode="auto">
          <a:xfrm>
            <a:off x="4284663" y="3898900"/>
            <a:ext cx="2808287" cy="609600"/>
          </a:xfrm>
          <a:prstGeom prst="wedgeRectCallout">
            <a:avLst>
              <a:gd name="adj1" fmla="val -84764"/>
              <a:gd name="adj2" fmla="val 41926"/>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800">
                <a:solidFill>
                  <a:srgbClr val="0000CC"/>
                </a:solidFill>
              </a:rPr>
              <a:t>这里有分号！</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3">
            <a:extLst>
              <a:ext uri="{FF2B5EF4-FFF2-40B4-BE49-F238E27FC236}">
                <a16:creationId xmlns:a16="http://schemas.microsoft.com/office/drawing/2014/main" id="{F010914B-9957-45DC-B63C-3F77BC382339}"/>
              </a:ext>
            </a:extLst>
          </p:cNvPr>
          <p:cNvSpPr>
            <a:spLocks noGrp="1" noChangeArrowheads="1"/>
          </p:cNvSpPr>
          <p:nvPr>
            <p:ph type="body" idx="1"/>
          </p:nvPr>
        </p:nvSpPr>
        <p:spPr>
          <a:xfrm>
            <a:off x="457200" y="548680"/>
            <a:ext cx="8229600" cy="576064"/>
          </a:xfrm>
        </p:spPr>
        <p:txBody>
          <a:bodyPr/>
          <a:lstStyle/>
          <a:p>
            <a:pPr eaLnBrk="1" hangingPunct="1">
              <a:spcBef>
                <a:spcPct val="0"/>
              </a:spcBef>
              <a:buFontTx/>
              <a:buNone/>
            </a:pPr>
            <a:r>
              <a:rPr lang="zh-CN" altLang="en-US" sz="2200" b="1" baseline="0" dirty="0">
                <a:solidFill>
                  <a:srgbClr val="008000"/>
                </a:solidFill>
                <a:latin typeface="Times New Roman" panose="02020603050405020304" pitchFamily="18" charset="0"/>
                <a:ea typeface="楷体-简" panose="02010600040101010101" pitchFamily="2" charset="-122"/>
                <a:cs typeface="Times New Roman" panose="02020603050405020304" pitchFamily="18" charset="0"/>
              </a:rPr>
              <a:t>例子：用</a:t>
            </a:r>
            <a:r>
              <a:rPr lang="en-US" altLang="zh-CN" sz="2200" b="1" baseline="0" dirty="0">
                <a:solidFill>
                  <a:srgbClr val="008000"/>
                </a:solidFill>
                <a:latin typeface="Times New Roman" panose="02020603050405020304" pitchFamily="18" charset="0"/>
                <a:ea typeface="楷体-简" panose="02010600040101010101" pitchFamily="2" charset="-122"/>
                <a:cs typeface="Times New Roman" panose="02020603050405020304" pitchFamily="18" charset="0"/>
              </a:rPr>
              <a:t>while</a:t>
            </a:r>
            <a:r>
              <a:rPr lang="zh-CN" altLang="en-US" sz="2200" b="1" baseline="0" dirty="0">
                <a:solidFill>
                  <a:srgbClr val="008000"/>
                </a:solidFill>
                <a:latin typeface="Times New Roman" panose="02020603050405020304" pitchFamily="18" charset="0"/>
                <a:ea typeface="楷体-简" panose="02010600040101010101" pitchFamily="2" charset="-122"/>
                <a:cs typeface="Times New Roman" panose="02020603050405020304" pitchFamily="18" charset="0"/>
              </a:rPr>
              <a:t>循环计算平均值</a:t>
            </a:r>
            <a:endParaRPr lang="en-US" altLang="zh-CN" sz="2200" b="1" baseline="0" dirty="0">
              <a:solidFill>
                <a:srgbClr val="008000"/>
              </a:solidFill>
              <a:latin typeface="Times New Roman" panose="02020603050405020304" pitchFamily="18" charset="0"/>
              <a:ea typeface="楷体-简" panose="02010600040101010101" pitchFamily="2" charset="-122"/>
              <a:cs typeface="Times New Roman" panose="02020603050405020304" pitchFamily="18" charset="0"/>
            </a:endParaRPr>
          </a:p>
          <a:p>
            <a:pPr eaLnBrk="1" hangingPunct="1">
              <a:spcBef>
                <a:spcPct val="0"/>
              </a:spcBef>
              <a:buFontTx/>
              <a:buNone/>
            </a:pPr>
            <a:endParaRPr lang="zh-CN" altLang="en-US" sz="2200" b="1" baseline="0" dirty="0">
              <a:solidFill>
                <a:srgbClr val="000000"/>
              </a:solidFill>
              <a:latin typeface="Times New Roman" panose="02020603050405020304" pitchFamily="18" charset="0"/>
              <a:ea typeface="楷体-简" panose="02010600040101010101" pitchFamily="2" charset="-122"/>
              <a:cs typeface="Times New Roman" panose="02020603050405020304" pitchFamily="18" charset="0"/>
            </a:endParaRPr>
          </a:p>
        </p:txBody>
      </p:sp>
      <p:pic>
        <p:nvPicPr>
          <p:cNvPr id="4" name="图片 3">
            <a:extLst>
              <a:ext uri="{FF2B5EF4-FFF2-40B4-BE49-F238E27FC236}">
                <a16:creationId xmlns:a16="http://schemas.microsoft.com/office/drawing/2014/main" id="{EC8105EE-E999-304D-8F1C-5326FE4890C8}"/>
              </a:ext>
            </a:extLst>
          </p:cNvPr>
          <p:cNvPicPr>
            <a:picLocks noChangeAspect="1"/>
          </p:cNvPicPr>
          <p:nvPr/>
        </p:nvPicPr>
        <p:blipFill>
          <a:blip r:embed="rId2"/>
          <a:stretch>
            <a:fillRect/>
          </a:stretch>
        </p:blipFill>
        <p:spPr>
          <a:xfrm>
            <a:off x="484989" y="1124744"/>
            <a:ext cx="7975600" cy="5562600"/>
          </a:xfrm>
          <a:prstGeom prst="rect">
            <a:avLst/>
          </a:prstGeom>
        </p:spPr>
      </p:pic>
      <p:sp>
        <p:nvSpPr>
          <p:cNvPr id="5" name="椭圆 4">
            <a:extLst>
              <a:ext uri="{FF2B5EF4-FFF2-40B4-BE49-F238E27FC236}">
                <a16:creationId xmlns:a16="http://schemas.microsoft.com/office/drawing/2014/main" id="{22AE5F20-B5FA-964E-8E80-ED8809360085}"/>
              </a:ext>
            </a:extLst>
          </p:cNvPr>
          <p:cNvSpPr/>
          <p:nvPr/>
        </p:nvSpPr>
        <p:spPr bwMode="auto">
          <a:xfrm>
            <a:off x="1043608" y="3429000"/>
            <a:ext cx="3168352" cy="648072"/>
          </a:xfrm>
          <a:prstGeom prst="ellipse">
            <a:avLst/>
          </a:prstGeom>
          <a:noFill/>
          <a:ln>
            <a:solidFill>
              <a:srgbClr val="FF0000"/>
            </a:solidFill>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900" b="1" i="0" u="none" strike="noStrike" cap="none" normalizeH="0" baseline="0">
              <a:ln>
                <a:noFill/>
              </a:ln>
              <a:solidFill>
                <a:srgbClr val="008000"/>
              </a:solidFill>
              <a:effectLst/>
              <a:latin typeface="Lucida Console" panose="020B0609040504020204" pitchFamily="49" charset="0"/>
              <a:ea typeface="宋体" panose="02010600030101010101" pitchFamily="2" charset="-122"/>
              <a:cs typeface="Times New Roman" panose="02020603050405020304" pitchFamily="18"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E45F9AD8-078C-C045-8523-0F2F61646EA4}"/>
              </a:ext>
            </a:extLst>
          </p:cNvPr>
          <p:cNvPicPr>
            <a:picLocks noChangeAspect="1"/>
          </p:cNvPicPr>
          <p:nvPr/>
        </p:nvPicPr>
        <p:blipFill>
          <a:blip r:embed="rId2"/>
          <a:stretch>
            <a:fillRect/>
          </a:stretch>
        </p:blipFill>
        <p:spPr>
          <a:xfrm>
            <a:off x="179512" y="404664"/>
            <a:ext cx="8136904" cy="5437016"/>
          </a:xfrm>
          <a:prstGeom prst="rect">
            <a:avLst/>
          </a:prstGeom>
        </p:spPr>
      </p:pic>
      <p:sp>
        <p:nvSpPr>
          <p:cNvPr id="5" name="椭圆 4">
            <a:extLst>
              <a:ext uri="{FF2B5EF4-FFF2-40B4-BE49-F238E27FC236}">
                <a16:creationId xmlns:a16="http://schemas.microsoft.com/office/drawing/2014/main" id="{ED9E032E-61B4-1D49-A093-21CA462AF1AB}"/>
              </a:ext>
            </a:extLst>
          </p:cNvPr>
          <p:cNvSpPr/>
          <p:nvPr/>
        </p:nvSpPr>
        <p:spPr bwMode="auto">
          <a:xfrm>
            <a:off x="1043608" y="3933056"/>
            <a:ext cx="3384376" cy="432048"/>
          </a:xfrm>
          <a:prstGeom prst="ellipse">
            <a:avLst/>
          </a:prstGeom>
          <a:noFill/>
          <a:ln>
            <a:solidFill>
              <a:srgbClr val="FF0000"/>
            </a:solidFill>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900" b="1" i="0" u="none" strike="noStrike" cap="none" normalizeH="0" baseline="0">
              <a:ln>
                <a:noFill/>
              </a:ln>
              <a:solidFill>
                <a:srgbClr val="008000"/>
              </a:solidFill>
              <a:effectLst/>
              <a:latin typeface="Lucida Console" panose="020B0609040504020204" pitchFamily="49"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85403495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8E801DF9-AC5F-524F-895F-44D2DECCAC9C}"/>
              </a:ext>
            </a:extLst>
          </p:cNvPr>
          <p:cNvPicPr>
            <a:picLocks noChangeAspect="1"/>
          </p:cNvPicPr>
          <p:nvPr/>
        </p:nvPicPr>
        <p:blipFill>
          <a:blip r:embed="rId2"/>
          <a:stretch>
            <a:fillRect/>
          </a:stretch>
        </p:blipFill>
        <p:spPr>
          <a:xfrm>
            <a:off x="58670" y="1340768"/>
            <a:ext cx="9085330" cy="3384376"/>
          </a:xfrm>
          <a:prstGeom prst="rect">
            <a:avLst/>
          </a:prstGeom>
        </p:spPr>
      </p:pic>
    </p:spTree>
    <p:extLst>
      <p:ext uri="{BB962C8B-B14F-4D97-AF65-F5344CB8AC3E}">
        <p14:creationId xmlns:p14="http://schemas.microsoft.com/office/powerpoint/2010/main" val="350942992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72687DA9-454E-B34C-8E4B-4AFF04E0EBC8}"/>
              </a:ext>
            </a:extLst>
          </p:cNvPr>
          <p:cNvPicPr>
            <a:picLocks noChangeAspect="1"/>
          </p:cNvPicPr>
          <p:nvPr/>
        </p:nvPicPr>
        <p:blipFill>
          <a:blip r:embed="rId2"/>
          <a:stretch>
            <a:fillRect/>
          </a:stretch>
        </p:blipFill>
        <p:spPr>
          <a:xfrm>
            <a:off x="1622" y="692696"/>
            <a:ext cx="8730124" cy="4680520"/>
          </a:xfrm>
          <a:prstGeom prst="rect">
            <a:avLst/>
          </a:prstGeom>
        </p:spPr>
      </p:pic>
    </p:spTree>
    <p:extLst>
      <p:ext uri="{BB962C8B-B14F-4D97-AF65-F5344CB8AC3E}">
        <p14:creationId xmlns:p14="http://schemas.microsoft.com/office/powerpoint/2010/main" val="155604315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DBB87C2C-F38F-CD4E-8E06-09D4291CD066}"/>
              </a:ext>
            </a:extLst>
          </p:cNvPr>
          <p:cNvPicPr>
            <a:picLocks noChangeAspect="1"/>
          </p:cNvPicPr>
          <p:nvPr/>
        </p:nvPicPr>
        <p:blipFill>
          <a:blip r:embed="rId2"/>
          <a:stretch>
            <a:fillRect/>
          </a:stretch>
        </p:blipFill>
        <p:spPr>
          <a:xfrm>
            <a:off x="323528" y="404664"/>
            <a:ext cx="8332562" cy="4608512"/>
          </a:xfrm>
          <a:prstGeom prst="rect">
            <a:avLst/>
          </a:prstGeom>
        </p:spPr>
      </p:pic>
    </p:spTree>
    <p:extLst>
      <p:ext uri="{BB962C8B-B14F-4D97-AF65-F5344CB8AC3E}">
        <p14:creationId xmlns:p14="http://schemas.microsoft.com/office/powerpoint/2010/main" val="201183878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838CED4E-71D9-9243-8BB9-D8A603119768}"/>
              </a:ext>
            </a:extLst>
          </p:cNvPr>
          <p:cNvPicPr>
            <a:picLocks noChangeAspect="1"/>
          </p:cNvPicPr>
          <p:nvPr/>
        </p:nvPicPr>
        <p:blipFill>
          <a:blip r:embed="rId2"/>
          <a:stretch>
            <a:fillRect/>
          </a:stretch>
        </p:blipFill>
        <p:spPr>
          <a:xfrm>
            <a:off x="179512" y="332655"/>
            <a:ext cx="8064896" cy="6381521"/>
          </a:xfrm>
          <a:prstGeom prst="rect">
            <a:avLst/>
          </a:prstGeom>
        </p:spPr>
      </p:pic>
    </p:spTree>
    <p:extLst>
      <p:ext uri="{BB962C8B-B14F-4D97-AF65-F5344CB8AC3E}">
        <p14:creationId xmlns:p14="http://schemas.microsoft.com/office/powerpoint/2010/main" val="113414247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50EFB518-54A0-7A4D-9436-444EC4A69EA9}"/>
              </a:ext>
            </a:extLst>
          </p:cNvPr>
          <p:cNvPicPr>
            <a:picLocks noChangeAspect="1"/>
          </p:cNvPicPr>
          <p:nvPr/>
        </p:nvPicPr>
        <p:blipFill>
          <a:blip r:embed="rId2"/>
          <a:stretch>
            <a:fillRect/>
          </a:stretch>
        </p:blipFill>
        <p:spPr>
          <a:xfrm>
            <a:off x="25355" y="4260"/>
            <a:ext cx="9171129" cy="5472608"/>
          </a:xfrm>
          <a:prstGeom prst="rect">
            <a:avLst/>
          </a:prstGeom>
        </p:spPr>
      </p:pic>
    </p:spTree>
    <p:extLst>
      <p:ext uri="{BB962C8B-B14F-4D97-AF65-F5344CB8AC3E}">
        <p14:creationId xmlns:p14="http://schemas.microsoft.com/office/powerpoint/2010/main" val="186595232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E9BA59B7-46C0-8249-90B1-4A708716DF8C}"/>
              </a:ext>
            </a:extLst>
          </p:cNvPr>
          <p:cNvPicPr>
            <a:picLocks noChangeAspect="1"/>
          </p:cNvPicPr>
          <p:nvPr/>
        </p:nvPicPr>
        <p:blipFill>
          <a:blip r:embed="rId2"/>
          <a:stretch>
            <a:fillRect/>
          </a:stretch>
        </p:blipFill>
        <p:spPr>
          <a:xfrm>
            <a:off x="765180" y="0"/>
            <a:ext cx="7613639" cy="6858000"/>
          </a:xfrm>
          <a:prstGeom prst="rect">
            <a:avLst/>
          </a:prstGeom>
        </p:spPr>
      </p:pic>
    </p:spTree>
    <p:extLst>
      <p:ext uri="{BB962C8B-B14F-4D97-AF65-F5344CB8AC3E}">
        <p14:creationId xmlns:p14="http://schemas.microsoft.com/office/powerpoint/2010/main" val="74594565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3">
            <a:extLst>
              <a:ext uri="{FF2B5EF4-FFF2-40B4-BE49-F238E27FC236}">
                <a16:creationId xmlns:a16="http://schemas.microsoft.com/office/drawing/2014/main" id="{4CD48CC1-191E-4EB2-BAD8-CB82BB5D396A}"/>
              </a:ext>
            </a:extLst>
          </p:cNvPr>
          <p:cNvSpPr>
            <a:spLocks noGrp="1" noChangeArrowheads="1"/>
          </p:cNvSpPr>
          <p:nvPr>
            <p:ph type="body" idx="1"/>
          </p:nvPr>
        </p:nvSpPr>
        <p:spPr>
          <a:xfrm>
            <a:off x="323180" y="836712"/>
            <a:ext cx="8497639" cy="4824511"/>
          </a:xfrm>
        </p:spPr>
        <p:txBody>
          <a:bodyPr/>
          <a:lstStyle/>
          <a:p>
            <a:pPr eaLnBrk="1" hangingPunct="1">
              <a:lnSpc>
                <a:spcPct val="80000"/>
              </a:lnSpc>
              <a:buFontTx/>
              <a:buNone/>
            </a:pPr>
            <a:r>
              <a:rPr lang="en-US" altLang="zh-CN" baseline="0" dirty="0">
                <a:solidFill>
                  <a:srgbClr val="FF0066"/>
                </a:solidFill>
                <a:latin typeface="Times New Roman" panose="02020603050405020304" pitchFamily="18" charset="0"/>
                <a:ea typeface="楷体-简" panose="02010600040101010101" pitchFamily="2" charset="-122"/>
              </a:rPr>
              <a:t>3: </a:t>
            </a:r>
            <a:r>
              <a:rPr lang="en-US" altLang="zh-CN" sz="2800" b="1" baseline="0" dirty="0">
                <a:solidFill>
                  <a:srgbClr val="FF0066"/>
                </a:solidFill>
                <a:latin typeface="Times New Roman" panose="02020603050405020304" pitchFamily="18" charset="0"/>
                <a:ea typeface="楷体-简" panose="02010600040101010101" pitchFamily="2" charset="-122"/>
              </a:rPr>
              <a:t>for</a:t>
            </a:r>
            <a:r>
              <a:rPr lang="zh-CN" altLang="en-US" sz="2800" baseline="0" dirty="0">
                <a:solidFill>
                  <a:srgbClr val="FF0066"/>
                </a:solidFill>
                <a:latin typeface="Times New Roman" panose="02020603050405020304" pitchFamily="18" charset="0"/>
                <a:ea typeface="楷体-简" panose="02010600040101010101" pitchFamily="2" charset="-122"/>
              </a:rPr>
              <a:t>循环</a:t>
            </a:r>
            <a:r>
              <a:rPr lang="zh-CN" altLang="en-US" sz="2800" b="1" baseline="0" dirty="0">
                <a:solidFill>
                  <a:srgbClr val="FF0066"/>
                </a:solidFill>
                <a:latin typeface="Times New Roman" panose="02020603050405020304" pitchFamily="18" charset="0"/>
                <a:ea typeface="楷体-简" panose="02010600040101010101" pitchFamily="2" charset="-122"/>
              </a:rPr>
              <a:t>语句</a:t>
            </a:r>
            <a:endParaRPr lang="zh-CN" altLang="en-US" baseline="0" dirty="0">
              <a:solidFill>
                <a:srgbClr val="FF0066"/>
              </a:solidFill>
              <a:latin typeface="Times New Roman" panose="02020603050405020304" pitchFamily="18" charset="0"/>
              <a:ea typeface="楷体-简" panose="02010600040101010101" pitchFamily="2" charset="-122"/>
            </a:endParaRPr>
          </a:p>
          <a:p>
            <a:pPr algn="ctr" eaLnBrk="1" hangingPunct="1">
              <a:lnSpc>
                <a:spcPct val="80000"/>
              </a:lnSpc>
              <a:buFontTx/>
              <a:buNone/>
            </a:pPr>
            <a:endParaRPr lang="en-US" altLang="zh-CN" sz="2400" b="1" baseline="0" dirty="0">
              <a:latin typeface="Times New Roman" panose="02020603050405020304" pitchFamily="18" charset="0"/>
              <a:ea typeface="楷体-简" panose="02010600040101010101" pitchFamily="2" charset="-122"/>
            </a:endParaRPr>
          </a:p>
          <a:p>
            <a:pPr algn="ctr" eaLnBrk="1" hangingPunct="1">
              <a:lnSpc>
                <a:spcPct val="80000"/>
              </a:lnSpc>
              <a:buFont typeface="Wingdings" panose="05000000000000000000" pitchFamily="2" charset="2"/>
              <a:buChar char="Ø"/>
            </a:pPr>
            <a:r>
              <a:rPr lang="zh-CN" altLang="en-US" sz="2400" b="1" baseline="0" dirty="0">
                <a:solidFill>
                  <a:srgbClr val="C00000"/>
                </a:solidFill>
                <a:latin typeface="Times New Roman" panose="02020603050405020304" pitchFamily="18" charset="0"/>
                <a:ea typeface="楷体-简" panose="02010600040101010101" pitchFamily="2" charset="-122"/>
              </a:rPr>
              <a:t>语法</a:t>
            </a:r>
            <a:r>
              <a:rPr lang="zh-CN" altLang="en-US" sz="2400" b="1" baseline="0" dirty="0">
                <a:latin typeface="Times New Roman" panose="02020603050405020304" pitchFamily="18" charset="0"/>
                <a:ea typeface="楷体-简" panose="02010600040101010101" pitchFamily="2" charset="-122"/>
              </a:rPr>
              <a:t>：</a:t>
            </a:r>
            <a:r>
              <a:rPr lang="en-US" altLang="zh-CN" sz="2400" b="1" baseline="0" dirty="0">
                <a:latin typeface="Times New Roman" panose="02020603050405020304" pitchFamily="18" charset="0"/>
                <a:ea typeface="楷体-简" panose="02010600040101010101" pitchFamily="2" charset="-122"/>
              </a:rPr>
              <a:t>for (initialization; termination; iteration) { body; }</a:t>
            </a:r>
          </a:p>
          <a:p>
            <a:pPr marL="0" indent="0" algn="ctr" eaLnBrk="1" hangingPunct="1">
              <a:lnSpc>
                <a:spcPct val="80000"/>
              </a:lnSpc>
              <a:buNone/>
            </a:pPr>
            <a:br>
              <a:rPr lang="zh-CN" altLang="en-US" sz="2400" b="1" baseline="0" dirty="0">
                <a:latin typeface="Times New Roman" panose="02020603050405020304" pitchFamily="18" charset="0"/>
                <a:ea typeface="楷体-简" panose="02010600040101010101" pitchFamily="2" charset="-122"/>
              </a:rPr>
            </a:br>
            <a:endParaRPr lang="zh-CN" altLang="en-US" sz="2400" b="1" baseline="0" dirty="0">
              <a:latin typeface="Times New Roman" panose="02020603050405020304" pitchFamily="18" charset="0"/>
              <a:ea typeface="楷体-简" panose="02010600040101010101" pitchFamily="2" charset="-122"/>
            </a:endParaRPr>
          </a:p>
          <a:p>
            <a:pPr eaLnBrk="1" hangingPunct="1">
              <a:lnSpc>
                <a:spcPct val="80000"/>
              </a:lnSpc>
              <a:buFontTx/>
              <a:buNone/>
            </a:pPr>
            <a:r>
              <a:rPr lang="zh-CN" altLang="en-US" sz="2400" b="1" baseline="0" dirty="0">
                <a:latin typeface="Times New Roman" panose="02020603050405020304" pitchFamily="18" charset="0"/>
                <a:ea typeface="楷体-简" panose="02010600040101010101" pitchFamily="2" charset="-122"/>
              </a:rPr>
              <a:t>◇ </a:t>
            </a:r>
            <a:r>
              <a:rPr lang="en-US" altLang="zh-CN" sz="2400" b="1" baseline="0" dirty="0">
                <a:latin typeface="Times New Roman" panose="02020603050405020304" pitchFamily="18" charset="0"/>
                <a:ea typeface="楷体-简" panose="02010600040101010101" pitchFamily="2" charset="-122"/>
              </a:rPr>
              <a:t>for</a:t>
            </a:r>
            <a:r>
              <a:rPr lang="zh-CN" altLang="en-US" sz="2400" b="1" baseline="0" dirty="0">
                <a:latin typeface="Times New Roman" panose="02020603050405020304" pitchFamily="18" charset="0"/>
                <a:ea typeface="楷体-简" panose="02010600040101010101" pitchFamily="2" charset="-122"/>
              </a:rPr>
              <a:t>语句执行时，</a:t>
            </a:r>
            <a:r>
              <a:rPr lang="zh-CN" altLang="en-US" sz="2400" b="1" baseline="0" dirty="0">
                <a:solidFill>
                  <a:srgbClr val="0000CC"/>
                </a:solidFill>
                <a:latin typeface="Times New Roman" panose="02020603050405020304" pitchFamily="18" charset="0"/>
                <a:ea typeface="楷体-简" panose="02010600040101010101" pitchFamily="2" charset="-122"/>
              </a:rPr>
              <a:t>首先</a:t>
            </a:r>
            <a:r>
              <a:rPr lang="zh-CN" altLang="en-US" sz="2400" b="1" baseline="0" dirty="0">
                <a:latin typeface="Times New Roman" panose="02020603050405020304" pitchFamily="18" charset="0"/>
                <a:ea typeface="楷体-简" panose="02010600040101010101" pitchFamily="2" charset="-122"/>
              </a:rPr>
              <a:t>执行初始化操作，然后判断终止条件 是否满足，</a:t>
            </a:r>
            <a:r>
              <a:rPr lang="zh-CN" altLang="en-US" sz="2400" b="1" baseline="0" dirty="0">
                <a:solidFill>
                  <a:srgbClr val="0000CC"/>
                </a:solidFill>
                <a:latin typeface="Times New Roman" panose="02020603050405020304" pitchFamily="18" charset="0"/>
                <a:ea typeface="楷体-简" panose="02010600040101010101" pitchFamily="2" charset="-122"/>
              </a:rPr>
              <a:t>如果满足</a:t>
            </a:r>
            <a:r>
              <a:rPr lang="zh-CN" altLang="en-US" sz="2400" b="1" baseline="0" dirty="0">
                <a:latin typeface="Times New Roman" panose="02020603050405020304" pitchFamily="18" charset="0"/>
                <a:ea typeface="楷体-简" panose="02010600040101010101" pitchFamily="2" charset="-122"/>
              </a:rPr>
              <a:t>，则执行循环体中语句，</a:t>
            </a:r>
            <a:r>
              <a:rPr lang="zh-CN" altLang="en-US" sz="2400" b="1" baseline="0" dirty="0">
                <a:solidFill>
                  <a:srgbClr val="0000CC"/>
                </a:solidFill>
                <a:latin typeface="Times New Roman" panose="02020603050405020304" pitchFamily="18" charset="0"/>
                <a:ea typeface="楷体-简" panose="02010600040101010101" pitchFamily="2" charset="-122"/>
              </a:rPr>
              <a:t>最后</a:t>
            </a:r>
            <a:r>
              <a:rPr lang="zh-CN" altLang="en-US" sz="2400" b="1" baseline="0" dirty="0">
                <a:latin typeface="Times New Roman" panose="02020603050405020304" pitchFamily="18" charset="0"/>
                <a:ea typeface="楷体-简" panose="02010600040101010101" pitchFamily="2" charset="-122"/>
              </a:rPr>
              <a:t>执行迭代部分。完成一次循环后，重新判断终止条件。</a:t>
            </a:r>
            <a:endParaRPr lang="en-US" altLang="zh-CN" sz="2400" b="1" baseline="0" dirty="0">
              <a:latin typeface="Times New Roman" panose="02020603050405020304" pitchFamily="18" charset="0"/>
              <a:ea typeface="楷体-简" panose="02010600040101010101" pitchFamily="2" charset="-122"/>
            </a:endParaRPr>
          </a:p>
          <a:p>
            <a:pPr marL="0" indent="0" algn="ctr" eaLnBrk="1" hangingPunct="1">
              <a:lnSpc>
                <a:spcPct val="80000"/>
              </a:lnSpc>
              <a:buNone/>
            </a:pPr>
            <a:endParaRPr lang="zh-CN" altLang="en-US" sz="2400" b="1" baseline="0" dirty="0">
              <a:latin typeface="Times New Roman" panose="02020603050405020304" pitchFamily="18" charset="0"/>
              <a:ea typeface="楷体-简" panose="02010600040101010101" pitchFamily="2" charset="-122"/>
            </a:endParaRPr>
          </a:p>
          <a:p>
            <a:pPr eaLnBrk="1" hangingPunct="1">
              <a:lnSpc>
                <a:spcPct val="80000"/>
              </a:lnSpc>
              <a:buFontTx/>
              <a:buNone/>
            </a:pPr>
            <a:r>
              <a:rPr lang="zh-CN" altLang="en-US" sz="2400" b="1" baseline="0" dirty="0">
                <a:latin typeface="Times New Roman" panose="02020603050405020304" pitchFamily="18" charset="0"/>
                <a:ea typeface="楷体-简" panose="02010600040101010101" pitchFamily="2" charset="-122"/>
              </a:rPr>
              <a:t>◇ 初始化、终止以及迭代部分都可以为空语句</a:t>
            </a:r>
            <a:r>
              <a:rPr lang="en-US" altLang="zh-CN" sz="2400" b="1" baseline="0" dirty="0">
                <a:latin typeface="Times New Roman" panose="02020603050405020304" pitchFamily="18" charset="0"/>
                <a:ea typeface="楷体-简" panose="02010600040101010101" pitchFamily="2" charset="-122"/>
              </a:rPr>
              <a:t>(</a:t>
            </a:r>
            <a:r>
              <a:rPr lang="zh-CN" altLang="en-US" sz="2400" b="1" baseline="0" dirty="0">
                <a:latin typeface="Times New Roman" panose="02020603050405020304" pitchFamily="18" charset="0"/>
                <a:ea typeface="楷体-简" panose="02010600040101010101" pitchFamily="2" charset="-122"/>
              </a:rPr>
              <a:t>但分号不能省</a:t>
            </a:r>
            <a:r>
              <a:rPr lang="en-US" altLang="zh-CN" sz="2400" b="1" baseline="0" dirty="0">
                <a:latin typeface="Times New Roman" panose="02020603050405020304" pitchFamily="18" charset="0"/>
                <a:ea typeface="楷体-简" panose="02010600040101010101" pitchFamily="2" charset="-122"/>
              </a:rPr>
              <a:t>)</a:t>
            </a:r>
            <a:r>
              <a:rPr lang="zh-CN" altLang="en-US" sz="2400" b="1" baseline="0" dirty="0">
                <a:latin typeface="Times New Roman" panose="02020603050405020304" pitchFamily="18" charset="0"/>
                <a:ea typeface="楷体-简" panose="02010600040101010101" pitchFamily="2" charset="-122"/>
              </a:rPr>
              <a:t>，三者均为空的时候，相当于一个无限循环。</a:t>
            </a:r>
            <a:br>
              <a:rPr lang="zh-CN" altLang="en-US" sz="2400" b="1" baseline="0" dirty="0">
                <a:latin typeface="Times New Roman" panose="02020603050405020304" pitchFamily="18" charset="0"/>
                <a:ea typeface="楷体-简" panose="02010600040101010101" pitchFamily="2" charset="-122"/>
              </a:rPr>
            </a:br>
            <a:endParaRPr lang="zh-CN" altLang="en-US" sz="2400" b="1" baseline="0" dirty="0">
              <a:latin typeface="Times New Roman" panose="02020603050405020304" pitchFamily="18" charset="0"/>
              <a:ea typeface="楷体-简" panose="02010600040101010101" pitchFamily="2" charset="-122"/>
            </a:endParaRPr>
          </a:p>
          <a:p>
            <a:pPr eaLnBrk="1" hangingPunct="1">
              <a:lnSpc>
                <a:spcPct val="80000"/>
              </a:lnSpc>
              <a:buFontTx/>
              <a:buNone/>
            </a:pPr>
            <a:r>
              <a:rPr lang="zh-CN" altLang="en-US" sz="2400" b="1" baseline="0" dirty="0">
                <a:latin typeface="Times New Roman" panose="02020603050405020304" pitchFamily="18" charset="0"/>
                <a:ea typeface="楷体-简" panose="02010600040101010101" pitchFamily="2" charset="-122"/>
              </a:rPr>
              <a:t>◇ 在初始化部分和迭代部分可以使用逗号语句，来进行多个操作。逗号语句是用逗号分隔的语句序列。</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CF220CA2-CB6D-4375-A588-38F3B2AC8375}"/>
              </a:ext>
            </a:extLst>
          </p:cNvPr>
          <p:cNvSpPr>
            <a:spLocks noGrp="1" noChangeArrowheads="1"/>
          </p:cNvSpPr>
          <p:nvPr>
            <p:ph type="body" idx="1"/>
          </p:nvPr>
        </p:nvSpPr>
        <p:spPr>
          <a:xfrm>
            <a:off x="457200" y="260350"/>
            <a:ext cx="8229600" cy="5865813"/>
          </a:xfrm>
        </p:spPr>
        <p:txBody>
          <a:bodyPr/>
          <a:lstStyle/>
          <a:p>
            <a:pPr eaLnBrk="1" hangingPunct="1">
              <a:lnSpc>
                <a:spcPct val="90000"/>
              </a:lnSpc>
              <a:spcBef>
                <a:spcPct val="0"/>
              </a:spcBef>
              <a:buFontTx/>
              <a:buNone/>
            </a:pPr>
            <a:r>
              <a:rPr lang="zh-CN" altLang="en-US" sz="2800" b="1" baseline="0" dirty="0">
                <a:solidFill>
                  <a:srgbClr val="00B050"/>
                </a:solidFill>
                <a:latin typeface="Times New Roman" panose="02020603050405020304" pitchFamily="18" charset="0"/>
                <a:ea typeface="楷体-简" panose="02010600040101010101" pitchFamily="2" charset="-122"/>
                <a:cs typeface="Times New Roman" panose="02020603050405020304" pitchFamily="18" charset="0"/>
              </a:rPr>
              <a:t>例子：</a:t>
            </a:r>
            <a:r>
              <a:rPr lang="en-US" altLang="zh-CN" sz="2800" b="1" baseline="0" dirty="0">
                <a:solidFill>
                  <a:srgbClr val="00B050"/>
                </a:solidFill>
                <a:latin typeface="Times New Roman" panose="02020603050405020304" pitchFamily="18" charset="0"/>
                <a:ea typeface="楷体-简" panose="02010600040101010101" pitchFamily="2" charset="-122"/>
                <a:cs typeface="Times New Roman" panose="02020603050405020304" pitchFamily="18" charset="0"/>
              </a:rPr>
              <a:t>for</a:t>
            </a:r>
            <a:r>
              <a:rPr lang="zh-CN" altLang="en-US" sz="2800" b="1" baseline="0" dirty="0">
                <a:solidFill>
                  <a:srgbClr val="00B050"/>
                </a:solidFill>
                <a:latin typeface="Times New Roman" panose="02020603050405020304" pitchFamily="18" charset="0"/>
                <a:ea typeface="楷体-简" panose="02010600040101010101" pitchFamily="2" charset="-122"/>
                <a:cs typeface="Times New Roman" panose="02020603050405020304" pitchFamily="18" charset="0"/>
              </a:rPr>
              <a:t>语句</a:t>
            </a:r>
            <a:endParaRPr lang="en-US" altLang="zh-CN" sz="2800" b="1" baseline="0" dirty="0">
              <a:solidFill>
                <a:srgbClr val="00B050"/>
              </a:solidFill>
              <a:latin typeface="Times New Roman" panose="02020603050405020304" pitchFamily="18" charset="0"/>
              <a:ea typeface="楷体-简" panose="02010600040101010101" pitchFamily="2" charset="-122"/>
              <a:cs typeface="Times New Roman" panose="02020603050405020304" pitchFamily="18" charset="0"/>
            </a:endParaRPr>
          </a:p>
          <a:p>
            <a:pPr eaLnBrk="1" hangingPunct="1">
              <a:lnSpc>
                <a:spcPct val="90000"/>
              </a:lnSpc>
              <a:buFontTx/>
              <a:buNone/>
            </a:pPr>
            <a:endParaRPr lang="en-US" altLang="zh-CN" sz="2800" b="1" baseline="0" dirty="0">
              <a:latin typeface="Times New Roman" panose="02020603050405020304" pitchFamily="18" charset="0"/>
              <a:ea typeface="楷体-简" panose="02010600040101010101" pitchFamily="2" charset="-122"/>
            </a:endParaRPr>
          </a:p>
        </p:txBody>
      </p:sp>
      <p:pic>
        <p:nvPicPr>
          <p:cNvPr id="2" name="图片 1">
            <a:extLst>
              <a:ext uri="{FF2B5EF4-FFF2-40B4-BE49-F238E27FC236}">
                <a16:creationId xmlns:a16="http://schemas.microsoft.com/office/drawing/2014/main" id="{25627CFA-5424-F74A-A573-BD2834D4E1D9}"/>
              </a:ext>
            </a:extLst>
          </p:cNvPr>
          <p:cNvPicPr>
            <a:picLocks noChangeAspect="1"/>
          </p:cNvPicPr>
          <p:nvPr/>
        </p:nvPicPr>
        <p:blipFill>
          <a:blip r:embed="rId3"/>
          <a:stretch>
            <a:fillRect/>
          </a:stretch>
        </p:blipFill>
        <p:spPr>
          <a:xfrm>
            <a:off x="0" y="1673483"/>
            <a:ext cx="9144000" cy="3511033"/>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A13859DF-9AFC-D344-8B88-24B0BF8A37C4}"/>
              </a:ext>
            </a:extLst>
          </p:cNvPr>
          <p:cNvPicPr>
            <a:picLocks noChangeAspect="1"/>
          </p:cNvPicPr>
          <p:nvPr/>
        </p:nvPicPr>
        <p:blipFill>
          <a:blip r:embed="rId2"/>
          <a:stretch>
            <a:fillRect/>
          </a:stretch>
        </p:blipFill>
        <p:spPr>
          <a:xfrm>
            <a:off x="28194" y="836712"/>
            <a:ext cx="8788400" cy="4102100"/>
          </a:xfrm>
          <a:prstGeom prst="rect">
            <a:avLst/>
          </a:prstGeom>
        </p:spPr>
      </p:pic>
    </p:spTree>
    <p:extLst>
      <p:ext uri="{BB962C8B-B14F-4D97-AF65-F5344CB8AC3E}">
        <p14:creationId xmlns:p14="http://schemas.microsoft.com/office/powerpoint/2010/main" val="183896203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23C799B2-8507-B245-8006-7A232BD03514}"/>
              </a:ext>
            </a:extLst>
          </p:cNvPr>
          <p:cNvPicPr>
            <a:picLocks noChangeAspect="1"/>
          </p:cNvPicPr>
          <p:nvPr/>
        </p:nvPicPr>
        <p:blipFill>
          <a:blip r:embed="rId2"/>
          <a:stretch>
            <a:fillRect/>
          </a:stretch>
        </p:blipFill>
        <p:spPr>
          <a:xfrm>
            <a:off x="0" y="836951"/>
            <a:ext cx="9144000" cy="5184098"/>
          </a:xfrm>
          <a:prstGeom prst="rect">
            <a:avLst/>
          </a:prstGeom>
        </p:spPr>
      </p:pic>
    </p:spTree>
    <p:extLst>
      <p:ext uri="{BB962C8B-B14F-4D97-AF65-F5344CB8AC3E}">
        <p14:creationId xmlns:p14="http://schemas.microsoft.com/office/powerpoint/2010/main" val="334855236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09F28668-1EF2-495B-9369-8EE45C0684C2}"/>
              </a:ext>
            </a:extLst>
          </p:cNvPr>
          <p:cNvSpPr>
            <a:spLocks noGrp="1" noChangeArrowheads="1"/>
          </p:cNvSpPr>
          <p:nvPr>
            <p:ph type="title"/>
          </p:nvPr>
        </p:nvSpPr>
        <p:spPr/>
        <p:txBody>
          <a:bodyPr/>
          <a:lstStyle/>
          <a:p>
            <a:pPr eaLnBrk="1" hangingPunct="1"/>
            <a:r>
              <a:rPr lang="zh-CN" altLang="en-US" sz="3600" b="1" baseline="0">
                <a:solidFill>
                  <a:srgbClr val="FF0066"/>
                </a:solidFill>
                <a:latin typeface="Times New Roman" panose="02020603050405020304" pitchFamily="18" charset="0"/>
                <a:ea typeface="楷体-简" panose="02010600040101010101" pitchFamily="2" charset="-122"/>
              </a:rPr>
              <a:t>跳转语句</a:t>
            </a:r>
          </a:p>
        </p:txBody>
      </p:sp>
      <p:sp>
        <p:nvSpPr>
          <p:cNvPr id="80899" name="Rectangle 3">
            <a:extLst>
              <a:ext uri="{FF2B5EF4-FFF2-40B4-BE49-F238E27FC236}">
                <a16:creationId xmlns:a16="http://schemas.microsoft.com/office/drawing/2014/main" id="{1D9D716E-0611-4F44-9A75-88F0DD9B7875}"/>
              </a:ext>
            </a:extLst>
          </p:cNvPr>
          <p:cNvSpPr>
            <a:spLocks noGrp="1" noChangeArrowheads="1"/>
          </p:cNvSpPr>
          <p:nvPr>
            <p:ph type="body" idx="1"/>
          </p:nvPr>
        </p:nvSpPr>
        <p:spPr/>
        <p:txBody>
          <a:bodyPr/>
          <a:lstStyle/>
          <a:p>
            <a:pPr eaLnBrk="1" hangingPunct="1">
              <a:buFontTx/>
              <a:buNone/>
            </a:pPr>
            <a:r>
              <a:rPr lang="en-US" altLang="zh-CN" b="1" baseline="0">
                <a:latin typeface="Times New Roman" panose="02020603050405020304" pitchFamily="18" charset="0"/>
                <a:ea typeface="楷体-简" panose="02010600040101010101" pitchFamily="2" charset="-122"/>
              </a:rPr>
              <a:t>	</a:t>
            </a:r>
            <a:r>
              <a:rPr lang="zh-CN" altLang="en-US" b="1" baseline="0">
                <a:latin typeface="Times New Roman" panose="02020603050405020304" pitchFamily="18" charset="0"/>
                <a:ea typeface="楷体-简" panose="02010600040101010101" pitchFamily="2" charset="-122"/>
              </a:rPr>
              <a:t>　</a:t>
            </a:r>
            <a:r>
              <a:rPr lang="zh-CN" altLang="en-US" sz="2400" b="1" baseline="0">
                <a:latin typeface="Times New Roman" panose="02020603050405020304" pitchFamily="18" charset="0"/>
                <a:ea typeface="楷体-简" panose="02010600040101010101" pitchFamily="2" charset="-122"/>
              </a:rPr>
              <a:t>◇ </a:t>
            </a:r>
            <a:r>
              <a:rPr lang="en-US" altLang="zh-CN" sz="2400" b="1" baseline="0">
                <a:latin typeface="Times New Roman" panose="02020603050405020304" pitchFamily="18" charset="0"/>
                <a:ea typeface="楷体-简" panose="02010600040101010101" pitchFamily="2" charset="-122"/>
              </a:rPr>
              <a:t>break</a:t>
            </a:r>
            <a:r>
              <a:rPr lang="zh-CN" altLang="en-US" sz="2400" b="1" baseline="0">
                <a:latin typeface="Times New Roman" panose="02020603050405020304" pitchFamily="18" charset="0"/>
                <a:ea typeface="楷体-简" panose="02010600040101010101" pitchFamily="2" charset="-122"/>
              </a:rPr>
              <a:t>语句</a:t>
            </a:r>
          </a:p>
          <a:p>
            <a:pPr eaLnBrk="1" hangingPunct="1">
              <a:buFontTx/>
              <a:buNone/>
            </a:pPr>
            <a:r>
              <a:rPr lang="zh-CN" altLang="en-US" sz="2400" b="1" baseline="0">
                <a:latin typeface="Times New Roman" panose="02020603050405020304" pitchFamily="18" charset="0"/>
                <a:ea typeface="楷体-简" panose="02010600040101010101" pitchFamily="2" charset="-122"/>
              </a:rPr>
              <a:t>         ◇ </a:t>
            </a:r>
            <a:r>
              <a:rPr lang="en-US" altLang="zh-CN" sz="2400" b="1" baseline="0">
                <a:latin typeface="Times New Roman" panose="02020603050405020304" pitchFamily="18" charset="0"/>
                <a:ea typeface="楷体-简" panose="02010600040101010101" pitchFamily="2" charset="-122"/>
              </a:rPr>
              <a:t>continue</a:t>
            </a:r>
            <a:r>
              <a:rPr lang="zh-CN" altLang="en-US" sz="2400" b="1" baseline="0">
                <a:latin typeface="Times New Roman" panose="02020603050405020304" pitchFamily="18" charset="0"/>
                <a:ea typeface="楷体-简" panose="02010600040101010101" pitchFamily="2" charset="-122"/>
              </a:rPr>
              <a:t>语句</a:t>
            </a:r>
          </a:p>
          <a:p>
            <a:pPr eaLnBrk="1" hangingPunct="1">
              <a:buFontTx/>
              <a:buNone/>
            </a:pPr>
            <a:r>
              <a:rPr lang="zh-CN" altLang="en-US" sz="2400" b="1" baseline="0">
                <a:latin typeface="Times New Roman" panose="02020603050405020304" pitchFamily="18" charset="0"/>
                <a:ea typeface="楷体-简" panose="02010600040101010101" pitchFamily="2" charset="-122"/>
              </a:rPr>
              <a:t>	　 ◇ 返回语句</a:t>
            </a:r>
            <a:r>
              <a:rPr lang="en-US" altLang="zh-CN" sz="2400" b="1" baseline="0">
                <a:latin typeface="Times New Roman" panose="02020603050405020304" pitchFamily="18" charset="0"/>
                <a:ea typeface="楷体-简" panose="02010600040101010101" pitchFamily="2" charset="-122"/>
              </a:rPr>
              <a:t>return</a:t>
            </a:r>
            <a:br>
              <a:rPr lang="en-US" altLang="zh-CN" sz="2400" b="1" baseline="0">
                <a:latin typeface="Times New Roman" panose="02020603050405020304" pitchFamily="18" charset="0"/>
                <a:ea typeface="楷体-简" panose="02010600040101010101" pitchFamily="2" charset="-122"/>
              </a:rPr>
            </a:br>
            <a:endParaRPr lang="en-US" altLang="zh-CN" sz="2400" b="1" baseline="0">
              <a:latin typeface="Times New Roman" panose="02020603050405020304" pitchFamily="18" charset="0"/>
              <a:ea typeface="楷体-简" panose="02010600040101010101" pitchFamily="2" charset="-122"/>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3">
            <a:extLst>
              <a:ext uri="{FF2B5EF4-FFF2-40B4-BE49-F238E27FC236}">
                <a16:creationId xmlns:a16="http://schemas.microsoft.com/office/drawing/2014/main" id="{0CDEE2EE-4BAA-494B-BCA1-EB91D25E924A}"/>
              </a:ext>
            </a:extLst>
          </p:cNvPr>
          <p:cNvSpPr>
            <a:spLocks noGrp="1" noChangeArrowheads="1"/>
          </p:cNvSpPr>
          <p:nvPr>
            <p:ph type="body" idx="1"/>
          </p:nvPr>
        </p:nvSpPr>
        <p:spPr>
          <a:xfrm>
            <a:off x="539750" y="476250"/>
            <a:ext cx="7921625" cy="5903913"/>
          </a:xfrm>
        </p:spPr>
        <p:txBody>
          <a:bodyPr/>
          <a:lstStyle/>
          <a:p>
            <a:pPr marL="609600" indent="-609600" eaLnBrk="1" hangingPunct="1">
              <a:buFontTx/>
              <a:buNone/>
            </a:pPr>
            <a:r>
              <a:rPr lang="en-US" altLang="zh-CN" b="1" baseline="0" dirty="0">
                <a:solidFill>
                  <a:srgbClr val="FF0066"/>
                </a:solidFill>
                <a:latin typeface="Times New Roman" panose="02020603050405020304" pitchFamily="18" charset="0"/>
                <a:ea typeface="楷体-简" panose="02010600040101010101" pitchFamily="2" charset="-122"/>
              </a:rPr>
              <a:t>1</a:t>
            </a:r>
            <a:r>
              <a:rPr lang="zh-CN" altLang="en-US" b="1" baseline="0" dirty="0">
                <a:solidFill>
                  <a:srgbClr val="FF0066"/>
                </a:solidFill>
                <a:latin typeface="Times New Roman" panose="02020603050405020304" pitchFamily="18" charset="0"/>
                <a:ea typeface="楷体-简" panose="02010600040101010101" pitchFamily="2" charset="-122"/>
              </a:rPr>
              <a:t>：</a:t>
            </a:r>
            <a:r>
              <a:rPr lang="en-US" altLang="zh-CN" b="1" baseline="0" dirty="0">
                <a:solidFill>
                  <a:srgbClr val="FF0066"/>
                </a:solidFill>
                <a:latin typeface="Times New Roman" panose="02020603050405020304" pitchFamily="18" charset="0"/>
                <a:ea typeface="楷体-简" panose="02010600040101010101" pitchFamily="2" charset="-122"/>
              </a:rPr>
              <a:t>break</a:t>
            </a:r>
            <a:r>
              <a:rPr lang="zh-CN" altLang="en-US" b="1" baseline="0" dirty="0">
                <a:solidFill>
                  <a:srgbClr val="FF0066"/>
                </a:solidFill>
                <a:latin typeface="Times New Roman" panose="02020603050405020304" pitchFamily="18" charset="0"/>
                <a:ea typeface="楷体-简" panose="02010600040101010101" pitchFamily="2" charset="-122"/>
              </a:rPr>
              <a:t>语句</a:t>
            </a:r>
            <a:br>
              <a:rPr lang="zh-CN" altLang="en-US" b="1" baseline="0" dirty="0">
                <a:solidFill>
                  <a:srgbClr val="FF0066"/>
                </a:solidFill>
                <a:latin typeface="Times New Roman" panose="02020603050405020304" pitchFamily="18" charset="0"/>
                <a:ea typeface="楷体-简" panose="02010600040101010101" pitchFamily="2" charset="-122"/>
              </a:rPr>
            </a:br>
            <a:endParaRPr lang="zh-CN" altLang="en-US" b="1" baseline="0" dirty="0">
              <a:solidFill>
                <a:srgbClr val="FF0066"/>
              </a:solidFill>
              <a:latin typeface="Times New Roman" panose="02020603050405020304" pitchFamily="18" charset="0"/>
              <a:ea typeface="楷体-简" panose="02010600040101010101" pitchFamily="2" charset="-122"/>
            </a:endParaRPr>
          </a:p>
          <a:p>
            <a:pPr eaLnBrk="1" hangingPunct="1">
              <a:buFont typeface="Wingdings" panose="05000000000000000000" pitchFamily="2" charset="2"/>
              <a:buChar char="Ø"/>
            </a:pPr>
            <a:r>
              <a:rPr lang="en-US" altLang="zh-CN" sz="2400" b="1" baseline="0" dirty="0">
                <a:latin typeface="Times New Roman" panose="02020603050405020304" pitchFamily="18" charset="0"/>
                <a:ea typeface="楷体-简" panose="02010600040101010101" pitchFamily="2" charset="-122"/>
              </a:rPr>
              <a:t> </a:t>
            </a:r>
            <a:r>
              <a:rPr lang="en-US" altLang="zh-CN" sz="2400" b="1" baseline="0" dirty="0">
                <a:solidFill>
                  <a:srgbClr val="C00000"/>
                </a:solidFill>
                <a:latin typeface="Times New Roman" panose="02020603050405020304" pitchFamily="18" charset="0"/>
                <a:ea typeface="楷体-简" panose="02010600040101010101" pitchFamily="2" charset="-122"/>
              </a:rPr>
              <a:t>break</a:t>
            </a:r>
            <a:r>
              <a:rPr lang="zh-CN" altLang="en-US" sz="2400" b="1" baseline="0" dirty="0">
                <a:solidFill>
                  <a:srgbClr val="C00000"/>
                </a:solidFill>
                <a:latin typeface="Times New Roman" panose="02020603050405020304" pitchFamily="18" charset="0"/>
                <a:ea typeface="楷体-简" panose="02010600040101010101" pitchFamily="2" charset="-122"/>
              </a:rPr>
              <a:t>语句</a:t>
            </a:r>
            <a:r>
              <a:rPr lang="zh-CN" altLang="en-US" sz="2400" b="1" baseline="0" dirty="0">
                <a:latin typeface="Times New Roman" panose="02020603050405020304" pitchFamily="18" charset="0"/>
                <a:ea typeface="楷体-简" panose="02010600040101010101" pitchFamily="2" charset="-122"/>
              </a:rPr>
              <a:t>可以中止循环中的子语句和</a:t>
            </a:r>
            <a:r>
              <a:rPr lang="en-US" altLang="zh-CN" sz="2400" b="1" baseline="0" dirty="0">
                <a:latin typeface="Times New Roman" panose="02020603050405020304" pitchFamily="18" charset="0"/>
                <a:ea typeface="楷体-简" panose="02010600040101010101" pitchFamily="2" charset="-122"/>
              </a:rPr>
              <a:t>switch</a:t>
            </a:r>
            <a:r>
              <a:rPr lang="zh-CN" altLang="en-US" sz="2400" b="1" baseline="0" dirty="0">
                <a:latin typeface="Times New Roman" panose="02020603050405020304" pitchFamily="18" charset="0"/>
                <a:ea typeface="楷体-简" panose="02010600040101010101" pitchFamily="2" charset="-122"/>
              </a:rPr>
              <a:t>语句。</a:t>
            </a:r>
            <a:endParaRPr lang="en-US" altLang="zh-CN" sz="2400" b="1" baseline="0" dirty="0">
              <a:latin typeface="Times New Roman" panose="02020603050405020304" pitchFamily="18" charset="0"/>
              <a:ea typeface="楷体-简" panose="02010600040101010101" pitchFamily="2" charset="-122"/>
            </a:endParaRPr>
          </a:p>
          <a:p>
            <a:pPr eaLnBrk="1" hangingPunct="1">
              <a:buFont typeface="Wingdings" panose="05000000000000000000" pitchFamily="2" charset="2"/>
              <a:buChar char="Ø"/>
            </a:pPr>
            <a:r>
              <a:rPr lang="en-US" altLang="zh-CN" sz="2400" b="1" baseline="0" dirty="0">
                <a:latin typeface="Times New Roman" panose="02020603050405020304" pitchFamily="18" charset="0"/>
                <a:ea typeface="楷体-简" panose="02010600040101010101" pitchFamily="2" charset="-122"/>
              </a:rPr>
              <a:t> </a:t>
            </a:r>
            <a:r>
              <a:rPr lang="zh-CN" altLang="en-US" sz="2400" b="1" baseline="0" dirty="0">
                <a:latin typeface="Times New Roman" panose="02020603050405020304" pitchFamily="18" charset="0"/>
                <a:ea typeface="楷体-简" panose="02010600040101010101" pitchFamily="2" charset="-122"/>
              </a:rPr>
              <a:t>一个无标号的</a:t>
            </a:r>
            <a:r>
              <a:rPr lang="en-US" altLang="zh-CN" sz="2400" b="1" baseline="0" dirty="0">
                <a:latin typeface="Times New Roman" panose="02020603050405020304" pitchFamily="18" charset="0"/>
                <a:ea typeface="楷体-简" panose="02010600040101010101" pitchFamily="2" charset="-122"/>
              </a:rPr>
              <a:t>break</a:t>
            </a:r>
            <a:r>
              <a:rPr lang="zh-CN" altLang="en-US" sz="2400" b="1" baseline="0" dirty="0">
                <a:latin typeface="Times New Roman" panose="02020603050405020304" pitchFamily="18" charset="0"/>
                <a:ea typeface="楷体-简" panose="02010600040101010101" pitchFamily="2" charset="-122"/>
              </a:rPr>
              <a:t>语句会把控制传给当前</a:t>
            </a:r>
            <a:r>
              <a:rPr lang="en-US" altLang="zh-CN" sz="2400" b="1" baseline="0" dirty="0">
                <a:latin typeface="Times New Roman" panose="02020603050405020304" pitchFamily="18" charset="0"/>
                <a:ea typeface="楷体-简" panose="02010600040101010101" pitchFamily="2" charset="-122"/>
              </a:rPr>
              <a:t>(</a:t>
            </a:r>
            <a:r>
              <a:rPr lang="zh-CN" altLang="en-US" sz="2400" b="1" baseline="0" dirty="0">
                <a:latin typeface="Times New Roman" panose="02020603050405020304" pitchFamily="18" charset="0"/>
                <a:ea typeface="楷体-简" panose="02010600040101010101" pitchFamily="2" charset="-122"/>
              </a:rPr>
              <a:t>最内</a:t>
            </a:r>
            <a:r>
              <a:rPr lang="en-US" altLang="zh-CN" sz="2400" b="1" baseline="0" dirty="0">
                <a:latin typeface="Times New Roman" panose="02020603050405020304" pitchFamily="18" charset="0"/>
                <a:ea typeface="楷体-简" panose="02010600040101010101" pitchFamily="2" charset="-122"/>
              </a:rPr>
              <a:t>)</a:t>
            </a:r>
            <a:r>
              <a:rPr lang="zh-CN" altLang="en-US" sz="2400" b="1" baseline="0" dirty="0">
                <a:latin typeface="Times New Roman" panose="02020603050405020304" pitchFamily="18" charset="0"/>
                <a:ea typeface="楷体-简" panose="02010600040101010101" pitchFamily="2" charset="-122"/>
              </a:rPr>
              <a:t>循环</a:t>
            </a:r>
            <a:r>
              <a:rPr lang="en-US" altLang="zh-CN" sz="2400" b="1" baseline="0" dirty="0">
                <a:latin typeface="Times New Roman" panose="02020603050405020304" pitchFamily="18" charset="0"/>
                <a:ea typeface="楷体-简" panose="02010600040101010101" pitchFamily="2" charset="-122"/>
              </a:rPr>
              <a:t>(while</a:t>
            </a:r>
            <a:r>
              <a:rPr lang="zh-CN" altLang="en-US" sz="2400" b="1" baseline="0" dirty="0">
                <a:latin typeface="Times New Roman" panose="02020603050405020304" pitchFamily="18" charset="0"/>
                <a:ea typeface="楷体-简" panose="02010600040101010101" pitchFamily="2" charset="-122"/>
              </a:rPr>
              <a:t>，</a:t>
            </a:r>
            <a:r>
              <a:rPr lang="en-US" altLang="zh-CN" sz="2400" b="1" baseline="0" dirty="0">
                <a:latin typeface="Times New Roman" panose="02020603050405020304" pitchFamily="18" charset="0"/>
                <a:ea typeface="楷体-简" panose="02010600040101010101" pitchFamily="2" charset="-122"/>
              </a:rPr>
              <a:t>do</a:t>
            </a:r>
            <a:r>
              <a:rPr lang="zh-CN" altLang="en-US" sz="2400" b="1" baseline="0" dirty="0">
                <a:latin typeface="Times New Roman" panose="02020603050405020304" pitchFamily="18" charset="0"/>
                <a:ea typeface="楷体-简" panose="02010600040101010101" pitchFamily="2" charset="-122"/>
              </a:rPr>
              <a:t>．</a:t>
            </a:r>
            <a:r>
              <a:rPr lang="en-US" altLang="zh-CN" sz="2400" b="1" baseline="0" dirty="0">
                <a:latin typeface="Times New Roman" panose="02020603050405020304" pitchFamily="18" charset="0"/>
                <a:ea typeface="楷体-简" panose="02010600040101010101" pitchFamily="2" charset="-122"/>
              </a:rPr>
              <a:t>for</a:t>
            </a:r>
            <a:r>
              <a:rPr lang="zh-CN" altLang="en-US" sz="2400" b="1" baseline="0" dirty="0">
                <a:latin typeface="Times New Roman" panose="02020603050405020304" pitchFamily="18" charset="0"/>
                <a:ea typeface="楷体-简" panose="02010600040101010101" pitchFamily="2" charset="-122"/>
              </a:rPr>
              <a:t>或</a:t>
            </a:r>
            <a:r>
              <a:rPr lang="en-US" altLang="zh-CN" sz="2400" b="1" baseline="0" dirty="0">
                <a:latin typeface="Times New Roman" panose="02020603050405020304" pitchFamily="18" charset="0"/>
                <a:ea typeface="楷体-简" panose="02010600040101010101" pitchFamily="2" charset="-122"/>
              </a:rPr>
              <a:t>Switch)</a:t>
            </a:r>
            <a:r>
              <a:rPr lang="zh-CN" altLang="en-US" sz="2400" b="1" baseline="0" dirty="0">
                <a:latin typeface="Times New Roman" panose="02020603050405020304" pitchFamily="18" charset="0"/>
                <a:ea typeface="楷体-简" panose="02010600040101010101" pitchFamily="2" charset="-122"/>
              </a:rPr>
              <a:t>的下一条语句。</a:t>
            </a:r>
            <a:endParaRPr lang="en-US" altLang="zh-CN" sz="2400" b="1" baseline="0" dirty="0">
              <a:latin typeface="Times New Roman" panose="02020603050405020304" pitchFamily="18" charset="0"/>
              <a:ea typeface="楷体-简" panose="02010600040101010101" pitchFamily="2" charset="-122"/>
            </a:endParaRPr>
          </a:p>
          <a:p>
            <a:pPr eaLnBrk="1" hangingPunct="1">
              <a:buFont typeface="Wingdings" panose="05000000000000000000" pitchFamily="2" charset="2"/>
              <a:buChar char="Ø"/>
            </a:pPr>
            <a:r>
              <a:rPr lang="zh-CN" altLang="en-US" sz="2400" b="1" baseline="0" dirty="0">
                <a:solidFill>
                  <a:srgbClr val="0000CC"/>
                </a:solidFill>
                <a:latin typeface="Times New Roman" panose="02020603050405020304" pitchFamily="18" charset="0"/>
                <a:ea typeface="楷体-简" panose="02010600040101010101" pitchFamily="2" charset="-122"/>
              </a:rPr>
              <a:t>如果有标号</a:t>
            </a:r>
            <a:r>
              <a:rPr lang="zh-CN" altLang="en-US" sz="2400" b="1" baseline="0" dirty="0">
                <a:latin typeface="Times New Roman" panose="02020603050405020304" pitchFamily="18" charset="0"/>
                <a:ea typeface="楷体-简" panose="02010600040101010101" pitchFamily="2" charset="-122"/>
              </a:rPr>
              <a:t>，控制会被传递给当前方法中的带有这一标号的语句。如：</a:t>
            </a:r>
          </a:p>
          <a:p>
            <a:pPr marL="609600" indent="-609600" eaLnBrk="1" hangingPunct="1">
              <a:buFontTx/>
              <a:buNone/>
            </a:pPr>
            <a:endParaRPr lang="zh-CN" altLang="en-US" sz="2800" b="1" baseline="0" dirty="0">
              <a:latin typeface="Times New Roman" panose="02020603050405020304" pitchFamily="18" charset="0"/>
              <a:ea typeface="楷体-简" panose="02010600040101010101" pitchFamily="2" charset="-122"/>
            </a:endParaRPr>
          </a:p>
          <a:p>
            <a:pPr marL="1371600" lvl="2" indent="-457200" eaLnBrk="1" hangingPunct="1">
              <a:lnSpc>
                <a:spcPct val="70000"/>
              </a:lnSpc>
              <a:buFontTx/>
              <a:buNone/>
            </a:pPr>
            <a:endParaRPr lang="en-US" altLang="zh-CN" sz="1800" baseline="0" dirty="0">
              <a:latin typeface="Times New Roman" panose="02020603050405020304" pitchFamily="18" charset="0"/>
              <a:ea typeface="楷体-简" panose="02010600040101010101" pitchFamily="2" charset="-122"/>
            </a:endParaRPr>
          </a:p>
        </p:txBody>
      </p:sp>
      <p:sp>
        <p:nvSpPr>
          <p:cNvPr id="3" name="Rectangle 3">
            <a:extLst>
              <a:ext uri="{FF2B5EF4-FFF2-40B4-BE49-F238E27FC236}">
                <a16:creationId xmlns:a16="http://schemas.microsoft.com/office/drawing/2014/main" id="{44079938-7947-418B-A3B9-D217EBA4E8D9}"/>
              </a:ext>
            </a:extLst>
          </p:cNvPr>
          <p:cNvSpPr txBox="1">
            <a:spLocks noChangeArrowheads="1"/>
          </p:cNvSpPr>
          <p:nvPr/>
        </p:nvSpPr>
        <p:spPr bwMode="auto">
          <a:xfrm>
            <a:off x="679885" y="3741645"/>
            <a:ext cx="8229600" cy="2664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2" eaLnBrk="1" hangingPunct="1">
              <a:buFontTx/>
              <a:buNone/>
            </a:pPr>
            <a:r>
              <a:rPr lang="en-US" altLang="zh-CN" sz="2000" b="1"/>
              <a:t>st: while(true)</a:t>
            </a:r>
          </a:p>
          <a:p>
            <a:pPr lvl="2" eaLnBrk="1" hangingPunct="1">
              <a:buFontTx/>
              <a:buNone/>
            </a:pPr>
            <a:r>
              <a:rPr lang="en-US" altLang="zh-CN" sz="2000" b="1"/>
              <a:t>{</a:t>
            </a:r>
          </a:p>
          <a:p>
            <a:pPr lvl="2" eaLnBrk="1" hangingPunct="1">
              <a:buFontTx/>
              <a:buNone/>
            </a:pPr>
            <a:r>
              <a:rPr lang="en-US" altLang="zh-CN" sz="2000" b="1"/>
              <a:t>     while(true)</a:t>
            </a:r>
          </a:p>
          <a:p>
            <a:pPr lvl="2" eaLnBrk="1" hangingPunct="1">
              <a:buFontTx/>
              <a:buNone/>
            </a:pPr>
            <a:r>
              <a:rPr lang="en-US" altLang="zh-CN" sz="2000" b="1"/>
              <a:t>     {</a:t>
            </a:r>
          </a:p>
          <a:p>
            <a:pPr lvl="2" eaLnBrk="1" hangingPunct="1">
              <a:buFontTx/>
              <a:buNone/>
            </a:pPr>
            <a:r>
              <a:rPr lang="en-US" altLang="zh-CN" sz="2000" b="1"/>
              <a:t>	   	break st;  //</a:t>
            </a:r>
            <a:r>
              <a:rPr lang="zh-CN" altLang="en-US" sz="2000" b="1"/>
              <a:t>跳转到标号</a:t>
            </a:r>
            <a:r>
              <a:rPr lang="en-US" altLang="zh-CN" sz="2000" b="1"/>
              <a:t>st</a:t>
            </a:r>
            <a:r>
              <a:rPr lang="zh-CN" altLang="en-US" sz="2000" b="1"/>
              <a:t>处继续执行</a:t>
            </a:r>
          </a:p>
          <a:p>
            <a:pPr lvl="2" eaLnBrk="1" hangingPunct="1">
              <a:buFontTx/>
              <a:buNone/>
            </a:pPr>
            <a:r>
              <a:rPr lang="zh-CN" altLang="en-US" sz="2000" b="1"/>
              <a:t>     </a:t>
            </a:r>
            <a:r>
              <a:rPr lang="en-US" altLang="zh-CN" sz="2000" b="1"/>
              <a:t>}</a:t>
            </a:r>
          </a:p>
          <a:p>
            <a:pPr lvl="2" eaLnBrk="1" hangingPunct="1">
              <a:buFontTx/>
              <a:buNone/>
            </a:pPr>
            <a:r>
              <a:rPr lang="en-US" altLang="zh-CN" sz="2000" b="1"/>
              <a:t>}</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3">
            <a:extLst>
              <a:ext uri="{FF2B5EF4-FFF2-40B4-BE49-F238E27FC236}">
                <a16:creationId xmlns:a16="http://schemas.microsoft.com/office/drawing/2014/main" id="{8EC4EB11-C7B2-4116-8252-A47AF44DD585}"/>
              </a:ext>
            </a:extLst>
          </p:cNvPr>
          <p:cNvSpPr>
            <a:spLocks noGrp="1" noChangeArrowheads="1"/>
          </p:cNvSpPr>
          <p:nvPr>
            <p:ph type="body" idx="1"/>
          </p:nvPr>
        </p:nvSpPr>
        <p:spPr>
          <a:xfrm>
            <a:off x="539750" y="836613"/>
            <a:ext cx="7921625" cy="3312467"/>
          </a:xfrm>
        </p:spPr>
        <p:txBody>
          <a:bodyPr/>
          <a:lstStyle/>
          <a:p>
            <a:pPr eaLnBrk="1" hangingPunct="1">
              <a:lnSpc>
                <a:spcPct val="90000"/>
              </a:lnSpc>
              <a:buFontTx/>
              <a:buNone/>
            </a:pPr>
            <a:r>
              <a:rPr lang="en-US" altLang="zh-CN" sz="2800" b="1" baseline="0">
                <a:solidFill>
                  <a:srgbClr val="FF0066"/>
                </a:solidFill>
                <a:latin typeface="Times New Roman" panose="02020603050405020304" pitchFamily="18" charset="0"/>
                <a:ea typeface="楷体-简" panose="02010600040101010101" pitchFamily="2" charset="-122"/>
              </a:rPr>
              <a:t>  2</a:t>
            </a:r>
            <a:r>
              <a:rPr lang="zh-CN" altLang="en-US" sz="2800" b="1" baseline="0">
                <a:solidFill>
                  <a:srgbClr val="FF0066"/>
                </a:solidFill>
                <a:latin typeface="Times New Roman" panose="02020603050405020304" pitchFamily="18" charset="0"/>
                <a:ea typeface="楷体-简" panose="02010600040101010101" pitchFamily="2" charset="-122"/>
              </a:rPr>
              <a:t>： </a:t>
            </a:r>
            <a:r>
              <a:rPr lang="en-US" altLang="zh-CN" sz="2800" b="1" baseline="0">
                <a:solidFill>
                  <a:srgbClr val="FF0066"/>
                </a:solidFill>
                <a:latin typeface="Times New Roman" panose="02020603050405020304" pitchFamily="18" charset="0"/>
                <a:ea typeface="楷体-简" panose="02010600040101010101" pitchFamily="2" charset="-122"/>
              </a:rPr>
              <a:t>continue</a:t>
            </a:r>
            <a:r>
              <a:rPr lang="zh-CN" altLang="en-US" sz="2800" b="1" baseline="0">
                <a:solidFill>
                  <a:srgbClr val="FF0066"/>
                </a:solidFill>
                <a:latin typeface="Times New Roman" panose="02020603050405020304" pitchFamily="18" charset="0"/>
                <a:ea typeface="楷体-简" panose="02010600040101010101" pitchFamily="2" charset="-122"/>
              </a:rPr>
              <a:t>语句</a:t>
            </a:r>
            <a:r>
              <a:rPr lang="zh-CN" altLang="en-US" b="1" baseline="0">
                <a:latin typeface="Times New Roman" panose="02020603050405020304" pitchFamily="18" charset="0"/>
                <a:ea typeface="楷体-简" panose="02010600040101010101" pitchFamily="2" charset="-122"/>
              </a:rPr>
              <a:t> </a:t>
            </a:r>
            <a:endParaRPr lang="en-US" altLang="zh-CN" b="1" baseline="0">
              <a:latin typeface="Times New Roman" panose="02020603050405020304" pitchFamily="18" charset="0"/>
              <a:ea typeface="楷体-简" panose="02010600040101010101" pitchFamily="2" charset="-122"/>
            </a:endParaRPr>
          </a:p>
          <a:p>
            <a:pPr eaLnBrk="1" hangingPunct="1">
              <a:lnSpc>
                <a:spcPct val="90000"/>
              </a:lnSpc>
              <a:buFontTx/>
              <a:buNone/>
            </a:pPr>
            <a:endParaRPr lang="zh-CN" altLang="en-US" baseline="0">
              <a:latin typeface="Times New Roman" panose="02020603050405020304" pitchFamily="18" charset="0"/>
              <a:ea typeface="楷体-简" panose="02010600040101010101" pitchFamily="2" charset="-122"/>
            </a:endParaRPr>
          </a:p>
          <a:p>
            <a:pPr eaLnBrk="1" hangingPunct="1">
              <a:lnSpc>
                <a:spcPct val="90000"/>
              </a:lnSpc>
              <a:buFont typeface="Wingdings" panose="05000000000000000000" pitchFamily="2" charset="2"/>
              <a:buChar char="Ø"/>
            </a:pPr>
            <a:r>
              <a:rPr lang="zh-CN" altLang="en-US" sz="2400" b="1" baseline="0">
                <a:latin typeface="Times New Roman" panose="02020603050405020304" pitchFamily="18" charset="0"/>
                <a:ea typeface="楷体-简" panose="02010600040101010101" pitchFamily="2" charset="-122"/>
              </a:rPr>
              <a:t> </a:t>
            </a:r>
            <a:r>
              <a:rPr lang="en-US" altLang="zh-CN" sz="2400" b="1" baseline="0">
                <a:solidFill>
                  <a:srgbClr val="C00000"/>
                </a:solidFill>
                <a:latin typeface="Times New Roman" panose="02020603050405020304" pitchFamily="18" charset="0"/>
                <a:ea typeface="楷体-简" panose="02010600040101010101" pitchFamily="2" charset="-122"/>
              </a:rPr>
              <a:t>continue</a:t>
            </a:r>
            <a:r>
              <a:rPr lang="zh-CN" altLang="en-US" sz="2400" b="1" baseline="0">
                <a:solidFill>
                  <a:srgbClr val="C00000"/>
                </a:solidFill>
                <a:latin typeface="Times New Roman" panose="02020603050405020304" pitchFamily="18" charset="0"/>
                <a:ea typeface="楷体-简" panose="02010600040101010101" pitchFamily="2" charset="-122"/>
              </a:rPr>
              <a:t>语句</a:t>
            </a:r>
            <a:r>
              <a:rPr lang="zh-CN" altLang="en-US" sz="2400" b="1" baseline="0">
                <a:latin typeface="Times New Roman" panose="02020603050405020304" pitchFamily="18" charset="0"/>
                <a:ea typeface="楷体-简" panose="02010600040101010101" pitchFamily="2" charset="-122"/>
              </a:rPr>
              <a:t>只能出现在循环语句</a:t>
            </a:r>
            <a:r>
              <a:rPr lang="en-US" altLang="zh-CN" sz="2400" b="1" baseline="0">
                <a:latin typeface="Times New Roman" panose="02020603050405020304" pitchFamily="18" charset="0"/>
                <a:ea typeface="楷体-简" panose="02010600040101010101" pitchFamily="2" charset="-122"/>
              </a:rPr>
              <a:t>(while,do</a:t>
            </a:r>
            <a:r>
              <a:rPr lang="zh-CN" altLang="en-US" sz="2400" b="1" baseline="0">
                <a:latin typeface="Times New Roman" panose="02020603050405020304" pitchFamily="18" charset="0"/>
                <a:ea typeface="楷体-简" panose="02010600040101010101" pitchFamily="2" charset="-122"/>
              </a:rPr>
              <a:t>，</a:t>
            </a:r>
            <a:r>
              <a:rPr lang="en-US" altLang="zh-CN" sz="2400" b="1" baseline="0">
                <a:latin typeface="Times New Roman" panose="02020603050405020304" pitchFamily="18" charset="0"/>
                <a:ea typeface="楷体-简" panose="02010600040101010101" pitchFamily="2" charset="-122"/>
              </a:rPr>
              <a:t>for)</a:t>
            </a:r>
            <a:r>
              <a:rPr lang="zh-CN" altLang="en-US" sz="2400" b="1" baseline="0">
                <a:latin typeface="Times New Roman" panose="02020603050405020304" pitchFamily="18" charset="0"/>
                <a:ea typeface="楷体-简" panose="02010600040101010101" pitchFamily="2" charset="-122"/>
              </a:rPr>
              <a:t>的子语句块中。</a:t>
            </a:r>
            <a:endParaRPr lang="en-US" altLang="zh-CN" sz="2400" b="1" baseline="0">
              <a:latin typeface="Times New Roman" panose="02020603050405020304" pitchFamily="18" charset="0"/>
              <a:ea typeface="楷体-简" panose="02010600040101010101" pitchFamily="2" charset="-122"/>
            </a:endParaRPr>
          </a:p>
          <a:p>
            <a:pPr eaLnBrk="1" hangingPunct="1">
              <a:lnSpc>
                <a:spcPct val="90000"/>
              </a:lnSpc>
              <a:buFont typeface="Wingdings" panose="05000000000000000000" pitchFamily="2" charset="2"/>
              <a:buChar char="Ø"/>
            </a:pPr>
            <a:r>
              <a:rPr lang="zh-CN" altLang="en-US" sz="2400" b="1" baseline="0">
                <a:solidFill>
                  <a:srgbClr val="0000CC"/>
                </a:solidFill>
                <a:latin typeface="Times New Roman" panose="02020603050405020304" pitchFamily="18" charset="0"/>
                <a:ea typeface="楷体-简" panose="02010600040101010101" pitchFamily="2" charset="-122"/>
              </a:rPr>
              <a:t>无标号的</a:t>
            </a:r>
            <a:r>
              <a:rPr lang="en-US" altLang="zh-CN" sz="2400" b="1" baseline="0">
                <a:solidFill>
                  <a:srgbClr val="0000CC"/>
                </a:solidFill>
                <a:latin typeface="Times New Roman" panose="02020603050405020304" pitchFamily="18" charset="0"/>
                <a:ea typeface="楷体-简" panose="02010600040101010101" pitchFamily="2" charset="-122"/>
              </a:rPr>
              <a:t>continue</a:t>
            </a:r>
            <a:r>
              <a:rPr lang="zh-CN" altLang="en-US" sz="2400" b="1" baseline="0">
                <a:solidFill>
                  <a:srgbClr val="0000CC"/>
                </a:solidFill>
                <a:latin typeface="Times New Roman" panose="02020603050405020304" pitchFamily="18" charset="0"/>
                <a:ea typeface="楷体-简" panose="02010600040101010101" pitchFamily="2" charset="-122"/>
              </a:rPr>
              <a:t>语句</a:t>
            </a:r>
            <a:r>
              <a:rPr lang="zh-CN" altLang="en-US" sz="2400" b="1" baseline="0">
                <a:latin typeface="Times New Roman" panose="02020603050405020304" pitchFamily="18" charset="0"/>
                <a:ea typeface="楷体-简" panose="02010600040101010101" pitchFamily="2" charset="-122"/>
              </a:rPr>
              <a:t>的作用是跳过</a:t>
            </a:r>
            <a:r>
              <a:rPr lang="zh-CN" altLang="en-US" sz="2400" b="1" baseline="0">
                <a:solidFill>
                  <a:srgbClr val="FF0066"/>
                </a:solidFill>
                <a:latin typeface="Times New Roman" panose="02020603050405020304" pitchFamily="18" charset="0"/>
                <a:ea typeface="楷体-简" panose="02010600040101010101" pitchFamily="2" charset="-122"/>
              </a:rPr>
              <a:t>当前</a:t>
            </a:r>
            <a:r>
              <a:rPr lang="zh-CN" altLang="en-US" sz="2400" b="1" baseline="0">
                <a:latin typeface="Times New Roman" panose="02020603050405020304" pitchFamily="18" charset="0"/>
                <a:ea typeface="楷体-简" panose="02010600040101010101" pitchFamily="2" charset="-122"/>
              </a:rPr>
              <a:t>循环的剩余语句块，接着执行下一次循环。</a:t>
            </a:r>
            <a:endParaRPr lang="en-US" altLang="zh-CN" sz="2400" b="1" baseline="0">
              <a:latin typeface="Times New Roman" panose="02020603050405020304" pitchFamily="18" charset="0"/>
              <a:ea typeface="楷体-简" panose="02010600040101010101" pitchFamily="2" charset="-122"/>
            </a:endParaRPr>
          </a:p>
          <a:p>
            <a:pPr eaLnBrk="1" hangingPunct="1">
              <a:lnSpc>
                <a:spcPct val="90000"/>
              </a:lnSpc>
              <a:buFont typeface="Wingdings" panose="05000000000000000000" pitchFamily="2" charset="2"/>
              <a:buChar char="Ø"/>
            </a:pPr>
            <a:r>
              <a:rPr lang="zh-CN" altLang="en-US" sz="2400" b="1" baseline="0">
                <a:solidFill>
                  <a:srgbClr val="0000CC"/>
                </a:solidFill>
                <a:latin typeface="Times New Roman" panose="02020603050405020304" pitchFamily="18" charset="0"/>
                <a:ea typeface="楷体-简" panose="02010600040101010101" pitchFamily="2" charset="-122"/>
              </a:rPr>
              <a:t>也可以用</a:t>
            </a:r>
            <a:r>
              <a:rPr lang="en-US" altLang="zh-CN" sz="2400" b="1" baseline="0">
                <a:solidFill>
                  <a:srgbClr val="0000CC"/>
                </a:solidFill>
                <a:latin typeface="Times New Roman" panose="02020603050405020304" pitchFamily="18" charset="0"/>
                <a:ea typeface="楷体-简" panose="02010600040101010101" pitchFamily="2" charset="-122"/>
              </a:rPr>
              <a:t>continue</a:t>
            </a:r>
            <a:r>
              <a:rPr lang="zh-CN" altLang="en-US" sz="2400" b="1" baseline="0">
                <a:solidFill>
                  <a:srgbClr val="0000CC"/>
                </a:solidFill>
                <a:latin typeface="Times New Roman" panose="02020603050405020304" pitchFamily="18" charset="0"/>
                <a:ea typeface="楷体-简" panose="02010600040101010101" pitchFamily="2" charset="-122"/>
              </a:rPr>
              <a:t>跳转到指明的外层循环中</a:t>
            </a:r>
            <a:r>
              <a:rPr lang="zh-CN" altLang="en-US" sz="2400" b="1" baseline="0">
                <a:latin typeface="Times New Roman" panose="02020603050405020304" pitchFamily="18" charset="0"/>
                <a:ea typeface="楷体-简" panose="02010600040101010101" pitchFamily="2" charset="-122"/>
              </a:rPr>
              <a:t>，这时的格式为：</a:t>
            </a:r>
            <a:r>
              <a:rPr lang="en-US" altLang="zh-CN" sz="2400" b="1" baseline="0">
                <a:latin typeface="Times New Roman" panose="02020603050405020304" pitchFamily="18" charset="0"/>
                <a:ea typeface="楷体-简" panose="02010600040101010101" pitchFamily="2" charset="-122"/>
              </a:rPr>
              <a:t>continue outerLable;</a:t>
            </a:r>
            <a:r>
              <a:rPr lang="en-US" altLang="zh-CN" sz="2400" baseline="0">
                <a:latin typeface="Times New Roman" panose="02020603050405020304" pitchFamily="18" charset="0"/>
                <a:ea typeface="楷体-简" panose="02010600040101010101" pitchFamily="2" charset="-122"/>
              </a:rPr>
              <a:t> </a:t>
            </a:r>
            <a:endParaRPr lang="zh-CN" altLang="en-US" sz="2400" b="1" baseline="0">
              <a:latin typeface="Times New Roman" panose="02020603050405020304" pitchFamily="18" charset="0"/>
              <a:ea typeface="楷体-简" panose="02010600040101010101" pitchFamily="2" charset="-122"/>
            </a:endParaRPr>
          </a:p>
          <a:p>
            <a:pPr eaLnBrk="1" hangingPunct="1">
              <a:lnSpc>
                <a:spcPct val="90000"/>
              </a:lnSpc>
              <a:buFontTx/>
              <a:buNone/>
            </a:pPr>
            <a:r>
              <a:rPr lang="zh-CN" altLang="en-US" sz="2400" b="1" baseline="0">
                <a:latin typeface="Times New Roman" panose="02020603050405020304" pitchFamily="18" charset="0"/>
                <a:ea typeface="楷体-简" panose="02010600040101010101" pitchFamily="2" charset="-122"/>
              </a:rPr>
              <a:t> </a:t>
            </a:r>
            <a:endParaRPr lang="en-US" altLang="zh-CN" sz="2400" b="1" baseline="0">
              <a:latin typeface="Times New Roman" panose="02020603050405020304" pitchFamily="18" charset="0"/>
              <a:ea typeface="楷体-简" panose="02010600040101010101" pitchFamily="2" charset="-122"/>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3">
            <a:extLst>
              <a:ext uri="{FF2B5EF4-FFF2-40B4-BE49-F238E27FC236}">
                <a16:creationId xmlns:a16="http://schemas.microsoft.com/office/drawing/2014/main" id="{B6D9AADC-649C-4EEF-A4BD-42677E4D1485}"/>
              </a:ext>
            </a:extLst>
          </p:cNvPr>
          <p:cNvSpPr>
            <a:spLocks noGrp="1" noChangeArrowheads="1"/>
          </p:cNvSpPr>
          <p:nvPr>
            <p:ph type="body" idx="1"/>
          </p:nvPr>
        </p:nvSpPr>
        <p:spPr>
          <a:xfrm>
            <a:off x="457200" y="476250"/>
            <a:ext cx="8229600" cy="5649913"/>
          </a:xfrm>
        </p:spPr>
        <p:txBody>
          <a:bodyPr/>
          <a:lstStyle/>
          <a:p>
            <a:pPr eaLnBrk="1" hangingPunct="1">
              <a:buFontTx/>
              <a:buNone/>
            </a:pPr>
            <a:r>
              <a:rPr lang="en-US" altLang="zh-CN" sz="2800" b="1" baseline="0">
                <a:solidFill>
                  <a:srgbClr val="FF0066"/>
                </a:solidFill>
                <a:latin typeface="Times New Roman" panose="02020603050405020304" pitchFamily="18" charset="0"/>
                <a:ea typeface="楷体-简" panose="02010600040101010101" pitchFamily="2" charset="-122"/>
              </a:rPr>
              <a:t>3</a:t>
            </a:r>
            <a:r>
              <a:rPr lang="zh-CN" altLang="en-US" sz="2800" b="1" baseline="0">
                <a:solidFill>
                  <a:srgbClr val="FF0066"/>
                </a:solidFill>
                <a:latin typeface="Times New Roman" panose="02020603050405020304" pitchFamily="18" charset="0"/>
                <a:ea typeface="楷体-简" panose="02010600040101010101" pitchFamily="2" charset="-122"/>
              </a:rPr>
              <a:t>：返回语句</a:t>
            </a:r>
            <a:r>
              <a:rPr lang="en-US" altLang="zh-CN" sz="2800" b="1" baseline="0">
                <a:solidFill>
                  <a:srgbClr val="FF0066"/>
                </a:solidFill>
                <a:latin typeface="Times New Roman" panose="02020603050405020304" pitchFamily="18" charset="0"/>
                <a:ea typeface="楷体-简" panose="02010600040101010101" pitchFamily="2" charset="-122"/>
              </a:rPr>
              <a:t>return</a:t>
            </a:r>
            <a:r>
              <a:rPr lang="zh-CN" altLang="en-US" baseline="0">
                <a:latin typeface="Times New Roman" panose="02020603050405020304" pitchFamily="18" charset="0"/>
                <a:ea typeface="楷体-简" panose="02010600040101010101" pitchFamily="2" charset="-122"/>
              </a:rPr>
              <a:t>　　　</a:t>
            </a:r>
            <a:br>
              <a:rPr lang="zh-CN" altLang="en-US" baseline="0">
                <a:latin typeface="Times New Roman" panose="02020603050405020304" pitchFamily="18" charset="0"/>
                <a:ea typeface="楷体-简" panose="02010600040101010101" pitchFamily="2" charset="-122"/>
              </a:rPr>
            </a:br>
            <a:endParaRPr lang="en-US" altLang="zh-CN" baseline="0">
              <a:latin typeface="Times New Roman" panose="02020603050405020304" pitchFamily="18" charset="0"/>
              <a:ea typeface="楷体-简" panose="02010600040101010101" pitchFamily="2" charset="-122"/>
            </a:endParaRPr>
          </a:p>
          <a:p>
            <a:pPr eaLnBrk="1" hangingPunct="1">
              <a:buFont typeface="Wingdings" panose="05000000000000000000" pitchFamily="2" charset="2"/>
              <a:buChar char="Ø"/>
            </a:pPr>
            <a:r>
              <a:rPr lang="en-US" altLang="zh-CN" sz="2400" b="1" baseline="0">
                <a:solidFill>
                  <a:srgbClr val="C00000"/>
                </a:solidFill>
                <a:latin typeface="Times New Roman" panose="02020603050405020304" pitchFamily="18" charset="0"/>
                <a:ea typeface="楷体-简" panose="02010600040101010101" pitchFamily="2" charset="-122"/>
              </a:rPr>
              <a:t>return</a:t>
            </a:r>
            <a:r>
              <a:rPr lang="zh-CN" altLang="en-US" sz="2400" b="1" baseline="0">
                <a:solidFill>
                  <a:srgbClr val="C00000"/>
                </a:solidFill>
                <a:latin typeface="Times New Roman" panose="02020603050405020304" pitchFamily="18" charset="0"/>
                <a:ea typeface="楷体-简" panose="02010600040101010101" pitchFamily="2" charset="-122"/>
              </a:rPr>
              <a:t>语句</a:t>
            </a:r>
            <a:r>
              <a:rPr lang="zh-CN" altLang="en-US" sz="2400" b="1" baseline="0">
                <a:latin typeface="Times New Roman" panose="02020603050405020304" pitchFamily="18" charset="0"/>
                <a:ea typeface="楷体-简" panose="02010600040101010101" pitchFamily="2" charset="-122"/>
              </a:rPr>
              <a:t>从当前方法中退出，返回到调用该方法的语句处，并从紧跟该语句的下一条语句继续程序的执行。返回语句有两种格式：</a:t>
            </a:r>
            <a:br>
              <a:rPr lang="zh-CN" altLang="en-US" sz="2400" b="1" baseline="0">
                <a:latin typeface="Times New Roman" panose="02020603050405020304" pitchFamily="18" charset="0"/>
                <a:ea typeface="楷体-简" panose="02010600040101010101" pitchFamily="2" charset="-122"/>
              </a:rPr>
            </a:br>
            <a:r>
              <a:rPr lang="zh-CN" altLang="en-US" sz="2400" b="1" baseline="0">
                <a:latin typeface="Times New Roman" panose="02020603050405020304" pitchFamily="18" charset="0"/>
                <a:ea typeface="楷体-简" panose="02010600040101010101" pitchFamily="2" charset="-122"/>
              </a:rPr>
              <a:t>　　</a:t>
            </a:r>
            <a:r>
              <a:rPr lang="en-US" altLang="zh-CN" sz="2400" b="1" baseline="0">
                <a:latin typeface="Times New Roman" panose="02020603050405020304" pitchFamily="18" charset="0"/>
                <a:ea typeface="楷体-简" panose="02010600040101010101" pitchFamily="2" charset="-122"/>
              </a:rPr>
              <a:t>return expression ;</a:t>
            </a:r>
            <a:br>
              <a:rPr lang="en-US" altLang="zh-CN" sz="2400" b="1" baseline="0">
                <a:latin typeface="Times New Roman" panose="02020603050405020304" pitchFamily="18" charset="0"/>
                <a:ea typeface="楷体-简" panose="02010600040101010101" pitchFamily="2" charset="-122"/>
              </a:rPr>
            </a:br>
            <a:r>
              <a:rPr lang="zh-CN" altLang="en-US" sz="2400" b="1" baseline="0">
                <a:latin typeface="Times New Roman" panose="02020603050405020304" pitchFamily="18" charset="0"/>
                <a:ea typeface="楷体-简" panose="02010600040101010101" pitchFamily="2" charset="-122"/>
              </a:rPr>
              <a:t>　　</a:t>
            </a:r>
            <a:r>
              <a:rPr lang="en-US" altLang="zh-CN" sz="2400" b="1" baseline="0">
                <a:latin typeface="Times New Roman" panose="02020603050405020304" pitchFamily="18" charset="0"/>
                <a:ea typeface="楷体-简" panose="02010600040101010101" pitchFamily="2" charset="-122"/>
              </a:rPr>
              <a:t>return;</a:t>
            </a:r>
            <a:br>
              <a:rPr lang="en-US" altLang="zh-CN" sz="2400" b="1" baseline="0">
                <a:latin typeface="Times New Roman" panose="02020603050405020304" pitchFamily="18" charset="0"/>
                <a:ea typeface="楷体-简" panose="02010600040101010101" pitchFamily="2" charset="-122"/>
              </a:rPr>
            </a:br>
            <a:endParaRPr lang="en-US" altLang="zh-CN" sz="2400" b="1" baseline="0">
              <a:latin typeface="Times New Roman" panose="02020603050405020304" pitchFamily="18" charset="0"/>
              <a:ea typeface="楷体-简" panose="02010600040101010101" pitchFamily="2" charset="-122"/>
            </a:endParaRPr>
          </a:p>
          <a:p>
            <a:pPr eaLnBrk="1" hangingPunct="1">
              <a:buFont typeface="Wingdings" panose="05000000000000000000" pitchFamily="2" charset="2"/>
              <a:buChar char="Ø"/>
            </a:pPr>
            <a:r>
              <a:rPr lang="en-US" altLang="zh-CN" sz="2400" b="1" baseline="0">
                <a:latin typeface="Times New Roman" panose="02020603050405020304" pitchFamily="18" charset="0"/>
                <a:ea typeface="楷体-简" panose="02010600040101010101" pitchFamily="2" charset="-122"/>
              </a:rPr>
              <a:t>return</a:t>
            </a:r>
            <a:r>
              <a:rPr lang="zh-CN" altLang="en-US" sz="2400" b="1" baseline="0">
                <a:latin typeface="Times New Roman" panose="02020603050405020304" pitchFamily="18" charset="0"/>
                <a:ea typeface="楷体-简" panose="02010600040101010101" pitchFamily="2" charset="-122"/>
              </a:rPr>
              <a:t>语句通常用在一个方法体的最后</a:t>
            </a:r>
            <a:r>
              <a:rPr lang="en-US" altLang="zh-CN" sz="2400" b="1" baseline="0">
                <a:latin typeface="Times New Roman" panose="02020603050405020304" pitchFamily="18" charset="0"/>
                <a:ea typeface="楷体-简" panose="02010600040101010101" pitchFamily="2" charset="-122"/>
              </a:rPr>
              <a:t>,</a:t>
            </a:r>
            <a:r>
              <a:rPr lang="zh-CN" altLang="en-US" sz="2400" b="1" baseline="0">
                <a:latin typeface="Times New Roman" panose="02020603050405020304" pitchFamily="18" charset="0"/>
                <a:ea typeface="楷体-简" panose="02010600040101010101" pitchFamily="2" charset="-122"/>
              </a:rPr>
              <a:t>否则会产生编译错误</a:t>
            </a:r>
            <a:r>
              <a:rPr lang="en-US" altLang="zh-CN" sz="2400" b="1" baseline="0">
                <a:latin typeface="Times New Roman" panose="02020603050405020304" pitchFamily="18" charset="0"/>
                <a:ea typeface="楷体-简" panose="02010600040101010101" pitchFamily="2" charset="-122"/>
              </a:rPr>
              <a:t>,</a:t>
            </a:r>
            <a:r>
              <a:rPr lang="zh-CN" altLang="en-US" sz="2400" b="1" baseline="0">
                <a:latin typeface="Times New Roman" panose="02020603050405020304" pitchFamily="18" charset="0"/>
                <a:ea typeface="楷体-简" panose="02010600040101010101" pitchFamily="2" charset="-122"/>
              </a:rPr>
              <a:t>除非用在</a:t>
            </a:r>
            <a:r>
              <a:rPr lang="en-US" altLang="zh-CN" sz="2400" b="1" baseline="0">
                <a:latin typeface="Times New Roman" panose="02020603050405020304" pitchFamily="18" charset="0"/>
                <a:ea typeface="楷体-简" panose="02010600040101010101" pitchFamily="2" charset="-122"/>
              </a:rPr>
              <a:t>if-else</a:t>
            </a:r>
            <a:r>
              <a:rPr lang="zh-CN" altLang="en-US" sz="2400" b="1" baseline="0">
                <a:latin typeface="Times New Roman" panose="02020603050405020304" pitchFamily="18" charset="0"/>
                <a:ea typeface="楷体-简" panose="02010600040101010101" pitchFamily="2" charset="-122"/>
              </a:rPr>
              <a:t>语句中</a:t>
            </a:r>
            <a:br>
              <a:rPr lang="zh-CN" altLang="en-US" sz="2400" b="1" baseline="0">
                <a:latin typeface="Times New Roman" panose="02020603050405020304" pitchFamily="18" charset="0"/>
                <a:ea typeface="楷体-简" panose="02010600040101010101" pitchFamily="2" charset="-122"/>
              </a:rPr>
            </a:br>
            <a:endParaRPr lang="zh-CN" altLang="en-US" sz="2400" b="1" baseline="0">
              <a:latin typeface="Times New Roman" panose="02020603050405020304" pitchFamily="18" charset="0"/>
              <a:ea typeface="楷体-简" panose="02010600040101010101" pitchFamily="2" charset="-122"/>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B8AA9409-EE73-4732-A7BE-EA15CD98CE65}"/>
              </a:ext>
            </a:extLst>
          </p:cNvPr>
          <p:cNvSpPr>
            <a:spLocks noGrp="1" noChangeArrowheads="1"/>
          </p:cNvSpPr>
          <p:nvPr>
            <p:ph type="title"/>
          </p:nvPr>
        </p:nvSpPr>
        <p:spPr/>
        <p:txBody>
          <a:bodyPr/>
          <a:lstStyle/>
          <a:p>
            <a:pPr algn="l" eaLnBrk="1" hangingPunct="1"/>
            <a:r>
              <a:rPr lang="en-US" altLang="zh-CN" sz="2800" b="1" baseline="0">
                <a:solidFill>
                  <a:srgbClr val="FF0066"/>
                </a:solidFill>
                <a:latin typeface="Times New Roman" panose="02020603050405020304" pitchFamily="18" charset="0"/>
                <a:ea typeface="楷体-简" panose="02010600040101010101" pitchFamily="2" charset="-122"/>
              </a:rPr>
              <a:t>4. </a:t>
            </a:r>
            <a:r>
              <a:rPr lang="zh-CN" altLang="en-US" sz="2800" b="1" baseline="0">
                <a:solidFill>
                  <a:srgbClr val="FF0066"/>
                </a:solidFill>
                <a:latin typeface="Times New Roman" panose="02020603050405020304" pitchFamily="18" charset="0"/>
                <a:ea typeface="楷体-简" panose="02010600040101010101" pitchFamily="2" charset="-122"/>
              </a:rPr>
              <a:t>例外处理语句</a:t>
            </a:r>
            <a:endParaRPr lang="zh-CN" altLang="en-US" sz="3600" baseline="0">
              <a:solidFill>
                <a:srgbClr val="FF0066"/>
              </a:solidFill>
              <a:latin typeface="Times New Roman" panose="02020603050405020304" pitchFamily="18" charset="0"/>
              <a:ea typeface="楷体-简" panose="02010600040101010101" pitchFamily="2" charset="-122"/>
            </a:endParaRPr>
          </a:p>
        </p:txBody>
      </p:sp>
      <p:sp>
        <p:nvSpPr>
          <p:cNvPr id="87043" name="Rectangle 3">
            <a:extLst>
              <a:ext uri="{FF2B5EF4-FFF2-40B4-BE49-F238E27FC236}">
                <a16:creationId xmlns:a16="http://schemas.microsoft.com/office/drawing/2014/main" id="{3299293F-0257-43E0-A9B4-B6D3707799CF}"/>
              </a:ext>
            </a:extLst>
          </p:cNvPr>
          <p:cNvSpPr>
            <a:spLocks noGrp="1" noChangeArrowheads="1"/>
          </p:cNvSpPr>
          <p:nvPr>
            <p:ph type="body" idx="1"/>
          </p:nvPr>
        </p:nvSpPr>
        <p:spPr>
          <a:xfrm>
            <a:off x="457200" y="1911661"/>
            <a:ext cx="8229600" cy="2908920"/>
          </a:xfrm>
        </p:spPr>
        <p:txBody>
          <a:bodyPr/>
          <a:lstStyle/>
          <a:p>
            <a:pPr eaLnBrk="1" hangingPunct="1">
              <a:buFont typeface="Wingdings" panose="05000000000000000000" pitchFamily="2" charset="2"/>
              <a:buChar char="Ø"/>
            </a:pPr>
            <a:r>
              <a:rPr lang="zh-CN" altLang="en-US" sz="2400" b="1" baseline="0">
                <a:latin typeface="Times New Roman" panose="02020603050405020304" pitchFamily="18" charset="0"/>
                <a:ea typeface="楷体-简" panose="02010600040101010101" pitchFamily="2" charset="-122"/>
              </a:rPr>
              <a:t>包括</a:t>
            </a:r>
            <a:r>
              <a:rPr lang="en-US" altLang="zh-CN" sz="2400" b="1" baseline="0">
                <a:latin typeface="Times New Roman" panose="02020603050405020304" pitchFamily="18" charset="0"/>
                <a:ea typeface="楷体-简" panose="02010600040101010101" pitchFamily="2" charset="-122"/>
              </a:rPr>
              <a:t>try,catch,finally,throw</a:t>
            </a:r>
            <a:r>
              <a:rPr lang="zh-CN" altLang="en-US" sz="2400" b="1" baseline="0">
                <a:latin typeface="Times New Roman" panose="02020603050405020304" pitchFamily="18" charset="0"/>
                <a:ea typeface="楷体-简" panose="02010600040101010101" pitchFamily="2" charset="-122"/>
              </a:rPr>
              <a:t>语句</a:t>
            </a:r>
            <a:r>
              <a:rPr lang="en-US" altLang="zh-CN" sz="2400" b="1" baseline="0">
                <a:latin typeface="Times New Roman" panose="02020603050405020304" pitchFamily="18" charset="0"/>
                <a:ea typeface="楷体-简" panose="02010600040101010101" pitchFamily="2" charset="-122"/>
              </a:rPr>
              <a:t>; </a:t>
            </a:r>
          </a:p>
          <a:p>
            <a:pPr eaLnBrk="1" hangingPunct="1">
              <a:buFont typeface="Wingdings" panose="05000000000000000000" pitchFamily="2" charset="2"/>
              <a:buChar char="Ø"/>
            </a:pPr>
            <a:endParaRPr lang="en-US" altLang="zh-CN" sz="2400" b="1" baseline="0">
              <a:latin typeface="Times New Roman" panose="02020603050405020304" pitchFamily="18" charset="0"/>
              <a:ea typeface="楷体-简" panose="02010600040101010101" pitchFamily="2" charset="-122"/>
            </a:endParaRPr>
          </a:p>
          <a:p>
            <a:pPr eaLnBrk="1" hangingPunct="1">
              <a:buFont typeface="Wingdings" panose="05000000000000000000" pitchFamily="2" charset="2"/>
              <a:buChar char="Ø"/>
            </a:pPr>
            <a:r>
              <a:rPr lang="zh-CN" altLang="en-US" sz="2400" b="1" baseline="0">
                <a:latin typeface="Times New Roman" panose="02020603050405020304" pitchFamily="18" charset="0"/>
                <a:ea typeface="楷体-简" panose="02010600040101010101" pitchFamily="2" charset="-122"/>
              </a:rPr>
              <a:t>与</a:t>
            </a:r>
            <a:r>
              <a:rPr lang="en-US" altLang="zh-CN" sz="2400" b="1" baseline="0">
                <a:latin typeface="Times New Roman" panose="02020603050405020304" pitchFamily="18" charset="0"/>
                <a:ea typeface="楷体-简" panose="02010600040101010101" pitchFamily="2" charset="-122"/>
              </a:rPr>
              <a:t>c/c++</a:t>
            </a:r>
            <a:r>
              <a:rPr lang="zh-CN" altLang="en-US" sz="2400" b="1" baseline="0">
                <a:latin typeface="Times New Roman" panose="02020603050405020304" pitchFamily="18" charset="0"/>
                <a:ea typeface="楷体-简" panose="02010600040101010101" pitchFamily="2" charset="-122"/>
              </a:rPr>
              <a:t>相比</a:t>
            </a:r>
            <a:r>
              <a:rPr lang="en-US" altLang="zh-CN" sz="2400" b="1" baseline="0">
                <a:latin typeface="Times New Roman" panose="02020603050405020304" pitchFamily="18" charset="0"/>
                <a:ea typeface="楷体-简" panose="02010600040101010101" pitchFamily="2" charset="-122"/>
              </a:rPr>
              <a:t>, </a:t>
            </a:r>
            <a:r>
              <a:rPr lang="en-US" altLang="zh-CN" sz="2400" b="1" baseline="0">
                <a:solidFill>
                  <a:srgbClr val="0000CC"/>
                </a:solidFill>
                <a:latin typeface="Times New Roman" panose="02020603050405020304" pitchFamily="18" charset="0"/>
                <a:ea typeface="楷体-简" panose="02010600040101010101" pitchFamily="2" charset="-122"/>
              </a:rPr>
              <a:t>finally</a:t>
            </a:r>
            <a:r>
              <a:rPr lang="zh-CN" altLang="en-US" sz="2400" b="1" baseline="0">
                <a:latin typeface="Times New Roman" panose="02020603050405020304" pitchFamily="18" charset="0"/>
                <a:ea typeface="楷体-简" panose="02010600040101010101" pitchFamily="2" charset="-122"/>
              </a:rPr>
              <a:t>是</a:t>
            </a:r>
            <a:r>
              <a:rPr lang="en-US" altLang="zh-CN" sz="2400" b="1" baseline="0">
                <a:latin typeface="Times New Roman" panose="02020603050405020304" pitchFamily="18" charset="0"/>
                <a:ea typeface="楷体-简" panose="02010600040101010101" pitchFamily="2" charset="-122"/>
              </a:rPr>
              <a:t>Java</a:t>
            </a:r>
            <a:r>
              <a:rPr lang="zh-CN" altLang="en-US" sz="2400" b="1" baseline="0">
                <a:latin typeface="Times New Roman" panose="02020603050405020304" pitchFamily="18" charset="0"/>
                <a:ea typeface="楷体-简" panose="02010600040101010101" pitchFamily="2" charset="-122"/>
              </a:rPr>
              <a:t>特有的语句。我们将在以后的章节中介绍。 </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3">
            <a:extLst>
              <a:ext uri="{FF2B5EF4-FFF2-40B4-BE49-F238E27FC236}">
                <a16:creationId xmlns:a16="http://schemas.microsoft.com/office/drawing/2014/main" id="{C4465AF9-FA41-4A52-B16B-3C72FB489CFB}"/>
              </a:ext>
            </a:extLst>
          </p:cNvPr>
          <p:cNvSpPr>
            <a:spLocks noGrp="1" noChangeArrowheads="1"/>
          </p:cNvSpPr>
          <p:nvPr>
            <p:ph type="body" idx="1"/>
          </p:nvPr>
        </p:nvSpPr>
        <p:spPr>
          <a:xfrm>
            <a:off x="468313" y="333375"/>
            <a:ext cx="8229600" cy="2447925"/>
          </a:xfrm>
        </p:spPr>
        <p:txBody>
          <a:bodyPr/>
          <a:lstStyle/>
          <a:p>
            <a:pPr eaLnBrk="1" hangingPunct="1">
              <a:lnSpc>
                <a:spcPct val="80000"/>
              </a:lnSpc>
              <a:buFontTx/>
              <a:buNone/>
            </a:pPr>
            <a:r>
              <a:rPr lang="zh-CN" altLang="en-US" sz="2800" b="1" baseline="0" dirty="0">
                <a:solidFill>
                  <a:srgbClr val="FF0066"/>
                </a:solidFill>
                <a:latin typeface="Times New Roman" panose="02020603050405020304" pitchFamily="18" charset="0"/>
                <a:ea typeface="楷体-简" panose="02010600040101010101" pitchFamily="2" charset="-122"/>
              </a:rPr>
              <a:t>一个有趣的例题</a:t>
            </a:r>
            <a:r>
              <a:rPr lang="zh-CN" altLang="en-US" sz="4800" b="1" baseline="0" dirty="0">
                <a:latin typeface="Times New Roman" panose="02020603050405020304" pitchFamily="18" charset="0"/>
                <a:ea typeface="楷体-简" panose="02010600040101010101" pitchFamily="2" charset="-122"/>
              </a:rPr>
              <a:t> </a:t>
            </a:r>
            <a:r>
              <a:rPr lang="zh-CN" altLang="en-US" sz="2000" baseline="0" dirty="0">
                <a:latin typeface="Times New Roman" panose="02020603050405020304" pitchFamily="18" charset="0"/>
                <a:ea typeface="楷体-简" panose="02010600040101010101" pitchFamily="2" charset="-122"/>
              </a:rPr>
              <a:t>	</a:t>
            </a:r>
          </a:p>
          <a:p>
            <a:pPr eaLnBrk="1" hangingPunct="1">
              <a:lnSpc>
                <a:spcPct val="80000"/>
              </a:lnSpc>
              <a:buFontTx/>
              <a:buNone/>
            </a:pPr>
            <a:r>
              <a:rPr lang="zh-CN" altLang="en-US" sz="2400" b="1" baseline="0" dirty="0">
                <a:latin typeface="Times New Roman" panose="02020603050405020304" pitchFamily="18" charset="0"/>
                <a:ea typeface="楷体-简" panose="02010600040101010101" pitchFamily="2" charset="-122"/>
              </a:rPr>
              <a:t> </a:t>
            </a:r>
            <a:r>
              <a:rPr lang="en-US" altLang="zh-CN" sz="2400" b="1" baseline="0" dirty="0">
                <a:latin typeface="Times New Roman" panose="02020603050405020304" pitchFamily="18" charset="0"/>
                <a:ea typeface="楷体-简" panose="02010600040101010101" pitchFamily="2" charset="-122"/>
              </a:rPr>
              <a:t>《</a:t>
            </a:r>
            <a:r>
              <a:rPr lang="zh-CN" altLang="en-US" sz="2400" b="1" baseline="0" dirty="0">
                <a:latin typeface="Times New Roman" panose="02020603050405020304" pitchFamily="18" charset="0"/>
                <a:ea typeface="楷体-简" panose="02010600040101010101" pitchFamily="2" charset="-122"/>
              </a:rPr>
              <a:t>射雕英雄传</a:t>
            </a:r>
            <a:r>
              <a:rPr lang="en-US" altLang="zh-CN" sz="2400" b="1" baseline="0" dirty="0">
                <a:latin typeface="Times New Roman" panose="02020603050405020304" pitchFamily="18" charset="0"/>
                <a:ea typeface="楷体-简" panose="02010600040101010101" pitchFamily="2" charset="-122"/>
              </a:rPr>
              <a:t>》</a:t>
            </a:r>
            <a:r>
              <a:rPr lang="zh-CN" altLang="en-US" sz="2400" b="1" baseline="0" dirty="0">
                <a:latin typeface="Times New Roman" panose="02020603050405020304" pitchFamily="18" charset="0"/>
                <a:ea typeface="楷体-简" panose="02010600040101010101" pitchFamily="2" charset="-122"/>
              </a:rPr>
              <a:t>的朋友，一定还记得黄蓉遇上神算子瑛姑，给她出的三道题目中有一题是这样的：今有物不知其数，三三数之剩二，五五数之剩三，七七数之剩二，问物几何？也就是说，有一个未知数，这个数除以三余二，除以五余三，除以七余二，问这个数是多少？</a:t>
            </a:r>
            <a:r>
              <a:rPr lang="zh-CN" altLang="en-US" sz="1700" baseline="0" dirty="0">
                <a:latin typeface="Times New Roman" panose="02020603050405020304" pitchFamily="18" charset="0"/>
                <a:ea typeface="楷体-简" panose="02010600040101010101" pitchFamily="2" charset="-122"/>
              </a:rPr>
              <a:t> </a:t>
            </a:r>
          </a:p>
        </p:txBody>
      </p:sp>
      <p:sp>
        <p:nvSpPr>
          <p:cNvPr id="495620" name="Rectangle 4">
            <a:extLst>
              <a:ext uri="{FF2B5EF4-FFF2-40B4-BE49-F238E27FC236}">
                <a16:creationId xmlns:a16="http://schemas.microsoft.com/office/drawing/2014/main" id="{10E738C0-6B95-4E77-A1C2-0E96D562A242}"/>
              </a:ext>
            </a:extLst>
          </p:cNvPr>
          <p:cNvSpPr>
            <a:spLocks noChangeArrowheads="1"/>
          </p:cNvSpPr>
          <p:nvPr/>
        </p:nvSpPr>
        <p:spPr bwMode="auto">
          <a:xfrm>
            <a:off x="179388" y="2416175"/>
            <a:ext cx="8964612" cy="415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tabLst>
                <a:tab pos="266700" algn="l"/>
              </a:tabLst>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tabLst>
                <a:tab pos="266700" algn="l"/>
              </a:tabLst>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tabLst>
                <a:tab pos="266700" algn="l"/>
              </a:tabLst>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tabLst>
                <a:tab pos="266700" algn="l"/>
              </a:tabLst>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tabLst>
                <a:tab pos="266700" algn="l"/>
              </a:tabLst>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tabLst>
                <a:tab pos="266700" algn="l"/>
              </a:tabLs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tabLst>
                <a:tab pos="266700" algn="l"/>
              </a:tabLs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tabLst>
                <a:tab pos="266700" algn="l"/>
              </a:tabLs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tabLst>
                <a:tab pos="266700" algn="l"/>
              </a:tabLst>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en-US" altLang="zh-CN" sz="2400">
              <a:solidFill>
                <a:srgbClr val="0000CC"/>
              </a:solidFill>
              <a:latin typeface="Verdana" panose="020B0604030504040204" pitchFamily="34" charset="0"/>
            </a:endParaRPr>
          </a:p>
          <a:p>
            <a:pPr eaLnBrk="1" hangingPunct="1">
              <a:spcBef>
                <a:spcPct val="0"/>
              </a:spcBef>
              <a:buFontTx/>
              <a:buNone/>
            </a:pPr>
            <a:r>
              <a:rPr lang="en-US" altLang="zh-CN" sz="2400">
                <a:solidFill>
                  <a:srgbClr val="0000CC"/>
                </a:solidFill>
                <a:latin typeface="Verdana" panose="020B0604030504040204" pitchFamily="34" charset="0"/>
              </a:rPr>
              <a:t>public class</a:t>
            </a:r>
            <a:r>
              <a:rPr lang="en-US" altLang="zh-CN" sz="2400">
                <a:latin typeface="Verdana" panose="020B0604030504040204" pitchFamily="34" charset="0"/>
              </a:rPr>
              <a:t> Calc{</a:t>
            </a:r>
          </a:p>
          <a:p>
            <a:pPr eaLnBrk="1" hangingPunct="1">
              <a:spcBef>
                <a:spcPct val="0"/>
              </a:spcBef>
              <a:buFontTx/>
              <a:buNone/>
            </a:pPr>
            <a:r>
              <a:rPr lang="en-US" altLang="zh-CN" sz="2400">
                <a:latin typeface="Verdana" panose="020B0604030504040204" pitchFamily="34" charset="0"/>
              </a:rPr>
              <a:t>  </a:t>
            </a:r>
            <a:r>
              <a:rPr lang="en-US" altLang="zh-CN" sz="2400">
                <a:solidFill>
                  <a:srgbClr val="0000CC"/>
                </a:solidFill>
                <a:latin typeface="Verdana" panose="020B0604030504040204" pitchFamily="34" charset="0"/>
              </a:rPr>
              <a:t>public static void</a:t>
            </a:r>
            <a:r>
              <a:rPr lang="en-US" altLang="zh-CN" sz="2400">
                <a:latin typeface="Verdana" panose="020B0604030504040204" pitchFamily="34" charset="0"/>
              </a:rPr>
              <a:t> main(</a:t>
            </a:r>
            <a:r>
              <a:rPr lang="en-US" altLang="zh-CN" sz="2400">
                <a:solidFill>
                  <a:srgbClr val="FF0066"/>
                </a:solidFill>
                <a:latin typeface="Verdana" panose="020B0604030504040204" pitchFamily="34" charset="0"/>
              </a:rPr>
              <a:t>String</a:t>
            </a:r>
            <a:r>
              <a:rPr lang="en-US" altLang="zh-CN" sz="2400">
                <a:latin typeface="Verdana" panose="020B0604030504040204" pitchFamily="34" charset="0"/>
              </a:rPr>
              <a:t>[] args) {</a:t>
            </a:r>
          </a:p>
          <a:p>
            <a:pPr eaLnBrk="1" hangingPunct="1">
              <a:spcBef>
                <a:spcPct val="0"/>
              </a:spcBef>
              <a:buFontTx/>
              <a:buNone/>
            </a:pPr>
            <a:r>
              <a:rPr lang="en-US" altLang="zh-CN" sz="2400">
                <a:latin typeface="Verdana" panose="020B0604030504040204" pitchFamily="34" charset="0"/>
              </a:rPr>
              <a:t>    int x;</a:t>
            </a:r>
          </a:p>
          <a:p>
            <a:pPr eaLnBrk="1" hangingPunct="1">
              <a:spcBef>
                <a:spcPct val="0"/>
              </a:spcBef>
              <a:buFontTx/>
              <a:buNone/>
            </a:pPr>
            <a:r>
              <a:rPr lang="en-US" altLang="zh-CN" sz="2400">
                <a:latin typeface="Verdana" panose="020B0604030504040204" pitchFamily="34" charset="0"/>
              </a:rPr>
              <a:t>    </a:t>
            </a:r>
            <a:r>
              <a:rPr lang="en-US" altLang="zh-CN" sz="2400">
                <a:solidFill>
                  <a:srgbClr val="0000CC"/>
                </a:solidFill>
                <a:latin typeface="Verdana" panose="020B0604030504040204" pitchFamily="34" charset="0"/>
              </a:rPr>
              <a:t>for</a:t>
            </a:r>
            <a:r>
              <a:rPr lang="en-US" altLang="zh-CN" sz="2400">
                <a:latin typeface="Verdana" panose="020B0604030504040204" pitchFamily="34" charset="0"/>
              </a:rPr>
              <a:t> (x=0; x&lt;100; x++) {</a:t>
            </a:r>
          </a:p>
          <a:p>
            <a:pPr eaLnBrk="1" hangingPunct="1">
              <a:spcBef>
                <a:spcPct val="0"/>
              </a:spcBef>
              <a:buFontTx/>
              <a:buNone/>
            </a:pPr>
            <a:r>
              <a:rPr lang="en-US" altLang="zh-CN" sz="2400">
                <a:latin typeface="Verdana" panose="020B0604030504040204" pitchFamily="34" charset="0"/>
              </a:rPr>
              <a:t>      if ((x%3==2) &amp;&amp; (x%5==3) &amp;&amp; (x%7==2)) {</a:t>
            </a:r>
          </a:p>
          <a:p>
            <a:pPr eaLnBrk="1" hangingPunct="1">
              <a:spcBef>
                <a:spcPct val="0"/>
              </a:spcBef>
              <a:buFontTx/>
              <a:buNone/>
            </a:pPr>
            <a:r>
              <a:rPr lang="en-US" altLang="zh-CN" sz="2400">
                <a:latin typeface="Verdana" panose="020B0604030504040204" pitchFamily="34" charset="0"/>
              </a:rPr>
              <a:t>        </a:t>
            </a:r>
            <a:r>
              <a:rPr lang="en-US" altLang="zh-CN" sz="2400">
                <a:solidFill>
                  <a:srgbClr val="FF0066"/>
                </a:solidFill>
                <a:latin typeface="Verdana" panose="020B0604030504040204" pitchFamily="34" charset="0"/>
              </a:rPr>
              <a:t>System</a:t>
            </a:r>
            <a:r>
              <a:rPr lang="en-US" altLang="zh-CN" sz="2400">
                <a:latin typeface="Verdana" panose="020B0604030504040204" pitchFamily="34" charset="0"/>
              </a:rPr>
              <a:t>.out.println("</a:t>
            </a:r>
            <a:r>
              <a:rPr lang="zh-CN" altLang="en-US" sz="2400">
                <a:latin typeface="Verdana" panose="020B0604030504040204" pitchFamily="34" charset="0"/>
              </a:rPr>
              <a:t>这个数字是：</a:t>
            </a:r>
            <a:r>
              <a:rPr lang="en-US" altLang="zh-CN" sz="2400">
                <a:latin typeface="Verdana" panose="020B0604030504040204" pitchFamily="34" charset="0"/>
              </a:rPr>
              <a:t>"+x);</a:t>
            </a:r>
          </a:p>
          <a:p>
            <a:pPr eaLnBrk="1" hangingPunct="1">
              <a:spcBef>
                <a:spcPct val="0"/>
              </a:spcBef>
              <a:buFontTx/>
              <a:buNone/>
            </a:pPr>
            <a:r>
              <a:rPr lang="en-US" altLang="zh-CN" sz="2400">
                <a:latin typeface="Verdana" panose="020B0604030504040204" pitchFamily="34" charset="0"/>
              </a:rPr>
              <a:t>      }</a:t>
            </a:r>
          </a:p>
          <a:p>
            <a:pPr eaLnBrk="1" hangingPunct="1">
              <a:spcBef>
                <a:spcPct val="0"/>
              </a:spcBef>
              <a:buFontTx/>
              <a:buNone/>
            </a:pPr>
            <a:r>
              <a:rPr lang="en-US" altLang="zh-CN" sz="2400">
                <a:latin typeface="Verdana" panose="020B0604030504040204" pitchFamily="34" charset="0"/>
              </a:rPr>
              <a:t>    }</a:t>
            </a:r>
          </a:p>
          <a:p>
            <a:pPr eaLnBrk="1" hangingPunct="1">
              <a:spcBef>
                <a:spcPct val="0"/>
              </a:spcBef>
              <a:buFontTx/>
              <a:buNone/>
            </a:pPr>
            <a:r>
              <a:rPr lang="en-US" altLang="zh-CN" sz="2400">
                <a:latin typeface="Verdana" panose="020B0604030504040204" pitchFamily="34" charset="0"/>
              </a:rPr>
              <a:t>  }  //end of main</a:t>
            </a:r>
          </a:p>
          <a:p>
            <a:pPr eaLnBrk="1" hangingPunct="1">
              <a:spcBef>
                <a:spcPct val="0"/>
              </a:spcBef>
              <a:buFontTx/>
              <a:buNone/>
            </a:pPr>
            <a:r>
              <a:rPr lang="en-US" altLang="zh-CN" sz="2400">
                <a:latin typeface="Verdana" panose="020B0604030504040204" pitchFamily="34" charset="0"/>
              </a:rPr>
              <a:t>}  //end of Calc</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95620"/>
                                        </p:tgtEl>
                                        <p:attrNameLst>
                                          <p:attrName>style.visibility</p:attrName>
                                        </p:attrNameLst>
                                      </p:cBhvr>
                                      <p:to>
                                        <p:strVal val="visible"/>
                                      </p:to>
                                    </p:set>
                                    <p:animEffect transition="in" filter="blinds(horizontal)">
                                      <p:cBhvr>
                                        <p:cTn id="7" dur="500"/>
                                        <p:tgtEl>
                                          <p:spTgt spid="4956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5620"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a:extLst>
              <a:ext uri="{FF2B5EF4-FFF2-40B4-BE49-F238E27FC236}">
                <a16:creationId xmlns:a16="http://schemas.microsoft.com/office/drawing/2014/main" id="{B69D1937-C1C4-42D4-83E5-358B748B1C15}"/>
              </a:ext>
            </a:extLst>
          </p:cNvPr>
          <p:cNvSpPr>
            <a:spLocks noGrp="1" noChangeArrowheads="1"/>
          </p:cNvSpPr>
          <p:nvPr>
            <p:ph type="title"/>
          </p:nvPr>
        </p:nvSpPr>
        <p:spPr>
          <a:xfrm>
            <a:off x="344016" y="332656"/>
            <a:ext cx="8229600" cy="1143000"/>
          </a:xfrm>
        </p:spPr>
        <p:txBody>
          <a:bodyPr/>
          <a:lstStyle/>
          <a:p>
            <a:pPr eaLnBrk="1" hangingPunct="1"/>
            <a:r>
              <a:rPr lang="en-US" altLang="zh-CN" sz="3800" baseline="0">
                <a:solidFill>
                  <a:srgbClr val="FF0066"/>
                </a:solidFill>
                <a:latin typeface="Times New Roman" panose="02020603050405020304" pitchFamily="18" charset="0"/>
                <a:ea typeface="楷体-简" panose="02010600040101010101" pitchFamily="2" charset="-122"/>
              </a:rPr>
              <a:t>2.9 </a:t>
            </a:r>
            <a:r>
              <a:rPr lang="zh-CN" altLang="en-US" sz="3800" baseline="0">
                <a:solidFill>
                  <a:srgbClr val="FF0066"/>
                </a:solidFill>
                <a:latin typeface="Times New Roman" panose="02020603050405020304" pitchFamily="18" charset="0"/>
                <a:ea typeface="楷体-简" panose="02010600040101010101" pitchFamily="2" charset="-122"/>
              </a:rPr>
              <a:t>数组</a:t>
            </a:r>
          </a:p>
        </p:txBody>
      </p:sp>
      <p:sp>
        <p:nvSpPr>
          <p:cNvPr id="89091" name="Rectangle 3">
            <a:extLst>
              <a:ext uri="{FF2B5EF4-FFF2-40B4-BE49-F238E27FC236}">
                <a16:creationId xmlns:a16="http://schemas.microsoft.com/office/drawing/2014/main" id="{1C0353A1-1E5D-483D-BB67-26DF716FBFDB}"/>
              </a:ext>
            </a:extLst>
          </p:cNvPr>
          <p:cNvSpPr>
            <a:spLocks noGrp="1" noChangeArrowheads="1"/>
          </p:cNvSpPr>
          <p:nvPr>
            <p:ph type="body" idx="1"/>
          </p:nvPr>
        </p:nvSpPr>
        <p:spPr>
          <a:xfrm>
            <a:off x="457200" y="1844824"/>
            <a:ext cx="8003232" cy="4525963"/>
          </a:xfrm>
        </p:spPr>
        <p:txBody>
          <a:bodyPr/>
          <a:lstStyle/>
          <a:p>
            <a:pPr eaLnBrk="1" hangingPunct="1"/>
            <a:r>
              <a:rPr lang="zh-CN" altLang="en-US" sz="2400" b="1" baseline="0">
                <a:solidFill>
                  <a:srgbClr val="C00000"/>
                </a:solidFill>
                <a:latin typeface="Times New Roman" panose="02020603050405020304" pitchFamily="18" charset="0"/>
                <a:ea typeface="楷体-简" panose="02010600040101010101" pitchFamily="2" charset="-122"/>
              </a:rPr>
              <a:t>数组</a:t>
            </a:r>
            <a:r>
              <a:rPr lang="zh-CN" altLang="en-US" sz="2400" b="1" baseline="0">
                <a:latin typeface="Times New Roman" panose="02020603050405020304" pitchFamily="18" charset="0"/>
                <a:ea typeface="楷体-简" panose="02010600040101010101" pitchFamily="2" charset="-122"/>
              </a:rPr>
              <a:t>可以看成是多个相同类型数据组合，对这些数据的统一管理。</a:t>
            </a:r>
          </a:p>
          <a:p>
            <a:pPr eaLnBrk="1" hangingPunct="1"/>
            <a:r>
              <a:rPr lang="zh-CN" altLang="en-US" sz="2400" b="1" baseline="0">
                <a:latin typeface="Times New Roman" panose="02020603050405020304" pitchFamily="18" charset="0"/>
                <a:ea typeface="楷体-简" panose="02010600040101010101" pitchFamily="2" charset="-122"/>
              </a:rPr>
              <a:t>数组变量属</a:t>
            </a:r>
            <a:r>
              <a:rPr lang="zh-CN" altLang="en-US" sz="2400" b="1" baseline="0">
                <a:solidFill>
                  <a:srgbClr val="0000CC"/>
                </a:solidFill>
                <a:latin typeface="Times New Roman" panose="02020603050405020304" pitchFamily="18" charset="0"/>
                <a:ea typeface="楷体-简" panose="02010600040101010101" pitchFamily="2" charset="-122"/>
              </a:rPr>
              <a:t>引用类型</a:t>
            </a:r>
            <a:r>
              <a:rPr lang="zh-CN" altLang="en-US" sz="2400" b="1" baseline="0">
                <a:latin typeface="Times New Roman" panose="02020603050405020304" pitchFamily="18" charset="0"/>
                <a:ea typeface="楷体-简" panose="02010600040101010101" pitchFamily="2" charset="-122"/>
              </a:rPr>
              <a:t>，数组也可以看成是对象，数组中的每个元素相当于该对象的成员变量。</a:t>
            </a:r>
          </a:p>
          <a:p>
            <a:pPr eaLnBrk="1" hangingPunct="1"/>
            <a:r>
              <a:rPr lang="zh-CN" altLang="en-US" sz="2400" b="1" baseline="0">
                <a:latin typeface="Times New Roman" panose="02020603050405020304" pitchFamily="18" charset="0"/>
                <a:ea typeface="楷体-简" panose="02010600040101010101" pitchFamily="2" charset="-122"/>
              </a:rPr>
              <a:t>数组中的元素可以是任何数据类型，包括基本类型和引用类型。</a:t>
            </a:r>
          </a:p>
          <a:p>
            <a:pPr eaLnBrk="1" hangingPunct="1"/>
            <a:r>
              <a:rPr lang="zh-CN" altLang="en-US" sz="2400" b="1" baseline="0">
                <a:latin typeface="Times New Roman" panose="02020603050405020304" pitchFamily="18" charset="0"/>
                <a:ea typeface="楷体-简" panose="02010600040101010101" pitchFamily="2" charset="-122"/>
              </a:rPr>
              <a:t>数组有一维数组和多维数组。</a:t>
            </a:r>
          </a:p>
          <a:p>
            <a:pPr eaLnBrk="1" hangingPunct="1">
              <a:buFontTx/>
              <a:buNone/>
            </a:pPr>
            <a:endParaRPr lang="en-US" altLang="zh-CN" sz="2400" b="1" baseline="0">
              <a:latin typeface="Times New Roman" panose="02020603050405020304" pitchFamily="18" charset="0"/>
              <a:ea typeface="楷体-简" panose="02010600040101010101" pitchFamily="2" charset="-122"/>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81AE2EAE-734B-46E0-961D-CDAD3A8B5BB9}"/>
              </a:ext>
            </a:extLst>
          </p:cNvPr>
          <p:cNvSpPr>
            <a:spLocks noGrp="1" noChangeArrowheads="1"/>
          </p:cNvSpPr>
          <p:nvPr>
            <p:ph type="title"/>
          </p:nvPr>
        </p:nvSpPr>
        <p:spPr/>
        <p:txBody>
          <a:bodyPr/>
          <a:lstStyle/>
          <a:p>
            <a:pPr eaLnBrk="1" hangingPunct="1"/>
            <a:r>
              <a:rPr lang="zh-CN" altLang="en-US" sz="3600" b="1" baseline="0">
                <a:solidFill>
                  <a:srgbClr val="FF0066"/>
                </a:solidFill>
                <a:latin typeface="Times New Roman" panose="02020603050405020304" pitchFamily="18" charset="0"/>
                <a:ea typeface="楷体-简" panose="02010600040101010101" pitchFamily="2" charset="-122"/>
              </a:rPr>
              <a:t>一维数组</a:t>
            </a:r>
          </a:p>
        </p:txBody>
      </p:sp>
      <p:sp>
        <p:nvSpPr>
          <p:cNvPr id="91139" name="Rectangle 3">
            <a:extLst>
              <a:ext uri="{FF2B5EF4-FFF2-40B4-BE49-F238E27FC236}">
                <a16:creationId xmlns:a16="http://schemas.microsoft.com/office/drawing/2014/main" id="{BA02A1F0-DAEC-4482-82C7-5237C890A7BE}"/>
              </a:ext>
            </a:extLst>
          </p:cNvPr>
          <p:cNvSpPr>
            <a:spLocks noGrp="1" noChangeArrowheads="1"/>
          </p:cNvSpPr>
          <p:nvPr>
            <p:ph type="body" idx="1"/>
          </p:nvPr>
        </p:nvSpPr>
        <p:spPr>
          <a:xfrm>
            <a:off x="457200" y="1600200"/>
            <a:ext cx="8435975" cy="3629000"/>
          </a:xfrm>
        </p:spPr>
        <p:txBody>
          <a:bodyPr/>
          <a:lstStyle/>
          <a:p>
            <a:pPr eaLnBrk="1" hangingPunct="1">
              <a:lnSpc>
                <a:spcPct val="90000"/>
              </a:lnSpc>
              <a:buFontTx/>
              <a:buNone/>
            </a:pPr>
            <a:r>
              <a:rPr lang="en-US" altLang="zh-CN" sz="2800" b="1" baseline="0">
                <a:solidFill>
                  <a:srgbClr val="FF0066"/>
                </a:solidFill>
                <a:latin typeface="Times New Roman" panose="02020603050405020304" pitchFamily="18" charset="0"/>
                <a:ea typeface="楷体-简" panose="02010600040101010101" pitchFamily="2" charset="-122"/>
              </a:rPr>
              <a:t>1</a:t>
            </a:r>
            <a:r>
              <a:rPr lang="zh-CN" altLang="en-US" sz="2800" b="1" baseline="0">
                <a:solidFill>
                  <a:srgbClr val="FF0066"/>
                </a:solidFill>
                <a:latin typeface="Times New Roman" panose="02020603050405020304" pitchFamily="18" charset="0"/>
                <a:ea typeface="楷体-简" panose="02010600040101010101" pitchFamily="2" charset="-122"/>
              </a:rPr>
              <a:t>． 一维数组的定义</a:t>
            </a:r>
            <a:br>
              <a:rPr lang="zh-CN" altLang="en-US" sz="2400" baseline="0">
                <a:latin typeface="Times New Roman" panose="02020603050405020304" pitchFamily="18" charset="0"/>
                <a:ea typeface="楷体-简" panose="02010600040101010101" pitchFamily="2" charset="-122"/>
              </a:rPr>
            </a:br>
            <a:r>
              <a:rPr lang="zh-CN" altLang="en-US" sz="2400" baseline="0">
                <a:latin typeface="Times New Roman" panose="02020603050405020304" pitchFamily="18" charset="0"/>
                <a:ea typeface="楷体-简" panose="02010600040101010101" pitchFamily="2" charset="-122"/>
              </a:rPr>
              <a:t>　　</a:t>
            </a:r>
            <a:r>
              <a:rPr lang="en-US" altLang="zh-CN" sz="2400" b="1" baseline="0">
                <a:latin typeface="Times New Roman" panose="02020603050405020304" pitchFamily="18" charset="0"/>
                <a:ea typeface="楷体-简" panose="02010600040101010101" pitchFamily="2" charset="-122"/>
              </a:rPr>
              <a:t>type arrayName[ ] </a:t>
            </a:r>
            <a:r>
              <a:rPr lang="zh-CN" altLang="en-US" sz="2400" b="1" baseline="0">
                <a:latin typeface="Times New Roman" panose="02020603050405020304" pitchFamily="18" charset="0"/>
                <a:ea typeface="楷体-简" panose="02010600040101010101" pitchFamily="2" charset="-122"/>
              </a:rPr>
              <a:t>或者 </a:t>
            </a:r>
            <a:r>
              <a:rPr lang="en-US" altLang="zh-CN" sz="2400" b="1" baseline="0">
                <a:latin typeface="Times New Roman" panose="02020603050405020304" pitchFamily="18" charset="0"/>
                <a:ea typeface="楷体-简" panose="02010600040101010101" pitchFamily="2" charset="-122"/>
              </a:rPr>
              <a:t>type[ ] arryName</a:t>
            </a:r>
            <a:r>
              <a:rPr lang="zh-CN" altLang="en-US" sz="2400" b="1" baseline="0">
                <a:latin typeface="Times New Roman" panose="02020603050405020304" pitchFamily="18" charset="0"/>
                <a:ea typeface="楷体-简" panose="02010600040101010101" pitchFamily="2" charset="-122"/>
              </a:rPr>
              <a:t>；</a:t>
            </a:r>
            <a:br>
              <a:rPr lang="zh-CN" altLang="en-US" sz="2400" b="1" baseline="0">
                <a:latin typeface="Times New Roman" panose="02020603050405020304" pitchFamily="18" charset="0"/>
                <a:ea typeface="楷体-简" panose="02010600040101010101" pitchFamily="2" charset="-122"/>
              </a:rPr>
            </a:br>
            <a:endParaRPr lang="zh-CN" altLang="en-US" sz="2400" b="1" baseline="0">
              <a:latin typeface="Times New Roman" panose="02020603050405020304" pitchFamily="18" charset="0"/>
              <a:ea typeface="楷体-简" panose="02010600040101010101" pitchFamily="2" charset="-122"/>
            </a:endParaRPr>
          </a:p>
          <a:p>
            <a:pPr eaLnBrk="1" hangingPunct="1">
              <a:lnSpc>
                <a:spcPct val="90000"/>
              </a:lnSpc>
              <a:buFont typeface="Wingdings" panose="05000000000000000000" pitchFamily="2" charset="2"/>
              <a:buChar char="Ø"/>
            </a:pPr>
            <a:r>
              <a:rPr lang="zh-CN" altLang="en-US" sz="2400" b="1" baseline="0">
                <a:latin typeface="Times New Roman" panose="02020603050405020304" pitchFamily="18" charset="0"/>
                <a:ea typeface="楷体-简" panose="02010600040101010101" pitchFamily="2" charset="-122"/>
              </a:rPr>
              <a:t>类型</a:t>
            </a:r>
            <a:r>
              <a:rPr lang="en-US" altLang="zh-CN" sz="2400" b="1" baseline="0">
                <a:latin typeface="Times New Roman" panose="02020603050405020304" pitchFamily="18" charset="0"/>
                <a:ea typeface="楷体-简" panose="02010600040101010101" pitchFamily="2" charset="-122"/>
              </a:rPr>
              <a:t>(type)</a:t>
            </a:r>
            <a:r>
              <a:rPr lang="zh-CN" altLang="en-US" sz="2400" b="1" baseline="0">
                <a:latin typeface="Times New Roman" panose="02020603050405020304" pitchFamily="18" charset="0"/>
                <a:ea typeface="楷体-简" panose="02010600040101010101" pitchFamily="2" charset="-122"/>
              </a:rPr>
              <a:t>可以为</a:t>
            </a:r>
            <a:r>
              <a:rPr lang="en-US" altLang="zh-CN" sz="2400" b="1" baseline="0">
                <a:latin typeface="Times New Roman" panose="02020603050405020304" pitchFamily="18" charset="0"/>
                <a:ea typeface="楷体-简" panose="02010600040101010101" pitchFamily="2" charset="-122"/>
              </a:rPr>
              <a:t>Java</a:t>
            </a:r>
            <a:r>
              <a:rPr lang="zh-CN" altLang="en-US" sz="2400" b="1" baseline="0">
                <a:latin typeface="Times New Roman" panose="02020603050405020304" pitchFamily="18" charset="0"/>
                <a:ea typeface="楷体-简" panose="02010600040101010101" pitchFamily="2" charset="-122"/>
              </a:rPr>
              <a:t>中任意的数据类型，包括简单类型和复合类型。</a:t>
            </a:r>
            <a:endParaRPr lang="en-US" altLang="zh-CN" sz="2400" b="1" baseline="0">
              <a:latin typeface="Times New Roman" panose="02020603050405020304" pitchFamily="18" charset="0"/>
              <a:ea typeface="楷体-简" panose="02010600040101010101" pitchFamily="2" charset="-122"/>
            </a:endParaRPr>
          </a:p>
          <a:p>
            <a:pPr eaLnBrk="1" hangingPunct="1">
              <a:lnSpc>
                <a:spcPct val="90000"/>
              </a:lnSpc>
              <a:buFontTx/>
              <a:buNone/>
            </a:pPr>
            <a:br>
              <a:rPr lang="zh-CN" altLang="en-US" sz="800" b="1" baseline="0">
                <a:latin typeface="Times New Roman" panose="02020603050405020304" pitchFamily="18" charset="0"/>
                <a:ea typeface="楷体-简" panose="02010600040101010101" pitchFamily="2" charset="-122"/>
              </a:rPr>
            </a:br>
            <a:r>
              <a:rPr lang="zh-CN" altLang="en-US" sz="2400" b="1" baseline="0">
                <a:latin typeface="Times New Roman" panose="02020603050405020304" pitchFamily="18" charset="0"/>
                <a:ea typeface="楷体-简" panose="02010600040101010101" pitchFamily="2" charset="-122"/>
              </a:rPr>
              <a:t>　　例如：</a:t>
            </a:r>
            <a:br>
              <a:rPr lang="zh-CN" altLang="en-US" sz="2400" b="1" baseline="0">
                <a:latin typeface="Times New Roman" panose="02020603050405020304" pitchFamily="18" charset="0"/>
                <a:ea typeface="楷体-简" panose="02010600040101010101" pitchFamily="2" charset="-122"/>
              </a:rPr>
            </a:br>
            <a:r>
              <a:rPr lang="zh-CN" altLang="en-US" sz="2400" b="1" baseline="0">
                <a:latin typeface="Times New Roman" panose="02020603050405020304" pitchFamily="18" charset="0"/>
                <a:ea typeface="楷体-简" panose="02010600040101010101" pitchFamily="2" charset="-122"/>
              </a:rPr>
              <a:t>　　　</a:t>
            </a:r>
            <a:r>
              <a:rPr lang="en-US" altLang="zh-CN" sz="2400" b="1" baseline="0">
                <a:latin typeface="Times New Roman" panose="02020603050405020304" pitchFamily="18" charset="0"/>
                <a:ea typeface="楷体-简" panose="02010600040101010101" pitchFamily="2" charset="-122"/>
              </a:rPr>
              <a:t>int intArray[ ]</a:t>
            </a:r>
            <a:r>
              <a:rPr lang="zh-CN" altLang="en-US" sz="2400" b="1" baseline="0">
                <a:latin typeface="Times New Roman" panose="02020603050405020304" pitchFamily="18" charset="0"/>
                <a:ea typeface="楷体-简" panose="02010600040101010101" pitchFamily="2" charset="-122"/>
              </a:rPr>
              <a:t>；</a:t>
            </a:r>
            <a:br>
              <a:rPr lang="zh-CN" altLang="en-US" sz="2400" b="1" baseline="0">
                <a:latin typeface="Times New Roman" panose="02020603050405020304" pitchFamily="18" charset="0"/>
                <a:ea typeface="楷体-简" panose="02010600040101010101" pitchFamily="2" charset="-122"/>
              </a:rPr>
            </a:br>
            <a:r>
              <a:rPr lang="zh-CN" altLang="en-US" sz="2400" b="1" baseline="0">
                <a:latin typeface="Times New Roman" panose="02020603050405020304" pitchFamily="18" charset="0"/>
                <a:ea typeface="楷体-简" panose="02010600040101010101" pitchFamily="2" charset="-122"/>
              </a:rPr>
              <a:t>　　　</a:t>
            </a:r>
            <a:r>
              <a:rPr lang="en-US" altLang="zh-CN" sz="2400" b="1" baseline="0">
                <a:latin typeface="Times New Roman" panose="02020603050405020304" pitchFamily="18" charset="0"/>
                <a:ea typeface="楷体-简" panose="02010600040101010101" pitchFamily="2" charset="-122"/>
              </a:rPr>
              <a:t>Date dateArray[];</a:t>
            </a:r>
            <a:br>
              <a:rPr lang="en-US" altLang="zh-CN" sz="2400" b="1" baseline="0">
                <a:latin typeface="Times New Roman" panose="02020603050405020304" pitchFamily="18" charset="0"/>
                <a:ea typeface="楷体-简" panose="02010600040101010101" pitchFamily="2" charset="-122"/>
              </a:rPr>
            </a:br>
            <a:endParaRPr lang="en-US" altLang="zh-CN" sz="2400" b="1" baseline="0">
              <a:latin typeface="Times New Roman" panose="02020603050405020304" pitchFamily="18" charset="0"/>
              <a:ea typeface="楷体-简" panose="02010600040101010101" pitchFamily="2" charset="-122"/>
            </a:endParaRPr>
          </a:p>
          <a:p>
            <a:pPr eaLnBrk="1" hangingPunct="1">
              <a:lnSpc>
                <a:spcPct val="90000"/>
              </a:lnSpc>
              <a:buFontTx/>
              <a:buNone/>
            </a:pPr>
            <a:endParaRPr lang="en-US" altLang="zh-CN" sz="2400" b="1" baseline="0">
              <a:latin typeface="Times New Roman" panose="02020603050405020304" pitchFamily="18" charset="0"/>
              <a:ea typeface="楷体-简" panose="02010600040101010101" pitchFamily="2" charset="-122"/>
            </a:endParaRPr>
          </a:p>
          <a:p>
            <a:pPr eaLnBrk="1" hangingPunct="1">
              <a:lnSpc>
                <a:spcPct val="90000"/>
              </a:lnSpc>
              <a:buFontTx/>
              <a:buNone/>
            </a:pPr>
            <a:r>
              <a:rPr lang="en-US" altLang="zh-CN" sz="2400" b="1" baseline="0">
                <a:latin typeface="Times New Roman" panose="02020603050405020304" pitchFamily="18" charset="0"/>
                <a:ea typeface="楷体-简" panose="02010600040101010101" pitchFamily="2" charset="-122"/>
              </a:rPr>
              <a:t>      </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3">
            <a:extLst>
              <a:ext uri="{FF2B5EF4-FFF2-40B4-BE49-F238E27FC236}">
                <a16:creationId xmlns:a16="http://schemas.microsoft.com/office/drawing/2014/main" id="{B8ABB415-A5E5-4625-8F00-C69512559B5B}"/>
              </a:ext>
            </a:extLst>
          </p:cNvPr>
          <p:cNvSpPr>
            <a:spLocks noGrp="1" noChangeArrowheads="1"/>
          </p:cNvSpPr>
          <p:nvPr>
            <p:ph type="body" idx="1"/>
          </p:nvPr>
        </p:nvSpPr>
        <p:spPr>
          <a:xfrm>
            <a:off x="0" y="548680"/>
            <a:ext cx="9144000" cy="5904507"/>
          </a:xfrm>
        </p:spPr>
        <p:txBody>
          <a:bodyPr/>
          <a:lstStyle/>
          <a:p>
            <a:pPr eaLnBrk="1" hangingPunct="1">
              <a:lnSpc>
                <a:spcPct val="80000"/>
              </a:lnSpc>
              <a:buFontTx/>
              <a:buNone/>
            </a:pPr>
            <a:r>
              <a:rPr lang="en-US" altLang="zh-CN" sz="2800" b="1" baseline="0">
                <a:solidFill>
                  <a:srgbClr val="FF0066"/>
                </a:solidFill>
                <a:latin typeface="Times New Roman" panose="02020603050405020304" pitchFamily="18" charset="0"/>
                <a:ea typeface="楷体-简" panose="02010600040101010101" pitchFamily="2" charset="-122"/>
              </a:rPr>
              <a:t>2</a:t>
            </a:r>
            <a:r>
              <a:rPr lang="zh-CN" altLang="en-US" sz="2800" b="1" baseline="0">
                <a:solidFill>
                  <a:srgbClr val="FF0066"/>
                </a:solidFill>
                <a:latin typeface="Times New Roman" panose="02020603050405020304" pitchFamily="18" charset="0"/>
                <a:ea typeface="楷体-简" panose="02010600040101010101" pitchFamily="2" charset="-122"/>
              </a:rPr>
              <a:t>．一维数组的初始化</a:t>
            </a:r>
            <a:br>
              <a:rPr lang="zh-CN" altLang="en-US" baseline="0">
                <a:latin typeface="Times New Roman" panose="02020603050405020304" pitchFamily="18" charset="0"/>
                <a:ea typeface="楷体-简" panose="02010600040101010101" pitchFamily="2" charset="-122"/>
              </a:rPr>
            </a:br>
            <a:endParaRPr lang="zh-CN" altLang="en-US" sz="1800" baseline="0">
              <a:latin typeface="Times New Roman" panose="02020603050405020304" pitchFamily="18" charset="0"/>
              <a:ea typeface="楷体-简" panose="02010600040101010101" pitchFamily="2" charset="-122"/>
            </a:endParaRPr>
          </a:p>
          <a:p>
            <a:pPr eaLnBrk="1" hangingPunct="1">
              <a:lnSpc>
                <a:spcPct val="80000"/>
              </a:lnSpc>
              <a:buFontTx/>
              <a:buNone/>
            </a:pPr>
            <a:r>
              <a:rPr lang="zh-CN" altLang="en-US" baseline="0">
                <a:latin typeface="Times New Roman" panose="02020603050405020304" pitchFamily="18" charset="0"/>
                <a:ea typeface="楷体-简" panose="02010600040101010101" pitchFamily="2" charset="-122"/>
              </a:rPr>
              <a:t>   </a:t>
            </a:r>
            <a:r>
              <a:rPr lang="zh-CN" altLang="en-US" sz="2300" b="1" baseline="0">
                <a:latin typeface="Times New Roman" panose="02020603050405020304" pitchFamily="18" charset="0"/>
                <a:ea typeface="楷体-简" panose="02010600040101010101" pitchFamily="2" charset="-122"/>
              </a:rPr>
              <a:t>◇ </a:t>
            </a:r>
            <a:r>
              <a:rPr lang="zh-CN" altLang="en-US" sz="2300" b="1" baseline="0">
                <a:solidFill>
                  <a:srgbClr val="0000CC"/>
                </a:solidFill>
                <a:latin typeface="Times New Roman" panose="02020603050405020304" pitchFamily="18" charset="0"/>
                <a:ea typeface="楷体-简" panose="02010600040101010101" pitchFamily="2" charset="-122"/>
              </a:rPr>
              <a:t>静态初始化</a:t>
            </a:r>
            <a:r>
              <a:rPr lang="en-US" altLang="zh-CN" sz="2300" b="1" baseline="0">
                <a:latin typeface="Times New Roman" panose="02020603050405020304" pitchFamily="18" charset="0"/>
                <a:ea typeface="楷体-简" panose="02010600040101010101" pitchFamily="2" charset="-122"/>
              </a:rPr>
              <a:t>:</a:t>
            </a:r>
            <a:r>
              <a:rPr lang="zh-CN" altLang="en-US" sz="2300" b="1" baseline="0">
                <a:latin typeface="Times New Roman" panose="02020603050405020304" pitchFamily="18" charset="0"/>
                <a:ea typeface="楷体-简" panose="02010600040101010101" pitchFamily="2" charset="-122"/>
              </a:rPr>
              <a:t>在定义数组的同时就为数组元素分配空间并赋值　　　</a:t>
            </a:r>
          </a:p>
          <a:p>
            <a:pPr eaLnBrk="1" hangingPunct="1">
              <a:lnSpc>
                <a:spcPct val="80000"/>
              </a:lnSpc>
              <a:buFontTx/>
              <a:buNone/>
            </a:pPr>
            <a:r>
              <a:rPr lang="zh-CN" altLang="en-US" sz="2300" b="1" baseline="0">
                <a:latin typeface="Times New Roman" panose="02020603050405020304" pitchFamily="18" charset="0"/>
                <a:ea typeface="楷体-简" panose="02010600040101010101" pitchFamily="2" charset="-122"/>
              </a:rPr>
              <a:t>　		</a:t>
            </a:r>
            <a:r>
              <a:rPr lang="pt-BR" altLang="en-US" sz="2000" b="1" baseline="0">
                <a:latin typeface="Times New Roman" panose="02020603050405020304" pitchFamily="18" charset="0"/>
                <a:ea typeface="楷体-简" panose="02010600040101010101" pitchFamily="2" charset="-122"/>
              </a:rPr>
              <a:t>int n[</a:t>
            </a:r>
            <a:r>
              <a:rPr lang="pt-BR" altLang="zh-CN" sz="2000" b="1" baseline="0">
                <a:latin typeface="Times New Roman" panose="02020603050405020304" pitchFamily="18" charset="0"/>
                <a:ea typeface="楷体-简" panose="02010600040101010101" pitchFamily="2" charset="-122"/>
              </a:rPr>
              <a:t> </a:t>
            </a:r>
            <a:r>
              <a:rPr lang="pt-BR" altLang="en-US" sz="2000" b="1" baseline="0">
                <a:latin typeface="Times New Roman" panose="02020603050405020304" pitchFamily="18" charset="0"/>
                <a:ea typeface="楷体-简" panose="02010600040101010101" pitchFamily="2" charset="-122"/>
              </a:rPr>
              <a:t>] = { 10, 20, 30, 40, 50 };</a:t>
            </a:r>
          </a:p>
          <a:p>
            <a:pPr eaLnBrk="1" hangingPunct="1">
              <a:lnSpc>
                <a:spcPct val="80000"/>
              </a:lnSpc>
              <a:buFontTx/>
              <a:buNone/>
            </a:pPr>
            <a:r>
              <a:rPr lang="pt-BR" altLang="en-US" sz="2000" b="1" baseline="0">
                <a:latin typeface="Times New Roman" panose="02020603050405020304" pitchFamily="18" charset="0"/>
                <a:ea typeface="楷体-简" panose="02010600040101010101" pitchFamily="2" charset="-122"/>
              </a:rPr>
              <a:t>  </a:t>
            </a:r>
            <a:r>
              <a:rPr lang="pt-BR" altLang="zh-CN" sz="2000" b="1" baseline="0">
                <a:latin typeface="Times New Roman" panose="02020603050405020304" pitchFamily="18" charset="0"/>
                <a:ea typeface="楷体-简" panose="02010600040101010101" pitchFamily="2" charset="-122"/>
              </a:rPr>
              <a:t>		</a:t>
            </a:r>
            <a:r>
              <a:rPr lang="pt-BR" altLang="en-US" sz="2000" b="1" baseline="0">
                <a:latin typeface="Times New Roman" panose="02020603050405020304" pitchFamily="18" charset="0"/>
                <a:ea typeface="楷体-简" panose="02010600040101010101" pitchFamily="2" charset="-122"/>
              </a:rPr>
              <a:t>int[</a:t>
            </a:r>
            <a:r>
              <a:rPr lang="pt-BR" altLang="zh-CN" sz="2000" b="1" baseline="0">
                <a:latin typeface="Times New Roman" panose="02020603050405020304" pitchFamily="18" charset="0"/>
                <a:ea typeface="楷体-简" panose="02010600040101010101" pitchFamily="2" charset="-122"/>
              </a:rPr>
              <a:t> </a:t>
            </a:r>
            <a:r>
              <a:rPr lang="pt-BR" altLang="en-US" sz="2000" b="1" baseline="0">
                <a:latin typeface="Times New Roman" panose="02020603050405020304" pitchFamily="18" charset="0"/>
                <a:ea typeface="楷体-简" panose="02010600040101010101" pitchFamily="2" charset="-122"/>
              </a:rPr>
              <a:t>] n = { 10, 20, 30, 40, 50 };</a:t>
            </a:r>
            <a:endParaRPr lang="pt-BR" altLang="zh-CN" sz="2000" b="1" baseline="0">
              <a:latin typeface="Times New Roman" panose="02020603050405020304" pitchFamily="18" charset="0"/>
              <a:ea typeface="楷体-简" panose="02010600040101010101" pitchFamily="2" charset="-122"/>
            </a:endParaRPr>
          </a:p>
          <a:p>
            <a:pPr eaLnBrk="1" hangingPunct="1">
              <a:lnSpc>
                <a:spcPct val="80000"/>
              </a:lnSpc>
              <a:buFontTx/>
              <a:buNone/>
            </a:pPr>
            <a:r>
              <a:rPr lang="zh-CN" altLang="en-US" sz="2000" b="1" baseline="0">
                <a:latin typeface="Times New Roman" panose="02020603050405020304" pitchFamily="18" charset="0"/>
                <a:ea typeface="楷体-简" panose="02010600040101010101" pitchFamily="2" charset="-122"/>
              </a:rPr>
              <a:t>　　　  </a:t>
            </a:r>
            <a:r>
              <a:rPr lang="en-US" altLang="zh-CN" sz="2000" b="1" baseline="0">
                <a:latin typeface="Times New Roman" panose="02020603050405020304" pitchFamily="18" charset="0"/>
                <a:ea typeface="楷体-简" panose="02010600040101010101" pitchFamily="2" charset="-122"/>
              </a:rPr>
              <a:t>String stringArray[ ] = {“abc”, “How”, “you”};</a:t>
            </a:r>
          </a:p>
          <a:p>
            <a:pPr eaLnBrk="1" hangingPunct="1">
              <a:lnSpc>
                <a:spcPct val="80000"/>
              </a:lnSpc>
              <a:buFontTx/>
              <a:buNone/>
            </a:pPr>
            <a:br>
              <a:rPr lang="en-US" altLang="zh-CN" sz="2300" b="1" baseline="0">
                <a:latin typeface="Times New Roman" panose="02020603050405020304" pitchFamily="18" charset="0"/>
                <a:ea typeface="楷体-简" panose="02010600040101010101" pitchFamily="2" charset="-122"/>
              </a:rPr>
            </a:br>
            <a:r>
              <a:rPr lang="en-US" altLang="zh-CN" sz="2300" b="1" baseline="0">
                <a:latin typeface="Times New Roman" panose="02020603050405020304" pitchFamily="18" charset="0"/>
                <a:ea typeface="楷体-简" panose="02010600040101010101" pitchFamily="2" charset="-122"/>
              </a:rPr>
              <a:t>◇ </a:t>
            </a:r>
            <a:r>
              <a:rPr lang="zh-CN" altLang="en-US" sz="2300" b="1" baseline="0">
                <a:solidFill>
                  <a:srgbClr val="0000CC"/>
                </a:solidFill>
                <a:latin typeface="Times New Roman" panose="02020603050405020304" pitchFamily="18" charset="0"/>
                <a:ea typeface="楷体-简" panose="02010600040101010101" pitchFamily="2" charset="-122"/>
              </a:rPr>
              <a:t>动态初始化</a:t>
            </a:r>
            <a:r>
              <a:rPr lang="en-US" altLang="zh-CN" sz="2300" b="1" baseline="0">
                <a:latin typeface="Times New Roman" panose="02020603050405020304" pitchFamily="18" charset="0"/>
                <a:ea typeface="楷体-简" panose="02010600040101010101" pitchFamily="2" charset="-122"/>
              </a:rPr>
              <a:t>:</a:t>
            </a:r>
            <a:r>
              <a:rPr lang="zh-CN" altLang="en-US" sz="2300" b="1" baseline="0">
                <a:latin typeface="Times New Roman" panose="02020603050405020304" pitchFamily="18" charset="0"/>
                <a:ea typeface="楷体-简" panose="02010600040101010101" pitchFamily="2" charset="-122"/>
              </a:rPr>
              <a:t>数组定义与为数组元素分配空间和赋值分开进行</a:t>
            </a:r>
            <a:br>
              <a:rPr lang="zh-CN" altLang="en-US" sz="2300" b="1" baseline="0">
                <a:latin typeface="Times New Roman" panose="02020603050405020304" pitchFamily="18" charset="0"/>
                <a:ea typeface="楷体-简" panose="02010600040101010101" pitchFamily="2" charset="-122"/>
              </a:rPr>
            </a:br>
            <a:r>
              <a:rPr lang="zh-CN" altLang="en-US" sz="2300" b="1" baseline="0">
                <a:latin typeface="Times New Roman" panose="02020603050405020304" pitchFamily="18" charset="0"/>
                <a:ea typeface="楷体-简" panose="02010600040101010101" pitchFamily="2" charset="-122"/>
              </a:rPr>
              <a:t>　    </a:t>
            </a:r>
            <a:r>
              <a:rPr lang="en-US" altLang="zh-CN" sz="2300" b="1" baseline="0">
                <a:latin typeface="Times New Roman" panose="02020603050405020304" pitchFamily="18" charset="0"/>
                <a:ea typeface="楷体-简" panose="02010600040101010101" pitchFamily="2" charset="-122"/>
              </a:rPr>
              <a:t>1</a:t>
            </a:r>
            <a:r>
              <a:rPr lang="zh-CN" altLang="en-US" sz="2300" b="1" baseline="0">
                <a:latin typeface="Times New Roman" panose="02020603050405020304" pitchFamily="18" charset="0"/>
                <a:ea typeface="楷体-简" panose="02010600040101010101" pitchFamily="2" charset="-122"/>
              </a:rPr>
              <a:t>）简单类型的数组</a:t>
            </a:r>
            <a:br>
              <a:rPr lang="zh-CN" altLang="en-US" sz="2300" b="1" baseline="0">
                <a:latin typeface="Times New Roman" panose="02020603050405020304" pitchFamily="18" charset="0"/>
                <a:ea typeface="楷体-简" panose="02010600040101010101" pitchFamily="2" charset="-122"/>
              </a:rPr>
            </a:br>
            <a:r>
              <a:rPr lang="zh-CN" altLang="en-US" sz="2300" b="1" baseline="0">
                <a:latin typeface="Times New Roman" panose="02020603050405020304" pitchFamily="18" charset="0"/>
                <a:ea typeface="楷体-简" panose="02010600040101010101" pitchFamily="2" charset="-122"/>
              </a:rPr>
              <a:t>　　　　</a:t>
            </a:r>
            <a:r>
              <a:rPr lang="en-US" altLang="zh-CN" sz="2000" b="1" baseline="0">
                <a:latin typeface="Times New Roman" panose="02020603050405020304" pitchFamily="18" charset="0"/>
                <a:ea typeface="楷体-简" panose="02010600040101010101" pitchFamily="2" charset="-122"/>
              </a:rPr>
              <a:t>int array[ ]; </a:t>
            </a:r>
            <a:br>
              <a:rPr lang="en-US" altLang="zh-CN" sz="2000" b="1" baseline="0">
                <a:latin typeface="Times New Roman" panose="02020603050405020304" pitchFamily="18" charset="0"/>
                <a:ea typeface="楷体-简" panose="02010600040101010101" pitchFamily="2" charset="-122"/>
              </a:rPr>
            </a:br>
            <a:r>
              <a:rPr lang="en-US" altLang="zh-CN" sz="2000" b="1" baseline="0">
                <a:latin typeface="Times New Roman" panose="02020603050405020304" pitchFamily="18" charset="0"/>
                <a:ea typeface="楷体-简" panose="02010600040101010101" pitchFamily="2" charset="-122"/>
              </a:rPr>
              <a:t>		……</a:t>
            </a:r>
          </a:p>
          <a:p>
            <a:pPr eaLnBrk="1" hangingPunct="1">
              <a:lnSpc>
                <a:spcPct val="80000"/>
              </a:lnSpc>
              <a:buFontTx/>
              <a:buNone/>
            </a:pPr>
            <a:r>
              <a:rPr lang="en-US" altLang="zh-CN" sz="2000" b="1" baseline="0">
                <a:latin typeface="Times New Roman" panose="02020603050405020304" pitchFamily="18" charset="0"/>
                <a:ea typeface="楷体-简" panose="02010600040101010101" pitchFamily="2" charset="-122"/>
              </a:rPr>
              <a:t>  </a:t>
            </a:r>
            <a:r>
              <a:rPr lang="zh-CN" altLang="en-US" sz="2000" b="1" baseline="0">
                <a:latin typeface="Times New Roman" panose="02020603050405020304" pitchFamily="18" charset="0"/>
                <a:ea typeface="楷体-简" panose="02010600040101010101" pitchFamily="2" charset="-122"/>
              </a:rPr>
              <a:t>　　　　     </a:t>
            </a:r>
            <a:r>
              <a:rPr lang="en-US" altLang="zh-CN" sz="2000" b="1" baseline="0">
                <a:latin typeface="Times New Roman" panose="02020603050405020304" pitchFamily="18" charset="0"/>
                <a:ea typeface="楷体-简" panose="02010600040101010101" pitchFamily="2" charset="-122"/>
              </a:rPr>
              <a:t>array = new int[5];</a:t>
            </a:r>
            <a:br>
              <a:rPr lang="en-US" altLang="zh-CN" sz="2300" b="1" baseline="0">
                <a:latin typeface="Times New Roman" panose="02020603050405020304" pitchFamily="18" charset="0"/>
                <a:ea typeface="楷体-简" panose="02010600040101010101" pitchFamily="2" charset="-122"/>
              </a:rPr>
            </a:br>
            <a:r>
              <a:rPr lang="en-US" altLang="zh-CN" sz="2300" b="1" baseline="0">
                <a:latin typeface="Times New Roman" panose="02020603050405020304" pitchFamily="18" charset="0"/>
                <a:ea typeface="楷体-简" panose="02010600040101010101" pitchFamily="2" charset="-122"/>
              </a:rPr>
              <a:t>	       </a:t>
            </a:r>
            <a:endParaRPr lang="pt-BR" altLang="en-US" sz="2300" b="1" baseline="0">
              <a:latin typeface="Times New Roman" panose="02020603050405020304" pitchFamily="18" charset="0"/>
              <a:ea typeface="楷体-简" panose="02010600040101010101" pitchFamily="2" charset="-122"/>
            </a:endParaRPr>
          </a:p>
          <a:p>
            <a:pPr eaLnBrk="1" hangingPunct="1">
              <a:lnSpc>
                <a:spcPct val="80000"/>
              </a:lnSpc>
              <a:buFontTx/>
              <a:buNone/>
            </a:pPr>
            <a:r>
              <a:rPr lang="zh-CN" altLang="en-US" sz="2300" b="1" baseline="0">
                <a:latin typeface="Times New Roman" panose="02020603050405020304" pitchFamily="18" charset="0"/>
                <a:ea typeface="楷体-简" panose="02010600040101010101" pitchFamily="2" charset="-122"/>
              </a:rPr>
              <a:t>　	        </a:t>
            </a:r>
            <a:r>
              <a:rPr lang="en-US" altLang="zh-CN" sz="2300" b="1" baseline="0">
                <a:latin typeface="Times New Roman" panose="02020603050405020304" pitchFamily="18" charset="0"/>
                <a:ea typeface="楷体-简" panose="02010600040101010101" pitchFamily="2" charset="-122"/>
              </a:rPr>
              <a:t>2</a:t>
            </a:r>
            <a:r>
              <a:rPr lang="zh-CN" altLang="en-US" sz="2300" b="1" baseline="0">
                <a:latin typeface="Times New Roman" panose="02020603050405020304" pitchFamily="18" charset="0"/>
                <a:ea typeface="楷体-简" panose="02010600040101010101" pitchFamily="2" charset="-122"/>
              </a:rPr>
              <a:t>）复合类型的数组</a:t>
            </a:r>
            <a:br>
              <a:rPr lang="zh-CN" altLang="en-US" sz="2300" b="1" baseline="0">
                <a:latin typeface="Times New Roman" panose="02020603050405020304" pitchFamily="18" charset="0"/>
                <a:ea typeface="楷体-简" panose="02010600040101010101" pitchFamily="2" charset="-122"/>
              </a:rPr>
            </a:br>
            <a:r>
              <a:rPr lang="zh-CN" altLang="en-US" sz="2300" b="1" baseline="0">
                <a:latin typeface="Times New Roman" panose="02020603050405020304" pitchFamily="18" charset="0"/>
                <a:ea typeface="楷体-简" panose="02010600040101010101" pitchFamily="2" charset="-122"/>
              </a:rPr>
              <a:t>　           </a:t>
            </a:r>
            <a:r>
              <a:rPr lang="en-US" altLang="zh-CN" sz="2000" b="1" baseline="0">
                <a:latin typeface="Times New Roman" panose="02020603050405020304" pitchFamily="18" charset="0"/>
                <a:ea typeface="楷体-简" panose="02010600040101010101" pitchFamily="2" charset="-122"/>
              </a:rPr>
              <a:t>String strArray[ ];</a:t>
            </a:r>
            <a:br>
              <a:rPr lang="en-US" altLang="zh-CN" sz="2000" b="1" baseline="0">
                <a:latin typeface="Times New Roman" panose="02020603050405020304" pitchFamily="18" charset="0"/>
                <a:ea typeface="楷体-简" panose="02010600040101010101" pitchFamily="2" charset="-122"/>
              </a:rPr>
            </a:br>
            <a:r>
              <a:rPr lang="en-US" altLang="zh-CN" sz="2000" b="1" baseline="0">
                <a:latin typeface="Times New Roman" panose="02020603050405020304" pitchFamily="18" charset="0"/>
                <a:ea typeface="楷体-简" panose="02010600040101010101" pitchFamily="2" charset="-122"/>
              </a:rPr>
              <a:t>                 strArray = new String[3];  //</a:t>
            </a:r>
            <a:r>
              <a:rPr lang="zh-CN" altLang="en-US" sz="2000" b="1" baseline="0">
                <a:latin typeface="Times New Roman" panose="02020603050405020304" pitchFamily="18" charset="0"/>
                <a:ea typeface="楷体-简" panose="02010600040101010101" pitchFamily="2" charset="-122"/>
              </a:rPr>
              <a:t>为每个元素开辟引用空间</a:t>
            </a:r>
            <a:endParaRPr lang="en-US" altLang="zh-CN" sz="2000" b="1" baseline="0">
              <a:latin typeface="Times New Roman" panose="02020603050405020304" pitchFamily="18" charset="0"/>
              <a:ea typeface="楷体-简" panose="02010600040101010101" pitchFamily="2" charset="-122"/>
            </a:endParaRPr>
          </a:p>
          <a:p>
            <a:pPr eaLnBrk="1" hangingPunct="1">
              <a:lnSpc>
                <a:spcPct val="80000"/>
              </a:lnSpc>
              <a:buFontTx/>
              <a:buNone/>
            </a:pPr>
            <a:r>
              <a:rPr lang="en-US" altLang="zh-CN" sz="2000" b="1" baseline="0">
                <a:latin typeface="Times New Roman" panose="02020603050405020304" pitchFamily="18" charset="0"/>
                <a:ea typeface="楷体-简" panose="02010600040101010101" pitchFamily="2" charset="-122"/>
              </a:rPr>
              <a:t>                      strArray[0] = new String(“How”);  //</a:t>
            </a:r>
            <a:r>
              <a:rPr lang="zh-CN" altLang="en-US" sz="2000" b="1" baseline="0">
                <a:latin typeface="Times New Roman" panose="02020603050405020304" pitchFamily="18" charset="0"/>
                <a:ea typeface="楷体-简" panose="02010600040101010101" pitchFamily="2" charset="-122"/>
              </a:rPr>
              <a:t>为第一个数组元素开辟空间 </a:t>
            </a:r>
            <a:br>
              <a:rPr lang="zh-CN" altLang="en-US" sz="2000" b="1" baseline="0">
                <a:latin typeface="Times New Roman" panose="02020603050405020304" pitchFamily="18" charset="0"/>
                <a:ea typeface="楷体-简" panose="02010600040101010101" pitchFamily="2" charset="-122"/>
              </a:rPr>
            </a:br>
            <a:r>
              <a:rPr lang="zh-CN" altLang="en-US" sz="2000" b="1" baseline="0">
                <a:latin typeface="Times New Roman" panose="02020603050405020304" pitchFamily="18" charset="0"/>
                <a:ea typeface="楷体-简" panose="02010600040101010101" pitchFamily="2" charset="-122"/>
              </a:rPr>
              <a:t>　             </a:t>
            </a:r>
            <a:r>
              <a:rPr lang="en-US" altLang="zh-CN" sz="2000" b="1" baseline="0">
                <a:latin typeface="Times New Roman" panose="02020603050405020304" pitchFamily="18" charset="0"/>
                <a:ea typeface="楷体-简" panose="02010600040101010101" pitchFamily="2" charset="-122"/>
              </a:rPr>
              <a:t>strArray[1] = new String(“are”);    //</a:t>
            </a:r>
            <a:r>
              <a:rPr lang="zh-CN" altLang="en-US" sz="2000" b="1" baseline="0">
                <a:latin typeface="Times New Roman" panose="02020603050405020304" pitchFamily="18" charset="0"/>
                <a:ea typeface="楷体-简" panose="02010600040101010101" pitchFamily="2" charset="-122"/>
              </a:rPr>
              <a:t>为第二个数组元素开辟空间</a:t>
            </a:r>
            <a:br>
              <a:rPr lang="zh-CN" altLang="en-US" sz="2000" b="1" baseline="0">
                <a:latin typeface="Times New Roman" panose="02020603050405020304" pitchFamily="18" charset="0"/>
                <a:ea typeface="楷体-简" panose="02010600040101010101" pitchFamily="2" charset="-122"/>
              </a:rPr>
            </a:br>
            <a:r>
              <a:rPr lang="zh-CN" altLang="en-US" sz="2000" b="1" baseline="0">
                <a:latin typeface="Times New Roman" panose="02020603050405020304" pitchFamily="18" charset="0"/>
                <a:ea typeface="楷体-简" panose="02010600040101010101" pitchFamily="2" charset="-122"/>
              </a:rPr>
              <a:t>　             </a:t>
            </a:r>
            <a:r>
              <a:rPr lang="en-US" altLang="zh-CN" sz="2000" b="1" baseline="0">
                <a:latin typeface="Times New Roman" panose="02020603050405020304" pitchFamily="18" charset="0"/>
                <a:ea typeface="楷体-简" panose="02010600040101010101" pitchFamily="2" charset="-122"/>
              </a:rPr>
              <a:t>strArray[2] = new String(“you”);   // </a:t>
            </a:r>
            <a:r>
              <a:rPr lang="zh-CN" altLang="en-US" sz="2000" b="1" baseline="0">
                <a:latin typeface="Times New Roman" panose="02020603050405020304" pitchFamily="18" charset="0"/>
                <a:ea typeface="楷体-简" panose="02010600040101010101" pitchFamily="2" charset="-122"/>
              </a:rPr>
              <a:t>为第三个数组元素开辟空间</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4">
            <a:extLst>
              <a:ext uri="{FF2B5EF4-FFF2-40B4-BE49-F238E27FC236}">
                <a16:creationId xmlns:a16="http://schemas.microsoft.com/office/drawing/2014/main" id="{9C939F9D-8B46-4715-8B91-B779335D2B8C}"/>
              </a:ext>
            </a:extLst>
          </p:cNvPr>
          <p:cNvSpPr>
            <a:spLocks noChangeArrowheads="1"/>
          </p:cNvSpPr>
          <p:nvPr/>
        </p:nvSpPr>
        <p:spPr bwMode="auto">
          <a:xfrm>
            <a:off x="215106" y="980728"/>
            <a:ext cx="8713787" cy="39395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500">
                <a:solidFill>
                  <a:srgbClr val="FF0066"/>
                </a:solidFill>
              </a:rPr>
              <a:t>注</a:t>
            </a:r>
            <a:r>
              <a:rPr lang="en-US" altLang="zh-CN" sz="2500">
                <a:solidFill>
                  <a:srgbClr val="FF0066"/>
                </a:solidFill>
              </a:rPr>
              <a:t>:</a:t>
            </a:r>
            <a:r>
              <a:rPr lang="en-US" altLang="zh-CN" sz="2500"/>
              <a:t>  </a:t>
            </a:r>
          </a:p>
          <a:p>
            <a:pPr eaLnBrk="1" hangingPunct="1">
              <a:spcBef>
                <a:spcPct val="0"/>
              </a:spcBef>
              <a:buFontTx/>
              <a:buNone/>
            </a:pPr>
            <a:r>
              <a:rPr lang="en-US" altLang="zh-CN" sz="2500">
                <a:solidFill>
                  <a:srgbClr val="0000CC"/>
                </a:solidFill>
              </a:rPr>
              <a:t>      1: Java</a:t>
            </a:r>
            <a:r>
              <a:rPr lang="zh-CN" altLang="en-US" sz="2500">
                <a:solidFill>
                  <a:srgbClr val="0000CC"/>
                </a:solidFill>
              </a:rPr>
              <a:t>不允许在声明数组时指定其长度</a:t>
            </a:r>
          </a:p>
          <a:p>
            <a:pPr eaLnBrk="1" hangingPunct="1">
              <a:spcBef>
                <a:spcPct val="0"/>
              </a:spcBef>
              <a:buFontTx/>
              <a:buNone/>
            </a:pPr>
            <a:r>
              <a:rPr lang="zh-CN" altLang="en-US" sz="2500"/>
              <a:t>      例：  </a:t>
            </a:r>
            <a:r>
              <a:rPr lang="en-US" altLang="zh-CN" sz="2500"/>
              <a:t>int a[5] ; //</a:t>
            </a:r>
            <a:r>
              <a:rPr lang="zh-CN" altLang="en-US" sz="2500"/>
              <a:t>非法</a:t>
            </a:r>
          </a:p>
          <a:p>
            <a:pPr lvl="3" eaLnBrk="1" hangingPunct="1">
              <a:spcBef>
                <a:spcPct val="0"/>
              </a:spcBef>
              <a:buFontTx/>
              <a:buNone/>
            </a:pPr>
            <a:r>
              <a:rPr lang="en-US" altLang="zh-CN" sz="2500"/>
              <a:t>int n[ ] = new int[5] {10, 20, 30, 40, 50 } ; //</a:t>
            </a:r>
            <a:r>
              <a:rPr lang="zh-CN" altLang="en-US" sz="2500"/>
              <a:t>非法</a:t>
            </a:r>
          </a:p>
          <a:p>
            <a:pPr lvl="3" eaLnBrk="1" hangingPunct="1">
              <a:spcBef>
                <a:spcPct val="0"/>
              </a:spcBef>
              <a:buFontTx/>
              <a:buNone/>
            </a:pPr>
            <a:r>
              <a:rPr lang="en-US" altLang="zh-CN" sz="2500"/>
              <a:t>int n[5] = new int[ ] {10, 20, 30, 40, 50 } ; //</a:t>
            </a:r>
            <a:r>
              <a:rPr lang="zh-CN" altLang="en-US" sz="2500"/>
              <a:t>非法</a:t>
            </a:r>
          </a:p>
          <a:p>
            <a:pPr lvl="3" eaLnBrk="1" hangingPunct="1">
              <a:spcBef>
                <a:spcPct val="0"/>
              </a:spcBef>
              <a:buFontTx/>
              <a:buNone/>
            </a:pPr>
            <a:r>
              <a:rPr lang="en-US" altLang="zh-CN" sz="2500"/>
              <a:t>int n[5] = {10, 20, 30, 40, 50 } ; //</a:t>
            </a:r>
            <a:r>
              <a:rPr lang="zh-CN" altLang="en-US" sz="2500"/>
              <a:t>非法</a:t>
            </a:r>
          </a:p>
          <a:p>
            <a:pPr lvl="3" eaLnBrk="1" hangingPunct="1">
              <a:spcBef>
                <a:spcPct val="0"/>
              </a:spcBef>
              <a:buFontTx/>
              <a:buNone/>
            </a:pPr>
            <a:endParaRPr lang="zh-CN" altLang="en-US" sz="2500"/>
          </a:p>
          <a:p>
            <a:pPr lvl="3" eaLnBrk="1" hangingPunct="1">
              <a:spcBef>
                <a:spcPct val="0"/>
              </a:spcBef>
              <a:buFontTx/>
              <a:buNone/>
            </a:pPr>
            <a:endParaRPr lang="zh-CN" altLang="en-US" sz="2500"/>
          </a:p>
          <a:p>
            <a:pPr eaLnBrk="1" hangingPunct="1">
              <a:spcBef>
                <a:spcPct val="0"/>
              </a:spcBef>
              <a:buFontTx/>
              <a:buNone/>
            </a:pPr>
            <a:r>
              <a:rPr lang="zh-CN" altLang="en-US" sz="2500"/>
              <a:t>       </a:t>
            </a:r>
            <a:r>
              <a:rPr lang="en-US" altLang="zh-CN" sz="2500">
                <a:solidFill>
                  <a:srgbClr val="0000CC"/>
                </a:solidFill>
              </a:rPr>
              <a:t>2: Java</a:t>
            </a:r>
            <a:r>
              <a:rPr lang="zh-CN" altLang="en-US" sz="2500">
                <a:solidFill>
                  <a:srgbClr val="0000CC"/>
                </a:solidFill>
              </a:rPr>
              <a:t>允许在定义数组时使用</a:t>
            </a:r>
            <a:r>
              <a:rPr lang="en-US" altLang="zh-CN" sz="2500">
                <a:solidFill>
                  <a:srgbClr val="0000CC"/>
                </a:solidFill>
              </a:rPr>
              <a:t>int</a:t>
            </a:r>
            <a:r>
              <a:rPr lang="zh-CN" altLang="en-US" sz="2500">
                <a:solidFill>
                  <a:srgbClr val="0000CC"/>
                </a:solidFill>
              </a:rPr>
              <a:t>变量指定数组的大小</a:t>
            </a:r>
          </a:p>
          <a:p>
            <a:pPr eaLnBrk="1" hangingPunct="1">
              <a:spcBef>
                <a:spcPct val="0"/>
              </a:spcBef>
              <a:buFontTx/>
              <a:buNone/>
            </a:pPr>
            <a:r>
              <a:rPr lang="zh-CN" altLang="en-US" sz="2500"/>
              <a:t>      例</a:t>
            </a:r>
            <a:r>
              <a:rPr lang="en-US" altLang="zh-CN" sz="2500"/>
              <a:t>:  int size=30; double number[ ] = new double[size];</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3">
            <a:extLst>
              <a:ext uri="{FF2B5EF4-FFF2-40B4-BE49-F238E27FC236}">
                <a16:creationId xmlns:a16="http://schemas.microsoft.com/office/drawing/2014/main" id="{C598B237-0D23-45E4-8087-EF17FD17ED16}"/>
              </a:ext>
            </a:extLst>
          </p:cNvPr>
          <p:cNvSpPr>
            <a:spLocks noGrp="1" noChangeArrowheads="1"/>
          </p:cNvSpPr>
          <p:nvPr>
            <p:ph type="body" idx="1"/>
          </p:nvPr>
        </p:nvSpPr>
        <p:spPr>
          <a:xfrm>
            <a:off x="457200" y="692696"/>
            <a:ext cx="8229600" cy="5721350"/>
          </a:xfrm>
        </p:spPr>
        <p:txBody>
          <a:bodyPr/>
          <a:lstStyle/>
          <a:p>
            <a:pPr eaLnBrk="1" hangingPunct="1">
              <a:buFontTx/>
              <a:buNone/>
            </a:pPr>
            <a:r>
              <a:rPr lang="en-US" altLang="zh-CN" sz="2800" b="1" baseline="0">
                <a:solidFill>
                  <a:srgbClr val="FF0066"/>
                </a:solidFill>
                <a:latin typeface="Times New Roman" panose="02020603050405020304" pitchFamily="18" charset="0"/>
                <a:ea typeface="楷体-简" panose="02010600040101010101" pitchFamily="2" charset="-122"/>
              </a:rPr>
              <a:t>3</a:t>
            </a:r>
            <a:r>
              <a:rPr lang="zh-CN" altLang="en-US" sz="2800" b="1" baseline="0">
                <a:solidFill>
                  <a:srgbClr val="FF0066"/>
                </a:solidFill>
                <a:latin typeface="Times New Roman" panose="02020603050405020304" pitchFamily="18" charset="0"/>
                <a:ea typeface="楷体-简" panose="02010600040101010101" pitchFamily="2" charset="-122"/>
              </a:rPr>
              <a:t>．一维数组元素的引用</a:t>
            </a:r>
            <a:br>
              <a:rPr lang="zh-CN" altLang="en-US" sz="2800" baseline="0">
                <a:solidFill>
                  <a:srgbClr val="FF0066"/>
                </a:solidFill>
                <a:latin typeface="Times New Roman" panose="02020603050405020304" pitchFamily="18" charset="0"/>
                <a:ea typeface="楷体-简" panose="02010600040101010101" pitchFamily="2" charset="-122"/>
              </a:rPr>
            </a:br>
            <a:br>
              <a:rPr lang="zh-CN" altLang="en-US" sz="2800" baseline="0">
                <a:solidFill>
                  <a:srgbClr val="FF0066"/>
                </a:solidFill>
                <a:latin typeface="Times New Roman" panose="02020603050405020304" pitchFamily="18" charset="0"/>
                <a:ea typeface="楷体-简" panose="02010600040101010101" pitchFamily="2" charset="-122"/>
              </a:rPr>
            </a:br>
            <a:endParaRPr lang="en-US" altLang="zh-CN" sz="2800" baseline="0">
              <a:solidFill>
                <a:srgbClr val="FF0066"/>
              </a:solidFill>
              <a:latin typeface="Times New Roman" panose="02020603050405020304" pitchFamily="18" charset="0"/>
              <a:ea typeface="楷体-简" panose="02010600040101010101" pitchFamily="2" charset="-122"/>
            </a:endParaRPr>
          </a:p>
          <a:p>
            <a:pPr eaLnBrk="1" hangingPunct="1">
              <a:buFont typeface="Wingdings" panose="05000000000000000000" pitchFamily="2" charset="2"/>
              <a:buChar char="Ø"/>
            </a:pPr>
            <a:r>
              <a:rPr lang="zh-CN" altLang="en-US" sz="2400" b="1" baseline="0">
                <a:latin typeface="Times New Roman" panose="02020603050405020304" pitchFamily="18" charset="0"/>
                <a:ea typeface="楷体-简" panose="02010600040101010101" pitchFamily="2" charset="-122"/>
              </a:rPr>
              <a:t>数组元素的</a:t>
            </a:r>
            <a:r>
              <a:rPr lang="zh-CN" altLang="en-US" sz="2400" b="1" baseline="0">
                <a:solidFill>
                  <a:srgbClr val="0000CC"/>
                </a:solidFill>
                <a:latin typeface="Times New Roman" panose="02020603050405020304" pitchFamily="18" charset="0"/>
                <a:ea typeface="楷体-简" panose="02010600040101010101" pitchFamily="2" charset="-122"/>
              </a:rPr>
              <a:t>引用方式</a:t>
            </a:r>
            <a:r>
              <a:rPr lang="zh-CN" altLang="en-US" sz="2400" b="1" baseline="0">
                <a:latin typeface="Times New Roman" panose="02020603050405020304" pitchFamily="18" charset="0"/>
                <a:ea typeface="楷体-简" panose="02010600040101010101" pitchFamily="2" charset="-122"/>
              </a:rPr>
              <a:t>为：</a:t>
            </a:r>
            <a:r>
              <a:rPr lang="en-US" altLang="zh-CN" sz="2400" b="1" baseline="0">
                <a:latin typeface="Times New Roman" panose="02020603050405020304" pitchFamily="18" charset="0"/>
                <a:ea typeface="楷体-简" panose="02010600040101010101" pitchFamily="2" charset="-122"/>
              </a:rPr>
              <a:t>arrayName[index]</a:t>
            </a:r>
            <a:br>
              <a:rPr lang="en-US" altLang="zh-CN" sz="2400" b="1" baseline="0">
                <a:latin typeface="Times New Roman" panose="02020603050405020304" pitchFamily="18" charset="0"/>
                <a:ea typeface="楷体-简" panose="02010600040101010101" pitchFamily="2" charset="-122"/>
              </a:rPr>
            </a:br>
            <a:br>
              <a:rPr lang="en-US" altLang="zh-CN" sz="2400" b="1" baseline="0">
                <a:latin typeface="Times New Roman" panose="02020603050405020304" pitchFamily="18" charset="0"/>
                <a:ea typeface="楷体-简" panose="02010600040101010101" pitchFamily="2" charset="-122"/>
              </a:rPr>
            </a:br>
            <a:r>
              <a:rPr lang="zh-CN" altLang="en-US" sz="2400" b="1" baseline="0">
                <a:latin typeface="Times New Roman" panose="02020603050405020304" pitchFamily="18" charset="0"/>
                <a:ea typeface="楷体-简" panose="02010600040101010101" pitchFamily="2" charset="-122"/>
              </a:rPr>
              <a:t>　　</a:t>
            </a:r>
            <a:r>
              <a:rPr lang="en-US" altLang="zh-CN" sz="2400" b="1" baseline="0">
                <a:latin typeface="Times New Roman" panose="02020603050405020304" pitchFamily="18" charset="0"/>
                <a:ea typeface="楷体-简" panose="02010600040101010101" pitchFamily="2" charset="-122"/>
              </a:rPr>
              <a:t>index</a:t>
            </a:r>
            <a:r>
              <a:rPr lang="zh-CN" altLang="en-US" sz="2400" b="1" baseline="0">
                <a:latin typeface="Times New Roman" panose="02020603050405020304" pitchFamily="18" charset="0"/>
                <a:ea typeface="楷体-简" panose="02010600040101010101" pitchFamily="2" charset="-122"/>
              </a:rPr>
              <a:t>为数组下标，它可以为整型常数或表达式，下标从</a:t>
            </a:r>
            <a:r>
              <a:rPr lang="en-US" altLang="zh-CN" sz="2400" b="1" baseline="0">
                <a:latin typeface="Times New Roman" panose="02020603050405020304" pitchFamily="18" charset="0"/>
                <a:ea typeface="楷体-简" panose="02010600040101010101" pitchFamily="2" charset="-122"/>
              </a:rPr>
              <a:t>0</a:t>
            </a:r>
            <a:r>
              <a:rPr lang="zh-CN" altLang="en-US" sz="2400" b="1" baseline="0">
                <a:latin typeface="Times New Roman" panose="02020603050405020304" pitchFamily="18" charset="0"/>
                <a:ea typeface="楷体-简" panose="02010600040101010101" pitchFamily="2" charset="-122"/>
              </a:rPr>
              <a:t>开始。每个数组都有一个属性</a:t>
            </a:r>
            <a:r>
              <a:rPr lang="en-US" altLang="zh-CN" sz="2400" b="1" baseline="0">
                <a:latin typeface="Times New Roman" panose="02020603050405020304" pitchFamily="18" charset="0"/>
                <a:ea typeface="楷体-简" panose="02010600040101010101" pitchFamily="2" charset="-122"/>
              </a:rPr>
              <a:t>length</a:t>
            </a:r>
            <a:r>
              <a:rPr lang="zh-CN" altLang="en-US" sz="2400" b="1" baseline="0">
                <a:latin typeface="Times New Roman" panose="02020603050405020304" pitchFamily="18" charset="0"/>
                <a:ea typeface="楷体-简" panose="02010600040101010101" pitchFamily="2" charset="-122"/>
              </a:rPr>
              <a:t>指明它的长度，例如：</a:t>
            </a:r>
            <a:r>
              <a:rPr lang="en-US" altLang="zh-CN" sz="2400" b="1" baseline="0">
                <a:latin typeface="Times New Roman" panose="02020603050405020304" pitchFamily="18" charset="0"/>
                <a:ea typeface="楷体-简" panose="02010600040101010101" pitchFamily="2" charset="-122"/>
              </a:rPr>
              <a:t>intArray.length</a:t>
            </a:r>
            <a:r>
              <a:rPr lang="zh-CN" altLang="en-US" sz="2400" b="1" baseline="0">
                <a:latin typeface="Times New Roman" panose="02020603050405020304" pitchFamily="18" charset="0"/>
                <a:ea typeface="楷体-简" panose="02010600040101010101" pitchFamily="2" charset="-122"/>
              </a:rPr>
              <a:t>指明数组</a:t>
            </a:r>
            <a:r>
              <a:rPr lang="en-US" altLang="zh-CN" sz="2400" b="1" baseline="0">
                <a:latin typeface="Times New Roman" panose="02020603050405020304" pitchFamily="18" charset="0"/>
                <a:ea typeface="楷体-简" panose="02010600040101010101" pitchFamily="2" charset="-122"/>
              </a:rPr>
              <a:t>intArray</a:t>
            </a:r>
            <a:r>
              <a:rPr lang="zh-CN" altLang="en-US" sz="2400" b="1" baseline="0">
                <a:latin typeface="Times New Roman" panose="02020603050405020304" pitchFamily="18" charset="0"/>
                <a:ea typeface="楷体-简" panose="02010600040101010101" pitchFamily="2" charset="-122"/>
              </a:rPr>
              <a:t>的长度。</a:t>
            </a:r>
            <a:endParaRPr lang="zh-CN" altLang="en-US" sz="2400" baseline="0">
              <a:latin typeface="Times New Roman" panose="02020603050405020304" pitchFamily="18" charset="0"/>
              <a:ea typeface="楷体-简" panose="02010600040101010101" pitchFamily="2" charset="-122"/>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BCAAF3F5-7407-449C-8A37-E1DEE9117438}"/>
              </a:ext>
            </a:extLst>
          </p:cNvPr>
          <p:cNvSpPr>
            <a:spLocks noGrp="1" noChangeArrowheads="1"/>
          </p:cNvSpPr>
          <p:nvPr>
            <p:ph type="body" idx="1"/>
          </p:nvPr>
        </p:nvSpPr>
        <p:spPr>
          <a:xfrm>
            <a:off x="0" y="0"/>
            <a:ext cx="8229600" cy="3068638"/>
          </a:xfrm>
        </p:spPr>
        <p:txBody>
          <a:bodyPr/>
          <a:lstStyle/>
          <a:p>
            <a:pPr eaLnBrk="1" hangingPunct="1">
              <a:lnSpc>
                <a:spcPct val="80000"/>
              </a:lnSpc>
              <a:buFontTx/>
              <a:buNone/>
            </a:pPr>
            <a:endParaRPr lang="en-US" altLang="zh-CN" sz="1800" baseline="0">
              <a:solidFill>
                <a:srgbClr val="FF0066"/>
              </a:solidFill>
              <a:latin typeface="Times New Roman" panose="02020603050405020304" pitchFamily="18" charset="0"/>
              <a:ea typeface="楷体-简" panose="02010600040101010101" pitchFamily="2" charset="-122"/>
            </a:endParaRPr>
          </a:p>
          <a:p>
            <a:pPr eaLnBrk="1" hangingPunct="1">
              <a:lnSpc>
                <a:spcPct val="80000"/>
              </a:lnSpc>
              <a:buFontTx/>
              <a:buNone/>
            </a:pPr>
            <a:r>
              <a:rPr lang="en-US" altLang="zh-CN" sz="2800" b="1" baseline="0">
                <a:solidFill>
                  <a:srgbClr val="FF0066"/>
                </a:solidFill>
                <a:latin typeface="Times New Roman" panose="02020603050405020304" pitchFamily="18" charset="0"/>
                <a:ea typeface="楷体-简" panose="02010600040101010101" pitchFamily="2" charset="-122"/>
              </a:rPr>
              <a:t>4</a:t>
            </a:r>
            <a:r>
              <a:rPr lang="zh-CN" altLang="en-US" sz="2800" b="1" baseline="0">
                <a:solidFill>
                  <a:srgbClr val="FF0066"/>
                </a:solidFill>
                <a:latin typeface="Times New Roman" panose="02020603050405020304" pitchFamily="18" charset="0"/>
                <a:ea typeface="楷体-简" panose="02010600040101010101" pitchFamily="2" charset="-122"/>
              </a:rPr>
              <a:t>：一维数组举例：</a:t>
            </a:r>
            <a:r>
              <a:rPr lang="zh-CN" altLang="en-US" sz="2400" b="1" baseline="0">
                <a:solidFill>
                  <a:srgbClr val="FF0066"/>
                </a:solidFill>
                <a:latin typeface="Times New Roman" panose="02020603050405020304" pitchFamily="18" charset="0"/>
                <a:ea typeface="楷体-简" panose="02010600040101010101" pitchFamily="2" charset="-122"/>
              </a:rPr>
              <a:t>元素为简单数据类型</a:t>
            </a:r>
            <a:endParaRPr lang="en-US" altLang="zh-CN" sz="2400" b="1" baseline="0">
              <a:solidFill>
                <a:srgbClr val="FF0066"/>
              </a:solidFill>
              <a:latin typeface="Times New Roman" panose="02020603050405020304" pitchFamily="18" charset="0"/>
              <a:ea typeface="楷体-简" panose="02010600040101010101" pitchFamily="2" charset="-122"/>
            </a:endParaRPr>
          </a:p>
          <a:p>
            <a:pPr eaLnBrk="1" hangingPunct="1">
              <a:lnSpc>
                <a:spcPct val="80000"/>
              </a:lnSpc>
              <a:buFontTx/>
              <a:buNone/>
            </a:pPr>
            <a:endParaRPr lang="zh-CN" altLang="en-US" sz="800" baseline="0">
              <a:solidFill>
                <a:srgbClr val="FF0066"/>
              </a:solidFill>
              <a:latin typeface="Times New Roman" panose="02020603050405020304" pitchFamily="18" charset="0"/>
              <a:ea typeface="楷体-简" panose="02010600040101010101" pitchFamily="2" charset="-122"/>
            </a:endParaRPr>
          </a:p>
          <a:p>
            <a:pPr eaLnBrk="1" hangingPunct="1">
              <a:lnSpc>
                <a:spcPct val="80000"/>
              </a:lnSpc>
              <a:buFontTx/>
              <a:buNone/>
            </a:pPr>
            <a:r>
              <a:rPr lang="en-US" altLang="zh-CN" sz="2400" baseline="0">
                <a:latin typeface="Times New Roman" panose="02020603050405020304" pitchFamily="18" charset="0"/>
                <a:ea typeface="楷体-简" panose="02010600040101010101" pitchFamily="2" charset="-122"/>
              </a:rPr>
              <a:t>public class Test {</a:t>
            </a:r>
          </a:p>
          <a:p>
            <a:pPr eaLnBrk="1" hangingPunct="1">
              <a:lnSpc>
                <a:spcPct val="80000"/>
              </a:lnSpc>
              <a:buFontTx/>
              <a:buNone/>
            </a:pPr>
            <a:r>
              <a:rPr lang="en-US" altLang="zh-CN" sz="2400" baseline="0">
                <a:latin typeface="Times New Roman" panose="02020603050405020304" pitchFamily="18" charset="0"/>
                <a:ea typeface="楷体-简" panose="02010600040101010101" pitchFamily="2" charset="-122"/>
              </a:rPr>
              <a:t>	public static void main(String args[ ]) {</a:t>
            </a:r>
          </a:p>
          <a:p>
            <a:pPr eaLnBrk="1" hangingPunct="1">
              <a:lnSpc>
                <a:spcPct val="80000"/>
              </a:lnSpc>
              <a:buFontTx/>
              <a:buNone/>
            </a:pPr>
            <a:r>
              <a:rPr lang="en-US" altLang="zh-CN" sz="2400" baseline="0">
                <a:latin typeface="Times New Roman" panose="02020603050405020304" pitchFamily="18" charset="0"/>
                <a:ea typeface="楷体-简" panose="02010600040101010101" pitchFamily="2" charset="-122"/>
              </a:rPr>
              <a:t>		int [ ] s;</a:t>
            </a:r>
          </a:p>
          <a:p>
            <a:pPr eaLnBrk="1" hangingPunct="1">
              <a:lnSpc>
                <a:spcPct val="80000"/>
              </a:lnSpc>
              <a:buFontTx/>
              <a:buNone/>
            </a:pPr>
            <a:r>
              <a:rPr lang="en-US" altLang="zh-CN" sz="2400" baseline="0">
                <a:latin typeface="Times New Roman" panose="02020603050405020304" pitchFamily="18" charset="0"/>
                <a:ea typeface="楷体-简" panose="02010600040101010101" pitchFamily="2" charset="-122"/>
              </a:rPr>
              <a:t>		s=new int[5];</a:t>
            </a:r>
          </a:p>
          <a:p>
            <a:pPr eaLnBrk="1" hangingPunct="1">
              <a:lnSpc>
                <a:spcPct val="80000"/>
              </a:lnSpc>
              <a:buFontTx/>
              <a:buNone/>
            </a:pPr>
            <a:r>
              <a:rPr lang="en-US" altLang="zh-CN" sz="2400" baseline="0">
                <a:latin typeface="Times New Roman" panose="02020603050405020304" pitchFamily="18" charset="0"/>
                <a:ea typeface="楷体-简" panose="02010600040101010101" pitchFamily="2" charset="-122"/>
              </a:rPr>
              <a:t>		for(int i=0;i&lt;5;i++) {</a:t>
            </a:r>
          </a:p>
          <a:p>
            <a:pPr eaLnBrk="1" hangingPunct="1">
              <a:lnSpc>
                <a:spcPct val="80000"/>
              </a:lnSpc>
              <a:buFontTx/>
              <a:buNone/>
            </a:pPr>
            <a:r>
              <a:rPr lang="en-US" altLang="zh-CN" sz="2400" baseline="0">
                <a:latin typeface="Times New Roman" panose="02020603050405020304" pitchFamily="18" charset="0"/>
                <a:ea typeface="楷体-简" panose="02010600040101010101" pitchFamily="2" charset="-122"/>
              </a:rPr>
              <a:t>		    s[i] = i;</a:t>
            </a:r>
          </a:p>
          <a:p>
            <a:pPr eaLnBrk="1" hangingPunct="1">
              <a:lnSpc>
                <a:spcPct val="80000"/>
              </a:lnSpc>
              <a:buFontTx/>
              <a:buNone/>
            </a:pPr>
            <a:r>
              <a:rPr lang="en-US" altLang="zh-CN" sz="2400" baseline="0">
                <a:latin typeface="Times New Roman" panose="02020603050405020304" pitchFamily="18" charset="0"/>
                <a:ea typeface="楷体-简" panose="02010600040101010101" pitchFamily="2" charset="-122"/>
              </a:rPr>
              <a:t>		}</a:t>
            </a:r>
          </a:p>
          <a:p>
            <a:pPr eaLnBrk="1" hangingPunct="1">
              <a:lnSpc>
                <a:spcPct val="80000"/>
              </a:lnSpc>
              <a:buFontTx/>
              <a:buNone/>
            </a:pPr>
            <a:r>
              <a:rPr lang="en-US" altLang="zh-CN" sz="2400" baseline="0">
                <a:latin typeface="Times New Roman" panose="02020603050405020304" pitchFamily="18" charset="0"/>
                <a:ea typeface="楷体-简" panose="02010600040101010101" pitchFamily="2" charset="-122"/>
              </a:rPr>
              <a:t>}</a:t>
            </a:r>
          </a:p>
        </p:txBody>
      </p:sp>
      <p:sp>
        <p:nvSpPr>
          <p:cNvPr id="95235" name="Line 3">
            <a:extLst>
              <a:ext uri="{FF2B5EF4-FFF2-40B4-BE49-F238E27FC236}">
                <a16:creationId xmlns:a16="http://schemas.microsoft.com/office/drawing/2014/main" id="{509862AF-4752-473B-8F62-F0DDEB724E03}"/>
              </a:ext>
            </a:extLst>
          </p:cNvPr>
          <p:cNvSpPr>
            <a:spLocks noChangeShapeType="1"/>
          </p:cNvSpPr>
          <p:nvPr/>
        </p:nvSpPr>
        <p:spPr bwMode="auto">
          <a:xfrm>
            <a:off x="3132138" y="6837363"/>
            <a:ext cx="129698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5236" name="Rectangle 4">
            <a:extLst>
              <a:ext uri="{FF2B5EF4-FFF2-40B4-BE49-F238E27FC236}">
                <a16:creationId xmlns:a16="http://schemas.microsoft.com/office/drawing/2014/main" id="{B934BE4E-EF8C-4A9A-B586-E972D961D4F5}"/>
              </a:ext>
            </a:extLst>
          </p:cNvPr>
          <p:cNvSpPr>
            <a:spLocks noChangeArrowheads="1"/>
          </p:cNvSpPr>
          <p:nvPr/>
        </p:nvSpPr>
        <p:spPr bwMode="auto">
          <a:xfrm>
            <a:off x="5867400" y="1268413"/>
            <a:ext cx="3025775" cy="5329237"/>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zh-CN" sz="1800" b="0"/>
          </a:p>
        </p:txBody>
      </p:sp>
      <p:sp>
        <p:nvSpPr>
          <p:cNvPr id="95237" name="Text Box 5">
            <a:extLst>
              <a:ext uri="{FF2B5EF4-FFF2-40B4-BE49-F238E27FC236}">
                <a16:creationId xmlns:a16="http://schemas.microsoft.com/office/drawing/2014/main" id="{6BC75D87-1B90-4767-BEFA-6FC2A82998BF}"/>
              </a:ext>
            </a:extLst>
          </p:cNvPr>
          <p:cNvSpPr txBox="1">
            <a:spLocks noChangeArrowheads="1"/>
          </p:cNvSpPr>
          <p:nvPr/>
        </p:nvSpPr>
        <p:spPr bwMode="auto">
          <a:xfrm>
            <a:off x="1692275" y="6165850"/>
            <a:ext cx="14398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a:t>int [ ] s</a:t>
            </a:r>
          </a:p>
        </p:txBody>
      </p:sp>
      <p:sp>
        <p:nvSpPr>
          <p:cNvPr id="95238" name="Rectangle 11">
            <a:extLst>
              <a:ext uri="{FF2B5EF4-FFF2-40B4-BE49-F238E27FC236}">
                <a16:creationId xmlns:a16="http://schemas.microsoft.com/office/drawing/2014/main" id="{B08F904C-9E1C-44C6-8291-530F3565A0DD}"/>
              </a:ext>
            </a:extLst>
          </p:cNvPr>
          <p:cNvSpPr>
            <a:spLocks noChangeArrowheads="1"/>
          </p:cNvSpPr>
          <p:nvPr/>
        </p:nvSpPr>
        <p:spPr bwMode="auto">
          <a:xfrm>
            <a:off x="6877050" y="2420938"/>
            <a:ext cx="1152525" cy="57626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800"/>
              <a:t>0</a:t>
            </a:r>
          </a:p>
        </p:txBody>
      </p:sp>
      <p:sp>
        <p:nvSpPr>
          <p:cNvPr id="95239" name="Rectangle 12">
            <a:extLst>
              <a:ext uri="{FF2B5EF4-FFF2-40B4-BE49-F238E27FC236}">
                <a16:creationId xmlns:a16="http://schemas.microsoft.com/office/drawing/2014/main" id="{A81A0503-E1C4-4215-A82A-F8C5EF928795}"/>
              </a:ext>
            </a:extLst>
          </p:cNvPr>
          <p:cNvSpPr>
            <a:spLocks noChangeArrowheads="1"/>
          </p:cNvSpPr>
          <p:nvPr/>
        </p:nvSpPr>
        <p:spPr bwMode="auto">
          <a:xfrm>
            <a:off x="6877050" y="4724400"/>
            <a:ext cx="1152525" cy="576263"/>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800"/>
              <a:t>4</a:t>
            </a:r>
          </a:p>
        </p:txBody>
      </p:sp>
      <p:grpSp>
        <p:nvGrpSpPr>
          <p:cNvPr id="95240" name="Group 13">
            <a:extLst>
              <a:ext uri="{FF2B5EF4-FFF2-40B4-BE49-F238E27FC236}">
                <a16:creationId xmlns:a16="http://schemas.microsoft.com/office/drawing/2014/main" id="{5771E015-0BDB-4C73-AB30-5EB2CCE97248}"/>
              </a:ext>
            </a:extLst>
          </p:cNvPr>
          <p:cNvGrpSpPr>
            <a:grpSpLocks/>
          </p:cNvGrpSpPr>
          <p:nvPr/>
        </p:nvGrpSpPr>
        <p:grpSpPr bwMode="auto">
          <a:xfrm>
            <a:off x="6588125" y="1484313"/>
            <a:ext cx="2303463" cy="3241675"/>
            <a:chOff x="4014" y="935"/>
            <a:chExt cx="1451" cy="2042"/>
          </a:xfrm>
        </p:grpSpPr>
        <p:sp>
          <p:nvSpPr>
            <p:cNvPr id="95250" name="Rectangle 14">
              <a:extLst>
                <a:ext uri="{FF2B5EF4-FFF2-40B4-BE49-F238E27FC236}">
                  <a16:creationId xmlns:a16="http://schemas.microsoft.com/office/drawing/2014/main" id="{56A48514-1062-4CBE-A63E-12DE20703018}"/>
                </a:ext>
              </a:extLst>
            </p:cNvPr>
            <p:cNvSpPr>
              <a:spLocks noChangeArrowheads="1"/>
            </p:cNvSpPr>
            <p:nvPr/>
          </p:nvSpPr>
          <p:spPr bwMode="auto">
            <a:xfrm>
              <a:off x="4195" y="1888"/>
              <a:ext cx="726" cy="363"/>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800"/>
                <a:t>1</a:t>
              </a:r>
            </a:p>
          </p:txBody>
        </p:sp>
        <p:sp>
          <p:nvSpPr>
            <p:cNvPr id="95251" name="Rectangle 15">
              <a:extLst>
                <a:ext uri="{FF2B5EF4-FFF2-40B4-BE49-F238E27FC236}">
                  <a16:creationId xmlns:a16="http://schemas.microsoft.com/office/drawing/2014/main" id="{2637946A-E208-4C9E-A4E9-B4ADEFC063C7}"/>
                </a:ext>
              </a:extLst>
            </p:cNvPr>
            <p:cNvSpPr>
              <a:spLocks noChangeArrowheads="1"/>
            </p:cNvSpPr>
            <p:nvPr/>
          </p:nvSpPr>
          <p:spPr bwMode="auto">
            <a:xfrm>
              <a:off x="4195" y="2251"/>
              <a:ext cx="726" cy="363"/>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800"/>
                <a:t>2</a:t>
              </a:r>
            </a:p>
          </p:txBody>
        </p:sp>
        <p:sp>
          <p:nvSpPr>
            <p:cNvPr id="95252" name="Rectangle 16">
              <a:extLst>
                <a:ext uri="{FF2B5EF4-FFF2-40B4-BE49-F238E27FC236}">
                  <a16:creationId xmlns:a16="http://schemas.microsoft.com/office/drawing/2014/main" id="{F249A624-526D-401B-A0FC-5830A1854600}"/>
                </a:ext>
              </a:extLst>
            </p:cNvPr>
            <p:cNvSpPr>
              <a:spLocks noChangeArrowheads="1"/>
            </p:cNvSpPr>
            <p:nvPr/>
          </p:nvSpPr>
          <p:spPr bwMode="auto">
            <a:xfrm>
              <a:off x="4195" y="2614"/>
              <a:ext cx="726" cy="363"/>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800"/>
                <a:t>3</a:t>
              </a:r>
            </a:p>
          </p:txBody>
        </p:sp>
        <p:sp>
          <p:nvSpPr>
            <p:cNvPr id="95253" name="Text Box 17">
              <a:extLst>
                <a:ext uri="{FF2B5EF4-FFF2-40B4-BE49-F238E27FC236}">
                  <a16:creationId xmlns:a16="http://schemas.microsoft.com/office/drawing/2014/main" id="{CCE8C616-9801-40D1-8731-18190EA77B3F}"/>
                </a:ext>
              </a:extLst>
            </p:cNvPr>
            <p:cNvSpPr txBox="1">
              <a:spLocks noChangeArrowheads="1"/>
            </p:cNvSpPr>
            <p:nvPr/>
          </p:nvSpPr>
          <p:spPr bwMode="auto">
            <a:xfrm>
              <a:off x="4014" y="935"/>
              <a:ext cx="1451" cy="6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a:t>堆内存</a:t>
              </a:r>
            </a:p>
            <a:p>
              <a:pPr eaLnBrk="1" hangingPunct="1">
                <a:spcBef>
                  <a:spcPct val="50000"/>
                </a:spcBef>
                <a:buFontTx/>
                <a:buNone/>
              </a:pPr>
              <a:r>
                <a:rPr lang="en-US" altLang="zh-CN" sz="2400"/>
                <a:t>new int [ 5]</a:t>
              </a:r>
            </a:p>
          </p:txBody>
        </p:sp>
      </p:grpSp>
      <p:grpSp>
        <p:nvGrpSpPr>
          <p:cNvPr id="95241" name="Group 21">
            <a:extLst>
              <a:ext uri="{FF2B5EF4-FFF2-40B4-BE49-F238E27FC236}">
                <a16:creationId xmlns:a16="http://schemas.microsoft.com/office/drawing/2014/main" id="{91E8D228-3E15-4F71-A94C-B63B45FD3D9C}"/>
              </a:ext>
            </a:extLst>
          </p:cNvPr>
          <p:cNvGrpSpPr>
            <a:grpSpLocks/>
          </p:cNvGrpSpPr>
          <p:nvPr/>
        </p:nvGrpSpPr>
        <p:grpSpPr bwMode="auto">
          <a:xfrm>
            <a:off x="1835150" y="2708275"/>
            <a:ext cx="4249738" cy="4149725"/>
            <a:chOff x="1156" y="1706"/>
            <a:chExt cx="2677" cy="2614"/>
          </a:xfrm>
        </p:grpSpPr>
        <p:sp>
          <p:nvSpPr>
            <p:cNvPr id="95244" name="Line 6">
              <a:extLst>
                <a:ext uri="{FF2B5EF4-FFF2-40B4-BE49-F238E27FC236}">
                  <a16:creationId xmlns:a16="http://schemas.microsoft.com/office/drawing/2014/main" id="{6BCBDBF2-48E7-4C15-A190-3764A734546F}"/>
                </a:ext>
              </a:extLst>
            </p:cNvPr>
            <p:cNvSpPr>
              <a:spLocks noChangeShapeType="1"/>
            </p:cNvSpPr>
            <p:nvPr/>
          </p:nvSpPr>
          <p:spPr bwMode="auto">
            <a:xfrm>
              <a:off x="1973" y="2614"/>
              <a:ext cx="0" cy="170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5245" name="Line 7">
              <a:extLst>
                <a:ext uri="{FF2B5EF4-FFF2-40B4-BE49-F238E27FC236}">
                  <a16:creationId xmlns:a16="http://schemas.microsoft.com/office/drawing/2014/main" id="{EA175DAF-88AC-4952-B0DE-563A37DC7DE0}"/>
                </a:ext>
              </a:extLst>
            </p:cNvPr>
            <p:cNvSpPr>
              <a:spLocks noChangeShapeType="1"/>
            </p:cNvSpPr>
            <p:nvPr/>
          </p:nvSpPr>
          <p:spPr bwMode="auto">
            <a:xfrm flipV="1">
              <a:off x="2835" y="2614"/>
              <a:ext cx="0" cy="170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5246" name="Rectangle 8">
              <a:extLst>
                <a:ext uri="{FF2B5EF4-FFF2-40B4-BE49-F238E27FC236}">
                  <a16:creationId xmlns:a16="http://schemas.microsoft.com/office/drawing/2014/main" id="{75DD7F13-2911-49BF-970B-993776E4C207}"/>
                </a:ext>
              </a:extLst>
            </p:cNvPr>
            <p:cNvSpPr>
              <a:spLocks noChangeArrowheads="1"/>
            </p:cNvSpPr>
            <p:nvPr/>
          </p:nvSpPr>
          <p:spPr bwMode="auto">
            <a:xfrm>
              <a:off x="1973" y="3929"/>
              <a:ext cx="862" cy="391"/>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800"/>
                <a:t>0x3000</a:t>
              </a:r>
            </a:p>
          </p:txBody>
        </p:sp>
        <p:sp>
          <p:nvSpPr>
            <p:cNvPr id="95247" name="Line 9">
              <a:extLst>
                <a:ext uri="{FF2B5EF4-FFF2-40B4-BE49-F238E27FC236}">
                  <a16:creationId xmlns:a16="http://schemas.microsoft.com/office/drawing/2014/main" id="{A2449FE9-5A99-4B77-9815-6740D868169F}"/>
                </a:ext>
              </a:extLst>
            </p:cNvPr>
            <p:cNvSpPr>
              <a:spLocks noChangeShapeType="1"/>
            </p:cNvSpPr>
            <p:nvPr/>
          </p:nvSpPr>
          <p:spPr bwMode="auto">
            <a:xfrm>
              <a:off x="2381" y="2160"/>
              <a:ext cx="0" cy="176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5248" name="Line 10">
              <a:extLst>
                <a:ext uri="{FF2B5EF4-FFF2-40B4-BE49-F238E27FC236}">
                  <a16:creationId xmlns:a16="http://schemas.microsoft.com/office/drawing/2014/main" id="{8AFC782A-6321-419E-AC4E-CDDAC8108160}"/>
                </a:ext>
              </a:extLst>
            </p:cNvPr>
            <p:cNvSpPr>
              <a:spLocks noChangeShapeType="1"/>
            </p:cNvSpPr>
            <p:nvPr/>
          </p:nvSpPr>
          <p:spPr bwMode="auto">
            <a:xfrm flipV="1">
              <a:off x="2381" y="1706"/>
              <a:ext cx="1452" cy="499"/>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5249" name="Text Box 18">
              <a:extLst>
                <a:ext uri="{FF2B5EF4-FFF2-40B4-BE49-F238E27FC236}">
                  <a16:creationId xmlns:a16="http://schemas.microsoft.com/office/drawing/2014/main" id="{7E8E89D7-EC10-4DF0-A951-2D035294A57A}"/>
                </a:ext>
              </a:extLst>
            </p:cNvPr>
            <p:cNvSpPr txBox="1">
              <a:spLocks noChangeArrowheads="1"/>
            </p:cNvSpPr>
            <p:nvPr/>
          </p:nvSpPr>
          <p:spPr bwMode="auto">
            <a:xfrm>
              <a:off x="1156" y="2795"/>
              <a:ext cx="68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000"/>
                <a:t>栈内存</a:t>
              </a:r>
            </a:p>
          </p:txBody>
        </p:sp>
      </p:grpSp>
      <p:sp>
        <p:nvSpPr>
          <p:cNvPr id="95242" name="Text Box 19">
            <a:extLst>
              <a:ext uri="{FF2B5EF4-FFF2-40B4-BE49-F238E27FC236}">
                <a16:creationId xmlns:a16="http://schemas.microsoft.com/office/drawing/2014/main" id="{C1C1175A-B52F-4EE8-BF5B-0EB382DBC3B5}"/>
              </a:ext>
            </a:extLst>
          </p:cNvPr>
          <p:cNvSpPr txBox="1">
            <a:spLocks noChangeArrowheads="1"/>
          </p:cNvSpPr>
          <p:nvPr/>
        </p:nvSpPr>
        <p:spPr bwMode="auto">
          <a:xfrm>
            <a:off x="5940425" y="2492375"/>
            <a:ext cx="10795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1800"/>
              <a:t>0x3000</a:t>
            </a:r>
          </a:p>
        </p:txBody>
      </p:sp>
      <p:sp>
        <p:nvSpPr>
          <p:cNvPr id="95243" name="Text Box 20">
            <a:extLst>
              <a:ext uri="{FF2B5EF4-FFF2-40B4-BE49-F238E27FC236}">
                <a16:creationId xmlns:a16="http://schemas.microsoft.com/office/drawing/2014/main" id="{91199BD8-1DDD-42C2-8791-798E99D75737}"/>
              </a:ext>
            </a:extLst>
          </p:cNvPr>
          <p:cNvSpPr txBox="1">
            <a:spLocks noChangeArrowheads="1"/>
          </p:cNvSpPr>
          <p:nvPr/>
        </p:nvSpPr>
        <p:spPr bwMode="auto">
          <a:xfrm>
            <a:off x="5940425" y="2781300"/>
            <a:ext cx="9366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1800"/>
              <a:t>对象首地址</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a:extLst>
              <a:ext uri="{FF2B5EF4-FFF2-40B4-BE49-F238E27FC236}">
                <a16:creationId xmlns:a16="http://schemas.microsoft.com/office/drawing/2014/main" id="{2BEBB2D7-231E-4B89-968E-F5E49B1E7D33}"/>
              </a:ext>
            </a:extLst>
          </p:cNvPr>
          <p:cNvSpPr>
            <a:spLocks noGrp="1" noChangeArrowheads="1"/>
          </p:cNvSpPr>
          <p:nvPr>
            <p:ph type="body" sz="half" idx="1"/>
          </p:nvPr>
        </p:nvSpPr>
        <p:spPr>
          <a:xfrm>
            <a:off x="0" y="0"/>
            <a:ext cx="6156325" cy="4525963"/>
          </a:xfrm>
        </p:spPr>
        <p:txBody>
          <a:bodyPr/>
          <a:lstStyle/>
          <a:p>
            <a:pPr eaLnBrk="1" hangingPunct="1">
              <a:lnSpc>
                <a:spcPct val="80000"/>
              </a:lnSpc>
              <a:buFontTx/>
              <a:buNone/>
            </a:pPr>
            <a:endParaRPr lang="en-US" altLang="zh-CN" sz="1500" baseline="0">
              <a:solidFill>
                <a:srgbClr val="FF0066"/>
              </a:solidFill>
              <a:latin typeface="Times New Roman" panose="02020603050405020304" pitchFamily="18" charset="0"/>
              <a:ea typeface="楷体-简" panose="02010600040101010101" pitchFamily="2" charset="-122"/>
            </a:endParaRPr>
          </a:p>
          <a:p>
            <a:pPr eaLnBrk="1" hangingPunct="1">
              <a:lnSpc>
                <a:spcPct val="80000"/>
              </a:lnSpc>
              <a:buFontTx/>
              <a:buNone/>
            </a:pPr>
            <a:r>
              <a:rPr lang="en-US" altLang="zh-CN" sz="2800" b="1" baseline="0">
                <a:solidFill>
                  <a:srgbClr val="FF0066"/>
                </a:solidFill>
                <a:latin typeface="Times New Roman" panose="02020603050405020304" pitchFamily="18" charset="0"/>
                <a:ea typeface="楷体-简" panose="02010600040101010101" pitchFamily="2" charset="-122"/>
              </a:rPr>
              <a:t>4</a:t>
            </a:r>
            <a:r>
              <a:rPr lang="zh-CN" altLang="en-US" sz="2800" b="1" baseline="0">
                <a:solidFill>
                  <a:srgbClr val="FF0066"/>
                </a:solidFill>
                <a:latin typeface="Times New Roman" panose="02020603050405020304" pitchFamily="18" charset="0"/>
                <a:ea typeface="楷体-简" panose="02010600040101010101" pitchFamily="2" charset="-122"/>
              </a:rPr>
              <a:t>：一维数组举例：</a:t>
            </a:r>
            <a:r>
              <a:rPr lang="zh-CN" altLang="en-US" sz="2400" b="1" baseline="0">
                <a:solidFill>
                  <a:srgbClr val="FF0066"/>
                </a:solidFill>
                <a:latin typeface="Times New Roman" panose="02020603050405020304" pitchFamily="18" charset="0"/>
                <a:ea typeface="楷体-简" panose="02010600040101010101" pitchFamily="2" charset="-122"/>
              </a:rPr>
              <a:t>元素为引用数据类型</a:t>
            </a:r>
            <a:endParaRPr lang="en-US" altLang="zh-CN" sz="2400" b="1" baseline="0">
              <a:solidFill>
                <a:srgbClr val="FF0066"/>
              </a:solidFill>
              <a:latin typeface="Times New Roman" panose="02020603050405020304" pitchFamily="18" charset="0"/>
              <a:ea typeface="楷体-简" panose="02010600040101010101" pitchFamily="2" charset="-122"/>
            </a:endParaRPr>
          </a:p>
          <a:p>
            <a:pPr eaLnBrk="1" hangingPunct="1">
              <a:lnSpc>
                <a:spcPct val="80000"/>
              </a:lnSpc>
              <a:buFontTx/>
              <a:buNone/>
            </a:pPr>
            <a:endParaRPr lang="zh-CN" altLang="en-US" sz="800" baseline="0">
              <a:solidFill>
                <a:srgbClr val="FF0066"/>
              </a:solidFill>
              <a:latin typeface="Times New Roman" panose="02020603050405020304" pitchFamily="18" charset="0"/>
              <a:ea typeface="楷体-简" panose="02010600040101010101" pitchFamily="2" charset="-122"/>
            </a:endParaRPr>
          </a:p>
          <a:p>
            <a:pPr eaLnBrk="1" hangingPunct="1">
              <a:lnSpc>
                <a:spcPct val="80000"/>
              </a:lnSpc>
              <a:buFontTx/>
              <a:buNone/>
            </a:pPr>
            <a:r>
              <a:rPr lang="en-US" altLang="zh-CN" sz="2200" b="1" baseline="0">
                <a:latin typeface="Times New Roman" panose="02020603050405020304" pitchFamily="18" charset="0"/>
                <a:ea typeface="楷体-简" panose="02010600040101010101" pitchFamily="2" charset="-122"/>
              </a:rPr>
              <a:t>public class Test{</a:t>
            </a:r>
          </a:p>
          <a:p>
            <a:pPr eaLnBrk="1" hangingPunct="1">
              <a:lnSpc>
                <a:spcPct val="80000"/>
              </a:lnSpc>
              <a:buFontTx/>
              <a:buNone/>
            </a:pPr>
            <a:r>
              <a:rPr lang="en-US" altLang="zh-CN" sz="2200" b="1" baseline="0">
                <a:latin typeface="Times New Roman" panose="02020603050405020304" pitchFamily="18" charset="0"/>
                <a:ea typeface="楷体-简" panose="02010600040101010101" pitchFamily="2" charset="-122"/>
              </a:rPr>
              <a:t>	public static void main(String args[ ]) {</a:t>
            </a:r>
          </a:p>
          <a:p>
            <a:pPr eaLnBrk="1" hangingPunct="1">
              <a:lnSpc>
                <a:spcPct val="80000"/>
              </a:lnSpc>
              <a:buFontTx/>
              <a:buNone/>
            </a:pPr>
            <a:r>
              <a:rPr lang="en-US" altLang="zh-CN" sz="2200" b="1" baseline="0">
                <a:latin typeface="Times New Roman" panose="02020603050405020304" pitchFamily="18" charset="0"/>
                <a:ea typeface="楷体-简" panose="02010600040101010101" pitchFamily="2" charset="-122"/>
              </a:rPr>
              <a:t>	     MyDate[ ] days = new MyDate[3];</a:t>
            </a:r>
          </a:p>
          <a:p>
            <a:pPr eaLnBrk="1" hangingPunct="1">
              <a:lnSpc>
                <a:spcPct val="80000"/>
              </a:lnSpc>
              <a:buFontTx/>
              <a:buNone/>
            </a:pPr>
            <a:r>
              <a:rPr lang="en-US" altLang="zh-CN" sz="2200" b="1" baseline="0">
                <a:latin typeface="Times New Roman" panose="02020603050405020304" pitchFamily="18" charset="0"/>
                <a:ea typeface="楷体-简" panose="02010600040101010101" pitchFamily="2" charset="-122"/>
              </a:rPr>
              <a:t>		for(int i=0; i&lt;3; i++) </a:t>
            </a:r>
          </a:p>
          <a:p>
            <a:pPr eaLnBrk="1" hangingPunct="1">
              <a:lnSpc>
                <a:spcPct val="80000"/>
              </a:lnSpc>
              <a:buFontTx/>
              <a:buNone/>
            </a:pPr>
            <a:r>
              <a:rPr lang="en-US" altLang="zh-CN" sz="2200" b="1" baseline="0">
                <a:latin typeface="Times New Roman" panose="02020603050405020304" pitchFamily="18" charset="0"/>
                <a:ea typeface="楷体-简" panose="02010600040101010101" pitchFamily="2" charset="-122"/>
              </a:rPr>
              <a:t>		{days[i] = new MyDate(2008,10,i+1);}</a:t>
            </a:r>
          </a:p>
          <a:p>
            <a:pPr eaLnBrk="1" hangingPunct="1">
              <a:lnSpc>
                <a:spcPct val="80000"/>
              </a:lnSpc>
              <a:buFontTx/>
              <a:buNone/>
            </a:pPr>
            <a:r>
              <a:rPr lang="en-US" altLang="zh-CN" sz="2200" b="1" baseline="0">
                <a:latin typeface="Times New Roman" panose="02020603050405020304" pitchFamily="18" charset="0"/>
                <a:ea typeface="楷体-简" panose="02010600040101010101" pitchFamily="2" charset="-122"/>
              </a:rPr>
              <a:t>	}</a:t>
            </a:r>
          </a:p>
          <a:p>
            <a:pPr eaLnBrk="1" hangingPunct="1">
              <a:lnSpc>
                <a:spcPct val="80000"/>
              </a:lnSpc>
              <a:buFontTx/>
              <a:buNone/>
            </a:pPr>
            <a:r>
              <a:rPr lang="en-US" altLang="zh-CN" sz="2200" b="1" baseline="0">
                <a:latin typeface="Times New Roman" panose="02020603050405020304" pitchFamily="18" charset="0"/>
                <a:ea typeface="楷体-简" panose="02010600040101010101" pitchFamily="2" charset="-122"/>
              </a:rPr>
              <a:t>}</a:t>
            </a:r>
          </a:p>
          <a:p>
            <a:pPr eaLnBrk="1" hangingPunct="1">
              <a:lnSpc>
                <a:spcPct val="80000"/>
              </a:lnSpc>
              <a:buFontTx/>
              <a:buNone/>
            </a:pPr>
            <a:endParaRPr lang="en-US" altLang="zh-CN" sz="2200" b="1" baseline="0">
              <a:latin typeface="Times New Roman" panose="02020603050405020304" pitchFamily="18" charset="0"/>
              <a:ea typeface="楷体-简" panose="02010600040101010101" pitchFamily="2" charset="-122"/>
            </a:endParaRPr>
          </a:p>
          <a:p>
            <a:pPr eaLnBrk="1" hangingPunct="1">
              <a:lnSpc>
                <a:spcPct val="80000"/>
              </a:lnSpc>
              <a:buFontTx/>
              <a:buNone/>
            </a:pPr>
            <a:r>
              <a:rPr lang="en-US" altLang="zh-CN" sz="2200" b="1" baseline="0">
                <a:latin typeface="Times New Roman" panose="02020603050405020304" pitchFamily="18" charset="0"/>
                <a:ea typeface="楷体-简" panose="02010600040101010101" pitchFamily="2" charset="-122"/>
              </a:rPr>
              <a:t>class MyDate {</a:t>
            </a:r>
          </a:p>
          <a:p>
            <a:pPr eaLnBrk="1" hangingPunct="1">
              <a:lnSpc>
                <a:spcPct val="80000"/>
              </a:lnSpc>
              <a:buFontTx/>
              <a:buNone/>
            </a:pPr>
            <a:r>
              <a:rPr lang="en-US" altLang="zh-CN" sz="2200" b="1" baseline="0">
                <a:latin typeface="Times New Roman" panose="02020603050405020304" pitchFamily="18" charset="0"/>
                <a:ea typeface="楷体-简" panose="02010600040101010101" pitchFamily="2" charset="-122"/>
              </a:rPr>
              <a:t>	int year; int month; int day;</a:t>
            </a:r>
          </a:p>
          <a:p>
            <a:pPr eaLnBrk="1" hangingPunct="1">
              <a:lnSpc>
                <a:spcPct val="80000"/>
              </a:lnSpc>
              <a:buFontTx/>
              <a:buNone/>
            </a:pPr>
            <a:r>
              <a:rPr lang="en-US" altLang="zh-CN" sz="2200" b="1" baseline="0">
                <a:latin typeface="Times New Roman" panose="02020603050405020304" pitchFamily="18" charset="0"/>
                <a:ea typeface="楷体-简" panose="02010600040101010101" pitchFamily="2" charset="-122"/>
              </a:rPr>
              <a:t>	MyDate(int y,int m, int d) {</a:t>
            </a:r>
          </a:p>
          <a:p>
            <a:pPr eaLnBrk="1" hangingPunct="1">
              <a:lnSpc>
                <a:spcPct val="80000"/>
              </a:lnSpc>
              <a:buFontTx/>
              <a:buNone/>
            </a:pPr>
            <a:r>
              <a:rPr lang="en-US" altLang="zh-CN" sz="2200" b="1" baseline="0">
                <a:latin typeface="Times New Roman" panose="02020603050405020304" pitchFamily="18" charset="0"/>
                <a:ea typeface="楷体-简" panose="02010600040101010101" pitchFamily="2" charset="-122"/>
              </a:rPr>
              <a:t>		year = y; month = m; day = d;</a:t>
            </a:r>
          </a:p>
          <a:p>
            <a:pPr eaLnBrk="1" hangingPunct="1">
              <a:lnSpc>
                <a:spcPct val="80000"/>
              </a:lnSpc>
              <a:buFontTx/>
              <a:buNone/>
            </a:pPr>
            <a:r>
              <a:rPr lang="en-US" altLang="zh-CN" sz="2200" b="1" baseline="0">
                <a:latin typeface="Times New Roman" panose="02020603050405020304" pitchFamily="18" charset="0"/>
                <a:ea typeface="楷体-简" panose="02010600040101010101" pitchFamily="2" charset="-122"/>
              </a:rPr>
              <a:t>	}</a:t>
            </a:r>
          </a:p>
          <a:p>
            <a:pPr eaLnBrk="1" hangingPunct="1">
              <a:lnSpc>
                <a:spcPct val="80000"/>
              </a:lnSpc>
              <a:buFontTx/>
              <a:buNone/>
            </a:pPr>
            <a:r>
              <a:rPr lang="en-US" altLang="zh-CN" sz="2200" b="1" baseline="0">
                <a:latin typeface="Times New Roman" panose="02020603050405020304" pitchFamily="18" charset="0"/>
                <a:ea typeface="楷体-简" panose="02010600040101010101" pitchFamily="2" charset="-122"/>
              </a:rPr>
              <a:t>}</a:t>
            </a:r>
          </a:p>
          <a:p>
            <a:pPr eaLnBrk="1" hangingPunct="1">
              <a:lnSpc>
                <a:spcPct val="80000"/>
              </a:lnSpc>
              <a:buFontTx/>
              <a:buNone/>
            </a:pPr>
            <a:endParaRPr lang="en-US" altLang="zh-CN" sz="2200" b="1" baseline="0">
              <a:latin typeface="Times New Roman" panose="02020603050405020304" pitchFamily="18" charset="0"/>
              <a:ea typeface="楷体-简" panose="02010600040101010101" pitchFamily="2" charset="-122"/>
            </a:endParaRPr>
          </a:p>
        </p:txBody>
      </p:sp>
      <p:sp>
        <p:nvSpPr>
          <p:cNvPr id="97283" name="Line 3">
            <a:extLst>
              <a:ext uri="{FF2B5EF4-FFF2-40B4-BE49-F238E27FC236}">
                <a16:creationId xmlns:a16="http://schemas.microsoft.com/office/drawing/2014/main" id="{AB9497EA-4D6F-44AD-9177-09B8932DA66C}"/>
              </a:ext>
            </a:extLst>
          </p:cNvPr>
          <p:cNvSpPr>
            <a:spLocks noChangeShapeType="1"/>
          </p:cNvSpPr>
          <p:nvPr/>
        </p:nvSpPr>
        <p:spPr bwMode="auto">
          <a:xfrm>
            <a:off x="4140200" y="6858000"/>
            <a:ext cx="79216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97284" name="Rectangle 4">
            <a:extLst>
              <a:ext uri="{FF2B5EF4-FFF2-40B4-BE49-F238E27FC236}">
                <a16:creationId xmlns:a16="http://schemas.microsoft.com/office/drawing/2014/main" id="{3B94AFBA-29CF-40EA-ADA6-DD442E83219B}"/>
              </a:ext>
            </a:extLst>
          </p:cNvPr>
          <p:cNvSpPr>
            <a:spLocks noChangeArrowheads="1"/>
          </p:cNvSpPr>
          <p:nvPr/>
        </p:nvSpPr>
        <p:spPr bwMode="auto">
          <a:xfrm>
            <a:off x="5938838" y="1268413"/>
            <a:ext cx="3025775" cy="5329237"/>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zh-CN" sz="1800" b="0"/>
          </a:p>
        </p:txBody>
      </p:sp>
      <p:sp>
        <p:nvSpPr>
          <p:cNvPr id="97285" name="Line 5">
            <a:extLst>
              <a:ext uri="{FF2B5EF4-FFF2-40B4-BE49-F238E27FC236}">
                <a16:creationId xmlns:a16="http://schemas.microsoft.com/office/drawing/2014/main" id="{15B61BF0-7943-4A15-A042-5A7FF92FF8A7}"/>
              </a:ext>
            </a:extLst>
          </p:cNvPr>
          <p:cNvSpPr>
            <a:spLocks noChangeShapeType="1"/>
          </p:cNvSpPr>
          <p:nvPr/>
        </p:nvSpPr>
        <p:spPr bwMode="auto">
          <a:xfrm>
            <a:off x="3132138" y="5084763"/>
            <a:ext cx="0" cy="1773237"/>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7286" name="Line 6">
            <a:extLst>
              <a:ext uri="{FF2B5EF4-FFF2-40B4-BE49-F238E27FC236}">
                <a16:creationId xmlns:a16="http://schemas.microsoft.com/office/drawing/2014/main" id="{8C29D110-85B5-4CC3-8EA7-BFE5170977FF}"/>
              </a:ext>
            </a:extLst>
          </p:cNvPr>
          <p:cNvSpPr>
            <a:spLocks noChangeShapeType="1"/>
          </p:cNvSpPr>
          <p:nvPr/>
        </p:nvSpPr>
        <p:spPr bwMode="auto">
          <a:xfrm flipH="1" flipV="1">
            <a:off x="4500563" y="5157788"/>
            <a:ext cx="0" cy="170021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7287" name="Rectangle 7">
            <a:extLst>
              <a:ext uri="{FF2B5EF4-FFF2-40B4-BE49-F238E27FC236}">
                <a16:creationId xmlns:a16="http://schemas.microsoft.com/office/drawing/2014/main" id="{E6269D8F-AA7F-4822-8489-B29DECD500F5}"/>
              </a:ext>
            </a:extLst>
          </p:cNvPr>
          <p:cNvSpPr>
            <a:spLocks noChangeArrowheads="1"/>
          </p:cNvSpPr>
          <p:nvPr/>
        </p:nvSpPr>
        <p:spPr bwMode="auto">
          <a:xfrm>
            <a:off x="3132138" y="6237288"/>
            <a:ext cx="1368425" cy="62071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800"/>
              <a:t>***</a:t>
            </a:r>
          </a:p>
        </p:txBody>
      </p:sp>
      <p:sp>
        <p:nvSpPr>
          <p:cNvPr id="97288" name="Line 8">
            <a:extLst>
              <a:ext uri="{FF2B5EF4-FFF2-40B4-BE49-F238E27FC236}">
                <a16:creationId xmlns:a16="http://schemas.microsoft.com/office/drawing/2014/main" id="{3887D657-25AE-4268-A407-DE2B3A24E330}"/>
              </a:ext>
            </a:extLst>
          </p:cNvPr>
          <p:cNvSpPr>
            <a:spLocks noChangeShapeType="1"/>
          </p:cNvSpPr>
          <p:nvPr/>
        </p:nvSpPr>
        <p:spPr bwMode="auto">
          <a:xfrm>
            <a:off x="3779838" y="5084763"/>
            <a:ext cx="0" cy="11525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7289" name="Line 9">
            <a:extLst>
              <a:ext uri="{FF2B5EF4-FFF2-40B4-BE49-F238E27FC236}">
                <a16:creationId xmlns:a16="http://schemas.microsoft.com/office/drawing/2014/main" id="{55691036-8DBB-426C-9838-74DD8B59D651}"/>
              </a:ext>
            </a:extLst>
          </p:cNvPr>
          <p:cNvSpPr>
            <a:spLocks noChangeShapeType="1"/>
          </p:cNvSpPr>
          <p:nvPr/>
        </p:nvSpPr>
        <p:spPr bwMode="auto">
          <a:xfrm flipV="1">
            <a:off x="3779838" y="4292600"/>
            <a:ext cx="2376487" cy="792163"/>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7290" name="Text Box 10">
            <a:extLst>
              <a:ext uri="{FF2B5EF4-FFF2-40B4-BE49-F238E27FC236}">
                <a16:creationId xmlns:a16="http://schemas.microsoft.com/office/drawing/2014/main" id="{2FEF4D65-048E-48BA-AF28-D9081A7A6C3B}"/>
              </a:ext>
            </a:extLst>
          </p:cNvPr>
          <p:cNvSpPr txBox="1">
            <a:spLocks noChangeArrowheads="1"/>
          </p:cNvSpPr>
          <p:nvPr/>
        </p:nvSpPr>
        <p:spPr bwMode="auto">
          <a:xfrm>
            <a:off x="1908175" y="6092825"/>
            <a:ext cx="10810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000"/>
              <a:t>栈内存</a:t>
            </a:r>
          </a:p>
        </p:txBody>
      </p:sp>
      <p:graphicFrame>
        <p:nvGraphicFramePr>
          <p:cNvPr id="664587" name="Group 11">
            <a:extLst>
              <a:ext uri="{FF2B5EF4-FFF2-40B4-BE49-F238E27FC236}">
                <a16:creationId xmlns:a16="http://schemas.microsoft.com/office/drawing/2014/main" id="{286B6175-23B2-496A-AC36-5EC8CF184744}"/>
              </a:ext>
            </a:extLst>
          </p:cNvPr>
          <p:cNvGraphicFramePr>
            <a:graphicFrameLocks noGrp="1"/>
          </p:cNvGraphicFramePr>
          <p:nvPr>
            <p:ph sz="quarter" idx="3"/>
          </p:nvPr>
        </p:nvGraphicFramePr>
        <p:xfrm>
          <a:off x="6084888" y="3933825"/>
          <a:ext cx="863600" cy="1554198"/>
        </p:xfrm>
        <a:graphic>
          <a:graphicData uri="http://schemas.openxmlformats.org/drawingml/2006/table">
            <a:tbl>
              <a:tblPr/>
              <a:tblGrid>
                <a:gridCol w="863600">
                  <a:extLst>
                    <a:ext uri="{9D8B030D-6E8A-4147-A177-3AD203B41FA5}">
                      <a16:colId xmlns:a16="http://schemas.microsoft.com/office/drawing/2014/main" val="20000"/>
                    </a:ext>
                  </a:extLst>
                </a:gridCol>
              </a:tblGrid>
              <a:tr h="518054">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txBody>
                  <a:tcPr marT="45673" marB="4567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8054">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txBody>
                  <a:tcPr marT="45673" marB="4567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8054">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txBody>
                  <a:tcPr marT="45673" marB="4567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664597" name="Group 21">
            <a:extLst>
              <a:ext uri="{FF2B5EF4-FFF2-40B4-BE49-F238E27FC236}">
                <a16:creationId xmlns:a16="http://schemas.microsoft.com/office/drawing/2014/main" id="{91FE9190-F484-45D5-AD8C-FD7F3382FE27}"/>
              </a:ext>
            </a:extLst>
          </p:cNvPr>
          <p:cNvGraphicFramePr>
            <a:graphicFrameLocks noGrp="1"/>
          </p:cNvGraphicFramePr>
          <p:nvPr/>
        </p:nvGraphicFramePr>
        <p:xfrm>
          <a:off x="7667625" y="5013325"/>
          <a:ext cx="720725" cy="1169988"/>
        </p:xfrm>
        <a:graphic>
          <a:graphicData uri="http://schemas.openxmlformats.org/drawingml/2006/table">
            <a:tbl>
              <a:tblPr/>
              <a:tblGrid>
                <a:gridCol w="720725">
                  <a:extLst>
                    <a:ext uri="{9D8B030D-6E8A-4147-A177-3AD203B41FA5}">
                      <a16:colId xmlns:a16="http://schemas.microsoft.com/office/drawing/2014/main" val="20000"/>
                    </a:ext>
                  </a:extLst>
                </a:gridCol>
              </a:tblGrid>
              <a:tr h="407988">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2008</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0">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10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0">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3</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664607" name="Group 31">
            <a:extLst>
              <a:ext uri="{FF2B5EF4-FFF2-40B4-BE49-F238E27FC236}">
                <a16:creationId xmlns:a16="http://schemas.microsoft.com/office/drawing/2014/main" id="{BAA42533-C0D6-45F8-865B-FF969ACB483B}"/>
              </a:ext>
            </a:extLst>
          </p:cNvPr>
          <p:cNvGraphicFramePr>
            <a:graphicFrameLocks noGrp="1"/>
          </p:cNvGraphicFramePr>
          <p:nvPr/>
        </p:nvGraphicFramePr>
        <p:xfrm>
          <a:off x="7667625" y="3141663"/>
          <a:ext cx="720725" cy="1417638"/>
        </p:xfrm>
        <a:graphic>
          <a:graphicData uri="http://schemas.openxmlformats.org/drawingml/2006/table">
            <a:tbl>
              <a:tblPr/>
              <a:tblGrid>
                <a:gridCol w="720725">
                  <a:extLst>
                    <a:ext uri="{9D8B030D-6E8A-4147-A177-3AD203B41FA5}">
                      <a16:colId xmlns:a16="http://schemas.microsoft.com/office/drawing/2014/main" val="20000"/>
                    </a:ext>
                  </a:extLst>
                </a:gridCol>
              </a:tblGrid>
              <a:tr h="655638">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2008</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5760">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10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240">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2</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664617" name="Group 41">
            <a:extLst>
              <a:ext uri="{FF2B5EF4-FFF2-40B4-BE49-F238E27FC236}">
                <a16:creationId xmlns:a16="http://schemas.microsoft.com/office/drawing/2014/main" id="{49358240-C4A1-4567-8C90-35E5B37BEA37}"/>
              </a:ext>
            </a:extLst>
          </p:cNvPr>
          <p:cNvGraphicFramePr>
            <a:graphicFrameLocks noGrp="1"/>
          </p:cNvGraphicFramePr>
          <p:nvPr/>
        </p:nvGraphicFramePr>
        <p:xfrm>
          <a:off x="7667625" y="1484313"/>
          <a:ext cx="720725" cy="1223963"/>
        </p:xfrm>
        <a:graphic>
          <a:graphicData uri="http://schemas.openxmlformats.org/drawingml/2006/table">
            <a:tbl>
              <a:tblPr/>
              <a:tblGrid>
                <a:gridCol w="720725">
                  <a:extLst>
                    <a:ext uri="{9D8B030D-6E8A-4147-A177-3AD203B41FA5}">
                      <a16:colId xmlns:a16="http://schemas.microsoft.com/office/drawing/2014/main" val="20000"/>
                    </a:ext>
                  </a:extLst>
                </a:gridCol>
              </a:tblGrid>
              <a:tr h="436563">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2008</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extLst>
                  <a:ext uri="{0D108BD9-81ED-4DB2-BD59-A6C34878D82A}">
                    <a16:rowId xmlns:a16="http://schemas.microsoft.com/office/drawing/2014/main" val="10000"/>
                  </a:ext>
                </a:extLst>
              </a:tr>
              <a:tr h="37782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10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extLst>
                  <a:ext uri="{0D108BD9-81ED-4DB2-BD59-A6C34878D82A}">
                    <a16:rowId xmlns:a16="http://schemas.microsoft.com/office/drawing/2014/main" val="10001"/>
                  </a:ext>
                </a:extLst>
              </a:tr>
              <a:tr h="40957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extLst>
                  <a:ext uri="{0D108BD9-81ED-4DB2-BD59-A6C34878D82A}">
                    <a16:rowId xmlns:a16="http://schemas.microsoft.com/office/drawing/2014/main" val="10002"/>
                  </a:ext>
                </a:extLst>
              </a:tr>
            </a:tbl>
          </a:graphicData>
        </a:graphic>
      </p:graphicFrame>
      <p:sp>
        <p:nvSpPr>
          <p:cNvPr id="97331" name="Line 51">
            <a:extLst>
              <a:ext uri="{FF2B5EF4-FFF2-40B4-BE49-F238E27FC236}">
                <a16:creationId xmlns:a16="http://schemas.microsoft.com/office/drawing/2014/main" id="{0D12D492-8E3C-4FA3-8C7D-29BCFFFC2D10}"/>
              </a:ext>
            </a:extLst>
          </p:cNvPr>
          <p:cNvSpPr>
            <a:spLocks noChangeShapeType="1"/>
          </p:cNvSpPr>
          <p:nvPr/>
        </p:nvSpPr>
        <p:spPr bwMode="auto">
          <a:xfrm flipV="1">
            <a:off x="6443663" y="2133600"/>
            <a:ext cx="0" cy="18002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97332" name="Line 52">
            <a:extLst>
              <a:ext uri="{FF2B5EF4-FFF2-40B4-BE49-F238E27FC236}">
                <a16:creationId xmlns:a16="http://schemas.microsoft.com/office/drawing/2014/main" id="{4C91FB68-DC17-4AA4-91D1-EAD083E183DC}"/>
              </a:ext>
            </a:extLst>
          </p:cNvPr>
          <p:cNvSpPr>
            <a:spLocks noChangeShapeType="1"/>
          </p:cNvSpPr>
          <p:nvPr/>
        </p:nvSpPr>
        <p:spPr bwMode="auto">
          <a:xfrm flipV="1">
            <a:off x="6443663" y="1773238"/>
            <a:ext cx="1223962" cy="36036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97333" name="Line 53">
            <a:extLst>
              <a:ext uri="{FF2B5EF4-FFF2-40B4-BE49-F238E27FC236}">
                <a16:creationId xmlns:a16="http://schemas.microsoft.com/office/drawing/2014/main" id="{BFA88D51-19C2-4C7F-B654-0902A464C795}"/>
              </a:ext>
            </a:extLst>
          </p:cNvPr>
          <p:cNvSpPr>
            <a:spLocks noChangeShapeType="1"/>
          </p:cNvSpPr>
          <p:nvPr/>
        </p:nvSpPr>
        <p:spPr bwMode="auto">
          <a:xfrm flipV="1">
            <a:off x="6948488" y="3573463"/>
            <a:ext cx="719137" cy="1008062"/>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97334" name="Line 54">
            <a:extLst>
              <a:ext uri="{FF2B5EF4-FFF2-40B4-BE49-F238E27FC236}">
                <a16:creationId xmlns:a16="http://schemas.microsoft.com/office/drawing/2014/main" id="{E98A9930-A403-4E31-8D71-13C16BCB1FA4}"/>
              </a:ext>
            </a:extLst>
          </p:cNvPr>
          <p:cNvSpPr>
            <a:spLocks noChangeShapeType="1"/>
          </p:cNvSpPr>
          <p:nvPr/>
        </p:nvSpPr>
        <p:spPr bwMode="auto">
          <a:xfrm>
            <a:off x="6948488" y="5300663"/>
            <a:ext cx="719137"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97335" name="Text Box 55">
            <a:extLst>
              <a:ext uri="{FF2B5EF4-FFF2-40B4-BE49-F238E27FC236}">
                <a16:creationId xmlns:a16="http://schemas.microsoft.com/office/drawing/2014/main" id="{FDB211B5-8705-4CC5-9D3F-F33845F09BE9}"/>
              </a:ext>
            </a:extLst>
          </p:cNvPr>
          <p:cNvSpPr txBox="1">
            <a:spLocks noChangeArrowheads="1"/>
          </p:cNvSpPr>
          <p:nvPr/>
        </p:nvSpPr>
        <p:spPr bwMode="auto">
          <a:xfrm>
            <a:off x="6011863" y="1412875"/>
            <a:ext cx="10810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zh-CN" altLang="en-US" sz="2000"/>
              <a:t>堆内存</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4">
            <a:extLst>
              <a:ext uri="{FF2B5EF4-FFF2-40B4-BE49-F238E27FC236}">
                <a16:creationId xmlns:a16="http://schemas.microsoft.com/office/drawing/2014/main" id="{827EB9A0-0A44-41E5-BAA1-53343879F60A}"/>
              </a:ext>
            </a:extLst>
          </p:cNvPr>
          <p:cNvSpPr>
            <a:spLocks noChangeArrowheads="1"/>
          </p:cNvSpPr>
          <p:nvPr/>
        </p:nvSpPr>
        <p:spPr bwMode="auto">
          <a:xfrm>
            <a:off x="0" y="551656"/>
            <a:ext cx="9290050" cy="5754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dirty="0">
                <a:solidFill>
                  <a:srgbClr val="FF0066"/>
                </a:solidFill>
              </a:rPr>
              <a:t>//</a:t>
            </a:r>
            <a:r>
              <a:rPr lang="zh-CN" altLang="en-US" sz="2400" dirty="0">
                <a:solidFill>
                  <a:srgbClr val="FF0066"/>
                </a:solidFill>
              </a:rPr>
              <a:t>例子：通过命令行参数初始化数组</a:t>
            </a:r>
            <a:endParaRPr lang="en-US" altLang="zh-CN" sz="2400" dirty="0">
              <a:solidFill>
                <a:srgbClr val="FF0066"/>
              </a:solidFill>
            </a:endParaRPr>
          </a:p>
          <a:p>
            <a:pPr eaLnBrk="1" hangingPunct="1">
              <a:spcBef>
                <a:spcPct val="0"/>
              </a:spcBef>
              <a:buFontTx/>
              <a:buNone/>
            </a:pPr>
            <a:endParaRPr lang="zh-CN" altLang="en-US" sz="800" dirty="0">
              <a:solidFill>
                <a:srgbClr val="FF0066"/>
              </a:solidFill>
            </a:endParaRPr>
          </a:p>
          <a:p>
            <a:pPr eaLnBrk="1" hangingPunct="1">
              <a:spcBef>
                <a:spcPct val="0"/>
              </a:spcBef>
              <a:buFontTx/>
              <a:buNone/>
            </a:pPr>
            <a:r>
              <a:rPr lang="en-US" altLang="zh-CN" sz="2400" dirty="0">
                <a:solidFill>
                  <a:srgbClr val="6666FF"/>
                </a:solidFill>
              </a:rPr>
              <a:t>public class</a:t>
            </a:r>
            <a:r>
              <a:rPr lang="en-US" altLang="zh-CN" sz="2400" dirty="0"/>
              <a:t> InitArray3 {</a:t>
            </a:r>
          </a:p>
          <a:p>
            <a:pPr eaLnBrk="1" hangingPunct="1">
              <a:spcBef>
                <a:spcPct val="0"/>
              </a:spcBef>
              <a:buFontTx/>
              <a:buNone/>
            </a:pPr>
            <a:r>
              <a:rPr lang="en-US" altLang="zh-CN" sz="2400" dirty="0"/>
              <a:t>	</a:t>
            </a:r>
            <a:r>
              <a:rPr lang="en-US" altLang="zh-CN" sz="2400" dirty="0">
                <a:solidFill>
                  <a:srgbClr val="6666FF"/>
                </a:solidFill>
              </a:rPr>
              <a:t>public static void</a:t>
            </a:r>
            <a:r>
              <a:rPr lang="en-US" altLang="zh-CN" sz="2400" dirty="0"/>
              <a:t> main(String </a:t>
            </a:r>
            <a:r>
              <a:rPr lang="en-US" altLang="zh-CN" sz="2400" dirty="0" err="1"/>
              <a:t>args</a:t>
            </a:r>
            <a:r>
              <a:rPr lang="en-US" altLang="zh-CN" sz="2400" dirty="0"/>
              <a:t>[]) {</a:t>
            </a:r>
          </a:p>
          <a:p>
            <a:pPr eaLnBrk="1" hangingPunct="1">
              <a:spcBef>
                <a:spcPct val="0"/>
              </a:spcBef>
              <a:buFontTx/>
              <a:buNone/>
            </a:pPr>
            <a:r>
              <a:rPr lang="en-US" altLang="zh-CN" sz="2400" dirty="0"/>
              <a:t>	//check number of command-line arguments</a:t>
            </a:r>
          </a:p>
          <a:p>
            <a:pPr eaLnBrk="1" hangingPunct="1">
              <a:spcBef>
                <a:spcPct val="0"/>
              </a:spcBef>
              <a:buFontTx/>
              <a:buNone/>
            </a:pPr>
            <a:r>
              <a:rPr lang="en-US" altLang="zh-CN" sz="2400" dirty="0"/>
              <a:t>	</a:t>
            </a:r>
            <a:r>
              <a:rPr lang="en-US" altLang="zh-CN" sz="2400" dirty="0">
                <a:solidFill>
                  <a:srgbClr val="6666FF"/>
                </a:solidFill>
              </a:rPr>
              <a:t>if </a:t>
            </a:r>
            <a:r>
              <a:rPr lang="en-US" altLang="zh-CN" sz="2400" dirty="0"/>
              <a:t>(</a:t>
            </a:r>
            <a:r>
              <a:rPr lang="en-US" altLang="zh-CN" sz="2400" dirty="0" err="1"/>
              <a:t>args.length</a:t>
            </a:r>
            <a:r>
              <a:rPr lang="en-US" altLang="zh-CN" sz="2400" dirty="0"/>
              <a:t> != 3)</a:t>
            </a:r>
          </a:p>
          <a:p>
            <a:pPr eaLnBrk="1" hangingPunct="1">
              <a:spcBef>
                <a:spcPct val="0"/>
              </a:spcBef>
              <a:buFontTx/>
              <a:buNone/>
            </a:pPr>
            <a:r>
              <a:rPr lang="en-US" altLang="zh-CN" sz="2400" dirty="0"/>
              <a:t>		</a:t>
            </a:r>
            <a:r>
              <a:rPr lang="en-US" altLang="zh-CN" sz="2400" dirty="0" err="1"/>
              <a:t>System.out.println</a:t>
            </a:r>
            <a:r>
              <a:rPr lang="en-US" altLang="zh-CN" sz="2400" dirty="0"/>
              <a:t>("Error: Please re-enter the entire command, including\n"+ "an array size, initial value and increment.");</a:t>
            </a:r>
          </a:p>
          <a:p>
            <a:pPr eaLnBrk="1" hangingPunct="1">
              <a:spcBef>
                <a:spcPct val="0"/>
              </a:spcBef>
              <a:buFontTx/>
              <a:buNone/>
            </a:pPr>
            <a:r>
              <a:rPr lang="en-US" altLang="zh-CN" sz="2400" dirty="0"/>
              <a:t>	</a:t>
            </a:r>
            <a:r>
              <a:rPr lang="en-US" altLang="zh-CN" sz="2400" dirty="0">
                <a:solidFill>
                  <a:srgbClr val="6666FF"/>
                </a:solidFill>
              </a:rPr>
              <a:t>else {</a:t>
            </a:r>
          </a:p>
          <a:p>
            <a:pPr eaLnBrk="1" hangingPunct="1">
              <a:spcBef>
                <a:spcPct val="0"/>
              </a:spcBef>
              <a:buFontTx/>
              <a:buNone/>
            </a:pPr>
            <a:r>
              <a:rPr lang="en-US" altLang="zh-CN" sz="2400" dirty="0"/>
              <a:t>	//get array size from first command-line argument</a:t>
            </a:r>
          </a:p>
          <a:p>
            <a:pPr eaLnBrk="1" hangingPunct="1">
              <a:spcBef>
                <a:spcPct val="0"/>
              </a:spcBef>
              <a:buFontTx/>
              <a:buNone/>
            </a:pPr>
            <a:r>
              <a:rPr lang="en-US" altLang="zh-CN" sz="2400" dirty="0"/>
              <a:t>	</a:t>
            </a:r>
            <a:r>
              <a:rPr lang="en-US" altLang="zh-CN" sz="2400" dirty="0">
                <a:solidFill>
                  <a:srgbClr val="6666FF"/>
                </a:solidFill>
              </a:rPr>
              <a:t>int</a:t>
            </a:r>
            <a:r>
              <a:rPr lang="en-US" altLang="zh-CN" sz="2400" dirty="0"/>
              <a:t> </a:t>
            </a:r>
            <a:r>
              <a:rPr lang="en-US" altLang="zh-CN" sz="2400" dirty="0" err="1"/>
              <a:t>arrayLength</a:t>
            </a:r>
            <a:r>
              <a:rPr lang="en-US" altLang="zh-CN" sz="2400" dirty="0"/>
              <a:t> = </a:t>
            </a:r>
            <a:r>
              <a:rPr lang="en-US" altLang="zh-CN" sz="2400" dirty="0" err="1">
                <a:solidFill>
                  <a:srgbClr val="FF0066"/>
                </a:solidFill>
              </a:rPr>
              <a:t>Integer</a:t>
            </a:r>
            <a:r>
              <a:rPr lang="en-US" altLang="zh-CN" sz="2400" dirty="0" err="1"/>
              <a:t>.parseInt</a:t>
            </a:r>
            <a:r>
              <a:rPr lang="en-US" altLang="zh-CN" sz="2400" dirty="0"/>
              <a:t>(</a:t>
            </a:r>
            <a:r>
              <a:rPr lang="en-US" altLang="zh-CN" sz="2400" dirty="0" err="1"/>
              <a:t>args</a:t>
            </a:r>
            <a:r>
              <a:rPr lang="en-US" altLang="zh-CN" sz="2400" dirty="0"/>
              <a:t>[0]);</a:t>
            </a:r>
          </a:p>
          <a:p>
            <a:pPr eaLnBrk="1" hangingPunct="1">
              <a:spcBef>
                <a:spcPct val="0"/>
              </a:spcBef>
              <a:buFontTx/>
              <a:buNone/>
            </a:pPr>
            <a:r>
              <a:rPr lang="en-US" altLang="zh-CN" sz="2400" dirty="0"/>
              <a:t>	</a:t>
            </a:r>
            <a:r>
              <a:rPr lang="en-US" altLang="zh-CN" sz="2400" dirty="0">
                <a:solidFill>
                  <a:srgbClr val="6666FF"/>
                </a:solidFill>
              </a:rPr>
              <a:t>int</a:t>
            </a:r>
            <a:r>
              <a:rPr lang="en-US" altLang="zh-CN" sz="2400" dirty="0"/>
              <a:t> array[ ] = new int [ </a:t>
            </a:r>
            <a:r>
              <a:rPr lang="en-US" altLang="zh-CN" sz="2400" dirty="0" err="1"/>
              <a:t>arrayLength</a:t>
            </a:r>
            <a:r>
              <a:rPr lang="en-US" altLang="zh-CN" sz="2400" dirty="0"/>
              <a:t> ]; // create array</a:t>
            </a:r>
          </a:p>
          <a:p>
            <a:pPr eaLnBrk="1" hangingPunct="1">
              <a:spcBef>
                <a:spcPct val="0"/>
              </a:spcBef>
              <a:buFontTx/>
              <a:buNone/>
            </a:pPr>
            <a:r>
              <a:rPr lang="en-US" altLang="zh-CN" sz="2400" dirty="0"/>
              <a:t>//get initial value and increment from command-line argument</a:t>
            </a:r>
          </a:p>
          <a:p>
            <a:pPr eaLnBrk="1" hangingPunct="1">
              <a:spcBef>
                <a:spcPct val="0"/>
              </a:spcBef>
              <a:buFontTx/>
              <a:buNone/>
            </a:pPr>
            <a:r>
              <a:rPr lang="en-US" altLang="zh-CN" sz="2400" dirty="0"/>
              <a:t>	</a:t>
            </a:r>
            <a:r>
              <a:rPr lang="en-US" altLang="zh-CN" sz="2400" dirty="0">
                <a:solidFill>
                  <a:srgbClr val="6666FF"/>
                </a:solidFill>
              </a:rPr>
              <a:t>int </a:t>
            </a:r>
            <a:r>
              <a:rPr lang="en-US" altLang="zh-CN" sz="2400" dirty="0" err="1"/>
              <a:t>initialValue</a:t>
            </a:r>
            <a:r>
              <a:rPr lang="en-US" altLang="zh-CN" sz="2400" dirty="0"/>
              <a:t> = </a:t>
            </a:r>
            <a:r>
              <a:rPr lang="en-US" altLang="zh-CN" sz="2400" dirty="0" err="1">
                <a:solidFill>
                  <a:srgbClr val="FF0066"/>
                </a:solidFill>
              </a:rPr>
              <a:t>Integer</a:t>
            </a:r>
            <a:r>
              <a:rPr lang="en-US" altLang="zh-CN" sz="2400" dirty="0" err="1"/>
              <a:t>.parseInt</a:t>
            </a:r>
            <a:r>
              <a:rPr lang="en-US" altLang="zh-CN" sz="2400" dirty="0"/>
              <a:t>(</a:t>
            </a:r>
            <a:r>
              <a:rPr lang="en-US" altLang="zh-CN" sz="2400" dirty="0" err="1"/>
              <a:t>args</a:t>
            </a:r>
            <a:r>
              <a:rPr lang="en-US" altLang="zh-CN" sz="2400" dirty="0"/>
              <a:t>[1]);</a:t>
            </a:r>
          </a:p>
          <a:p>
            <a:pPr eaLnBrk="1" hangingPunct="1">
              <a:spcBef>
                <a:spcPct val="0"/>
              </a:spcBef>
              <a:buFontTx/>
              <a:buNone/>
            </a:pPr>
            <a:r>
              <a:rPr lang="en-US" altLang="zh-CN" sz="2400" dirty="0"/>
              <a:t>	</a:t>
            </a:r>
            <a:r>
              <a:rPr lang="en-US" altLang="zh-CN" sz="2400" dirty="0">
                <a:solidFill>
                  <a:srgbClr val="6666FF"/>
                </a:solidFill>
              </a:rPr>
              <a:t>int</a:t>
            </a:r>
            <a:r>
              <a:rPr lang="en-US" altLang="zh-CN" sz="2400" dirty="0"/>
              <a:t> increment = </a:t>
            </a:r>
            <a:r>
              <a:rPr lang="en-US" altLang="zh-CN" sz="2400" dirty="0" err="1">
                <a:solidFill>
                  <a:srgbClr val="FF0066"/>
                </a:solidFill>
              </a:rPr>
              <a:t>Integer</a:t>
            </a:r>
            <a:r>
              <a:rPr lang="en-US" altLang="zh-CN" sz="2400" dirty="0" err="1"/>
              <a:t>.parseInt</a:t>
            </a:r>
            <a:r>
              <a:rPr lang="en-US" altLang="zh-CN" sz="2400" dirty="0"/>
              <a:t>(</a:t>
            </a:r>
            <a:r>
              <a:rPr lang="en-US" altLang="zh-CN" sz="2400" dirty="0" err="1"/>
              <a:t>args</a:t>
            </a:r>
            <a:r>
              <a:rPr lang="en-US" altLang="zh-CN" sz="2400" dirty="0"/>
              <a:t>[2]);	</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4">
            <a:extLst>
              <a:ext uri="{FF2B5EF4-FFF2-40B4-BE49-F238E27FC236}">
                <a16:creationId xmlns:a16="http://schemas.microsoft.com/office/drawing/2014/main" id="{D07BAEF1-C76D-4CCA-9879-9817BDE625D4}"/>
              </a:ext>
            </a:extLst>
          </p:cNvPr>
          <p:cNvSpPr>
            <a:spLocks noChangeArrowheads="1"/>
          </p:cNvSpPr>
          <p:nvPr/>
        </p:nvSpPr>
        <p:spPr bwMode="auto">
          <a:xfrm>
            <a:off x="0" y="332656"/>
            <a:ext cx="9036496" cy="4154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0" dirty="0"/>
              <a:t>	// calculate value for each array element</a:t>
            </a:r>
          </a:p>
          <a:p>
            <a:pPr eaLnBrk="1" hangingPunct="1">
              <a:spcBef>
                <a:spcPct val="0"/>
              </a:spcBef>
              <a:buFontTx/>
              <a:buNone/>
            </a:pPr>
            <a:r>
              <a:rPr lang="en-US" altLang="zh-CN" sz="2400" b="0" dirty="0"/>
              <a:t>	</a:t>
            </a:r>
            <a:r>
              <a:rPr lang="en-US" altLang="zh-CN" sz="2400" b="0" dirty="0">
                <a:solidFill>
                  <a:srgbClr val="6666FF"/>
                </a:solidFill>
              </a:rPr>
              <a:t>for </a:t>
            </a:r>
            <a:r>
              <a:rPr lang="en-US" altLang="zh-CN" sz="2400" b="0" dirty="0"/>
              <a:t>(int counter = 0; counter &lt; </a:t>
            </a:r>
            <a:r>
              <a:rPr lang="en-US" altLang="zh-CN" sz="2400" b="0" dirty="0" err="1"/>
              <a:t>array.length</a:t>
            </a:r>
            <a:r>
              <a:rPr lang="en-US" altLang="zh-CN" sz="2400" b="0" dirty="0"/>
              <a:t>; counter++)</a:t>
            </a:r>
          </a:p>
          <a:p>
            <a:pPr eaLnBrk="1" hangingPunct="1">
              <a:spcBef>
                <a:spcPct val="0"/>
              </a:spcBef>
              <a:buFontTx/>
              <a:buNone/>
            </a:pPr>
            <a:r>
              <a:rPr lang="en-US" altLang="zh-CN" sz="2400" b="0" dirty="0"/>
              <a:t>	    array[counter] = </a:t>
            </a:r>
            <a:r>
              <a:rPr lang="en-US" altLang="zh-CN" sz="2400" b="0" dirty="0" err="1"/>
              <a:t>initialValue</a:t>
            </a:r>
            <a:r>
              <a:rPr lang="en-US" altLang="zh-CN" sz="2400" b="0" dirty="0"/>
              <a:t> + increment * counter;</a:t>
            </a:r>
          </a:p>
          <a:p>
            <a:pPr eaLnBrk="1" hangingPunct="1">
              <a:spcBef>
                <a:spcPct val="0"/>
              </a:spcBef>
              <a:buFontTx/>
              <a:buNone/>
            </a:pPr>
            <a:r>
              <a:rPr lang="en-US" altLang="zh-CN" sz="2400" b="0" dirty="0"/>
              <a:t>	    </a:t>
            </a:r>
            <a:r>
              <a:rPr lang="en-US" altLang="zh-CN" sz="2400" b="0" dirty="0" err="1">
                <a:solidFill>
                  <a:srgbClr val="FF0066"/>
                </a:solidFill>
              </a:rPr>
              <a:t>System</a:t>
            </a:r>
            <a:r>
              <a:rPr lang="en-US" altLang="zh-CN" sz="2400" b="0" dirty="0" err="1"/>
              <a:t>.out.printf</a:t>
            </a:r>
            <a:r>
              <a:rPr lang="en-US" altLang="zh-CN" sz="2400" b="0" dirty="0"/>
              <a:t>("%s %8s\n", "Index", "Value");</a:t>
            </a:r>
          </a:p>
          <a:p>
            <a:pPr eaLnBrk="1" hangingPunct="1">
              <a:spcBef>
                <a:spcPct val="0"/>
              </a:spcBef>
              <a:buFontTx/>
              <a:buNone/>
            </a:pPr>
            <a:endParaRPr lang="en-US" altLang="zh-CN" sz="2400" b="0" dirty="0"/>
          </a:p>
          <a:p>
            <a:pPr eaLnBrk="1" hangingPunct="1">
              <a:spcBef>
                <a:spcPct val="0"/>
              </a:spcBef>
              <a:buFontTx/>
              <a:buNone/>
            </a:pPr>
            <a:r>
              <a:rPr lang="en-US" altLang="zh-CN" sz="2400" b="0" dirty="0"/>
              <a:t>	// display array index and value</a:t>
            </a:r>
          </a:p>
          <a:p>
            <a:pPr eaLnBrk="1" hangingPunct="1">
              <a:spcBef>
                <a:spcPct val="0"/>
              </a:spcBef>
              <a:buFontTx/>
              <a:buNone/>
            </a:pPr>
            <a:r>
              <a:rPr lang="en-US" altLang="zh-CN" sz="2400" b="0" dirty="0"/>
              <a:t>	</a:t>
            </a:r>
            <a:r>
              <a:rPr lang="en-US" altLang="zh-CN" sz="2400" b="0" dirty="0">
                <a:solidFill>
                  <a:srgbClr val="6666FF"/>
                </a:solidFill>
              </a:rPr>
              <a:t>for </a:t>
            </a:r>
            <a:r>
              <a:rPr lang="en-US" altLang="zh-CN" sz="2400" b="0" dirty="0"/>
              <a:t>(int counter = 0; counter &lt; </a:t>
            </a:r>
            <a:r>
              <a:rPr lang="en-US" altLang="zh-CN" sz="2400" b="0" dirty="0" err="1"/>
              <a:t>array.length</a:t>
            </a:r>
            <a:r>
              <a:rPr lang="en-US" altLang="zh-CN" sz="2400" b="0" dirty="0"/>
              <a:t>; counter++)</a:t>
            </a:r>
          </a:p>
          <a:p>
            <a:pPr eaLnBrk="1" hangingPunct="1">
              <a:spcBef>
                <a:spcPct val="0"/>
              </a:spcBef>
              <a:buFontTx/>
              <a:buNone/>
            </a:pPr>
            <a:r>
              <a:rPr lang="en-US" altLang="zh-CN" sz="2400" b="0" dirty="0"/>
              <a:t>	    </a:t>
            </a:r>
            <a:r>
              <a:rPr lang="en-US" altLang="zh-CN" sz="2400" b="0" dirty="0" err="1">
                <a:solidFill>
                  <a:srgbClr val="FF0066"/>
                </a:solidFill>
              </a:rPr>
              <a:t>System</a:t>
            </a:r>
            <a:r>
              <a:rPr lang="en-US" altLang="zh-CN" sz="2400" b="0" dirty="0" err="1"/>
              <a:t>.out.printf</a:t>
            </a:r>
            <a:r>
              <a:rPr lang="en-US" altLang="zh-CN" sz="2400" b="0" dirty="0"/>
              <a:t>("%5d %8d\n", counter, array[counter]);</a:t>
            </a:r>
          </a:p>
          <a:p>
            <a:pPr eaLnBrk="1" hangingPunct="1">
              <a:spcBef>
                <a:spcPct val="0"/>
              </a:spcBef>
              <a:buFontTx/>
              <a:buNone/>
            </a:pPr>
            <a:r>
              <a:rPr lang="en-US" altLang="zh-CN" sz="2400" b="0" dirty="0"/>
              <a:t>	} // end else</a:t>
            </a:r>
          </a:p>
          <a:p>
            <a:pPr eaLnBrk="1" hangingPunct="1">
              <a:spcBef>
                <a:spcPct val="0"/>
              </a:spcBef>
              <a:buFontTx/>
              <a:buNone/>
            </a:pPr>
            <a:r>
              <a:rPr lang="en-US" altLang="zh-CN" sz="2400" b="0" dirty="0"/>
              <a:t>	} // end main</a:t>
            </a:r>
          </a:p>
          <a:p>
            <a:pPr eaLnBrk="1" hangingPunct="1">
              <a:spcBef>
                <a:spcPct val="0"/>
              </a:spcBef>
              <a:buFontTx/>
              <a:buNone/>
            </a:pPr>
            <a:r>
              <a:rPr lang="en-US" altLang="zh-CN" sz="2400" b="0" dirty="0"/>
              <a:t>} // end class </a:t>
            </a:r>
            <a:r>
              <a:rPr lang="en-US" altLang="zh-CN" sz="2400" b="0" dirty="0" err="1"/>
              <a:t>InitArray</a:t>
            </a:r>
            <a:endParaRPr lang="en-US" altLang="zh-CN" sz="2400" b="0" dirty="0"/>
          </a:p>
        </p:txBody>
      </p:sp>
      <p:sp>
        <p:nvSpPr>
          <p:cNvPr id="673797" name="Text Box 5">
            <a:extLst>
              <a:ext uri="{FF2B5EF4-FFF2-40B4-BE49-F238E27FC236}">
                <a16:creationId xmlns:a16="http://schemas.microsoft.com/office/drawing/2014/main" id="{A0C939EB-E34D-4477-8FFB-CCABA7446E50}"/>
              </a:ext>
            </a:extLst>
          </p:cNvPr>
          <p:cNvSpPr txBox="1">
            <a:spLocks noChangeArrowheads="1"/>
          </p:cNvSpPr>
          <p:nvPr/>
        </p:nvSpPr>
        <p:spPr bwMode="auto">
          <a:xfrm>
            <a:off x="4211960" y="4587180"/>
            <a:ext cx="4535487" cy="1917700"/>
          </a:xfrm>
          <a:prstGeom prst="rect">
            <a:avLst/>
          </a:prstGeom>
          <a:solidFill>
            <a:schemeClr val="tx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a:solidFill>
                  <a:schemeClr val="bg1"/>
                </a:solidFill>
              </a:rPr>
              <a:t>C:\temp&gt;java InitArray 3 1 2</a:t>
            </a:r>
          </a:p>
          <a:p>
            <a:pPr eaLnBrk="1" hangingPunct="1">
              <a:spcBef>
                <a:spcPct val="0"/>
              </a:spcBef>
              <a:buFontTx/>
              <a:buNone/>
            </a:pPr>
            <a:r>
              <a:rPr lang="en-US" altLang="zh-CN" sz="2400">
                <a:solidFill>
                  <a:schemeClr val="bg1"/>
                </a:solidFill>
              </a:rPr>
              <a:t>Index      Value</a:t>
            </a:r>
          </a:p>
          <a:p>
            <a:pPr eaLnBrk="1" hangingPunct="1">
              <a:spcBef>
                <a:spcPct val="0"/>
              </a:spcBef>
              <a:buFontTx/>
              <a:buNone/>
            </a:pPr>
            <a:r>
              <a:rPr lang="en-US" altLang="zh-CN" sz="2400">
                <a:solidFill>
                  <a:schemeClr val="bg1"/>
                </a:solidFill>
              </a:rPr>
              <a:t>       0              1</a:t>
            </a:r>
          </a:p>
          <a:p>
            <a:pPr eaLnBrk="1" hangingPunct="1">
              <a:spcBef>
                <a:spcPct val="0"/>
              </a:spcBef>
              <a:buFontTx/>
              <a:buNone/>
            </a:pPr>
            <a:r>
              <a:rPr lang="en-US" altLang="zh-CN" sz="2400">
                <a:solidFill>
                  <a:schemeClr val="bg1"/>
                </a:solidFill>
              </a:rPr>
              <a:t>       1              3</a:t>
            </a:r>
          </a:p>
          <a:p>
            <a:pPr eaLnBrk="1" hangingPunct="1">
              <a:spcBef>
                <a:spcPct val="0"/>
              </a:spcBef>
              <a:buFontTx/>
              <a:buNone/>
            </a:pPr>
            <a:r>
              <a:rPr lang="en-US" altLang="zh-CN" sz="2400">
                <a:solidFill>
                  <a:schemeClr val="bg1"/>
                </a:solidFill>
              </a:rPr>
              <a:t>       2              5</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73797"/>
                                        </p:tgtEl>
                                        <p:attrNameLst>
                                          <p:attrName>style.visibility</p:attrName>
                                        </p:attrNameLst>
                                      </p:cBhvr>
                                      <p:to>
                                        <p:strVal val="visible"/>
                                      </p:to>
                                    </p:set>
                                    <p:anim calcmode="lin" valueType="num">
                                      <p:cBhvr additive="base">
                                        <p:cTn id="7" dur="500" fill="hold"/>
                                        <p:tgtEl>
                                          <p:spTgt spid="673797"/>
                                        </p:tgtEl>
                                        <p:attrNameLst>
                                          <p:attrName>ppt_x</p:attrName>
                                        </p:attrNameLst>
                                      </p:cBhvr>
                                      <p:tavLst>
                                        <p:tav tm="0">
                                          <p:val>
                                            <p:strVal val="#ppt_x"/>
                                          </p:val>
                                        </p:tav>
                                        <p:tav tm="100000">
                                          <p:val>
                                            <p:strVal val="#ppt_x"/>
                                          </p:val>
                                        </p:tav>
                                      </p:tavLst>
                                    </p:anim>
                                    <p:anim calcmode="lin" valueType="num">
                                      <p:cBhvr additive="base">
                                        <p:cTn id="8" dur="500" fill="hold"/>
                                        <p:tgtEl>
                                          <p:spTgt spid="67379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3797"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3">
            <a:extLst>
              <a:ext uri="{FF2B5EF4-FFF2-40B4-BE49-F238E27FC236}">
                <a16:creationId xmlns:a16="http://schemas.microsoft.com/office/drawing/2014/main" id="{3B26F5C6-204A-4395-BFE7-E449DD1F6FB5}"/>
              </a:ext>
            </a:extLst>
          </p:cNvPr>
          <p:cNvSpPr>
            <a:spLocks noGrp="1" noChangeArrowheads="1"/>
          </p:cNvSpPr>
          <p:nvPr>
            <p:ph type="body" idx="1"/>
          </p:nvPr>
        </p:nvSpPr>
        <p:spPr>
          <a:xfrm>
            <a:off x="19050" y="12700"/>
            <a:ext cx="9124950" cy="5792788"/>
          </a:xfrm>
        </p:spPr>
        <p:txBody>
          <a:bodyPr/>
          <a:lstStyle/>
          <a:p>
            <a:pPr marL="0" indent="0" eaLnBrk="1" hangingPunct="1">
              <a:spcBef>
                <a:spcPct val="0"/>
              </a:spcBef>
              <a:buFontTx/>
              <a:buNone/>
              <a:defRPr/>
            </a:pPr>
            <a:r>
              <a:rPr lang="en-US" altLang="zh-CN" sz="2400" b="1" baseline="0" dirty="0">
                <a:solidFill>
                  <a:srgbClr val="FF0066"/>
                </a:solidFill>
                <a:latin typeface="Times New Roman" panose="02020603050405020304" pitchFamily="18" charset="0"/>
                <a:ea typeface="楷体-简" panose="02010600040101010101" pitchFamily="2" charset="-122"/>
              </a:rPr>
              <a:t>//</a:t>
            </a:r>
            <a:r>
              <a:rPr lang="zh-CN" altLang="en-US" sz="2400" b="1" baseline="0" dirty="0">
                <a:solidFill>
                  <a:srgbClr val="FF0066"/>
                </a:solidFill>
                <a:latin typeface="Times New Roman" panose="02020603050405020304" pitchFamily="18" charset="0"/>
                <a:ea typeface="楷体-简" panose="02010600040101010101" pitchFamily="2" charset="-122"/>
              </a:rPr>
              <a:t>例子：数组</a:t>
            </a:r>
            <a:r>
              <a:rPr lang="zh-CN" altLang="en-US" sz="2400" b="1" baseline="0">
                <a:solidFill>
                  <a:srgbClr val="FF0066"/>
                </a:solidFill>
                <a:latin typeface="Times New Roman" panose="02020603050405020304" pitchFamily="18" charset="0"/>
                <a:ea typeface="楷体-简" panose="02010600040101010101" pitchFamily="2" charset="-122"/>
              </a:rPr>
              <a:t>拷贝</a:t>
            </a:r>
            <a:r>
              <a:rPr lang="en-US" altLang="zh-CN" sz="2400" b="1" baseline="0">
                <a:solidFill>
                  <a:srgbClr val="FF0066"/>
                </a:solidFill>
                <a:latin typeface="Times New Roman" panose="02020603050405020304" pitchFamily="18" charset="0"/>
                <a:ea typeface="楷体-简" panose="02010600040101010101" pitchFamily="2" charset="-122"/>
              </a:rPr>
              <a:t>1</a:t>
            </a:r>
            <a:endParaRPr lang="zh-CN" altLang="en-US" sz="2400" b="1" baseline="0">
              <a:solidFill>
                <a:srgbClr val="FF0066"/>
              </a:solidFill>
              <a:latin typeface="Times New Roman" panose="02020603050405020304" pitchFamily="18" charset="0"/>
              <a:ea typeface="楷体-简" panose="02010600040101010101" pitchFamily="2" charset="-122"/>
            </a:endParaRPr>
          </a:p>
          <a:p>
            <a:pPr eaLnBrk="1" hangingPunct="1">
              <a:lnSpc>
                <a:spcPct val="80000"/>
              </a:lnSpc>
              <a:buFontTx/>
              <a:buNone/>
              <a:defRPr/>
            </a:pPr>
            <a:endParaRPr lang="en-US" altLang="zh-CN" sz="800" b="1" baseline="0">
              <a:solidFill>
                <a:srgbClr val="6666FF"/>
              </a:solidFill>
              <a:latin typeface="Times New Roman" panose="02020603050405020304" pitchFamily="18" charset="0"/>
              <a:ea typeface="楷体-简" panose="02010600040101010101" pitchFamily="2" charset="-122"/>
            </a:endParaRPr>
          </a:p>
          <a:p>
            <a:pPr eaLnBrk="1" hangingPunct="1">
              <a:lnSpc>
                <a:spcPct val="80000"/>
              </a:lnSpc>
              <a:buFontTx/>
              <a:buNone/>
              <a:defRPr/>
            </a:pPr>
            <a:r>
              <a:rPr lang="en-US" altLang="zh-CN" sz="2000" b="1" baseline="0">
                <a:solidFill>
                  <a:srgbClr val="6666FF"/>
                </a:solidFill>
                <a:latin typeface="Times New Roman" panose="02020603050405020304" pitchFamily="18" charset="0"/>
                <a:ea typeface="楷体-简" panose="02010600040101010101" pitchFamily="2" charset="-122"/>
              </a:rPr>
              <a:t>public </a:t>
            </a:r>
            <a:r>
              <a:rPr lang="en-US" altLang="zh-CN" sz="2000" b="1" baseline="0" dirty="0">
                <a:solidFill>
                  <a:srgbClr val="6666FF"/>
                </a:solidFill>
                <a:latin typeface="Times New Roman" panose="02020603050405020304" pitchFamily="18" charset="0"/>
                <a:ea typeface="楷体-简" panose="02010600040101010101" pitchFamily="2" charset="-122"/>
              </a:rPr>
              <a:t>class</a:t>
            </a:r>
            <a:r>
              <a:rPr lang="en-US" altLang="zh-CN" sz="2000" b="1" baseline="0" dirty="0">
                <a:latin typeface="Times New Roman" panose="02020603050405020304" pitchFamily="18" charset="0"/>
                <a:ea typeface="楷体-简" panose="02010600040101010101" pitchFamily="2" charset="-122"/>
              </a:rPr>
              <a:t> ArrayCopy1{</a:t>
            </a:r>
          </a:p>
          <a:p>
            <a:pPr eaLnBrk="1" hangingPunct="1">
              <a:lnSpc>
                <a:spcPct val="80000"/>
              </a:lnSpc>
              <a:buFontTx/>
              <a:buNone/>
              <a:defRPr/>
            </a:pPr>
            <a:r>
              <a:rPr lang="en-US" altLang="zh-CN" sz="2000" b="1" baseline="0" dirty="0">
                <a:latin typeface="Times New Roman" panose="02020603050405020304" pitchFamily="18" charset="0"/>
                <a:ea typeface="楷体-简" panose="02010600040101010101" pitchFamily="2" charset="-122"/>
              </a:rPr>
              <a:t>  </a:t>
            </a:r>
            <a:r>
              <a:rPr lang="en-US" altLang="zh-CN" sz="2000" b="1" baseline="0" dirty="0">
                <a:solidFill>
                  <a:srgbClr val="6666FF"/>
                </a:solidFill>
                <a:latin typeface="Times New Roman" panose="02020603050405020304" pitchFamily="18" charset="0"/>
                <a:ea typeface="楷体-简" panose="02010600040101010101" pitchFamily="2" charset="-122"/>
              </a:rPr>
              <a:t>public static void</a:t>
            </a:r>
            <a:r>
              <a:rPr lang="en-US" altLang="zh-CN" sz="2000" b="1" baseline="0" dirty="0">
                <a:latin typeface="Times New Roman" panose="02020603050405020304" pitchFamily="18" charset="0"/>
                <a:ea typeface="楷体-简" panose="02010600040101010101" pitchFamily="2" charset="-122"/>
              </a:rPr>
              <a:t> main(String </a:t>
            </a:r>
            <a:r>
              <a:rPr lang="en-US" altLang="zh-CN" sz="2000" b="1" baseline="0" dirty="0" err="1">
                <a:latin typeface="Times New Roman" panose="02020603050405020304" pitchFamily="18" charset="0"/>
                <a:ea typeface="楷体-简" panose="02010600040101010101" pitchFamily="2" charset="-122"/>
              </a:rPr>
              <a:t>args</a:t>
            </a:r>
            <a:r>
              <a:rPr lang="en-US" altLang="zh-CN" sz="2000" b="1" baseline="0" dirty="0">
                <a:latin typeface="Times New Roman" panose="02020603050405020304" pitchFamily="18" charset="0"/>
                <a:ea typeface="楷体-简" panose="02010600040101010101" pitchFamily="2" charset="-122"/>
              </a:rPr>
              <a:t>[ ]){</a:t>
            </a:r>
          </a:p>
          <a:p>
            <a:pPr eaLnBrk="1" hangingPunct="1">
              <a:lnSpc>
                <a:spcPct val="80000"/>
              </a:lnSpc>
              <a:buFontTx/>
              <a:buNone/>
              <a:defRPr/>
            </a:pPr>
            <a:r>
              <a:rPr lang="en-US" altLang="zh-CN" sz="2000" b="1" baseline="0" dirty="0">
                <a:latin typeface="Times New Roman" panose="02020603050405020304" pitchFamily="18" charset="0"/>
                <a:ea typeface="楷体-简" panose="02010600040101010101" pitchFamily="2" charset="-122"/>
              </a:rPr>
              <a:t>       </a:t>
            </a:r>
            <a:r>
              <a:rPr lang="en-US" altLang="zh-CN" sz="2000" b="1" baseline="0" dirty="0">
                <a:solidFill>
                  <a:srgbClr val="6666FF"/>
                </a:solidFill>
                <a:latin typeface="Times New Roman" panose="02020603050405020304" pitchFamily="18" charset="0"/>
                <a:ea typeface="楷体-简" panose="02010600040101010101" pitchFamily="2" charset="-122"/>
              </a:rPr>
              <a:t>int</a:t>
            </a:r>
            <a:r>
              <a:rPr lang="en-US" altLang="zh-CN" sz="2000" b="1" baseline="0" dirty="0">
                <a:latin typeface="Times New Roman" panose="02020603050405020304" pitchFamily="18" charset="0"/>
                <a:ea typeface="楷体-简" panose="02010600040101010101" pitchFamily="2" charset="-122"/>
              </a:rPr>
              <a:t> [ ] a={1,2,3};</a:t>
            </a:r>
          </a:p>
          <a:p>
            <a:pPr eaLnBrk="1" hangingPunct="1">
              <a:lnSpc>
                <a:spcPct val="80000"/>
              </a:lnSpc>
              <a:buFontTx/>
              <a:buNone/>
              <a:defRPr/>
            </a:pPr>
            <a:r>
              <a:rPr lang="en-US" altLang="zh-CN" sz="2000" b="1" baseline="0" dirty="0">
                <a:solidFill>
                  <a:srgbClr val="6666FF"/>
                </a:solidFill>
                <a:latin typeface="Times New Roman" panose="02020603050405020304" pitchFamily="18" charset="0"/>
                <a:ea typeface="楷体-简" panose="02010600040101010101" pitchFamily="2" charset="-122"/>
              </a:rPr>
              <a:t>       int</a:t>
            </a:r>
            <a:r>
              <a:rPr lang="en-US" altLang="zh-CN" sz="2000" b="1" baseline="0" dirty="0">
                <a:latin typeface="Times New Roman" panose="02020603050405020304" pitchFamily="18" charset="0"/>
                <a:ea typeface="楷体-简" panose="02010600040101010101" pitchFamily="2" charset="-122"/>
              </a:rPr>
              <a:t> [ ] b={10,11};</a:t>
            </a:r>
          </a:p>
          <a:p>
            <a:pPr eaLnBrk="1" hangingPunct="1">
              <a:lnSpc>
                <a:spcPct val="80000"/>
              </a:lnSpc>
              <a:buFontTx/>
              <a:buNone/>
              <a:defRPr/>
            </a:pPr>
            <a:r>
              <a:rPr lang="en-US" altLang="zh-CN" sz="2000" b="1" baseline="0" dirty="0">
                <a:latin typeface="Times New Roman" panose="02020603050405020304" pitchFamily="18" charset="0"/>
                <a:ea typeface="楷体-简" panose="02010600040101010101" pitchFamily="2" charset="-122"/>
              </a:rPr>
              <a:t>       </a:t>
            </a:r>
            <a:r>
              <a:rPr lang="en-US" altLang="zh-CN" sz="2000" b="1" baseline="0" dirty="0" err="1">
                <a:solidFill>
                  <a:srgbClr val="FF0066"/>
                </a:solidFill>
                <a:latin typeface="Times New Roman" panose="02020603050405020304" pitchFamily="18" charset="0"/>
                <a:ea typeface="楷体-简" panose="02010600040101010101" pitchFamily="2" charset="-122"/>
              </a:rPr>
              <a:t>System</a:t>
            </a:r>
            <a:r>
              <a:rPr lang="en-US" altLang="zh-CN" sz="2000" b="1" baseline="0" dirty="0" err="1">
                <a:latin typeface="Times New Roman" panose="02020603050405020304" pitchFamily="18" charset="0"/>
                <a:ea typeface="楷体-简" panose="02010600040101010101" pitchFamily="2" charset="-122"/>
              </a:rPr>
              <a:t>.out.println</a:t>
            </a:r>
            <a:r>
              <a:rPr lang="en-US" altLang="zh-CN" sz="2000" b="1" baseline="0" dirty="0">
                <a:latin typeface="Times New Roman" panose="02020603050405020304" pitchFamily="18" charset="0"/>
                <a:ea typeface="楷体-简" panose="02010600040101010101" pitchFamily="2" charset="-122"/>
              </a:rPr>
              <a:t>("</a:t>
            </a:r>
            <a:r>
              <a:rPr lang="zh-CN" altLang="en-US" sz="2000" b="1" baseline="0" dirty="0">
                <a:latin typeface="Times New Roman" panose="02020603050405020304" pitchFamily="18" charset="0"/>
                <a:ea typeface="楷体-简" panose="02010600040101010101" pitchFamily="2" charset="-122"/>
              </a:rPr>
              <a:t>数组</a:t>
            </a:r>
            <a:r>
              <a:rPr lang="en-US" altLang="zh-CN" sz="2000" b="1" baseline="0" dirty="0">
                <a:latin typeface="Times New Roman" panose="02020603050405020304" pitchFamily="18" charset="0"/>
                <a:ea typeface="楷体-简" panose="02010600040101010101" pitchFamily="2" charset="-122"/>
              </a:rPr>
              <a:t>a</a:t>
            </a:r>
            <a:r>
              <a:rPr lang="zh-CN" altLang="en-US" sz="2000" b="1" baseline="0" dirty="0">
                <a:latin typeface="Times New Roman" panose="02020603050405020304" pitchFamily="18" charset="0"/>
                <a:ea typeface="楷体-简" panose="02010600040101010101" pitchFamily="2" charset="-122"/>
              </a:rPr>
              <a:t>的引用是</a:t>
            </a:r>
            <a:r>
              <a:rPr lang="en-US" altLang="zh-CN" sz="2000" b="1" baseline="0" dirty="0">
                <a:latin typeface="Times New Roman" panose="02020603050405020304" pitchFamily="18" charset="0"/>
                <a:ea typeface="楷体-简" panose="02010600040101010101" pitchFamily="2" charset="-122"/>
              </a:rPr>
              <a:t>:"+a);</a:t>
            </a:r>
          </a:p>
          <a:p>
            <a:pPr eaLnBrk="1" hangingPunct="1">
              <a:lnSpc>
                <a:spcPct val="80000"/>
              </a:lnSpc>
              <a:buFontTx/>
              <a:buNone/>
              <a:defRPr/>
            </a:pPr>
            <a:r>
              <a:rPr lang="en-US" altLang="zh-CN" sz="2000" b="1" baseline="0" dirty="0">
                <a:latin typeface="Times New Roman" panose="02020603050405020304" pitchFamily="18" charset="0"/>
                <a:ea typeface="楷体-简" panose="02010600040101010101" pitchFamily="2" charset="-122"/>
              </a:rPr>
              <a:t>       </a:t>
            </a:r>
            <a:r>
              <a:rPr lang="en-US" altLang="zh-CN" sz="2000" b="1" baseline="0" dirty="0" err="1">
                <a:solidFill>
                  <a:srgbClr val="FF0066"/>
                </a:solidFill>
                <a:latin typeface="Times New Roman" panose="02020603050405020304" pitchFamily="18" charset="0"/>
                <a:ea typeface="楷体-简" panose="02010600040101010101" pitchFamily="2" charset="-122"/>
              </a:rPr>
              <a:t>System</a:t>
            </a:r>
            <a:r>
              <a:rPr lang="en-US" altLang="zh-CN" sz="2000" b="1" baseline="0" dirty="0" err="1">
                <a:latin typeface="Times New Roman" panose="02020603050405020304" pitchFamily="18" charset="0"/>
                <a:ea typeface="楷体-简" panose="02010600040101010101" pitchFamily="2" charset="-122"/>
              </a:rPr>
              <a:t>.out.println</a:t>
            </a:r>
            <a:r>
              <a:rPr lang="en-US" altLang="zh-CN" sz="2000" b="1" baseline="0" dirty="0">
                <a:latin typeface="Times New Roman" panose="02020603050405020304" pitchFamily="18" charset="0"/>
                <a:ea typeface="楷体-简" panose="02010600040101010101" pitchFamily="2" charset="-122"/>
              </a:rPr>
              <a:t>("</a:t>
            </a:r>
            <a:r>
              <a:rPr lang="zh-CN" altLang="en-US" sz="2000" b="1" baseline="0" dirty="0">
                <a:latin typeface="Times New Roman" panose="02020603050405020304" pitchFamily="18" charset="0"/>
                <a:ea typeface="楷体-简" panose="02010600040101010101" pitchFamily="2" charset="-122"/>
              </a:rPr>
              <a:t>数组</a:t>
            </a:r>
            <a:r>
              <a:rPr lang="en-US" altLang="zh-CN" sz="2000" b="1" baseline="0" dirty="0">
                <a:latin typeface="Times New Roman" panose="02020603050405020304" pitchFamily="18" charset="0"/>
                <a:ea typeface="楷体-简" panose="02010600040101010101" pitchFamily="2" charset="-122"/>
              </a:rPr>
              <a:t>b</a:t>
            </a:r>
            <a:r>
              <a:rPr lang="zh-CN" altLang="en-US" sz="2000" b="1" baseline="0" dirty="0">
                <a:latin typeface="Times New Roman" panose="02020603050405020304" pitchFamily="18" charset="0"/>
                <a:ea typeface="楷体-简" panose="02010600040101010101" pitchFamily="2" charset="-122"/>
              </a:rPr>
              <a:t>的引用是</a:t>
            </a:r>
            <a:r>
              <a:rPr lang="en-US" altLang="zh-CN" sz="2000" b="1" baseline="0" dirty="0">
                <a:latin typeface="Times New Roman" panose="02020603050405020304" pitchFamily="18" charset="0"/>
                <a:ea typeface="楷体-简" panose="02010600040101010101" pitchFamily="2" charset="-122"/>
              </a:rPr>
              <a:t>:"+b);</a:t>
            </a:r>
          </a:p>
          <a:p>
            <a:pPr eaLnBrk="1" hangingPunct="1">
              <a:lnSpc>
                <a:spcPct val="80000"/>
              </a:lnSpc>
              <a:buFontTx/>
              <a:buNone/>
              <a:defRPr/>
            </a:pPr>
            <a:r>
              <a:rPr lang="en-US" altLang="zh-CN" sz="2000" b="1" baseline="0" dirty="0">
                <a:latin typeface="Times New Roman" panose="02020603050405020304" pitchFamily="18" charset="0"/>
                <a:ea typeface="楷体-简" panose="02010600040101010101" pitchFamily="2" charset="-122"/>
              </a:rPr>
              <a:t>       </a:t>
            </a:r>
            <a:r>
              <a:rPr lang="en-US" altLang="zh-CN" sz="2000" b="1" baseline="0" dirty="0" err="1">
                <a:solidFill>
                  <a:srgbClr val="FF0066"/>
                </a:solidFill>
                <a:latin typeface="Times New Roman" panose="02020603050405020304" pitchFamily="18" charset="0"/>
                <a:ea typeface="楷体-简" panose="02010600040101010101" pitchFamily="2" charset="-122"/>
              </a:rPr>
              <a:t>System</a:t>
            </a:r>
            <a:r>
              <a:rPr lang="en-US" altLang="zh-CN" sz="2000" b="1" baseline="0" dirty="0" err="1">
                <a:latin typeface="Times New Roman" panose="02020603050405020304" pitchFamily="18" charset="0"/>
                <a:ea typeface="楷体-简" panose="02010600040101010101" pitchFamily="2" charset="-122"/>
              </a:rPr>
              <a:t>.out.printf</a:t>
            </a:r>
            <a:r>
              <a:rPr lang="en-US" altLang="zh-CN" sz="2000" b="1" baseline="0" dirty="0">
                <a:latin typeface="Times New Roman" panose="02020603050405020304" pitchFamily="18" charset="0"/>
                <a:ea typeface="楷体-简" panose="02010600040101010101" pitchFamily="2" charset="-122"/>
              </a:rPr>
              <a:t>("b[0]=%-3d b[1]=%-3d\n", b[0], b[1]);</a:t>
            </a:r>
          </a:p>
          <a:p>
            <a:pPr eaLnBrk="1" hangingPunct="1">
              <a:lnSpc>
                <a:spcPct val="80000"/>
              </a:lnSpc>
              <a:buFontTx/>
              <a:buNone/>
              <a:defRPr/>
            </a:pPr>
            <a:r>
              <a:rPr lang="en-US" altLang="zh-CN" sz="2000" b="1" baseline="0" dirty="0">
                <a:latin typeface="Times New Roman" panose="02020603050405020304" pitchFamily="18" charset="0"/>
                <a:ea typeface="楷体-简" panose="02010600040101010101" pitchFamily="2" charset="-122"/>
              </a:rPr>
              <a:t>       b=a;</a:t>
            </a:r>
          </a:p>
          <a:p>
            <a:pPr eaLnBrk="1" hangingPunct="1">
              <a:lnSpc>
                <a:spcPct val="80000"/>
              </a:lnSpc>
              <a:buFontTx/>
              <a:buNone/>
              <a:defRPr/>
            </a:pPr>
            <a:r>
              <a:rPr lang="en-US" altLang="zh-CN" sz="2000" b="1" baseline="0" dirty="0">
                <a:latin typeface="Times New Roman" panose="02020603050405020304" pitchFamily="18" charset="0"/>
                <a:ea typeface="楷体-简" panose="02010600040101010101" pitchFamily="2" charset="-122"/>
              </a:rPr>
              <a:t>       </a:t>
            </a:r>
            <a:r>
              <a:rPr lang="en-US" altLang="zh-CN" sz="2000" b="1" baseline="0" dirty="0" err="1">
                <a:solidFill>
                  <a:srgbClr val="FF0066"/>
                </a:solidFill>
                <a:latin typeface="Times New Roman" panose="02020603050405020304" pitchFamily="18" charset="0"/>
                <a:ea typeface="楷体-简" panose="02010600040101010101" pitchFamily="2" charset="-122"/>
              </a:rPr>
              <a:t>System</a:t>
            </a:r>
            <a:r>
              <a:rPr lang="en-US" altLang="zh-CN" sz="2000" b="1" baseline="0" dirty="0" err="1">
                <a:latin typeface="Times New Roman" panose="02020603050405020304" pitchFamily="18" charset="0"/>
                <a:ea typeface="楷体-简" panose="02010600040101010101" pitchFamily="2" charset="-122"/>
              </a:rPr>
              <a:t>.out.println</a:t>
            </a:r>
            <a:r>
              <a:rPr lang="en-US" altLang="zh-CN" sz="2000" b="1" baseline="0" dirty="0">
                <a:latin typeface="Times New Roman" panose="02020603050405020304" pitchFamily="18" charset="0"/>
                <a:ea typeface="楷体-简" panose="02010600040101010101" pitchFamily="2" charset="-122"/>
              </a:rPr>
              <a:t>("</a:t>
            </a:r>
            <a:r>
              <a:rPr lang="zh-CN" altLang="en-US" sz="2000" b="1" baseline="0" dirty="0">
                <a:latin typeface="Times New Roman" panose="02020603050405020304" pitchFamily="18" charset="0"/>
                <a:ea typeface="楷体-简" panose="02010600040101010101" pitchFamily="2" charset="-122"/>
              </a:rPr>
              <a:t>数组</a:t>
            </a:r>
            <a:r>
              <a:rPr lang="en-US" altLang="zh-CN" sz="2000" b="1" baseline="0" dirty="0">
                <a:latin typeface="Times New Roman" panose="02020603050405020304" pitchFamily="18" charset="0"/>
                <a:ea typeface="楷体-简" panose="02010600040101010101" pitchFamily="2" charset="-122"/>
              </a:rPr>
              <a:t>a</a:t>
            </a:r>
            <a:r>
              <a:rPr lang="zh-CN" altLang="en-US" sz="2000" b="1" baseline="0" dirty="0">
                <a:latin typeface="Times New Roman" panose="02020603050405020304" pitchFamily="18" charset="0"/>
                <a:ea typeface="楷体-简" panose="02010600040101010101" pitchFamily="2" charset="-122"/>
              </a:rPr>
              <a:t>的引用是</a:t>
            </a:r>
            <a:r>
              <a:rPr lang="en-US" altLang="zh-CN" sz="2000" b="1" baseline="0" dirty="0">
                <a:latin typeface="Times New Roman" panose="02020603050405020304" pitchFamily="18" charset="0"/>
                <a:ea typeface="楷体-简" panose="02010600040101010101" pitchFamily="2" charset="-122"/>
              </a:rPr>
              <a:t>:"+a);</a:t>
            </a:r>
          </a:p>
          <a:p>
            <a:pPr eaLnBrk="1" hangingPunct="1">
              <a:lnSpc>
                <a:spcPct val="80000"/>
              </a:lnSpc>
              <a:buFontTx/>
              <a:buNone/>
              <a:defRPr/>
            </a:pPr>
            <a:r>
              <a:rPr lang="en-US" altLang="zh-CN" sz="2000" b="1" baseline="0" dirty="0">
                <a:latin typeface="Times New Roman" panose="02020603050405020304" pitchFamily="18" charset="0"/>
                <a:ea typeface="楷体-简" panose="02010600040101010101" pitchFamily="2" charset="-122"/>
              </a:rPr>
              <a:t>       </a:t>
            </a:r>
            <a:r>
              <a:rPr lang="en-US" altLang="zh-CN" sz="2000" b="1" baseline="0" dirty="0" err="1">
                <a:solidFill>
                  <a:srgbClr val="FF0066"/>
                </a:solidFill>
                <a:latin typeface="Times New Roman" panose="02020603050405020304" pitchFamily="18" charset="0"/>
                <a:ea typeface="楷体-简" panose="02010600040101010101" pitchFamily="2" charset="-122"/>
              </a:rPr>
              <a:t>System</a:t>
            </a:r>
            <a:r>
              <a:rPr lang="en-US" altLang="zh-CN" sz="2000" b="1" baseline="0" dirty="0" err="1">
                <a:latin typeface="Times New Roman" panose="02020603050405020304" pitchFamily="18" charset="0"/>
                <a:ea typeface="楷体-简" panose="02010600040101010101" pitchFamily="2" charset="-122"/>
              </a:rPr>
              <a:t>.out.println</a:t>
            </a:r>
            <a:r>
              <a:rPr lang="en-US" altLang="zh-CN" sz="2000" b="1" baseline="0" dirty="0">
                <a:latin typeface="Times New Roman" panose="02020603050405020304" pitchFamily="18" charset="0"/>
                <a:ea typeface="楷体-简" panose="02010600040101010101" pitchFamily="2" charset="-122"/>
              </a:rPr>
              <a:t>("</a:t>
            </a:r>
            <a:r>
              <a:rPr lang="zh-CN" altLang="en-US" sz="2000" b="1" baseline="0" dirty="0">
                <a:latin typeface="Times New Roman" panose="02020603050405020304" pitchFamily="18" charset="0"/>
                <a:ea typeface="楷体-简" panose="02010600040101010101" pitchFamily="2" charset="-122"/>
              </a:rPr>
              <a:t>数组</a:t>
            </a:r>
            <a:r>
              <a:rPr lang="en-US" altLang="zh-CN" sz="2000" b="1" baseline="0" dirty="0">
                <a:latin typeface="Times New Roman" panose="02020603050405020304" pitchFamily="18" charset="0"/>
                <a:ea typeface="楷体-简" panose="02010600040101010101" pitchFamily="2" charset="-122"/>
              </a:rPr>
              <a:t>b</a:t>
            </a:r>
            <a:r>
              <a:rPr lang="zh-CN" altLang="en-US" sz="2000" b="1" baseline="0" dirty="0">
                <a:latin typeface="Times New Roman" panose="02020603050405020304" pitchFamily="18" charset="0"/>
                <a:ea typeface="楷体-简" panose="02010600040101010101" pitchFamily="2" charset="-122"/>
              </a:rPr>
              <a:t>的引用是</a:t>
            </a:r>
            <a:r>
              <a:rPr lang="en-US" altLang="zh-CN" sz="2000" b="1" baseline="0" dirty="0">
                <a:latin typeface="Times New Roman" panose="02020603050405020304" pitchFamily="18" charset="0"/>
                <a:ea typeface="楷体-简" panose="02010600040101010101" pitchFamily="2" charset="-122"/>
              </a:rPr>
              <a:t>:"+b);</a:t>
            </a:r>
          </a:p>
          <a:p>
            <a:pPr eaLnBrk="1" hangingPunct="1">
              <a:lnSpc>
                <a:spcPct val="80000"/>
              </a:lnSpc>
              <a:buFontTx/>
              <a:buNone/>
              <a:defRPr/>
            </a:pPr>
            <a:r>
              <a:rPr lang="en-US" altLang="zh-CN" sz="2000" b="1" baseline="0" dirty="0">
                <a:latin typeface="Times New Roman" panose="02020603050405020304" pitchFamily="18" charset="0"/>
                <a:ea typeface="楷体-简" panose="02010600040101010101" pitchFamily="2" charset="-122"/>
              </a:rPr>
              <a:t>       b[1]=888;</a:t>
            </a:r>
          </a:p>
          <a:p>
            <a:pPr eaLnBrk="1" hangingPunct="1">
              <a:lnSpc>
                <a:spcPct val="80000"/>
              </a:lnSpc>
              <a:buFontTx/>
              <a:buNone/>
              <a:defRPr/>
            </a:pPr>
            <a:r>
              <a:rPr lang="en-US" altLang="zh-CN" sz="2000" b="1" baseline="0" dirty="0">
                <a:latin typeface="Times New Roman" panose="02020603050405020304" pitchFamily="18" charset="0"/>
                <a:ea typeface="楷体-简" panose="02010600040101010101" pitchFamily="2" charset="-122"/>
              </a:rPr>
              <a:t>       b[2]=999;  </a:t>
            </a:r>
          </a:p>
          <a:p>
            <a:pPr eaLnBrk="1" hangingPunct="1">
              <a:lnSpc>
                <a:spcPct val="80000"/>
              </a:lnSpc>
              <a:buFontTx/>
              <a:buNone/>
              <a:defRPr/>
            </a:pPr>
            <a:r>
              <a:rPr lang="en-US" altLang="zh-CN" sz="2000" b="1" baseline="0" dirty="0">
                <a:latin typeface="Times New Roman" panose="02020603050405020304" pitchFamily="18" charset="0"/>
                <a:ea typeface="楷体-简" panose="02010600040101010101" pitchFamily="2" charset="-122"/>
              </a:rPr>
              <a:t>       </a:t>
            </a:r>
            <a:r>
              <a:rPr lang="en-US" altLang="zh-CN" sz="2000" b="1" baseline="0" dirty="0" err="1">
                <a:solidFill>
                  <a:srgbClr val="FF0066"/>
                </a:solidFill>
                <a:latin typeface="Times New Roman" panose="02020603050405020304" pitchFamily="18" charset="0"/>
                <a:ea typeface="楷体-简" panose="02010600040101010101" pitchFamily="2" charset="-122"/>
              </a:rPr>
              <a:t>System</a:t>
            </a:r>
            <a:r>
              <a:rPr lang="en-US" altLang="zh-CN" sz="2000" b="1" baseline="0" dirty="0" err="1">
                <a:latin typeface="Times New Roman" panose="02020603050405020304" pitchFamily="18" charset="0"/>
                <a:ea typeface="楷体-简" panose="02010600040101010101" pitchFamily="2" charset="-122"/>
              </a:rPr>
              <a:t>.out.printf</a:t>
            </a:r>
            <a:r>
              <a:rPr lang="en-US" altLang="zh-CN" sz="2000" b="1" baseline="0" dirty="0">
                <a:latin typeface="Times New Roman" panose="02020603050405020304" pitchFamily="18" charset="0"/>
                <a:ea typeface="楷体-简" panose="02010600040101010101" pitchFamily="2" charset="-122"/>
              </a:rPr>
              <a:t>("a[0]=%-5d a[1]=%-5d a[2]=%-5d\n", a[0], a[1], a[2]);</a:t>
            </a:r>
          </a:p>
          <a:p>
            <a:pPr eaLnBrk="1" hangingPunct="1">
              <a:lnSpc>
                <a:spcPct val="80000"/>
              </a:lnSpc>
              <a:buFontTx/>
              <a:buNone/>
              <a:defRPr/>
            </a:pPr>
            <a:r>
              <a:rPr lang="en-US" altLang="zh-CN" sz="2000" b="1" baseline="0" dirty="0">
                <a:latin typeface="Times New Roman" panose="02020603050405020304" pitchFamily="18" charset="0"/>
                <a:ea typeface="楷体-简" panose="02010600040101010101" pitchFamily="2" charset="-122"/>
              </a:rPr>
              <a:t>       </a:t>
            </a:r>
            <a:r>
              <a:rPr lang="en-US" altLang="zh-CN" sz="2000" b="1" baseline="0" dirty="0" err="1">
                <a:solidFill>
                  <a:srgbClr val="FF0066"/>
                </a:solidFill>
                <a:latin typeface="Times New Roman" panose="02020603050405020304" pitchFamily="18" charset="0"/>
                <a:ea typeface="楷体-简" panose="02010600040101010101" pitchFamily="2" charset="-122"/>
              </a:rPr>
              <a:t>System</a:t>
            </a:r>
            <a:r>
              <a:rPr lang="en-US" altLang="zh-CN" sz="2000" b="1" baseline="0" dirty="0" err="1">
                <a:latin typeface="Times New Roman" panose="02020603050405020304" pitchFamily="18" charset="0"/>
                <a:ea typeface="楷体-简" panose="02010600040101010101" pitchFamily="2" charset="-122"/>
              </a:rPr>
              <a:t>.out.printf</a:t>
            </a:r>
            <a:r>
              <a:rPr lang="en-US" altLang="zh-CN" sz="2000" b="1" baseline="0" dirty="0">
                <a:latin typeface="Times New Roman" panose="02020603050405020304" pitchFamily="18" charset="0"/>
                <a:ea typeface="楷体-简" panose="02010600040101010101" pitchFamily="2" charset="-122"/>
              </a:rPr>
              <a:t>("b[0]=%-5d b[1]=%-5d b[2]=%-5d\n", b[0], b[1], b[2]);</a:t>
            </a:r>
          </a:p>
          <a:p>
            <a:pPr eaLnBrk="1" hangingPunct="1">
              <a:lnSpc>
                <a:spcPct val="80000"/>
              </a:lnSpc>
              <a:buFontTx/>
              <a:buNone/>
              <a:defRPr/>
            </a:pPr>
            <a:r>
              <a:rPr lang="en-US" altLang="zh-CN" sz="2000" b="1" baseline="0" dirty="0">
                <a:latin typeface="Times New Roman" panose="02020603050405020304" pitchFamily="18" charset="0"/>
                <a:ea typeface="楷体-简" panose="02010600040101010101" pitchFamily="2" charset="-122"/>
              </a:rPr>
              <a:t>    }</a:t>
            </a:r>
          </a:p>
          <a:p>
            <a:pPr eaLnBrk="1" hangingPunct="1">
              <a:lnSpc>
                <a:spcPct val="80000"/>
              </a:lnSpc>
              <a:buFontTx/>
              <a:buNone/>
              <a:defRPr/>
            </a:pPr>
            <a:r>
              <a:rPr lang="en-US" altLang="zh-CN" sz="2000" b="1" baseline="0" dirty="0">
                <a:latin typeface="Times New Roman" panose="02020603050405020304" pitchFamily="18" charset="0"/>
                <a:ea typeface="楷体-简" panose="02010600040101010101" pitchFamily="2" charset="-122"/>
              </a:rPr>
              <a:t>}   </a:t>
            </a:r>
          </a:p>
          <a:p>
            <a:pPr eaLnBrk="1" hangingPunct="1">
              <a:lnSpc>
                <a:spcPct val="80000"/>
              </a:lnSpc>
              <a:buFontTx/>
              <a:buNone/>
              <a:defRPr/>
            </a:pPr>
            <a:endParaRPr lang="en-US" altLang="zh-CN" sz="2000" b="1" baseline="0" dirty="0">
              <a:latin typeface="Times New Roman" panose="02020603050405020304" pitchFamily="18" charset="0"/>
              <a:ea typeface="楷体-简" panose="02010600040101010101" pitchFamily="2" charset="-122"/>
            </a:endParaRPr>
          </a:p>
        </p:txBody>
      </p:sp>
      <p:sp>
        <p:nvSpPr>
          <p:cNvPr id="701444" name="Text Box 4">
            <a:extLst>
              <a:ext uri="{FF2B5EF4-FFF2-40B4-BE49-F238E27FC236}">
                <a16:creationId xmlns:a16="http://schemas.microsoft.com/office/drawing/2014/main" id="{D9D0BD53-5329-44BC-B267-77CB2F3BF326}"/>
              </a:ext>
            </a:extLst>
          </p:cNvPr>
          <p:cNvSpPr txBox="1">
            <a:spLocks noChangeArrowheads="1"/>
          </p:cNvSpPr>
          <p:nvPr/>
        </p:nvSpPr>
        <p:spPr bwMode="auto">
          <a:xfrm>
            <a:off x="4140200" y="4743450"/>
            <a:ext cx="4319588" cy="2138363"/>
          </a:xfrm>
          <a:prstGeom prst="rect">
            <a:avLst/>
          </a:prstGeom>
          <a:solidFill>
            <a:schemeClr val="tx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900">
                <a:solidFill>
                  <a:schemeClr val="bg1"/>
                </a:solidFill>
                <a:latin typeface="Lucida Console" panose="020B0609040504020204" pitchFamily="49" charset="0"/>
              </a:rPr>
              <a:t>数组</a:t>
            </a:r>
            <a:r>
              <a:rPr lang="en-US" altLang="zh-CN" sz="1900">
                <a:solidFill>
                  <a:schemeClr val="bg1"/>
                </a:solidFill>
                <a:latin typeface="Lucida Console" panose="020B0609040504020204" pitchFamily="49" charset="0"/>
              </a:rPr>
              <a:t>a</a:t>
            </a:r>
            <a:r>
              <a:rPr lang="zh-CN" altLang="en-US" sz="1900">
                <a:solidFill>
                  <a:schemeClr val="bg1"/>
                </a:solidFill>
                <a:latin typeface="Lucida Console" panose="020B0609040504020204" pitchFamily="49" charset="0"/>
              </a:rPr>
              <a:t>的引用是</a:t>
            </a:r>
            <a:r>
              <a:rPr lang="en-US" altLang="zh-CN" sz="1900">
                <a:solidFill>
                  <a:schemeClr val="bg1"/>
                </a:solidFill>
                <a:latin typeface="Lucida Console" panose="020B0609040504020204" pitchFamily="49" charset="0"/>
              </a:rPr>
              <a:t>:[I@de6ced</a:t>
            </a:r>
          </a:p>
          <a:p>
            <a:pPr eaLnBrk="1" hangingPunct="1">
              <a:spcBef>
                <a:spcPct val="0"/>
              </a:spcBef>
              <a:buFontTx/>
              <a:buNone/>
            </a:pPr>
            <a:r>
              <a:rPr lang="zh-CN" altLang="en-US" sz="1900">
                <a:solidFill>
                  <a:schemeClr val="bg1"/>
                </a:solidFill>
                <a:latin typeface="Lucida Console" panose="020B0609040504020204" pitchFamily="49" charset="0"/>
              </a:rPr>
              <a:t>数组</a:t>
            </a:r>
            <a:r>
              <a:rPr lang="en-US" altLang="zh-CN" sz="1900">
                <a:solidFill>
                  <a:schemeClr val="bg1"/>
                </a:solidFill>
                <a:latin typeface="Lucida Console" panose="020B0609040504020204" pitchFamily="49" charset="0"/>
              </a:rPr>
              <a:t>b</a:t>
            </a:r>
            <a:r>
              <a:rPr lang="zh-CN" altLang="en-US" sz="1900">
                <a:solidFill>
                  <a:schemeClr val="bg1"/>
                </a:solidFill>
                <a:latin typeface="Lucida Console" panose="020B0609040504020204" pitchFamily="49" charset="0"/>
              </a:rPr>
              <a:t>的引用是</a:t>
            </a:r>
            <a:r>
              <a:rPr lang="en-US" altLang="zh-CN" sz="1900">
                <a:solidFill>
                  <a:schemeClr val="bg1"/>
                </a:solidFill>
                <a:latin typeface="Lucida Console" panose="020B0609040504020204" pitchFamily="49" charset="0"/>
              </a:rPr>
              <a:t>:[I@c17164</a:t>
            </a:r>
          </a:p>
          <a:p>
            <a:pPr eaLnBrk="1" hangingPunct="1">
              <a:spcBef>
                <a:spcPct val="0"/>
              </a:spcBef>
              <a:buFontTx/>
              <a:buNone/>
            </a:pPr>
            <a:r>
              <a:rPr lang="en-US" altLang="zh-CN" sz="1900">
                <a:solidFill>
                  <a:schemeClr val="bg1"/>
                </a:solidFill>
                <a:latin typeface="Lucida Console" panose="020B0609040504020204" pitchFamily="49" charset="0"/>
              </a:rPr>
              <a:t>b[0]=10 b[1]=11</a:t>
            </a:r>
          </a:p>
          <a:p>
            <a:pPr eaLnBrk="1" hangingPunct="1">
              <a:spcBef>
                <a:spcPct val="0"/>
              </a:spcBef>
              <a:buFontTx/>
              <a:buNone/>
            </a:pPr>
            <a:r>
              <a:rPr lang="zh-CN" altLang="en-US" sz="1900">
                <a:solidFill>
                  <a:schemeClr val="bg1"/>
                </a:solidFill>
                <a:latin typeface="Lucida Console" panose="020B0609040504020204" pitchFamily="49" charset="0"/>
              </a:rPr>
              <a:t>数组</a:t>
            </a:r>
            <a:r>
              <a:rPr lang="en-US" altLang="zh-CN" sz="1900">
                <a:solidFill>
                  <a:schemeClr val="bg1"/>
                </a:solidFill>
                <a:latin typeface="Lucida Console" panose="020B0609040504020204" pitchFamily="49" charset="0"/>
              </a:rPr>
              <a:t>a</a:t>
            </a:r>
            <a:r>
              <a:rPr lang="zh-CN" altLang="en-US" sz="1900">
                <a:solidFill>
                  <a:schemeClr val="bg1"/>
                </a:solidFill>
                <a:latin typeface="Lucida Console" panose="020B0609040504020204" pitchFamily="49" charset="0"/>
              </a:rPr>
              <a:t>的引用是</a:t>
            </a:r>
            <a:r>
              <a:rPr lang="en-US" altLang="zh-CN" sz="1900">
                <a:solidFill>
                  <a:schemeClr val="bg1"/>
                </a:solidFill>
                <a:latin typeface="Lucida Console" panose="020B0609040504020204" pitchFamily="49" charset="0"/>
              </a:rPr>
              <a:t>:[I@de6ced</a:t>
            </a:r>
          </a:p>
          <a:p>
            <a:pPr eaLnBrk="1" hangingPunct="1">
              <a:spcBef>
                <a:spcPct val="0"/>
              </a:spcBef>
              <a:buFontTx/>
              <a:buNone/>
            </a:pPr>
            <a:r>
              <a:rPr lang="zh-CN" altLang="en-US" sz="1900">
                <a:solidFill>
                  <a:schemeClr val="bg1"/>
                </a:solidFill>
                <a:latin typeface="Lucida Console" panose="020B0609040504020204" pitchFamily="49" charset="0"/>
              </a:rPr>
              <a:t>数组</a:t>
            </a:r>
            <a:r>
              <a:rPr lang="en-US" altLang="zh-CN" sz="1900">
                <a:solidFill>
                  <a:schemeClr val="bg1"/>
                </a:solidFill>
                <a:latin typeface="Lucida Console" panose="020B0609040504020204" pitchFamily="49" charset="0"/>
              </a:rPr>
              <a:t>b</a:t>
            </a:r>
            <a:r>
              <a:rPr lang="zh-CN" altLang="en-US" sz="1900">
                <a:solidFill>
                  <a:schemeClr val="bg1"/>
                </a:solidFill>
                <a:latin typeface="Lucida Console" panose="020B0609040504020204" pitchFamily="49" charset="0"/>
              </a:rPr>
              <a:t>的引用是</a:t>
            </a:r>
            <a:r>
              <a:rPr lang="en-US" altLang="zh-CN" sz="1900">
                <a:solidFill>
                  <a:schemeClr val="bg1"/>
                </a:solidFill>
                <a:latin typeface="Lucida Console" panose="020B0609040504020204" pitchFamily="49" charset="0"/>
              </a:rPr>
              <a:t>:[I@de6ced</a:t>
            </a:r>
          </a:p>
          <a:p>
            <a:pPr eaLnBrk="1" hangingPunct="1">
              <a:spcBef>
                <a:spcPct val="0"/>
              </a:spcBef>
              <a:buFontTx/>
              <a:buNone/>
            </a:pPr>
            <a:r>
              <a:rPr lang="en-US" altLang="zh-CN" sz="1900">
                <a:solidFill>
                  <a:schemeClr val="bg1"/>
                </a:solidFill>
                <a:latin typeface="Lucida Console" panose="020B0609040504020204" pitchFamily="49" charset="0"/>
              </a:rPr>
              <a:t>a[0]=1    a[1]=888  a[2]=999</a:t>
            </a:r>
          </a:p>
          <a:p>
            <a:pPr eaLnBrk="1" hangingPunct="1">
              <a:spcBef>
                <a:spcPct val="0"/>
              </a:spcBef>
              <a:buFontTx/>
              <a:buNone/>
            </a:pPr>
            <a:r>
              <a:rPr lang="en-US" altLang="zh-CN" sz="1900">
                <a:solidFill>
                  <a:schemeClr val="bg1"/>
                </a:solidFill>
                <a:latin typeface="Lucida Console" panose="020B0609040504020204" pitchFamily="49" charset="0"/>
              </a:rPr>
              <a:t>b[0]=1    b[1]=888  b[2]=999</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01444"/>
                                        </p:tgtEl>
                                        <p:attrNameLst>
                                          <p:attrName>style.visibility</p:attrName>
                                        </p:attrNameLst>
                                      </p:cBhvr>
                                      <p:to>
                                        <p:strVal val="visible"/>
                                      </p:to>
                                    </p:set>
                                    <p:anim calcmode="lin" valueType="num">
                                      <p:cBhvr additive="base">
                                        <p:cTn id="7" dur="500" fill="hold"/>
                                        <p:tgtEl>
                                          <p:spTgt spid="701444"/>
                                        </p:tgtEl>
                                        <p:attrNameLst>
                                          <p:attrName>ppt_x</p:attrName>
                                        </p:attrNameLst>
                                      </p:cBhvr>
                                      <p:tavLst>
                                        <p:tav tm="0">
                                          <p:val>
                                            <p:strVal val="#ppt_x"/>
                                          </p:val>
                                        </p:tav>
                                        <p:tav tm="100000">
                                          <p:val>
                                            <p:strVal val="#ppt_x"/>
                                          </p:val>
                                        </p:tav>
                                      </p:tavLst>
                                    </p:anim>
                                    <p:anim calcmode="lin" valueType="num">
                                      <p:cBhvr additive="base">
                                        <p:cTn id="8" dur="500" fill="hold"/>
                                        <p:tgtEl>
                                          <p:spTgt spid="70144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1444"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3">
            <a:extLst>
              <a:ext uri="{FF2B5EF4-FFF2-40B4-BE49-F238E27FC236}">
                <a16:creationId xmlns:a16="http://schemas.microsoft.com/office/drawing/2014/main" id="{9541F8C1-C482-4B2A-B9E0-82823599FC6F}"/>
              </a:ext>
            </a:extLst>
          </p:cNvPr>
          <p:cNvSpPr>
            <a:spLocks noGrp="1" noChangeArrowheads="1"/>
          </p:cNvSpPr>
          <p:nvPr>
            <p:ph type="body" idx="1"/>
          </p:nvPr>
        </p:nvSpPr>
        <p:spPr>
          <a:xfrm>
            <a:off x="133350" y="260350"/>
            <a:ext cx="9010650" cy="5721350"/>
          </a:xfrm>
        </p:spPr>
        <p:txBody>
          <a:bodyPr/>
          <a:lstStyle/>
          <a:p>
            <a:pPr marL="0" indent="0" eaLnBrk="1" hangingPunct="1">
              <a:spcBef>
                <a:spcPct val="0"/>
              </a:spcBef>
              <a:buFontTx/>
              <a:buNone/>
              <a:defRPr/>
            </a:pPr>
            <a:r>
              <a:rPr lang="en-US" altLang="zh-CN" sz="2400" b="1" baseline="0" dirty="0">
                <a:solidFill>
                  <a:srgbClr val="FF0066"/>
                </a:solidFill>
                <a:latin typeface="Times New Roman" panose="02020603050405020304" pitchFamily="18" charset="0"/>
                <a:ea typeface="楷体-简" panose="02010600040101010101" pitchFamily="2" charset="-122"/>
              </a:rPr>
              <a:t>//</a:t>
            </a:r>
            <a:r>
              <a:rPr lang="zh-CN" altLang="en-US" sz="2400" b="1" baseline="0" dirty="0">
                <a:solidFill>
                  <a:srgbClr val="FF0066"/>
                </a:solidFill>
                <a:latin typeface="Times New Roman" panose="02020603050405020304" pitchFamily="18" charset="0"/>
                <a:ea typeface="楷体-简" panose="02010600040101010101" pitchFamily="2" charset="-122"/>
              </a:rPr>
              <a:t>例子：数组拷贝</a:t>
            </a:r>
            <a:r>
              <a:rPr lang="en-US" altLang="zh-CN" sz="2400" b="1" baseline="0" dirty="0">
                <a:solidFill>
                  <a:srgbClr val="FF0066"/>
                </a:solidFill>
                <a:latin typeface="Times New Roman" panose="02020603050405020304" pitchFamily="18" charset="0"/>
                <a:ea typeface="楷体-简" panose="02010600040101010101" pitchFamily="2" charset="-122"/>
              </a:rPr>
              <a:t>2</a:t>
            </a:r>
            <a:endParaRPr lang="zh-CN" altLang="en-US" sz="2400" b="1" baseline="0" dirty="0">
              <a:solidFill>
                <a:srgbClr val="FF0066"/>
              </a:solidFill>
              <a:latin typeface="Times New Roman" panose="02020603050405020304" pitchFamily="18" charset="0"/>
              <a:ea typeface="楷体-简" panose="02010600040101010101" pitchFamily="2" charset="-122"/>
            </a:endParaRPr>
          </a:p>
          <a:p>
            <a:pPr eaLnBrk="1" hangingPunct="1">
              <a:lnSpc>
                <a:spcPct val="80000"/>
              </a:lnSpc>
              <a:buFontTx/>
              <a:buNone/>
              <a:defRPr/>
            </a:pPr>
            <a:endParaRPr lang="en-US" altLang="zh-CN" sz="800" b="1" baseline="0" dirty="0">
              <a:solidFill>
                <a:srgbClr val="6666FF"/>
              </a:solidFill>
              <a:latin typeface="Times New Roman" panose="02020603050405020304" pitchFamily="18" charset="0"/>
              <a:ea typeface="楷体-简" panose="02010600040101010101" pitchFamily="2" charset="-122"/>
            </a:endParaRPr>
          </a:p>
          <a:p>
            <a:pPr eaLnBrk="1" hangingPunct="1">
              <a:lnSpc>
                <a:spcPct val="80000"/>
              </a:lnSpc>
              <a:buFontTx/>
              <a:buNone/>
              <a:defRPr/>
            </a:pPr>
            <a:r>
              <a:rPr lang="en-US" altLang="zh-CN" sz="2200" b="1" baseline="0" dirty="0">
                <a:solidFill>
                  <a:srgbClr val="6666FF"/>
                </a:solidFill>
                <a:latin typeface="Times New Roman" panose="02020603050405020304" pitchFamily="18" charset="0"/>
                <a:ea typeface="楷体-简" panose="02010600040101010101" pitchFamily="2" charset="-122"/>
              </a:rPr>
              <a:t>public class</a:t>
            </a:r>
            <a:r>
              <a:rPr lang="en-US" altLang="zh-CN" sz="2200" b="1" baseline="0" dirty="0">
                <a:latin typeface="Times New Roman" panose="02020603050405020304" pitchFamily="18" charset="0"/>
                <a:ea typeface="楷体-简" panose="02010600040101010101" pitchFamily="2" charset="-122"/>
              </a:rPr>
              <a:t> ArrayCopy2{</a:t>
            </a:r>
          </a:p>
          <a:p>
            <a:pPr eaLnBrk="1" hangingPunct="1">
              <a:lnSpc>
                <a:spcPct val="80000"/>
              </a:lnSpc>
              <a:buFontTx/>
              <a:buNone/>
              <a:defRPr/>
            </a:pPr>
            <a:r>
              <a:rPr lang="en-US" altLang="zh-CN" sz="2200" b="1" baseline="0" dirty="0">
                <a:solidFill>
                  <a:srgbClr val="6666FF"/>
                </a:solidFill>
                <a:latin typeface="Times New Roman" panose="02020603050405020304" pitchFamily="18" charset="0"/>
                <a:ea typeface="楷体-简" panose="02010600040101010101" pitchFamily="2" charset="-122"/>
              </a:rPr>
              <a:t>  public static void</a:t>
            </a:r>
            <a:r>
              <a:rPr lang="en-US" altLang="zh-CN" sz="2200" b="1" baseline="0" dirty="0">
                <a:latin typeface="Times New Roman" panose="02020603050405020304" pitchFamily="18" charset="0"/>
                <a:ea typeface="楷体-简" panose="02010600040101010101" pitchFamily="2" charset="-122"/>
              </a:rPr>
              <a:t> main(String </a:t>
            </a:r>
            <a:r>
              <a:rPr lang="en-US" altLang="zh-CN" sz="2200" b="1" baseline="0" dirty="0" err="1">
                <a:latin typeface="Times New Roman" panose="02020603050405020304" pitchFamily="18" charset="0"/>
                <a:ea typeface="楷体-简" panose="02010600040101010101" pitchFamily="2" charset="-122"/>
              </a:rPr>
              <a:t>args</a:t>
            </a:r>
            <a:r>
              <a:rPr lang="en-US" altLang="zh-CN" sz="2200" b="1" baseline="0" dirty="0">
                <a:latin typeface="Times New Roman" panose="02020603050405020304" pitchFamily="18" charset="0"/>
                <a:ea typeface="楷体-简" panose="02010600040101010101" pitchFamily="2" charset="-122"/>
              </a:rPr>
              <a:t>[ ]){</a:t>
            </a:r>
          </a:p>
          <a:p>
            <a:pPr eaLnBrk="1" hangingPunct="1">
              <a:lnSpc>
                <a:spcPct val="80000"/>
              </a:lnSpc>
              <a:buFontTx/>
              <a:buNone/>
              <a:defRPr/>
            </a:pPr>
            <a:r>
              <a:rPr lang="en-US" altLang="zh-CN" sz="2200" b="1" baseline="0" dirty="0">
                <a:latin typeface="Times New Roman" panose="02020603050405020304" pitchFamily="18" charset="0"/>
                <a:ea typeface="楷体-简" panose="02010600040101010101" pitchFamily="2" charset="-122"/>
              </a:rPr>
              <a:t>       </a:t>
            </a:r>
            <a:r>
              <a:rPr lang="en-US" altLang="zh-CN" sz="2200" b="1" baseline="0" dirty="0">
                <a:solidFill>
                  <a:srgbClr val="6666FF"/>
                </a:solidFill>
                <a:latin typeface="Times New Roman" panose="02020603050405020304" pitchFamily="18" charset="0"/>
                <a:ea typeface="楷体-简" panose="02010600040101010101" pitchFamily="2" charset="-122"/>
              </a:rPr>
              <a:t>int</a:t>
            </a:r>
            <a:r>
              <a:rPr lang="en-US" altLang="zh-CN" sz="2200" b="1" baseline="0" dirty="0">
                <a:latin typeface="Times New Roman" panose="02020603050405020304" pitchFamily="18" charset="0"/>
                <a:ea typeface="楷体-简" panose="02010600040101010101" pitchFamily="2" charset="-122"/>
              </a:rPr>
              <a:t> [ ] a={1,2,3};</a:t>
            </a:r>
          </a:p>
          <a:p>
            <a:pPr eaLnBrk="1" hangingPunct="1">
              <a:lnSpc>
                <a:spcPct val="80000"/>
              </a:lnSpc>
              <a:buFontTx/>
              <a:buNone/>
              <a:defRPr/>
            </a:pPr>
            <a:r>
              <a:rPr lang="en-US" altLang="zh-CN" sz="2200" b="1" baseline="0" dirty="0">
                <a:latin typeface="Times New Roman" panose="02020603050405020304" pitchFamily="18" charset="0"/>
                <a:ea typeface="楷体-简" panose="02010600040101010101" pitchFamily="2" charset="-122"/>
              </a:rPr>
              <a:t>       </a:t>
            </a:r>
            <a:r>
              <a:rPr lang="en-US" altLang="zh-CN" sz="2200" b="1" baseline="0" dirty="0">
                <a:solidFill>
                  <a:srgbClr val="6666FF"/>
                </a:solidFill>
                <a:latin typeface="Times New Roman" panose="02020603050405020304" pitchFamily="18" charset="0"/>
                <a:ea typeface="楷体-简" panose="02010600040101010101" pitchFamily="2" charset="-122"/>
              </a:rPr>
              <a:t>int</a:t>
            </a:r>
            <a:r>
              <a:rPr lang="en-US" altLang="zh-CN" sz="2200" b="1" baseline="0" dirty="0">
                <a:latin typeface="Times New Roman" panose="02020603050405020304" pitchFamily="18" charset="0"/>
                <a:ea typeface="楷体-简" panose="02010600040101010101" pitchFamily="2" charset="-122"/>
              </a:rPr>
              <a:t> [ ] b={10,11};</a:t>
            </a:r>
          </a:p>
          <a:p>
            <a:pPr eaLnBrk="1" hangingPunct="1">
              <a:lnSpc>
                <a:spcPct val="80000"/>
              </a:lnSpc>
              <a:buFontTx/>
              <a:buNone/>
              <a:defRPr/>
            </a:pPr>
            <a:r>
              <a:rPr lang="en-US" altLang="zh-CN" sz="2200" b="1" baseline="0" dirty="0">
                <a:latin typeface="Times New Roman" panose="02020603050405020304" pitchFamily="18" charset="0"/>
                <a:ea typeface="楷体-简" panose="02010600040101010101" pitchFamily="2" charset="-122"/>
              </a:rPr>
              <a:t>       </a:t>
            </a:r>
            <a:r>
              <a:rPr lang="en-US" altLang="zh-CN" sz="2200" b="1" baseline="0" dirty="0" err="1">
                <a:latin typeface="Times New Roman" panose="02020603050405020304" pitchFamily="18" charset="0"/>
                <a:ea typeface="楷体-简" panose="02010600040101010101" pitchFamily="2" charset="-122"/>
              </a:rPr>
              <a:t>System.out.println</a:t>
            </a:r>
            <a:r>
              <a:rPr lang="en-US" altLang="zh-CN" sz="2200" b="1" baseline="0" dirty="0">
                <a:latin typeface="Times New Roman" panose="02020603050405020304" pitchFamily="18" charset="0"/>
                <a:ea typeface="楷体-简" panose="02010600040101010101" pitchFamily="2" charset="-122"/>
              </a:rPr>
              <a:t>("</a:t>
            </a:r>
            <a:r>
              <a:rPr lang="zh-CN" altLang="en-US" sz="2200" b="1" baseline="0" dirty="0">
                <a:latin typeface="Times New Roman" panose="02020603050405020304" pitchFamily="18" charset="0"/>
                <a:ea typeface="楷体-简" panose="02010600040101010101" pitchFamily="2" charset="-122"/>
              </a:rPr>
              <a:t>数组</a:t>
            </a:r>
            <a:r>
              <a:rPr lang="en-US" altLang="zh-CN" sz="2200" b="1" baseline="0" dirty="0">
                <a:latin typeface="Times New Roman" panose="02020603050405020304" pitchFamily="18" charset="0"/>
                <a:ea typeface="楷体-简" panose="02010600040101010101" pitchFamily="2" charset="-122"/>
              </a:rPr>
              <a:t>a</a:t>
            </a:r>
            <a:r>
              <a:rPr lang="zh-CN" altLang="en-US" sz="2200" b="1" baseline="0" dirty="0">
                <a:latin typeface="Times New Roman" panose="02020603050405020304" pitchFamily="18" charset="0"/>
                <a:ea typeface="楷体-简" panose="02010600040101010101" pitchFamily="2" charset="-122"/>
              </a:rPr>
              <a:t>的引用是</a:t>
            </a:r>
            <a:r>
              <a:rPr lang="en-US" altLang="zh-CN" sz="2200" b="1" baseline="0" dirty="0">
                <a:latin typeface="Times New Roman" panose="02020603050405020304" pitchFamily="18" charset="0"/>
                <a:ea typeface="楷体-简" panose="02010600040101010101" pitchFamily="2" charset="-122"/>
              </a:rPr>
              <a:t>:"+a);</a:t>
            </a:r>
          </a:p>
          <a:p>
            <a:pPr eaLnBrk="1" hangingPunct="1">
              <a:lnSpc>
                <a:spcPct val="80000"/>
              </a:lnSpc>
              <a:buFontTx/>
              <a:buNone/>
              <a:defRPr/>
            </a:pPr>
            <a:r>
              <a:rPr lang="en-US" altLang="zh-CN" sz="2200" b="1" baseline="0" dirty="0">
                <a:latin typeface="Times New Roman" panose="02020603050405020304" pitchFamily="18" charset="0"/>
                <a:ea typeface="楷体-简" panose="02010600040101010101" pitchFamily="2" charset="-122"/>
              </a:rPr>
              <a:t>       </a:t>
            </a:r>
            <a:r>
              <a:rPr lang="en-US" altLang="zh-CN" sz="2200" b="1" baseline="0" dirty="0" err="1">
                <a:latin typeface="Times New Roman" panose="02020603050405020304" pitchFamily="18" charset="0"/>
                <a:ea typeface="楷体-简" panose="02010600040101010101" pitchFamily="2" charset="-122"/>
              </a:rPr>
              <a:t>System.out.println</a:t>
            </a:r>
            <a:r>
              <a:rPr lang="en-US" altLang="zh-CN" sz="2200" b="1" baseline="0" dirty="0">
                <a:latin typeface="Times New Roman" panose="02020603050405020304" pitchFamily="18" charset="0"/>
                <a:ea typeface="楷体-简" panose="02010600040101010101" pitchFamily="2" charset="-122"/>
              </a:rPr>
              <a:t>("</a:t>
            </a:r>
            <a:r>
              <a:rPr lang="zh-CN" altLang="en-US" sz="2200" b="1" baseline="0" dirty="0">
                <a:latin typeface="Times New Roman" panose="02020603050405020304" pitchFamily="18" charset="0"/>
                <a:ea typeface="楷体-简" panose="02010600040101010101" pitchFamily="2" charset="-122"/>
              </a:rPr>
              <a:t>数组</a:t>
            </a:r>
            <a:r>
              <a:rPr lang="en-US" altLang="zh-CN" sz="2200" b="1" baseline="0" dirty="0">
                <a:latin typeface="Times New Roman" panose="02020603050405020304" pitchFamily="18" charset="0"/>
                <a:ea typeface="楷体-简" panose="02010600040101010101" pitchFamily="2" charset="-122"/>
              </a:rPr>
              <a:t>b</a:t>
            </a:r>
            <a:r>
              <a:rPr lang="zh-CN" altLang="en-US" sz="2200" b="1" baseline="0" dirty="0">
                <a:latin typeface="Times New Roman" panose="02020603050405020304" pitchFamily="18" charset="0"/>
                <a:ea typeface="楷体-简" panose="02010600040101010101" pitchFamily="2" charset="-122"/>
              </a:rPr>
              <a:t>的引用是</a:t>
            </a:r>
            <a:r>
              <a:rPr lang="en-US" altLang="zh-CN" sz="2200" b="1" baseline="0" dirty="0">
                <a:latin typeface="Times New Roman" panose="02020603050405020304" pitchFamily="18" charset="0"/>
                <a:ea typeface="楷体-简" panose="02010600040101010101" pitchFamily="2" charset="-122"/>
              </a:rPr>
              <a:t>:"+b);</a:t>
            </a:r>
          </a:p>
          <a:p>
            <a:pPr eaLnBrk="1" hangingPunct="1">
              <a:lnSpc>
                <a:spcPct val="80000"/>
              </a:lnSpc>
              <a:buFontTx/>
              <a:buNone/>
              <a:defRPr/>
            </a:pPr>
            <a:r>
              <a:rPr lang="en-US" altLang="zh-CN" sz="2200" b="1" baseline="0" dirty="0">
                <a:latin typeface="Times New Roman" panose="02020603050405020304" pitchFamily="18" charset="0"/>
                <a:ea typeface="楷体-简" panose="02010600040101010101" pitchFamily="2" charset="-122"/>
              </a:rPr>
              <a:t>       </a:t>
            </a:r>
            <a:r>
              <a:rPr lang="en-US" altLang="zh-CN" sz="2200" b="1" baseline="0" dirty="0" err="1">
                <a:latin typeface="Times New Roman" panose="02020603050405020304" pitchFamily="18" charset="0"/>
                <a:ea typeface="楷体-简" panose="02010600040101010101" pitchFamily="2" charset="-122"/>
              </a:rPr>
              <a:t>System.out.printf</a:t>
            </a:r>
            <a:r>
              <a:rPr lang="en-US" altLang="zh-CN" sz="2200" b="1" baseline="0" dirty="0">
                <a:latin typeface="Times New Roman" panose="02020603050405020304" pitchFamily="18" charset="0"/>
                <a:ea typeface="楷体-简" panose="02010600040101010101" pitchFamily="2" charset="-122"/>
              </a:rPr>
              <a:t>("b[0]=%-3d b[1]=%-3d \n", b[0], b[1]);</a:t>
            </a:r>
          </a:p>
          <a:p>
            <a:pPr eaLnBrk="1" hangingPunct="1">
              <a:lnSpc>
                <a:spcPct val="80000"/>
              </a:lnSpc>
              <a:buFontTx/>
              <a:buNone/>
              <a:defRPr/>
            </a:pPr>
            <a:r>
              <a:rPr lang="en-US" altLang="zh-CN" sz="2200" b="1" baseline="0" dirty="0">
                <a:latin typeface="Times New Roman" panose="02020603050405020304" pitchFamily="18" charset="0"/>
                <a:ea typeface="楷体-简" panose="02010600040101010101" pitchFamily="2" charset="-122"/>
              </a:rPr>
              <a:t>       </a:t>
            </a:r>
            <a:r>
              <a:rPr lang="en-US" altLang="zh-CN" sz="2200" b="1" baseline="0" dirty="0" err="1">
                <a:latin typeface="Times New Roman" panose="02020603050405020304" pitchFamily="18" charset="0"/>
                <a:ea typeface="楷体-简" panose="02010600040101010101" pitchFamily="2" charset="-122"/>
              </a:rPr>
              <a:t>System.out.println</a:t>
            </a:r>
            <a:r>
              <a:rPr lang="en-US" altLang="zh-CN" sz="2200" b="1" baseline="0" dirty="0">
                <a:latin typeface="Times New Roman" panose="02020603050405020304" pitchFamily="18" charset="0"/>
                <a:ea typeface="楷体-简" panose="02010600040101010101" pitchFamily="2" charset="-122"/>
              </a:rPr>
              <a:t>("---after </a:t>
            </a:r>
            <a:r>
              <a:rPr lang="en-US" altLang="zh-CN" sz="2200" b="1" baseline="0" dirty="0" err="1">
                <a:latin typeface="Times New Roman" panose="02020603050405020304" pitchFamily="18" charset="0"/>
                <a:ea typeface="楷体-简" panose="02010600040101010101" pitchFamily="2" charset="-122"/>
              </a:rPr>
              <a:t>arraycopy</a:t>
            </a:r>
            <a:r>
              <a:rPr lang="en-US" altLang="zh-CN" sz="2200" b="1" baseline="0" dirty="0">
                <a:latin typeface="Times New Roman" panose="02020603050405020304" pitchFamily="18" charset="0"/>
                <a:ea typeface="楷体-简" panose="02010600040101010101" pitchFamily="2" charset="-122"/>
              </a:rPr>
              <a:t>---");</a:t>
            </a:r>
          </a:p>
          <a:p>
            <a:pPr eaLnBrk="1" hangingPunct="1">
              <a:lnSpc>
                <a:spcPct val="80000"/>
              </a:lnSpc>
              <a:buFontTx/>
              <a:buNone/>
              <a:defRPr/>
            </a:pPr>
            <a:r>
              <a:rPr lang="en-US" altLang="zh-CN" sz="2200" b="1" baseline="0" dirty="0">
                <a:latin typeface="Times New Roman" panose="02020603050405020304" pitchFamily="18" charset="0"/>
                <a:ea typeface="楷体-简" panose="02010600040101010101" pitchFamily="2" charset="-122"/>
              </a:rPr>
              <a:t>       </a:t>
            </a:r>
            <a:r>
              <a:rPr lang="en-US" altLang="zh-CN" sz="2200" b="1" baseline="0" dirty="0" err="1">
                <a:solidFill>
                  <a:srgbClr val="FF0066"/>
                </a:solidFill>
                <a:latin typeface="Times New Roman" panose="02020603050405020304" pitchFamily="18" charset="0"/>
                <a:ea typeface="楷体-简" panose="02010600040101010101" pitchFamily="2" charset="-122"/>
              </a:rPr>
              <a:t>System.arraycopy</a:t>
            </a:r>
            <a:r>
              <a:rPr lang="en-US" altLang="zh-CN" sz="2200" b="1" baseline="0" dirty="0">
                <a:solidFill>
                  <a:srgbClr val="FF0066"/>
                </a:solidFill>
                <a:latin typeface="Times New Roman" panose="02020603050405020304" pitchFamily="18" charset="0"/>
                <a:ea typeface="楷体-简" panose="02010600040101010101" pitchFamily="2" charset="-122"/>
              </a:rPr>
              <a:t>(a,0,b,0,2); //</a:t>
            </a:r>
            <a:r>
              <a:rPr lang="zh-CN" altLang="en-US" sz="2200" b="1" baseline="0" dirty="0">
                <a:solidFill>
                  <a:srgbClr val="FF0066"/>
                </a:solidFill>
                <a:latin typeface="Times New Roman" panose="02020603050405020304" pitchFamily="18" charset="0"/>
                <a:ea typeface="楷体-简" panose="02010600040101010101" pitchFamily="2" charset="-122"/>
              </a:rPr>
              <a:t>把</a:t>
            </a:r>
            <a:r>
              <a:rPr lang="en-US" altLang="zh-CN" sz="2200" b="1" baseline="0" dirty="0">
                <a:solidFill>
                  <a:srgbClr val="FF0066"/>
                </a:solidFill>
                <a:latin typeface="Times New Roman" panose="02020603050405020304" pitchFamily="18" charset="0"/>
                <a:ea typeface="楷体-简" panose="02010600040101010101" pitchFamily="2" charset="-122"/>
              </a:rPr>
              <a:t>a</a:t>
            </a:r>
            <a:r>
              <a:rPr lang="zh-CN" altLang="en-US" sz="2200" b="1" baseline="0" dirty="0">
                <a:solidFill>
                  <a:srgbClr val="FF0066"/>
                </a:solidFill>
                <a:latin typeface="Times New Roman" panose="02020603050405020304" pitchFamily="18" charset="0"/>
                <a:ea typeface="楷体-简" panose="02010600040101010101" pitchFamily="2" charset="-122"/>
              </a:rPr>
              <a:t>拷贝给</a:t>
            </a:r>
            <a:r>
              <a:rPr lang="en-US" altLang="zh-CN" sz="2200" b="1" baseline="0" dirty="0">
                <a:solidFill>
                  <a:srgbClr val="FF0066"/>
                </a:solidFill>
                <a:latin typeface="Times New Roman" panose="02020603050405020304" pitchFamily="18" charset="0"/>
                <a:ea typeface="楷体-简" panose="02010600040101010101" pitchFamily="2" charset="-122"/>
              </a:rPr>
              <a:t>b</a:t>
            </a:r>
          </a:p>
          <a:p>
            <a:pPr eaLnBrk="1" hangingPunct="1">
              <a:lnSpc>
                <a:spcPct val="80000"/>
              </a:lnSpc>
              <a:buFontTx/>
              <a:buNone/>
              <a:defRPr/>
            </a:pPr>
            <a:r>
              <a:rPr lang="en-US" altLang="zh-CN" sz="2200" b="1" baseline="0" dirty="0">
                <a:latin typeface="Times New Roman" panose="02020603050405020304" pitchFamily="18" charset="0"/>
                <a:ea typeface="楷体-简" panose="02010600040101010101" pitchFamily="2" charset="-122"/>
              </a:rPr>
              <a:t>       </a:t>
            </a:r>
            <a:r>
              <a:rPr lang="en-US" altLang="zh-CN" sz="2200" b="1" baseline="0" dirty="0" err="1">
                <a:latin typeface="Times New Roman" panose="02020603050405020304" pitchFamily="18" charset="0"/>
                <a:ea typeface="楷体-简" panose="02010600040101010101" pitchFamily="2" charset="-122"/>
              </a:rPr>
              <a:t>System.out.println</a:t>
            </a:r>
            <a:r>
              <a:rPr lang="en-US" altLang="zh-CN" sz="2200" b="1" baseline="0" dirty="0">
                <a:latin typeface="Times New Roman" panose="02020603050405020304" pitchFamily="18" charset="0"/>
                <a:ea typeface="楷体-简" panose="02010600040101010101" pitchFamily="2" charset="-122"/>
              </a:rPr>
              <a:t>("</a:t>
            </a:r>
            <a:r>
              <a:rPr lang="zh-CN" altLang="en-US" sz="2200" b="1" baseline="0" dirty="0">
                <a:latin typeface="Times New Roman" panose="02020603050405020304" pitchFamily="18" charset="0"/>
                <a:ea typeface="楷体-简" panose="02010600040101010101" pitchFamily="2" charset="-122"/>
              </a:rPr>
              <a:t>数组</a:t>
            </a:r>
            <a:r>
              <a:rPr lang="en-US" altLang="zh-CN" sz="2200" b="1" baseline="0" dirty="0">
                <a:latin typeface="Times New Roman" panose="02020603050405020304" pitchFamily="18" charset="0"/>
                <a:ea typeface="楷体-简" panose="02010600040101010101" pitchFamily="2" charset="-122"/>
              </a:rPr>
              <a:t>a</a:t>
            </a:r>
            <a:r>
              <a:rPr lang="zh-CN" altLang="en-US" sz="2200" b="1" baseline="0" dirty="0">
                <a:latin typeface="Times New Roman" panose="02020603050405020304" pitchFamily="18" charset="0"/>
                <a:ea typeface="楷体-简" panose="02010600040101010101" pitchFamily="2" charset="-122"/>
              </a:rPr>
              <a:t>的引用是</a:t>
            </a:r>
            <a:r>
              <a:rPr lang="en-US" altLang="zh-CN" sz="2200" b="1" baseline="0" dirty="0">
                <a:latin typeface="Times New Roman" panose="02020603050405020304" pitchFamily="18" charset="0"/>
                <a:ea typeface="楷体-简" panose="02010600040101010101" pitchFamily="2" charset="-122"/>
              </a:rPr>
              <a:t>:"+a);</a:t>
            </a:r>
          </a:p>
          <a:p>
            <a:pPr eaLnBrk="1" hangingPunct="1">
              <a:lnSpc>
                <a:spcPct val="80000"/>
              </a:lnSpc>
              <a:buFontTx/>
              <a:buNone/>
              <a:defRPr/>
            </a:pPr>
            <a:r>
              <a:rPr lang="en-US" altLang="zh-CN" sz="2200" b="1" baseline="0" dirty="0">
                <a:latin typeface="Times New Roman" panose="02020603050405020304" pitchFamily="18" charset="0"/>
                <a:ea typeface="楷体-简" panose="02010600040101010101" pitchFamily="2" charset="-122"/>
              </a:rPr>
              <a:t>       </a:t>
            </a:r>
            <a:r>
              <a:rPr lang="en-US" altLang="zh-CN" sz="2200" b="1" baseline="0" dirty="0" err="1">
                <a:latin typeface="Times New Roman" panose="02020603050405020304" pitchFamily="18" charset="0"/>
                <a:ea typeface="楷体-简" panose="02010600040101010101" pitchFamily="2" charset="-122"/>
              </a:rPr>
              <a:t>System.out.println</a:t>
            </a:r>
            <a:r>
              <a:rPr lang="en-US" altLang="zh-CN" sz="2200" b="1" baseline="0" dirty="0">
                <a:latin typeface="Times New Roman" panose="02020603050405020304" pitchFamily="18" charset="0"/>
                <a:ea typeface="楷体-简" panose="02010600040101010101" pitchFamily="2" charset="-122"/>
              </a:rPr>
              <a:t>("</a:t>
            </a:r>
            <a:r>
              <a:rPr lang="zh-CN" altLang="en-US" sz="2200" b="1" baseline="0" dirty="0">
                <a:latin typeface="Times New Roman" panose="02020603050405020304" pitchFamily="18" charset="0"/>
                <a:ea typeface="楷体-简" panose="02010600040101010101" pitchFamily="2" charset="-122"/>
              </a:rPr>
              <a:t>数组</a:t>
            </a:r>
            <a:r>
              <a:rPr lang="en-US" altLang="zh-CN" sz="2200" b="1" baseline="0" dirty="0">
                <a:latin typeface="Times New Roman" panose="02020603050405020304" pitchFamily="18" charset="0"/>
                <a:ea typeface="楷体-简" panose="02010600040101010101" pitchFamily="2" charset="-122"/>
              </a:rPr>
              <a:t>b</a:t>
            </a:r>
            <a:r>
              <a:rPr lang="zh-CN" altLang="en-US" sz="2200" b="1" baseline="0" dirty="0">
                <a:latin typeface="Times New Roman" panose="02020603050405020304" pitchFamily="18" charset="0"/>
                <a:ea typeface="楷体-简" panose="02010600040101010101" pitchFamily="2" charset="-122"/>
              </a:rPr>
              <a:t>的引用是</a:t>
            </a:r>
            <a:r>
              <a:rPr lang="en-US" altLang="zh-CN" sz="2200" b="1" baseline="0" dirty="0">
                <a:latin typeface="Times New Roman" panose="02020603050405020304" pitchFamily="18" charset="0"/>
                <a:ea typeface="楷体-简" panose="02010600040101010101" pitchFamily="2" charset="-122"/>
              </a:rPr>
              <a:t>:"+b);</a:t>
            </a:r>
          </a:p>
          <a:p>
            <a:pPr eaLnBrk="1" hangingPunct="1">
              <a:lnSpc>
                <a:spcPct val="80000"/>
              </a:lnSpc>
              <a:buFontTx/>
              <a:buNone/>
              <a:defRPr/>
            </a:pPr>
            <a:r>
              <a:rPr lang="en-US" altLang="zh-CN" sz="2200" b="1" baseline="0" dirty="0">
                <a:latin typeface="Times New Roman" panose="02020603050405020304" pitchFamily="18" charset="0"/>
                <a:ea typeface="楷体-简" panose="02010600040101010101" pitchFamily="2" charset="-122"/>
              </a:rPr>
              <a:t>       </a:t>
            </a:r>
            <a:r>
              <a:rPr lang="en-US" altLang="zh-CN" sz="2200" b="1" baseline="0" dirty="0" err="1">
                <a:latin typeface="Times New Roman" panose="02020603050405020304" pitchFamily="18" charset="0"/>
                <a:ea typeface="楷体-简" panose="02010600040101010101" pitchFamily="2" charset="-122"/>
              </a:rPr>
              <a:t>System.out.printf</a:t>
            </a:r>
            <a:r>
              <a:rPr lang="en-US" altLang="zh-CN" sz="2200" b="1" baseline="0" dirty="0">
                <a:latin typeface="Times New Roman" panose="02020603050405020304" pitchFamily="18" charset="0"/>
                <a:ea typeface="楷体-简" panose="02010600040101010101" pitchFamily="2" charset="-122"/>
              </a:rPr>
              <a:t>("a[0]=%-5d a[1]=%-5d a[2]=%-5d</a:t>
            </a:r>
          </a:p>
          <a:p>
            <a:pPr eaLnBrk="1" hangingPunct="1">
              <a:lnSpc>
                <a:spcPct val="80000"/>
              </a:lnSpc>
              <a:buFontTx/>
              <a:buNone/>
              <a:defRPr/>
            </a:pPr>
            <a:r>
              <a:rPr lang="en-US" altLang="zh-CN" sz="2200" b="1" baseline="0" dirty="0">
                <a:latin typeface="Times New Roman" panose="02020603050405020304" pitchFamily="18" charset="0"/>
                <a:ea typeface="楷体-简" panose="02010600040101010101" pitchFamily="2" charset="-122"/>
              </a:rPr>
              <a:t>                                       \n", a[0], a[1], a[2]);</a:t>
            </a:r>
          </a:p>
          <a:p>
            <a:pPr eaLnBrk="1" hangingPunct="1">
              <a:lnSpc>
                <a:spcPct val="80000"/>
              </a:lnSpc>
              <a:buFontTx/>
              <a:buNone/>
              <a:defRPr/>
            </a:pPr>
            <a:r>
              <a:rPr lang="en-US" altLang="zh-CN" sz="2200" b="1" baseline="0" dirty="0">
                <a:latin typeface="Times New Roman" panose="02020603050405020304" pitchFamily="18" charset="0"/>
                <a:ea typeface="楷体-简" panose="02010600040101010101" pitchFamily="2" charset="-122"/>
              </a:rPr>
              <a:t>       </a:t>
            </a:r>
            <a:r>
              <a:rPr lang="en-US" altLang="zh-CN" sz="2200" b="1" baseline="0" dirty="0" err="1">
                <a:latin typeface="Times New Roman" panose="02020603050405020304" pitchFamily="18" charset="0"/>
                <a:ea typeface="楷体-简" panose="02010600040101010101" pitchFamily="2" charset="-122"/>
              </a:rPr>
              <a:t>System.out.printf</a:t>
            </a:r>
            <a:r>
              <a:rPr lang="en-US" altLang="zh-CN" sz="2200" b="1" baseline="0" dirty="0">
                <a:latin typeface="Times New Roman" panose="02020603050405020304" pitchFamily="18" charset="0"/>
                <a:ea typeface="楷体-简" panose="02010600040101010101" pitchFamily="2" charset="-122"/>
              </a:rPr>
              <a:t>("b[0]=%-5d b[1]=%-5d \n", b[0], b[1]);</a:t>
            </a:r>
          </a:p>
          <a:p>
            <a:pPr eaLnBrk="1" hangingPunct="1">
              <a:lnSpc>
                <a:spcPct val="80000"/>
              </a:lnSpc>
              <a:buFontTx/>
              <a:buNone/>
              <a:defRPr/>
            </a:pPr>
            <a:r>
              <a:rPr lang="en-US" altLang="zh-CN" sz="2200" b="1" baseline="0" dirty="0">
                <a:latin typeface="Times New Roman" panose="02020603050405020304" pitchFamily="18" charset="0"/>
                <a:ea typeface="楷体-简" panose="02010600040101010101" pitchFamily="2" charset="-122"/>
              </a:rPr>
              <a:t>    }</a:t>
            </a:r>
          </a:p>
          <a:p>
            <a:pPr eaLnBrk="1" hangingPunct="1">
              <a:lnSpc>
                <a:spcPct val="80000"/>
              </a:lnSpc>
              <a:buFontTx/>
              <a:buNone/>
              <a:defRPr/>
            </a:pPr>
            <a:r>
              <a:rPr lang="en-US" altLang="zh-CN" sz="2200" b="1" baseline="0" dirty="0">
                <a:latin typeface="Times New Roman" panose="02020603050405020304" pitchFamily="18" charset="0"/>
                <a:ea typeface="楷体-简" panose="02010600040101010101" pitchFamily="2" charset="-122"/>
              </a:rPr>
              <a:t>} </a:t>
            </a:r>
          </a:p>
        </p:txBody>
      </p:sp>
      <p:sp>
        <p:nvSpPr>
          <p:cNvPr id="702468" name="Text Box 4">
            <a:extLst>
              <a:ext uri="{FF2B5EF4-FFF2-40B4-BE49-F238E27FC236}">
                <a16:creationId xmlns:a16="http://schemas.microsoft.com/office/drawing/2014/main" id="{35AF74E0-A17F-4302-AB18-B6E0E1E8AAE1}"/>
              </a:ext>
            </a:extLst>
          </p:cNvPr>
          <p:cNvSpPr txBox="1">
            <a:spLocks noChangeArrowheads="1"/>
          </p:cNvSpPr>
          <p:nvPr/>
        </p:nvSpPr>
        <p:spPr bwMode="auto">
          <a:xfrm>
            <a:off x="4103688" y="4371925"/>
            <a:ext cx="5040312" cy="2657475"/>
          </a:xfrm>
          <a:prstGeom prst="rect">
            <a:avLst/>
          </a:prstGeom>
          <a:solidFill>
            <a:schemeClr val="tx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100" dirty="0">
                <a:solidFill>
                  <a:schemeClr val="bg1"/>
                </a:solidFill>
                <a:latin typeface="Lucida Console" panose="020B0609040504020204" pitchFamily="49" charset="0"/>
              </a:rPr>
              <a:t>数组</a:t>
            </a:r>
            <a:r>
              <a:rPr lang="en-US" altLang="zh-CN" sz="2100" dirty="0">
                <a:solidFill>
                  <a:schemeClr val="bg1"/>
                </a:solidFill>
                <a:latin typeface="Lucida Console" panose="020B0609040504020204" pitchFamily="49" charset="0"/>
              </a:rPr>
              <a:t>a</a:t>
            </a:r>
            <a:r>
              <a:rPr lang="zh-CN" altLang="en-US" sz="2100" dirty="0">
                <a:solidFill>
                  <a:schemeClr val="bg1"/>
                </a:solidFill>
                <a:latin typeface="Lucida Console" panose="020B0609040504020204" pitchFamily="49" charset="0"/>
              </a:rPr>
              <a:t>的引用是</a:t>
            </a:r>
            <a:r>
              <a:rPr lang="en-US" altLang="zh-CN" sz="2100" dirty="0">
                <a:solidFill>
                  <a:schemeClr val="bg1"/>
                </a:solidFill>
                <a:latin typeface="Lucida Console" panose="020B0609040504020204" pitchFamily="49" charset="0"/>
              </a:rPr>
              <a:t>:[I@de6ced</a:t>
            </a:r>
          </a:p>
          <a:p>
            <a:pPr eaLnBrk="1" hangingPunct="1">
              <a:spcBef>
                <a:spcPct val="0"/>
              </a:spcBef>
              <a:buFontTx/>
              <a:buNone/>
            </a:pPr>
            <a:r>
              <a:rPr lang="zh-CN" altLang="en-US" sz="2100" dirty="0">
                <a:solidFill>
                  <a:schemeClr val="bg1"/>
                </a:solidFill>
                <a:latin typeface="Lucida Console" panose="020B0609040504020204" pitchFamily="49" charset="0"/>
              </a:rPr>
              <a:t>数组</a:t>
            </a:r>
            <a:r>
              <a:rPr lang="en-US" altLang="zh-CN" sz="2100" dirty="0">
                <a:solidFill>
                  <a:schemeClr val="bg1"/>
                </a:solidFill>
                <a:latin typeface="Lucida Console" panose="020B0609040504020204" pitchFamily="49" charset="0"/>
              </a:rPr>
              <a:t>b</a:t>
            </a:r>
            <a:r>
              <a:rPr lang="zh-CN" altLang="en-US" sz="2100" dirty="0">
                <a:solidFill>
                  <a:schemeClr val="bg1"/>
                </a:solidFill>
                <a:latin typeface="Lucida Console" panose="020B0609040504020204" pitchFamily="49" charset="0"/>
              </a:rPr>
              <a:t>的引用是</a:t>
            </a:r>
            <a:r>
              <a:rPr lang="en-US" altLang="zh-CN" sz="2100" dirty="0">
                <a:solidFill>
                  <a:schemeClr val="bg1"/>
                </a:solidFill>
                <a:latin typeface="Lucida Console" panose="020B0609040504020204" pitchFamily="49" charset="0"/>
              </a:rPr>
              <a:t>:[I@c17164</a:t>
            </a:r>
          </a:p>
          <a:p>
            <a:pPr eaLnBrk="1" hangingPunct="1">
              <a:spcBef>
                <a:spcPct val="0"/>
              </a:spcBef>
              <a:buFontTx/>
              <a:buNone/>
            </a:pPr>
            <a:r>
              <a:rPr lang="en-US" altLang="zh-CN" sz="2100" dirty="0">
                <a:solidFill>
                  <a:schemeClr val="bg1"/>
                </a:solidFill>
                <a:latin typeface="Lucida Console" panose="020B0609040504020204" pitchFamily="49" charset="0"/>
              </a:rPr>
              <a:t>b[0]=10 b[1]=11</a:t>
            </a:r>
          </a:p>
          <a:p>
            <a:pPr eaLnBrk="1" hangingPunct="1">
              <a:spcBef>
                <a:spcPct val="0"/>
              </a:spcBef>
              <a:buFontTx/>
              <a:buNone/>
            </a:pPr>
            <a:r>
              <a:rPr lang="en-US" altLang="zh-CN" sz="2100" dirty="0">
                <a:solidFill>
                  <a:schemeClr val="bg1"/>
                </a:solidFill>
                <a:latin typeface="Lucida Console" panose="020B0609040504020204" pitchFamily="49" charset="0"/>
              </a:rPr>
              <a:t>---after </a:t>
            </a:r>
            <a:r>
              <a:rPr lang="en-US" altLang="zh-CN" sz="2100" dirty="0" err="1">
                <a:solidFill>
                  <a:schemeClr val="bg1"/>
                </a:solidFill>
                <a:latin typeface="Lucida Console" panose="020B0609040504020204" pitchFamily="49" charset="0"/>
              </a:rPr>
              <a:t>arraycopy</a:t>
            </a:r>
            <a:r>
              <a:rPr lang="en-US" altLang="zh-CN" sz="2100" dirty="0">
                <a:solidFill>
                  <a:schemeClr val="bg1"/>
                </a:solidFill>
                <a:latin typeface="Lucida Console" panose="020B0609040504020204" pitchFamily="49" charset="0"/>
              </a:rPr>
              <a:t>---</a:t>
            </a:r>
          </a:p>
          <a:p>
            <a:pPr eaLnBrk="1" hangingPunct="1">
              <a:spcBef>
                <a:spcPct val="0"/>
              </a:spcBef>
              <a:buFontTx/>
              <a:buNone/>
            </a:pPr>
            <a:r>
              <a:rPr lang="zh-CN" altLang="en-US" sz="2100" dirty="0">
                <a:solidFill>
                  <a:schemeClr val="bg1"/>
                </a:solidFill>
                <a:latin typeface="Lucida Console" panose="020B0609040504020204" pitchFamily="49" charset="0"/>
              </a:rPr>
              <a:t>数组</a:t>
            </a:r>
            <a:r>
              <a:rPr lang="en-US" altLang="zh-CN" sz="2100" dirty="0">
                <a:solidFill>
                  <a:schemeClr val="bg1"/>
                </a:solidFill>
                <a:latin typeface="Lucida Console" panose="020B0609040504020204" pitchFamily="49" charset="0"/>
              </a:rPr>
              <a:t>a</a:t>
            </a:r>
            <a:r>
              <a:rPr lang="zh-CN" altLang="en-US" sz="2100" dirty="0">
                <a:solidFill>
                  <a:schemeClr val="bg1"/>
                </a:solidFill>
                <a:latin typeface="Lucida Console" panose="020B0609040504020204" pitchFamily="49" charset="0"/>
              </a:rPr>
              <a:t>的引用是</a:t>
            </a:r>
            <a:r>
              <a:rPr lang="en-US" altLang="zh-CN" sz="2100" dirty="0">
                <a:solidFill>
                  <a:schemeClr val="bg1"/>
                </a:solidFill>
                <a:latin typeface="Lucida Console" panose="020B0609040504020204" pitchFamily="49" charset="0"/>
              </a:rPr>
              <a:t>:[I@de6ced</a:t>
            </a:r>
          </a:p>
          <a:p>
            <a:pPr eaLnBrk="1" hangingPunct="1">
              <a:spcBef>
                <a:spcPct val="0"/>
              </a:spcBef>
              <a:buFontTx/>
              <a:buNone/>
            </a:pPr>
            <a:r>
              <a:rPr lang="zh-CN" altLang="en-US" sz="2100" dirty="0">
                <a:solidFill>
                  <a:schemeClr val="bg1"/>
                </a:solidFill>
                <a:latin typeface="Lucida Console" panose="020B0609040504020204" pitchFamily="49" charset="0"/>
              </a:rPr>
              <a:t>数组</a:t>
            </a:r>
            <a:r>
              <a:rPr lang="en-US" altLang="zh-CN" sz="2100" dirty="0">
                <a:solidFill>
                  <a:schemeClr val="bg1"/>
                </a:solidFill>
                <a:latin typeface="Lucida Console" panose="020B0609040504020204" pitchFamily="49" charset="0"/>
              </a:rPr>
              <a:t>b</a:t>
            </a:r>
            <a:r>
              <a:rPr lang="zh-CN" altLang="en-US" sz="2100" dirty="0">
                <a:solidFill>
                  <a:schemeClr val="bg1"/>
                </a:solidFill>
                <a:latin typeface="Lucida Console" panose="020B0609040504020204" pitchFamily="49" charset="0"/>
              </a:rPr>
              <a:t>的引用是</a:t>
            </a:r>
            <a:r>
              <a:rPr lang="en-US" altLang="zh-CN" sz="2100" dirty="0">
                <a:solidFill>
                  <a:schemeClr val="bg1"/>
                </a:solidFill>
                <a:latin typeface="Lucida Console" panose="020B0609040504020204" pitchFamily="49" charset="0"/>
              </a:rPr>
              <a:t>:[I@c17164</a:t>
            </a:r>
          </a:p>
          <a:p>
            <a:pPr eaLnBrk="1" hangingPunct="1">
              <a:spcBef>
                <a:spcPct val="0"/>
              </a:spcBef>
              <a:buFontTx/>
              <a:buNone/>
            </a:pPr>
            <a:r>
              <a:rPr lang="en-US" altLang="zh-CN" sz="2100" dirty="0">
                <a:solidFill>
                  <a:schemeClr val="bg1"/>
                </a:solidFill>
                <a:latin typeface="Lucida Console" panose="020B0609040504020204" pitchFamily="49" charset="0"/>
              </a:rPr>
              <a:t>a[0]=1    a[1]=2    a[2]=3</a:t>
            </a:r>
          </a:p>
          <a:p>
            <a:pPr eaLnBrk="1" hangingPunct="1">
              <a:spcBef>
                <a:spcPct val="0"/>
              </a:spcBef>
              <a:buFontTx/>
              <a:buNone/>
            </a:pPr>
            <a:r>
              <a:rPr lang="en-US" altLang="zh-CN" sz="2100" dirty="0">
                <a:solidFill>
                  <a:schemeClr val="bg1"/>
                </a:solidFill>
                <a:latin typeface="Lucida Console" panose="020B0609040504020204" pitchFamily="49" charset="0"/>
              </a:rPr>
              <a:t>b[0]=1    b[1]=2.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02468"/>
                                        </p:tgtEl>
                                        <p:attrNameLst>
                                          <p:attrName>style.visibility</p:attrName>
                                        </p:attrNameLst>
                                      </p:cBhvr>
                                      <p:to>
                                        <p:strVal val="visible"/>
                                      </p:to>
                                    </p:set>
                                    <p:anim calcmode="lin" valueType="num">
                                      <p:cBhvr additive="base">
                                        <p:cTn id="7" dur="500" fill="hold"/>
                                        <p:tgtEl>
                                          <p:spTgt spid="702468"/>
                                        </p:tgtEl>
                                        <p:attrNameLst>
                                          <p:attrName>ppt_x</p:attrName>
                                        </p:attrNameLst>
                                      </p:cBhvr>
                                      <p:tavLst>
                                        <p:tav tm="0">
                                          <p:val>
                                            <p:strVal val="#ppt_x"/>
                                          </p:val>
                                        </p:tav>
                                        <p:tav tm="100000">
                                          <p:val>
                                            <p:strVal val="#ppt_x"/>
                                          </p:val>
                                        </p:tav>
                                      </p:tavLst>
                                    </p:anim>
                                    <p:anim calcmode="lin" valueType="num">
                                      <p:cBhvr additive="base">
                                        <p:cTn id="8" dur="500" fill="hold"/>
                                        <p:tgtEl>
                                          <p:spTgt spid="70246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2468"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3">
            <a:extLst>
              <a:ext uri="{FF2B5EF4-FFF2-40B4-BE49-F238E27FC236}">
                <a16:creationId xmlns:a16="http://schemas.microsoft.com/office/drawing/2014/main" id="{E404CFF6-BF04-4F4B-B934-94174DD165A3}"/>
              </a:ext>
            </a:extLst>
          </p:cNvPr>
          <p:cNvSpPr>
            <a:spLocks noGrp="1" noChangeArrowheads="1"/>
          </p:cNvSpPr>
          <p:nvPr>
            <p:ph type="body" idx="1"/>
          </p:nvPr>
        </p:nvSpPr>
        <p:spPr>
          <a:xfrm>
            <a:off x="0" y="188913"/>
            <a:ext cx="9109075" cy="6553200"/>
          </a:xfrm>
        </p:spPr>
        <p:txBody>
          <a:bodyPr/>
          <a:lstStyle/>
          <a:p>
            <a:pPr marL="0" indent="0" eaLnBrk="1" hangingPunct="1">
              <a:spcBef>
                <a:spcPct val="0"/>
              </a:spcBef>
              <a:buFontTx/>
              <a:buNone/>
              <a:defRPr/>
            </a:pPr>
            <a:r>
              <a:rPr lang="en-US" altLang="zh-CN" sz="2400" b="1" baseline="0" dirty="0">
                <a:solidFill>
                  <a:srgbClr val="FF0066"/>
                </a:solidFill>
                <a:latin typeface="Times New Roman" panose="02020603050405020304" pitchFamily="18" charset="0"/>
                <a:ea typeface="楷体-简" panose="02010600040101010101" pitchFamily="2" charset="-122"/>
              </a:rPr>
              <a:t>//</a:t>
            </a:r>
            <a:r>
              <a:rPr lang="zh-CN" altLang="en-US" sz="2400" b="1" baseline="0" dirty="0">
                <a:solidFill>
                  <a:srgbClr val="FF0066"/>
                </a:solidFill>
                <a:latin typeface="Times New Roman" panose="02020603050405020304" pitchFamily="18" charset="0"/>
                <a:ea typeface="楷体-简" panose="02010600040101010101" pitchFamily="2" charset="-122"/>
              </a:rPr>
              <a:t>例子：数组拷贝</a:t>
            </a:r>
            <a:r>
              <a:rPr lang="en-US" altLang="zh-CN" sz="2400" b="1" baseline="0" dirty="0">
                <a:solidFill>
                  <a:srgbClr val="FF0066"/>
                </a:solidFill>
                <a:latin typeface="Times New Roman" panose="02020603050405020304" pitchFamily="18" charset="0"/>
                <a:ea typeface="楷体-简" panose="02010600040101010101" pitchFamily="2" charset="-122"/>
              </a:rPr>
              <a:t>3</a:t>
            </a:r>
            <a:endParaRPr lang="zh-CN" altLang="en-US" sz="2400" b="1" baseline="0" dirty="0">
              <a:solidFill>
                <a:srgbClr val="FF0066"/>
              </a:solidFill>
              <a:latin typeface="Times New Roman" panose="02020603050405020304" pitchFamily="18" charset="0"/>
              <a:ea typeface="楷体-简" panose="02010600040101010101" pitchFamily="2" charset="-122"/>
            </a:endParaRPr>
          </a:p>
          <a:p>
            <a:pPr eaLnBrk="1" hangingPunct="1">
              <a:lnSpc>
                <a:spcPct val="80000"/>
              </a:lnSpc>
              <a:buFontTx/>
              <a:buNone/>
              <a:defRPr/>
            </a:pPr>
            <a:endParaRPr lang="en-US" altLang="zh-CN" sz="800" b="1" baseline="0" dirty="0">
              <a:solidFill>
                <a:srgbClr val="0000CC"/>
              </a:solidFill>
              <a:latin typeface="Times New Roman" panose="02020603050405020304" pitchFamily="18" charset="0"/>
              <a:ea typeface="楷体-简" panose="02010600040101010101" pitchFamily="2" charset="-122"/>
            </a:endParaRPr>
          </a:p>
          <a:p>
            <a:pPr eaLnBrk="1" hangingPunct="1">
              <a:lnSpc>
                <a:spcPct val="80000"/>
              </a:lnSpc>
              <a:buFontTx/>
              <a:buNone/>
              <a:defRPr/>
            </a:pPr>
            <a:r>
              <a:rPr lang="en-US" altLang="zh-CN" sz="2000" b="1" baseline="0" dirty="0">
                <a:solidFill>
                  <a:srgbClr val="0000CC"/>
                </a:solidFill>
                <a:latin typeface="Times New Roman" panose="02020603050405020304" pitchFamily="18" charset="0"/>
                <a:ea typeface="楷体-简" panose="02010600040101010101" pitchFamily="2" charset="-122"/>
              </a:rPr>
              <a:t>public class</a:t>
            </a:r>
            <a:r>
              <a:rPr lang="en-US" altLang="zh-CN" sz="2000" b="1" baseline="0" dirty="0">
                <a:latin typeface="Times New Roman" panose="02020603050405020304" pitchFamily="18" charset="0"/>
                <a:ea typeface="楷体-简" panose="02010600040101010101" pitchFamily="2" charset="-122"/>
              </a:rPr>
              <a:t> ArrayCopy3{</a:t>
            </a:r>
          </a:p>
          <a:p>
            <a:pPr eaLnBrk="1" hangingPunct="1">
              <a:lnSpc>
                <a:spcPct val="80000"/>
              </a:lnSpc>
              <a:buFontTx/>
              <a:buNone/>
              <a:defRPr/>
            </a:pPr>
            <a:r>
              <a:rPr lang="en-US" altLang="zh-CN" sz="2000" b="1" baseline="0" dirty="0">
                <a:solidFill>
                  <a:srgbClr val="0000CC"/>
                </a:solidFill>
                <a:latin typeface="Times New Roman" panose="02020603050405020304" pitchFamily="18" charset="0"/>
                <a:ea typeface="楷体-简" panose="02010600040101010101" pitchFamily="2" charset="-122"/>
              </a:rPr>
              <a:t>  public static void</a:t>
            </a:r>
            <a:r>
              <a:rPr lang="en-US" altLang="zh-CN" sz="2000" b="1" baseline="0" dirty="0">
                <a:latin typeface="Times New Roman" panose="02020603050405020304" pitchFamily="18" charset="0"/>
                <a:ea typeface="楷体-简" panose="02010600040101010101" pitchFamily="2" charset="-122"/>
              </a:rPr>
              <a:t> main(String </a:t>
            </a:r>
            <a:r>
              <a:rPr lang="en-US" altLang="zh-CN" sz="2000" b="1" baseline="0" dirty="0" err="1">
                <a:latin typeface="Times New Roman" panose="02020603050405020304" pitchFamily="18" charset="0"/>
                <a:ea typeface="楷体-简" panose="02010600040101010101" pitchFamily="2" charset="-122"/>
              </a:rPr>
              <a:t>args</a:t>
            </a:r>
            <a:r>
              <a:rPr lang="en-US" altLang="zh-CN" sz="2000" b="1" baseline="0" dirty="0">
                <a:latin typeface="Times New Roman" panose="02020603050405020304" pitchFamily="18" charset="0"/>
                <a:ea typeface="楷体-简" panose="02010600040101010101" pitchFamily="2" charset="-122"/>
              </a:rPr>
              <a:t>[ ]){</a:t>
            </a:r>
          </a:p>
          <a:p>
            <a:pPr eaLnBrk="1" hangingPunct="1">
              <a:lnSpc>
                <a:spcPct val="80000"/>
              </a:lnSpc>
              <a:buFontTx/>
              <a:buNone/>
              <a:defRPr/>
            </a:pPr>
            <a:r>
              <a:rPr lang="en-US" altLang="zh-CN" sz="2000" b="1" baseline="0" dirty="0">
                <a:latin typeface="Times New Roman" panose="02020603050405020304" pitchFamily="18" charset="0"/>
                <a:ea typeface="楷体-简" panose="02010600040101010101" pitchFamily="2" charset="-122"/>
              </a:rPr>
              <a:t>       int [ ] a={1,2,3};      </a:t>
            </a:r>
          </a:p>
          <a:p>
            <a:pPr eaLnBrk="1" hangingPunct="1">
              <a:lnSpc>
                <a:spcPct val="80000"/>
              </a:lnSpc>
              <a:buFontTx/>
              <a:buNone/>
              <a:defRPr/>
            </a:pPr>
            <a:r>
              <a:rPr lang="en-US" altLang="zh-CN" sz="2000" b="1" baseline="0" dirty="0">
                <a:latin typeface="Times New Roman" panose="02020603050405020304" pitchFamily="18" charset="0"/>
                <a:ea typeface="楷体-简" panose="02010600040101010101" pitchFamily="2" charset="-122"/>
              </a:rPr>
              <a:t>       </a:t>
            </a:r>
            <a:r>
              <a:rPr lang="en-US" altLang="zh-CN" sz="2000" b="1" baseline="0" dirty="0" err="1">
                <a:latin typeface="Times New Roman" panose="02020603050405020304" pitchFamily="18" charset="0"/>
                <a:ea typeface="楷体-简" panose="02010600040101010101" pitchFamily="2" charset="-122"/>
              </a:rPr>
              <a:t>System.out.println</a:t>
            </a:r>
            <a:r>
              <a:rPr lang="en-US" altLang="zh-CN" sz="2000" b="1" baseline="0" dirty="0">
                <a:latin typeface="Times New Roman" panose="02020603050405020304" pitchFamily="18" charset="0"/>
                <a:ea typeface="楷体-简" panose="02010600040101010101" pitchFamily="2" charset="-122"/>
              </a:rPr>
              <a:t>("</a:t>
            </a:r>
            <a:r>
              <a:rPr lang="zh-CN" altLang="en-US" sz="2000" b="1" baseline="0" dirty="0">
                <a:latin typeface="Times New Roman" panose="02020603050405020304" pitchFamily="18" charset="0"/>
                <a:ea typeface="楷体-简" panose="02010600040101010101" pitchFamily="2" charset="-122"/>
              </a:rPr>
              <a:t>数组</a:t>
            </a:r>
            <a:r>
              <a:rPr lang="en-US" altLang="zh-CN" sz="2000" b="1" baseline="0" dirty="0">
                <a:latin typeface="Times New Roman" panose="02020603050405020304" pitchFamily="18" charset="0"/>
                <a:ea typeface="楷体-简" panose="02010600040101010101" pitchFamily="2" charset="-122"/>
              </a:rPr>
              <a:t>a</a:t>
            </a:r>
            <a:r>
              <a:rPr lang="zh-CN" altLang="en-US" sz="2000" b="1" baseline="0" dirty="0">
                <a:latin typeface="Times New Roman" panose="02020603050405020304" pitchFamily="18" charset="0"/>
                <a:ea typeface="楷体-简" panose="02010600040101010101" pitchFamily="2" charset="-122"/>
              </a:rPr>
              <a:t>的引用是</a:t>
            </a:r>
            <a:r>
              <a:rPr lang="en-US" altLang="zh-CN" sz="2000" b="1" baseline="0" dirty="0">
                <a:latin typeface="Times New Roman" panose="02020603050405020304" pitchFamily="18" charset="0"/>
                <a:ea typeface="楷体-简" panose="02010600040101010101" pitchFamily="2" charset="-122"/>
              </a:rPr>
              <a:t>:"+a);       </a:t>
            </a:r>
          </a:p>
          <a:p>
            <a:pPr eaLnBrk="1" hangingPunct="1">
              <a:lnSpc>
                <a:spcPct val="80000"/>
              </a:lnSpc>
              <a:buFontTx/>
              <a:buNone/>
              <a:defRPr/>
            </a:pPr>
            <a:r>
              <a:rPr lang="en-US" altLang="zh-CN" sz="2000" b="1" baseline="0" dirty="0">
                <a:latin typeface="Times New Roman" panose="02020603050405020304" pitchFamily="18" charset="0"/>
                <a:ea typeface="楷体-简" panose="02010600040101010101" pitchFamily="2" charset="-122"/>
              </a:rPr>
              <a:t>       </a:t>
            </a:r>
            <a:r>
              <a:rPr lang="en-US" altLang="zh-CN" sz="2000" b="1" baseline="0" dirty="0">
                <a:solidFill>
                  <a:srgbClr val="FF0066"/>
                </a:solidFill>
                <a:latin typeface="Times New Roman" panose="02020603050405020304" pitchFamily="18" charset="0"/>
                <a:ea typeface="楷体-简" panose="02010600040101010101" pitchFamily="2" charset="-122"/>
              </a:rPr>
              <a:t>int[ ] b = </a:t>
            </a:r>
            <a:r>
              <a:rPr lang="en-US" altLang="zh-CN" sz="2000" b="1" baseline="0" dirty="0" err="1">
                <a:solidFill>
                  <a:srgbClr val="FF0066"/>
                </a:solidFill>
                <a:latin typeface="Times New Roman" panose="02020603050405020304" pitchFamily="18" charset="0"/>
                <a:ea typeface="楷体-简" panose="02010600040101010101" pitchFamily="2" charset="-122"/>
              </a:rPr>
              <a:t>a.clone</a:t>
            </a:r>
            <a:r>
              <a:rPr lang="en-US" altLang="zh-CN" sz="2000" b="1" baseline="0" dirty="0">
                <a:solidFill>
                  <a:srgbClr val="FF0066"/>
                </a:solidFill>
                <a:latin typeface="Times New Roman" panose="02020603050405020304" pitchFamily="18" charset="0"/>
                <a:ea typeface="楷体-简" panose="02010600040101010101" pitchFamily="2" charset="-122"/>
              </a:rPr>
              <a:t>() ;</a:t>
            </a:r>
          </a:p>
          <a:p>
            <a:pPr eaLnBrk="1" hangingPunct="1">
              <a:lnSpc>
                <a:spcPct val="80000"/>
              </a:lnSpc>
              <a:buFontTx/>
              <a:buNone/>
              <a:defRPr/>
            </a:pPr>
            <a:r>
              <a:rPr lang="en-US" altLang="zh-CN" sz="2000" b="1" baseline="0" dirty="0">
                <a:latin typeface="Times New Roman" panose="02020603050405020304" pitchFamily="18" charset="0"/>
                <a:ea typeface="楷体-简" panose="02010600040101010101" pitchFamily="2" charset="-122"/>
              </a:rPr>
              <a:t>       </a:t>
            </a:r>
            <a:r>
              <a:rPr lang="en-US" altLang="zh-CN" sz="2000" b="1" baseline="0" dirty="0" err="1">
                <a:latin typeface="Times New Roman" panose="02020603050405020304" pitchFamily="18" charset="0"/>
                <a:ea typeface="楷体-简" panose="02010600040101010101" pitchFamily="2" charset="-122"/>
              </a:rPr>
              <a:t>System.out.println</a:t>
            </a:r>
            <a:r>
              <a:rPr lang="en-US" altLang="zh-CN" sz="2000" b="1" baseline="0" dirty="0">
                <a:latin typeface="Times New Roman" panose="02020603050405020304" pitchFamily="18" charset="0"/>
                <a:ea typeface="楷体-简" panose="02010600040101010101" pitchFamily="2" charset="-122"/>
              </a:rPr>
              <a:t>("---after clone---");</a:t>
            </a:r>
          </a:p>
          <a:p>
            <a:pPr eaLnBrk="1" hangingPunct="1">
              <a:lnSpc>
                <a:spcPct val="80000"/>
              </a:lnSpc>
              <a:buFontTx/>
              <a:buNone/>
              <a:defRPr/>
            </a:pPr>
            <a:r>
              <a:rPr lang="en-US" altLang="zh-CN" sz="2000" b="1" baseline="0" dirty="0">
                <a:latin typeface="Times New Roman" panose="02020603050405020304" pitchFamily="18" charset="0"/>
                <a:ea typeface="楷体-简" panose="02010600040101010101" pitchFamily="2" charset="-122"/>
              </a:rPr>
              <a:t>       </a:t>
            </a:r>
            <a:r>
              <a:rPr lang="en-US" altLang="zh-CN" sz="2000" b="1" baseline="0" dirty="0" err="1">
                <a:latin typeface="Times New Roman" panose="02020603050405020304" pitchFamily="18" charset="0"/>
                <a:ea typeface="楷体-简" panose="02010600040101010101" pitchFamily="2" charset="-122"/>
              </a:rPr>
              <a:t>System.out.println</a:t>
            </a:r>
            <a:r>
              <a:rPr lang="en-US" altLang="zh-CN" sz="2000" b="1" baseline="0" dirty="0">
                <a:latin typeface="Times New Roman" panose="02020603050405020304" pitchFamily="18" charset="0"/>
                <a:ea typeface="楷体-简" panose="02010600040101010101" pitchFamily="2" charset="-122"/>
              </a:rPr>
              <a:t>("</a:t>
            </a:r>
            <a:r>
              <a:rPr lang="zh-CN" altLang="en-US" sz="2000" b="1" baseline="0" dirty="0">
                <a:latin typeface="Times New Roman" panose="02020603050405020304" pitchFamily="18" charset="0"/>
                <a:ea typeface="楷体-简" panose="02010600040101010101" pitchFamily="2" charset="-122"/>
              </a:rPr>
              <a:t>数组</a:t>
            </a:r>
            <a:r>
              <a:rPr lang="en-US" altLang="zh-CN" sz="2000" b="1" baseline="0" dirty="0">
                <a:latin typeface="Times New Roman" panose="02020603050405020304" pitchFamily="18" charset="0"/>
                <a:ea typeface="楷体-简" panose="02010600040101010101" pitchFamily="2" charset="-122"/>
              </a:rPr>
              <a:t>b</a:t>
            </a:r>
            <a:r>
              <a:rPr lang="zh-CN" altLang="en-US" sz="2000" b="1" baseline="0" dirty="0">
                <a:latin typeface="Times New Roman" panose="02020603050405020304" pitchFamily="18" charset="0"/>
                <a:ea typeface="楷体-简" panose="02010600040101010101" pitchFamily="2" charset="-122"/>
              </a:rPr>
              <a:t>的引用是</a:t>
            </a:r>
            <a:r>
              <a:rPr lang="en-US" altLang="zh-CN" sz="2000" b="1" baseline="0" dirty="0">
                <a:latin typeface="Times New Roman" panose="02020603050405020304" pitchFamily="18" charset="0"/>
                <a:ea typeface="楷体-简" panose="02010600040101010101" pitchFamily="2" charset="-122"/>
              </a:rPr>
              <a:t>:"+b+'\n');</a:t>
            </a:r>
          </a:p>
          <a:p>
            <a:pPr eaLnBrk="1" hangingPunct="1">
              <a:lnSpc>
                <a:spcPct val="80000"/>
              </a:lnSpc>
              <a:buFontTx/>
              <a:buNone/>
              <a:defRPr/>
            </a:pPr>
            <a:r>
              <a:rPr lang="en-US" altLang="zh-CN" sz="2000" b="1" baseline="0" dirty="0">
                <a:latin typeface="Times New Roman" panose="02020603050405020304" pitchFamily="18" charset="0"/>
                <a:ea typeface="楷体-简" panose="02010600040101010101" pitchFamily="2" charset="-122"/>
              </a:rPr>
              <a:t>   </a:t>
            </a:r>
          </a:p>
          <a:p>
            <a:pPr eaLnBrk="1" hangingPunct="1">
              <a:lnSpc>
                <a:spcPct val="80000"/>
              </a:lnSpc>
              <a:buFontTx/>
              <a:buNone/>
              <a:defRPr/>
            </a:pPr>
            <a:r>
              <a:rPr lang="en-US" altLang="zh-CN" sz="2000" b="1" baseline="0" dirty="0">
                <a:latin typeface="Times New Roman" panose="02020603050405020304" pitchFamily="18" charset="0"/>
                <a:ea typeface="楷体-简" panose="02010600040101010101" pitchFamily="2" charset="-122"/>
              </a:rPr>
              <a:t>       </a:t>
            </a:r>
            <a:r>
              <a:rPr lang="en-US" altLang="zh-CN" sz="2000" b="1" baseline="0" dirty="0" err="1">
                <a:latin typeface="Times New Roman" panose="02020603050405020304" pitchFamily="18" charset="0"/>
                <a:ea typeface="楷体-简" panose="02010600040101010101" pitchFamily="2" charset="-122"/>
              </a:rPr>
              <a:t>System.out.println</a:t>
            </a:r>
            <a:r>
              <a:rPr lang="en-US" altLang="zh-CN" sz="2000" b="1" baseline="0" dirty="0">
                <a:latin typeface="Times New Roman" panose="02020603050405020304" pitchFamily="18" charset="0"/>
                <a:ea typeface="楷体-简" panose="02010600040101010101" pitchFamily="2" charset="-122"/>
              </a:rPr>
              <a:t>("</a:t>
            </a:r>
            <a:r>
              <a:rPr lang="zh-CN" altLang="en-US" sz="2000" b="1" baseline="0" dirty="0">
                <a:latin typeface="Times New Roman" panose="02020603050405020304" pitchFamily="18" charset="0"/>
                <a:ea typeface="楷体-简" panose="02010600040101010101" pitchFamily="2" charset="-122"/>
              </a:rPr>
              <a:t>数组</a:t>
            </a:r>
            <a:r>
              <a:rPr lang="en-US" altLang="zh-CN" sz="2000" b="1" baseline="0" dirty="0" err="1">
                <a:latin typeface="Times New Roman" panose="02020603050405020304" pitchFamily="18" charset="0"/>
                <a:ea typeface="楷体-简" panose="02010600040101010101" pitchFamily="2" charset="-122"/>
              </a:rPr>
              <a:t>a,b</a:t>
            </a:r>
            <a:r>
              <a:rPr lang="zh-CN" altLang="en-US" sz="2000" b="1" baseline="0" dirty="0">
                <a:latin typeface="Times New Roman" panose="02020603050405020304" pitchFamily="18" charset="0"/>
                <a:ea typeface="楷体-简" panose="02010600040101010101" pitchFamily="2" charset="-122"/>
              </a:rPr>
              <a:t>的值是</a:t>
            </a:r>
            <a:r>
              <a:rPr lang="en-US" altLang="zh-CN" sz="2000" b="1" baseline="0" dirty="0">
                <a:latin typeface="Times New Roman" panose="02020603050405020304" pitchFamily="18" charset="0"/>
                <a:ea typeface="楷体-简" panose="02010600040101010101" pitchFamily="2" charset="-122"/>
              </a:rPr>
              <a:t>:");</a:t>
            </a:r>
          </a:p>
          <a:p>
            <a:pPr eaLnBrk="1" hangingPunct="1">
              <a:lnSpc>
                <a:spcPct val="80000"/>
              </a:lnSpc>
              <a:buFontTx/>
              <a:buNone/>
              <a:defRPr/>
            </a:pPr>
            <a:r>
              <a:rPr lang="en-US" altLang="zh-CN" sz="2000" b="1" baseline="0" dirty="0">
                <a:latin typeface="Times New Roman" panose="02020603050405020304" pitchFamily="18" charset="0"/>
                <a:ea typeface="楷体-简" panose="02010600040101010101" pitchFamily="2" charset="-122"/>
              </a:rPr>
              <a:t>       </a:t>
            </a:r>
            <a:r>
              <a:rPr lang="en-US" altLang="zh-CN" sz="2000" b="1" baseline="0" dirty="0" err="1">
                <a:latin typeface="Times New Roman" panose="02020603050405020304" pitchFamily="18" charset="0"/>
                <a:ea typeface="楷体-简" panose="02010600040101010101" pitchFamily="2" charset="-122"/>
              </a:rPr>
              <a:t>System.out.printf</a:t>
            </a:r>
            <a:r>
              <a:rPr lang="en-US" altLang="zh-CN" sz="2000" b="1" baseline="0" dirty="0">
                <a:latin typeface="Times New Roman" panose="02020603050405020304" pitchFamily="18" charset="0"/>
                <a:ea typeface="楷体-简" panose="02010600040101010101" pitchFamily="2" charset="-122"/>
              </a:rPr>
              <a:t>("a[0]=%-5d a[1]=%-5d a[2]=%-5d \</a:t>
            </a:r>
            <a:r>
              <a:rPr lang="en-US" altLang="zh-CN" sz="2000" b="1" baseline="0" dirty="0" err="1">
                <a:latin typeface="Times New Roman" panose="02020603050405020304" pitchFamily="18" charset="0"/>
                <a:ea typeface="楷体-简" panose="02010600040101010101" pitchFamily="2" charset="-122"/>
              </a:rPr>
              <a:t>n",a</a:t>
            </a:r>
            <a:r>
              <a:rPr lang="en-US" altLang="zh-CN" sz="2000" b="1" baseline="0" dirty="0">
                <a:latin typeface="Times New Roman" panose="02020603050405020304" pitchFamily="18" charset="0"/>
                <a:ea typeface="楷体-简" panose="02010600040101010101" pitchFamily="2" charset="-122"/>
              </a:rPr>
              <a:t>[0],a[1],a[2]);</a:t>
            </a:r>
          </a:p>
          <a:p>
            <a:pPr eaLnBrk="1" hangingPunct="1">
              <a:lnSpc>
                <a:spcPct val="80000"/>
              </a:lnSpc>
              <a:buFontTx/>
              <a:buNone/>
              <a:defRPr/>
            </a:pPr>
            <a:r>
              <a:rPr lang="en-US" altLang="zh-CN" sz="2000" b="1" baseline="0" dirty="0">
                <a:latin typeface="Times New Roman" panose="02020603050405020304" pitchFamily="18" charset="0"/>
                <a:ea typeface="楷体-简" panose="02010600040101010101" pitchFamily="2" charset="-122"/>
              </a:rPr>
              <a:t>       </a:t>
            </a:r>
            <a:r>
              <a:rPr lang="en-US" altLang="zh-CN" sz="2000" b="1" baseline="0" dirty="0" err="1">
                <a:latin typeface="Times New Roman" panose="02020603050405020304" pitchFamily="18" charset="0"/>
                <a:ea typeface="楷体-简" panose="02010600040101010101" pitchFamily="2" charset="-122"/>
              </a:rPr>
              <a:t>System.out.printf</a:t>
            </a:r>
            <a:r>
              <a:rPr lang="en-US" altLang="zh-CN" sz="2000" b="1" baseline="0" dirty="0">
                <a:latin typeface="Times New Roman" panose="02020603050405020304" pitchFamily="18" charset="0"/>
                <a:ea typeface="楷体-简" panose="02010600040101010101" pitchFamily="2" charset="-122"/>
              </a:rPr>
              <a:t>("b[0]=%-5d b[1]=%-5d b[2]=%-5d \n", b[0], b[1], b[2]);</a:t>
            </a:r>
          </a:p>
          <a:p>
            <a:pPr eaLnBrk="1" hangingPunct="1">
              <a:lnSpc>
                <a:spcPct val="80000"/>
              </a:lnSpc>
              <a:buFontTx/>
              <a:buNone/>
              <a:defRPr/>
            </a:pPr>
            <a:endParaRPr lang="en-US" altLang="zh-CN" sz="2000" b="1" baseline="0" dirty="0">
              <a:latin typeface="Times New Roman" panose="02020603050405020304" pitchFamily="18" charset="0"/>
              <a:ea typeface="楷体-简" panose="02010600040101010101" pitchFamily="2" charset="-122"/>
            </a:endParaRPr>
          </a:p>
          <a:p>
            <a:pPr eaLnBrk="1" hangingPunct="1">
              <a:lnSpc>
                <a:spcPct val="80000"/>
              </a:lnSpc>
              <a:buFontTx/>
              <a:buNone/>
              <a:defRPr/>
            </a:pPr>
            <a:r>
              <a:rPr lang="en-US" altLang="zh-CN" sz="2000" b="1" baseline="0" dirty="0">
                <a:latin typeface="Times New Roman" panose="02020603050405020304" pitchFamily="18" charset="0"/>
                <a:ea typeface="楷体-简" panose="02010600040101010101" pitchFamily="2" charset="-122"/>
              </a:rPr>
              <a:t>       b[0]=888;</a:t>
            </a:r>
          </a:p>
          <a:p>
            <a:pPr eaLnBrk="1" hangingPunct="1">
              <a:lnSpc>
                <a:spcPct val="80000"/>
              </a:lnSpc>
              <a:buFontTx/>
              <a:buNone/>
              <a:defRPr/>
            </a:pPr>
            <a:r>
              <a:rPr lang="en-US" altLang="zh-CN" sz="2000" b="1" baseline="0" dirty="0">
                <a:latin typeface="Times New Roman" panose="02020603050405020304" pitchFamily="18" charset="0"/>
                <a:ea typeface="楷体-简" panose="02010600040101010101" pitchFamily="2" charset="-122"/>
              </a:rPr>
              <a:t>       </a:t>
            </a:r>
            <a:r>
              <a:rPr lang="en-US" altLang="zh-CN" sz="2000" b="1" baseline="0" dirty="0" err="1">
                <a:latin typeface="Times New Roman" panose="02020603050405020304" pitchFamily="18" charset="0"/>
                <a:ea typeface="楷体-简" panose="02010600040101010101" pitchFamily="2" charset="-122"/>
              </a:rPr>
              <a:t>System.out.println</a:t>
            </a:r>
            <a:r>
              <a:rPr lang="en-US" altLang="zh-CN" sz="2000" b="1" baseline="0" dirty="0">
                <a:latin typeface="Times New Roman" panose="02020603050405020304" pitchFamily="18" charset="0"/>
                <a:ea typeface="楷体-简" panose="02010600040101010101" pitchFamily="2" charset="-122"/>
              </a:rPr>
              <a:t>("\n---after change b[0]---");</a:t>
            </a:r>
          </a:p>
          <a:p>
            <a:pPr eaLnBrk="1" hangingPunct="1">
              <a:lnSpc>
                <a:spcPct val="80000"/>
              </a:lnSpc>
              <a:buFontTx/>
              <a:buNone/>
              <a:defRPr/>
            </a:pPr>
            <a:r>
              <a:rPr lang="en-US" altLang="zh-CN" sz="2000" b="1" baseline="0" dirty="0">
                <a:latin typeface="Times New Roman" panose="02020603050405020304" pitchFamily="18" charset="0"/>
                <a:ea typeface="楷体-简" panose="02010600040101010101" pitchFamily="2" charset="-122"/>
              </a:rPr>
              <a:t>       </a:t>
            </a:r>
            <a:r>
              <a:rPr lang="en-US" altLang="zh-CN" sz="2000" b="1" baseline="0" dirty="0" err="1">
                <a:latin typeface="Times New Roman" panose="02020603050405020304" pitchFamily="18" charset="0"/>
                <a:ea typeface="楷体-简" panose="02010600040101010101" pitchFamily="2" charset="-122"/>
              </a:rPr>
              <a:t>System.out.printf</a:t>
            </a:r>
            <a:r>
              <a:rPr lang="en-US" altLang="zh-CN" sz="2000" b="1" baseline="0" dirty="0">
                <a:latin typeface="Times New Roman" panose="02020603050405020304" pitchFamily="18" charset="0"/>
                <a:ea typeface="楷体-简" panose="02010600040101010101" pitchFamily="2" charset="-122"/>
              </a:rPr>
              <a:t>("a[0]=%-5d a[1]=%-5d a[2]=%-5d \n", a[0], a[1], a[2]);</a:t>
            </a:r>
          </a:p>
          <a:p>
            <a:pPr eaLnBrk="1" hangingPunct="1">
              <a:lnSpc>
                <a:spcPct val="80000"/>
              </a:lnSpc>
              <a:buFontTx/>
              <a:buNone/>
              <a:defRPr/>
            </a:pPr>
            <a:r>
              <a:rPr lang="en-US" altLang="zh-CN" sz="2000" b="1" baseline="0" dirty="0">
                <a:latin typeface="Times New Roman" panose="02020603050405020304" pitchFamily="18" charset="0"/>
                <a:ea typeface="楷体-简" panose="02010600040101010101" pitchFamily="2" charset="-122"/>
              </a:rPr>
              <a:t>       </a:t>
            </a:r>
            <a:r>
              <a:rPr lang="en-US" altLang="zh-CN" sz="2000" b="1" baseline="0" dirty="0" err="1">
                <a:latin typeface="Times New Roman" panose="02020603050405020304" pitchFamily="18" charset="0"/>
                <a:ea typeface="楷体-简" panose="02010600040101010101" pitchFamily="2" charset="-122"/>
              </a:rPr>
              <a:t>System.out.printf</a:t>
            </a:r>
            <a:r>
              <a:rPr lang="en-US" altLang="zh-CN" sz="2000" b="1" baseline="0" dirty="0">
                <a:latin typeface="Times New Roman" panose="02020603050405020304" pitchFamily="18" charset="0"/>
                <a:ea typeface="楷体-简" panose="02010600040101010101" pitchFamily="2" charset="-122"/>
              </a:rPr>
              <a:t>("b[0]=%-5d b[1]=%-5d b[2]=%-5d\n", b[0], b[1], b[2]);</a:t>
            </a:r>
          </a:p>
          <a:p>
            <a:pPr eaLnBrk="1" hangingPunct="1">
              <a:lnSpc>
                <a:spcPct val="80000"/>
              </a:lnSpc>
              <a:buFontTx/>
              <a:buNone/>
              <a:defRPr/>
            </a:pPr>
            <a:r>
              <a:rPr lang="en-US" altLang="zh-CN" sz="2000" b="1" baseline="0" dirty="0">
                <a:latin typeface="Times New Roman" panose="02020603050405020304" pitchFamily="18" charset="0"/>
                <a:ea typeface="楷体-简" panose="02010600040101010101" pitchFamily="2" charset="-122"/>
              </a:rPr>
              <a:t>    }</a:t>
            </a:r>
          </a:p>
          <a:p>
            <a:pPr eaLnBrk="1" hangingPunct="1">
              <a:lnSpc>
                <a:spcPct val="80000"/>
              </a:lnSpc>
              <a:buFontTx/>
              <a:buNone/>
              <a:defRPr/>
            </a:pPr>
            <a:r>
              <a:rPr lang="en-US" altLang="zh-CN" sz="2000" b="1" baseline="0" dirty="0">
                <a:latin typeface="Times New Roman" panose="02020603050405020304" pitchFamily="18" charset="0"/>
                <a:ea typeface="楷体-简" panose="02010600040101010101" pitchFamily="2" charset="-122"/>
              </a:rPr>
              <a:t>} </a:t>
            </a:r>
          </a:p>
        </p:txBody>
      </p:sp>
      <p:sp>
        <p:nvSpPr>
          <p:cNvPr id="703492" name="Text Box 4">
            <a:extLst>
              <a:ext uri="{FF2B5EF4-FFF2-40B4-BE49-F238E27FC236}">
                <a16:creationId xmlns:a16="http://schemas.microsoft.com/office/drawing/2014/main" id="{108BB2D2-2211-4BA4-AEF6-B33870FA5BB2}"/>
              </a:ext>
            </a:extLst>
          </p:cNvPr>
          <p:cNvSpPr txBox="1">
            <a:spLocks noChangeArrowheads="1"/>
          </p:cNvSpPr>
          <p:nvPr/>
        </p:nvSpPr>
        <p:spPr bwMode="auto">
          <a:xfrm>
            <a:off x="4894263" y="1955800"/>
            <a:ext cx="4249737" cy="4902200"/>
          </a:xfrm>
          <a:prstGeom prst="rect">
            <a:avLst/>
          </a:prstGeom>
          <a:solidFill>
            <a:schemeClr val="tx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100">
                <a:solidFill>
                  <a:schemeClr val="bg1"/>
                </a:solidFill>
                <a:latin typeface="Lucida Console" panose="020B0609040504020204" pitchFamily="49" charset="0"/>
              </a:rPr>
              <a:t>数组</a:t>
            </a:r>
            <a:r>
              <a:rPr lang="en-US" altLang="zh-CN" sz="2100">
                <a:solidFill>
                  <a:schemeClr val="bg1"/>
                </a:solidFill>
                <a:latin typeface="Lucida Console" panose="020B0609040504020204" pitchFamily="49" charset="0"/>
              </a:rPr>
              <a:t>a</a:t>
            </a:r>
            <a:r>
              <a:rPr lang="zh-CN" altLang="en-US" sz="2100">
                <a:solidFill>
                  <a:schemeClr val="bg1"/>
                </a:solidFill>
                <a:latin typeface="Lucida Console" panose="020B0609040504020204" pitchFamily="49" charset="0"/>
              </a:rPr>
              <a:t>的引用是</a:t>
            </a:r>
            <a:r>
              <a:rPr lang="en-US" altLang="zh-CN" sz="2100">
                <a:solidFill>
                  <a:schemeClr val="bg1"/>
                </a:solidFill>
                <a:latin typeface="Lucida Console" panose="020B0609040504020204" pitchFamily="49" charset="0"/>
              </a:rPr>
              <a:t>:[I@de6ced</a:t>
            </a:r>
          </a:p>
          <a:p>
            <a:pPr eaLnBrk="1" hangingPunct="1">
              <a:spcBef>
                <a:spcPct val="0"/>
              </a:spcBef>
              <a:buFontTx/>
              <a:buNone/>
            </a:pPr>
            <a:r>
              <a:rPr lang="en-US" altLang="zh-CN" sz="2100">
                <a:solidFill>
                  <a:schemeClr val="bg1"/>
                </a:solidFill>
                <a:latin typeface="Lucida Console" panose="020B0609040504020204" pitchFamily="49" charset="0"/>
              </a:rPr>
              <a:t>---after clone---</a:t>
            </a:r>
          </a:p>
          <a:p>
            <a:pPr eaLnBrk="1" hangingPunct="1">
              <a:spcBef>
                <a:spcPct val="0"/>
              </a:spcBef>
              <a:buFontTx/>
              <a:buNone/>
            </a:pPr>
            <a:r>
              <a:rPr lang="zh-CN" altLang="en-US" sz="2100">
                <a:solidFill>
                  <a:schemeClr val="bg1"/>
                </a:solidFill>
                <a:latin typeface="Lucida Console" panose="020B0609040504020204" pitchFamily="49" charset="0"/>
              </a:rPr>
              <a:t>数组</a:t>
            </a:r>
            <a:r>
              <a:rPr lang="en-US" altLang="zh-CN" sz="2100">
                <a:solidFill>
                  <a:schemeClr val="bg1"/>
                </a:solidFill>
                <a:latin typeface="Lucida Console" panose="020B0609040504020204" pitchFamily="49" charset="0"/>
              </a:rPr>
              <a:t>b</a:t>
            </a:r>
            <a:r>
              <a:rPr lang="zh-CN" altLang="en-US" sz="2100">
                <a:solidFill>
                  <a:schemeClr val="bg1"/>
                </a:solidFill>
                <a:latin typeface="Lucida Console" panose="020B0609040504020204" pitchFamily="49" charset="0"/>
              </a:rPr>
              <a:t>的引用是</a:t>
            </a:r>
            <a:r>
              <a:rPr lang="en-US" altLang="zh-CN" sz="2100">
                <a:solidFill>
                  <a:schemeClr val="bg1"/>
                </a:solidFill>
                <a:latin typeface="Lucida Console" panose="020B0609040504020204" pitchFamily="49" charset="0"/>
              </a:rPr>
              <a:t>:[I@c17164</a:t>
            </a:r>
          </a:p>
          <a:p>
            <a:pPr eaLnBrk="1" hangingPunct="1">
              <a:spcBef>
                <a:spcPct val="0"/>
              </a:spcBef>
              <a:buFontTx/>
              <a:buNone/>
            </a:pPr>
            <a:endParaRPr lang="en-US" altLang="zh-CN" sz="2100">
              <a:solidFill>
                <a:schemeClr val="bg1"/>
              </a:solidFill>
              <a:latin typeface="Lucida Console" panose="020B0609040504020204" pitchFamily="49" charset="0"/>
            </a:endParaRPr>
          </a:p>
          <a:p>
            <a:pPr eaLnBrk="1" hangingPunct="1">
              <a:spcBef>
                <a:spcPct val="0"/>
              </a:spcBef>
              <a:buFontTx/>
              <a:buNone/>
            </a:pPr>
            <a:r>
              <a:rPr lang="zh-CN" altLang="en-US" sz="2100">
                <a:solidFill>
                  <a:schemeClr val="bg1"/>
                </a:solidFill>
                <a:latin typeface="Lucida Console" panose="020B0609040504020204" pitchFamily="49" charset="0"/>
              </a:rPr>
              <a:t>数组</a:t>
            </a:r>
            <a:r>
              <a:rPr lang="en-US" altLang="zh-CN" sz="2100">
                <a:solidFill>
                  <a:schemeClr val="bg1"/>
                </a:solidFill>
                <a:latin typeface="Lucida Console" panose="020B0609040504020204" pitchFamily="49" charset="0"/>
              </a:rPr>
              <a:t>a,b</a:t>
            </a:r>
            <a:r>
              <a:rPr lang="zh-CN" altLang="en-US" sz="2100">
                <a:solidFill>
                  <a:schemeClr val="bg1"/>
                </a:solidFill>
                <a:latin typeface="Lucida Console" panose="020B0609040504020204" pitchFamily="49" charset="0"/>
              </a:rPr>
              <a:t>的值是</a:t>
            </a:r>
            <a:r>
              <a:rPr lang="en-US" altLang="zh-CN" sz="2100">
                <a:solidFill>
                  <a:schemeClr val="bg1"/>
                </a:solidFill>
                <a:latin typeface="Lucida Console" panose="020B0609040504020204" pitchFamily="49" charset="0"/>
              </a:rPr>
              <a:t>:</a:t>
            </a:r>
          </a:p>
          <a:p>
            <a:pPr eaLnBrk="1" hangingPunct="1">
              <a:spcBef>
                <a:spcPct val="0"/>
              </a:spcBef>
              <a:buFontTx/>
              <a:buNone/>
            </a:pPr>
            <a:r>
              <a:rPr lang="en-US" altLang="zh-CN" sz="2100">
                <a:solidFill>
                  <a:schemeClr val="bg1"/>
                </a:solidFill>
                <a:latin typeface="Lucida Console" panose="020B0609040504020204" pitchFamily="49" charset="0"/>
              </a:rPr>
              <a:t>a[0]=1    a[1]=2    a[2]=3</a:t>
            </a:r>
          </a:p>
          <a:p>
            <a:pPr eaLnBrk="1" hangingPunct="1">
              <a:spcBef>
                <a:spcPct val="0"/>
              </a:spcBef>
              <a:buFontTx/>
              <a:buNone/>
            </a:pPr>
            <a:r>
              <a:rPr lang="en-US" altLang="zh-CN" sz="2100">
                <a:solidFill>
                  <a:schemeClr val="bg1"/>
                </a:solidFill>
                <a:latin typeface="Lucida Console" panose="020B0609040504020204" pitchFamily="49" charset="0"/>
              </a:rPr>
              <a:t>b[0]=1    b[1]=2    b[2]=3</a:t>
            </a:r>
          </a:p>
          <a:p>
            <a:pPr eaLnBrk="1" hangingPunct="1">
              <a:spcBef>
                <a:spcPct val="0"/>
              </a:spcBef>
              <a:buFontTx/>
              <a:buNone/>
            </a:pPr>
            <a:endParaRPr lang="en-US" altLang="zh-CN" sz="2100">
              <a:solidFill>
                <a:schemeClr val="bg1"/>
              </a:solidFill>
              <a:latin typeface="Lucida Console" panose="020B0609040504020204" pitchFamily="49" charset="0"/>
            </a:endParaRPr>
          </a:p>
          <a:p>
            <a:pPr eaLnBrk="1" hangingPunct="1">
              <a:spcBef>
                <a:spcPct val="0"/>
              </a:spcBef>
              <a:buFontTx/>
              <a:buNone/>
            </a:pPr>
            <a:r>
              <a:rPr lang="en-US" altLang="zh-CN" sz="2100">
                <a:solidFill>
                  <a:schemeClr val="bg1"/>
                </a:solidFill>
                <a:latin typeface="Lucida Console" panose="020B0609040504020204" pitchFamily="49" charset="0"/>
              </a:rPr>
              <a:t>---after change b[0]---</a:t>
            </a:r>
          </a:p>
          <a:p>
            <a:pPr eaLnBrk="1" hangingPunct="1">
              <a:spcBef>
                <a:spcPct val="0"/>
              </a:spcBef>
              <a:buFontTx/>
              <a:buNone/>
            </a:pPr>
            <a:r>
              <a:rPr lang="en-US" altLang="zh-CN" sz="2100">
                <a:solidFill>
                  <a:schemeClr val="bg1"/>
                </a:solidFill>
                <a:latin typeface="Lucida Console" panose="020B0609040504020204" pitchFamily="49" charset="0"/>
              </a:rPr>
              <a:t>a[0]=1    a[1]=2    a[2]=3</a:t>
            </a:r>
          </a:p>
          <a:p>
            <a:pPr eaLnBrk="1" hangingPunct="1">
              <a:spcBef>
                <a:spcPct val="0"/>
              </a:spcBef>
              <a:buFontTx/>
              <a:buNone/>
            </a:pPr>
            <a:r>
              <a:rPr lang="en-US" altLang="zh-CN" sz="2100">
                <a:solidFill>
                  <a:schemeClr val="bg1"/>
                </a:solidFill>
                <a:latin typeface="Lucida Console" panose="020B0609040504020204" pitchFamily="49" charset="0"/>
              </a:rPr>
              <a:t>b[0]=888  b[1]=2    b[2]=3</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03492"/>
                                        </p:tgtEl>
                                        <p:attrNameLst>
                                          <p:attrName>style.visibility</p:attrName>
                                        </p:attrNameLst>
                                      </p:cBhvr>
                                      <p:to>
                                        <p:strVal val="visible"/>
                                      </p:to>
                                    </p:set>
                                    <p:anim calcmode="lin" valueType="num">
                                      <p:cBhvr additive="base">
                                        <p:cTn id="7" dur="500" fill="hold"/>
                                        <p:tgtEl>
                                          <p:spTgt spid="703492"/>
                                        </p:tgtEl>
                                        <p:attrNameLst>
                                          <p:attrName>ppt_x</p:attrName>
                                        </p:attrNameLst>
                                      </p:cBhvr>
                                      <p:tavLst>
                                        <p:tav tm="0">
                                          <p:val>
                                            <p:strVal val="#ppt_x"/>
                                          </p:val>
                                        </p:tav>
                                        <p:tav tm="100000">
                                          <p:val>
                                            <p:strVal val="#ppt_x"/>
                                          </p:val>
                                        </p:tav>
                                      </p:tavLst>
                                    </p:anim>
                                    <p:anim calcmode="lin" valueType="num">
                                      <p:cBhvr additive="base">
                                        <p:cTn id="8" dur="500" fill="hold"/>
                                        <p:tgtEl>
                                          <p:spTgt spid="70349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3492"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a:extLst>
              <a:ext uri="{FF2B5EF4-FFF2-40B4-BE49-F238E27FC236}">
                <a16:creationId xmlns:a16="http://schemas.microsoft.com/office/drawing/2014/main" id="{816B4E00-AE75-4987-8216-442E05AA956A}"/>
              </a:ext>
            </a:extLst>
          </p:cNvPr>
          <p:cNvSpPr>
            <a:spLocks noGrp="1" noChangeArrowheads="1"/>
          </p:cNvSpPr>
          <p:nvPr>
            <p:ph type="title"/>
          </p:nvPr>
        </p:nvSpPr>
        <p:spPr>
          <a:xfrm>
            <a:off x="611188" y="0"/>
            <a:ext cx="8080375" cy="1143000"/>
          </a:xfrm>
        </p:spPr>
        <p:txBody>
          <a:bodyPr/>
          <a:lstStyle/>
          <a:p>
            <a:pPr eaLnBrk="1" hangingPunct="1"/>
            <a:r>
              <a:rPr lang="zh-CN" altLang="en-US" sz="3600" baseline="0">
                <a:solidFill>
                  <a:srgbClr val="FF0066"/>
                </a:solidFill>
                <a:latin typeface="Times New Roman" panose="02020603050405020304" pitchFamily="18" charset="0"/>
                <a:ea typeface="楷体-简" panose="02010600040101010101" pitchFamily="2" charset="-122"/>
              </a:rPr>
              <a:t>多维数组</a:t>
            </a:r>
            <a:r>
              <a:rPr lang="zh-CN" altLang="en-US" baseline="0">
                <a:latin typeface="Times New Roman" panose="02020603050405020304" pitchFamily="18" charset="0"/>
                <a:ea typeface="楷体-简" panose="02010600040101010101" pitchFamily="2" charset="-122"/>
              </a:rPr>
              <a:t> </a:t>
            </a:r>
          </a:p>
        </p:txBody>
      </p:sp>
      <p:sp>
        <p:nvSpPr>
          <p:cNvPr id="105475" name="Rectangle 3">
            <a:extLst>
              <a:ext uri="{FF2B5EF4-FFF2-40B4-BE49-F238E27FC236}">
                <a16:creationId xmlns:a16="http://schemas.microsoft.com/office/drawing/2014/main" id="{91484398-D0ED-4B11-94AD-A40BB174B0D5}"/>
              </a:ext>
            </a:extLst>
          </p:cNvPr>
          <p:cNvSpPr>
            <a:spLocks noGrp="1" noChangeArrowheads="1"/>
          </p:cNvSpPr>
          <p:nvPr>
            <p:ph type="body" sz="half" idx="1"/>
          </p:nvPr>
        </p:nvSpPr>
        <p:spPr>
          <a:xfrm>
            <a:off x="179512" y="1268414"/>
            <a:ext cx="4249613" cy="5445868"/>
          </a:xfrm>
        </p:spPr>
        <p:txBody>
          <a:bodyPr/>
          <a:lstStyle/>
          <a:p>
            <a:pPr eaLnBrk="1" hangingPunct="1"/>
            <a:r>
              <a:rPr lang="zh-CN" altLang="en-US" sz="2400" b="1" baseline="0">
                <a:latin typeface="Times New Roman" panose="02020603050405020304" pitchFamily="18" charset="0"/>
                <a:ea typeface="楷体-简" panose="02010600040101010101" pitchFamily="2" charset="-122"/>
              </a:rPr>
              <a:t>如何理解二维数组，类似我们的棋盘。</a:t>
            </a:r>
          </a:p>
          <a:p>
            <a:pPr eaLnBrk="1" hangingPunct="1">
              <a:buFontTx/>
              <a:buNone/>
            </a:pPr>
            <a:endParaRPr lang="zh-CN" altLang="en-US" sz="1800" b="1" baseline="0">
              <a:latin typeface="Times New Roman" panose="02020603050405020304" pitchFamily="18" charset="0"/>
              <a:ea typeface="楷体-简" panose="02010600040101010101" pitchFamily="2" charset="-122"/>
            </a:endParaRPr>
          </a:p>
          <a:p>
            <a:pPr eaLnBrk="1" hangingPunct="1"/>
            <a:r>
              <a:rPr lang="en-US" altLang="zh-CN" sz="2400" b="1" baseline="0">
                <a:solidFill>
                  <a:srgbClr val="0000CC"/>
                </a:solidFill>
                <a:latin typeface="Times New Roman" panose="02020603050405020304" pitchFamily="18" charset="0"/>
                <a:ea typeface="楷体-简" panose="02010600040101010101" pitchFamily="2" charset="-122"/>
              </a:rPr>
              <a:t>Java</a:t>
            </a:r>
            <a:r>
              <a:rPr lang="zh-CN" altLang="en-US" sz="2400" b="1" baseline="0">
                <a:solidFill>
                  <a:srgbClr val="0000CC"/>
                </a:solidFill>
                <a:latin typeface="Times New Roman" panose="02020603050405020304" pitchFamily="18" charset="0"/>
                <a:ea typeface="楷体-简" panose="02010600040101010101" pitchFamily="2" charset="-122"/>
              </a:rPr>
              <a:t>中并没有真正的多维数组，只有数组的数组， </a:t>
            </a:r>
            <a:r>
              <a:rPr lang="en-US" altLang="zh-CN" sz="2400" b="1" baseline="0">
                <a:solidFill>
                  <a:srgbClr val="0000CC"/>
                </a:solidFill>
                <a:latin typeface="Times New Roman" panose="02020603050405020304" pitchFamily="18" charset="0"/>
                <a:ea typeface="楷体-简" panose="02010600040101010101" pitchFamily="2" charset="-122"/>
              </a:rPr>
              <a:t>Java</a:t>
            </a:r>
            <a:r>
              <a:rPr lang="zh-CN" altLang="en-US" sz="2400" b="1" baseline="0">
                <a:solidFill>
                  <a:srgbClr val="0000CC"/>
                </a:solidFill>
                <a:latin typeface="Times New Roman" panose="02020603050405020304" pitchFamily="18" charset="0"/>
                <a:ea typeface="楷体-简" panose="02010600040101010101" pitchFamily="2" charset="-122"/>
              </a:rPr>
              <a:t>中多维数组不一定是规则矩阵形式。</a:t>
            </a:r>
          </a:p>
          <a:p>
            <a:pPr eaLnBrk="1" hangingPunct="1">
              <a:buFontTx/>
              <a:buNone/>
            </a:pPr>
            <a:endParaRPr lang="zh-CN" altLang="en-US" sz="1800" b="1" baseline="0">
              <a:latin typeface="Times New Roman" panose="02020603050405020304" pitchFamily="18" charset="0"/>
              <a:ea typeface="楷体-简" panose="02010600040101010101" pitchFamily="2" charset="-122"/>
            </a:endParaRPr>
          </a:p>
          <a:p>
            <a:pPr eaLnBrk="1" hangingPunct="1"/>
            <a:r>
              <a:rPr lang="zh-CN" altLang="en-US" sz="2400" b="1" baseline="0">
                <a:latin typeface="Times New Roman" panose="02020603050405020304" pitchFamily="18" charset="0"/>
                <a:ea typeface="楷体-简" panose="02010600040101010101" pitchFamily="2" charset="-122"/>
              </a:rPr>
              <a:t>定义一个多维数组</a:t>
            </a:r>
          </a:p>
          <a:p>
            <a:pPr eaLnBrk="1" hangingPunct="1">
              <a:buFontTx/>
              <a:buNone/>
            </a:pPr>
            <a:r>
              <a:rPr lang="en-US" altLang="zh-CN" sz="2400" b="1" baseline="0">
                <a:latin typeface="Times New Roman" panose="02020603050405020304" pitchFamily="18" charset="0"/>
                <a:ea typeface="楷体-简" panose="02010600040101010101" pitchFamily="2" charset="-122"/>
              </a:rPr>
              <a:t>int [ ][ ] b;</a:t>
            </a:r>
          </a:p>
          <a:p>
            <a:pPr eaLnBrk="1" hangingPunct="1">
              <a:buFontTx/>
              <a:buNone/>
            </a:pPr>
            <a:r>
              <a:rPr lang="en-US" altLang="zh-CN" sz="2400" b="1" baseline="0">
                <a:latin typeface="Times New Roman" panose="02020603050405020304" pitchFamily="18" charset="0"/>
                <a:ea typeface="楷体-简" panose="02010600040101010101" pitchFamily="2" charset="-122"/>
              </a:rPr>
              <a:t>b=new int[3][ ]; </a:t>
            </a:r>
          </a:p>
          <a:p>
            <a:pPr eaLnBrk="1" hangingPunct="1">
              <a:buFontTx/>
              <a:buNone/>
            </a:pPr>
            <a:r>
              <a:rPr lang="en-US" altLang="zh-CN" sz="2400" b="1" baseline="0">
                <a:latin typeface="Times New Roman" panose="02020603050405020304" pitchFamily="18" charset="0"/>
                <a:ea typeface="楷体-简" panose="02010600040101010101" pitchFamily="2" charset="-122"/>
              </a:rPr>
              <a:t>b[0]=new int[3];</a:t>
            </a:r>
          </a:p>
          <a:p>
            <a:pPr eaLnBrk="1" hangingPunct="1">
              <a:buFontTx/>
              <a:buNone/>
            </a:pPr>
            <a:r>
              <a:rPr lang="en-US" altLang="zh-CN" sz="2400" b="1" baseline="0">
                <a:latin typeface="Times New Roman" panose="02020603050405020304" pitchFamily="18" charset="0"/>
                <a:ea typeface="楷体-简" panose="02010600040101010101" pitchFamily="2" charset="-122"/>
              </a:rPr>
              <a:t>b[1]=new int[2];</a:t>
            </a:r>
          </a:p>
        </p:txBody>
      </p:sp>
      <p:pic>
        <p:nvPicPr>
          <p:cNvPr id="105476" name="Picture 4" descr="ARR[][]1">
            <a:extLst>
              <a:ext uri="{FF2B5EF4-FFF2-40B4-BE49-F238E27FC236}">
                <a16:creationId xmlns:a16="http://schemas.microsoft.com/office/drawing/2014/main" id="{1FAA3907-187E-4568-9967-4C5D48D7A0BA}"/>
              </a:ext>
            </a:extLst>
          </p:cNvPr>
          <p:cNvPicPr>
            <a:picLocks noGrp="1" noChangeAspect="1" noChangeArrowheads="1"/>
          </p:cNvPicPr>
          <p:nvPr>
            <p:ph sz="quarter" idx="2"/>
          </p:nvPr>
        </p:nvPicPr>
        <p:blipFill>
          <a:blip r:embed="rId2">
            <a:extLst>
              <a:ext uri="{28A0092B-C50C-407E-A947-70E740481C1C}">
                <a14:useLocalDpi xmlns:a14="http://schemas.microsoft.com/office/drawing/2010/main" val="0"/>
              </a:ext>
            </a:extLst>
          </a:blip>
          <a:srcRect/>
          <a:stretch>
            <a:fillRect/>
          </a:stretch>
        </p:blipFill>
        <p:spPr>
          <a:xfrm>
            <a:off x="4941887" y="980728"/>
            <a:ext cx="3600450" cy="16176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5477" name="Picture 5" descr="ARR[][]2">
            <a:extLst>
              <a:ext uri="{FF2B5EF4-FFF2-40B4-BE49-F238E27FC236}">
                <a16:creationId xmlns:a16="http://schemas.microsoft.com/office/drawing/2014/main" id="{F6A834D6-8EC4-484B-8880-6AE5F7C59879}"/>
              </a:ext>
            </a:extLst>
          </p:cNvPr>
          <p:cNvPicPr>
            <a:picLocks noGrp="1" noChangeAspect="1" noChangeArrowheads="1"/>
          </p:cNvPicPr>
          <p:nvPr>
            <p:ph sz="quarter" idx="3"/>
          </p:nvPr>
        </p:nvPicPr>
        <p:blipFill>
          <a:blip r:embed="rId3">
            <a:extLst>
              <a:ext uri="{28A0092B-C50C-407E-A947-70E740481C1C}">
                <a14:useLocalDpi xmlns:a14="http://schemas.microsoft.com/office/drawing/2010/main" val="0"/>
              </a:ext>
            </a:extLst>
          </a:blip>
          <a:srcRect/>
          <a:stretch>
            <a:fillRect/>
          </a:stretch>
        </p:blipFill>
        <p:spPr>
          <a:xfrm>
            <a:off x="4879974" y="2755205"/>
            <a:ext cx="3724275" cy="16478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5478" name="Picture 6" descr="ARR[][]">
            <a:extLst>
              <a:ext uri="{FF2B5EF4-FFF2-40B4-BE49-F238E27FC236}">
                <a16:creationId xmlns:a16="http://schemas.microsoft.com/office/drawing/2014/main" id="{D1068C6C-9569-4A36-AE17-ED0BF918668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46621" y="4725144"/>
            <a:ext cx="5795962" cy="198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a:extLst>
              <a:ext uri="{FF2B5EF4-FFF2-40B4-BE49-F238E27FC236}">
                <a16:creationId xmlns:a16="http://schemas.microsoft.com/office/drawing/2014/main" id="{54950EAF-91B3-40D3-AB6B-B99017103948}"/>
              </a:ext>
            </a:extLst>
          </p:cNvPr>
          <p:cNvSpPr>
            <a:spLocks noGrp="1" noChangeArrowheads="1"/>
          </p:cNvSpPr>
          <p:nvPr>
            <p:ph type="title"/>
          </p:nvPr>
        </p:nvSpPr>
        <p:spPr/>
        <p:txBody>
          <a:bodyPr/>
          <a:lstStyle/>
          <a:p>
            <a:pPr eaLnBrk="1" hangingPunct="1"/>
            <a:r>
              <a:rPr lang="zh-CN" altLang="en-US" sz="3600" b="1" baseline="0">
                <a:solidFill>
                  <a:srgbClr val="FF0066"/>
                </a:solidFill>
                <a:latin typeface="Times New Roman" panose="02020603050405020304" pitchFamily="18" charset="0"/>
                <a:ea typeface="楷体-简" panose="02010600040101010101" pitchFamily="2" charset="-122"/>
              </a:rPr>
              <a:t>二维数组</a:t>
            </a:r>
          </a:p>
        </p:txBody>
      </p:sp>
      <p:sp>
        <p:nvSpPr>
          <p:cNvPr id="106499" name="Rectangle 3">
            <a:extLst>
              <a:ext uri="{FF2B5EF4-FFF2-40B4-BE49-F238E27FC236}">
                <a16:creationId xmlns:a16="http://schemas.microsoft.com/office/drawing/2014/main" id="{5C0FC815-220D-409D-9F17-7B701BA0A38B}"/>
              </a:ext>
            </a:extLst>
          </p:cNvPr>
          <p:cNvSpPr>
            <a:spLocks noGrp="1" noChangeArrowheads="1"/>
          </p:cNvSpPr>
          <p:nvPr>
            <p:ph type="body" idx="1"/>
          </p:nvPr>
        </p:nvSpPr>
        <p:spPr>
          <a:xfrm>
            <a:off x="457531" y="1772816"/>
            <a:ext cx="8229600" cy="4525963"/>
          </a:xfrm>
        </p:spPr>
        <p:txBody>
          <a:bodyPr/>
          <a:lstStyle/>
          <a:p>
            <a:pPr eaLnBrk="1" hangingPunct="1">
              <a:lnSpc>
                <a:spcPct val="80000"/>
              </a:lnSpc>
              <a:buFontTx/>
              <a:buNone/>
            </a:pPr>
            <a:r>
              <a:rPr lang="en-US" altLang="zh-CN" sz="2400" b="1" baseline="0">
                <a:solidFill>
                  <a:srgbClr val="FF0066"/>
                </a:solidFill>
                <a:latin typeface="Times New Roman" panose="02020603050405020304" pitchFamily="18" charset="0"/>
                <a:ea typeface="楷体-简" panose="02010600040101010101" pitchFamily="2" charset="-122"/>
              </a:rPr>
              <a:t>1</a:t>
            </a:r>
            <a:r>
              <a:rPr lang="zh-CN" altLang="en-US" sz="2400" b="1" baseline="0">
                <a:solidFill>
                  <a:srgbClr val="FF0066"/>
                </a:solidFill>
                <a:latin typeface="Times New Roman" panose="02020603050405020304" pitchFamily="18" charset="0"/>
                <a:ea typeface="楷体-简" panose="02010600040101010101" pitchFamily="2" charset="-122"/>
              </a:rPr>
              <a:t>．</a:t>
            </a:r>
            <a:r>
              <a:rPr lang="zh-CN" altLang="en-US" sz="2400" b="1" baseline="0">
                <a:latin typeface="Times New Roman" panose="02020603050405020304" pitchFamily="18" charset="0"/>
                <a:ea typeface="楷体-简" panose="02010600040101010101" pitchFamily="2" charset="-122"/>
              </a:rPr>
              <a:t>二维数组的</a:t>
            </a:r>
            <a:r>
              <a:rPr lang="zh-CN" altLang="en-US" sz="2400" b="1" baseline="0">
                <a:solidFill>
                  <a:srgbClr val="C00000"/>
                </a:solidFill>
                <a:latin typeface="Times New Roman" panose="02020603050405020304" pitchFamily="18" charset="0"/>
                <a:ea typeface="楷体-简" panose="02010600040101010101" pitchFamily="2" charset="-122"/>
              </a:rPr>
              <a:t>定义</a:t>
            </a:r>
            <a:br>
              <a:rPr lang="zh-CN" altLang="en-US" sz="2400" baseline="0">
                <a:solidFill>
                  <a:srgbClr val="FF0066"/>
                </a:solidFill>
                <a:latin typeface="Times New Roman" panose="02020603050405020304" pitchFamily="18" charset="0"/>
                <a:ea typeface="楷体-简" panose="02010600040101010101" pitchFamily="2" charset="-122"/>
              </a:rPr>
            </a:br>
            <a:r>
              <a:rPr lang="zh-CN" altLang="en-US" sz="2400" baseline="0">
                <a:solidFill>
                  <a:srgbClr val="FF0066"/>
                </a:solidFill>
                <a:latin typeface="Times New Roman" panose="02020603050405020304" pitchFamily="18" charset="0"/>
                <a:ea typeface="楷体-简" panose="02010600040101010101" pitchFamily="2" charset="-122"/>
              </a:rPr>
              <a:t> </a:t>
            </a:r>
            <a:endParaRPr lang="en-US" altLang="zh-CN" sz="2000" baseline="0">
              <a:solidFill>
                <a:srgbClr val="FF0066"/>
              </a:solidFill>
              <a:latin typeface="Times New Roman" panose="02020603050405020304" pitchFamily="18" charset="0"/>
              <a:ea typeface="楷体-简" panose="02010600040101010101" pitchFamily="2" charset="-122"/>
            </a:endParaRPr>
          </a:p>
          <a:p>
            <a:pPr eaLnBrk="1" hangingPunct="1">
              <a:lnSpc>
                <a:spcPct val="80000"/>
              </a:lnSpc>
              <a:buFontTx/>
              <a:buNone/>
            </a:pPr>
            <a:r>
              <a:rPr lang="en-US" altLang="zh-CN" sz="2400" baseline="0">
                <a:solidFill>
                  <a:srgbClr val="FF0066"/>
                </a:solidFill>
                <a:latin typeface="Times New Roman" panose="02020603050405020304" pitchFamily="18" charset="0"/>
                <a:ea typeface="楷体-简" panose="02010600040101010101" pitchFamily="2" charset="-122"/>
              </a:rPr>
              <a:t>      </a:t>
            </a:r>
            <a:r>
              <a:rPr lang="zh-CN" altLang="en-US" sz="2400" baseline="0">
                <a:latin typeface="Times New Roman" panose="02020603050405020304" pitchFamily="18" charset="0"/>
                <a:ea typeface="楷体-简" panose="02010600040101010101" pitchFamily="2" charset="-122"/>
              </a:rPr>
              <a:t>例子：</a:t>
            </a:r>
            <a:r>
              <a:rPr lang="en-US" altLang="zh-CN" sz="2400" baseline="0">
                <a:latin typeface="Times New Roman" panose="02020603050405020304" pitchFamily="18" charset="0"/>
                <a:ea typeface="楷体-简" panose="02010600040101010101" pitchFamily="2" charset="-122"/>
              </a:rPr>
              <a:t>String arrayName[ ][ ]</a:t>
            </a:r>
            <a:r>
              <a:rPr lang="zh-CN" altLang="en-US" sz="2400" baseline="0">
                <a:latin typeface="Times New Roman" panose="02020603050405020304" pitchFamily="18" charset="0"/>
                <a:ea typeface="楷体-简" panose="02010600040101010101" pitchFamily="2" charset="-122"/>
              </a:rPr>
              <a:t>；</a:t>
            </a:r>
            <a:br>
              <a:rPr lang="zh-CN" altLang="en-US" sz="2400" baseline="0">
                <a:latin typeface="Times New Roman" panose="02020603050405020304" pitchFamily="18" charset="0"/>
                <a:ea typeface="楷体-简" panose="02010600040101010101" pitchFamily="2" charset="-122"/>
              </a:rPr>
            </a:br>
            <a:r>
              <a:rPr lang="zh-CN" altLang="en-US" sz="2400" baseline="0">
                <a:latin typeface="Times New Roman" panose="02020603050405020304" pitchFamily="18" charset="0"/>
                <a:ea typeface="楷体-简" panose="02010600040101010101" pitchFamily="2" charset="-122"/>
              </a:rPr>
              <a:t>　　      </a:t>
            </a:r>
            <a:r>
              <a:rPr lang="en-US" altLang="zh-CN" sz="2400" baseline="0">
                <a:latin typeface="Times New Roman" panose="02020603050405020304" pitchFamily="18" charset="0"/>
                <a:ea typeface="楷体-简" panose="02010600040101010101" pitchFamily="2" charset="-122"/>
              </a:rPr>
              <a:t>String [ ][ ]arrayName;</a:t>
            </a:r>
            <a:br>
              <a:rPr lang="en-US" altLang="zh-CN" sz="2400" baseline="0">
                <a:latin typeface="Times New Roman" panose="02020603050405020304" pitchFamily="18" charset="0"/>
                <a:ea typeface="楷体-简" panose="02010600040101010101" pitchFamily="2" charset="-122"/>
              </a:rPr>
            </a:br>
            <a:endParaRPr lang="en-US" altLang="zh-CN" sz="2400" baseline="0">
              <a:latin typeface="Times New Roman" panose="02020603050405020304" pitchFamily="18" charset="0"/>
              <a:ea typeface="楷体-简" panose="02010600040101010101" pitchFamily="2" charset="-122"/>
            </a:endParaRPr>
          </a:p>
          <a:p>
            <a:pPr eaLnBrk="1" hangingPunct="1">
              <a:lnSpc>
                <a:spcPct val="80000"/>
              </a:lnSpc>
              <a:buFontTx/>
              <a:buNone/>
            </a:pPr>
            <a:r>
              <a:rPr lang="en-US" altLang="zh-CN" sz="2400" b="1" baseline="0">
                <a:solidFill>
                  <a:srgbClr val="FF0066"/>
                </a:solidFill>
                <a:latin typeface="Times New Roman" panose="02020603050405020304" pitchFamily="18" charset="0"/>
                <a:ea typeface="楷体-简" panose="02010600040101010101" pitchFamily="2" charset="-122"/>
              </a:rPr>
              <a:t>2</a:t>
            </a:r>
            <a:r>
              <a:rPr lang="zh-CN" altLang="en-US" sz="2400" b="1" baseline="0">
                <a:solidFill>
                  <a:srgbClr val="FF0066"/>
                </a:solidFill>
                <a:latin typeface="Times New Roman" panose="02020603050405020304" pitchFamily="18" charset="0"/>
                <a:ea typeface="楷体-简" panose="02010600040101010101" pitchFamily="2" charset="-122"/>
              </a:rPr>
              <a:t>．</a:t>
            </a:r>
            <a:r>
              <a:rPr lang="zh-CN" altLang="en-US" sz="2400" b="1" baseline="0">
                <a:latin typeface="Times New Roman" panose="02020603050405020304" pitchFamily="18" charset="0"/>
                <a:ea typeface="楷体-简" panose="02010600040101010101" pitchFamily="2" charset="-122"/>
              </a:rPr>
              <a:t>二维数组的</a:t>
            </a:r>
            <a:r>
              <a:rPr lang="zh-CN" altLang="en-US" sz="2400" b="1" baseline="0">
                <a:solidFill>
                  <a:srgbClr val="C00000"/>
                </a:solidFill>
                <a:latin typeface="Times New Roman" panose="02020603050405020304" pitchFamily="18" charset="0"/>
                <a:ea typeface="楷体-简" panose="02010600040101010101" pitchFamily="2" charset="-122"/>
              </a:rPr>
              <a:t>初始化</a:t>
            </a:r>
            <a:br>
              <a:rPr lang="zh-CN" altLang="en-US" sz="2400" baseline="0">
                <a:solidFill>
                  <a:srgbClr val="FF0066"/>
                </a:solidFill>
                <a:latin typeface="Times New Roman" panose="02020603050405020304" pitchFamily="18" charset="0"/>
                <a:ea typeface="楷体-简" panose="02010600040101010101" pitchFamily="2" charset="-122"/>
              </a:rPr>
            </a:br>
            <a:br>
              <a:rPr lang="zh-CN" altLang="en-US" sz="2400" baseline="0">
                <a:latin typeface="Times New Roman" panose="02020603050405020304" pitchFamily="18" charset="0"/>
                <a:ea typeface="楷体-简" panose="02010600040101010101" pitchFamily="2" charset="-122"/>
              </a:rPr>
            </a:br>
            <a:r>
              <a:rPr lang="zh-CN" altLang="en-US" sz="2400" baseline="0">
                <a:latin typeface="Times New Roman" panose="02020603050405020304" pitchFamily="18" charset="0"/>
                <a:ea typeface="楷体-简" panose="02010600040101010101" pitchFamily="2" charset="-122"/>
              </a:rPr>
              <a:t>　　</a:t>
            </a:r>
            <a:r>
              <a:rPr lang="zh-CN" altLang="en-US" sz="2400" b="1" baseline="0">
                <a:latin typeface="Times New Roman" panose="02020603050405020304" pitchFamily="18" charset="0"/>
                <a:ea typeface="楷体-简" panose="02010600040101010101" pitchFamily="2" charset="-122"/>
              </a:rPr>
              <a:t>◇ </a:t>
            </a:r>
            <a:r>
              <a:rPr lang="zh-CN" altLang="en-US" sz="2400" b="1" baseline="0">
                <a:solidFill>
                  <a:srgbClr val="0000CC"/>
                </a:solidFill>
                <a:latin typeface="Times New Roman" panose="02020603050405020304" pitchFamily="18" charset="0"/>
                <a:ea typeface="楷体-简" panose="02010600040101010101" pitchFamily="2" charset="-122"/>
              </a:rPr>
              <a:t>静态初始化</a:t>
            </a:r>
            <a:br>
              <a:rPr lang="zh-CN" altLang="en-US" sz="2400" baseline="0">
                <a:latin typeface="Times New Roman" panose="02020603050405020304" pitchFamily="18" charset="0"/>
                <a:ea typeface="楷体-简" panose="02010600040101010101" pitchFamily="2" charset="-122"/>
              </a:rPr>
            </a:br>
            <a:r>
              <a:rPr lang="zh-CN" altLang="en-US" sz="2400" baseline="0">
                <a:latin typeface="Times New Roman" panose="02020603050405020304" pitchFamily="18" charset="0"/>
                <a:ea typeface="楷体-简" panose="02010600040101010101" pitchFamily="2" charset="-122"/>
              </a:rPr>
              <a:t>　　</a:t>
            </a:r>
            <a:r>
              <a:rPr lang="en-US" altLang="zh-CN" sz="2400" baseline="0">
                <a:latin typeface="Times New Roman" panose="02020603050405020304" pitchFamily="18" charset="0"/>
                <a:ea typeface="楷体-简" panose="02010600040101010101" pitchFamily="2" charset="-122"/>
              </a:rPr>
              <a:t>int intArray[ ][ ]={{1,2},{2,3},{3,4,5}};</a:t>
            </a:r>
            <a:endParaRPr lang="zh-CN" altLang="en-US" sz="2400" baseline="0">
              <a:latin typeface="Times New Roman" panose="02020603050405020304" pitchFamily="18" charset="0"/>
              <a:ea typeface="楷体-简" panose="02010600040101010101" pitchFamily="2" charset="-122"/>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3">
            <a:extLst>
              <a:ext uri="{FF2B5EF4-FFF2-40B4-BE49-F238E27FC236}">
                <a16:creationId xmlns:a16="http://schemas.microsoft.com/office/drawing/2014/main" id="{F4316C97-B9A7-49EE-9644-BD651FC93346}"/>
              </a:ext>
            </a:extLst>
          </p:cNvPr>
          <p:cNvSpPr>
            <a:spLocks noGrp="1" noChangeArrowheads="1"/>
          </p:cNvSpPr>
          <p:nvPr>
            <p:ph type="body" idx="1"/>
          </p:nvPr>
        </p:nvSpPr>
        <p:spPr>
          <a:xfrm>
            <a:off x="0" y="404664"/>
            <a:ext cx="8893175" cy="6337300"/>
          </a:xfrm>
        </p:spPr>
        <p:txBody>
          <a:bodyPr/>
          <a:lstStyle/>
          <a:p>
            <a:pPr eaLnBrk="1" hangingPunct="1">
              <a:lnSpc>
                <a:spcPct val="80000"/>
              </a:lnSpc>
              <a:buFontTx/>
              <a:buNone/>
            </a:pPr>
            <a:r>
              <a:rPr lang="en-US" altLang="zh-CN" sz="2400" baseline="0">
                <a:latin typeface="Times New Roman" panose="02020603050405020304" pitchFamily="18" charset="0"/>
                <a:ea typeface="楷体-简" panose="02010600040101010101" pitchFamily="2" charset="-122"/>
              </a:rPr>
              <a:t> </a:t>
            </a:r>
            <a:r>
              <a:rPr lang="en-US" altLang="zh-CN" sz="2400" b="1" baseline="0">
                <a:latin typeface="Times New Roman" panose="02020603050405020304" pitchFamily="18" charset="0"/>
                <a:ea typeface="楷体-简" panose="02010600040101010101" pitchFamily="2" charset="-122"/>
              </a:rPr>
              <a:t>	◇ </a:t>
            </a:r>
            <a:r>
              <a:rPr lang="zh-CN" altLang="en-US" sz="2400" b="1" baseline="0">
                <a:solidFill>
                  <a:srgbClr val="0000CC"/>
                </a:solidFill>
                <a:latin typeface="Times New Roman" panose="02020603050405020304" pitchFamily="18" charset="0"/>
                <a:ea typeface="楷体-简" panose="02010600040101010101" pitchFamily="2" charset="-122"/>
              </a:rPr>
              <a:t>动态初始化</a:t>
            </a:r>
            <a:endParaRPr lang="en-US" altLang="zh-CN" sz="2400" b="1" baseline="0">
              <a:solidFill>
                <a:srgbClr val="0000CC"/>
              </a:solidFill>
              <a:latin typeface="Times New Roman" panose="02020603050405020304" pitchFamily="18" charset="0"/>
              <a:ea typeface="楷体-简" panose="02010600040101010101" pitchFamily="2" charset="-122"/>
            </a:endParaRPr>
          </a:p>
          <a:p>
            <a:pPr eaLnBrk="1" hangingPunct="1">
              <a:lnSpc>
                <a:spcPct val="80000"/>
              </a:lnSpc>
              <a:buFontTx/>
              <a:buNone/>
            </a:pPr>
            <a:endParaRPr lang="en-US" altLang="zh-CN" sz="800" b="1" baseline="0">
              <a:latin typeface="Times New Roman" panose="02020603050405020304" pitchFamily="18" charset="0"/>
              <a:ea typeface="楷体-简" panose="02010600040101010101" pitchFamily="2" charset="-122"/>
            </a:endParaRPr>
          </a:p>
          <a:p>
            <a:pPr eaLnBrk="1" hangingPunct="1">
              <a:lnSpc>
                <a:spcPct val="80000"/>
              </a:lnSpc>
              <a:buFontTx/>
              <a:buNone/>
            </a:pPr>
            <a:br>
              <a:rPr lang="zh-CN" altLang="en-US" sz="800" b="1" baseline="0">
                <a:latin typeface="Times New Roman" panose="02020603050405020304" pitchFamily="18" charset="0"/>
                <a:ea typeface="楷体-简" panose="02010600040101010101" pitchFamily="2" charset="-122"/>
              </a:rPr>
            </a:br>
            <a:r>
              <a:rPr lang="zh-CN" altLang="en-US" sz="2400" b="1" baseline="0">
                <a:latin typeface="Times New Roman" panose="02020603050405020304" pitchFamily="18" charset="0"/>
                <a:ea typeface="楷体-简" panose="02010600040101010101" pitchFamily="2" charset="-122"/>
              </a:rPr>
              <a:t>　　</a:t>
            </a:r>
            <a:r>
              <a:rPr lang="en-US" altLang="zh-CN" sz="2400" b="1" baseline="0">
                <a:latin typeface="Times New Roman" panose="02020603050405020304" pitchFamily="18" charset="0"/>
                <a:ea typeface="楷体-简" panose="02010600040101010101" pitchFamily="2" charset="-122"/>
              </a:rPr>
              <a:t>1) </a:t>
            </a:r>
            <a:r>
              <a:rPr lang="zh-CN" altLang="en-US" sz="2400" b="1" baseline="0">
                <a:latin typeface="Times New Roman" panose="02020603050405020304" pitchFamily="18" charset="0"/>
                <a:ea typeface="楷体-简" panose="02010600040101010101" pitchFamily="2" charset="-122"/>
              </a:rPr>
              <a:t>直接为每一维分配空间，</a:t>
            </a:r>
            <a:r>
              <a:rPr lang="zh-CN" altLang="en-US" sz="2400" b="1" baseline="0">
                <a:solidFill>
                  <a:srgbClr val="0000CC"/>
                </a:solidFill>
                <a:latin typeface="Times New Roman" panose="02020603050405020304" pitchFamily="18" charset="0"/>
                <a:ea typeface="楷体-简" panose="02010600040101010101" pitchFamily="2" charset="-122"/>
              </a:rPr>
              <a:t>格式如下：</a:t>
            </a:r>
            <a:br>
              <a:rPr lang="zh-CN" altLang="en-US" sz="2400" b="1" baseline="0">
                <a:latin typeface="Times New Roman" panose="02020603050405020304" pitchFamily="18" charset="0"/>
                <a:ea typeface="楷体-简" panose="02010600040101010101" pitchFamily="2" charset="-122"/>
              </a:rPr>
            </a:br>
            <a:r>
              <a:rPr lang="zh-CN" altLang="en-US" sz="2400" b="1" baseline="0">
                <a:latin typeface="Times New Roman" panose="02020603050405020304" pitchFamily="18" charset="0"/>
                <a:ea typeface="楷体-简" panose="02010600040101010101" pitchFamily="2" charset="-122"/>
              </a:rPr>
              <a:t>　　</a:t>
            </a:r>
            <a:r>
              <a:rPr lang="en-US" altLang="zh-CN" sz="2400" b="1" baseline="0">
                <a:latin typeface="Times New Roman" panose="02020603050405020304" pitchFamily="18" charset="0"/>
                <a:ea typeface="楷体-简" panose="02010600040101010101" pitchFamily="2" charset="-122"/>
              </a:rPr>
              <a:t>arrayName = new type[arrayLength1][arrayLength2];</a:t>
            </a:r>
            <a:br>
              <a:rPr lang="en-US" altLang="zh-CN" sz="2400" b="1" baseline="0">
                <a:latin typeface="Times New Roman" panose="02020603050405020304" pitchFamily="18" charset="0"/>
                <a:ea typeface="楷体-简" panose="02010600040101010101" pitchFamily="2" charset="-122"/>
              </a:rPr>
            </a:br>
            <a:r>
              <a:rPr lang="zh-CN" altLang="en-US" sz="2400" b="1" baseline="0">
                <a:latin typeface="Times New Roman" panose="02020603050405020304" pitchFamily="18" charset="0"/>
                <a:ea typeface="楷体-简" panose="02010600040101010101" pitchFamily="2" charset="-122"/>
              </a:rPr>
              <a:t>　　</a:t>
            </a:r>
            <a:r>
              <a:rPr lang="zh-CN" altLang="en-US" sz="2000" b="1" baseline="0">
                <a:latin typeface="Times New Roman" panose="02020603050405020304" pitchFamily="18" charset="0"/>
                <a:ea typeface="楷体-简" panose="02010600040101010101" pitchFamily="2" charset="-122"/>
              </a:rPr>
              <a:t>例：</a:t>
            </a:r>
            <a:r>
              <a:rPr lang="en-US" altLang="zh-CN" sz="2000" b="1" baseline="0">
                <a:latin typeface="Times New Roman" panose="02020603050405020304" pitchFamily="18" charset="0"/>
                <a:ea typeface="楷体-简" panose="02010600040101010101" pitchFamily="2" charset="-122"/>
              </a:rPr>
              <a:t>int a[ ][ ] = new int[2][3]</a:t>
            </a:r>
            <a:r>
              <a:rPr lang="zh-CN" altLang="en-US" sz="2000" b="1" baseline="0">
                <a:latin typeface="Times New Roman" panose="02020603050405020304" pitchFamily="18" charset="0"/>
                <a:ea typeface="楷体-简" panose="02010600040101010101" pitchFamily="2" charset="-122"/>
              </a:rPr>
              <a:t>；</a:t>
            </a:r>
            <a:br>
              <a:rPr lang="zh-CN" altLang="en-US" sz="2400" b="1" baseline="0">
                <a:latin typeface="Times New Roman" panose="02020603050405020304" pitchFamily="18" charset="0"/>
                <a:ea typeface="楷体-简" panose="02010600040101010101" pitchFamily="2" charset="-122"/>
              </a:rPr>
            </a:br>
            <a:br>
              <a:rPr lang="zh-CN" altLang="en-US" sz="2400" b="1" baseline="0">
                <a:latin typeface="Times New Roman" panose="02020603050405020304" pitchFamily="18" charset="0"/>
                <a:ea typeface="楷体-简" panose="02010600040101010101" pitchFamily="2" charset="-122"/>
              </a:rPr>
            </a:br>
            <a:r>
              <a:rPr lang="zh-CN" altLang="en-US" sz="2400" b="1" baseline="0">
                <a:latin typeface="Times New Roman" panose="02020603050405020304" pitchFamily="18" charset="0"/>
                <a:ea typeface="楷体-简" panose="02010600040101010101" pitchFamily="2" charset="-122"/>
              </a:rPr>
              <a:t>　　</a:t>
            </a:r>
            <a:r>
              <a:rPr lang="en-US" altLang="zh-CN" sz="2400" b="1" baseline="0">
                <a:latin typeface="Times New Roman" panose="02020603050405020304" pitchFamily="18" charset="0"/>
                <a:ea typeface="楷体-简" panose="02010600040101010101" pitchFamily="2" charset="-122"/>
              </a:rPr>
              <a:t>2) </a:t>
            </a:r>
            <a:r>
              <a:rPr lang="zh-CN" altLang="en-US" sz="2400" b="1" baseline="0">
                <a:latin typeface="Times New Roman" panose="02020603050405020304" pitchFamily="18" charset="0"/>
                <a:ea typeface="楷体-简" panose="02010600040101010101" pitchFamily="2" charset="-122"/>
              </a:rPr>
              <a:t>从最高维开始，</a:t>
            </a:r>
            <a:r>
              <a:rPr lang="zh-CN" altLang="en-US" sz="2400" b="1" baseline="0">
                <a:solidFill>
                  <a:srgbClr val="0000CC"/>
                </a:solidFill>
                <a:latin typeface="Times New Roman" panose="02020603050405020304" pitchFamily="18" charset="0"/>
                <a:ea typeface="楷体-简" panose="02010600040101010101" pitchFamily="2" charset="-122"/>
              </a:rPr>
              <a:t>分别为每一维分配空间：</a:t>
            </a:r>
            <a:br>
              <a:rPr lang="zh-CN" altLang="en-US" sz="2400" b="1" baseline="0">
                <a:solidFill>
                  <a:srgbClr val="0000CC"/>
                </a:solidFill>
                <a:latin typeface="Times New Roman" panose="02020603050405020304" pitchFamily="18" charset="0"/>
                <a:ea typeface="楷体-简" panose="02010600040101010101" pitchFamily="2" charset="-122"/>
              </a:rPr>
            </a:br>
            <a:r>
              <a:rPr lang="zh-CN" altLang="en-US" sz="2400" b="1" baseline="0">
                <a:latin typeface="Times New Roman" panose="02020603050405020304" pitchFamily="18" charset="0"/>
                <a:ea typeface="楷体-简" panose="02010600040101010101" pitchFamily="2" charset="-122"/>
              </a:rPr>
              <a:t>　　</a:t>
            </a:r>
            <a:r>
              <a:rPr lang="en-US" altLang="zh-CN" sz="2400" b="1" baseline="0">
                <a:latin typeface="Times New Roman" panose="02020603050405020304" pitchFamily="18" charset="0"/>
                <a:ea typeface="楷体-简" panose="02010600040101010101" pitchFamily="2" charset="-122"/>
              </a:rPr>
              <a:t>arrayName = new type[length1][ ];</a:t>
            </a:r>
            <a:br>
              <a:rPr lang="en-US" altLang="zh-CN" sz="2400" b="1" baseline="0">
                <a:latin typeface="Times New Roman" panose="02020603050405020304" pitchFamily="18" charset="0"/>
                <a:ea typeface="楷体-简" panose="02010600040101010101" pitchFamily="2" charset="-122"/>
              </a:rPr>
            </a:br>
            <a:r>
              <a:rPr lang="zh-CN" altLang="en-US" sz="2400" b="1" baseline="0">
                <a:latin typeface="Times New Roman" panose="02020603050405020304" pitchFamily="18" charset="0"/>
                <a:ea typeface="楷体-简" panose="02010600040101010101" pitchFamily="2" charset="-122"/>
              </a:rPr>
              <a:t>　　</a:t>
            </a:r>
            <a:r>
              <a:rPr lang="en-US" altLang="zh-CN" sz="2400" b="1" baseline="0">
                <a:latin typeface="Times New Roman" panose="02020603050405020304" pitchFamily="18" charset="0"/>
                <a:ea typeface="楷体-简" panose="02010600040101010101" pitchFamily="2" charset="-122"/>
              </a:rPr>
              <a:t>arrayName[0] = new type[length2];</a:t>
            </a:r>
            <a:br>
              <a:rPr lang="en-US" altLang="zh-CN" sz="2400" b="1" baseline="0">
                <a:latin typeface="Times New Roman" panose="02020603050405020304" pitchFamily="18" charset="0"/>
                <a:ea typeface="楷体-简" panose="02010600040101010101" pitchFamily="2" charset="-122"/>
              </a:rPr>
            </a:br>
            <a:r>
              <a:rPr lang="zh-CN" altLang="en-US" sz="2400" b="1" baseline="0">
                <a:latin typeface="Times New Roman" panose="02020603050405020304" pitchFamily="18" charset="0"/>
                <a:ea typeface="楷体-简" panose="02010600040101010101" pitchFamily="2" charset="-122"/>
              </a:rPr>
              <a:t>　　</a:t>
            </a:r>
            <a:r>
              <a:rPr lang="en-US" altLang="zh-CN" sz="2400" b="1" baseline="0">
                <a:latin typeface="Times New Roman" panose="02020603050405020304" pitchFamily="18" charset="0"/>
                <a:ea typeface="楷体-简" panose="02010600040101010101" pitchFamily="2" charset="-122"/>
              </a:rPr>
              <a:t>arrayName[1] = new type[length2];</a:t>
            </a:r>
            <a:br>
              <a:rPr lang="en-US" altLang="zh-CN" sz="2400" b="1" baseline="0">
                <a:latin typeface="Times New Roman" panose="02020603050405020304" pitchFamily="18" charset="0"/>
                <a:ea typeface="楷体-简" panose="02010600040101010101" pitchFamily="2" charset="-122"/>
              </a:rPr>
            </a:br>
            <a:r>
              <a:rPr lang="zh-CN" altLang="en-US" sz="2400" b="1" baseline="0">
                <a:latin typeface="Times New Roman" panose="02020603050405020304" pitchFamily="18" charset="0"/>
                <a:ea typeface="楷体-简" panose="02010600040101010101" pitchFamily="2" charset="-122"/>
              </a:rPr>
              <a:t>　　</a:t>
            </a:r>
            <a:r>
              <a:rPr lang="en-US" altLang="zh-CN" sz="2400" b="1" baseline="0">
                <a:latin typeface="Times New Roman" panose="02020603050405020304" pitchFamily="18" charset="0"/>
                <a:ea typeface="楷体-简" panose="02010600040101010101" pitchFamily="2" charset="-122"/>
              </a:rPr>
              <a:t>…</a:t>
            </a:r>
          </a:p>
          <a:p>
            <a:pPr eaLnBrk="1" hangingPunct="1">
              <a:lnSpc>
                <a:spcPct val="80000"/>
              </a:lnSpc>
              <a:buFontTx/>
              <a:buNone/>
            </a:pPr>
            <a:br>
              <a:rPr lang="en-US" altLang="zh-CN" sz="2400" b="1" baseline="0">
                <a:latin typeface="Times New Roman" panose="02020603050405020304" pitchFamily="18" charset="0"/>
                <a:ea typeface="楷体-简" panose="02010600040101010101" pitchFamily="2" charset="-122"/>
              </a:rPr>
            </a:br>
            <a:br>
              <a:rPr lang="en-US" altLang="zh-CN" sz="2400" b="1" baseline="0">
                <a:latin typeface="Times New Roman" panose="02020603050405020304" pitchFamily="18" charset="0"/>
                <a:ea typeface="楷体-简" panose="02010600040101010101" pitchFamily="2" charset="-122"/>
              </a:rPr>
            </a:br>
            <a:r>
              <a:rPr lang="zh-CN" altLang="en-US" sz="2400" b="1" baseline="0">
                <a:latin typeface="Times New Roman" panose="02020603050405020304" pitchFamily="18" charset="0"/>
                <a:ea typeface="楷体-简" panose="02010600040101010101" pitchFamily="2" charset="-122"/>
              </a:rPr>
              <a:t>　　例：二维简单数据类型数组的动态初始化如下</a:t>
            </a:r>
            <a:r>
              <a:rPr lang="en-US" altLang="zh-CN" sz="2400" b="1" baseline="0">
                <a:latin typeface="Times New Roman" panose="02020603050405020304" pitchFamily="18" charset="0"/>
                <a:ea typeface="楷体-简" panose="02010600040101010101" pitchFamily="2" charset="-122"/>
              </a:rPr>
              <a:t>,</a:t>
            </a:r>
            <a:br>
              <a:rPr lang="en-US" altLang="zh-CN" sz="2400" b="1" baseline="0">
                <a:latin typeface="Times New Roman" panose="02020603050405020304" pitchFamily="18" charset="0"/>
                <a:ea typeface="楷体-简" panose="02010600040101010101" pitchFamily="2" charset="-122"/>
              </a:rPr>
            </a:br>
            <a:r>
              <a:rPr lang="zh-CN" altLang="en-US" sz="2400" b="1" baseline="0">
                <a:latin typeface="Times New Roman" panose="02020603050405020304" pitchFamily="18" charset="0"/>
                <a:ea typeface="楷体-简" panose="02010600040101010101" pitchFamily="2" charset="-122"/>
              </a:rPr>
              <a:t>　　</a:t>
            </a:r>
            <a:r>
              <a:rPr lang="en-US" altLang="zh-CN" sz="2000" b="1" baseline="0">
                <a:latin typeface="Times New Roman" panose="02020603050405020304" pitchFamily="18" charset="0"/>
                <a:ea typeface="楷体-简" panose="02010600040101010101" pitchFamily="2" charset="-122"/>
              </a:rPr>
              <a:t>int a[ ][ ] = new int[2][ ]</a:t>
            </a:r>
            <a:r>
              <a:rPr lang="zh-CN" altLang="en-US" sz="2000" b="1" baseline="0">
                <a:latin typeface="Times New Roman" panose="02020603050405020304" pitchFamily="18" charset="0"/>
                <a:ea typeface="楷体-简" panose="02010600040101010101" pitchFamily="2" charset="-122"/>
              </a:rPr>
              <a:t>；</a:t>
            </a:r>
            <a:br>
              <a:rPr lang="zh-CN" altLang="en-US" sz="2000" b="1" baseline="0">
                <a:latin typeface="Times New Roman" panose="02020603050405020304" pitchFamily="18" charset="0"/>
                <a:ea typeface="楷体-简" panose="02010600040101010101" pitchFamily="2" charset="-122"/>
              </a:rPr>
            </a:br>
            <a:r>
              <a:rPr lang="zh-CN" altLang="en-US" sz="2000" b="1" baseline="0">
                <a:latin typeface="Times New Roman" panose="02020603050405020304" pitchFamily="18" charset="0"/>
                <a:ea typeface="楷体-简" panose="02010600040101010101" pitchFamily="2" charset="-122"/>
              </a:rPr>
              <a:t>　　  </a:t>
            </a:r>
            <a:r>
              <a:rPr lang="en-US" altLang="zh-CN" sz="2000" b="1" baseline="0">
                <a:latin typeface="Times New Roman" panose="02020603050405020304" pitchFamily="18" charset="0"/>
                <a:ea typeface="楷体-简" panose="02010600040101010101" pitchFamily="2" charset="-122"/>
              </a:rPr>
              <a:t>a[0] = new int[3];</a:t>
            </a:r>
            <a:br>
              <a:rPr lang="en-US" altLang="zh-CN" sz="2000" b="1" baseline="0">
                <a:latin typeface="Times New Roman" panose="02020603050405020304" pitchFamily="18" charset="0"/>
                <a:ea typeface="楷体-简" panose="02010600040101010101" pitchFamily="2" charset="-122"/>
              </a:rPr>
            </a:br>
            <a:r>
              <a:rPr lang="zh-CN" altLang="en-US" sz="2000" b="1" baseline="0">
                <a:latin typeface="Times New Roman" panose="02020603050405020304" pitchFamily="18" charset="0"/>
                <a:ea typeface="楷体-简" panose="02010600040101010101" pitchFamily="2" charset="-122"/>
              </a:rPr>
              <a:t>　　  </a:t>
            </a:r>
            <a:r>
              <a:rPr lang="en-US" altLang="zh-CN" sz="2000" b="1" baseline="0">
                <a:latin typeface="Times New Roman" panose="02020603050405020304" pitchFamily="18" charset="0"/>
                <a:ea typeface="楷体-简" panose="02010600040101010101" pitchFamily="2" charset="-122"/>
              </a:rPr>
              <a:t>a[1] = new int[5];</a:t>
            </a:r>
            <a:br>
              <a:rPr lang="en-US" altLang="zh-CN" sz="2400" b="1" baseline="0">
                <a:latin typeface="Times New Roman" panose="02020603050405020304" pitchFamily="18" charset="0"/>
                <a:ea typeface="楷体-简" panose="02010600040101010101" pitchFamily="2" charset="-122"/>
              </a:rPr>
            </a:br>
            <a:endParaRPr lang="en-US" altLang="zh-CN" sz="2400" b="1" baseline="0">
              <a:latin typeface="Times New Roman" panose="02020603050405020304" pitchFamily="18" charset="0"/>
              <a:ea typeface="楷体-简" panose="02010600040101010101" pitchFamily="2" charset="-122"/>
            </a:endParaRPr>
          </a:p>
          <a:p>
            <a:pPr eaLnBrk="1" hangingPunct="1">
              <a:lnSpc>
                <a:spcPct val="80000"/>
              </a:lnSpc>
              <a:buFontTx/>
              <a:buNone/>
            </a:pPr>
            <a:r>
              <a:rPr lang="en-US" altLang="zh-CN" sz="2400" baseline="0">
                <a:latin typeface="Times New Roman" panose="02020603050405020304" pitchFamily="18" charset="0"/>
                <a:ea typeface="楷体-简" panose="02010600040101010101" pitchFamily="2" charset="-122"/>
              </a:rPr>
              <a:t>           </a:t>
            </a:r>
            <a:r>
              <a:rPr lang="en-US" altLang="zh-CN" sz="2400" b="1" baseline="0">
                <a:latin typeface="Times New Roman" panose="02020603050405020304" pitchFamily="18" charset="0"/>
                <a:ea typeface="楷体-简" panose="02010600040101010101" pitchFamily="2" charset="-122"/>
              </a:rPr>
              <a:t>int b[ ][ ] = new int[ ][</a:t>
            </a:r>
            <a:r>
              <a:rPr lang="en-US" altLang="zh-CN" sz="2400" baseline="0">
                <a:latin typeface="Times New Roman" panose="02020603050405020304" pitchFamily="18" charset="0"/>
                <a:ea typeface="楷体-简" panose="02010600040101010101" pitchFamily="2" charset="-122"/>
              </a:rPr>
              <a:t>4</a:t>
            </a:r>
            <a:r>
              <a:rPr lang="en-US" altLang="zh-CN" sz="2400" b="1" baseline="0">
                <a:latin typeface="Times New Roman" panose="02020603050405020304" pitchFamily="18" charset="0"/>
                <a:ea typeface="楷体-简" panose="02010600040101010101" pitchFamily="2" charset="-122"/>
              </a:rPr>
              <a:t>];    //</a:t>
            </a:r>
            <a:r>
              <a:rPr lang="zh-CN" altLang="en-US" sz="2400" b="1" baseline="0">
                <a:latin typeface="Times New Roman" panose="02020603050405020304" pitchFamily="18" charset="0"/>
                <a:ea typeface="楷体-简" panose="02010600040101010101" pitchFamily="2" charset="-122"/>
              </a:rPr>
              <a:t>错误</a:t>
            </a:r>
            <a:endParaRPr lang="en-US" altLang="zh-CN" sz="2400" baseline="0">
              <a:latin typeface="Times New Roman" panose="02020603050405020304" pitchFamily="18" charset="0"/>
              <a:ea typeface="楷体-简" panose="02010600040101010101" pitchFamily="2" charset="-122"/>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3">
            <a:extLst>
              <a:ext uri="{FF2B5EF4-FFF2-40B4-BE49-F238E27FC236}">
                <a16:creationId xmlns:a16="http://schemas.microsoft.com/office/drawing/2014/main" id="{800593FF-3576-442C-A51B-7263A76864F4}"/>
              </a:ext>
            </a:extLst>
          </p:cNvPr>
          <p:cNvSpPr>
            <a:spLocks noGrp="1" noChangeArrowheads="1"/>
          </p:cNvSpPr>
          <p:nvPr>
            <p:ph type="body" idx="1"/>
          </p:nvPr>
        </p:nvSpPr>
        <p:spPr>
          <a:xfrm>
            <a:off x="125412" y="1052736"/>
            <a:ext cx="8893175" cy="4320331"/>
          </a:xfrm>
        </p:spPr>
        <p:txBody>
          <a:bodyPr/>
          <a:lstStyle/>
          <a:p>
            <a:pPr eaLnBrk="1" hangingPunct="1">
              <a:lnSpc>
                <a:spcPct val="90000"/>
              </a:lnSpc>
              <a:buFont typeface="Wingdings" panose="05000000000000000000" pitchFamily="2" charset="2"/>
              <a:buChar char="Ø"/>
            </a:pPr>
            <a:r>
              <a:rPr lang="zh-CN" altLang="en-US" sz="2400" b="1" baseline="0">
                <a:latin typeface="Times New Roman" panose="02020603050405020304" pitchFamily="18" charset="0"/>
                <a:ea typeface="楷体-简" panose="02010600040101010101" pitchFamily="2" charset="-122"/>
              </a:rPr>
              <a:t>对于</a:t>
            </a:r>
            <a:r>
              <a:rPr lang="zh-CN" altLang="en-US" sz="2400" b="1" baseline="0">
                <a:solidFill>
                  <a:srgbClr val="0000CC"/>
                </a:solidFill>
                <a:latin typeface="Times New Roman" panose="02020603050405020304" pitchFamily="18" charset="0"/>
                <a:ea typeface="楷体-简" panose="02010600040101010101" pitchFamily="2" charset="-122"/>
              </a:rPr>
              <a:t>二维复合数据类型</a:t>
            </a:r>
            <a:r>
              <a:rPr lang="zh-CN" altLang="en-US" sz="2400" b="1" baseline="0">
                <a:latin typeface="Times New Roman" panose="02020603050405020304" pitchFamily="18" charset="0"/>
                <a:ea typeface="楷体-简" panose="02010600040101010101" pitchFamily="2" charset="-122"/>
              </a:rPr>
              <a:t>的数组，必须首先为最高维分配空间，然后再顺次为低维分配空间。而且，必须为每个数组元素单独分配空间。</a:t>
            </a:r>
            <a:br>
              <a:rPr lang="zh-CN" altLang="en-US" sz="2400" b="1" baseline="0">
                <a:latin typeface="Times New Roman" panose="02020603050405020304" pitchFamily="18" charset="0"/>
                <a:ea typeface="楷体-简" panose="02010600040101010101" pitchFamily="2" charset="-122"/>
              </a:rPr>
            </a:br>
            <a:br>
              <a:rPr lang="zh-CN" altLang="en-US" sz="2400" b="1" baseline="0">
                <a:latin typeface="Times New Roman" panose="02020603050405020304" pitchFamily="18" charset="0"/>
                <a:ea typeface="楷体-简" panose="02010600040101010101" pitchFamily="2" charset="-122"/>
              </a:rPr>
            </a:br>
            <a:r>
              <a:rPr lang="zh-CN" altLang="en-US" sz="2400" b="1" baseline="0">
                <a:latin typeface="Times New Roman" panose="02020603050405020304" pitchFamily="18" charset="0"/>
                <a:ea typeface="楷体-简" panose="02010600040101010101" pitchFamily="2" charset="-122"/>
              </a:rPr>
              <a:t>例如：</a:t>
            </a:r>
            <a:br>
              <a:rPr lang="zh-CN" altLang="en-US" sz="2400" b="1" baseline="0">
                <a:latin typeface="Times New Roman" panose="02020603050405020304" pitchFamily="18" charset="0"/>
                <a:ea typeface="楷体-简" panose="02010600040101010101" pitchFamily="2" charset="-122"/>
              </a:rPr>
            </a:br>
            <a:r>
              <a:rPr lang="en-US" altLang="zh-CN" sz="2000" b="1" baseline="0">
                <a:latin typeface="Times New Roman" panose="02020603050405020304" pitchFamily="18" charset="0"/>
                <a:ea typeface="楷体-简" panose="02010600040101010101" pitchFamily="2" charset="-122"/>
              </a:rPr>
              <a:t>String s[ ][ ] = new String[2][ ];</a:t>
            </a:r>
            <a:br>
              <a:rPr lang="en-US" altLang="zh-CN" sz="2000" b="1" baseline="0">
                <a:latin typeface="Times New Roman" panose="02020603050405020304" pitchFamily="18" charset="0"/>
                <a:ea typeface="楷体-简" panose="02010600040101010101" pitchFamily="2" charset="-122"/>
              </a:rPr>
            </a:br>
            <a:r>
              <a:rPr lang="en-US" altLang="zh-CN" sz="2000" b="1" baseline="0">
                <a:latin typeface="Times New Roman" panose="02020603050405020304" pitchFamily="18" charset="0"/>
                <a:ea typeface="楷体-简" panose="02010600040101010101" pitchFamily="2" charset="-122"/>
              </a:rPr>
              <a:t>s[0]= new String[2];    //</a:t>
            </a:r>
            <a:r>
              <a:rPr lang="zh-CN" altLang="en-US" sz="2000" b="1" baseline="0">
                <a:latin typeface="Times New Roman" panose="02020603050405020304" pitchFamily="18" charset="0"/>
                <a:ea typeface="楷体-简" panose="02010600040101010101" pitchFamily="2" charset="-122"/>
              </a:rPr>
              <a:t>为最高维分配空间</a:t>
            </a:r>
            <a:br>
              <a:rPr lang="zh-CN" altLang="en-US" sz="2000" b="1" baseline="0">
                <a:latin typeface="Times New Roman" panose="02020603050405020304" pitchFamily="18" charset="0"/>
                <a:ea typeface="楷体-简" panose="02010600040101010101" pitchFamily="2" charset="-122"/>
              </a:rPr>
            </a:br>
            <a:r>
              <a:rPr lang="en-US" altLang="zh-CN" sz="2000" b="1" baseline="0">
                <a:latin typeface="Times New Roman" panose="02020603050405020304" pitchFamily="18" charset="0"/>
                <a:ea typeface="楷体-简" panose="02010600040101010101" pitchFamily="2" charset="-122"/>
              </a:rPr>
              <a:t>s[1]= new String[2];    //</a:t>
            </a:r>
            <a:r>
              <a:rPr lang="zh-CN" altLang="en-US" sz="2000" b="1" baseline="0">
                <a:latin typeface="Times New Roman" panose="02020603050405020304" pitchFamily="18" charset="0"/>
                <a:ea typeface="楷体-简" panose="02010600040101010101" pitchFamily="2" charset="-122"/>
              </a:rPr>
              <a:t>为最高维分配空间</a:t>
            </a:r>
            <a:br>
              <a:rPr lang="zh-CN" altLang="en-US" sz="2000" b="1" baseline="0">
                <a:latin typeface="Times New Roman" panose="02020603050405020304" pitchFamily="18" charset="0"/>
                <a:ea typeface="楷体-简" panose="02010600040101010101" pitchFamily="2" charset="-122"/>
              </a:rPr>
            </a:br>
            <a:endParaRPr lang="zh-CN" altLang="en-US" sz="2000" b="1" baseline="0">
              <a:latin typeface="Times New Roman" panose="02020603050405020304" pitchFamily="18" charset="0"/>
              <a:ea typeface="楷体-简" panose="02010600040101010101" pitchFamily="2" charset="-122"/>
            </a:endParaRPr>
          </a:p>
          <a:p>
            <a:pPr eaLnBrk="1" hangingPunct="1">
              <a:lnSpc>
                <a:spcPct val="90000"/>
              </a:lnSpc>
              <a:buFontTx/>
              <a:buNone/>
            </a:pPr>
            <a:r>
              <a:rPr lang="zh-CN" altLang="en-US" sz="2000" b="1" baseline="0">
                <a:latin typeface="Times New Roman" panose="02020603050405020304" pitchFamily="18" charset="0"/>
                <a:ea typeface="楷体-简" panose="02010600040101010101" pitchFamily="2" charset="-122"/>
              </a:rPr>
              <a:t>     </a:t>
            </a:r>
            <a:r>
              <a:rPr lang="en-US" altLang="zh-CN" sz="2000" b="1" baseline="0">
                <a:latin typeface="Times New Roman" panose="02020603050405020304" pitchFamily="18" charset="0"/>
                <a:ea typeface="楷体-简" panose="02010600040101010101" pitchFamily="2" charset="-122"/>
              </a:rPr>
              <a:t>s[0][0]= new String(“Good”);    //</a:t>
            </a:r>
            <a:r>
              <a:rPr lang="zh-CN" altLang="en-US" sz="2000" b="1" baseline="0">
                <a:latin typeface="Times New Roman" panose="02020603050405020304" pitchFamily="18" charset="0"/>
                <a:ea typeface="楷体-简" panose="02010600040101010101" pitchFamily="2" charset="-122"/>
              </a:rPr>
              <a:t>为每个数组元素单独分配空间</a:t>
            </a:r>
            <a:br>
              <a:rPr lang="zh-CN" altLang="en-US" sz="2000" b="1" baseline="0">
                <a:latin typeface="Times New Roman" panose="02020603050405020304" pitchFamily="18" charset="0"/>
                <a:ea typeface="楷体-简" panose="02010600040101010101" pitchFamily="2" charset="-122"/>
              </a:rPr>
            </a:br>
            <a:r>
              <a:rPr lang="en-US" altLang="zh-CN" sz="2000" b="1" baseline="0">
                <a:latin typeface="Times New Roman" panose="02020603050405020304" pitchFamily="18" charset="0"/>
                <a:ea typeface="楷体-简" panose="02010600040101010101" pitchFamily="2" charset="-122"/>
              </a:rPr>
              <a:t>s[0][1]= new String(“Luck”);     //</a:t>
            </a:r>
            <a:r>
              <a:rPr lang="zh-CN" altLang="en-US" sz="2000" b="1" baseline="0">
                <a:latin typeface="Times New Roman" panose="02020603050405020304" pitchFamily="18" charset="0"/>
                <a:ea typeface="楷体-简" panose="02010600040101010101" pitchFamily="2" charset="-122"/>
              </a:rPr>
              <a:t>为每个数组元素单独分配空间</a:t>
            </a:r>
            <a:br>
              <a:rPr lang="zh-CN" altLang="en-US" sz="2000" b="1" baseline="0">
                <a:latin typeface="Times New Roman" panose="02020603050405020304" pitchFamily="18" charset="0"/>
                <a:ea typeface="楷体-简" panose="02010600040101010101" pitchFamily="2" charset="-122"/>
              </a:rPr>
            </a:br>
            <a:r>
              <a:rPr lang="en-US" altLang="zh-CN" sz="2000" b="1" baseline="0">
                <a:latin typeface="Times New Roman" panose="02020603050405020304" pitchFamily="18" charset="0"/>
                <a:ea typeface="楷体-简" panose="02010600040101010101" pitchFamily="2" charset="-122"/>
              </a:rPr>
              <a:t>s[1][0]= new String(“to”);          //</a:t>
            </a:r>
            <a:r>
              <a:rPr lang="zh-CN" altLang="en-US" sz="2000" b="1" baseline="0">
                <a:latin typeface="Times New Roman" panose="02020603050405020304" pitchFamily="18" charset="0"/>
                <a:ea typeface="楷体-简" panose="02010600040101010101" pitchFamily="2" charset="-122"/>
              </a:rPr>
              <a:t>为每个数组元素单独分配空间</a:t>
            </a:r>
            <a:br>
              <a:rPr lang="zh-CN" altLang="en-US" sz="2000" b="1" baseline="0">
                <a:latin typeface="Times New Roman" panose="02020603050405020304" pitchFamily="18" charset="0"/>
                <a:ea typeface="楷体-简" panose="02010600040101010101" pitchFamily="2" charset="-122"/>
              </a:rPr>
            </a:br>
            <a:r>
              <a:rPr lang="en-US" altLang="zh-CN" sz="2000" b="1" baseline="0">
                <a:latin typeface="Times New Roman" panose="02020603050405020304" pitchFamily="18" charset="0"/>
                <a:ea typeface="楷体-简" panose="02010600040101010101" pitchFamily="2" charset="-122"/>
              </a:rPr>
              <a:t>s[1][1]= new String(“You”);       //</a:t>
            </a:r>
            <a:r>
              <a:rPr lang="zh-CN" altLang="en-US" sz="2000" b="1" baseline="0">
                <a:latin typeface="Times New Roman" panose="02020603050405020304" pitchFamily="18" charset="0"/>
                <a:ea typeface="楷体-简" panose="02010600040101010101" pitchFamily="2" charset="-122"/>
              </a:rPr>
              <a:t>为每个数组元素单独分配空间</a:t>
            </a:r>
            <a:br>
              <a:rPr lang="zh-CN" altLang="en-US" sz="2000" b="1" baseline="0">
                <a:latin typeface="Times New Roman" panose="02020603050405020304" pitchFamily="18" charset="0"/>
                <a:ea typeface="楷体-简" panose="02010600040101010101" pitchFamily="2" charset="-122"/>
              </a:rPr>
            </a:br>
            <a:endParaRPr lang="zh-CN" altLang="en-US" sz="2000" b="1" baseline="0">
              <a:latin typeface="Times New Roman" panose="02020603050405020304" pitchFamily="18" charset="0"/>
              <a:ea typeface="楷体-简" panose="02010600040101010101" pitchFamily="2" charset="-122"/>
            </a:endParaRPr>
          </a:p>
          <a:p>
            <a:pPr eaLnBrk="1" hangingPunct="1">
              <a:lnSpc>
                <a:spcPct val="90000"/>
              </a:lnSpc>
              <a:buFontTx/>
              <a:buNone/>
            </a:pPr>
            <a:endParaRPr lang="en-US" altLang="zh-CN" sz="2400" b="1" baseline="0">
              <a:latin typeface="Times New Roman" panose="02020603050405020304" pitchFamily="18" charset="0"/>
              <a:ea typeface="楷体-简" panose="02010600040101010101" pitchFamily="2" charset="-122"/>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3">
            <a:extLst>
              <a:ext uri="{FF2B5EF4-FFF2-40B4-BE49-F238E27FC236}">
                <a16:creationId xmlns:a16="http://schemas.microsoft.com/office/drawing/2014/main" id="{AB2B5199-887D-4F80-8648-BEE424A0D40D}"/>
              </a:ext>
            </a:extLst>
          </p:cNvPr>
          <p:cNvSpPr>
            <a:spLocks noGrp="1" noChangeArrowheads="1"/>
          </p:cNvSpPr>
          <p:nvPr>
            <p:ph type="body" idx="1"/>
          </p:nvPr>
        </p:nvSpPr>
        <p:spPr>
          <a:xfrm>
            <a:off x="457200" y="908720"/>
            <a:ext cx="8229600" cy="3311649"/>
          </a:xfrm>
        </p:spPr>
        <p:txBody>
          <a:bodyPr/>
          <a:lstStyle/>
          <a:p>
            <a:pPr eaLnBrk="1" hangingPunct="1">
              <a:buFont typeface="Wingdings" panose="05000000000000000000" pitchFamily="2" charset="2"/>
              <a:buChar char="Ø"/>
            </a:pPr>
            <a:r>
              <a:rPr lang="en-US" altLang="zh-CN" sz="2400" b="1" baseline="0">
                <a:solidFill>
                  <a:srgbClr val="FF0066"/>
                </a:solidFill>
                <a:latin typeface="Times New Roman" panose="02020603050405020304" pitchFamily="18" charset="0"/>
                <a:ea typeface="楷体-简" panose="02010600040101010101" pitchFamily="2" charset="-122"/>
              </a:rPr>
              <a:t>3</a:t>
            </a:r>
            <a:r>
              <a:rPr lang="zh-CN" altLang="en-US" sz="2400" b="1" baseline="0">
                <a:solidFill>
                  <a:srgbClr val="FF0066"/>
                </a:solidFill>
                <a:latin typeface="Times New Roman" panose="02020603050405020304" pitchFamily="18" charset="0"/>
                <a:ea typeface="楷体-简" panose="02010600040101010101" pitchFamily="2" charset="-122"/>
              </a:rPr>
              <a:t>．二维数组元素的引用</a:t>
            </a:r>
            <a:br>
              <a:rPr lang="zh-CN" altLang="en-US" sz="2400" baseline="0">
                <a:solidFill>
                  <a:srgbClr val="FF0066"/>
                </a:solidFill>
                <a:latin typeface="Times New Roman" panose="02020603050405020304" pitchFamily="18" charset="0"/>
                <a:ea typeface="楷体-简" panose="02010600040101010101" pitchFamily="2" charset="-122"/>
              </a:rPr>
            </a:br>
            <a:r>
              <a:rPr lang="zh-CN" altLang="en-US" sz="2400" baseline="0">
                <a:latin typeface="Times New Roman" panose="02020603050405020304" pitchFamily="18" charset="0"/>
                <a:ea typeface="楷体-简" panose="02010600040101010101" pitchFamily="2" charset="-122"/>
              </a:rPr>
              <a:t>　　</a:t>
            </a:r>
            <a:br>
              <a:rPr lang="zh-CN" altLang="en-US" sz="2400" baseline="0">
                <a:latin typeface="Times New Roman" panose="02020603050405020304" pitchFamily="18" charset="0"/>
                <a:ea typeface="楷体-简" panose="02010600040101010101" pitchFamily="2" charset="-122"/>
              </a:rPr>
            </a:br>
            <a:r>
              <a:rPr lang="zh-CN" altLang="en-US" sz="2400" b="1" baseline="0">
                <a:latin typeface="Times New Roman" panose="02020603050405020304" pitchFamily="18" charset="0"/>
                <a:ea typeface="楷体-简" panose="02010600040101010101" pitchFamily="2" charset="-122"/>
              </a:rPr>
              <a:t>对二维数组中的每个元素，引用方式为：   </a:t>
            </a:r>
            <a:endParaRPr lang="en-US" altLang="zh-CN" sz="2400" b="1" baseline="0">
              <a:latin typeface="Times New Roman" panose="02020603050405020304" pitchFamily="18" charset="0"/>
              <a:ea typeface="楷体-简" panose="02010600040101010101" pitchFamily="2" charset="-122"/>
            </a:endParaRPr>
          </a:p>
          <a:p>
            <a:pPr eaLnBrk="1" hangingPunct="1">
              <a:buFontTx/>
              <a:buNone/>
            </a:pPr>
            <a:r>
              <a:rPr lang="en-US" altLang="zh-CN" sz="2400" b="1" baseline="0">
                <a:latin typeface="Times New Roman" panose="02020603050405020304" pitchFamily="18" charset="0"/>
                <a:ea typeface="楷体-简" panose="02010600040101010101" pitchFamily="2" charset="-122"/>
              </a:rPr>
              <a:t>            arrayName[index1][index2]</a:t>
            </a:r>
            <a:br>
              <a:rPr lang="en-US" altLang="zh-CN" sz="2400" b="1" baseline="0">
                <a:latin typeface="Times New Roman" panose="02020603050405020304" pitchFamily="18" charset="0"/>
                <a:ea typeface="楷体-简" panose="02010600040101010101" pitchFamily="2" charset="-122"/>
              </a:rPr>
            </a:br>
            <a:r>
              <a:rPr lang="zh-CN" altLang="en-US" sz="2400" b="1" baseline="0">
                <a:latin typeface="Times New Roman" panose="02020603050405020304" pitchFamily="18" charset="0"/>
                <a:ea typeface="楷体-简" panose="02010600040101010101" pitchFamily="2" charset="-122"/>
              </a:rPr>
              <a:t>　　 例如： </a:t>
            </a:r>
            <a:r>
              <a:rPr lang="en-US" altLang="zh-CN" sz="2400" b="1" baseline="0">
                <a:latin typeface="Times New Roman" panose="02020603050405020304" pitchFamily="18" charset="0"/>
                <a:ea typeface="楷体-简" panose="02010600040101010101" pitchFamily="2" charset="-122"/>
              </a:rPr>
              <a:t>num[1][0];</a:t>
            </a:r>
            <a:br>
              <a:rPr lang="en-US" altLang="zh-CN" sz="2400" baseline="0">
                <a:latin typeface="Times New Roman" panose="02020603050405020304" pitchFamily="18" charset="0"/>
                <a:ea typeface="楷体-简" panose="02010600040101010101" pitchFamily="2" charset="-122"/>
              </a:rPr>
            </a:br>
            <a:endParaRPr lang="en-US" altLang="zh-CN" sz="2400" baseline="0">
              <a:latin typeface="Times New Roman" panose="02020603050405020304" pitchFamily="18" charset="0"/>
              <a:ea typeface="楷体-简" panose="02010600040101010101" pitchFamily="2" charset="-122"/>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3">
            <a:extLst>
              <a:ext uri="{FF2B5EF4-FFF2-40B4-BE49-F238E27FC236}">
                <a16:creationId xmlns:a16="http://schemas.microsoft.com/office/drawing/2014/main" id="{026D9498-F7EB-4B82-9AAA-50F8066C3B0B}"/>
              </a:ext>
            </a:extLst>
          </p:cNvPr>
          <p:cNvSpPr>
            <a:spLocks noGrp="1" noChangeArrowheads="1"/>
          </p:cNvSpPr>
          <p:nvPr>
            <p:ph type="body" idx="1"/>
          </p:nvPr>
        </p:nvSpPr>
        <p:spPr>
          <a:xfrm>
            <a:off x="457200" y="260350"/>
            <a:ext cx="8229600" cy="5865813"/>
          </a:xfrm>
        </p:spPr>
        <p:txBody>
          <a:bodyPr/>
          <a:lstStyle/>
          <a:p>
            <a:pPr eaLnBrk="1" hangingPunct="1">
              <a:lnSpc>
                <a:spcPct val="80000"/>
              </a:lnSpc>
              <a:buFontTx/>
              <a:buNone/>
            </a:pPr>
            <a:r>
              <a:rPr lang="en-US" altLang="zh-CN" sz="2000" b="1" baseline="0" dirty="0">
                <a:latin typeface="Times New Roman" panose="02020603050405020304" pitchFamily="18" charset="0"/>
                <a:ea typeface="楷体-简" panose="02010600040101010101" pitchFamily="2" charset="-122"/>
              </a:rPr>
              <a:t>import </a:t>
            </a:r>
            <a:r>
              <a:rPr lang="en-US" altLang="zh-CN" sz="2000" b="1" baseline="0" dirty="0" err="1">
                <a:latin typeface="Times New Roman" panose="02020603050405020304" pitchFamily="18" charset="0"/>
                <a:ea typeface="楷体-简" panose="02010600040101010101" pitchFamily="2" charset="-122"/>
              </a:rPr>
              <a:t>java.util</a:t>
            </a:r>
            <a:r>
              <a:rPr lang="en-US" altLang="zh-CN" sz="2000" b="1" baseline="0" dirty="0">
                <a:latin typeface="Times New Roman" panose="02020603050405020304" pitchFamily="18" charset="0"/>
                <a:ea typeface="楷体-简" panose="02010600040101010101" pitchFamily="2" charset="-122"/>
              </a:rPr>
              <a:t>.*;</a:t>
            </a:r>
          </a:p>
          <a:p>
            <a:pPr eaLnBrk="1" hangingPunct="1">
              <a:lnSpc>
                <a:spcPct val="80000"/>
              </a:lnSpc>
              <a:buFontTx/>
              <a:buNone/>
            </a:pPr>
            <a:r>
              <a:rPr lang="en-US" altLang="zh-CN" sz="2000" b="1" baseline="0" dirty="0">
                <a:latin typeface="Times New Roman" panose="02020603050405020304" pitchFamily="18" charset="0"/>
                <a:ea typeface="楷体-简" panose="02010600040101010101" pitchFamily="2" charset="-122"/>
              </a:rPr>
              <a:t>public class </a:t>
            </a:r>
            <a:r>
              <a:rPr lang="en-US" altLang="zh-CN" sz="2000" b="1" baseline="0" dirty="0" err="1">
                <a:latin typeface="Times New Roman" panose="02020603050405020304" pitchFamily="18" charset="0"/>
                <a:ea typeface="楷体-简" panose="02010600040101010101" pitchFamily="2" charset="-122"/>
              </a:rPr>
              <a:t>TestScanner</a:t>
            </a:r>
            <a:endParaRPr lang="en-US" altLang="zh-CN" sz="2000" b="1" baseline="0" dirty="0">
              <a:latin typeface="Times New Roman" panose="02020603050405020304" pitchFamily="18" charset="0"/>
              <a:ea typeface="楷体-简" panose="02010600040101010101" pitchFamily="2" charset="-122"/>
            </a:endParaRPr>
          </a:p>
          <a:p>
            <a:pPr eaLnBrk="1" hangingPunct="1">
              <a:lnSpc>
                <a:spcPct val="80000"/>
              </a:lnSpc>
              <a:buFontTx/>
              <a:buNone/>
            </a:pPr>
            <a:r>
              <a:rPr lang="en-US" altLang="zh-CN" sz="2000" b="1" baseline="0" dirty="0">
                <a:latin typeface="Times New Roman" panose="02020603050405020304" pitchFamily="18" charset="0"/>
                <a:ea typeface="楷体-简" panose="02010600040101010101" pitchFamily="2" charset="-122"/>
              </a:rPr>
              <a:t>{</a:t>
            </a:r>
          </a:p>
          <a:p>
            <a:pPr eaLnBrk="1" hangingPunct="1">
              <a:lnSpc>
                <a:spcPct val="80000"/>
              </a:lnSpc>
              <a:buFontTx/>
              <a:buNone/>
            </a:pPr>
            <a:r>
              <a:rPr lang="en-US" altLang="zh-CN" sz="2000" b="1" baseline="0" dirty="0">
                <a:latin typeface="Times New Roman" panose="02020603050405020304" pitchFamily="18" charset="0"/>
                <a:ea typeface="楷体-简" panose="02010600040101010101" pitchFamily="2" charset="-122"/>
              </a:rPr>
              <a:t>    public static void main (String </a:t>
            </a:r>
            <a:r>
              <a:rPr lang="en-US" altLang="zh-CN" sz="2000" b="1" baseline="0" dirty="0" err="1">
                <a:latin typeface="Times New Roman" panose="02020603050405020304" pitchFamily="18" charset="0"/>
                <a:ea typeface="楷体-简" panose="02010600040101010101" pitchFamily="2" charset="-122"/>
              </a:rPr>
              <a:t>args</a:t>
            </a:r>
            <a:r>
              <a:rPr lang="en-US" altLang="zh-CN" sz="2000" b="1" baseline="0" dirty="0">
                <a:latin typeface="Times New Roman" panose="02020603050405020304" pitchFamily="18" charset="0"/>
                <a:ea typeface="楷体-简" panose="02010600040101010101" pitchFamily="2" charset="-122"/>
              </a:rPr>
              <a:t>[ ]){</a:t>
            </a:r>
          </a:p>
          <a:p>
            <a:pPr eaLnBrk="1" hangingPunct="1">
              <a:lnSpc>
                <a:spcPct val="80000"/>
              </a:lnSpc>
              <a:buFontTx/>
              <a:buNone/>
            </a:pPr>
            <a:r>
              <a:rPr lang="en-US" altLang="zh-CN" sz="2000" b="1" baseline="0" dirty="0">
                <a:latin typeface="Times New Roman" panose="02020603050405020304" pitchFamily="18" charset="0"/>
                <a:ea typeface="楷体-简" panose="02010600040101010101" pitchFamily="2" charset="-122"/>
              </a:rPr>
              <a:t>       Scanner reader=new Scanner(</a:t>
            </a:r>
            <a:r>
              <a:rPr lang="en-US" altLang="zh-CN" sz="2000" b="1" baseline="0" dirty="0" err="1">
                <a:latin typeface="Times New Roman" panose="02020603050405020304" pitchFamily="18" charset="0"/>
                <a:ea typeface="楷体-简" panose="02010600040101010101" pitchFamily="2" charset="-122"/>
              </a:rPr>
              <a:t>System.in</a:t>
            </a:r>
            <a:r>
              <a:rPr lang="en-US" altLang="zh-CN" sz="2000" b="1" baseline="0" dirty="0">
                <a:latin typeface="Times New Roman" panose="02020603050405020304" pitchFamily="18" charset="0"/>
                <a:ea typeface="楷体-简" panose="02010600040101010101" pitchFamily="2" charset="-122"/>
              </a:rPr>
              <a:t>);</a:t>
            </a:r>
          </a:p>
          <a:p>
            <a:pPr eaLnBrk="1" hangingPunct="1">
              <a:lnSpc>
                <a:spcPct val="80000"/>
              </a:lnSpc>
              <a:buFontTx/>
              <a:buNone/>
            </a:pPr>
            <a:r>
              <a:rPr lang="en-US" altLang="zh-CN" sz="2000" b="1" baseline="0" dirty="0">
                <a:latin typeface="Times New Roman" panose="02020603050405020304" pitchFamily="18" charset="0"/>
                <a:ea typeface="楷体-简" panose="02010600040101010101" pitchFamily="2" charset="-122"/>
              </a:rPr>
              <a:t>       int sum=0;</a:t>
            </a:r>
          </a:p>
          <a:p>
            <a:pPr eaLnBrk="1" hangingPunct="1">
              <a:lnSpc>
                <a:spcPct val="80000"/>
              </a:lnSpc>
              <a:buFontTx/>
              <a:buNone/>
            </a:pPr>
            <a:r>
              <a:rPr lang="en-US" altLang="zh-CN" sz="2000" b="1" baseline="0" dirty="0">
                <a:latin typeface="Times New Roman" panose="02020603050405020304" pitchFamily="18" charset="0"/>
                <a:ea typeface="楷体-简" panose="02010600040101010101" pitchFamily="2" charset="-122"/>
              </a:rPr>
              <a:t>       int m=0;</a:t>
            </a:r>
          </a:p>
          <a:p>
            <a:pPr eaLnBrk="1" hangingPunct="1">
              <a:lnSpc>
                <a:spcPct val="80000"/>
              </a:lnSpc>
              <a:buFontTx/>
              <a:buNone/>
            </a:pPr>
            <a:r>
              <a:rPr lang="en-US" altLang="zh-CN" sz="2000" b="1" baseline="0" dirty="0">
                <a:latin typeface="Times New Roman" panose="02020603050405020304" pitchFamily="18" charset="0"/>
                <a:ea typeface="楷体-简" panose="02010600040101010101" pitchFamily="2" charset="-122"/>
              </a:rPr>
              <a:t>       int a[][] = new int[3][2];</a:t>
            </a:r>
          </a:p>
          <a:p>
            <a:pPr eaLnBrk="1" hangingPunct="1">
              <a:lnSpc>
                <a:spcPct val="80000"/>
              </a:lnSpc>
              <a:buFontTx/>
              <a:buNone/>
            </a:pPr>
            <a:r>
              <a:rPr lang="en-US" altLang="zh-CN" sz="2000" b="1" baseline="0" dirty="0">
                <a:latin typeface="Times New Roman" panose="02020603050405020304" pitchFamily="18" charset="0"/>
                <a:ea typeface="楷体-简" panose="02010600040101010101" pitchFamily="2" charset="-122"/>
              </a:rPr>
              <a:t>       //</a:t>
            </a:r>
            <a:r>
              <a:rPr lang="en-US" altLang="zh-CN" sz="2000" b="1" baseline="0" dirty="0" err="1">
                <a:latin typeface="Times New Roman" panose="02020603050405020304" pitchFamily="18" charset="0"/>
                <a:ea typeface="楷体-简" panose="02010600040101010101" pitchFamily="2" charset="-122"/>
              </a:rPr>
              <a:t>System.out.println</a:t>
            </a:r>
            <a:r>
              <a:rPr lang="en-US" altLang="zh-CN" sz="2000" b="1" baseline="0" dirty="0">
                <a:latin typeface="Times New Roman" panose="02020603050405020304" pitchFamily="18" charset="0"/>
                <a:ea typeface="楷体-简" panose="02010600040101010101" pitchFamily="2" charset="-122"/>
              </a:rPr>
              <a:t>(</a:t>
            </a:r>
            <a:r>
              <a:rPr lang="en-US" altLang="zh-CN" sz="2000" b="1" baseline="0" dirty="0" err="1">
                <a:latin typeface="Times New Roman" panose="02020603050405020304" pitchFamily="18" charset="0"/>
                <a:ea typeface="楷体-简" panose="02010600040101010101" pitchFamily="2" charset="-122"/>
              </a:rPr>
              <a:t>a.length</a:t>
            </a:r>
            <a:r>
              <a:rPr lang="en-US" altLang="zh-CN" sz="2000" b="1" baseline="0" dirty="0">
                <a:latin typeface="Times New Roman" panose="02020603050405020304" pitchFamily="18" charset="0"/>
                <a:ea typeface="楷体-简" panose="02010600040101010101" pitchFamily="2" charset="-122"/>
              </a:rPr>
              <a:t>);</a:t>
            </a:r>
          </a:p>
          <a:p>
            <a:pPr eaLnBrk="1" hangingPunct="1">
              <a:lnSpc>
                <a:spcPct val="80000"/>
              </a:lnSpc>
              <a:buFontTx/>
              <a:buNone/>
            </a:pPr>
            <a:r>
              <a:rPr lang="en-US" altLang="zh-CN" sz="2000" b="1" baseline="0" dirty="0">
                <a:latin typeface="Times New Roman" panose="02020603050405020304" pitchFamily="18" charset="0"/>
                <a:ea typeface="楷体-简" panose="02010600040101010101" pitchFamily="2" charset="-122"/>
              </a:rPr>
              <a:t>       for(int </a:t>
            </a:r>
            <a:r>
              <a:rPr lang="en-US" altLang="zh-CN" sz="2000" b="1" baseline="0" dirty="0" err="1">
                <a:latin typeface="Times New Roman" panose="02020603050405020304" pitchFamily="18" charset="0"/>
                <a:ea typeface="楷体-简" panose="02010600040101010101" pitchFamily="2" charset="-122"/>
              </a:rPr>
              <a:t>i</a:t>
            </a:r>
            <a:r>
              <a:rPr lang="en-US" altLang="zh-CN" sz="2000" b="1" baseline="0" dirty="0">
                <a:latin typeface="Times New Roman" panose="02020603050405020304" pitchFamily="18" charset="0"/>
                <a:ea typeface="楷体-简" panose="02010600040101010101" pitchFamily="2" charset="-122"/>
              </a:rPr>
              <a:t>=0; </a:t>
            </a:r>
            <a:r>
              <a:rPr lang="en-US" altLang="zh-CN" sz="2000" b="1" baseline="0" dirty="0" err="1">
                <a:latin typeface="Times New Roman" panose="02020603050405020304" pitchFamily="18" charset="0"/>
                <a:ea typeface="楷体-简" panose="02010600040101010101" pitchFamily="2" charset="-122"/>
              </a:rPr>
              <a:t>i</a:t>
            </a:r>
            <a:r>
              <a:rPr lang="en-US" altLang="zh-CN" sz="2000" b="1" baseline="0" dirty="0">
                <a:latin typeface="Times New Roman" panose="02020603050405020304" pitchFamily="18" charset="0"/>
                <a:ea typeface="楷体-简" panose="02010600040101010101" pitchFamily="2" charset="-122"/>
              </a:rPr>
              <a:t>&lt;</a:t>
            </a:r>
            <a:r>
              <a:rPr lang="en-US" altLang="zh-CN" sz="2000" b="1" baseline="0" dirty="0" err="1">
                <a:latin typeface="Times New Roman" panose="02020603050405020304" pitchFamily="18" charset="0"/>
                <a:ea typeface="楷体-简" panose="02010600040101010101" pitchFamily="2" charset="-122"/>
              </a:rPr>
              <a:t>a.length</a:t>
            </a:r>
            <a:r>
              <a:rPr lang="en-US" altLang="zh-CN" sz="2000" b="1" baseline="0" dirty="0">
                <a:latin typeface="Times New Roman" panose="02020603050405020304" pitchFamily="18" charset="0"/>
                <a:ea typeface="楷体-简" panose="02010600040101010101" pitchFamily="2" charset="-122"/>
              </a:rPr>
              <a:t>; </a:t>
            </a:r>
            <a:r>
              <a:rPr lang="en-US" altLang="zh-CN" sz="2000" b="1" baseline="0" dirty="0" err="1">
                <a:latin typeface="Times New Roman" panose="02020603050405020304" pitchFamily="18" charset="0"/>
                <a:ea typeface="楷体-简" panose="02010600040101010101" pitchFamily="2" charset="-122"/>
              </a:rPr>
              <a:t>i</a:t>
            </a:r>
            <a:r>
              <a:rPr lang="en-US" altLang="zh-CN" sz="2000" b="1" baseline="0" dirty="0">
                <a:latin typeface="Times New Roman" panose="02020603050405020304" pitchFamily="18" charset="0"/>
                <a:ea typeface="楷体-简" panose="02010600040101010101" pitchFamily="2" charset="-122"/>
              </a:rPr>
              <a:t>++)</a:t>
            </a:r>
          </a:p>
          <a:p>
            <a:pPr eaLnBrk="1" hangingPunct="1">
              <a:lnSpc>
                <a:spcPct val="80000"/>
              </a:lnSpc>
              <a:buFontTx/>
              <a:buNone/>
            </a:pPr>
            <a:r>
              <a:rPr lang="en-US" altLang="zh-CN" sz="2000" b="1" baseline="0" dirty="0">
                <a:latin typeface="Times New Roman" panose="02020603050405020304" pitchFamily="18" charset="0"/>
                <a:ea typeface="楷体-简" panose="02010600040101010101" pitchFamily="2" charset="-122"/>
              </a:rPr>
              <a:t>       {  </a:t>
            </a:r>
          </a:p>
          <a:p>
            <a:pPr eaLnBrk="1" hangingPunct="1">
              <a:lnSpc>
                <a:spcPct val="80000"/>
              </a:lnSpc>
              <a:buFontTx/>
              <a:buNone/>
            </a:pPr>
            <a:r>
              <a:rPr lang="en-US" altLang="zh-CN" sz="2000" b="1" baseline="0" dirty="0">
                <a:latin typeface="Times New Roman" panose="02020603050405020304" pitchFamily="18" charset="0"/>
                <a:ea typeface="楷体-简" panose="02010600040101010101" pitchFamily="2" charset="-122"/>
              </a:rPr>
              <a:t>       	  for(int j=0; j&lt;a[</a:t>
            </a:r>
            <a:r>
              <a:rPr lang="en-US" altLang="zh-CN" sz="2000" b="1" baseline="0" dirty="0" err="1">
                <a:latin typeface="Times New Roman" panose="02020603050405020304" pitchFamily="18" charset="0"/>
                <a:ea typeface="楷体-简" panose="02010600040101010101" pitchFamily="2" charset="-122"/>
              </a:rPr>
              <a:t>i</a:t>
            </a:r>
            <a:r>
              <a:rPr lang="en-US" altLang="zh-CN" sz="2000" b="1" baseline="0" dirty="0">
                <a:latin typeface="Times New Roman" panose="02020603050405020304" pitchFamily="18" charset="0"/>
                <a:ea typeface="楷体-简" panose="02010600040101010101" pitchFamily="2" charset="-122"/>
              </a:rPr>
              <a:t>].length; </a:t>
            </a:r>
            <a:r>
              <a:rPr lang="en-US" altLang="zh-CN" sz="2000" b="1" baseline="0" dirty="0" err="1">
                <a:latin typeface="Times New Roman" panose="02020603050405020304" pitchFamily="18" charset="0"/>
                <a:ea typeface="楷体-简" panose="02010600040101010101" pitchFamily="2" charset="-122"/>
              </a:rPr>
              <a:t>j++</a:t>
            </a:r>
            <a:r>
              <a:rPr lang="en-US" altLang="zh-CN" sz="2000" b="1" baseline="0" dirty="0">
                <a:latin typeface="Times New Roman" panose="02020603050405020304" pitchFamily="18" charset="0"/>
                <a:ea typeface="楷体-简" panose="02010600040101010101" pitchFamily="2" charset="-122"/>
              </a:rPr>
              <a:t>)</a:t>
            </a:r>
          </a:p>
          <a:p>
            <a:pPr eaLnBrk="1" hangingPunct="1">
              <a:lnSpc>
                <a:spcPct val="80000"/>
              </a:lnSpc>
              <a:buFontTx/>
              <a:buNone/>
            </a:pPr>
            <a:r>
              <a:rPr lang="en-US" altLang="zh-CN" sz="2000" b="1" baseline="0" dirty="0">
                <a:latin typeface="Times New Roman" panose="02020603050405020304" pitchFamily="18" charset="0"/>
                <a:ea typeface="楷体-简" panose="02010600040101010101" pitchFamily="2" charset="-122"/>
              </a:rPr>
              <a:t>       	  {	a[</a:t>
            </a:r>
            <a:r>
              <a:rPr lang="en-US" altLang="zh-CN" sz="2000" b="1" baseline="0" dirty="0" err="1">
                <a:latin typeface="Times New Roman" panose="02020603050405020304" pitchFamily="18" charset="0"/>
                <a:ea typeface="楷体-简" panose="02010600040101010101" pitchFamily="2" charset="-122"/>
              </a:rPr>
              <a:t>i</a:t>
            </a:r>
            <a:r>
              <a:rPr lang="en-US" altLang="zh-CN" sz="2000" b="1" baseline="0" dirty="0">
                <a:latin typeface="Times New Roman" panose="02020603050405020304" pitchFamily="18" charset="0"/>
                <a:ea typeface="楷体-简" panose="02010600040101010101" pitchFamily="2" charset="-122"/>
              </a:rPr>
              <a:t>][j]=</a:t>
            </a:r>
            <a:r>
              <a:rPr lang="en-US" altLang="zh-CN" sz="2000" b="1" baseline="0" dirty="0" err="1">
                <a:latin typeface="Times New Roman" panose="02020603050405020304" pitchFamily="18" charset="0"/>
                <a:ea typeface="楷体-简" panose="02010600040101010101" pitchFamily="2" charset="-122"/>
              </a:rPr>
              <a:t>reader.nextInt</a:t>
            </a:r>
            <a:r>
              <a:rPr lang="en-US" altLang="zh-CN" sz="2000" b="1" baseline="0" dirty="0">
                <a:latin typeface="Times New Roman" panose="02020603050405020304" pitchFamily="18" charset="0"/>
                <a:ea typeface="楷体-简" panose="02010600040101010101" pitchFamily="2" charset="-122"/>
              </a:rPr>
              <a:t>();</a:t>
            </a:r>
          </a:p>
          <a:p>
            <a:pPr eaLnBrk="1" hangingPunct="1">
              <a:lnSpc>
                <a:spcPct val="80000"/>
              </a:lnSpc>
              <a:buFontTx/>
              <a:buNone/>
            </a:pPr>
            <a:r>
              <a:rPr lang="en-US" altLang="zh-CN" sz="2000" b="1" baseline="0" dirty="0">
                <a:latin typeface="Times New Roman" panose="02020603050405020304" pitchFamily="18" charset="0"/>
                <a:ea typeface="楷体-简" panose="02010600040101010101" pitchFamily="2" charset="-122"/>
              </a:rPr>
              <a:t>       	  	m=m+1;</a:t>
            </a:r>
          </a:p>
          <a:p>
            <a:pPr eaLnBrk="1" hangingPunct="1">
              <a:lnSpc>
                <a:spcPct val="80000"/>
              </a:lnSpc>
              <a:buFontTx/>
              <a:buNone/>
            </a:pPr>
            <a:r>
              <a:rPr lang="en-US" altLang="zh-CN" sz="2000" b="1" baseline="0" dirty="0">
                <a:latin typeface="Times New Roman" panose="02020603050405020304" pitchFamily="18" charset="0"/>
                <a:ea typeface="楷体-简" panose="02010600040101010101" pitchFamily="2" charset="-122"/>
              </a:rPr>
              <a:t>       	  	sum=</a:t>
            </a:r>
            <a:r>
              <a:rPr lang="en-US" altLang="zh-CN" sz="2000" b="1" baseline="0" dirty="0" err="1">
                <a:latin typeface="Times New Roman" panose="02020603050405020304" pitchFamily="18" charset="0"/>
                <a:ea typeface="楷体-简" panose="02010600040101010101" pitchFamily="2" charset="-122"/>
              </a:rPr>
              <a:t>sum+a</a:t>
            </a:r>
            <a:r>
              <a:rPr lang="en-US" altLang="zh-CN" sz="2000" b="1" baseline="0" dirty="0">
                <a:latin typeface="Times New Roman" panose="02020603050405020304" pitchFamily="18" charset="0"/>
                <a:ea typeface="楷体-简" panose="02010600040101010101" pitchFamily="2" charset="-122"/>
              </a:rPr>
              <a:t>[</a:t>
            </a:r>
            <a:r>
              <a:rPr lang="en-US" altLang="zh-CN" sz="2000" b="1" baseline="0" dirty="0" err="1">
                <a:latin typeface="Times New Roman" panose="02020603050405020304" pitchFamily="18" charset="0"/>
                <a:ea typeface="楷体-简" panose="02010600040101010101" pitchFamily="2" charset="-122"/>
              </a:rPr>
              <a:t>i</a:t>
            </a:r>
            <a:r>
              <a:rPr lang="en-US" altLang="zh-CN" sz="2000" b="1" baseline="0" dirty="0">
                <a:latin typeface="Times New Roman" panose="02020603050405020304" pitchFamily="18" charset="0"/>
                <a:ea typeface="楷体-简" panose="02010600040101010101" pitchFamily="2" charset="-122"/>
              </a:rPr>
              <a:t>][j];</a:t>
            </a:r>
          </a:p>
          <a:p>
            <a:pPr eaLnBrk="1" hangingPunct="1">
              <a:lnSpc>
                <a:spcPct val="80000"/>
              </a:lnSpc>
              <a:buFontTx/>
              <a:buNone/>
            </a:pPr>
            <a:r>
              <a:rPr lang="en-US" altLang="zh-CN" sz="2000" b="1" baseline="0" dirty="0">
                <a:latin typeface="Times New Roman" panose="02020603050405020304" pitchFamily="18" charset="0"/>
                <a:ea typeface="楷体-简" panose="02010600040101010101" pitchFamily="2" charset="-122"/>
              </a:rPr>
              <a:t>       	  }</a:t>
            </a:r>
          </a:p>
          <a:p>
            <a:pPr eaLnBrk="1" hangingPunct="1">
              <a:lnSpc>
                <a:spcPct val="80000"/>
              </a:lnSpc>
              <a:buFontTx/>
              <a:buNone/>
            </a:pPr>
            <a:r>
              <a:rPr lang="en-US" altLang="zh-CN" sz="2000" b="1" baseline="0" dirty="0">
                <a:latin typeface="Times New Roman" panose="02020603050405020304" pitchFamily="18" charset="0"/>
                <a:ea typeface="楷体-简" panose="02010600040101010101" pitchFamily="2" charset="-122"/>
              </a:rPr>
              <a:t>      }</a:t>
            </a:r>
          </a:p>
          <a:p>
            <a:pPr eaLnBrk="1" hangingPunct="1">
              <a:lnSpc>
                <a:spcPct val="80000"/>
              </a:lnSpc>
              <a:buFontTx/>
              <a:buNone/>
            </a:pPr>
            <a:r>
              <a:rPr lang="en-US" altLang="zh-CN" sz="2000" b="1" baseline="0" dirty="0">
                <a:latin typeface="Times New Roman" panose="02020603050405020304" pitchFamily="18" charset="0"/>
                <a:ea typeface="楷体-简" panose="02010600040101010101" pitchFamily="2" charset="-122"/>
              </a:rPr>
              <a:t>       </a:t>
            </a:r>
            <a:r>
              <a:rPr lang="en-US" altLang="zh-CN" sz="2000" b="1" baseline="0" dirty="0" err="1">
                <a:latin typeface="Times New Roman" panose="02020603050405020304" pitchFamily="18" charset="0"/>
                <a:ea typeface="楷体-简" panose="02010600040101010101" pitchFamily="2" charset="-122"/>
              </a:rPr>
              <a:t>System.out.printf</a:t>
            </a:r>
            <a:r>
              <a:rPr lang="en-US" altLang="zh-CN" sz="2000" b="1" baseline="0" dirty="0">
                <a:latin typeface="Times New Roman" panose="02020603050405020304" pitchFamily="18" charset="0"/>
                <a:ea typeface="楷体-简" panose="02010600040101010101" pitchFamily="2" charset="-122"/>
              </a:rPr>
              <a:t>("%d</a:t>
            </a:r>
            <a:r>
              <a:rPr lang="zh-CN" altLang="en-US" sz="2000" b="1" baseline="0" dirty="0">
                <a:latin typeface="Times New Roman" panose="02020603050405020304" pitchFamily="18" charset="0"/>
                <a:ea typeface="楷体-简" panose="02010600040101010101" pitchFamily="2" charset="-122"/>
              </a:rPr>
              <a:t>个数的和为</a:t>
            </a:r>
            <a:r>
              <a:rPr lang="en-US" altLang="zh-CN" sz="2000" b="1" baseline="0" dirty="0">
                <a:latin typeface="Times New Roman" panose="02020603050405020304" pitchFamily="18" charset="0"/>
                <a:ea typeface="楷体-简" panose="02010600040101010101" pitchFamily="2" charset="-122"/>
              </a:rPr>
              <a:t>%d\n", m, sum);</a:t>
            </a:r>
          </a:p>
          <a:p>
            <a:pPr eaLnBrk="1" hangingPunct="1">
              <a:lnSpc>
                <a:spcPct val="80000"/>
              </a:lnSpc>
              <a:buFontTx/>
              <a:buNone/>
            </a:pPr>
            <a:r>
              <a:rPr lang="en-US" altLang="zh-CN" sz="2000" b="1" baseline="0" dirty="0">
                <a:latin typeface="Times New Roman" panose="02020603050405020304" pitchFamily="18" charset="0"/>
                <a:ea typeface="楷体-简" panose="02010600040101010101" pitchFamily="2" charset="-122"/>
              </a:rPr>
              <a:t>       </a:t>
            </a:r>
            <a:r>
              <a:rPr lang="en-US" altLang="zh-CN" sz="2000" b="1" baseline="0" dirty="0" err="1">
                <a:latin typeface="Times New Roman" panose="02020603050405020304" pitchFamily="18" charset="0"/>
                <a:ea typeface="楷体-简" panose="02010600040101010101" pitchFamily="2" charset="-122"/>
              </a:rPr>
              <a:t>System.out.printf</a:t>
            </a:r>
            <a:r>
              <a:rPr lang="en-US" altLang="zh-CN" sz="2000" b="1" baseline="0" dirty="0">
                <a:latin typeface="Times New Roman" panose="02020603050405020304" pitchFamily="18" charset="0"/>
                <a:ea typeface="楷体-简" panose="02010600040101010101" pitchFamily="2" charset="-122"/>
              </a:rPr>
              <a:t>("%d</a:t>
            </a:r>
            <a:r>
              <a:rPr lang="zh-CN" altLang="en-US" sz="2000" b="1" baseline="0" dirty="0">
                <a:latin typeface="Times New Roman" panose="02020603050405020304" pitchFamily="18" charset="0"/>
                <a:ea typeface="楷体-简" panose="02010600040101010101" pitchFamily="2" charset="-122"/>
              </a:rPr>
              <a:t>个数的平均值是</a:t>
            </a:r>
            <a:r>
              <a:rPr lang="en-US" altLang="zh-CN" sz="2000" b="1" baseline="0" dirty="0">
                <a:latin typeface="Times New Roman" panose="02020603050405020304" pitchFamily="18" charset="0"/>
                <a:ea typeface="楷体-简" panose="02010600040101010101" pitchFamily="2" charset="-122"/>
              </a:rPr>
              <a:t>%f\</a:t>
            </a:r>
            <a:r>
              <a:rPr lang="en-US" altLang="zh-CN" sz="2000" b="1" baseline="0" dirty="0" err="1">
                <a:latin typeface="Times New Roman" panose="02020603050405020304" pitchFamily="18" charset="0"/>
                <a:ea typeface="楷体-简" panose="02010600040101010101" pitchFamily="2" charset="-122"/>
              </a:rPr>
              <a:t>n",m</a:t>
            </a:r>
            <a:r>
              <a:rPr lang="en-US" altLang="zh-CN" sz="2000" b="1" baseline="0" dirty="0">
                <a:latin typeface="Times New Roman" panose="02020603050405020304" pitchFamily="18" charset="0"/>
                <a:ea typeface="楷体-简" panose="02010600040101010101" pitchFamily="2" charset="-122"/>
              </a:rPr>
              <a:t>, (double)sum/m); </a:t>
            </a:r>
          </a:p>
          <a:p>
            <a:pPr eaLnBrk="1" hangingPunct="1">
              <a:lnSpc>
                <a:spcPct val="80000"/>
              </a:lnSpc>
              <a:buFontTx/>
              <a:buNone/>
            </a:pPr>
            <a:r>
              <a:rPr lang="en-US" altLang="zh-CN" sz="2000" b="1" baseline="0" dirty="0">
                <a:latin typeface="Times New Roman" panose="02020603050405020304" pitchFamily="18" charset="0"/>
                <a:ea typeface="楷体-简" panose="02010600040101010101" pitchFamily="2" charset="-122"/>
              </a:rPr>
              <a:t>    }</a:t>
            </a:r>
          </a:p>
          <a:p>
            <a:pPr eaLnBrk="1" hangingPunct="1">
              <a:lnSpc>
                <a:spcPct val="80000"/>
              </a:lnSpc>
              <a:buFontTx/>
              <a:buNone/>
            </a:pPr>
            <a:r>
              <a:rPr lang="en-US" altLang="zh-CN" sz="2000" b="1" baseline="0" dirty="0">
                <a:latin typeface="Times New Roman" panose="02020603050405020304" pitchFamily="18" charset="0"/>
                <a:ea typeface="楷体-简" panose="02010600040101010101" pitchFamily="2" charset="-122"/>
              </a:rPr>
              <a:t>}</a:t>
            </a:r>
          </a:p>
          <a:p>
            <a:pPr eaLnBrk="1" hangingPunct="1">
              <a:lnSpc>
                <a:spcPct val="80000"/>
              </a:lnSpc>
              <a:buFontTx/>
              <a:buNone/>
            </a:pPr>
            <a:endParaRPr lang="en-US" altLang="zh-CN" sz="2000" b="1" baseline="0" dirty="0">
              <a:latin typeface="Times New Roman" panose="02020603050405020304" pitchFamily="18" charset="0"/>
              <a:ea typeface="楷体-简" panose="02010600040101010101" pitchFamily="2" charset="-122"/>
            </a:endParaRPr>
          </a:p>
        </p:txBody>
      </p:sp>
      <p:sp>
        <p:nvSpPr>
          <p:cNvPr id="699396" name="Text Box 4">
            <a:extLst>
              <a:ext uri="{FF2B5EF4-FFF2-40B4-BE49-F238E27FC236}">
                <a16:creationId xmlns:a16="http://schemas.microsoft.com/office/drawing/2014/main" id="{022F5F4F-8485-4227-96C9-5D7ECDFFD2BD}"/>
              </a:ext>
            </a:extLst>
          </p:cNvPr>
          <p:cNvSpPr txBox="1">
            <a:spLocks noChangeArrowheads="1"/>
          </p:cNvSpPr>
          <p:nvPr/>
        </p:nvSpPr>
        <p:spPr bwMode="auto">
          <a:xfrm>
            <a:off x="5580063" y="3644900"/>
            <a:ext cx="3563937" cy="1054100"/>
          </a:xfrm>
          <a:prstGeom prst="rect">
            <a:avLst/>
          </a:prstGeom>
          <a:solidFill>
            <a:schemeClr val="tx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100">
                <a:solidFill>
                  <a:schemeClr val="bg1"/>
                </a:solidFill>
                <a:latin typeface="Lucida Console" panose="020B0609040504020204" pitchFamily="49" charset="0"/>
              </a:rPr>
              <a:t>1 2 3 4 5 6</a:t>
            </a:r>
          </a:p>
          <a:p>
            <a:pPr eaLnBrk="1" hangingPunct="1">
              <a:spcBef>
                <a:spcPct val="0"/>
              </a:spcBef>
              <a:buFontTx/>
              <a:buNone/>
            </a:pPr>
            <a:r>
              <a:rPr lang="en-US" altLang="zh-CN" sz="2100">
                <a:solidFill>
                  <a:schemeClr val="bg1"/>
                </a:solidFill>
                <a:latin typeface="Lucida Console" panose="020B0609040504020204" pitchFamily="49" charset="0"/>
              </a:rPr>
              <a:t>6</a:t>
            </a:r>
            <a:r>
              <a:rPr lang="zh-CN" altLang="en-US" sz="2100">
                <a:solidFill>
                  <a:schemeClr val="bg1"/>
                </a:solidFill>
                <a:latin typeface="Lucida Console" panose="020B0609040504020204" pitchFamily="49" charset="0"/>
              </a:rPr>
              <a:t>个数的和为</a:t>
            </a:r>
            <a:r>
              <a:rPr lang="en-US" altLang="zh-CN" sz="2100">
                <a:solidFill>
                  <a:schemeClr val="bg1"/>
                </a:solidFill>
                <a:latin typeface="Lucida Console" panose="020B0609040504020204" pitchFamily="49" charset="0"/>
              </a:rPr>
              <a:t>21</a:t>
            </a:r>
          </a:p>
          <a:p>
            <a:pPr eaLnBrk="1" hangingPunct="1">
              <a:spcBef>
                <a:spcPct val="0"/>
              </a:spcBef>
              <a:buFontTx/>
              <a:buNone/>
            </a:pPr>
            <a:r>
              <a:rPr lang="en-US" altLang="zh-CN" sz="2100">
                <a:solidFill>
                  <a:schemeClr val="bg1"/>
                </a:solidFill>
                <a:latin typeface="Lucida Console" panose="020B0609040504020204" pitchFamily="49" charset="0"/>
              </a:rPr>
              <a:t>6</a:t>
            </a:r>
            <a:r>
              <a:rPr lang="zh-CN" altLang="en-US" sz="2100">
                <a:solidFill>
                  <a:schemeClr val="bg1"/>
                </a:solidFill>
                <a:latin typeface="Lucida Console" panose="020B0609040504020204" pitchFamily="49" charset="0"/>
              </a:rPr>
              <a:t>个数的平均值是</a:t>
            </a:r>
            <a:r>
              <a:rPr lang="en-US" altLang="zh-CN" sz="2100">
                <a:solidFill>
                  <a:schemeClr val="bg1"/>
                </a:solidFill>
                <a:latin typeface="Lucida Console" panose="020B0609040504020204" pitchFamily="49" charset="0"/>
              </a:rPr>
              <a:t>3.500000</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99396"/>
                                        </p:tgtEl>
                                        <p:attrNameLst>
                                          <p:attrName>style.visibility</p:attrName>
                                        </p:attrNameLst>
                                      </p:cBhvr>
                                      <p:to>
                                        <p:strVal val="visible"/>
                                      </p:to>
                                    </p:set>
                                    <p:anim calcmode="lin" valueType="num">
                                      <p:cBhvr additive="base">
                                        <p:cTn id="7" dur="500" fill="hold"/>
                                        <p:tgtEl>
                                          <p:spTgt spid="699396"/>
                                        </p:tgtEl>
                                        <p:attrNameLst>
                                          <p:attrName>ppt_x</p:attrName>
                                        </p:attrNameLst>
                                      </p:cBhvr>
                                      <p:tavLst>
                                        <p:tav tm="0">
                                          <p:val>
                                            <p:strVal val="#ppt_x"/>
                                          </p:val>
                                        </p:tav>
                                        <p:tav tm="100000">
                                          <p:val>
                                            <p:strVal val="#ppt_x"/>
                                          </p:val>
                                        </p:tav>
                                      </p:tavLst>
                                    </p:anim>
                                    <p:anim calcmode="lin" valueType="num">
                                      <p:cBhvr additive="base">
                                        <p:cTn id="8" dur="500" fill="hold"/>
                                        <p:tgtEl>
                                          <p:spTgt spid="69939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9396"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D93921-5D8C-B04D-BD5B-2A685A774BDC}"/>
              </a:ext>
            </a:extLst>
          </p:cNvPr>
          <p:cNvSpPr>
            <a:spLocks noGrp="1"/>
          </p:cNvSpPr>
          <p:nvPr>
            <p:ph type="title"/>
          </p:nvPr>
        </p:nvSpPr>
        <p:spPr/>
        <p:txBody>
          <a:bodyPr/>
          <a:lstStyle/>
          <a:p>
            <a:pPr algn="l"/>
            <a:r>
              <a:rPr kumimoji="1" lang="zh-CN" altLang="en-US" sz="2800" baseline="0" dirty="0">
                <a:solidFill>
                  <a:srgbClr val="FF0000"/>
                </a:solidFill>
                <a:latin typeface="Times New Roman" panose="02020603050405020304" pitchFamily="18" charset="0"/>
                <a:ea typeface="楷体-简" panose="02010600040101010101" pitchFamily="2" charset="-122"/>
              </a:rPr>
              <a:t>例子：</a:t>
            </a:r>
            <a:r>
              <a:rPr lang="en" altLang="zh-CN" sz="2800" baseline="0" dirty="0">
                <a:solidFill>
                  <a:srgbClr val="FF0000"/>
                </a:solidFill>
                <a:latin typeface="Times New Roman" panose="02020603050405020304" pitchFamily="18" charset="0"/>
                <a:ea typeface="楷体-简" panose="02010600040101010101" pitchFamily="2" charset="-122"/>
              </a:rPr>
              <a:t> ch07.fig07_18_19</a:t>
            </a:r>
            <a:endParaRPr kumimoji="1" lang="zh-CN" altLang="en-US" sz="2800" baseline="0" dirty="0">
              <a:solidFill>
                <a:srgbClr val="FF0000"/>
              </a:solidFill>
              <a:latin typeface="Times New Roman" panose="02020603050405020304" pitchFamily="18" charset="0"/>
              <a:ea typeface="楷体-简" panose="02010600040101010101" pitchFamily="2" charset="-122"/>
            </a:endParaRPr>
          </a:p>
        </p:txBody>
      </p:sp>
      <p:pic>
        <p:nvPicPr>
          <p:cNvPr id="4" name="图片 3">
            <a:extLst>
              <a:ext uri="{FF2B5EF4-FFF2-40B4-BE49-F238E27FC236}">
                <a16:creationId xmlns:a16="http://schemas.microsoft.com/office/drawing/2014/main" id="{DCFC9998-73ED-334D-AEFF-E012245D1E63}"/>
              </a:ext>
            </a:extLst>
          </p:cNvPr>
          <p:cNvPicPr>
            <a:picLocks noChangeAspect="1"/>
          </p:cNvPicPr>
          <p:nvPr/>
        </p:nvPicPr>
        <p:blipFill>
          <a:blip r:embed="rId3"/>
          <a:stretch>
            <a:fillRect/>
          </a:stretch>
        </p:blipFill>
        <p:spPr>
          <a:xfrm>
            <a:off x="225694" y="1427172"/>
            <a:ext cx="8692611" cy="4100608"/>
          </a:xfrm>
          <a:prstGeom prst="rect">
            <a:avLst/>
          </a:prstGeom>
        </p:spPr>
      </p:pic>
      <p:sp>
        <p:nvSpPr>
          <p:cNvPr id="5" name="文本框 4">
            <a:extLst>
              <a:ext uri="{FF2B5EF4-FFF2-40B4-BE49-F238E27FC236}">
                <a16:creationId xmlns:a16="http://schemas.microsoft.com/office/drawing/2014/main" id="{8D3120CE-CC30-6E48-91E4-3E6E6DC2A67F}"/>
              </a:ext>
            </a:extLst>
          </p:cNvPr>
          <p:cNvSpPr txBox="1"/>
          <p:nvPr/>
        </p:nvSpPr>
        <p:spPr>
          <a:xfrm>
            <a:off x="755576" y="6165304"/>
            <a:ext cx="3373039" cy="384721"/>
          </a:xfrm>
          <a:prstGeom prst="rect">
            <a:avLst/>
          </a:prstGeom>
          <a:noFill/>
        </p:spPr>
        <p:txBody>
          <a:bodyPr wrap="none" rtlCol="0">
            <a:spAutoFit/>
          </a:bodyPr>
          <a:lstStyle/>
          <a:p>
            <a:r>
              <a:rPr kumimoji="1" lang="zh-CN" altLang="en-US" dirty="0"/>
              <a:t>另外，注意类和方法设计细节</a:t>
            </a:r>
          </a:p>
        </p:txBody>
      </p:sp>
    </p:spTree>
    <p:extLst>
      <p:ext uri="{BB962C8B-B14F-4D97-AF65-F5344CB8AC3E}">
        <p14:creationId xmlns:p14="http://schemas.microsoft.com/office/powerpoint/2010/main" val="428991847"/>
      </p:ext>
    </p:extLst>
  </p:cSld>
  <p:clrMapOvr>
    <a:masterClrMapping/>
  </p:clrMapOvr>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FFE699"/>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900" b="1" i="0" u="none" strike="noStrike" cap="none" normalizeH="0" baseline="0" smtClean="0">
            <a:ln>
              <a:noFill/>
            </a:ln>
            <a:solidFill>
              <a:srgbClr val="008000"/>
            </a:solidFill>
            <a:effectLst/>
            <a:latin typeface="Lucida Console" panose="020B0609040504020204" pitchFamily="49" charset="0"/>
            <a:ea typeface="宋体" panose="02010600030101010101" pitchFamily="2" charset="-122"/>
            <a:cs typeface="Times New Roman" panose="02020603050405020304" pitchFamily="18" charset="0"/>
          </a:defRPr>
        </a:defPPr>
      </a:lstStyle>
    </a:spDef>
    <a:lnDef>
      <a:spPr bwMode="auto">
        <a:xfrm>
          <a:off x="0" y="0"/>
          <a:ext cx="1" cy="1"/>
        </a:xfrm>
        <a:custGeom>
          <a:avLst/>
          <a:gdLst/>
          <a:ahLst/>
          <a:cxnLst/>
          <a:rect l="0" t="0" r="0" b="0"/>
          <a:pathLst/>
        </a:custGeom>
        <a:solidFill>
          <a:srgbClr val="FFE699"/>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900" b="1" i="0" u="none" strike="noStrike" cap="none" normalizeH="0" baseline="0" smtClean="0">
            <a:ln>
              <a:noFill/>
            </a:ln>
            <a:solidFill>
              <a:srgbClr val="008000"/>
            </a:solidFill>
            <a:effectLst/>
            <a:latin typeface="Lucida Console" panose="020B0609040504020204" pitchFamily="49" charset="0"/>
            <a:ea typeface="宋体" panose="02010600030101010101" pitchFamily="2" charset="-122"/>
            <a:cs typeface="Times New Roman" panose="02020603050405020304" pitchFamily="18" charset="0"/>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12418</TotalTime>
  <Words>9221</Words>
  <Application>Microsoft Macintosh PowerPoint</Application>
  <PresentationFormat>全屏显示(4:3)</PresentationFormat>
  <Paragraphs>859</Paragraphs>
  <Slides>82</Slides>
  <Notes>32</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82</vt:i4>
      </vt:variant>
    </vt:vector>
  </HeadingPairs>
  <TitlesOfParts>
    <vt:vector size="93" baseType="lpstr">
      <vt:lpstr>Arial</vt:lpstr>
      <vt:lpstr>Arial Black</vt:lpstr>
      <vt:lpstr>Cambria Math</vt:lpstr>
      <vt:lpstr>Courier New</vt:lpstr>
      <vt:lpstr>Lucida Console</vt:lpstr>
      <vt:lpstr>Menlo</vt:lpstr>
      <vt:lpstr>Tahoma</vt:lpstr>
      <vt:lpstr>Times New Roman</vt:lpstr>
      <vt:lpstr>Verdana</vt:lpstr>
      <vt:lpstr>Wingdings</vt:lpstr>
      <vt:lpstr>默认设计模板</vt:lpstr>
      <vt:lpstr>第二章 Java的基本知识</vt:lpstr>
      <vt:lpstr>2.1 标识符</vt:lpstr>
      <vt:lpstr>PowerPoint 演示文稿</vt:lpstr>
      <vt:lpstr>PowerPoint 演示文稿</vt:lpstr>
      <vt:lpstr>PowerPoint 演示文稿</vt:lpstr>
      <vt:lpstr>2.3  数据类型概述</vt:lpstr>
      <vt:lpstr>PowerPoint 演示文稿</vt:lpstr>
      <vt:lpstr>PowerPoint 演示文稿</vt:lpstr>
      <vt:lpstr>PowerPoint 演示文稿</vt:lpstr>
      <vt:lpstr>PowerPoint 演示文稿</vt:lpstr>
      <vt:lpstr>PowerPoint 演示文稿</vt:lpstr>
      <vt:lpstr>2.4 基本数据类型</vt:lpstr>
      <vt:lpstr>PowerPoint 演示文稿</vt:lpstr>
      <vt:lpstr>PowerPoint 演示文稿</vt:lpstr>
      <vt:lpstr>PowerPoint 演示文稿</vt:lpstr>
      <vt:lpstr>2.5 基本数据类型的转换</vt:lpstr>
      <vt:lpstr>PowerPoint 演示文稿</vt:lpstr>
      <vt:lpstr>PowerPoint 演示文稿</vt:lpstr>
      <vt:lpstr>PowerPoint 演示文稿</vt:lpstr>
      <vt:lpstr>PowerPoint 演示文稿</vt:lpstr>
      <vt:lpstr>2.6 运算符</vt:lpstr>
      <vt:lpstr>算术运算符</vt:lpstr>
      <vt:lpstr>算术运算符的注意问题</vt:lpstr>
      <vt:lpstr>赋值运算符 </vt:lpstr>
      <vt:lpstr>赋值运算符的注意问题</vt:lpstr>
      <vt:lpstr>    Is “a+=b” same as “a =a + b” ?     </vt:lpstr>
      <vt:lpstr>关系运算符 （比较运行符）</vt:lpstr>
      <vt:lpstr>逻辑运算符 </vt:lpstr>
      <vt:lpstr>“&amp;”和“&amp;&amp;”的区别举例</vt:lpstr>
      <vt:lpstr>位运算符</vt:lpstr>
      <vt:lpstr>PowerPoint 演示文稿</vt:lpstr>
      <vt:lpstr>条件运算符</vt:lpstr>
      <vt:lpstr>运算符的优先级 </vt:lpstr>
      <vt:lpstr>2.7 表达式</vt:lpstr>
      <vt:lpstr>2.8 控制语句 </vt:lpstr>
      <vt:lpstr>分支语句 </vt:lpstr>
      <vt:lpstr>PowerPoint 演示文稿</vt:lpstr>
      <vt:lpstr>PowerPoint 演示文稿</vt:lpstr>
      <vt:lpstr>PowerPoint 演示文稿</vt:lpstr>
      <vt:lpstr>PowerPoint 演示文稿</vt:lpstr>
      <vt:lpstr>PowerPoint 演示文稿</vt:lpstr>
      <vt:lpstr>PowerPoint 演示文稿</vt:lpstr>
      <vt:lpstr>循环语句</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跳转语句</vt:lpstr>
      <vt:lpstr>PowerPoint 演示文稿</vt:lpstr>
      <vt:lpstr>PowerPoint 演示文稿</vt:lpstr>
      <vt:lpstr>PowerPoint 演示文稿</vt:lpstr>
      <vt:lpstr>4. 例外处理语句</vt:lpstr>
      <vt:lpstr>PowerPoint 演示文稿</vt:lpstr>
      <vt:lpstr>2.9 数组</vt:lpstr>
      <vt:lpstr>一维数组</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多维数组 </vt:lpstr>
      <vt:lpstr>二维数组</vt:lpstr>
      <vt:lpstr>PowerPoint 演示文稿</vt:lpstr>
      <vt:lpstr>PowerPoint 演示文稿</vt:lpstr>
      <vt:lpstr>PowerPoint 演示文稿</vt:lpstr>
      <vt:lpstr>PowerPoint 演示文稿</vt:lpstr>
      <vt:lpstr>例子： ch07.fig07_18_19</vt:lpstr>
    </vt:vector>
  </TitlesOfParts>
  <Company>china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第2章 java基础知识</dc:title>
  <dc:creator>zheng yan</dc:creator>
  <cp:lastModifiedBy>Microsoft Office User</cp:lastModifiedBy>
  <cp:revision>1053</cp:revision>
  <dcterms:created xsi:type="dcterms:W3CDTF">2003-03-10T03:08:59Z</dcterms:created>
  <dcterms:modified xsi:type="dcterms:W3CDTF">2025-01-23T06:23:03Z</dcterms:modified>
</cp:coreProperties>
</file>