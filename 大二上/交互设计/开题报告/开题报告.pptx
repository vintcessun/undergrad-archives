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fonts/font1.fntdata" ContentType="application/x-fontdata"/>
  <Override PartName="/ppt/fonts/font2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3"/>
    <p:sldId id="259" r:id="rId4"/>
    <p:sldId id="260" r:id="rId5"/>
    <p:sldId id="660" r:id="rId6"/>
    <p:sldId id="439" r:id="rId7"/>
    <p:sldId id="263" r:id="rId8"/>
    <p:sldId id="871" r:id="rId9"/>
    <p:sldId id="872" r:id="rId10"/>
    <p:sldId id="264" r:id="rId11"/>
    <p:sldId id="651" r:id="rId12"/>
    <p:sldId id="265" r:id="rId13"/>
    <p:sldId id="853" r:id="rId14"/>
    <p:sldId id="824" r:id="rId15"/>
    <p:sldId id="262" r:id="rId16"/>
  </p:sldIdLst>
  <p:sldSz cx="12192000" cy="6858000"/>
  <p:notesSz cx="6858000" cy="9144000"/>
  <p:embeddedFontLst>
    <p:embeddedFont>
      <p:font typeface="微软雅黑" panose="020B0503020204020204" charset="-122"/>
      <p:regular r:id="rId21"/>
    </p:embeddedFont>
    <p:embeddedFont>
      <p:font typeface="等线" panose="02010600030101010101" charset="-122"/>
      <p:regular r:id="rId2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A4C9E4"/>
    <a:srgbClr val="C1DAED"/>
    <a:srgbClr val="DCEAF5"/>
    <a:srgbClr val="37518F"/>
    <a:srgbClr val="455D91"/>
    <a:srgbClr val="E4EEF6"/>
    <a:srgbClr val="DAE8F3"/>
    <a:srgbClr val="262F52"/>
    <a:srgbClr val="ACB4C8"/>
    <a:srgbClr val="E9F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1" autoAdjust="0"/>
    <p:restoredTop sz="94660"/>
  </p:normalViewPr>
  <p:slideViewPr>
    <p:cSldViewPr snapToGrid="0">
      <p:cViewPr>
        <p:scale>
          <a:sx n="75" d="100"/>
          <a:sy n="75" d="100"/>
        </p:scale>
        <p:origin x="390" y="6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85000"/>
                  <a:alpha val="50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1c449d2-4aab-42d8-9e03-61167059533e}"/>
      </c:ext>
    </c:extLst>
  </c:chart>
  <c:spPr>
    <a:noFill/>
    <a:ln>
      <a:noFill/>
    </a:ln>
    <a:effectLst/>
  </c:spPr>
  <c:txPr>
    <a:bodyPr/>
    <a:lstStyle/>
    <a:p>
      <a:pPr>
        <a:defRPr lang="zh-CN">
          <a:latin typeface="思源宋体 CN Light" panose="02020300000000000000" pitchFamily="18" charset="-122"/>
          <a:ea typeface="思源宋体 CN" panose="02020400000000000000" pitchFamily="18" charset="-122"/>
          <a:cs typeface="+mn-ea"/>
          <a:sym typeface="思源宋体 CN Light" panose="02020300000000000000" pitchFamily="18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85000"/>
                  <a:alpha val="50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091300e-9bbf-489d-8345-30b10e03b8bc}"/>
      </c:ext>
    </c:extLst>
  </c:chart>
  <c:spPr>
    <a:noFill/>
    <a:ln>
      <a:noFill/>
    </a:ln>
    <a:effectLst/>
  </c:spPr>
  <c:txPr>
    <a:bodyPr/>
    <a:lstStyle/>
    <a:p>
      <a:pPr>
        <a:defRPr lang="zh-CN">
          <a:latin typeface="思源宋体 CN Light" panose="02020300000000000000" pitchFamily="18" charset="-122"/>
          <a:ea typeface="思源宋体 CN" panose="02020400000000000000" pitchFamily="18" charset="-122"/>
          <a:cs typeface="+mn-ea"/>
          <a:sym typeface="思源宋体 CN Light" panose="02020300000000000000" pitchFamily="18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BA430-9691-48CB-A3D3-9D6A17F920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A20CA-116A-49D1-AF6E-54FF8F9FE4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板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30199" y="294289"/>
            <a:ext cx="11531601" cy="6231320"/>
          </a:xfrm>
          <a:prstGeom prst="rect">
            <a:avLst/>
          </a:prstGeom>
          <a:noFill/>
          <a:ln w="28575">
            <a:gradFill>
              <a:gsLst>
                <a:gs pos="0">
                  <a:srgbClr val="476095">
                    <a:alpha val="50000"/>
                  </a:srgbClr>
                </a:gs>
                <a:gs pos="51000">
                  <a:srgbClr val="D6E6F3">
                    <a:alpha val="50000"/>
                  </a:srgbClr>
                </a:gs>
                <a:gs pos="100000">
                  <a:srgbClr val="2B334E">
                    <a:alpha val="50000"/>
                  </a:srgb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457199" y="419099"/>
            <a:ext cx="11277601" cy="5981700"/>
          </a:xfrm>
          <a:prstGeom prst="rect">
            <a:avLst/>
          </a:prstGeom>
          <a:solidFill>
            <a:schemeClr val="bg1">
              <a:alpha val="70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26386"/>
            <a:ext cx="3962563" cy="34363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8229437" y="3429000"/>
            <a:ext cx="3962563" cy="3436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330199" y="294289"/>
            <a:ext cx="11531601" cy="6231320"/>
          </a:xfrm>
          <a:prstGeom prst="rect">
            <a:avLst/>
          </a:prstGeom>
          <a:noFill/>
          <a:ln w="28575">
            <a:gradFill>
              <a:gsLst>
                <a:gs pos="0">
                  <a:srgbClr val="476095">
                    <a:alpha val="50000"/>
                  </a:srgbClr>
                </a:gs>
                <a:gs pos="51000">
                  <a:srgbClr val="D6E6F3">
                    <a:alpha val="50000"/>
                  </a:srgbClr>
                </a:gs>
                <a:gs pos="100000">
                  <a:srgbClr val="2B334E">
                    <a:alpha val="50000"/>
                  </a:srgb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57199" y="419099"/>
            <a:ext cx="11277601" cy="5981700"/>
          </a:xfrm>
          <a:prstGeom prst="rect">
            <a:avLst/>
          </a:prstGeom>
          <a:solidFill>
            <a:schemeClr val="bg1">
              <a:alpha val="70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457198" y="417444"/>
            <a:ext cx="4860132" cy="59816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H="1">
            <a:off x="3310967" y="5080000"/>
            <a:ext cx="2725591" cy="13180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 rot="10800000">
            <a:off x="854362" y="835024"/>
            <a:ext cx="10483274" cy="5149851"/>
          </a:xfrm>
          <a:prstGeom prst="rect">
            <a:avLst/>
          </a:prstGeom>
          <a:noFill/>
          <a:ln w="28575">
            <a:gradFill>
              <a:gsLst>
                <a:gs pos="0">
                  <a:srgbClr val="476095">
                    <a:alpha val="50000"/>
                  </a:srgbClr>
                </a:gs>
                <a:gs pos="51000">
                  <a:srgbClr val="D6E6F3">
                    <a:alpha val="50000"/>
                  </a:srgbClr>
                </a:gs>
                <a:gs pos="100000">
                  <a:srgbClr val="2B334E">
                    <a:alpha val="50000"/>
                  </a:srgb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 rot="10800000">
            <a:off x="969817" y="938173"/>
            <a:ext cx="10252365" cy="4943553"/>
          </a:xfrm>
          <a:prstGeom prst="rect">
            <a:avLst/>
          </a:prstGeom>
          <a:solidFill>
            <a:schemeClr val="bg1">
              <a:alpha val="70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9817" y="938173"/>
            <a:ext cx="3269767" cy="283554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 flipV="1">
            <a:off x="7952415" y="3046184"/>
            <a:ext cx="3269767" cy="283554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 flipH="1">
            <a:off x="10297534" y="3127611"/>
            <a:ext cx="1246519" cy="60277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 flipV="1">
            <a:off x="647946" y="3108560"/>
            <a:ext cx="1246519" cy="602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 rot="10800000">
            <a:off x="177006" y="160354"/>
            <a:ext cx="11837988" cy="6537292"/>
          </a:xfrm>
          <a:prstGeom prst="rect">
            <a:avLst/>
          </a:prstGeom>
          <a:noFill/>
          <a:ln w="28575">
            <a:gradFill>
              <a:gsLst>
                <a:gs pos="0">
                  <a:srgbClr val="476095">
                    <a:alpha val="50000"/>
                  </a:srgbClr>
                </a:gs>
                <a:gs pos="51000">
                  <a:srgbClr val="D6E6F3">
                    <a:alpha val="50000"/>
                  </a:srgbClr>
                </a:gs>
                <a:gs pos="100000">
                  <a:srgbClr val="2B334E">
                    <a:alpha val="50000"/>
                  </a:srgb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 rot="10800000">
            <a:off x="305793" y="291990"/>
            <a:ext cx="11577239" cy="6275414"/>
          </a:xfrm>
          <a:prstGeom prst="rect">
            <a:avLst/>
          </a:prstGeom>
          <a:solidFill>
            <a:schemeClr val="bg1">
              <a:alpha val="70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0680699" y="-26385"/>
            <a:ext cx="1511301" cy="13106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0" y="5547400"/>
            <a:ext cx="1511301" cy="131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12699"/>
            <a:ext cx="12191998" cy="6870699"/>
          </a:xfrm>
          <a:prstGeom prst="rect">
            <a:avLst/>
          </a:prstGeom>
          <a:pattFill prst="wdUpDiag">
            <a:fgClr>
              <a:srgbClr val="F7F7F7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5" Type="http://schemas.openxmlformats.org/officeDocument/2006/relationships/slideLayout" Target="../slideLayouts/slideLayout4.xml"/><Relationship Id="rId14" Type="http://schemas.openxmlformats.org/officeDocument/2006/relationships/image" Target="../media/image7.svg"/><Relationship Id="rId13" Type="http://schemas.openxmlformats.org/officeDocument/2006/relationships/image" Target="../media/image6.png"/><Relationship Id="rId12" Type="http://schemas.microsoft.com/office/2007/relationships/hdphoto" Target="../media/image5.wdp"/><Relationship Id="rId11" Type="http://schemas.openxmlformats.org/officeDocument/2006/relationships/image" Target="../media/image4.png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8" Type="http://schemas.openxmlformats.org/officeDocument/2006/relationships/slideLayout" Target="../slideLayouts/slideLayout4.xml"/><Relationship Id="rId17" Type="http://schemas.openxmlformats.org/officeDocument/2006/relationships/image" Target="../media/image8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2" Type="http://schemas.openxmlformats.org/officeDocument/2006/relationships/slideLayout" Target="../slideLayouts/slideLayout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5" Type="http://schemas.openxmlformats.org/officeDocument/2006/relationships/slideLayout" Target="../slideLayouts/slideLayout4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7" Type="http://schemas.openxmlformats.org/officeDocument/2006/relationships/slideLayout" Target="../slideLayouts/slideLayout4.xml"/><Relationship Id="rId26" Type="http://schemas.openxmlformats.org/officeDocument/2006/relationships/tags" Target="../tags/tag107.xml"/><Relationship Id="rId25" Type="http://schemas.openxmlformats.org/officeDocument/2006/relationships/tags" Target="../tags/tag106.xml"/><Relationship Id="rId24" Type="http://schemas.openxmlformats.org/officeDocument/2006/relationships/image" Target="../media/image14.svg"/><Relationship Id="rId23" Type="http://schemas.openxmlformats.org/officeDocument/2006/relationships/image" Target="../media/image13.png"/><Relationship Id="rId22" Type="http://schemas.openxmlformats.org/officeDocument/2006/relationships/tags" Target="../tags/tag105.xml"/><Relationship Id="rId21" Type="http://schemas.openxmlformats.org/officeDocument/2006/relationships/tags" Target="../tags/tag104.xml"/><Relationship Id="rId20" Type="http://schemas.openxmlformats.org/officeDocument/2006/relationships/image" Target="../media/image12.svg"/><Relationship Id="rId2" Type="http://schemas.openxmlformats.org/officeDocument/2006/relationships/tags" Target="../tags/tag89.xml"/><Relationship Id="rId19" Type="http://schemas.openxmlformats.org/officeDocument/2006/relationships/image" Target="../media/image11.png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image" Target="../media/image10.svg"/><Relationship Id="rId11" Type="http://schemas.openxmlformats.org/officeDocument/2006/relationships/image" Target="../media/image9.png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chart" Target="../charts/chart2.xml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4530057" y="4548511"/>
            <a:ext cx="2628966" cy="600109"/>
            <a:chOff x="4593812" y="4933672"/>
            <a:chExt cx="2628966" cy="600109"/>
          </a:xfrm>
        </p:grpSpPr>
        <p:sp>
          <p:nvSpPr>
            <p:cNvPr id="46" name="矩形: 圆角 45"/>
            <p:cNvSpPr/>
            <p:nvPr/>
          </p:nvSpPr>
          <p:spPr>
            <a:xfrm>
              <a:off x="4593812" y="4933672"/>
              <a:ext cx="2628966" cy="6001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2A324B"/>
                </a:gs>
                <a:gs pos="100000">
                  <a:srgbClr val="465F9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4710692" y="5002895"/>
              <a:ext cx="2325370" cy="4603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报告人：王子恒</a:t>
              </a:r>
              <a:endParaRPr lang="zh-CN" altLang="en-US" sz="24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277" name="组合 276"/>
          <p:cNvGrpSpPr/>
          <p:nvPr/>
        </p:nvGrpSpPr>
        <p:grpSpPr>
          <a:xfrm>
            <a:off x="3560415" y="1817135"/>
            <a:ext cx="5005705" cy="1920942"/>
            <a:chOff x="3560415" y="1817135"/>
            <a:chExt cx="5005705" cy="1920942"/>
          </a:xfrm>
        </p:grpSpPr>
        <p:grpSp>
          <p:nvGrpSpPr>
            <p:cNvPr id="276" name="组合 275"/>
            <p:cNvGrpSpPr/>
            <p:nvPr/>
          </p:nvGrpSpPr>
          <p:grpSpPr>
            <a:xfrm>
              <a:off x="3560415" y="1817135"/>
              <a:ext cx="5005705" cy="1920942"/>
              <a:chOff x="3560415" y="1817135"/>
              <a:chExt cx="5005705" cy="1920942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3560415" y="1817135"/>
                <a:ext cx="5005705" cy="9220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5400" b="1" dirty="0">
                    <a:gradFill>
                      <a:gsLst>
                        <a:gs pos="0">
                          <a:srgbClr val="2A324B"/>
                        </a:gs>
                        <a:gs pos="100000">
                          <a:srgbClr val="465F94"/>
                        </a:gs>
                      </a:gsLst>
                      <a:lin ang="0" scaled="1"/>
                    </a:gra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保研加分小助手</a:t>
                </a:r>
                <a:endParaRPr lang="zh-CN" altLang="en-US" sz="5400" b="1" dirty="0">
                  <a:gradFill>
                    <a:gsLst>
                      <a:gs pos="0">
                        <a:srgbClr val="2A324B"/>
                      </a:gs>
                      <a:gs pos="100000">
                        <a:srgbClr val="465F94"/>
                      </a:gs>
                    </a:gsLst>
                    <a:lin ang="0" scaled="1"/>
                  </a:gra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4341732" y="3092917"/>
                <a:ext cx="2937510" cy="64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600" b="1" dirty="0">
                    <a:solidFill>
                      <a:srgbClr val="37518F"/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项目开题报告</a:t>
                </a:r>
                <a:endParaRPr lang="zh-CN" altLang="en-US" sz="3600" b="1" dirty="0">
                  <a:solidFill>
                    <a:srgbClr val="37518F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5941060" y="2730798"/>
              <a:ext cx="309880" cy="3371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1600" spc="600" dirty="0">
                <a:solidFill>
                  <a:srgbClr val="3E5180">
                    <a:alpha val="50000"/>
                  </a:srgb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279" name="组合 278"/>
          <p:cNvGrpSpPr/>
          <p:nvPr/>
        </p:nvGrpSpPr>
        <p:grpSpPr>
          <a:xfrm>
            <a:off x="1583822" y="1810646"/>
            <a:ext cx="8367959" cy="3268753"/>
            <a:chOff x="1583822" y="1810646"/>
            <a:chExt cx="8367959" cy="3268753"/>
          </a:xfrm>
        </p:grpSpPr>
        <p:grpSp>
          <p:nvGrpSpPr>
            <p:cNvPr id="55" name="组合 54"/>
            <p:cNvGrpSpPr/>
            <p:nvPr/>
          </p:nvGrpSpPr>
          <p:grpSpPr>
            <a:xfrm flipH="1" flipV="1">
              <a:off x="9481900" y="1810646"/>
              <a:ext cx="469881" cy="414376"/>
              <a:chOff x="10029097" y="1654139"/>
              <a:chExt cx="680839" cy="600414"/>
            </a:xfrm>
          </p:grpSpPr>
          <p:cxnSp>
            <p:nvCxnSpPr>
              <p:cNvPr id="56" name="直接连接符 55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组合 64"/>
            <p:cNvGrpSpPr/>
            <p:nvPr/>
          </p:nvGrpSpPr>
          <p:grpSpPr>
            <a:xfrm flipH="1" flipV="1">
              <a:off x="1583822" y="4665023"/>
              <a:ext cx="469881" cy="414376"/>
              <a:chOff x="10029097" y="1654139"/>
              <a:chExt cx="680839" cy="600414"/>
            </a:xfrm>
          </p:grpSpPr>
          <p:cxnSp>
            <p:nvCxnSpPr>
              <p:cNvPr id="66" name="直接连接符 65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8" name="组合 277"/>
          <p:cNvGrpSpPr/>
          <p:nvPr/>
        </p:nvGrpSpPr>
        <p:grpSpPr>
          <a:xfrm>
            <a:off x="2401635" y="1614099"/>
            <a:ext cx="5973162" cy="2457426"/>
            <a:chOff x="2401635" y="1614099"/>
            <a:chExt cx="5973162" cy="2457426"/>
          </a:xfrm>
        </p:grpSpPr>
        <p:sp>
          <p:nvSpPr>
            <p:cNvPr id="273" name="椭圆 272"/>
            <p:cNvSpPr/>
            <p:nvPr/>
          </p:nvSpPr>
          <p:spPr>
            <a:xfrm>
              <a:off x="7634042" y="1614099"/>
              <a:ext cx="740755" cy="740755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  <p:sp>
          <p:nvSpPr>
            <p:cNvPr id="274" name="椭圆 273"/>
            <p:cNvSpPr/>
            <p:nvPr/>
          </p:nvSpPr>
          <p:spPr>
            <a:xfrm>
              <a:off x="2401635" y="3330770"/>
              <a:ext cx="740755" cy="740755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>
            <p:custDataLst>
              <p:tags r:id="rId1"/>
            </p:custDataLst>
          </p:nvPr>
        </p:nvGrpSpPr>
        <p:grpSpPr>
          <a:xfrm>
            <a:off x="6818799" y="1153086"/>
            <a:ext cx="2460909" cy="825275"/>
            <a:chOff x="6818799" y="1153086"/>
            <a:chExt cx="2460909" cy="825275"/>
          </a:xfrm>
        </p:grpSpPr>
        <p:sp>
          <p:nvSpPr>
            <p:cNvPr id="7" name="椭圆 6"/>
            <p:cNvSpPr/>
            <p:nvPr>
              <p:custDataLst>
                <p:tags r:id="rId2"/>
              </p:custDataLst>
            </p:nvPr>
          </p:nvSpPr>
          <p:spPr>
            <a:xfrm>
              <a:off x="6818799" y="1153086"/>
              <a:ext cx="825275" cy="825275"/>
            </a:xfrm>
            <a:prstGeom prst="ellipse">
              <a:avLst/>
            </a:prstGeom>
            <a:solidFill>
              <a:srgbClr val="3751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1</a:t>
              </a:r>
              <a:endParaRPr lang="zh-CN" altLang="en-US" sz="4400" b="1" dirty="0">
                <a:latin typeface="思源宋体 CN" panose="020204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7872548" y="1189333"/>
              <a:ext cx="1407160" cy="751411"/>
              <a:chOff x="7872548" y="1317869"/>
              <a:chExt cx="1407160" cy="751411"/>
            </a:xfrm>
          </p:grpSpPr>
          <p:sp>
            <p:nvSpPr>
              <p:cNvPr id="8" name="文本框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872548" y="1317869"/>
                <a:ext cx="140716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gradFill>
                      <a:gsLst>
                        <a:gs pos="0">
                          <a:srgbClr val="2A324B"/>
                        </a:gs>
                        <a:gs pos="100000">
                          <a:srgbClr val="465F94"/>
                        </a:gs>
                      </a:gsLst>
                      <a:lin ang="0" scaled="1"/>
                    </a:gra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项目背景</a:t>
                </a:r>
                <a:endParaRPr lang="zh-CN" altLang="en-US" sz="2400" b="1" dirty="0">
                  <a:gradFill>
                    <a:gsLst>
                      <a:gs pos="0">
                        <a:srgbClr val="2A324B"/>
                      </a:gs>
                      <a:gs pos="100000">
                        <a:srgbClr val="465F94"/>
                      </a:gs>
                    </a:gsLst>
                    <a:lin ang="0" scaled="1"/>
                  </a:gra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9" name="文本框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885248" y="1732095"/>
                <a:ext cx="309880" cy="337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sz="1600" dirty="0">
                  <a:solidFill>
                    <a:srgbClr val="ACB4C8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</p:grpSp>
      <p:grpSp>
        <p:nvGrpSpPr>
          <p:cNvPr id="57" name="组合 56"/>
          <p:cNvGrpSpPr/>
          <p:nvPr>
            <p:custDataLst>
              <p:tags r:id="rId5"/>
            </p:custDataLst>
          </p:nvPr>
        </p:nvGrpSpPr>
        <p:grpSpPr>
          <a:xfrm>
            <a:off x="6818799" y="2383188"/>
            <a:ext cx="3991259" cy="825275"/>
            <a:chOff x="6818799" y="2383188"/>
            <a:chExt cx="3991259" cy="825275"/>
          </a:xfrm>
        </p:grpSpPr>
        <p:sp>
          <p:nvSpPr>
            <p:cNvPr id="10" name="椭圆 9"/>
            <p:cNvSpPr/>
            <p:nvPr>
              <p:custDataLst>
                <p:tags r:id="rId6"/>
              </p:custDataLst>
            </p:nvPr>
          </p:nvSpPr>
          <p:spPr>
            <a:xfrm>
              <a:off x="6818799" y="2383188"/>
              <a:ext cx="825275" cy="825275"/>
            </a:xfrm>
            <a:prstGeom prst="ellipse">
              <a:avLst/>
            </a:prstGeom>
            <a:solidFill>
              <a:srgbClr val="A4C9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2</a:t>
              </a:r>
              <a:endParaRPr lang="zh-CN" altLang="en-US" sz="4400" b="1" dirty="0">
                <a:latin typeface="思源宋体 CN" panose="020204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7"/>
              </p:custDataLst>
            </p:nvPr>
          </p:nvSpPr>
          <p:spPr>
            <a:xfrm>
              <a:off x="7872548" y="2419435"/>
              <a:ext cx="293751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gradFill>
                    <a:gsLst>
                      <a:gs pos="0">
                        <a:srgbClr val="2A324B"/>
                      </a:gs>
                      <a:gs pos="100000">
                        <a:srgbClr val="465F94"/>
                      </a:gs>
                    </a:gsLst>
                    <a:lin ang="0" scaled="1"/>
                  </a:gra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同类产品与用户调研</a:t>
              </a:r>
              <a:endParaRPr lang="zh-CN" altLang="en-US" sz="2400" b="1" dirty="0">
                <a:gradFill>
                  <a:gsLst>
                    <a:gs pos="0">
                      <a:srgbClr val="2A324B"/>
                    </a:gs>
                    <a:gs pos="100000">
                      <a:srgbClr val="465F94"/>
                    </a:gs>
                  </a:gsLst>
                  <a:lin ang="0" scaled="1"/>
                </a:gra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8"/>
              </p:custDataLst>
            </p:nvPr>
          </p:nvSpPr>
          <p:spPr>
            <a:xfrm>
              <a:off x="7885248" y="2833661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600" dirty="0">
                <a:solidFill>
                  <a:srgbClr val="ACB4C8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58" name="组合 57"/>
          <p:cNvGrpSpPr/>
          <p:nvPr>
            <p:custDataLst>
              <p:tags r:id="rId9"/>
            </p:custDataLst>
          </p:nvPr>
        </p:nvGrpSpPr>
        <p:grpSpPr>
          <a:xfrm>
            <a:off x="6818799" y="3613290"/>
            <a:ext cx="3991259" cy="825275"/>
            <a:chOff x="6818799" y="3613290"/>
            <a:chExt cx="3991259" cy="825275"/>
          </a:xfrm>
        </p:grpSpPr>
        <p:sp>
          <p:nvSpPr>
            <p:cNvPr id="13" name="椭圆 12"/>
            <p:cNvSpPr/>
            <p:nvPr>
              <p:custDataLst>
                <p:tags r:id="rId10"/>
              </p:custDataLst>
            </p:nvPr>
          </p:nvSpPr>
          <p:spPr>
            <a:xfrm>
              <a:off x="6818799" y="3613290"/>
              <a:ext cx="825275" cy="825275"/>
            </a:xfrm>
            <a:prstGeom prst="ellipse">
              <a:avLst/>
            </a:prstGeom>
            <a:solidFill>
              <a:srgbClr val="3751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3</a:t>
              </a:r>
              <a:endParaRPr lang="zh-CN" altLang="en-US" sz="4400" b="1" dirty="0">
                <a:latin typeface="思源宋体 CN" panose="020204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1"/>
              </p:custDataLst>
            </p:nvPr>
          </p:nvSpPr>
          <p:spPr>
            <a:xfrm>
              <a:off x="7872548" y="3649537"/>
              <a:ext cx="293751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gradFill>
                    <a:gsLst>
                      <a:gs pos="0">
                        <a:srgbClr val="2A324B"/>
                      </a:gs>
                      <a:gs pos="100000">
                        <a:srgbClr val="465F94"/>
                      </a:gs>
                    </a:gsLst>
                    <a:lin ang="0" scaled="1"/>
                  </a:gra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功能设计与技术路线</a:t>
              </a:r>
              <a:endParaRPr lang="zh-CN" altLang="en-US" sz="2400" b="1" dirty="0">
                <a:gradFill>
                  <a:gsLst>
                    <a:gs pos="0">
                      <a:srgbClr val="2A324B"/>
                    </a:gs>
                    <a:gs pos="100000">
                      <a:srgbClr val="465F94"/>
                    </a:gs>
                  </a:gsLst>
                  <a:lin ang="0" scaled="1"/>
                </a:gra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2"/>
              </p:custDataLst>
            </p:nvPr>
          </p:nvSpPr>
          <p:spPr>
            <a:xfrm>
              <a:off x="7885248" y="4063763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600" dirty="0">
                <a:solidFill>
                  <a:srgbClr val="ACB4C8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3"/>
            </p:custDataLst>
          </p:nvPr>
        </p:nvGrpSpPr>
        <p:grpSpPr>
          <a:xfrm>
            <a:off x="6818799" y="4843393"/>
            <a:ext cx="3133164" cy="825275"/>
            <a:chOff x="6818799" y="4843393"/>
            <a:chExt cx="3133164" cy="825275"/>
          </a:xfrm>
        </p:grpSpPr>
        <p:sp>
          <p:nvSpPr>
            <p:cNvPr id="16" name="椭圆 15"/>
            <p:cNvSpPr/>
            <p:nvPr>
              <p:custDataLst>
                <p:tags r:id="rId14"/>
              </p:custDataLst>
            </p:nvPr>
          </p:nvSpPr>
          <p:spPr>
            <a:xfrm>
              <a:off x="6818799" y="4843393"/>
              <a:ext cx="825275" cy="825275"/>
            </a:xfrm>
            <a:prstGeom prst="ellipse">
              <a:avLst/>
            </a:prstGeom>
            <a:solidFill>
              <a:srgbClr val="A4C9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4</a:t>
              </a:r>
              <a:endParaRPr lang="zh-CN" altLang="en-US" sz="4400" b="1" dirty="0">
                <a:latin typeface="思源宋体 CN" panose="020204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5"/>
              </p:custDataLst>
            </p:nvPr>
          </p:nvSpPr>
          <p:spPr>
            <a:xfrm>
              <a:off x="7872548" y="4879640"/>
              <a:ext cx="20794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gradFill>
                    <a:gsLst>
                      <a:gs pos="0">
                        <a:srgbClr val="2A324B"/>
                      </a:gs>
                      <a:gs pos="100000">
                        <a:srgbClr val="465F94"/>
                      </a:gs>
                    </a:gsLst>
                    <a:lin ang="0" scaled="1"/>
                  </a:gra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未来工作计划</a:t>
              </a:r>
              <a:endParaRPr lang="zh-CN" altLang="en-US" sz="2400" b="1" dirty="0">
                <a:gradFill>
                  <a:gsLst>
                    <a:gs pos="0">
                      <a:srgbClr val="2A324B"/>
                    </a:gs>
                    <a:gs pos="100000">
                      <a:srgbClr val="465F94"/>
                    </a:gs>
                  </a:gsLst>
                  <a:lin ang="0" scaled="1"/>
                </a:gra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16"/>
              </p:custDataLst>
            </p:nvPr>
          </p:nvSpPr>
          <p:spPr>
            <a:xfrm>
              <a:off x="7885248" y="5293866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600" dirty="0">
                <a:solidFill>
                  <a:srgbClr val="ACB4C8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  <p:sp>
        <p:nvSpPr>
          <p:cNvPr id="34" name="矩形: 圆角 33"/>
          <p:cNvSpPr/>
          <p:nvPr/>
        </p:nvSpPr>
        <p:spPr>
          <a:xfrm rot="13500000">
            <a:off x="1927489" y="2059340"/>
            <a:ext cx="3086215" cy="3086215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DAE8F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/>
          <p:cNvSpPr/>
          <p:nvPr/>
        </p:nvSpPr>
        <p:spPr>
          <a:xfrm rot="13500000">
            <a:off x="2062746" y="2205980"/>
            <a:ext cx="2767534" cy="2767534"/>
          </a:xfrm>
          <a:prstGeom prst="roundRect">
            <a:avLst>
              <a:gd name="adj" fmla="val 15045"/>
            </a:avLst>
          </a:prstGeom>
          <a:gradFill>
            <a:gsLst>
              <a:gs pos="0">
                <a:srgbClr val="2A324B"/>
              </a:gs>
              <a:gs pos="100000">
                <a:srgbClr val="465F94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4901300" y="3149158"/>
            <a:ext cx="740755" cy="740755"/>
          </a:xfrm>
          <a:prstGeom prst="ellipse">
            <a:avLst/>
          </a:prstGeom>
          <a:solidFill>
            <a:srgbClr val="37518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Light" panose="02020300000000000000" pitchFamily="18" charset="-122"/>
              <a:ea typeface="思源宋体 CN" panose="02020400000000000000" pitchFamily="18" charset="-122"/>
              <a:sym typeface="思源宋体 CN Light" panose="02020300000000000000" pitchFamily="18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488729" y="2603095"/>
            <a:ext cx="1745158" cy="1918268"/>
            <a:chOff x="2488729" y="2603095"/>
            <a:chExt cx="1745158" cy="1918268"/>
          </a:xfrm>
        </p:grpSpPr>
        <p:sp>
          <p:nvSpPr>
            <p:cNvPr id="42" name="椭圆 41"/>
            <p:cNvSpPr/>
            <p:nvPr/>
          </p:nvSpPr>
          <p:spPr>
            <a:xfrm>
              <a:off x="2488729" y="3303610"/>
              <a:ext cx="813271" cy="813271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3554523" y="2642739"/>
              <a:ext cx="660871" cy="660871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2653422" y="2603095"/>
              <a:ext cx="1415772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8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报告</a:t>
              </a:r>
              <a:endParaRPr lang="en-US" altLang="zh-CN" sz="48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  <a:p>
              <a:r>
                <a:rPr lang="zh-CN" altLang="en-US" sz="48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目录</a:t>
              </a:r>
              <a:endParaRPr lang="zh-CN" altLang="en-US" sz="48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2488729" y="4182809"/>
              <a:ext cx="17451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spc="600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sym typeface="思源宋体 CN Light" panose="02020300000000000000" pitchFamily="18" charset="-122"/>
                </a:rPr>
                <a:t>CONTENT</a:t>
              </a:r>
              <a:endParaRPr lang="zh-CN" altLang="en-US" sz="1600" spc="600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987847" y="3217043"/>
            <a:ext cx="6278509" cy="438662"/>
            <a:chOff x="2987847" y="3217043"/>
            <a:chExt cx="6278509" cy="438662"/>
          </a:xfrm>
        </p:grpSpPr>
        <p:grpSp>
          <p:nvGrpSpPr>
            <p:cNvPr id="8" name="组合 7"/>
            <p:cNvGrpSpPr/>
            <p:nvPr/>
          </p:nvGrpSpPr>
          <p:grpSpPr>
            <a:xfrm flipH="1" flipV="1">
              <a:off x="8796475" y="3217043"/>
              <a:ext cx="469881" cy="414376"/>
              <a:chOff x="10029097" y="1654139"/>
              <a:chExt cx="680839" cy="600414"/>
            </a:xfrm>
          </p:grpSpPr>
          <p:cxnSp>
            <p:nvCxnSpPr>
              <p:cNvPr id="9" name="直接连接符 8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 flipH="1" flipV="1">
              <a:off x="2987847" y="3241329"/>
              <a:ext cx="469881" cy="414376"/>
              <a:chOff x="10029097" y="1654139"/>
              <a:chExt cx="680839" cy="600414"/>
            </a:xfrm>
          </p:grpSpPr>
          <p:cxnSp>
            <p:nvCxnSpPr>
              <p:cNvPr id="17" name="直接连接符 16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4570613" y="2167186"/>
            <a:ext cx="2752087" cy="2557547"/>
            <a:chOff x="4570613" y="2167186"/>
            <a:chExt cx="2752087" cy="2557547"/>
          </a:xfrm>
        </p:grpSpPr>
        <p:sp>
          <p:nvSpPr>
            <p:cNvPr id="24" name="椭圆 23"/>
            <p:cNvSpPr/>
            <p:nvPr/>
          </p:nvSpPr>
          <p:spPr>
            <a:xfrm>
              <a:off x="5074845" y="2397025"/>
              <a:ext cx="864259" cy="864259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5602119" y="2247900"/>
              <a:ext cx="987761" cy="987761"/>
            </a:xfrm>
            <a:prstGeom prst="ellipse">
              <a:avLst/>
            </a:prstGeom>
            <a:solidFill>
              <a:srgbClr val="3751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b="1" dirty="0"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1</a:t>
              </a:r>
              <a:endParaRPr lang="zh-CN" altLang="en-US" sz="4800" b="1" dirty="0">
                <a:latin typeface="思源宋体 CN" panose="020204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894460" y="3473450"/>
              <a:ext cx="242824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gradFill>
                    <a:gsLst>
                      <a:gs pos="0">
                        <a:srgbClr val="2A324B"/>
                      </a:gs>
                      <a:gs pos="100000">
                        <a:srgbClr val="465F94"/>
                      </a:gs>
                    </a:gsLst>
                    <a:lin ang="0" scaled="1"/>
                  </a:gra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项目背景</a:t>
              </a:r>
              <a:endParaRPr lang="zh-CN" altLang="en-US" sz="4400" b="1" dirty="0">
                <a:gradFill>
                  <a:gsLst>
                    <a:gs pos="0">
                      <a:srgbClr val="2A324B"/>
                    </a:gs>
                    <a:gs pos="100000">
                      <a:srgbClr val="465F94"/>
                    </a:gs>
                  </a:gsLst>
                  <a:lin ang="0" scaled="1"/>
                </a:gra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70613" y="4192926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600" dirty="0">
                <a:solidFill>
                  <a:srgbClr val="ACB4C8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5635282" y="4616798"/>
              <a:ext cx="921436" cy="107935"/>
            </a:xfrm>
            <a:prstGeom prst="roundRect">
              <a:avLst>
                <a:gd name="adj" fmla="val 50000"/>
              </a:avLst>
            </a:prstGeom>
            <a:solidFill>
              <a:srgbClr val="A4C9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6276090" y="2167186"/>
              <a:ext cx="740756" cy="740756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组合 66"/>
          <p:cNvGrpSpPr/>
          <p:nvPr>
            <p:custDataLst>
              <p:tags r:id="rId1"/>
            </p:custDataLst>
          </p:nvPr>
        </p:nvGrpSpPr>
        <p:grpSpPr>
          <a:xfrm>
            <a:off x="4141472" y="4358347"/>
            <a:ext cx="3609275" cy="1132168"/>
            <a:chOff x="4141472" y="4358347"/>
            <a:chExt cx="3609275" cy="1132168"/>
          </a:xfrm>
        </p:grpSpPr>
        <p:cxnSp>
          <p:nvCxnSpPr>
            <p:cNvPr id="8" name="直接连接符 7"/>
            <p:cNvCxnSpPr/>
            <p:nvPr>
              <p:custDataLst>
                <p:tags r:id="rId2"/>
              </p:custDataLst>
            </p:nvPr>
          </p:nvCxnSpPr>
          <p:spPr>
            <a:xfrm>
              <a:off x="7750747" y="4358347"/>
              <a:ext cx="0" cy="1132168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3"/>
              </p:custDataLst>
            </p:nvPr>
          </p:nvCxnSpPr>
          <p:spPr>
            <a:xfrm>
              <a:off x="4141472" y="4358347"/>
              <a:ext cx="0" cy="1132168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/>
          <p:cNvGrpSpPr/>
          <p:nvPr>
            <p:custDataLst>
              <p:tags r:id="rId4"/>
            </p:custDataLst>
          </p:nvPr>
        </p:nvGrpSpPr>
        <p:grpSpPr>
          <a:xfrm>
            <a:off x="672677" y="4214004"/>
            <a:ext cx="10173130" cy="3848104"/>
            <a:chOff x="672677" y="4214004"/>
            <a:chExt cx="10173130" cy="3848104"/>
          </a:xfrm>
        </p:grpSpPr>
        <p:grpSp>
          <p:nvGrpSpPr>
            <p:cNvPr id="25" name="组合 24"/>
            <p:cNvGrpSpPr/>
            <p:nvPr/>
          </p:nvGrpSpPr>
          <p:grpSpPr>
            <a:xfrm>
              <a:off x="672677" y="4214004"/>
              <a:ext cx="3243580" cy="3848104"/>
              <a:chOff x="698077" y="4214004"/>
              <a:chExt cx="3243580" cy="3848104"/>
            </a:xfrm>
          </p:grpSpPr>
          <p:sp>
            <p:nvSpPr>
              <p:cNvPr id="23" name="文本框 2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98077" y="4214004"/>
                <a:ext cx="324358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系统化材料整理与识别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24" name="文本框 2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55227" y="4647709"/>
                <a:ext cx="2994025" cy="3414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针对保研推免的具体要求，系统自动收集学生的各类申报材料，如学术成绩、科研经历、社会实践等，并进行自动化整理与分类。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 algn="ctr">
                  <a:lnSpc>
                    <a:spcPts val="2400"/>
                  </a:lnSpc>
                </a:pP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557822" y="4214004"/>
              <a:ext cx="2937510" cy="2679065"/>
              <a:chOff x="851112" y="4214004"/>
              <a:chExt cx="2937510" cy="2679065"/>
            </a:xfrm>
          </p:grpSpPr>
          <p:sp>
            <p:nvSpPr>
              <p:cNvPr id="27" name="文本框 2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51112" y="4214004"/>
                <a:ext cx="293751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加分排序与权重分析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28" name="文本框 2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004782" y="4647709"/>
                <a:ext cx="2712085" cy="2245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系统根据保研加分细则，智能计算每项材料的加分权重，并对学生的各项材料进行加分排序，帮助学生明确哪些方面更具优势。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 algn="ctr">
                  <a:lnSpc>
                    <a:spcPts val="2400"/>
                  </a:lnSpc>
                </a:pP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 algn="ctr">
                  <a:lnSpc>
                    <a:spcPts val="2400"/>
                  </a:lnSpc>
                </a:pP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214367" y="4214004"/>
              <a:ext cx="2631440" cy="2679065"/>
              <a:chOff x="1004147" y="4214004"/>
              <a:chExt cx="2631440" cy="2679065"/>
            </a:xfrm>
          </p:grpSpPr>
          <p:sp>
            <p:nvSpPr>
              <p:cNvPr id="30" name="文本框 2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004147" y="4214004"/>
                <a:ext cx="263144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优化保研申报流程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008592" y="4647709"/>
                <a:ext cx="2626995" cy="2245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提供简洁直观的操作界面，使学生能够清晰地了解保研要求和申报流程，及时补充不足的材料，确保申报的高效性和准确性。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 algn="ctr">
                  <a:lnSpc>
                    <a:spcPts val="2400"/>
                  </a:lnSpc>
                </a:pP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 algn="ctr">
                  <a:lnSpc>
                    <a:spcPts val="2400"/>
                  </a:lnSpc>
                </a:pP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4218305" y="1338560"/>
            <a:ext cx="7064884" cy="2519045"/>
            <a:chOff x="4218305" y="1338560"/>
            <a:chExt cx="7064884" cy="2519045"/>
          </a:xfrm>
        </p:grpSpPr>
        <p:sp>
          <p:nvSpPr>
            <p:cNvPr id="14" name="矩形 13"/>
            <p:cNvSpPr/>
            <p:nvPr/>
          </p:nvSpPr>
          <p:spPr>
            <a:xfrm>
              <a:off x="4218305" y="1338560"/>
              <a:ext cx="7064884" cy="25190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8000"/>
                </a:lnSpc>
              </a:pPr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711543" y="1753941"/>
              <a:ext cx="6078408" cy="1763143"/>
              <a:chOff x="4631542" y="1696488"/>
              <a:chExt cx="6078408" cy="1763143"/>
            </a:xfrm>
          </p:grpSpPr>
          <p:sp>
            <p:nvSpPr>
              <p:cNvPr id="33" name="文本框 32"/>
              <p:cNvSpPr txBox="1"/>
              <p:nvPr/>
            </p:nvSpPr>
            <p:spPr>
              <a:xfrm>
                <a:off x="4650591" y="2397641"/>
                <a:ext cx="6059359" cy="106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en-US" altLang="zh-CN" sz="1600" dirty="0">
                    <a:solidFill>
                      <a:schemeClr val="bg1">
                        <a:alpha val="80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“</a:t>
                </a:r>
                <a:r>
                  <a:rPr lang="zh-CN" altLang="en-US" sz="1600" dirty="0">
                    <a:solidFill>
                      <a:schemeClr val="bg1">
                        <a:alpha val="80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保研加分小助手</a:t>
                </a:r>
                <a:r>
                  <a:rPr lang="en-US" altLang="zh-CN" sz="1600" dirty="0">
                    <a:solidFill>
                      <a:schemeClr val="bg1">
                        <a:alpha val="80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”</a:t>
                </a:r>
                <a:r>
                  <a:rPr lang="zh-CN" altLang="en-US" sz="1600" dirty="0">
                    <a:solidFill>
                      <a:schemeClr val="bg1">
                        <a:alpha val="80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是专为在校生设计的智能工具，旨在帮助学生了解保研推免的具体细则，通过智能化的系统收集、整理和识别申报材料，最终进行加分排序，提升学生在保研中的竞争力。</a:t>
                </a:r>
                <a:endParaRPr lang="zh-CN" altLang="en-US" sz="1600" dirty="0">
                  <a:solidFill>
                    <a:schemeClr val="bg1">
                      <a:alpha val="80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>
                  <a:lnSpc>
                    <a:spcPts val="2400"/>
                  </a:lnSpc>
                </a:pPr>
                <a:endParaRPr lang="en-US" altLang="zh-CN" sz="1600" dirty="0">
                  <a:solidFill>
                    <a:schemeClr val="bg1">
                      <a:alpha val="80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>
                  <a:lnSpc>
                    <a:spcPts val="2400"/>
                  </a:lnSpc>
                </a:pPr>
                <a:endParaRPr lang="en-US" altLang="zh-CN" sz="1600" dirty="0">
                  <a:solidFill>
                    <a:schemeClr val="bg1">
                      <a:alpha val="80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4631542" y="1696488"/>
                <a:ext cx="2937510" cy="645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600" b="1" dirty="0">
                    <a:solidFill>
                      <a:schemeClr val="bg1"/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项目背景概述</a:t>
                </a:r>
                <a:endParaRPr lang="zh-CN" altLang="en-US" sz="36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</p:grpSp>
      <p:grpSp>
        <p:nvGrpSpPr>
          <p:cNvPr id="64" name="组合 63"/>
          <p:cNvGrpSpPr/>
          <p:nvPr/>
        </p:nvGrpSpPr>
        <p:grpSpPr>
          <a:xfrm>
            <a:off x="918513" y="1338560"/>
            <a:ext cx="3144641" cy="2519045"/>
            <a:chOff x="918513" y="1338560"/>
            <a:chExt cx="3144641" cy="2519045"/>
          </a:xfrm>
        </p:grpSpPr>
        <p:grpSp>
          <p:nvGrpSpPr>
            <p:cNvPr id="61" name="组合 60"/>
            <p:cNvGrpSpPr/>
            <p:nvPr/>
          </p:nvGrpSpPr>
          <p:grpSpPr>
            <a:xfrm>
              <a:off x="918513" y="1338560"/>
              <a:ext cx="3144641" cy="2519045"/>
              <a:chOff x="400687" y="1338560"/>
              <a:chExt cx="3144641" cy="2519045"/>
            </a:xfrm>
          </p:grpSpPr>
          <p:pic>
            <p:nvPicPr>
              <p:cNvPr id="62" name="图片 61"/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5000"/>
                        </a14:imgEffect>
                        <a14:imgEffect>
                          <a14:saturation sat="7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0687" y="1338560"/>
                <a:ext cx="3141182" cy="2519045"/>
              </a:xfrm>
              <a:prstGeom prst="rect">
                <a:avLst/>
              </a:prstGeom>
            </p:spPr>
          </p:pic>
          <p:sp>
            <p:nvSpPr>
              <p:cNvPr id="63" name="矩形 62"/>
              <p:cNvSpPr/>
              <p:nvPr/>
            </p:nvSpPr>
            <p:spPr>
              <a:xfrm>
                <a:off x="404146" y="1338560"/>
                <a:ext cx="3141182" cy="2519045"/>
              </a:xfrm>
              <a:prstGeom prst="rect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8000"/>
                  </a:lnSpc>
                </a:pPr>
                <a:endParaRPr lang="zh-CN" altLang="en-US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1778077" y="1887055"/>
              <a:ext cx="1422055" cy="1422055"/>
              <a:chOff x="1883914" y="2044435"/>
              <a:chExt cx="1210379" cy="1210379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1883914" y="2044435"/>
                <a:ext cx="1210379" cy="1210379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pic>
            <p:nvPicPr>
              <p:cNvPr id="56" name="图形 55"/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166907" y="2327428"/>
                <a:ext cx="644393" cy="64439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>
            <p:custDataLst>
              <p:tags r:id="rId1"/>
            </p:custDataLst>
          </p:nvPr>
        </p:nvGrpSpPr>
        <p:grpSpPr>
          <a:xfrm>
            <a:off x="6285913" y="4562745"/>
            <a:ext cx="4952879" cy="1415297"/>
            <a:chOff x="6458597" y="1623969"/>
            <a:chExt cx="4952879" cy="1415297"/>
          </a:xfrm>
        </p:grpSpPr>
        <p:grpSp>
          <p:nvGrpSpPr>
            <p:cNvPr id="34" name="组合 33"/>
            <p:cNvGrpSpPr/>
            <p:nvPr/>
          </p:nvGrpSpPr>
          <p:grpSpPr>
            <a:xfrm>
              <a:off x="7331188" y="1623969"/>
              <a:ext cx="4080288" cy="1415297"/>
              <a:chOff x="7331188" y="1623969"/>
              <a:chExt cx="4080288" cy="1415297"/>
            </a:xfrm>
          </p:grpSpPr>
          <p:sp>
            <p:nvSpPr>
              <p:cNvPr id="38" name="文本框 3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7331188" y="1623969"/>
                <a:ext cx="3246120" cy="398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清晰的申报指导与进度追踪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342911" y="2024536"/>
                <a:ext cx="4068565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提供清晰的申报路径指导，学生可以实时查看材料收集进度和加分排序结果，确保材料的完整性与申报过程的顺利进行。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6458597" y="1692121"/>
              <a:ext cx="714694" cy="714694"/>
              <a:chOff x="6458597" y="1692121"/>
              <a:chExt cx="714694" cy="714694"/>
            </a:xfrm>
          </p:grpSpPr>
          <p:sp>
            <p:nvSpPr>
              <p:cNvPr id="36" name="椭圆 35"/>
              <p:cNvSpPr/>
              <p:nvPr>
                <p:custDataLst>
                  <p:tags r:id="rId4"/>
                </p:custDataLst>
              </p:nvPr>
            </p:nvSpPr>
            <p:spPr>
              <a:xfrm>
                <a:off x="6458597" y="1692121"/>
                <a:ext cx="714694" cy="7146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37" name="arrow-pointing-left-circular-button_20407"/>
              <p:cNvSpPr>
                <a:spLocks noChangeAspect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6613382" y="1847164"/>
                <a:ext cx="405123" cy="40460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</p:grpSp>
      <p:grpSp>
        <p:nvGrpSpPr>
          <p:cNvPr id="25" name="组合 24"/>
          <p:cNvGrpSpPr/>
          <p:nvPr>
            <p:custDataLst>
              <p:tags r:id="rId6"/>
            </p:custDataLst>
          </p:nvPr>
        </p:nvGrpSpPr>
        <p:grpSpPr>
          <a:xfrm>
            <a:off x="6285913" y="1268205"/>
            <a:ext cx="4952879" cy="1415297"/>
            <a:chOff x="6458597" y="1623969"/>
            <a:chExt cx="4952879" cy="1415297"/>
          </a:xfrm>
        </p:grpSpPr>
        <p:grpSp>
          <p:nvGrpSpPr>
            <p:cNvPr id="24" name="组合 23"/>
            <p:cNvGrpSpPr/>
            <p:nvPr/>
          </p:nvGrpSpPr>
          <p:grpSpPr>
            <a:xfrm>
              <a:off x="7331188" y="1623969"/>
              <a:ext cx="4080288" cy="1415297"/>
              <a:chOff x="7331188" y="1623969"/>
              <a:chExt cx="4080288" cy="1415297"/>
            </a:xfrm>
          </p:grpSpPr>
          <p:sp>
            <p:nvSpPr>
              <p:cNvPr id="2" name="文本框 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331188" y="1623969"/>
                <a:ext cx="2735580" cy="398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材料收集与整理自动化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3" name="文本框 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342911" y="2024536"/>
                <a:ext cx="4068565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系统根据学校的保研推免细则，自动化收集与整理相关材料，如成绩单、科研成果、奖学金等，减轻学生在申报过程中的负担。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58597" y="1692121"/>
              <a:ext cx="714694" cy="714694"/>
              <a:chOff x="6458597" y="1692121"/>
              <a:chExt cx="714694" cy="714694"/>
            </a:xfrm>
          </p:grpSpPr>
          <p:sp>
            <p:nvSpPr>
              <p:cNvPr id="5" name="椭圆 4"/>
              <p:cNvSpPr/>
              <p:nvPr>
                <p:custDataLst>
                  <p:tags r:id="rId9"/>
                </p:custDataLst>
              </p:nvPr>
            </p:nvSpPr>
            <p:spPr>
              <a:xfrm>
                <a:off x="6458597" y="1692121"/>
                <a:ext cx="714694" cy="7146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6" name="arrow-pointing-left-circular-button_20407"/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6613382" y="1847164"/>
                <a:ext cx="405123" cy="40460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</p:grpSp>
      <p:grpSp>
        <p:nvGrpSpPr>
          <p:cNvPr id="63" name="组合 62"/>
          <p:cNvGrpSpPr/>
          <p:nvPr>
            <p:custDataLst>
              <p:tags r:id="rId11"/>
            </p:custDataLst>
          </p:nvPr>
        </p:nvGrpSpPr>
        <p:grpSpPr>
          <a:xfrm>
            <a:off x="6285913" y="2915475"/>
            <a:ext cx="4952879" cy="1607112"/>
            <a:chOff x="6285913" y="2915475"/>
            <a:chExt cx="4952879" cy="1607112"/>
          </a:xfrm>
        </p:grpSpPr>
        <p:grpSp>
          <p:nvGrpSpPr>
            <p:cNvPr id="26" name="组合 25"/>
            <p:cNvGrpSpPr/>
            <p:nvPr/>
          </p:nvGrpSpPr>
          <p:grpSpPr>
            <a:xfrm>
              <a:off x="6285913" y="2915475"/>
              <a:ext cx="4952879" cy="1607112"/>
              <a:chOff x="6458597" y="1623969"/>
              <a:chExt cx="4952879" cy="1607112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7331188" y="1623969"/>
                <a:ext cx="4080288" cy="1607112"/>
                <a:chOff x="7331188" y="1623969"/>
                <a:chExt cx="4080288" cy="1607112"/>
              </a:xfrm>
            </p:grpSpPr>
            <p:sp>
              <p:nvSpPr>
                <p:cNvPr id="31" name="文本框 30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7331188" y="1623969"/>
                  <a:ext cx="2990850" cy="3987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加分细则智能识别与排序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  <p:sp>
              <p:nvSpPr>
                <p:cNvPr id="32" name="文本框 31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7342911" y="2024536"/>
                  <a:ext cx="4068565" cy="12065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自动识别各类材料的加分项，并依据学校的具体加分标准进行排序，帮助学生快速了解哪些方面的优势更突出，哪些需要提升。</a:t>
                  </a:r>
                  <a:endPara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  <a:p>
                  <a:pPr>
                    <a:lnSpc>
                      <a:spcPts val="2400"/>
                    </a:lnSpc>
                  </a:pPr>
                  <a:endParaRPr lang="en-US" altLang="zh-CN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  <a:p>
                  <a:pPr>
                    <a:lnSpc>
                      <a:spcPts val="2400"/>
                    </a:lnSpc>
                  </a:pPr>
                  <a:endParaRPr lang="en-US" altLang="zh-CN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458597" y="1692121"/>
                <a:ext cx="714694" cy="714694"/>
                <a:chOff x="6458597" y="1692121"/>
                <a:chExt cx="714694" cy="714694"/>
              </a:xfrm>
            </p:grpSpPr>
            <p:sp>
              <p:nvSpPr>
                <p:cNvPr id="29" name="椭圆 2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458597" y="1692121"/>
                  <a:ext cx="714694" cy="71469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5400" dirty="0"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  <p:sp>
              <p:nvSpPr>
                <p:cNvPr id="30" name="arrow-pointing-left-circular-button_20407"/>
                <p:cNvSpPr>
                  <a:spLocks noChangeAspect="1"/>
                </p:cNvSpPr>
                <p:nvPr>
                  <p:custDataLst>
                    <p:tags r:id="rId15"/>
                  </p:custDataLst>
                </p:nvPr>
              </p:nvSpPr>
              <p:spPr bwMode="auto">
                <a:xfrm>
                  <a:off x="6613382" y="1847164"/>
                  <a:ext cx="405123" cy="404607"/>
                </a:xfrm>
                <a:custGeom>
                  <a:avLst/>
                  <a:gdLst>
                    <a:gd name="T0" fmla="*/ 2307 w 4612"/>
                    <a:gd name="T1" fmla="*/ 4614 h 4614"/>
                    <a:gd name="T2" fmla="*/ 0 w 4612"/>
                    <a:gd name="T3" fmla="*/ 2307 h 4614"/>
                    <a:gd name="T4" fmla="*/ 2307 w 4612"/>
                    <a:gd name="T5" fmla="*/ 0 h 4614"/>
                    <a:gd name="T6" fmla="*/ 4612 w 4612"/>
                    <a:gd name="T7" fmla="*/ 2227 h 4614"/>
                    <a:gd name="T8" fmla="*/ 2031 w 4612"/>
                    <a:gd name="T9" fmla="*/ 2222 h 4614"/>
                    <a:gd name="T10" fmla="*/ 2479 w 4612"/>
                    <a:gd name="T11" fmla="*/ 1775 h 4614"/>
                    <a:gd name="T12" fmla="*/ 2367 w 4612"/>
                    <a:gd name="T13" fmla="*/ 1662 h 4614"/>
                    <a:gd name="T14" fmla="*/ 1727 w 4612"/>
                    <a:gd name="T15" fmla="*/ 2302 h 4614"/>
                    <a:gd name="T16" fmla="*/ 2378 w 4612"/>
                    <a:gd name="T17" fmla="*/ 2952 h 4614"/>
                    <a:gd name="T18" fmla="*/ 2490 w 4612"/>
                    <a:gd name="T19" fmla="*/ 2840 h 4614"/>
                    <a:gd name="T20" fmla="*/ 2032 w 4612"/>
                    <a:gd name="T21" fmla="*/ 2381 h 4614"/>
                    <a:gd name="T22" fmla="*/ 4612 w 4612"/>
                    <a:gd name="T23" fmla="*/ 2387 h 4614"/>
                    <a:gd name="T24" fmla="*/ 2307 w 4612"/>
                    <a:gd name="T25" fmla="*/ 4614 h 46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612" h="4614">
                      <a:moveTo>
                        <a:pt x="2307" y="4614"/>
                      </a:moveTo>
                      <a:cubicBezTo>
                        <a:pt x="1035" y="4614"/>
                        <a:pt x="0" y="3579"/>
                        <a:pt x="0" y="2307"/>
                      </a:cubicBezTo>
                      <a:cubicBezTo>
                        <a:pt x="0" y="1035"/>
                        <a:pt x="1035" y="0"/>
                        <a:pt x="2307" y="0"/>
                      </a:cubicBezTo>
                      <a:cubicBezTo>
                        <a:pt x="3553" y="0"/>
                        <a:pt x="4570" y="992"/>
                        <a:pt x="4612" y="2227"/>
                      </a:cubicBezTo>
                      <a:lnTo>
                        <a:pt x="2031" y="2222"/>
                      </a:lnTo>
                      <a:lnTo>
                        <a:pt x="2479" y="1775"/>
                      </a:lnTo>
                      <a:lnTo>
                        <a:pt x="2367" y="1662"/>
                      </a:lnTo>
                      <a:lnTo>
                        <a:pt x="1727" y="2302"/>
                      </a:lnTo>
                      <a:lnTo>
                        <a:pt x="2378" y="2952"/>
                      </a:lnTo>
                      <a:lnTo>
                        <a:pt x="2490" y="2840"/>
                      </a:lnTo>
                      <a:lnTo>
                        <a:pt x="2032" y="2381"/>
                      </a:lnTo>
                      <a:lnTo>
                        <a:pt x="4612" y="2387"/>
                      </a:lnTo>
                      <a:cubicBezTo>
                        <a:pt x="4570" y="3622"/>
                        <a:pt x="3553" y="4614"/>
                        <a:pt x="2307" y="461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 dirty="0"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</p:grpSp>
        </p:grpSp>
        <p:cxnSp>
          <p:nvCxnSpPr>
            <p:cNvPr id="49" name="直接连接符 48"/>
            <p:cNvCxnSpPr/>
            <p:nvPr>
              <p:custDataLst>
                <p:tags r:id="rId16"/>
              </p:custDataLst>
            </p:nvPr>
          </p:nvCxnSpPr>
          <p:spPr>
            <a:xfrm>
              <a:off x="7301568" y="4234186"/>
              <a:ext cx="380588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/>
          <p:cNvGrpSpPr/>
          <p:nvPr/>
        </p:nvGrpSpPr>
        <p:grpSpPr>
          <a:xfrm>
            <a:off x="923328" y="1335843"/>
            <a:ext cx="4791887" cy="4155059"/>
            <a:chOff x="750645" y="1335843"/>
            <a:chExt cx="4791887" cy="4155059"/>
          </a:xfrm>
        </p:grpSpPr>
        <p:sp>
          <p:nvSpPr>
            <p:cNvPr id="16" name="矩形 15"/>
            <p:cNvSpPr/>
            <p:nvPr/>
          </p:nvSpPr>
          <p:spPr>
            <a:xfrm>
              <a:off x="780525" y="1336112"/>
              <a:ext cx="2380222" cy="41547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750645" y="1335843"/>
              <a:ext cx="2478405" cy="3714009"/>
              <a:chOff x="801886" y="1356898"/>
              <a:chExt cx="2478405" cy="3714009"/>
            </a:xfrm>
          </p:grpSpPr>
          <p:sp>
            <p:nvSpPr>
              <p:cNvPr id="19" name="文本框 18"/>
              <p:cNvSpPr txBox="1"/>
              <p:nvPr/>
            </p:nvSpPr>
            <p:spPr>
              <a:xfrm rot="10800000" flipV="1">
                <a:off x="801886" y="1356898"/>
                <a:ext cx="2478405" cy="11988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600" b="1" dirty="0">
                    <a:solidFill>
                      <a:schemeClr val="bg1"/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项目目标</a:t>
                </a:r>
                <a:endParaRPr lang="zh-CN" altLang="en-US" sz="36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 algn="l"/>
                <a:r>
                  <a:rPr lang="zh-CN" altLang="en-US" sz="3600" b="1" dirty="0">
                    <a:solidFill>
                      <a:schemeClr val="bg1"/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与核心功能</a:t>
                </a:r>
                <a:endParaRPr lang="zh-CN" altLang="en-US" sz="36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 rot="10800000" flipH="1" flipV="1">
                <a:off x="953209" y="2863500"/>
                <a:ext cx="2137336" cy="2207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bg1">
                        <a:alpha val="80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该项目旨在帮助学生在保研过程中更好地理解推免细则，通过高效、智能的方式整理、识别材料，并进行加分排序，使学生能够精准把握自己的优势和不足。</a:t>
                </a:r>
                <a:endParaRPr lang="zh-CN" altLang="en-US" sz="1600" dirty="0">
                  <a:solidFill>
                    <a:schemeClr val="bg1">
                      <a:alpha val="80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 algn="ctr">
                  <a:lnSpc>
                    <a:spcPts val="2400"/>
                  </a:lnSpc>
                </a:pPr>
                <a:endParaRPr lang="en-US" altLang="zh-CN" sz="1600" dirty="0">
                  <a:solidFill>
                    <a:schemeClr val="bg1">
                      <a:alpha val="80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 algn="ctr">
                  <a:lnSpc>
                    <a:spcPts val="2400"/>
                  </a:lnSpc>
                </a:pPr>
                <a:endParaRPr lang="en-US" altLang="zh-CN" sz="1600" dirty="0">
                  <a:solidFill>
                    <a:schemeClr val="bg1">
                      <a:alpha val="80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21" name="矩形: 圆角 20"/>
              <p:cNvSpPr/>
              <p:nvPr/>
            </p:nvSpPr>
            <p:spPr>
              <a:xfrm flipV="1">
                <a:off x="1699060" y="2555861"/>
                <a:ext cx="678652" cy="10983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3162310" y="1336112"/>
              <a:ext cx="2380222" cy="4154790"/>
              <a:chOff x="3254459" y="1336112"/>
              <a:chExt cx="2380222" cy="4154790"/>
            </a:xfrm>
          </p:grpSpPr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54459" y="1336112"/>
                <a:ext cx="2380222" cy="4154790"/>
              </a:xfrm>
              <a:prstGeom prst="rect">
                <a:avLst/>
              </a:prstGeom>
            </p:spPr>
          </p:pic>
          <p:grpSp>
            <p:nvGrpSpPr>
              <p:cNvPr id="53" name="组合 52"/>
              <p:cNvGrpSpPr/>
              <p:nvPr/>
            </p:nvGrpSpPr>
            <p:grpSpPr>
              <a:xfrm rot="5400000">
                <a:off x="4344928" y="1449782"/>
                <a:ext cx="362166" cy="1311916"/>
                <a:chOff x="1386796" y="3218123"/>
                <a:chExt cx="362166" cy="1311916"/>
              </a:xfrm>
            </p:grpSpPr>
            <p:sp>
              <p:nvSpPr>
                <p:cNvPr id="57" name="文本框 56"/>
                <p:cNvSpPr txBox="1"/>
                <p:nvPr/>
              </p:nvSpPr>
              <p:spPr>
                <a:xfrm>
                  <a:off x="1386796" y="3218123"/>
                  <a:ext cx="309880" cy="7683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zh-CN" altLang="en-US" sz="4400" b="1" dirty="0">
                    <a:solidFill>
                      <a:schemeClr val="bg1">
                        <a:alpha val="70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>
                <a:xfrm flipH="1">
                  <a:off x="1439082" y="4223334"/>
                  <a:ext cx="309880" cy="3067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endParaRPr lang="zh-CN" altLang="en-US" sz="1400" dirty="0">
                    <a:solidFill>
                      <a:schemeClr val="bg1">
                        <a:alpha val="50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987847" y="3217043"/>
            <a:ext cx="6278509" cy="438662"/>
            <a:chOff x="2987847" y="3217043"/>
            <a:chExt cx="6278509" cy="438662"/>
          </a:xfrm>
        </p:grpSpPr>
        <p:grpSp>
          <p:nvGrpSpPr>
            <p:cNvPr id="8" name="组合 7"/>
            <p:cNvGrpSpPr/>
            <p:nvPr/>
          </p:nvGrpSpPr>
          <p:grpSpPr>
            <a:xfrm flipH="1" flipV="1">
              <a:off x="8796475" y="3217043"/>
              <a:ext cx="469881" cy="414376"/>
              <a:chOff x="10029097" y="1654139"/>
              <a:chExt cx="680839" cy="600414"/>
            </a:xfrm>
          </p:grpSpPr>
          <p:cxnSp>
            <p:nvCxnSpPr>
              <p:cNvPr id="9" name="直接连接符 8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 flipH="1" flipV="1">
              <a:off x="2987847" y="3241329"/>
              <a:ext cx="469881" cy="414376"/>
              <a:chOff x="10029097" y="1654139"/>
              <a:chExt cx="680839" cy="600414"/>
            </a:xfrm>
          </p:grpSpPr>
          <p:cxnSp>
            <p:nvCxnSpPr>
              <p:cNvPr id="17" name="直接连接符 16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3716535" y="2167186"/>
            <a:ext cx="5234940" cy="2557547"/>
            <a:chOff x="3716535" y="2167186"/>
            <a:chExt cx="5234940" cy="2557547"/>
          </a:xfrm>
        </p:grpSpPr>
        <p:sp>
          <p:nvSpPr>
            <p:cNvPr id="24" name="椭圆 23"/>
            <p:cNvSpPr/>
            <p:nvPr/>
          </p:nvSpPr>
          <p:spPr>
            <a:xfrm>
              <a:off x="5074845" y="2397025"/>
              <a:ext cx="864259" cy="864259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5602119" y="2247900"/>
              <a:ext cx="987761" cy="987761"/>
            </a:xfrm>
            <a:prstGeom prst="ellipse">
              <a:avLst/>
            </a:prstGeom>
            <a:solidFill>
              <a:srgbClr val="3751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b="1" dirty="0"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2</a:t>
              </a:r>
              <a:endParaRPr lang="zh-CN" altLang="en-US" sz="4800" b="1" dirty="0">
                <a:latin typeface="思源宋体 CN" panose="020204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716535" y="3479800"/>
              <a:ext cx="523494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gradFill>
                    <a:gsLst>
                      <a:gs pos="0">
                        <a:srgbClr val="2A324B"/>
                      </a:gs>
                      <a:gs pos="100000">
                        <a:srgbClr val="465F94"/>
                      </a:gs>
                    </a:gsLst>
                    <a:lin ang="0" scaled="1"/>
                  </a:gra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同类产品与用户调研</a:t>
              </a:r>
              <a:endParaRPr lang="zh-CN" altLang="en-US" sz="4400" b="1" dirty="0">
                <a:gradFill>
                  <a:gsLst>
                    <a:gs pos="0">
                      <a:srgbClr val="2A324B"/>
                    </a:gs>
                    <a:gs pos="100000">
                      <a:srgbClr val="465F94"/>
                    </a:gs>
                  </a:gsLst>
                  <a:lin ang="0" scaled="1"/>
                </a:gra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436666" y="4192926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600" dirty="0">
                <a:solidFill>
                  <a:srgbClr val="ACB4C8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5635282" y="4616798"/>
              <a:ext cx="921436" cy="107935"/>
            </a:xfrm>
            <a:prstGeom prst="roundRect">
              <a:avLst>
                <a:gd name="adj" fmla="val 50000"/>
              </a:avLst>
            </a:prstGeom>
            <a:solidFill>
              <a:srgbClr val="A4C9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6276090" y="2167186"/>
              <a:ext cx="740756" cy="740756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1882679" y="1227842"/>
            <a:ext cx="2365420" cy="3261373"/>
            <a:chOff x="1882679" y="1264913"/>
            <a:chExt cx="2365420" cy="3261373"/>
          </a:xfrm>
        </p:grpSpPr>
        <p:sp>
          <p:nvSpPr>
            <p:cNvPr id="7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2065266" y="1264913"/>
              <a:ext cx="2000245" cy="1811047"/>
            </a:xfrm>
            <a:prstGeom prst="roundRect">
              <a:avLst>
                <a:gd name="adj" fmla="val 1295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8000"/>
                </a:lnSpc>
              </a:pPr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8" name="矩形: 圆顶角 7"/>
            <p:cNvSpPr/>
            <p:nvPr>
              <p:custDataLst>
                <p:tags r:id="rId3"/>
              </p:custDataLst>
            </p:nvPr>
          </p:nvSpPr>
          <p:spPr>
            <a:xfrm rot="10800000">
              <a:off x="1882679" y="2170437"/>
              <a:ext cx="2365420" cy="2355849"/>
            </a:xfrm>
            <a:prstGeom prst="round2SameRect">
              <a:avLst>
                <a:gd name="adj1" fmla="val 8297"/>
                <a:gd name="adj2" fmla="val 0"/>
              </a:avLst>
            </a:prstGeom>
            <a:solidFill>
              <a:srgbClr val="F8F8F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8000"/>
                </a:lnSpc>
              </a:pPr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9" name="椭圆 8"/>
            <p:cNvSpPr/>
            <p:nvPr>
              <p:custDataLst>
                <p:tags r:id="rId4"/>
              </p:custDataLst>
            </p:nvPr>
          </p:nvSpPr>
          <p:spPr>
            <a:xfrm>
              <a:off x="2512101" y="1364184"/>
              <a:ext cx="1106575" cy="10853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innerShdw blurRad="63500" dist="50800" dir="5400000">
                <a:prstClr val="black">
                  <a:alpha val="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8000"/>
                </a:lnSpc>
              </a:pPr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5"/>
              </p:custDataLst>
            </p:nvPr>
          </p:nvSpPr>
          <p:spPr>
            <a:xfrm>
              <a:off x="2649249" y="1445241"/>
              <a:ext cx="84830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01</a:t>
              </a:r>
              <a:endParaRPr lang="zh-CN" altLang="en-US" sz="40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2064859" y="2708369"/>
              <a:ext cx="2019300" cy="1725028"/>
              <a:chOff x="843328" y="-33197"/>
              <a:chExt cx="2019300" cy="1725028"/>
            </a:xfrm>
          </p:grpSpPr>
          <p:sp>
            <p:nvSpPr>
              <p:cNvPr id="11" name="文本框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35819" y="422205"/>
                <a:ext cx="1816077" cy="1269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采用</a:t>
                </a:r>
                <a:r>
                  <a:rPr lang="en-US" altLang="zh-CN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OCR+LLM</a:t>
                </a: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方案自动识别比赛内容，确保信息完整性。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43328" y="-33197"/>
                <a:ext cx="201930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比赛信息不全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</p:grp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4914886" y="1227842"/>
            <a:ext cx="2365420" cy="3836878"/>
            <a:chOff x="1882679" y="1264913"/>
            <a:chExt cx="2365420" cy="3836878"/>
          </a:xfrm>
        </p:grpSpPr>
        <p:sp>
          <p:nvSpPr>
            <p:cNvPr id="16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2065266" y="1264913"/>
              <a:ext cx="2000245" cy="1811047"/>
            </a:xfrm>
            <a:prstGeom prst="roundRect">
              <a:avLst>
                <a:gd name="adj" fmla="val 1295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8000"/>
                </a:lnSpc>
              </a:pPr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7" name="矩形: 圆顶角 16"/>
            <p:cNvSpPr/>
            <p:nvPr>
              <p:custDataLst>
                <p:tags r:id="rId10"/>
              </p:custDataLst>
            </p:nvPr>
          </p:nvSpPr>
          <p:spPr>
            <a:xfrm rot="10800000">
              <a:off x="1882679" y="2170437"/>
              <a:ext cx="2365420" cy="2355849"/>
            </a:xfrm>
            <a:prstGeom prst="round2SameRect">
              <a:avLst>
                <a:gd name="adj1" fmla="val 8297"/>
                <a:gd name="adj2" fmla="val 0"/>
              </a:avLst>
            </a:prstGeom>
            <a:solidFill>
              <a:srgbClr val="F8F8F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8000"/>
                </a:lnSpc>
              </a:pPr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1"/>
              </p:custDataLst>
            </p:nvPr>
          </p:nvSpPr>
          <p:spPr>
            <a:xfrm>
              <a:off x="2512101" y="1364184"/>
              <a:ext cx="1106575" cy="10853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innerShdw blurRad="63500" dist="50800" dir="5400000">
                <a:prstClr val="black">
                  <a:alpha val="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8000"/>
                </a:lnSpc>
              </a:pPr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2"/>
              </p:custDataLst>
            </p:nvPr>
          </p:nvSpPr>
          <p:spPr>
            <a:xfrm>
              <a:off x="2649249" y="1445241"/>
              <a:ext cx="84830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02</a:t>
              </a:r>
              <a:endParaRPr lang="zh-CN" altLang="en-US" sz="40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2157350" y="2707099"/>
              <a:ext cx="1816077" cy="2394692"/>
              <a:chOff x="935819" y="-34467"/>
              <a:chExt cx="1816077" cy="2394692"/>
            </a:xfrm>
          </p:grpSpPr>
          <p:sp>
            <p:nvSpPr>
              <p:cNvPr id="21" name="文本框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935819" y="422205"/>
                <a:ext cx="1816077" cy="193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使用现代的</a:t>
                </a:r>
                <a:r>
                  <a:rPr lang="en-US" altLang="zh-CN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Vue3</a:t>
                </a: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进行前端开发，提升界面美观度和操作便捷性。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 algn="ctr">
                  <a:lnSpc>
                    <a:spcPts val="2400"/>
                  </a:lnSpc>
                </a:pP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  <a:p>
                <a:pPr algn="ctr">
                  <a:lnSpc>
                    <a:spcPts val="2400"/>
                  </a:lnSpc>
                </a:pP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096058" y="-34467"/>
                <a:ext cx="140716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页面难用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</p:grpSp>
      <p:grpSp>
        <p:nvGrpSpPr>
          <p:cNvPr id="31" name="组合 30"/>
          <p:cNvGrpSpPr/>
          <p:nvPr>
            <p:custDataLst>
              <p:tags r:id="rId15"/>
            </p:custDataLst>
          </p:nvPr>
        </p:nvGrpSpPr>
        <p:grpSpPr>
          <a:xfrm>
            <a:off x="7947093" y="1227842"/>
            <a:ext cx="2365420" cy="3261373"/>
            <a:chOff x="1882679" y="1264913"/>
            <a:chExt cx="2365420" cy="3261373"/>
          </a:xfrm>
        </p:grpSpPr>
        <p:sp>
          <p:nvSpPr>
            <p:cNvPr id="32" name="矩形: 圆角 31"/>
            <p:cNvSpPr/>
            <p:nvPr>
              <p:custDataLst>
                <p:tags r:id="rId16"/>
              </p:custDataLst>
            </p:nvPr>
          </p:nvSpPr>
          <p:spPr>
            <a:xfrm>
              <a:off x="2065266" y="1264913"/>
              <a:ext cx="2000245" cy="1811047"/>
            </a:xfrm>
            <a:prstGeom prst="roundRect">
              <a:avLst>
                <a:gd name="adj" fmla="val 1295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8000"/>
                </a:lnSpc>
              </a:pPr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33" name="矩形: 圆顶角 32"/>
            <p:cNvSpPr/>
            <p:nvPr>
              <p:custDataLst>
                <p:tags r:id="rId17"/>
              </p:custDataLst>
            </p:nvPr>
          </p:nvSpPr>
          <p:spPr>
            <a:xfrm rot="10800000">
              <a:off x="1882679" y="2170437"/>
              <a:ext cx="2365420" cy="2355849"/>
            </a:xfrm>
            <a:prstGeom prst="round2SameRect">
              <a:avLst>
                <a:gd name="adj1" fmla="val 8297"/>
                <a:gd name="adj2" fmla="val 0"/>
              </a:avLst>
            </a:prstGeom>
            <a:solidFill>
              <a:srgbClr val="F8F8F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8000"/>
                </a:lnSpc>
              </a:pPr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18"/>
              </p:custDataLst>
            </p:nvPr>
          </p:nvSpPr>
          <p:spPr>
            <a:xfrm>
              <a:off x="2512101" y="1364184"/>
              <a:ext cx="1106575" cy="10853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innerShdw blurRad="63500" dist="50800" dir="5400000">
                <a:prstClr val="black">
                  <a:alpha val="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8000"/>
                </a:lnSpc>
              </a:pPr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19"/>
              </p:custDataLst>
            </p:nvPr>
          </p:nvSpPr>
          <p:spPr>
            <a:xfrm>
              <a:off x="2649249" y="1445241"/>
              <a:ext cx="84830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03</a:t>
              </a:r>
              <a:endParaRPr lang="zh-CN" altLang="en-US" sz="40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2157350" y="2449289"/>
              <a:ext cx="1816100" cy="2036552"/>
              <a:chOff x="935819" y="-292277"/>
              <a:chExt cx="1816100" cy="2036552"/>
            </a:xfrm>
          </p:grpSpPr>
          <p:sp>
            <p:nvSpPr>
              <p:cNvPr id="37" name="文本框 36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35819" y="422205"/>
                <a:ext cx="1816077" cy="1322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通过</a:t>
                </a:r>
                <a:r>
                  <a:rPr lang="en-US" altLang="zh-CN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AI</a:t>
                </a: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技术进行初审，减少人工审核工作量，提升处理速度。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148544" y="-292277"/>
                <a:ext cx="160337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人工审核工作量大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</p:grpSp>
      <p:sp>
        <p:nvSpPr>
          <p:cNvPr id="39" name="文本框 38"/>
          <p:cNvSpPr txBox="1"/>
          <p:nvPr/>
        </p:nvSpPr>
        <p:spPr>
          <a:xfrm>
            <a:off x="2237740" y="5050790"/>
            <a:ext cx="761174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ts val="3000"/>
              </a:lnSpc>
            </a:pPr>
            <a:r>
              <a:rPr lang="zh-CN" alt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rPr>
              <a:t>七彩信息是一款对于奖学金加分计算的信息处理平台，致力于提升用户在比赛报名、分数查询和材料审核中的效率。</a:t>
            </a:r>
            <a:endParaRPr lang="zh-CN" altLang="en-US" sz="2800" dirty="0">
              <a:solidFill>
                <a:schemeClr val="tx2">
                  <a:lumMod val="75000"/>
                  <a:lumOff val="25000"/>
                </a:schemeClr>
              </a:solidFill>
              <a:latin typeface="思源宋体 CN Light" panose="02020300000000000000" pitchFamily="18" charset="-122"/>
              <a:ea typeface="思源宋体 CN" panose="02020400000000000000" pitchFamily="18" charset="-122"/>
              <a:cs typeface="+mn-ea"/>
              <a:sym typeface="思源宋体 CN Light" panose="02020300000000000000" pitchFamily="18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45983" y="4854234"/>
            <a:ext cx="750322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1135383" y="2483289"/>
            <a:ext cx="2158803" cy="3519188"/>
            <a:chOff x="1170108" y="1289489"/>
            <a:chExt cx="2158803" cy="3519188"/>
          </a:xfrm>
        </p:grpSpPr>
        <p:sp>
          <p:nvSpPr>
            <p:cNvPr id="3" name="shape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>
              <a:off x="1302180" y="1330691"/>
              <a:ext cx="1894659" cy="1311370"/>
            </a:xfrm>
            <a:custGeom>
              <a:avLst/>
              <a:gdLst>
                <a:gd name="T0" fmla="*/ 368 w 7852"/>
                <a:gd name="T1" fmla="*/ 0 h 5322"/>
                <a:gd name="T2" fmla="*/ 7496 w 7852"/>
                <a:gd name="T3" fmla="*/ 0 h 5322"/>
                <a:gd name="T4" fmla="*/ 7497 w 7852"/>
                <a:gd name="T5" fmla="*/ 0 h 5322"/>
                <a:gd name="T6" fmla="*/ 7497 w 7852"/>
                <a:gd name="T7" fmla="*/ 0 h 5322"/>
                <a:gd name="T8" fmla="*/ 7852 w 7852"/>
                <a:gd name="T9" fmla="*/ 357 h 5322"/>
                <a:gd name="T10" fmla="*/ 7852 w 7852"/>
                <a:gd name="T11" fmla="*/ 363 h 5322"/>
                <a:gd name="T12" fmla="*/ 7852 w 7852"/>
                <a:gd name="T13" fmla="*/ 363 h 5322"/>
                <a:gd name="T14" fmla="*/ 7852 w 7852"/>
                <a:gd name="T15" fmla="*/ 3116 h 5322"/>
                <a:gd name="T16" fmla="*/ 7852 w 7852"/>
                <a:gd name="T17" fmla="*/ 3120 h 5322"/>
                <a:gd name="T18" fmla="*/ 7852 w 7852"/>
                <a:gd name="T19" fmla="*/ 3120 h 5322"/>
                <a:gd name="T20" fmla="*/ 7482 w 7852"/>
                <a:gd name="T21" fmla="*/ 3676 h 5322"/>
                <a:gd name="T22" fmla="*/ 4025 w 7852"/>
                <a:gd name="T23" fmla="*/ 5297 h 5322"/>
                <a:gd name="T24" fmla="*/ 4024 w 7852"/>
                <a:gd name="T25" fmla="*/ 5298 h 5322"/>
                <a:gd name="T26" fmla="*/ 3926 w 7852"/>
                <a:gd name="T27" fmla="*/ 5322 h 5322"/>
                <a:gd name="T28" fmla="*/ 3833 w 7852"/>
                <a:gd name="T29" fmla="*/ 5300 h 5322"/>
                <a:gd name="T30" fmla="*/ 378 w 7852"/>
                <a:gd name="T31" fmla="*/ 3680 h 5322"/>
                <a:gd name="T32" fmla="*/ 0 w 7852"/>
                <a:gd name="T33" fmla="*/ 3116 h 5322"/>
                <a:gd name="T34" fmla="*/ 0 w 7852"/>
                <a:gd name="T35" fmla="*/ 3099 h 5322"/>
                <a:gd name="T36" fmla="*/ 0 w 7852"/>
                <a:gd name="T37" fmla="*/ 3099 h 5322"/>
                <a:gd name="T38" fmla="*/ 0 w 7852"/>
                <a:gd name="T39" fmla="*/ 362 h 5322"/>
                <a:gd name="T40" fmla="*/ 0 w 7852"/>
                <a:gd name="T41" fmla="*/ 362 h 5322"/>
                <a:gd name="T42" fmla="*/ 0 w 7852"/>
                <a:gd name="T43" fmla="*/ 357 h 5322"/>
                <a:gd name="T44" fmla="*/ 357 w 7852"/>
                <a:gd name="T45" fmla="*/ 0 h 5322"/>
                <a:gd name="T46" fmla="*/ 368 w 7852"/>
                <a:gd name="T47" fmla="*/ 0 h 5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852" h="5322">
                  <a:moveTo>
                    <a:pt x="368" y="0"/>
                  </a:moveTo>
                  <a:lnTo>
                    <a:pt x="7496" y="0"/>
                  </a:lnTo>
                  <a:lnTo>
                    <a:pt x="7497" y="0"/>
                  </a:lnTo>
                  <a:lnTo>
                    <a:pt x="7497" y="0"/>
                  </a:lnTo>
                  <a:cubicBezTo>
                    <a:pt x="7693" y="1"/>
                    <a:pt x="7852" y="160"/>
                    <a:pt x="7852" y="357"/>
                  </a:cubicBezTo>
                  <a:lnTo>
                    <a:pt x="7852" y="363"/>
                  </a:lnTo>
                  <a:lnTo>
                    <a:pt x="7852" y="363"/>
                  </a:lnTo>
                  <a:lnTo>
                    <a:pt x="7852" y="3116"/>
                  </a:lnTo>
                  <a:lnTo>
                    <a:pt x="7852" y="3120"/>
                  </a:lnTo>
                  <a:lnTo>
                    <a:pt x="7852" y="3120"/>
                  </a:lnTo>
                  <a:cubicBezTo>
                    <a:pt x="7851" y="3370"/>
                    <a:pt x="7699" y="3584"/>
                    <a:pt x="7482" y="3676"/>
                  </a:cubicBezTo>
                  <a:lnTo>
                    <a:pt x="4025" y="5297"/>
                  </a:lnTo>
                  <a:lnTo>
                    <a:pt x="4024" y="5298"/>
                  </a:lnTo>
                  <a:cubicBezTo>
                    <a:pt x="3995" y="5313"/>
                    <a:pt x="3962" y="5322"/>
                    <a:pt x="3926" y="5322"/>
                  </a:cubicBezTo>
                  <a:cubicBezTo>
                    <a:pt x="3893" y="5322"/>
                    <a:pt x="3861" y="5314"/>
                    <a:pt x="3833" y="5300"/>
                  </a:cubicBezTo>
                  <a:lnTo>
                    <a:pt x="378" y="3680"/>
                  </a:lnTo>
                  <a:cubicBezTo>
                    <a:pt x="156" y="3588"/>
                    <a:pt x="0" y="3370"/>
                    <a:pt x="0" y="3116"/>
                  </a:cubicBezTo>
                  <a:cubicBezTo>
                    <a:pt x="0" y="3110"/>
                    <a:pt x="0" y="3105"/>
                    <a:pt x="0" y="3099"/>
                  </a:cubicBezTo>
                  <a:lnTo>
                    <a:pt x="0" y="3099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0" y="357"/>
                  </a:lnTo>
                  <a:cubicBezTo>
                    <a:pt x="0" y="160"/>
                    <a:pt x="160" y="0"/>
                    <a:pt x="357" y="0"/>
                  </a:cubicBezTo>
                  <a:cubicBezTo>
                    <a:pt x="360" y="0"/>
                    <a:pt x="364" y="0"/>
                    <a:pt x="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12" tIns="45706" rIns="91412" bIns="45706" numCol="1" anchor="t" anchorCtr="0" compatLnSpc="1"/>
            <a:lstStyle/>
            <a:p>
              <a:pPr>
                <a:lnSpc>
                  <a:spcPct val="158000"/>
                </a:lnSpc>
              </a:pPr>
              <a:endParaRPr lang="zh-CN" altLang="en-US" sz="1200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1833370" y="1289489"/>
              <a:ext cx="848309" cy="10417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8000"/>
                </a:lnSpc>
              </a:pPr>
              <a:r>
                <a:rPr lang="en-US" altLang="zh-CN" sz="44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01</a:t>
              </a:r>
              <a:endParaRPr lang="zh-CN" altLang="en-US" sz="40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6" name="矩形 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671025" y="2815111"/>
              <a:ext cx="1156970" cy="10388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68566" tIns="34283" rIns="68566" bIns="34283">
              <a:spAutoFit/>
            </a:bodyPr>
            <a:lstStyle/>
            <a:p>
              <a:pPr algn="ctr">
                <a:lnSpc>
                  <a:spcPct val="158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登录麻烦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  <a:p>
              <a:pPr algn="ctr">
                <a:lnSpc>
                  <a:spcPct val="158000"/>
                </a:lnSpc>
              </a:pP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7" name="矩形 4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70108" y="3510737"/>
              <a:ext cx="2158803" cy="12979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8566" tIns="34283" rIns="68566" bIns="34283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用户频繁需要输入学号，系统考虑接入统一认证，提高登录便捷性。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6"/>
              </p:custDataLst>
            </p:nvPr>
          </p:nvCxnSpPr>
          <p:spPr>
            <a:xfrm flipH="1">
              <a:off x="1626103" y="3400085"/>
              <a:ext cx="124681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>
            <p:custDataLst>
              <p:tags r:id="rId7"/>
            </p:custDataLst>
          </p:nvPr>
        </p:nvGrpSpPr>
        <p:grpSpPr>
          <a:xfrm>
            <a:off x="3728164" y="2483289"/>
            <a:ext cx="2158803" cy="3519188"/>
            <a:chOff x="3742500" y="1289489"/>
            <a:chExt cx="2158803" cy="3519188"/>
          </a:xfrm>
        </p:grpSpPr>
        <p:sp>
          <p:nvSpPr>
            <p:cNvPr id="10" name="shape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 bwMode="auto">
            <a:xfrm>
              <a:off x="3874572" y="1330691"/>
              <a:ext cx="1894659" cy="1311370"/>
            </a:xfrm>
            <a:custGeom>
              <a:avLst/>
              <a:gdLst>
                <a:gd name="T0" fmla="*/ 368 w 7852"/>
                <a:gd name="T1" fmla="*/ 0 h 5322"/>
                <a:gd name="T2" fmla="*/ 7496 w 7852"/>
                <a:gd name="T3" fmla="*/ 0 h 5322"/>
                <a:gd name="T4" fmla="*/ 7497 w 7852"/>
                <a:gd name="T5" fmla="*/ 0 h 5322"/>
                <a:gd name="T6" fmla="*/ 7497 w 7852"/>
                <a:gd name="T7" fmla="*/ 0 h 5322"/>
                <a:gd name="T8" fmla="*/ 7852 w 7852"/>
                <a:gd name="T9" fmla="*/ 357 h 5322"/>
                <a:gd name="T10" fmla="*/ 7852 w 7852"/>
                <a:gd name="T11" fmla="*/ 363 h 5322"/>
                <a:gd name="T12" fmla="*/ 7852 w 7852"/>
                <a:gd name="T13" fmla="*/ 363 h 5322"/>
                <a:gd name="T14" fmla="*/ 7852 w 7852"/>
                <a:gd name="T15" fmla="*/ 3116 h 5322"/>
                <a:gd name="T16" fmla="*/ 7852 w 7852"/>
                <a:gd name="T17" fmla="*/ 3120 h 5322"/>
                <a:gd name="T18" fmla="*/ 7852 w 7852"/>
                <a:gd name="T19" fmla="*/ 3120 h 5322"/>
                <a:gd name="T20" fmla="*/ 7482 w 7852"/>
                <a:gd name="T21" fmla="*/ 3676 h 5322"/>
                <a:gd name="T22" fmla="*/ 4025 w 7852"/>
                <a:gd name="T23" fmla="*/ 5297 h 5322"/>
                <a:gd name="T24" fmla="*/ 4024 w 7852"/>
                <a:gd name="T25" fmla="*/ 5298 h 5322"/>
                <a:gd name="T26" fmla="*/ 3926 w 7852"/>
                <a:gd name="T27" fmla="*/ 5322 h 5322"/>
                <a:gd name="T28" fmla="*/ 3833 w 7852"/>
                <a:gd name="T29" fmla="*/ 5300 h 5322"/>
                <a:gd name="T30" fmla="*/ 378 w 7852"/>
                <a:gd name="T31" fmla="*/ 3680 h 5322"/>
                <a:gd name="T32" fmla="*/ 0 w 7852"/>
                <a:gd name="T33" fmla="*/ 3116 h 5322"/>
                <a:gd name="T34" fmla="*/ 0 w 7852"/>
                <a:gd name="T35" fmla="*/ 3099 h 5322"/>
                <a:gd name="T36" fmla="*/ 0 w 7852"/>
                <a:gd name="T37" fmla="*/ 3099 h 5322"/>
                <a:gd name="T38" fmla="*/ 0 w 7852"/>
                <a:gd name="T39" fmla="*/ 362 h 5322"/>
                <a:gd name="T40" fmla="*/ 0 w 7852"/>
                <a:gd name="T41" fmla="*/ 362 h 5322"/>
                <a:gd name="T42" fmla="*/ 0 w 7852"/>
                <a:gd name="T43" fmla="*/ 357 h 5322"/>
                <a:gd name="T44" fmla="*/ 357 w 7852"/>
                <a:gd name="T45" fmla="*/ 0 h 5322"/>
                <a:gd name="T46" fmla="*/ 368 w 7852"/>
                <a:gd name="T47" fmla="*/ 0 h 5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852" h="5322">
                  <a:moveTo>
                    <a:pt x="368" y="0"/>
                  </a:moveTo>
                  <a:lnTo>
                    <a:pt x="7496" y="0"/>
                  </a:lnTo>
                  <a:lnTo>
                    <a:pt x="7497" y="0"/>
                  </a:lnTo>
                  <a:lnTo>
                    <a:pt x="7497" y="0"/>
                  </a:lnTo>
                  <a:cubicBezTo>
                    <a:pt x="7693" y="1"/>
                    <a:pt x="7852" y="160"/>
                    <a:pt x="7852" y="357"/>
                  </a:cubicBezTo>
                  <a:lnTo>
                    <a:pt x="7852" y="363"/>
                  </a:lnTo>
                  <a:lnTo>
                    <a:pt x="7852" y="363"/>
                  </a:lnTo>
                  <a:lnTo>
                    <a:pt x="7852" y="3116"/>
                  </a:lnTo>
                  <a:lnTo>
                    <a:pt x="7852" y="3120"/>
                  </a:lnTo>
                  <a:lnTo>
                    <a:pt x="7852" y="3120"/>
                  </a:lnTo>
                  <a:cubicBezTo>
                    <a:pt x="7851" y="3370"/>
                    <a:pt x="7699" y="3584"/>
                    <a:pt x="7482" y="3676"/>
                  </a:cubicBezTo>
                  <a:lnTo>
                    <a:pt x="4025" y="5297"/>
                  </a:lnTo>
                  <a:lnTo>
                    <a:pt x="4024" y="5298"/>
                  </a:lnTo>
                  <a:cubicBezTo>
                    <a:pt x="3995" y="5313"/>
                    <a:pt x="3962" y="5322"/>
                    <a:pt x="3926" y="5322"/>
                  </a:cubicBezTo>
                  <a:cubicBezTo>
                    <a:pt x="3893" y="5322"/>
                    <a:pt x="3861" y="5314"/>
                    <a:pt x="3833" y="5300"/>
                  </a:cubicBezTo>
                  <a:lnTo>
                    <a:pt x="378" y="3680"/>
                  </a:lnTo>
                  <a:cubicBezTo>
                    <a:pt x="156" y="3588"/>
                    <a:pt x="0" y="3370"/>
                    <a:pt x="0" y="3116"/>
                  </a:cubicBezTo>
                  <a:cubicBezTo>
                    <a:pt x="0" y="3110"/>
                    <a:pt x="0" y="3105"/>
                    <a:pt x="0" y="3099"/>
                  </a:cubicBezTo>
                  <a:lnTo>
                    <a:pt x="0" y="3099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0" y="357"/>
                  </a:lnTo>
                  <a:cubicBezTo>
                    <a:pt x="0" y="160"/>
                    <a:pt x="160" y="0"/>
                    <a:pt x="357" y="0"/>
                  </a:cubicBezTo>
                  <a:cubicBezTo>
                    <a:pt x="360" y="0"/>
                    <a:pt x="364" y="0"/>
                    <a:pt x="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12" tIns="45706" rIns="91412" bIns="45706" numCol="1" anchor="t" anchorCtr="0" compatLnSpc="1"/>
            <a:lstStyle/>
            <a:p>
              <a:pPr>
                <a:lnSpc>
                  <a:spcPct val="158000"/>
                </a:lnSpc>
              </a:pPr>
              <a:endParaRPr lang="zh-CN" altLang="en-US" sz="1200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4405762" y="1289489"/>
              <a:ext cx="848309" cy="10417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8000"/>
                </a:lnSpc>
              </a:pPr>
              <a:r>
                <a:rPr lang="en-US" altLang="zh-CN" sz="44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02</a:t>
              </a:r>
              <a:endParaRPr lang="zh-CN" altLang="en-US" sz="40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860512" y="2815111"/>
              <a:ext cx="1922780" cy="55308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68566" tIns="34283" rIns="68566" bIns="34283">
              <a:spAutoFit/>
            </a:bodyPr>
            <a:lstStyle/>
            <a:p>
              <a:pPr algn="ctr">
                <a:lnSpc>
                  <a:spcPct val="158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分数审核不透明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4" name="矩形 47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742500" y="3510737"/>
              <a:ext cx="2158803" cy="12979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8566" tIns="34283" rIns="68566" bIns="34283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提供实时查看自己的综测分数及审核进度，确保用户对分数审核过程有清晰了解。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12"/>
              </p:custDataLst>
            </p:nvPr>
          </p:nvCxnSpPr>
          <p:spPr>
            <a:xfrm flipH="1">
              <a:off x="4198495" y="3400085"/>
              <a:ext cx="124681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>
            <p:custDataLst>
              <p:tags r:id="rId13"/>
            </p:custDataLst>
          </p:nvPr>
        </p:nvGrpSpPr>
        <p:grpSpPr>
          <a:xfrm>
            <a:off x="6320945" y="2483289"/>
            <a:ext cx="2158803" cy="3519188"/>
            <a:chOff x="6376058" y="1289489"/>
            <a:chExt cx="2158803" cy="3519188"/>
          </a:xfrm>
        </p:grpSpPr>
        <p:sp>
          <p:nvSpPr>
            <p:cNvPr id="17" name="shape"/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>
              <a:off x="6508130" y="1330691"/>
              <a:ext cx="1894659" cy="1311370"/>
            </a:xfrm>
            <a:custGeom>
              <a:avLst/>
              <a:gdLst>
                <a:gd name="T0" fmla="*/ 368 w 7852"/>
                <a:gd name="T1" fmla="*/ 0 h 5322"/>
                <a:gd name="T2" fmla="*/ 7496 w 7852"/>
                <a:gd name="T3" fmla="*/ 0 h 5322"/>
                <a:gd name="T4" fmla="*/ 7497 w 7852"/>
                <a:gd name="T5" fmla="*/ 0 h 5322"/>
                <a:gd name="T6" fmla="*/ 7497 w 7852"/>
                <a:gd name="T7" fmla="*/ 0 h 5322"/>
                <a:gd name="T8" fmla="*/ 7852 w 7852"/>
                <a:gd name="T9" fmla="*/ 357 h 5322"/>
                <a:gd name="T10" fmla="*/ 7852 w 7852"/>
                <a:gd name="T11" fmla="*/ 363 h 5322"/>
                <a:gd name="T12" fmla="*/ 7852 w 7852"/>
                <a:gd name="T13" fmla="*/ 363 h 5322"/>
                <a:gd name="T14" fmla="*/ 7852 w 7852"/>
                <a:gd name="T15" fmla="*/ 3116 h 5322"/>
                <a:gd name="T16" fmla="*/ 7852 w 7852"/>
                <a:gd name="T17" fmla="*/ 3120 h 5322"/>
                <a:gd name="T18" fmla="*/ 7852 w 7852"/>
                <a:gd name="T19" fmla="*/ 3120 h 5322"/>
                <a:gd name="T20" fmla="*/ 7482 w 7852"/>
                <a:gd name="T21" fmla="*/ 3676 h 5322"/>
                <a:gd name="T22" fmla="*/ 4025 w 7852"/>
                <a:gd name="T23" fmla="*/ 5297 h 5322"/>
                <a:gd name="T24" fmla="*/ 4024 w 7852"/>
                <a:gd name="T25" fmla="*/ 5298 h 5322"/>
                <a:gd name="T26" fmla="*/ 3926 w 7852"/>
                <a:gd name="T27" fmla="*/ 5322 h 5322"/>
                <a:gd name="T28" fmla="*/ 3833 w 7852"/>
                <a:gd name="T29" fmla="*/ 5300 h 5322"/>
                <a:gd name="T30" fmla="*/ 378 w 7852"/>
                <a:gd name="T31" fmla="*/ 3680 h 5322"/>
                <a:gd name="T32" fmla="*/ 0 w 7852"/>
                <a:gd name="T33" fmla="*/ 3116 h 5322"/>
                <a:gd name="T34" fmla="*/ 0 w 7852"/>
                <a:gd name="T35" fmla="*/ 3099 h 5322"/>
                <a:gd name="T36" fmla="*/ 0 w 7852"/>
                <a:gd name="T37" fmla="*/ 3099 h 5322"/>
                <a:gd name="T38" fmla="*/ 0 w 7852"/>
                <a:gd name="T39" fmla="*/ 362 h 5322"/>
                <a:gd name="T40" fmla="*/ 0 w 7852"/>
                <a:gd name="T41" fmla="*/ 362 h 5322"/>
                <a:gd name="T42" fmla="*/ 0 w 7852"/>
                <a:gd name="T43" fmla="*/ 357 h 5322"/>
                <a:gd name="T44" fmla="*/ 357 w 7852"/>
                <a:gd name="T45" fmla="*/ 0 h 5322"/>
                <a:gd name="T46" fmla="*/ 368 w 7852"/>
                <a:gd name="T47" fmla="*/ 0 h 5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852" h="5322">
                  <a:moveTo>
                    <a:pt x="368" y="0"/>
                  </a:moveTo>
                  <a:lnTo>
                    <a:pt x="7496" y="0"/>
                  </a:lnTo>
                  <a:lnTo>
                    <a:pt x="7497" y="0"/>
                  </a:lnTo>
                  <a:lnTo>
                    <a:pt x="7497" y="0"/>
                  </a:lnTo>
                  <a:cubicBezTo>
                    <a:pt x="7693" y="1"/>
                    <a:pt x="7852" y="160"/>
                    <a:pt x="7852" y="357"/>
                  </a:cubicBezTo>
                  <a:lnTo>
                    <a:pt x="7852" y="363"/>
                  </a:lnTo>
                  <a:lnTo>
                    <a:pt x="7852" y="363"/>
                  </a:lnTo>
                  <a:lnTo>
                    <a:pt x="7852" y="3116"/>
                  </a:lnTo>
                  <a:lnTo>
                    <a:pt x="7852" y="3120"/>
                  </a:lnTo>
                  <a:lnTo>
                    <a:pt x="7852" y="3120"/>
                  </a:lnTo>
                  <a:cubicBezTo>
                    <a:pt x="7851" y="3370"/>
                    <a:pt x="7699" y="3584"/>
                    <a:pt x="7482" y="3676"/>
                  </a:cubicBezTo>
                  <a:lnTo>
                    <a:pt x="4025" y="5297"/>
                  </a:lnTo>
                  <a:lnTo>
                    <a:pt x="4024" y="5298"/>
                  </a:lnTo>
                  <a:cubicBezTo>
                    <a:pt x="3995" y="5313"/>
                    <a:pt x="3962" y="5322"/>
                    <a:pt x="3926" y="5322"/>
                  </a:cubicBezTo>
                  <a:cubicBezTo>
                    <a:pt x="3893" y="5322"/>
                    <a:pt x="3861" y="5314"/>
                    <a:pt x="3833" y="5300"/>
                  </a:cubicBezTo>
                  <a:lnTo>
                    <a:pt x="378" y="3680"/>
                  </a:lnTo>
                  <a:cubicBezTo>
                    <a:pt x="156" y="3588"/>
                    <a:pt x="0" y="3370"/>
                    <a:pt x="0" y="3116"/>
                  </a:cubicBezTo>
                  <a:cubicBezTo>
                    <a:pt x="0" y="3110"/>
                    <a:pt x="0" y="3105"/>
                    <a:pt x="0" y="3099"/>
                  </a:cubicBezTo>
                  <a:lnTo>
                    <a:pt x="0" y="3099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0" y="357"/>
                  </a:lnTo>
                  <a:cubicBezTo>
                    <a:pt x="0" y="160"/>
                    <a:pt x="160" y="0"/>
                    <a:pt x="357" y="0"/>
                  </a:cubicBezTo>
                  <a:cubicBezTo>
                    <a:pt x="360" y="0"/>
                    <a:pt x="364" y="0"/>
                    <a:pt x="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12" tIns="45706" rIns="91412" bIns="45706" numCol="1" anchor="t" anchorCtr="0" compatLnSpc="1"/>
            <a:lstStyle/>
            <a:p>
              <a:pPr>
                <a:lnSpc>
                  <a:spcPct val="158000"/>
                </a:lnSpc>
              </a:pPr>
              <a:endParaRPr lang="zh-CN" altLang="en-US" sz="1200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15"/>
              </p:custDataLst>
            </p:nvPr>
          </p:nvSpPr>
          <p:spPr>
            <a:xfrm>
              <a:off x="7039320" y="1289489"/>
              <a:ext cx="848309" cy="10417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8000"/>
                </a:lnSpc>
              </a:pPr>
              <a:r>
                <a:rPr lang="en-US" altLang="zh-CN" sz="44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03</a:t>
              </a:r>
              <a:endParaRPr lang="zh-CN" altLang="en-US" sz="40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0" name="矩形 19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621705" y="2815111"/>
              <a:ext cx="1667510" cy="55308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68566" tIns="34283" rIns="68566" bIns="34283">
              <a:spAutoFit/>
            </a:bodyPr>
            <a:lstStyle/>
            <a:p>
              <a:pPr algn="ctr">
                <a:lnSpc>
                  <a:spcPct val="158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上传工作量大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1" name="矩形 47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376058" y="3510737"/>
              <a:ext cx="2158803" cy="12979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8566" tIns="34283" rIns="68566" bIns="34283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使用</a:t>
              </a:r>
              <a:r>
                <a: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AI</a:t>
              </a: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技术进行奖项论文等自动识别，以减少用户上传时填写的文字量</a:t>
              </a:r>
              <a:endPara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cxnSp>
          <p:nvCxnSpPr>
            <p:cNvPr id="22" name="直接连接符 21"/>
            <p:cNvCxnSpPr/>
            <p:nvPr>
              <p:custDataLst>
                <p:tags r:id="rId18"/>
              </p:custDataLst>
            </p:nvPr>
          </p:nvCxnSpPr>
          <p:spPr>
            <a:xfrm flipH="1">
              <a:off x="6832053" y="3400085"/>
              <a:ext cx="124681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/>
          <p:cNvGrpSpPr/>
          <p:nvPr>
            <p:custDataLst>
              <p:tags r:id="rId19"/>
            </p:custDataLst>
          </p:nvPr>
        </p:nvGrpSpPr>
        <p:grpSpPr>
          <a:xfrm>
            <a:off x="8913725" y="2483289"/>
            <a:ext cx="2158803" cy="3827163"/>
            <a:chOff x="8948450" y="1289489"/>
            <a:chExt cx="2158803" cy="3827163"/>
          </a:xfrm>
        </p:grpSpPr>
        <p:sp>
          <p:nvSpPr>
            <p:cNvPr id="24" name="shape"/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>
              <a:off x="9080522" y="1330691"/>
              <a:ext cx="1894659" cy="1311370"/>
            </a:xfrm>
            <a:custGeom>
              <a:avLst/>
              <a:gdLst>
                <a:gd name="T0" fmla="*/ 368 w 7852"/>
                <a:gd name="T1" fmla="*/ 0 h 5322"/>
                <a:gd name="T2" fmla="*/ 7496 w 7852"/>
                <a:gd name="T3" fmla="*/ 0 h 5322"/>
                <a:gd name="T4" fmla="*/ 7497 w 7852"/>
                <a:gd name="T5" fmla="*/ 0 h 5322"/>
                <a:gd name="T6" fmla="*/ 7497 w 7852"/>
                <a:gd name="T7" fmla="*/ 0 h 5322"/>
                <a:gd name="T8" fmla="*/ 7852 w 7852"/>
                <a:gd name="T9" fmla="*/ 357 h 5322"/>
                <a:gd name="T10" fmla="*/ 7852 w 7852"/>
                <a:gd name="T11" fmla="*/ 363 h 5322"/>
                <a:gd name="T12" fmla="*/ 7852 w 7852"/>
                <a:gd name="T13" fmla="*/ 363 h 5322"/>
                <a:gd name="T14" fmla="*/ 7852 w 7852"/>
                <a:gd name="T15" fmla="*/ 3116 h 5322"/>
                <a:gd name="T16" fmla="*/ 7852 w 7852"/>
                <a:gd name="T17" fmla="*/ 3120 h 5322"/>
                <a:gd name="T18" fmla="*/ 7852 w 7852"/>
                <a:gd name="T19" fmla="*/ 3120 h 5322"/>
                <a:gd name="T20" fmla="*/ 7482 w 7852"/>
                <a:gd name="T21" fmla="*/ 3676 h 5322"/>
                <a:gd name="T22" fmla="*/ 4025 w 7852"/>
                <a:gd name="T23" fmla="*/ 5297 h 5322"/>
                <a:gd name="T24" fmla="*/ 4024 w 7852"/>
                <a:gd name="T25" fmla="*/ 5298 h 5322"/>
                <a:gd name="T26" fmla="*/ 3926 w 7852"/>
                <a:gd name="T27" fmla="*/ 5322 h 5322"/>
                <a:gd name="T28" fmla="*/ 3833 w 7852"/>
                <a:gd name="T29" fmla="*/ 5300 h 5322"/>
                <a:gd name="T30" fmla="*/ 378 w 7852"/>
                <a:gd name="T31" fmla="*/ 3680 h 5322"/>
                <a:gd name="T32" fmla="*/ 0 w 7852"/>
                <a:gd name="T33" fmla="*/ 3116 h 5322"/>
                <a:gd name="T34" fmla="*/ 0 w 7852"/>
                <a:gd name="T35" fmla="*/ 3099 h 5322"/>
                <a:gd name="T36" fmla="*/ 0 w 7852"/>
                <a:gd name="T37" fmla="*/ 3099 h 5322"/>
                <a:gd name="T38" fmla="*/ 0 w 7852"/>
                <a:gd name="T39" fmla="*/ 362 h 5322"/>
                <a:gd name="T40" fmla="*/ 0 w 7852"/>
                <a:gd name="T41" fmla="*/ 362 h 5322"/>
                <a:gd name="T42" fmla="*/ 0 w 7852"/>
                <a:gd name="T43" fmla="*/ 357 h 5322"/>
                <a:gd name="T44" fmla="*/ 357 w 7852"/>
                <a:gd name="T45" fmla="*/ 0 h 5322"/>
                <a:gd name="T46" fmla="*/ 368 w 7852"/>
                <a:gd name="T47" fmla="*/ 0 h 5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852" h="5322">
                  <a:moveTo>
                    <a:pt x="368" y="0"/>
                  </a:moveTo>
                  <a:lnTo>
                    <a:pt x="7496" y="0"/>
                  </a:lnTo>
                  <a:lnTo>
                    <a:pt x="7497" y="0"/>
                  </a:lnTo>
                  <a:lnTo>
                    <a:pt x="7497" y="0"/>
                  </a:lnTo>
                  <a:cubicBezTo>
                    <a:pt x="7693" y="1"/>
                    <a:pt x="7852" y="160"/>
                    <a:pt x="7852" y="357"/>
                  </a:cubicBezTo>
                  <a:lnTo>
                    <a:pt x="7852" y="363"/>
                  </a:lnTo>
                  <a:lnTo>
                    <a:pt x="7852" y="363"/>
                  </a:lnTo>
                  <a:lnTo>
                    <a:pt x="7852" y="3116"/>
                  </a:lnTo>
                  <a:lnTo>
                    <a:pt x="7852" y="3120"/>
                  </a:lnTo>
                  <a:lnTo>
                    <a:pt x="7852" y="3120"/>
                  </a:lnTo>
                  <a:cubicBezTo>
                    <a:pt x="7851" y="3370"/>
                    <a:pt x="7699" y="3584"/>
                    <a:pt x="7482" y="3676"/>
                  </a:cubicBezTo>
                  <a:lnTo>
                    <a:pt x="4025" y="5297"/>
                  </a:lnTo>
                  <a:lnTo>
                    <a:pt x="4024" y="5298"/>
                  </a:lnTo>
                  <a:cubicBezTo>
                    <a:pt x="3995" y="5313"/>
                    <a:pt x="3962" y="5322"/>
                    <a:pt x="3926" y="5322"/>
                  </a:cubicBezTo>
                  <a:cubicBezTo>
                    <a:pt x="3893" y="5322"/>
                    <a:pt x="3861" y="5314"/>
                    <a:pt x="3833" y="5300"/>
                  </a:cubicBezTo>
                  <a:lnTo>
                    <a:pt x="378" y="3680"/>
                  </a:lnTo>
                  <a:cubicBezTo>
                    <a:pt x="156" y="3588"/>
                    <a:pt x="0" y="3370"/>
                    <a:pt x="0" y="3116"/>
                  </a:cubicBezTo>
                  <a:cubicBezTo>
                    <a:pt x="0" y="3110"/>
                    <a:pt x="0" y="3105"/>
                    <a:pt x="0" y="3099"/>
                  </a:cubicBezTo>
                  <a:lnTo>
                    <a:pt x="0" y="3099"/>
                  </a:lnTo>
                  <a:lnTo>
                    <a:pt x="0" y="362"/>
                  </a:lnTo>
                  <a:lnTo>
                    <a:pt x="0" y="362"/>
                  </a:lnTo>
                  <a:lnTo>
                    <a:pt x="0" y="357"/>
                  </a:lnTo>
                  <a:cubicBezTo>
                    <a:pt x="0" y="160"/>
                    <a:pt x="160" y="0"/>
                    <a:pt x="357" y="0"/>
                  </a:cubicBezTo>
                  <a:cubicBezTo>
                    <a:pt x="360" y="0"/>
                    <a:pt x="364" y="0"/>
                    <a:pt x="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12" tIns="45706" rIns="91412" bIns="45706" numCol="1" anchor="t" anchorCtr="0" compatLnSpc="1"/>
            <a:lstStyle/>
            <a:p>
              <a:pPr>
                <a:lnSpc>
                  <a:spcPct val="158000"/>
                </a:lnSpc>
              </a:pPr>
              <a:endParaRPr lang="zh-CN" altLang="en-US" sz="1200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21"/>
              </p:custDataLst>
            </p:nvPr>
          </p:nvSpPr>
          <p:spPr>
            <a:xfrm>
              <a:off x="9611712" y="1289489"/>
              <a:ext cx="848309" cy="10417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8000"/>
                </a:lnSpc>
              </a:pPr>
              <a:r>
                <a:rPr lang="en-US" altLang="zh-CN" sz="44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04</a:t>
              </a:r>
              <a:endParaRPr lang="zh-CN" altLang="en-US" sz="40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7" name="矩形 26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9449367" y="2815111"/>
              <a:ext cx="1156970" cy="55308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68566" tIns="34283" rIns="68566" bIns="34283">
              <a:spAutoFit/>
            </a:bodyPr>
            <a:lstStyle/>
            <a:p>
              <a:pPr algn="ctr">
                <a:lnSpc>
                  <a:spcPct val="158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功能设计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8" name="矩形 47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948450" y="3510737"/>
              <a:ext cx="2158803" cy="16059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8566" tIns="34283" rIns="68566" bIns="34283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后台系统负责信息管理、审核以及</a:t>
              </a:r>
              <a:r>
                <a: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LLM</a:t>
              </a: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配置，前台系统则负责信息上传和自动识别，提升系统自动化程度。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cxnSp>
          <p:nvCxnSpPr>
            <p:cNvPr id="29" name="直接连接符 28"/>
            <p:cNvCxnSpPr/>
            <p:nvPr>
              <p:custDataLst>
                <p:tags r:id="rId24"/>
              </p:custDataLst>
            </p:nvPr>
          </p:nvCxnSpPr>
          <p:spPr>
            <a:xfrm flipH="1">
              <a:off x="9404445" y="3400085"/>
              <a:ext cx="124681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1135380" y="1159510"/>
            <a:ext cx="100501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2400" dirty="0">
                <a:solidFill>
                  <a:schemeClr val="tx2">
                    <a:lumMod val="75000"/>
                    <a:lumOff val="25000"/>
                    <a:alpha val="90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rPr>
              <a:t>通过用户调研，收集了多个实际问题，并为每个问题提出了相应的解决方案。这些方案的实施不仅优化了用户体验，还提高了平台的工作效率。</a:t>
            </a:r>
            <a:endParaRPr lang="zh-CN" altLang="en-US" sz="2400" dirty="0">
              <a:solidFill>
                <a:schemeClr val="tx2">
                  <a:lumMod val="75000"/>
                  <a:lumOff val="25000"/>
                  <a:alpha val="90000"/>
                </a:schemeClr>
              </a:solidFill>
              <a:latin typeface="思源宋体 CN Light" panose="02020300000000000000" pitchFamily="18" charset="-122"/>
              <a:ea typeface="思源宋体 CN" panose="02020400000000000000" pitchFamily="18" charset="-122"/>
              <a:cs typeface="+mn-ea"/>
              <a:sym typeface="思源宋体 CN Light" panose="02020300000000000000" pitchFamily="18" charset="-122"/>
            </a:endParaRPr>
          </a:p>
          <a:p>
            <a:pPr algn="ctr">
              <a:lnSpc>
                <a:spcPts val="2400"/>
              </a:lnSpc>
            </a:pPr>
            <a:endParaRPr lang="en-US" altLang="zh-CN" sz="1600" dirty="0">
              <a:solidFill>
                <a:schemeClr val="tx2">
                  <a:lumMod val="75000"/>
                  <a:lumOff val="25000"/>
                  <a:alpha val="90000"/>
                </a:schemeClr>
              </a:solidFill>
              <a:latin typeface="思源宋体 CN Light" panose="02020300000000000000" pitchFamily="18" charset="-122"/>
              <a:ea typeface="思源宋体 CN" panose="02020400000000000000" pitchFamily="18" charset="-122"/>
              <a:cs typeface="+mn-ea"/>
              <a:sym typeface="思源宋体 CN Light" panose="02020300000000000000" pitchFamily="18" charset="-122"/>
            </a:endParaRPr>
          </a:p>
          <a:p>
            <a:pPr algn="ctr">
              <a:lnSpc>
                <a:spcPts val="2400"/>
              </a:lnSpc>
            </a:pPr>
            <a:endParaRPr lang="en-US" altLang="zh-CN" sz="1600" dirty="0">
              <a:solidFill>
                <a:schemeClr val="tx2">
                  <a:lumMod val="75000"/>
                  <a:lumOff val="25000"/>
                  <a:alpha val="90000"/>
                </a:schemeClr>
              </a:solidFill>
              <a:latin typeface="思源宋体 CN Light" panose="02020300000000000000" pitchFamily="18" charset="-122"/>
              <a:ea typeface="思源宋体 CN" panose="02020400000000000000" pitchFamily="18" charset="-122"/>
              <a:cs typeface="+mn-ea"/>
              <a:sym typeface="思源宋体 CN Light" panose="02020300000000000000" pitchFamily="18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1104199" y="2123012"/>
            <a:ext cx="998679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987847" y="3217043"/>
            <a:ext cx="6278509" cy="438662"/>
            <a:chOff x="2987847" y="3217043"/>
            <a:chExt cx="6278509" cy="438662"/>
          </a:xfrm>
        </p:grpSpPr>
        <p:grpSp>
          <p:nvGrpSpPr>
            <p:cNvPr id="8" name="组合 7"/>
            <p:cNvGrpSpPr/>
            <p:nvPr/>
          </p:nvGrpSpPr>
          <p:grpSpPr>
            <a:xfrm flipH="1" flipV="1">
              <a:off x="8796475" y="3217043"/>
              <a:ext cx="469881" cy="414376"/>
              <a:chOff x="10029097" y="1654139"/>
              <a:chExt cx="680839" cy="600414"/>
            </a:xfrm>
          </p:grpSpPr>
          <p:cxnSp>
            <p:nvCxnSpPr>
              <p:cNvPr id="9" name="直接连接符 8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 flipH="1" flipV="1">
              <a:off x="2987847" y="3241329"/>
              <a:ext cx="469881" cy="414376"/>
              <a:chOff x="10029097" y="1654139"/>
              <a:chExt cx="680839" cy="600414"/>
            </a:xfrm>
          </p:grpSpPr>
          <p:cxnSp>
            <p:nvCxnSpPr>
              <p:cNvPr id="17" name="直接连接符 16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3457455" y="2167186"/>
            <a:ext cx="5234940" cy="2557547"/>
            <a:chOff x="3457455" y="2167186"/>
            <a:chExt cx="5234940" cy="2557547"/>
          </a:xfrm>
        </p:grpSpPr>
        <p:sp>
          <p:nvSpPr>
            <p:cNvPr id="24" name="椭圆 23"/>
            <p:cNvSpPr/>
            <p:nvPr/>
          </p:nvSpPr>
          <p:spPr>
            <a:xfrm>
              <a:off x="5074845" y="2397025"/>
              <a:ext cx="864259" cy="864259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5602119" y="2247900"/>
              <a:ext cx="987761" cy="987761"/>
            </a:xfrm>
            <a:prstGeom prst="ellipse">
              <a:avLst/>
            </a:prstGeom>
            <a:solidFill>
              <a:srgbClr val="3751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b="1" dirty="0"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3</a:t>
              </a:r>
              <a:endParaRPr lang="zh-CN" altLang="en-US" sz="4800" b="1" dirty="0">
                <a:latin typeface="思源宋体 CN" panose="020204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457455" y="3479800"/>
              <a:ext cx="523494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gradFill>
                    <a:gsLst>
                      <a:gs pos="0">
                        <a:srgbClr val="2A324B"/>
                      </a:gs>
                      <a:gs pos="100000">
                        <a:srgbClr val="465F94"/>
                      </a:gs>
                    </a:gsLst>
                    <a:lin ang="0" scaled="1"/>
                  </a:gra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功能设计与技术路线</a:t>
              </a:r>
              <a:endParaRPr lang="zh-CN" altLang="en-US" sz="4400" b="1" dirty="0">
                <a:gradFill>
                  <a:gsLst>
                    <a:gs pos="0">
                      <a:srgbClr val="2A324B"/>
                    </a:gs>
                    <a:gs pos="100000">
                      <a:srgbClr val="465F94"/>
                    </a:gs>
                  </a:gsLst>
                  <a:lin ang="0" scaled="1"/>
                </a:gra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687408" y="4192926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600" dirty="0">
                <a:solidFill>
                  <a:srgbClr val="ACB4C8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5635282" y="4616798"/>
              <a:ext cx="921436" cy="107935"/>
            </a:xfrm>
            <a:prstGeom prst="roundRect">
              <a:avLst>
                <a:gd name="adj" fmla="val 50000"/>
              </a:avLst>
            </a:prstGeom>
            <a:solidFill>
              <a:srgbClr val="A4C9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6276090" y="2167186"/>
              <a:ext cx="740756" cy="740756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>
            <p:custDataLst>
              <p:tags r:id="rId1"/>
            </p:custDataLst>
          </p:nvPr>
        </p:nvGrpSpPr>
        <p:grpSpPr>
          <a:xfrm>
            <a:off x="4350404" y="2824924"/>
            <a:ext cx="3557748" cy="1371614"/>
            <a:chOff x="4350404" y="2977324"/>
            <a:chExt cx="3557748" cy="1371614"/>
          </a:xfrm>
        </p:grpSpPr>
        <p:cxnSp>
          <p:nvCxnSpPr>
            <p:cNvPr id="18" name="直接连接符 17"/>
            <p:cNvCxnSpPr/>
            <p:nvPr>
              <p:custDataLst>
                <p:tags r:id="rId2"/>
              </p:custDataLst>
            </p:nvPr>
          </p:nvCxnSpPr>
          <p:spPr>
            <a:xfrm>
              <a:off x="4350404" y="2977324"/>
              <a:ext cx="0" cy="1371614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>
              <p:custDataLst>
                <p:tags r:id="rId3"/>
              </p:custDataLst>
            </p:nvPr>
          </p:nvCxnSpPr>
          <p:spPr>
            <a:xfrm>
              <a:off x="7908152" y="2977324"/>
              <a:ext cx="0" cy="1371614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>
            <p:custDataLst>
              <p:tags r:id="rId4"/>
            </p:custDataLst>
          </p:nvPr>
        </p:nvGrpSpPr>
        <p:grpSpPr>
          <a:xfrm>
            <a:off x="1312681" y="1762039"/>
            <a:ext cx="2275930" cy="3524984"/>
            <a:chOff x="1327921" y="1914440"/>
            <a:chExt cx="2275930" cy="3524984"/>
          </a:xfrm>
        </p:grpSpPr>
        <p:grpSp>
          <p:nvGrpSpPr>
            <p:cNvPr id="35" name="组合 34"/>
            <p:cNvGrpSpPr/>
            <p:nvPr/>
          </p:nvGrpSpPr>
          <p:grpSpPr>
            <a:xfrm>
              <a:off x="1563116" y="1914440"/>
              <a:ext cx="1805540" cy="1805540"/>
              <a:chOff x="-1782926" y="5321393"/>
              <a:chExt cx="966829" cy="966829"/>
            </a:xfrm>
          </p:grpSpPr>
          <p:sp>
            <p:nvSpPr>
              <p:cNvPr id="36" name="椭圆 35"/>
              <p:cNvSpPr/>
              <p:nvPr>
                <p:custDataLst>
                  <p:tags r:id="rId5"/>
                </p:custDataLst>
              </p:nvPr>
            </p:nvSpPr>
            <p:spPr>
              <a:xfrm>
                <a:off x="-1782926" y="5321393"/>
                <a:ext cx="966829" cy="966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37" name="图形 49"/>
              <p:cNvSpPr/>
              <p:nvPr>
                <p:custDataLst>
                  <p:tags r:id="rId6"/>
                </p:custDataLst>
              </p:nvPr>
            </p:nvSpPr>
            <p:spPr>
              <a:xfrm>
                <a:off x="-1523330" y="5575249"/>
                <a:ext cx="447636" cy="459114"/>
              </a:xfrm>
              <a:custGeom>
                <a:avLst/>
                <a:gdLst>
                  <a:gd name="connsiteX0" fmla="*/ 1190625 w 1547812"/>
                  <a:gd name="connsiteY0" fmla="*/ 873125 h 1587500"/>
                  <a:gd name="connsiteX1" fmla="*/ 1547813 w 1547812"/>
                  <a:gd name="connsiteY1" fmla="*/ 1230313 h 1587500"/>
                  <a:gd name="connsiteX2" fmla="*/ 1190625 w 1547812"/>
                  <a:gd name="connsiteY2" fmla="*/ 1587500 h 1587500"/>
                  <a:gd name="connsiteX3" fmla="*/ 833438 w 1547812"/>
                  <a:gd name="connsiteY3" fmla="*/ 1230313 h 1587500"/>
                  <a:gd name="connsiteX4" fmla="*/ 1190625 w 1547812"/>
                  <a:gd name="connsiteY4" fmla="*/ 873125 h 1587500"/>
                  <a:gd name="connsiteX5" fmla="*/ 1190625 w 1547812"/>
                  <a:gd name="connsiteY5" fmla="*/ 0 h 1587500"/>
                  <a:gd name="connsiteX6" fmla="*/ 1269802 w 1547812"/>
                  <a:gd name="connsiteY6" fmla="*/ 73422 h 1587500"/>
                  <a:gd name="connsiteX7" fmla="*/ 1270000 w 1547812"/>
                  <a:gd name="connsiteY7" fmla="*/ 79375 h 1587500"/>
                  <a:gd name="connsiteX8" fmla="*/ 1270000 w 1547812"/>
                  <a:gd name="connsiteY8" fmla="*/ 754063 h 1587500"/>
                  <a:gd name="connsiteX9" fmla="*/ 1150938 w 1547812"/>
                  <a:gd name="connsiteY9" fmla="*/ 754063 h 1587500"/>
                  <a:gd name="connsiteX10" fmla="*/ 1150938 w 1547812"/>
                  <a:gd name="connsiteY10" fmla="*/ 119062 h 1587500"/>
                  <a:gd name="connsiteX11" fmla="*/ 119063 w 1547812"/>
                  <a:gd name="connsiteY11" fmla="*/ 119062 h 1587500"/>
                  <a:gd name="connsiteX12" fmla="*/ 119063 w 1547812"/>
                  <a:gd name="connsiteY12" fmla="*/ 1468438 h 1587500"/>
                  <a:gd name="connsiteX13" fmla="*/ 833438 w 1547812"/>
                  <a:gd name="connsiteY13" fmla="*/ 1468438 h 1587500"/>
                  <a:gd name="connsiteX14" fmla="*/ 833438 w 1547812"/>
                  <a:gd name="connsiteY14" fmla="*/ 1587500 h 1587500"/>
                  <a:gd name="connsiteX15" fmla="*/ 79375 w 1547812"/>
                  <a:gd name="connsiteY15" fmla="*/ 1587500 h 1587500"/>
                  <a:gd name="connsiteX16" fmla="*/ 198 w 1547812"/>
                  <a:gd name="connsiteY16" fmla="*/ 1514078 h 1587500"/>
                  <a:gd name="connsiteX17" fmla="*/ 0 w 1547812"/>
                  <a:gd name="connsiteY17" fmla="*/ 1508125 h 1587500"/>
                  <a:gd name="connsiteX18" fmla="*/ 0 w 1547812"/>
                  <a:gd name="connsiteY18" fmla="*/ 79375 h 1587500"/>
                  <a:gd name="connsiteX19" fmla="*/ 73422 w 1547812"/>
                  <a:gd name="connsiteY19" fmla="*/ 198 h 1587500"/>
                  <a:gd name="connsiteX20" fmla="*/ 79375 w 1547812"/>
                  <a:gd name="connsiteY20" fmla="*/ 0 h 1587500"/>
                  <a:gd name="connsiteX21" fmla="*/ 1190625 w 1547812"/>
                  <a:gd name="connsiteY21" fmla="*/ 0 h 1587500"/>
                  <a:gd name="connsiteX22" fmla="*/ 1190625 w 1547812"/>
                  <a:gd name="connsiteY22" fmla="*/ 992188 h 1587500"/>
                  <a:gd name="connsiteX23" fmla="*/ 952500 w 1547812"/>
                  <a:gd name="connsiteY23" fmla="*/ 1230313 h 1587500"/>
                  <a:gd name="connsiteX24" fmla="*/ 1190625 w 1547812"/>
                  <a:gd name="connsiteY24" fmla="*/ 1468438 h 1587500"/>
                  <a:gd name="connsiteX25" fmla="*/ 1428750 w 1547812"/>
                  <a:gd name="connsiteY25" fmla="*/ 1230313 h 1587500"/>
                  <a:gd name="connsiteX26" fmla="*/ 1190625 w 1547812"/>
                  <a:gd name="connsiteY26" fmla="*/ 992188 h 1587500"/>
                  <a:gd name="connsiteX27" fmla="*/ 1190625 w 1547812"/>
                  <a:gd name="connsiteY27" fmla="*/ 1042988 h 1587500"/>
                  <a:gd name="connsiteX28" fmla="*/ 1239996 w 1547812"/>
                  <a:gd name="connsiteY28" fmla="*/ 1087517 h 1587500"/>
                  <a:gd name="connsiteX29" fmla="*/ 1240234 w 1547812"/>
                  <a:gd name="connsiteY29" fmla="*/ 1092597 h 1587500"/>
                  <a:gd name="connsiteX30" fmla="*/ 1240234 w 1547812"/>
                  <a:gd name="connsiteY30" fmla="*/ 1209834 h 1587500"/>
                  <a:gd name="connsiteX31" fmla="*/ 1340644 w 1547812"/>
                  <a:gd name="connsiteY31" fmla="*/ 1209834 h 1587500"/>
                  <a:gd name="connsiteX32" fmla="*/ 1390015 w 1547812"/>
                  <a:gd name="connsiteY32" fmla="*/ 1254363 h 1587500"/>
                  <a:gd name="connsiteX33" fmla="*/ 1390253 w 1547812"/>
                  <a:gd name="connsiteY33" fmla="*/ 1259443 h 1587500"/>
                  <a:gd name="connsiteX34" fmla="*/ 1345724 w 1547812"/>
                  <a:gd name="connsiteY34" fmla="*/ 1308775 h 1587500"/>
                  <a:gd name="connsiteX35" fmla="*/ 1340644 w 1547812"/>
                  <a:gd name="connsiteY35" fmla="*/ 1309053 h 1587500"/>
                  <a:gd name="connsiteX36" fmla="*/ 1190625 w 1547812"/>
                  <a:gd name="connsiteY36" fmla="*/ 1309053 h 1587500"/>
                  <a:gd name="connsiteX37" fmla="*/ 1141254 w 1547812"/>
                  <a:gd name="connsiteY37" fmla="*/ 1264523 h 1587500"/>
                  <a:gd name="connsiteX38" fmla="*/ 1141016 w 1547812"/>
                  <a:gd name="connsiteY38" fmla="*/ 1259443 h 1587500"/>
                  <a:gd name="connsiteX39" fmla="*/ 1141016 w 1547812"/>
                  <a:gd name="connsiteY39" fmla="*/ 1092597 h 1587500"/>
                  <a:gd name="connsiteX40" fmla="*/ 1190625 w 1547812"/>
                  <a:gd name="connsiteY40" fmla="*/ 1042988 h 1587500"/>
                  <a:gd name="connsiteX41" fmla="*/ 635000 w 1547812"/>
                  <a:gd name="connsiteY41" fmla="*/ 952500 h 1587500"/>
                  <a:gd name="connsiteX42" fmla="*/ 674410 w 1547812"/>
                  <a:gd name="connsiteY42" fmla="*/ 987544 h 1587500"/>
                  <a:gd name="connsiteX43" fmla="*/ 674687 w 1547812"/>
                  <a:gd name="connsiteY43" fmla="*/ 992188 h 1587500"/>
                  <a:gd name="connsiteX44" fmla="*/ 674687 w 1547812"/>
                  <a:gd name="connsiteY44" fmla="*/ 1031875 h 1587500"/>
                  <a:gd name="connsiteX45" fmla="*/ 639643 w 1547812"/>
                  <a:gd name="connsiteY45" fmla="*/ 1071285 h 1587500"/>
                  <a:gd name="connsiteX46" fmla="*/ 635000 w 1547812"/>
                  <a:gd name="connsiteY46" fmla="*/ 1071563 h 1587500"/>
                  <a:gd name="connsiteX47" fmla="*/ 277813 w 1547812"/>
                  <a:gd name="connsiteY47" fmla="*/ 1071563 h 1587500"/>
                  <a:gd name="connsiteX48" fmla="*/ 238403 w 1547812"/>
                  <a:gd name="connsiteY48" fmla="*/ 1036518 h 1587500"/>
                  <a:gd name="connsiteX49" fmla="*/ 238125 w 1547812"/>
                  <a:gd name="connsiteY49" fmla="*/ 1031875 h 1587500"/>
                  <a:gd name="connsiteX50" fmla="*/ 238125 w 1547812"/>
                  <a:gd name="connsiteY50" fmla="*/ 992188 h 1587500"/>
                  <a:gd name="connsiteX51" fmla="*/ 273169 w 1547812"/>
                  <a:gd name="connsiteY51" fmla="*/ 952778 h 1587500"/>
                  <a:gd name="connsiteX52" fmla="*/ 277813 w 1547812"/>
                  <a:gd name="connsiteY52" fmla="*/ 952500 h 1587500"/>
                  <a:gd name="connsiteX53" fmla="*/ 635000 w 1547812"/>
                  <a:gd name="connsiteY53" fmla="*/ 952500 h 1587500"/>
                  <a:gd name="connsiteX54" fmla="*/ 992188 w 1547812"/>
                  <a:gd name="connsiteY54" fmla="*/ 635000 h 1587500"/>
                  <a:gd name="connsiteX55" fmla="*/ 1031597 w 1547812"/>
                  <a:gd name="connsiteY55" fmla="*/ 670044 h 1587500"/>
                  <a:gd name="connsiteX56" fmla="*/ 1031875 w 1547812"/>
                  <a:gd name="connsiteY56" fmla="*/ 674688 h 1587500"/>
                  <a:gd name="connsiteX57" fmla="*/ 1031875 w 1547812"/>
                  <a:gd name="connsiteY57" fmla="*/ 714375 h 1587500"/>
                  <a:gd name="connsiteX58" fmla="*/ 996831 w 1547812"/>
                  <a:gd name="connsiteY58" fmla="*/ 753785 h 1587500"/>
                  <a:gd name="connsiteX59" fmla="*/ 992188 w 1547812"/>
                  <a:gd name="connsiteY59" fmla="*/ 754063 h 1587500"/>
                  <a:gd name="connsiteX60" fmla="*/ 277813 w 1547812"/>
                  <a:gd name="connsiteY60" fmla="*/ 754063 h 1587500"/>
                  <a:gd name="connsiteX61" fmla="*/ 238403 w 1547812"/>
                  <a:gd name="connsiteY61" fmla="*/ 719018 h 1587500"/>
                  <a:gd name="connsiteX62" fmla="*/ 238125 w 1547812"/>
                  <a:gd name="connsiteY62" fmla="*/ 714375 h 1587500"/>
                  <a:gd name="connsiteX63" fmla="*/ 238125 w 1547812"/>
                  <a:gd name="connsiteY63" fmla="*/ 674688 h 1587500"/>
                  <a:gd name="connsiteX64" fmla="*/ 273169 w 1547812"/>
                  <a:gd name="connsiteY64" fmla="*/ 635278 h 1587500"/>
                  <a:gd name="connsiteX65" fmla="*/ 277813 w 1547812"/>
                  <a:gd name="connsiteY65" fmla="*/ 635000 h 1587500"/>
                  <a:gd name="connsiteX66" fmla="*/ 992188 w 1547812"/>
                  <a:gd name="connsiteY66" fmla="*/ 635000 h 1587500"/>
                  <a:gd name="connsiteX67" fmla="*/ 992188 w 1547812"/>
                  <a:gd name="connsiteY67" fmla="*/ 317500 h 1587500"/>
                  <a:gd name="connsiteX68" fmla="*/ 1031597 w 1547812"/>
                  <a:gd name="connsiteY68" fmla="*/ 352544 h 1587500"/>
                  <a:gd name="connsiteX69" fmla="*/ 1031875 w 1547812"/>
                  <a:gd name="connsiteY69" fmla="*/ 357188 h 1587500"/>
                  <a:gd name="connsiteX70" fmla="*/ 1031875 w 1547812"/>
                  <a:gd name="connsiteY70" fmla="*/ 396875 h 1587500"/>
                  <a:gd name="connsiteX71" fmla="*/ 996831 w 1547812"/>
                  <a:gd name="connsiteY71" fmla="*/ 436285 h 1587500"/>
                  <a:gd name="connsiteX72" fmla="*/ 992188 w 1547812"/>
                  <a:gd name="connsiteY72" fmla="*/ 436563 h 1587500"/>
                  <a:gd name="connsiteX73" fmla="*/ 277813 w 1547812"/>
                  <a:gd name="connsiteY73" fmla="*/ 436563 h 1587500"/>
                  <a:gd name="connsiteX74" fmla="*/ 238403 w 1547812"/>
                  <a:gd name="connsiteY74" fmla="*/ 401518 h 1587500"/>
                  <a:gd name="connsiteX75" fmla="*/ 238125 w 1547812"/>
                  <a:gd name="connsiteY75" fmla="*/ 396875 h 1587500"/>
                  <a:gd name="connsiteX76" fmla="*/ 238125 w 1547812"/>
                  <a:gd name="connsiteY76" fmla="*/ 357188 h 1587500"/>
                  <a:gd name="connsiteX77" fmla="*/ 273169 w 1547812"/>
                  <a:gd name="connsiteY77" fmla="*/ 317778 h 1587500"/>
                  <a:gd name="connsiteX78" fmla="*/ 277813 w 1547812"/>
                  <a:gd name="connsiteY78" fmla="*/ 317500 h 1587500"/>
                  <a:gd name="connsiteX79" fmla="*/ 992188 w 1547812"/>
                  <a:gd name="connsiteY79" fmla="*/ 317500 h 1587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547812" h="1587500">
                    <a:moveTo>
                      <a:pt x="1190625" y="873125"/>
                    </a:moveTo>
                    <a:cubicBezTo>
                      <a:pt x="1387894" y="873125"/>
                      <a:pt x="1547813" y="1033043"/>
                      <a:pt x="1547813" y="1230313"/>
                    </a:cubicBezTo>
                    <a:cubicBezTo>
                      <a:pt x="1547813" y="1427582"/>
                      <a:pt x="1387894" y="1587500"/>
                      <a:pt x="1190625" y="1587500"/>
                    </a:cubicBezTo>
                    <a:cubicBezTo>
                      <a:pt x="993356" y="1587500"/>
                      <a:pt x="833438" y="1427582"/>
                      <a:pt x="833438" y="1230313"/>
                    </a:cubicBezTo>
                    <a:cubicBezTo>
                      <a:pt x="833438" y="1033043"/>
                      <a:pt x="993356" y="873125"/>
                      <a:pt x="1190625" y="873125"/>
                    </a:cubicBezTo>
                    <a:close/>
                    <a:moveTo>
                      <a:pt x="1190625" y="0"/>
                    </a:moveTo>
                    <a:cubicBezTo>
                      <a:pt x="1232163" y="-13"/>
                      <a:pt x="1266686" y="32001"/>
                      <a:pt x="1269802" y="73422"/>
                    </a:cubicBezTo>
                    <a:lnTo>
                      <a:pt x="1270000" y="79375"/>
                    </a:lnTo>
                    <a:lnTo>
                      <a:pt x="1270000" y="754063"/>
                    </a:lnTo>
                    <a:lnTo>
                      <a:pt x="1150938" y="754063"/>
                    </a:lnTo>
                    <a:lnTo>
                      <a:pt x="1150938" y="119062"/>
                    </a:lnTo>
                    <a:lnTo>
                      <a:pt x="119063" y="119062"/>
                    </a:lnTo>
                    <a:lnTo>
                      <a:pt x="119063" y="1468438"/>
                    </a:lnTo>
                    <a:lnTo>
                      <a:pt x="833438" y="1468438"/>
                    </a:lnTo>
                    <a:lnTo>
                      <a:pt x="833438" y="1587500"/>
                    </a:lnTo>
                    <a:lnTo>
                      <a:pt x="79375" y="1587500"/>
                    </a:lnTo>
                    <a:cubicBezTo>
                      <a:pt x="37837" y="1587513"/>
                      <a:pt x="3314" y="1555499"/>
                      <a:pt x="198" y="1514078"/>
                    </a:cubicBezTo>
                    <a:lnTo>
                      <a:pt x="0" y="1508125"/>
                    </a:lnTo>
                    <a:lnTo>
                      <a:pt x="0" y="79375"/>
                    </a:lnTo>
                    <a:cubicBezTo>
                      <a:pt x="-13" y="37837"/>
                      <a:pt x="32001" y="3314"/>
                      <a:pt x="73422" y="198"/>
                    </a:cubicBezTo>
                    <a:lnTo>
                      <a:pt x="79375" y="0"/>
                    </a:lnTo>
                    <a:lnTo>
                      <a:pt x="1190625" y="0"/>
                    </a:lnTo>
                    <a:close/>
                    <a:moveTo>
                      <a:pt x="1190625" y="992188"/>
                    </a:moveTo>
                    <a:cubicBezTo>
                      <a:pt x="1059112" y="992188"/>
                      <a:pt x="952500" y="1098800"/>
                      <a:pt x="952500" y="1230313"/>
                    </a:cubicBezTo>
                    <a:cubicBezTo>
                      <a:pt x="952500" y="1361825"/>
                      <a:pt x="1059112" y="1468438"/>
                      <a:pt x="1190625" y="1468438"/>
                    </a:cubicBezTo>
                    <a:cubicBezTo>
                      <a:pt x="1322138" y="1468438"/>
                      <a:pt x="1428750" y="1361825"/>
                      <a:pt x="1428750" y="1230313"/>
                    </a:cubicBezTo>
                    <a:cubicBezTo>
                      <a:pt x="1428750" y="1098800"/>
                      <a:pt x="1322138" y="992188"/>
                      <a:pt x="1190625" y="992188"/>
                    </a:cubicBezTo>
                    <a:close/>
                    <a:moveTo>
                      <a:pt x="1190625" y="1042988"/>
                    </a:moveTo>
                    <a:cubicBezTo>
                      <a:pt x="1216303" y="1042988"/>
                      <a:pt x="1237456" y="1062514"/>
                      <a:pt x="1239996" y="1087517"/>
                    </a:cubicBezTo>
                    <a:lnTo>
                      <a:pt x="1240234" y="1092597"/>
                    </a:lnTo>
                    <a:lnTo>
                      <a:pt x="1240234" y="1209834"/>
                    </a:lnTo>
                    <a:lnTo>
                      <a:pt x="1340644" y="1209834"/>
                    </a:lnTo>
                    <a:cubicBezTo>
                      <a:pt x="1366322" y="1209834"/>
                      <a:pt x="1387475" y="1229360"/>
                      <a:pt x="1390015" y="1254363"/>
                    </a:cubicBezTo>
                    <a:lnTo>
                      <a:pt x="1390253" y="1259443"/>
                    </a:lnTo>
                    <a:cubicBezTo>
                      <a:pt x="1390244" y="1284868"/>
                      <a:pt x="1371015" y="1306171"/>
                      <a:pt x="1345724" y="1308775"/>
                    </a:cubicBezTo>
                    <a:lnTo>
                      <a:pt x="1340644" y="1309053"/>
                    </a:lnTo>
                    <a:lnTo>
                      <a:pt x="1190625" y="1309053"/>
                    </a:lnTo>
                    <a:cubicBezTo>
                      <a:pt x="1165185" y="1309064"/>
                      <a:pt x="1143859" y="1289830"/>
                      <a:pt x="1141254" y="1264523"/>
                    </a:cubicBezTo>
                    <a:lnTo>
                      <a:pt x="1141016" y="1259443"/>
                    </a:lnTo>
                    <a:lnTo>
                      <a:pt x="1141016" y="1092597"/>
                    </a:lnTo>
                    <a:cubicBezTo>
                      <a:pt x="1141016" y="1065213"/>
                      <a:pt x="1163241" y="1042988"/>
                      <a:pt x="1190625" y="1042988"/>
                    </a:cubicBezTo>
                    <a:close/>
                    <a:moveTo>
                      <a:pt x="635000" y="952500"/>
                    </a:moveTo>
                    <a:cubicBezTo>
                      <a:pt x="655121" y="952503"/>
                      <a:pt x="672056" y="967562"/>
                      <a:pt x="674410" y="987544"/>
                    </a:cubicBezTo>
                    <a:lnTo>
                      <a:pt x="674687" y="992188"/>
                    </a:lnTo>
                    <a:lnTo>
                      <a:pt x="674687" y="1031875"/>
                    </a:lnTo>
                    <a:cubicBezTo>
                      <a:pt x="674685" y="1051996"/>
                      <a:pt x="659626" y="1068931"/>
                      <a:pt x="639643" y="1071285"/>
                    </a:cubicBezTo>
                    <a:lnTo>
                      <a:pt x="635000" y="1071563"/>
                    </a:lnTo>
                    <a:lnTo>
                      <a:pt x="277813" y="1071563"/>
                    </a:lnTo>
                    <a:cubicBezTo>
                      <a:pt x="257692" y="1071560"/>
                      <a:pt x="240757" y="1056501"/>
                      <a:pt x="238403" y="1036518"/>
                    </a:cubicBezTo>
                    <a:lnTo>
                      <a:pt x="238125" y="1031875"/>
                    </a:lnTo>
                    <a:lnTo>
                      <a:pt x="238125" y="992188"/>
                    </a:lnTo>
                    <a:cubicBezTo>
                      <a:pt x="238128" y="972067"/>
                      <a:pt x="253187" y="955132"/>
                      <a:pt x="273169" y="952778"/>
                    </a:cubicBezTo>
                    <a:lnTo>
                      <a:pt x="277813" y="952500"/>
                    </a:lnTo>
                    <a:lnTo>
                      <a:pt x="635000" y="952500"/>
                    </a:lnTo>
                    <a:close/>
                    <a:moveTo>
                      <a:pt x="992188" y="635000"/>
                    </a:moveTo>
                    <a:cubicBezTo>
                      <a:pt x="1012308" y="635003"/>
                      <a:pt x="1029243" y="650062"/>
                      <a:pt x="1031597" y="670044"/>
                    </a:cubicBezTo>
                    <a:lnTo>
                      <a:pt x="1031875" y="674688"/>
                    </a:lnTo>
                    <a:lnTo>
                      <a:pt x="1031875" y="714375"/>
                    </a:lnTo>
                    <a:cubicBezTo>
                      <a:pt x="1031872" y="734496"/>
                      <a:pt x="1016813" y="751431"/>
                      <a:pt x="996831" y="753785"/>
                    </a:cubicBezTo>
                    <a:lnTo>
                      <a:pt x="992188" y="754063"/>
                    </a:lnTo>
                    <a:lnTo>
                      <a:pt x="277813" y="754063"/>
                    </a:lnTo>
                    <a:cubicBezTo>
                      <a:pt x="257692" y="754060"/>
                      <a:pt x="240757" y="739001"/>
                      <a:pt x="238403" y="719018"/>
                    </a:cubicBezTo>
                    <a:lnTo>
                      <a:pt x="238125" y="714375"/>
                    </a:lnTo>
                    <a:lnTo>
                      <a:pt x="238125" y="674688"/>
                    </a:lnTo>
                    <a:cubicBezTo>
                      <a:pt x="238128" y="654567"/>
                      <a:pt x="253187" y="637632"/>
                      <a:pt x="273169" y="635278"/>
                    </a:cubicBezTo>
                    <a:lnTo>
                      <a:pt x="277813" y="635000"/>
                    </a:lnTo>
                    <a:lnTo>
                      <a:pt x="992188" y="635000"/>
                    </a:lnTo>
                    <a:close/>
                    <a:moveTo>
                      <a:pt x="992188" y="317500"/>
                    </a:moveTo>
                    <a:cubicBezTo>
                      <a:pt x="1012308" y="317503"/>
                      <a:pt x="1029243" y="332562"/>
                      <a:pt x="1031597" y="352544"/>
                    </a:cubicBezTo>
                    <a:lnTo>
                      <a:pt x="1031875" y="357188"/>
                    </a:lnTo>
                    <a:lnTo>
                      <a:pt x="1031875" y="396875"/>
                    </a:lnTo>
                    <a:cubicBezTo>
                      <a:pt x="1031872" y="416996"/>
                      <a:pt x="1016813" y="433931"/>
                      <a:pt x="996831" y="436285"/>
                    </a:cubicBezTo>
                    <a:lnTo>
                      <a:pt x="992188" y="436563"/>
                    </a:lnTo>
                    <a:lnTo>
                      <a:pt x="277813" y="436563"/>
                    </a:lnTo>
                    <a:cubicBezTo>
                      <a:pt x="257692" y="436560"/>
                      <a:pt x="240757" y="421501"/>
                      <a:pt x="238403" y="401518"/>
                    </a:cubicBezTo>
                    <a:lnTo>
                      <a:pt x="238125" y="396875"/>
                    </a:lnTo>
                    <a:lnTo>
                      <a:pt x="238125" y="357188"/>
                    </a:lnTo>
                    <a:cubicBezTo>
                      <a:pt x="238128" y="337067"/>
                      <a:pt x="253187" y="320132"/>
                      <a:pt x="273169" y="317778"/>
                    </a:cubicBezTo>
                    <a:lnTo>
                      <a:pt x="277813" y="317500"/>
                    </a:lnTo>
                    <a:lnTo>
                      <a:pt x="992188" y="317500"/>
                    </a:ln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sp>
          <p:nvSpPr>
            <p:cNvPr id="41" name="文本框 40"/>
            <p:cNvSpPr txBox="1"/>
            <p:nvPr>
              <p:custDataLst>
                <p:tags r:id="rId7"/>
              </p:custDataLst>
            </p:nvPr>
          </p:nvSpPr>
          <p:spPr>
            <a:xfrm>
              <a:off x="2068376" y="3990969"/>
              <a:ext cx="79502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前端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8"/>
              </p:custDataLst>
            </p:nvPr>
          </p:nvSpPr>
          <p:spPr>
            <a:xfrm>
              <a:off x="1327921" y="4424694"/>
              <a:ext cx="2275930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在前端，</a:t>
              </a:r>
              <a:r>
                <a:rPr 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我们采用</a:t>
              </a:r>
              <a:r>
                <a: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Vue3</a:t>
              </a: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框架，以打造高效且易于维护的用户界面。</a:t>
              </a:r>
              <a:endPara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9"/>
            </p:custDataLst>
          </p:nvPr>
        </p:nvGrpSpPr>
        <p:grpSpPr>
          <a:xfrm>
            <a:off x="4958035" y="1762039"/>
            <a:ext cx="2275930" cy="4448275"/>
            <a:chOff x="4958035" y="1914439"/>
            <a:chExt cx="2275930" cy="4448275"/>
          </a:xfrm>
        </p:grpSpPr>
        <p:grpSp>
          <p:nvGrpSpPr>
            <p:cNvPr id="39" name="组合 38"/>
            <p:cNvGrpSpPr/>
            <p:nvPr/>
          </p:nvGrpSpPr>
          <p:grpSpPr>
            <a:xfrm>
              <a:off x="5193229" y="1914439"/>
              <a:ext cx="1805542" cy="1805542"/>
              <a:chOff x="5203850" y="1914439"/>
              <a:chExt cx="1805542" cy="1805542"/>
            </a:xfrm>
          </p:grpSpPr>
          <p:pic>
            <p:nvPicPr>
              <p:cNvPr id="14" name="图片 15" descr="nav-list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586480" y="2277210"/>
                <a:ext cx="1080000" cy="1080000"/>
              </a:xfrm>
              <a:prstGeom prst="rect">
                <a:avLst/>
              </a:prstGeom>
            </p:spPr>
          </p:pic>
          <p:sp>
            <p:nvSpPr>
              <p:cNvPr id="33" name="椭圆 32"/>
              <p:cNvSpPr/>
              <p:nvPr>
                <p:custDataLst>
                  <p:tags r:id="rId13"/>
                </p:custDataLst>
              </p:nvPr>
            </p:nvSpPr>
            <p:spPr>
              <a:xfrm>
                <a:off x="5203850" y="1914439"/>
                <a:ext cx="1805542" cy="18055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34" name="11538-3547513"/>
              <p:cNvSpPr/>
              <p:nvPr>
                <p:custDataLst>
                  <p:tags r:id="rId14"/>
                </p:custDataLst>
              </p:nvPr>
            </p:nvSpPr>
            <p:spPr>
              <a:xfrm>
                <a:off x="5629181" y="2341727"/>
                <a:ext cx="954879" cy="950965"/>
              </a:xfrm>
              <a:custGeom>
                <a:avLst/>
                <a:gdLst>
                  <a:gd name="connsiteX0" fmla="*/ 380537 w 607462"/>
                  <a:gd name="connsiteY0" fmla="*/ 309351 h 604972"/>
                  <a:gd name="connsiteX1" fmla="*/ 564288 w 607462"/>
                  <a:gd name="connsiteY1" fmla="*/ 309351 h 604972"/>
                  <a:gd name="connsiteX2" fmla="*/ 607462 w 607462"/>
                  <a:gd name="connsiteY2" fmla="*/ 352532 h 604972"/>
                  <a:gd name="connsiteX3" fmla="*/ 594795 w 607462"/>
                  <a:gd name="connsiteY3" fmla="*/ 383043 h 604972"/>
                  <a:gd name="connsiteX4" fmla="*/ 523534 w 607462"/>
                  <a:gd name="connsiteY4" fmla="*/ 450851 h 604972"/>
                  <a:gd name="connsiteX5" fmla="*/ 523534 w 607462"/>
                  <a:gd name="connsiteY5" fmla="*/ 558281 h 604972"/>
                  <a:gd name="connsiteX6" fmla="*/ 508352 w 607462"/>
                  <a:gd name="connsiteY6" fmla="*/ 573465 h 604972"/>
                  <a:gd name="connsiteX7" fmla="*/ 493170 w 607462"/>
                  <a:gd name="connsiteY7" fmla="*/ 558281 h 604972"/>
                  <a:gd name="connsiteX8" fmla="*/ 493170 w 607462"/>
                  <a:gd name="connsiteY8" fmla="*/ 444303 h 604972"/>
                  <a:gd name="connsiteX9" fmla="*/ 497914 w 607462"/>
                  <a:gd name="connsiteY9" fmla="*/ 433294 h 604972"/>
                  <a:gd name="connsiteX10" fmla="*/ 573587 w 607462"/>
                  <a:gd name="connsiteY10" fmla="*/ 361310 h 604972"/>
                  <a:gd name="connsiteX11" fmla="*/ 577051 w 607462"/>
                  <a:gd name="connsiteY11" fmla="*/ 352532 h 604972"/>
                  <a:gd name="connsiteX12" fmla="*/ 564241 w 607462"/>
                  <a:gd name="connsiteY12" fmla="*/ 339720 h 604972"/>
                  <a:gd name="connsiteX13" fmla="*/ 380537 w 607462"/>
                  <a:gd name="connsiteY13" fmla="*/ 339720 h 604972"/>
                  <a:gd name="connsiteX14" fmla="*/ 367728 w 607462"/>
                  <a:gd name="connsiteY14" fmla="*/ 352532 h 604972"/>
                  <a:gd name="connsiteX15" fmla="*/ 371571 w 607462"/>
                  <a:gd name="connsiteY15" fmla="*/ 361642 h 604972"/>
                  <a:gd name="connsiteX16" fmla="*/ 441361 w 607462"/>
                  <a:gd name="connsiteY16" fmla="*/ 433863 h 604972"/>
                  <a:gd name="connsiteX17" fmla="*/ 445631 w 607462"/>
                  <a:gd name="connsiteY17" fmla="*/ 444445 h 604972"/>
                  <a:gd name="connsiteX18" fmla="*/ 445631 w 607462"/>
                  <a:gd name="connsiteY18" fmla="*/ 528339 h 604972"/>
                  <a:gd name="connsiteX19" fmla="*/ 430449 w 607462"/>
                  <a:gd name="connsiteY19" fmla="*/ 543524 h 604972"/>
                  <a:gd name="connsiteX20" fmla="*/ 415266 w 607462"/>
                  <a:gd name="connsiteY20" fmla="*/ 528339 h 604972"/>
                  <a:gd name="connsiteX21" fmla="*/ 415266 w 607462"/>
                  <a:gd name="connsiteY21" fmla="*/ 450566 h 604972"/>
                  <a:gd name="connsiteX22" fmla="*/ 349889 w 607462"/>
                  <a:gd name="connsiteY22" fmla="*/ 382948 h 604972"/>
                  <a:gd name="connsiteX23" fmla="*/ 337363 w 607462"/>
                  <a:gd name="connsiteY23" fmla="*/ 352532 h 604972"/>
                  <a:gd name="connsiteX24" fmla="*/ 380537 w 607462"/>
                  <a:gd name="connsiteY24" fmla="*/ 309351 h 604972"/>
                  <a:gd name="connsiteX25" fmla="*/ 29688 w 607462"/>
                  <a:gd name="connsiteY25" fmla="*/ 170913 h 604972"/>
                  <a:gd name="connsiteX26" fmla="*/ 29688 w 607462"/>
                  <a:gd name="connsiteY26" fmla="*/ 424499 h 604972"/>
                  <a:gd name="connsiteX27" fmla="*/ 261186 w 607462"/>
                  <a:gd name="connsiteY27" fmla="*/ 564009 h 604972"/>
                  <a:gd name="connsiteX28" fmla="*/ 261186 w 607462"/>
                  <a:gd name="connsiteY28" fmla="*/ 302404 h 604972"/>
                  <a:gd name="connsiteX29" fmla="*/ 276034 w 607462"/>
                  <a:gd name="connsiteY29" fmla="*/ 31497 h 604972"/>
                  <a:gd name="connsiteX30" fmla="*/ 46386 w 607462"/>
                  <a:gd name="connsiteY30" fmla="*/ 146285 h 604972"/>
                  <a:gd name="connsiteX31" fmla="*/ 276034 w 607462"/>
                  <a:gd name="connsiteY31" fmla="*/ 276589 h 604972"/>
                  <a:gd name="connsiteX32" fmla="*/ 505729 w 607462"/>
                  <a:gd name="connsiteY32" fmla="*/ 146285 h 604972"/>
                  <a:gd name="connsiteX33" fmla="*/ 269392 w 607462"/>
                  <a:gd name="connsiteY33" fmla="*/ 1602 h 604972"/>
                  <a:gd name="connsiteX34" fmla="*/ 282723 w 607462"/>
                  <a:gd name="connsiteY34" fmla="*/ 1602 h 604972"/>
                  <a:gd name="connsiteX35" fmla="*/ 543822 w 607462"/>
                  <a:gd name="connsiteY35" fmla="*/ 132192 h 604972"/>
                  <a:gd name="connsiteX36" fmla="*/ 551887 w 607462"/>
                  <a:gd name="connsiteY36" fmla="*/ 147044 h 604972"/>
                  <a:gd name="connsiteX37" fmla="*/ 545625 w 607462"/>
                  <a:gd name="connsiteY37" fmla="*/ 156867 h 604972"/>
                  <a:gd name="connsiteX38" fmla="*/ 521953 w 607462"/>
                  <a:gd name="connsiteY38" fmla="*/ 171197 h 604972"/>
                  <a:gd name="connsiteX39" fmla="*/ 290929 w 607462"/>
                  <a:gd name="connsiteY39" fmla="*/ 302404 h 604972"/>
                  <a:gd name="connsiteX40" fmla="*/ 290929 w 607462"/>
                  <a:gd name="connsiteY40" fmla="*/ 564768 h 604972"/>
                  <a:gd name="connsiteX41" fmla="*/ 297001 w 607462"/>
                  <a:gd name="connsiteY41" fmla="*/ 561447 h 604972"/>
                  <a:gd name="connsiteX42" fmla="*/ 297001 w 607462"/>
                  <a:gd name="connsiteY42" fmla="*/ 561589 h 604972"/>
                  <a:gd name="connsiteX43" fmla="*/ 355730 w 607462"/>
                  <a:gd name="connsiteY43" fmla="*/ 527423 h 604972"/>
                  <a:gd name="connsiteX44" fmla="*/ 376413 w 607462"/>
                  <a:gd name="connsiteY44" fmla="*/ 533070 h 604972"/>
                  <a:gd name="connsiteX45" fmla="*/ 370910 w 607462"/>
                  <a:gd name="connsiteY45" fmla="*/ 553854 h 604972"/>
                  <a:gd name="connsiteX46" fmla="*/ 285901 w 607462"/>
                  <a:gd name="connsiteY46" fmla="*/ 603062 h 604972"/>
                  <a:gd name="connsiteX47" fmla="*/ 278269 w 607462"/>
                  <a:gd name="connsiteY47" fmla="*/ 604972 h 604972"/>
                  <a:gd name="connsiteX48" fmla="*/ 275022 w 607462"/>
                  <a:gd name="connsiteY48" fmla="*/ 604098 h 604972"/>
                  <a:gd name="connsiteX49" fmla="*/ 275017 w 607462"/>
                  <a:gd name="connsiteY49" fmla="*/ 604097 h 604972"/>
                  <a:gd name="connsiteX50" fmla="*/ 267115 w 607462"/>
                  <a:gd name="connsiteY50" fmla="*/ 601971 h 604972"/>
                  <a:gd name="connsiteX51" fmla="*/ 7202 w 607462"/>
                  <a:gd name="connsiteY51" fmla="*/ 445568 h 604972"/>
                  <a:gd name="connsiteX52" fmla="*/ 86 w 607462"/>
                  <a:gd name="connsiteY52" fmla="*/ 432850 h 604972"/>
                  <a:gd name="connsiteX53" fmla="*/ 86 w 607462"/>
                  <a:gd name="connsiteY53" fmla="*/ 154209 h 604972"/>
                  <a:gd name="connsiteX54" fmla="*/ 8293 w 607462"/>
                  <a:gd name="connsiteY54" fmla="*/ 132192 h 60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07462" h="604972">
                    <a:moveTo>
                      <a:pt x="380537" y="309351"/>
                    </a:moveTo>
                    <a:lnTo>
                      <a:pt x="564288" y="309351"/>
                    </a:lnTo>
                    <a:cubicBezTo>
                      <a:pt x="588058" y="309351"/>
                      <a:pt x="607462" y="328711"/>
                      <a:pt x="607462" y="352532"/>
                    </a:cubicBezTo>
                    <a:cubicBezTo>
                      <a:pt x="607462" y="364062"/>
                      <a:pt x="602955" y="374881"/>
                      <a:pt x="594795" y="383043"/>
                    </a:cubicBezTo>
                    <a:lnTo>
                      <a:pt x="523534" y="450851"/>
                    </a:lnTo>
                    <a:lnTo>
                      <a:pt x="523534" y="558281"/>
                    </a:lnTo>
                    <a:cubicBezTo>
                      <a:pt x="523534" y="566680"/>
                      <a:pt x="516749" y="573465"/>
                      <a:pt x="508352" y="573465"/>
                    </a:cubicBezTo>
                    <a:cubicBezTo>
                      <a:pt x="499954" y="573465"/>
                      <a:pt x="493170" y="566680"/>
                      <a:pt x="493170" y="558281"/>
                    </a:cubicBezTo>
                    <a:lnTo>
                      <a:pt x="493170" y="444303"/>
                    </a:lnTo>
                    <a:cubicBezTo>
                      <a:pt x="493170" y="440174"/>
                      <a:pt x="494878" y="436189"/>
                      <a:pt x="497914" y="433294"/>
                    </a:cubicBezTo>
                    <a:lnTo>
                      <a:pt x="573587" y="361310"/>
                    </a:lnTo>
                    <a:cubicBezTo>
                      <a:pt x="575770" y="359127"/>
                      <a:pt x="577051" y="355996"/>
                      <a:pt x="577051" y="352532"/>
                    </a:cubicBezTo>
                    <a:cubicBezTo>
                      <a:pt x="577051" y="345461"/>
                      <a:pt x="571310" y="339720"/>
                      <a:pt x="564241" y="339720"/>
                    </a:cubicBezTo>
                    <a:lnTo>
                      <a:pt x="380537" y="339720"/>
                    </a:lnTo>
                    <a:cubicBezTo>
                      <a:pt x="373468" y="339720"/>
                      <a:pt x="367728" y="345461"/>
                      <a:pt x="367728" y="352532"/>
                    </a:cubicBezTo>
                    <a:cubicBezTo>
                      <a:pt x="367728" y="355996"/>
                      <a:pt x="369056" y="359127"/>
                      <a:pt x="371571" y="361642"/>
                    </a:cubicBezTo>
                    <a:lnTo>
                      <a:pt x="441361" y="433863"/>
                    </a:lnTo>
                    <a:cubicBezTo>
                      <a:pt x="444112" y="436710"/>
                      <a:pt x="445631" y="440507"/>
                      <a:pt x="445631" y="444445"/>
                    </a:cubicBezTo>
                    <a:lnTo>
                      <a:pt x="445631" y="528339"/>
                    </a:lnTo>
                    <a:cubicBezTo>
                      <a:pt x="445631" y="536738"/>
                      <a:pt x="438846" y="543524"/>
                      <a:pt x="430449" y="543524"/>
                    </a:cubicBezTo>
                    <a:cubicBezTo>
                      <a:pt x="422051" y="543524"/>
                      <a:pt x="415266" y="536738"/>
                      <a:pt x="415266" y="528339"/>
                    </a:cubicBezTo>
                    <a:lnTo>
                      <a:pt x="415266" y="450566"/>
                    </a:lnTo>
                    <a:lnTo>
                      <a:pt x="349889" y="382948"/>
                    </a:lnTo>
                    <a:cubicBezTo>
                      <a:pt x="341871" y="374929"/>
                      <a:pt x="337363" y="364062"/>
                      <a:pt x="337363" y="352532"/>
                    </a:cubicBezTo>
                    <a:cubicBezTo>
                      <a:pt x="337363" y="328759"/>
                      <a:pt x="356721" y="309351"/>
                      <a:pt x="380537" y="309351"/>
                    </a:cubicBezTo>
                    <a:close/>
                    <a:moveTo>
                      <a:pt x="29688" y="170913"/>
                    </a:moveTo>
                    <a:lnTo>
                      <a:pt x="29688" y="424499"/>
                    </a:lnTo>
                    <a:lnTo>
                      <a:pt x="261186" y="564009"/>
                    </a:lnTo>
                    <a:lnTo>
                      <a:pt x="261186" y="302404"/>
                    </a:lnTo>
                    <a:close/>
                    <a:moveTo>
                      <a:pt x="276034" y="31497"/>
                    </a:moveTo>
                    <a:lnTo>
                      <a:pt x="46386" y="146285"/>
                    </a:lnTo>
                    <a:lnTo>
                      <a:pt x="276034" y="276589"/>
                    </a:lnTo>
                    <a:lnTo>
                      <a:pt x="505729" y="146285"/>
                    </a:lnTo>
                    <a:close/>
                    <a:moveTo>
                      <a:pt x="269392" y="1602"/>
                    </a:moveTo>
                    <a:cubicBezTo>
                      <a:pt x="273614" y="-533"/>
                      <a:pt x="278501" y="-533"/>
                      <a:pt x="282723" y="1602"/>
                    </a:cubicBezTo>
                    <a:lnTo>
                      <a:pt x="543822" y="132192"/>
                    </a:lnTo>
                    <a:cubicBezTo>
                      <a:pt x="549752" y="135229"/>
                      <a:pt x="552503" y="141302"/>
                      <a:pt x="551887" y="147044"/>
                    </a:cubicBezTo>
                    <a:cubicBezTo>
                      <a:pt x="551270" y="149844"/>
                      <a:pt x="550369" y="153782"/>
                      <a:pt x="545625" y="156867"/>
                    </a:cubicBezTo>
                    <a:lnTo>
                      <a:pt x="521953" y="171197"/>
                    </a:lnTo>
                    <a:lnTo>
                      <a:pt x="290929" y="302404"/>
                    </a:lnTo>
                    <a:lnTo>
                      <a:pt x="290929" y="564768"/>
                    </a:lnTo>
                    <a:lnTo>
                      <a:pt x="297001" y="561447"/>
                    </a:lnTo>
                    <a:lnTo>
                      <a:pt x="297001" y="561589"/>
                    </a:lnTo>
                    <a:lnTo>
                      <a:pt x="355730" y="527423"/>
                    </a:lnTo>
                    <a:cubicBezTo>
                      <a:pt x="362893" y="523342"/>
                      <a:pt x="372286" y="525762"/>
                      <a:pt x="376413" y="533070"/>
                    </a:cubicBezTo>
                    <a:cubicBezTo>
                      <a:pt x="380635" y="540283"/>
                      <a:pt x="378216" y="549631"/>
                      <a:pt x="370910" y="553854"/>
                    </a:cubicBezTo>
                    <a:lnTo>
                      <a:pt x="285901" y="603062"/>
                    </a:lnTo>
                    <a:cubicBezTo>
                      <a:pt x="283790" y="604130"/>
                      <a:pt x="281323" y="604960"/>
                      <a:pt x="278269" y="604972"/>
                    </a:cubicBezTo>
                    <a:lnTo>
                      <a:pt x="275022" y="604098"/>
                    </a:lnTo>
                    <a:lnTo>
                      <a:pt x="275017" y="604097"/>
                    </a:lnTo>
                    <a:lnTo>
                      <a:pt x="267115" y="601971"/>
                    </a:lnTo>
                    <a:cubicBezTo>
                      <a:pt x="262704" y="600025"/>
                      <a:pt x="7202" y="445568"/>
                      <a:pt x="7202" y="445568"/>
                    </a:cubicBezTo>
                    <a:cubicBezTo>
                      <a:pt x="2790" y="442863"/>
                      <a:pt x="86" y="437975"/>
                      <a:pt x="86" y="432850"/>
                    </a:cubicBezTo>
                    <a:lnTo>
                      <a:pt x="86" y="154209"/>
                    </a:lnTo>
                    <a:cubicBezTo>
                      <a:pt x="86" y="152691"/>
                      <a:pt x="-1432" y="138550"/>
                      <a:pt x="8293" y="13219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5"/>
              </p:custDataLst>
            </p:nvPr>
          </p:nvSpPr>
          <p:spPr>
            <a:xfrm>
              <a:off x="5698490" y="3990969"/>
              <a:ext cx="79502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后端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6"/>
              </p:custDataLst>
            </p:nvPr>
          </p:nvSpPr>
          <p:spPr>
            <a:xfrm>
              <a:off x="4958035" y="4424694"/>
              <a:ext cx="2275930" cy="193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在后端，我们将选用</a:t>
              </a:r>
              <a:r>
                <a: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Python</a:t>
              </a: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语言结合</a:t>
              </a:r>
              <a:r>
                <a: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FastAPI</a:t>
              </a: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框架，旨在实现高性能、高并发的</a:t>
              </a:r>
              <a:r>
                <a: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API</a:t>
              </a: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服务。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  <a:p>
              <a:pPr algn="ctr">
                <a:lnSpc>
                  <a:spcPts val="2400"/>
                </a:lnSpc>
              </a:pP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17"/>
            </p:custDataLst>
          </p:nvPr>
        </p:nvGrpSpPr>
        <p:grpSpPr>
          <a:xfrm>
            <a:off x="8649109" y="1762039"/>
            <a:ext cx="2275930" cy="3524985"/>
            <a:chOff x="8463235" y="1914439"/>
            <a:chExt cx="2275930" cy="3524985"/>
          </a:xfrm>
        </p:grpSpPr>
        <p:grpSp>
          <p:nvGrpSpPr>
            <p:cNvPr id="40" name="组合 39"/>
            <p:cNvGrpSpPr/>
            <p:nvPr/>
          </p:nvGrpSpPr>
          <p:grpSpPr>
            <a:xfrm>
              <a:off x="8698429" y="1914439"/>
              <a:ext cx="1805542" cy="1805542"/>
              <a:chOff x="8784256" y="1914439"/>
              <a:chExt cx="1805542" cy="1805542"/>
            </a:xfrm>
          </p:grpSpPr>
          <p:pic>
            <p:nvPicPr>
              <p:cNvPr id="6" name="图片 5" descr="bussiness-man"/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9128036" y="227721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38" name="组合 37"/>
              <p:cNvGrpSpPr/>
              <p:nvPr/>
            </p:nvGrpSpPr>
            <p:grpSpPr>
              <a:xfrm>
                <a:off x="8784256" y="1914439"/>
                <a:ext cx="1805542" cy="1805542"/>
                <a:chOff x="8784256" y="1914439"/>
                <a:chExt cx="1805542" cy="1805542"/>
              </a:xfrm>
            </p:grpSpPr>
            <p:sp>
              <p:nvSpPr>
                <p:cNvPr id="30" name="椭圆 29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8784256" y="1914439"/>
                  <a:ext cx="1805542" cy="18055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  <p:pic>
              <p:nvPicPr>
                <p:cNvPr id="31" name="图形 30"/>
                <p:cNvPicPr>
                  <a:picLocks noChangeAspect="1"/>
                </p:cNvPicPr>
                <p:nvPr>
                  <p:custDataLst>
                    <p:tags r:id="rId22"/>
                  </p:custDataLst>
                </p:nvPr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0094" y="2380277"/>
                  <a:ext cx="873865" cy="873865"/>
                </a:xfrm>
                <a:prstGeom prst="rect">
                  <a:avLst/>
                </a:prstGeom>
              </p:spPr>
            </p:pic>
          </p:grpSp>
        </p:grpSp>
        <p:sp>
          <p:nvSpPr>
            <p:cNvPr id="45" name="文本框 44"/>
            <p:cNvSpPr txBox="1"/>
            <p:nvPr>
              <p:custDataLst>
                <p:tags r:id="rId25"/>
              </p:custDataLst>
            </p:nvPr>
          </p:nvSpPr>
          <p:spPr>
            <a:xfrm>
              <a:off x="9050655" y="3990969"/>
              <a:ext cx="110109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鸿蒙端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26"/>
              </p:custDataLst>
            </p:nvPr>
          </p:nvSpPr>
          <p:spPr>
            <a:xfrm>
              <a:off x="8463235" y="4424694"/>
              <a:ext cx="2275930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在鸿蒙端，我们采用基于</a:t>
              </a:r>
              <a:r>
                <a: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ArkWeb</a:t>
              </a: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框架的原生化集成方案。</a:t>
              </a:r>
              <a:endPara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987847" y="3217043"/>
            <a:ext cx="6278509" cy="438662"/>
            <a:chOff x="2987847" y="3217043"/>
            <a:chExt cx="6278509" cy="438662"/>
          </a:xfrm>
        </p:grpSpPr>
        <p:grpSp>
          <p:nvGrpSpPr>
            <p:cNvPr id="8" name="组合 7"/>
            <p:cNvGrpSpPr/>
            <p:nvPr/>
          </p:nvGrpSpPr>
          <p:grpSpPr>
            <a:xfrm flipH="1" flipV="1">
              <a:off x="8796475" y="3217043"/>
              <a:ext cx="469881" cy="414376"/>
              <a:chOff x="10029097" y="1654139"/>
              <a:chExt cx="680839" cy="600414"/>
            </a:xfrm>
          </p:grpSpPr>
          <p:cxnSp>
            <p:nvCxnSpPr>
              <p:cNvPr id="9" name="直接连接符 8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 flipH="1" flipV="1">
              <a:off x="2987847" y="3241329"/>
              <a:ext cx="469881" cy="414376"/>
              <a:chOff x="10029097" y="1654139"/>
              <a:chExt cx="680839" cy="600414"/>
            </a:xfrm>
          </p:grpSpPr>
          <p:cxnSp>
            <p:nvCxnSpPr>
              <p:cNvPr id="17" name="直接连接符 16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4310895" y="2167186"/>
            <a:ext cx="3570208" cy="2557547"/>
            <a:chOff x="4310895" y="2167186"/>
            <a:chExt cx="3570208" cy="2557547"/>
          </a:xfrm>
        </p:grpSpPr>
        <p:sp>
          <p:nvSpPr>
            <p:cNvPr id="24" name="椭圆 23"/>
            <p:cNvSpPr/>
            <p:nvPr/>
          </p:nvSpPr>
          <p:spPr>
            <a:xfrm>
              <a:off x="5074845" y="2397025"/>
              <a:ext cx="864259" cy="864259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5602119" y="2247900"/>
              <a:ext cx="987761" cy="987761"/>
            </a:xfrm>
            <a:prstGeom prst="ellipse">
              <a:avLst/>
            </a:prstGeom>
            <a:solidFill>
              <a:srgbClr val="3751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b="1" dirty="0"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4</a:t>
              </a:r>
              <a:endParaRPr lang="zh-CN" altLang="en-US" sz="4800" b="1" dirty="0">
                <a:latin typeface="思源宋体 CN" panose="020204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310895" y="3479800"/>
              <a:ext cx="357020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b="1" dirty="0">
                  <a:gradFill>
                    <a:gsLst>
                      <a:gs pos="0">
                        <a:srgbClr val="2A324B"/>
                      </a:gs>
                      <a:gs pos="100000">
                        <a:srgbClr val="465F94"/>
                      </a:gs>
                    </a:gsLst>
                    <a:lin ang="0" scaled="1"/>
                  </a:gra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未来工作计划</a:t>
              </a:r>
              <a:endParaRPr lang="zh-CN" altLang="en-US" sz="4400" b="1" dirty="0">
                <a:gradFill>
                  <a:gsLst>
                    <a:gs pos="0">
                      <a:srgbClr val="2A324B"/>
                    </a:gs>
                    <a:gs pos="100000">
                      <a:srgbClr val="465F94"/>
                    </a:gs>
                  </a:gsLst>
                  <a:lin ang="0" scaled="1"/>
                </a:gra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675482" y="4192926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600" dirty="0">
                <a:solidFill>
                  <a:srgbClr val="ACB4C8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5635282" y="4616798"/>
              <a:ext cx="921436" cy="107935"/>
            </a:xfrm>
            <a:prstGeom prst="roundRect">
              <a:avLst>
                <a:gd name="adj" fmla="val 50000"/>
              </a:avLst>
            </a:prstGeom>
            <a:solidFill>
              <a:srgbClr val="A4C9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6276090" y="2167186"/>
              <a:ext cx="740756" cy="740756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4213225" y="1555115"/>
            <a:ext cx="3816350" cy="3714115"/>
            <a:chOff x="4213225" y="1555115"/>
            <a:chExt cx="3816350" cy="3714115"/>
          </a:xfrm>
        </p:grpSpPr>
        <p:sp>
          <p:nvSpPr>
            <p:cNvPr id="10" name="shape"/>
            <p:cNvSpPr/>
            <p:nvPr/>
          </p:nvSpPr>
          <p:spPr>
            <a:xfrm>
              <a:off x="4576445" y="1874520"/>
              <a:ext cx="874441" cy="848361"/>
            </a:xfrm>
            <a:prstGeom prst="bentArrow">
              <a:avLst>
                <a:gd name="adj1" fmla="val 6832"/>
                <a:gd name="adj2" fmla="val 9894"/>
                <a:gd name="adj3" fmla="val 31260"/>
                <a:gd name="adj4" fmla="val 367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120000"/>
                </a:lnSpc>
              </a:pPr>
              <a:endParaRPr lang="zh-CN" altLang="en-US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1" name="shape"/>
            <p:cNvSpPr/>
            <p:nvPr/>
          </p:nvSpPr>
          <p:spPr>
            <a:xfrm rot="5400000">
              <a:off x="6863906" y="1930592"/>
              <a:ext cx="848360" cy="822577"/>
            </a:xfrm>
            <a:prstGeom prst="bentArrow">
              <a:avLst>
                <a:gd name="adj1" fmla="val 6832"/>
                <a:gd name="adj2" fmla="val 9894"/>
                <a:gd name="adj3" fmla="val 31260"/>
                <a:gd name="adj4" fmla="val 367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120000"/>
                </a:lnSpc>
              </a:pPr>
              <a:endParaRPr lang="zh-CN" altLang="en-US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2" name="shape"/>
            <p:cNvSpPr/>
            <p:nvPr/>
          </p:nvSpPr>
          <p:spPr>
            <a:xfrm rot="16200000">
              <a:off x="4492665" y="4055149"/>
              <a:ext cx="874951" cy="848360"/>
            </a:xfrm>
            <a:prstGeom prst="bentArrow">
              <a:avLst>
                <a:gd name="adj1" fmla="val 6832"/>
                <a:gd name="adj2" fmla="val 9894"/>
                <a:gd name="adj3" fmla="val 31260"/>
                <a:gd name="adj4" fmla="val 367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120000"/>
                </a:lnSpc>
              </a:pPr>
              <a:endParaRPr lang="zh-CN" altLang="en-US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3" name="shape"/>
            <p:cNvSpPr/>
            <p:nvPr/>
          </p:nvSpPr>
          <p:spPr>
            <a:xfrm rot="10800000">
              <a:off x="6739843" y="4144643"/>
              <a:ext cx="874441" cy="848361"/>
            </a:xfrm>
            <a:prstGeom prst="bentArrow">
              <a:avLst>
                <a:gd name="adj1" fmla="val 6832"/>
                <a:gd name="adj2" fmla="val 9894"/>
                <a:gd name="adj3" fmla="val 31260"/>
                <a:gd name="adj4" fmla="val 36703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lnSpc>
                  <a:spcPct val="120000"/>
                </a:lnSpc>
              </a:pPr>
              <a:endParaRPr lang="zh-CN" altLang="en-US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671820" y="1555115"/>
              <a:ext cx="848360" cy="8483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effectLst/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effectLst/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4213225" y="2979420"/>
              <a:ext cx="848360" cy="8483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effectLst/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effectLst/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181215" y="3013710"/>
              <a:ext cx="848360" cy="8483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effectLst/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effectLst/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671820" y="4420870"/>
              <a:ext cx="848360" cy="8483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effectLst/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effectLst/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304991" y="2542372"/>
            <a:ext cx="1783598" cy="1626351"/>
            <a:chOff x="5304991" y="2522910"/>
            <a:chExt cx="1783598" cy="1626351"/>
          </a:xfrm>
        </p:grpSpPr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28826" y="2522910"/>
              <a:ext cx="785148" cy="785148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5304991" y="3285113"/>
              <a:ext cx="17327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bg1">
                      <a:lumMod val="8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DATAS</a:t>
              </a:r>
              <a:endParaRPr lang="zh-CN" altLang="en-US" sz="4600" b="1" dirty="0">
                <a:solidFill>
                  <a:schemeClr val="bg1">
                    <a:lumMod val="8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314449" y="3716129"/>
              <a:ext cx="1774140" cy="4331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8000"/>
                </a:lnSpc>
              </a:pPr>
              <a:r>
                <a:rPr lang="en-US" altLang="zh-CN" sz="1600" spc="300" dirty="0">
                  <a:solidFill>
                    <a:schemeClr val="bg1">
                      <a:lumMod val="85000"/>
                      <a:alpha val="50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Q1.DETAILS</a:t>
              </a:r>
              <a:endParaRPr lang="zh-CN" altLang="en-US" sz="1600" spc="300" dirty="0">
                <a:solidFill>
                  <a:schemeClr val="bg1">
                    <a:lumMod val="85000"/>
                    <a:alpha val="50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34123" y="1678540"/>
            <a:ext cx="9830117" cy="3776453"/>
            <a:chOff x="1234123" y="1678540"/>
            <a:chExt cx="9830117" cy="3776453"/>
          </a:xfrm>
        </p:grpSpPr>
        <p:grpSp>
          <p:nvGrpSpPr>
            <p:cNvPr id="45" name="组合 44"/>
            <p:cNvGrpSpPr/>
            <p:nvPr/>
          </p:nvGrpSpPr>
          <p:grpSpPr>
            <a:xfrm>
              <a:off x="1234123" y="1678540"/>
              <a:ext cx="2729941" cy="3776453"/>
              <a:chOff x="1234123" y="1678540"/>
              <a:chExt cx="2729941" cy="3776453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1234123" y="1678540"/>
                <a:ext cx="2729941" cy="1433409"/>
                <a:chOff x="1493520" y="1694112"/>
                <a:chExt cx="2729941" cy="1433409"/>
              </a:xfrm>
            </p:grpSpPr>
            <p:sp>
              <p:nvSpPr>
                <p:cNvPr id="34" name="文本框 33"/>
                <p:cNvSpPr txBox="1"/>
                <p:nvPr/>
              </p:nvSpPr>
              <p:spPr>
                <a:xfrm>
                  <a:off x="3012873" y="1694112"/>
                  <a:ext cx="939860" cy="3987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王子恒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1493520" y="2105406"/>
                  <a:ext cx="2729941" cy="10221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ts val="2400"/>
                    </a:lnSpc>
                  </a:pPr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负责前端开发，采用</a:t>
                  </a:r>
                  <a:r>
                    <a: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Vue.js</a:t>
                  </a:r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框架实现互动界面，确保高效与可维护性。</a:t>
                  </a:r>
                  <a:endParaRPr lang="en-US" altLang="zh-CN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1234123" y="4028969"/>
                <a:ext cx="2729941" cy="1426024"/>
                <a:chOff x="1493520" y="3355229"/>
                <a:chExt cx="2729941" cy="1426024"/>
              </a:xfrm>
            </p:grpSpPr>
            <p:sp>
              <p:nvSpPr>
                <p:cNvPr id="36" name="文本框 35"/>
                <p:cNvSpPr txBox="1"/>
                <p:nvPr/>
              </p:nvSpPr>
              <p:spPr>
                <a:xfrm>
                  <a:off x="3012873" y="3355229"/>
                  <a:ext cx="939860" cy="3987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伍泳吉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1493520" y="3766523"/>
                  <a:ext cx="2729941" cy="10147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ts val="2400"/>
                    </a:lnSpc>
                  </a:pPr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负责鸿蒙端适配，使用</a:t>
                  </a:r>
                  <a:r>
                    <a: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ArkWeb</a:t>
                  </a:r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集成技术实现跨设备兼容性。</a:t>
                  </a:r>
                  <a:endParaRPr lang="en-US" altLang="zh-CN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</p:grpSp>
          <p:cxnSp>
            <p:nvCxnSpPr>
              <p:cNvPr id="42" name="直接连接符 41"/>
              <p:cNvCxnSpPr/>
              <p:nvPr/>
            </p:nvCxnSpPr>
            <p:spPr>
              <a:xfrm flipH="1">
                <a:off x="1513150" y="3434487"/>
                <a:ext cx="231807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/>
            <p:cNvGrpSpPr/>
            <p:nvPr/>
          </p:nvGrpSpPr>
          <p:grpSpPr>
            <a:xfrm>
              <a:off x="8271751" y="1678540"/>
              <a:ext cx="2792489" cy="3468478"/>
              <a:chOff x="8271751" y="1678540"/>
              <a:chExt cx="2792489" cy="3468478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8271751" y="1678540"/>
                <a:ext cx="2792489" cy="1495691"/>
                <a:chOff x="7982191" y="1694112"/>
                <a:chExt cx="2792489" cy="1495691"/>
              </a:xfrm>
            </p:grpSpPr>
            <p:sp>
              <p:nvSpPr>
                <p:cNvPr id="30" name="文本框 29"/>
                <p:cNvSpPr txBox="1"/>
                <p:nvPr/>
              </p:nvSpPr>
              <p:spPr>
                <a:xfrm>
                  <a:off x="7982191" y="1694112"/>
                  <a:ext cx="948690" cy="3987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汪琦轩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7982191" y="2105406"/>
                  <a:ext cx="2792489" cy="1084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负责后端开发，采用</a:t>
                  </a:r>
                  <a:r>
                    <a: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Python</a:t>
                  </a:r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与</a:t>
                  </a:r>
                  <a:r>
                    <a: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FastAPI</a:t>
                  </a:r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框架，确保高性能与稳定性。</a:t>
                  </a:r>
                  <a:endParaRPr lang="en-US" altLang="zh-CN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8271751" y="4028969"/>
                <a:ext cx="2792489" cy="1118049"/>
                <a:chOff x="7982191" y="3355229"/>
                <a:chExt cx="2792489" cy="1118049"/>
              </a:xfrm>
            </p:grpSpPr>
            <p:sp>
              <p:nvSpPr>
                <p:cNvPr id="32" name="文本框 31"/>
                <p:cNvSpPr txBox="1"/>
                <p:nvPr/>
              </p:nvSpPr>
              <p:spPr>
                <a:xfrm>
                  <a:off x="7982191" y="3355229"/>
                  <a:ext cx="948690" cy="3987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陈治西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7982191" y="3766523"/>
                  <a:ext cx="2792489" cy="7067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负责</a:t>
                  </a:r>
                  <a:r>
                    <a: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UI</a:t>
                  </a:r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思源宋体 CN Light" panose="02020300000000000000" pitchFamily="18" charset="-122"/>
                      <a:ea typeface="思源宋体 CN" panose="02020400000000000000" pitchFamily="18" charset="-122"/>
                      <a:cs typeface="+mn-ea"/>
                      <a:sym typeface="思源宋体 CN Light" panose="02020300000000000000" pitchFamily="18" charset="-122"/>
                    </a:rPr>
                    <a:t>设计，提升视觉效果与用户交互体验的统一性。</a:t>
                  </a:r>
                  <a:endParaRPr lang="en-US" altLang="zh-CN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endParaRPr>
                </a:p>
              </p:txBody>
            </p:sp>
          </p:grpSp>
          <p:cxnSp>
            <p:nvCxnSpPr>
              <p:cNvPr id="44" name="直接连接符 43"/>
              <p:cNvCxnSpPr/>
              <p:nvPr/>
            </p:nvCxnSpPr>
            <p:spPr>
              <a:xfrm flipH="1">
                <a:off x="8390440" y="3434487"/>
                <a:ext cx="231807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5448448" y="2062034"/>
            <a:ext cx="0" cy="2734796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947114" y="1607434"/>
            <a:ext cx="3993792" cy="2413918"/>
            <a:chOff x="1146880" y="1480914"/>
            <a:chExt cx="3993792" cy="2413918"/>
          </a:xfrm>
        </p:grpSpPr>
        <p:sp>
          <p:nvSpPr>
            <p:cNvPr id="20" name="文本框 19"/>
            <p:cNvSpPr txBox="1"/>
            <p:nvPr/>
          </p:nvSpPr>
          <p:spPr>
            <a:xfrm>
              <a:off x="1367860" y="2880102"/>
              <a:ext cx="3772812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我们的项目始终把用户体验放在首位，致力于为管理员、辅导员和学生等用户群体提供高效、便捷的服务。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46880" y="1480914"/>
              <a:ext cx="3802653" cy="1215248"/>
              <a:chOff x="1452325" y="1278987"/>
              <a:chExt cx="3802653" cy="1215248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1452325" y="1278987"/>
                <a:ext cx="3802653" cy="706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以用户体验为核心</a:t>
                </a:r>
                <a:endParaRPr lang="zh-CN" alt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1673305" y="1945145"/>
                <a:ext cx="309880" cy="306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sz="1400" i="1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24" name="矩形: 圆角 23"/>
              <p:cNvSpPr/>
              <p:nvPr/>
            </p:nvSpPr>
            <p:spPr>
              <a:xfrm flipV="1">
                <a:off x="1774905" y="2384399"/>
                <a:ext cx="678652" cy="109836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</p:grpSp>
      <p:grpSp>
        <p:nvGrpSpPr>
          <p:cNvPr id="32" name="组合 31"/>
          <p:cNvGrpSpPr/>
          <p:nvPr>
            <p:custDataLst>
              <p:tags r:id="rId3"/>
            </p:custDataLst>
          </p:nvPr>
        </p:nvGrpSpPr>
        <p:grpSpPr>
          <a:xfrm>
            <a:off x="5658333" y="1342665"/>
            <a:ext cx="3048000" cy="4802874"/>
            <a:chOff x="5597419" y="1510411"/>
            <a:chExt cx="3048000" cy="4802874"/>
          </a:xfrm>
        </p:grpSpPr>
        <p:cxnSp>
          <p:nvCxnSpPr>
            <p:cNvPr id="7" name="直接连接符 6"/>
            <p:cNvCxnSpPr/>
            <p:nvPr>
              <p:custDataLst>
                <p:tags r:id="rId4"/>
              </p:custDataLst>
            </p:nvPr>
          </p:nvCxnSpPr>
          <p:spPr>
            <a:xfrm flipH="1">
              <a:off x="6498013" y="4252569"/>
              <a:ext cx="124681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>
              <p:custDataLst>
                <p:tags r:id="rId5"/>
              </p:custDataLst>
            </p:nvPr>
          </p:nvSpPr>
          <p:spPr>
            <a:xfrm>
              <a:off x="5602837" y="3668209"/>
              <a:ext cx="293751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调研用户与优化功能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5597419" y="1510411"/>
              <a:ext cx="3048000" cy="2032000"/>
              <a:chOff x="5597419" y="1510411"/>
              <a:chExt cx="3048000" cy="2032000"/>
            </a:xfrm>
          </p:grpSpPr>
          <p:graphicFrame>
            <p:nvGraphicFramePr>
              <p:cNvPr id="8" name="图表 7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    <p:cNvGraphicFramePr/>
              <p:nvPr>
                <p:custDataLst>
                  <p:tags r:id="rId6"/>
                </p:custDataLst>
              </p:nvPr>
            </p:nvGraphicFramePr>
            <p:xfrm>
              <a:off x="5597419" y="1510411"/>
              <a:ext cx="3048000" cy="20320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"/>
              </a:graphicData>
            </a:graphic>
          </p:graphicFrame>
          <p:sp>
            <p:nvSpPr>
              <p:cNvPr id="25" name="矩形 24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    <p:cNvSpPr/>
              <p:nvPr>
                <p:custDataLst>
                  <p:tags r:id="rId7"/>
                </p:custDataLst>
              </p:nvPr>
            </p:nvSpPr>
            <p:spPr>
              <a:xfrm>
                <a:off x="6577747" y="1980480"/>
                <a:ext cx="108734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6000" b="1" dirty="0">
                    <a:solidFill>
                      <a:schemeClr val="accent1"/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60</a:t>
                </a:r>
                <a:endParaRPr lang="en-US" altLang="zh-CN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29" name="矩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6928898" y="2767764"/>
                <a:ext cx="4074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ECECEC"/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%</a:t>
                </a:r>
                <a:endParaRPr lang="zh-CN" altLang="en-US" dirty="0">
                  <a:solidFill>
                    <a:srgbClr val="ECECEC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sp>
          <p:nvSpPr>
            <p:cNvPr id="30" name="文本框 29"/>
            <p:cNvSpPr txBox="1"/>
            <p:nvPr>
              <p:custDataLst>
                <p:tags r:id="rId9"/>
              </p:custDataLst>
            </p:nvPr>
          </p:nvSpPr>
          <p:spPr>
            <a:xfrm>
              <a:off x="5867646" y="4375265"/>
              <a:ext cx="2351182" cy="193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在项目中，我们将花费约</a:t>
              </a:r>
              <a:r>
                <a: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60%</a:t>
              </a: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的时间进行用户调研和系统功能优化，确保系统能够精准符合用户的实际需求。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  <a:p>
              <a:pPr algn="ctr">
                <a:lnSpc>
                  <a:spcPts val="2400"/>
                </a:lnSpc>
              </a:pP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>
            <a:off x="8494166" y="1342665"/>
            <a:ext cx="3048000" cy="4802874"/>
            <a:chOff x="5597419" y="1510411"/>
            <a:chExt cx="3048000" cy="4802874"/>
          </a:xfrm>
        </p:grpSpPr>
        <p:cxnSp>
          <p:nvCxnSpPr>
            <p:cNvPr id="34" name="直接连接符 33"/>
            <p:cNvCxnSpPr/>
            <p:nvPr>
              <p:custDataLst>
                <p:tags r:id="rId11"/>
              </p:custDataLst>
            </p:nvPr>
          </p:nvCxnSpPr>
          <p:spPr>
            <a:xfrm flipH="1">
              <a:off x="6498013" y="4252569"/>
              <a:ext cx="124681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>
              <p:custDataLst>
                <p:tags r:id="rId12"/>
              </p:custDataLst>
            </p:nvPr>
          </p:nvSpPr>
          <p:spPr>
            <a:xfrm>
              <a:off x="6105757" y="3668209"/>
              <a:ext cx="201930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满足用户需求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597419" y="1510411"/>
              <a:ext cx="3048000" cy="2032000"/>
              <a:chOff x="5597419" y="1510411"/>
              <a:chExt cx="3048000" cy="2032000"/>
            </a:xfrm>
          </p:grpSpPr>
          <p:graphicFrame>
            <p:nvGraphicFramePr>
              <p:cNvPr id="38" name="图表 37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    <p:cNvGraphicFramePr/>
              <p:nvPr>
                <p:custDataLst>
                  <p:tags r:id="rId13"/>
                </p:custDataLst>
              </p:nvPr>
            </p:nvGraphicFramePr>
            <p:xfrm>
              <a:off x="5597419" y="1510411"/>
              <a:ext cx="3048000" cy="20320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39" name="矩形 38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    <p:cNvSpPr/>
              <p:nvPr>
                <p:custDataLst>
                  <p:tags r:id="rId14"/>
                </p:custDataLst>
              </p:nvPr>
            </p:nvSpPr>
            <p:spPr>
              <a:xfrm>
                <a:off x="6577747" y="1980480"/>
                <a:ext cx="108734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6000" b="1" dirty="0">
                    <a:solidFill>
                      <a:schemeClr val="accent2"/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80</a:t>
                </a:r>
                <a:endParaRPr lang="en-US" altLang="zh-CN" sz="4800" b="1" dirty="0">
                  <a:solidFill>
                    <a:schemeClr val="accent2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  <p:sp>
            <p:nvSpPr>
              <p:cNvPr id="40" name="矩形 39"/>
              <p:cNvSpPr/>
              <p:nvPr>
                <p:custDataLst>
                  <p:tags r:id="rId15"/>
                </p:custDataLst>
              </p:nvPr>
            </p:nvSpPr>
            <p:spPr>
              <a:xfrm>
                <a:off x="6928898" y="2767764"/>
                <a:ext cx="4074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ECECEC"/>
                    </a:solidFill>
                    <a:latin typeface="思源宋体 CN Light" panose="02020300000000000000" pitchFamily="18" charset="-122"/>
                    <a:ea typeface="思源宋体 CN" panose="02020400000000000000" pitchFamily="18" charset="-122"/>
                    <a:cs typeface="+mn-ea"/>
                    <a:sym typeface="思源宋体 CN Light" panose="02020300000000000000" pitchFamily="18" charset="-122"/>
                  </a:rPr>
                  <a:t>%</a:t>
                </a:r>
                <a:endParaRPr lang="zh-CN" altLang="en-US" dirty="0">
                  <a:solidFill>
                    <a:srgbClr val="ECECEC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6"/>
              </p:custDataLst>
            </p:nvPr>
          </p:nvSpPr>
          <p:spPr>
            <a:xfrm>
              <a:off x="5867646" y="4375265"/>
              <a:ext cx="2269436" cy="193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我们将</a:t>
              </a: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投入</a:t>
              </a:r>
              <a:r>
                <a: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80%</a:t>
              </a: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的精力到满足各类用户的需求，包括管理员、辅导员和学生等，以确保系统能够全面提升各方使用体验。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4781517" y="4548511"/>
            <a:ext cx="2628966" cy="600109"/>
            <a:chOff x="4593812" y="4933672"/>
            <a:chExt cx="2628966" cy="600109"/>
          </a:xfrm>
        </p:grpSpPr>
        <p:sp>
          <p:nvSpPr>
            <p:cNvPr id="46" name="矩形: 圆角 45"/>
            <p:cNvSpPr/>
            <p:nvPr/>
          </p:nvSpPr>
          <p:spPr>
            <a:xfrm>
              <a:off x="4593812" y="4933672"/>
              <a:ext cx="2628966" cy="6001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2A324B"/>
                </a:gs>
                <a:gs pos="100000">
                  <a:srgbClr val="465F9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4710692" y="5002895"/>
              <a:ext cx="2325370" cy="4603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报告人：王子恒</a:t>
              </a:r>
              <a:endParaRPr lang="en-US" altLang="zh-CN" sz="2400" b="1" dirty="0">
                <a:solidFill>
                  <a:schemeClr val="bg1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142390" y="1817135"/>
            <a:ext cx="5987537" cy="1922113"/>
            <a:chOff x="3142390" y="1817135"/>
            <a:chExt cx="5987537" cy="1922113"/>
          </a:xfrm>
        </p:grpSpPr>
        <p:sp>
          <p:nvSpPr>
            <p:cNvPr id="39" name="文本框 38"/>
            <p:cNvSpPr txBox="1"/>
            <p:nvPr/>
          </p:nvSpPr>
          <p:spPr>
            <a:xfrm>
              <a:off x="3926175" y="1817135"/>
              <a:ext cx="43396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5400" b="1" dirty="0">
                  <a:gradFill>
                    <a:gsLst>
                      <a:gs pos="0">
                        <a:srgbClr val="2A324B"/>
                      </a:gs>
                      <a:gs pos="100000">
                        <a:srgbClr val="465F94"/>
                      </a:gs>
                    </a:gsLst>
                    <a:lin ang="0" scaled="1"/>
                  </a:gra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感谢您的观看</a:t>
              </a:r>
              <a:endParaRPr lang="zh-CN" altLang="en-US" sz="5400" b="1" dirty="0">
                <a:gradFill>
                  <a:gsLst>
                    <a:gs pos="0">
                      <a:srgbClr val="2A324B"/>
                    </a:gs>
                    <a:gs pos="100000">
                      <a:srgbClr val="465F94"/>
                    </a:gs>
                  </a:gsLst>
                  <a:lin ang="0" scaled="1"/>
                </a:gra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142390" y="3092917"/>
              <a:ext cx="59875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b="1" dirty="0">
                  <a:solidFill>
                    <a:srgbClr val="37518F"/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cs typeface="+mn-ea"/>
                  <a:sym typeface="思源宋体 CN Light" panose="02020300000000000000" pitchFamily="18" charset="-122"/>
                </a:rPr>
                <a:t>怀揣梦想 砥砺前行 努力奋斗</a:t>
              </a:r>
              <a:endParaRPr lang="zh-CN" altLang="en-US" sz="3600" b="1" dirty="0">
                <a:solidFill>
                  <a:srgbClr val="37518F"/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cs typeface="+mn-ea"/>
                <a:sym typeface="思源宋体 CN Light" panose="02020300000000000000" pitchFamily="18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4179546" y="2730798"/>
              <a:ext cx="383290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spc="600" dirty="0">
                  <a:solidFill>
                    <a:srgbClr val="3E5180">
                      <a:alpha val="50000"/>
                    </a:srgbClr>
                  </a:solidFill>
                  <a:latin typeface="思源宋体 CN Light" panose="02020300000000000000" pitchFamily="18" charset="-122"/>
                  <a:ea typeface="思源宋体 CN" panose="02020400000000000000" pitchFamily="18" charset="-122"/>
                  <a:sym typeface="思源宋体 CN Light" panose="02020300000000000000" pitchFamily="18" charset="-122"/>
                </a:rPr>
                <a:t> -Thank for viewing-</a:t>
              </a:r>
              <a:endParaRPr lang="zh-CN" altLang="en-US" sz="1600" spc="600" dirty="0">
                <a:solidFill>
                  <a:srgbClr val="3E5180">
                    <a:alpha val="50000"/>
                  </a:srgbClr>
                </a:solidFill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583822" y="1810646"/>
            <a:ext cx="8367959" cy="3268753"/>
            <a:chOff x="1583822" y="1810646"/>
            <a:chExt cx="8367959" cy="3268753"/>
          </a:xfrm>
        </p:grpSpPr>
        <p:grpSp>
          <p:nvGrpSpPr>
            <p:cNvPr id="55" name="组合 54"/>
            <p:cNvGrpSpPr/>
            <p:nvPr/>
          </p:nvGrpSpPr>
          <p:grpSpPr>
            <a:xfrm flipH="1" flipV="1">
              <a:off x="9481900" y="1810646"/>
              <a:ext cx="469881" cy="414376"/>
              <a:chOff x="10029097" y="1654139"/>
              <a:chExt cx="680839" cy="600414"/>
            </a:xfrm>
          </p:grpSpPr>
          <p:cxnSp>
            <p:nvCxnSpPr>
              <p:cNvPr id="56" name="直接连接符 55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组合 64"/>
            <p:cNvGrpSpPr/>
            <p:nvPr/>
          </p:nvGrpSpPr>
          <p:grpSpPr>
            <a:xfrm flipH="1" flipV="1">
              <a:off x="1583822" y="4665023"/>
              <a:ext cx="469881" cy="414376"/>
              <a:chOff x="10029097" y="1654139"/>
              <a:chExt cx="680839" cy="600414"/>
            </a:xfrm>
          </p:grpSpPr>
          <p:cxnSp>
            <p:nvCxnSpPr>
              <p:cNvPr id="66" name="直接连接符 65"/>
              <p:cNvCxnSpPr/>
              <p:nvPr/>
            </p:nvCxnSpPr>
            <p:spPr>
              <a:xfrm flipH="1">
                <a:off x="10123032" y="1654139"/>
                <a:ext cx="546100" cy="571500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flipH="1">
                <a:off x="10029097" y="1654139"/>
                <a:ext cx="366985" cy="384054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flipH="1">
                <a:off x="10355277" y="1883398"/>
                <a:ext cx="354659" cy="371155"/>
              </a:xfrm>
              <a:prstGeom prst="line">
                <a:avLst/>
              </a:prstGeom>
              <a:ln w="76200" cap="rnd">
                <a:solidFill>
                  <a:srgbClr val="E9F2F9">
                    <a:alpha val="7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2401635" y="1614099"/>
            <a:ext cx="5973162" cy="2457426"/>
            <a:chOff x="2401635" y="1614099"/>
            <a:chExt cx="5973162" cy="2457426"/>
          </a:xfrm>
        </p:grpSpPr>
        <p:sp>
          <p:nvSpPr>
            <p:cNvPr id="273" name="椭圆 272"/>
            <p:cNvSpPr/>
            <p:nvPr/>
          </p:nvSpPr>
          <p:spPr>
            <a:xfrm>
              <a:off x="7634042" y="1614099"/>
              <a:ext cx="740755" cy="740755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  <p:sp>
          <p:nvSpPr>
            <p:cNvPr id="274" name="椭圆 273"/>
            <p:cNvSpPr/>
            <p:nvPr/>
          </p:nvSpPr>
          <p:spPr>
            <a:xfrm>
              <a:off x="2401635" y="3330770"/>
              <a:ext cx="740755" cy="740755"/>
            </a:xfrm>
            <a:prstGeom prst="ellipse">
              <a:avLst/>
            </a:prstGeom>
            <a:solidFill>
              <a:srgbClr val="37518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Light" panose="02020300000000000000" pitchFamily="18" charset="-122"/>
                <a:ea typeface="思源宋体 CN" panose="02020400000000000000" pitchFamily="18" charset="-122"/>
                <a:sym typeface="思源宋体 CN Light" panose="02020300000000000000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2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3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4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5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6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7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8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9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10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11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12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13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14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15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16.xml><?xml version="1.0" encoding="utf-8"?>
<p:tagLst xmlns:p="http://schemas.openxmlformats.org/presentationml/2006/main">
  <p:tag name="KSO_WM_DIAGRAM_VIRTUALLY_FRAME" val="{&quot;height&quot;:355.5576377952756,&quot;left&quot;:536.913307086614,&quot;top&quot;:90.79417322834647,&quot;width&quot;:345.28456692913386}"/>
</p:tagLst>
</file>

<file path=ppt/tags/tag17.xml><?xml version="1.0" encoding="utf-8"?>
<p:tagLst xmlns:p="http://schemas.openxmlformats.org/presentationml/2006/main">
  <p:tag name="KSO_WM_DIAGRAM_VIRTUALLY_FRAME" val="{&quot;height&quot;:303.00031496062985,&quot;left&quot;:52.966692913385806,&quot;top&quot;:331.811338582677,&quot;width&quot;:801.0338582677163}"/>
</p:tagLst>
</file>

<file path=ppt/tags/tag18.xml><?xml version="1.0" encoding="utf-8"?>
<p:tagLst xmlns:p="http://schemas.openxmlformats.org/presentationml/2006/main">
  <p:tag name="KSO_WM_DIAGRAM_VIRTUALLY_FRAME" val="{&quot;height&quot;:303.00031496062985,&quot;left&quot;:52.966692913385806,&quot;top&quot;:331.811338582677,&quot;width&quot;:801.0338582677163}"/>
</p:tagLst>
</file>

<file path=ppt/tags/tag19.xml><?xml version="1.0" encoding="utf-8"?>
<p:tagLst xmlns:p="http://schemas.openxmlformats.org/presentationml/2006/main">
  <p:tag name="KSO_WM_DIAGRAM_VIRTUALLY_FRAME" val="{&quot;height&quot;:303.00031496062985,&quot;left&quot;:52.966692913385806,&quot;top&quot;:331.811338582677,&quot;width&quot;:801.0338582677163}"/>
</p:tagLst>
</file>

<file path=ppt/tags/tag20.xml><?xml version="1.0" encoding="utf-8"?>
<p:tagLst xmlns:p="http://schemas.openxmlformats.org/presentationml/2006/main">
  <p:tag name="KSO_WM_DIAGRAM_VIRTUALLY_FRAME" val="{&quot;height&quot;:303.00031496062985,&quot;left&quot;:52.966692913385806,&quot;top&quot;:331.811338582677,&quot;width&quot;:801.0338582677163}"/>
</p:tagLst>
</file>

<file path=ppt/tags/tag21.xml><?xml version="1.0" encoding="utf-8"?>
<p:tagLst xmlns:p="http://schemas.openxmlformats.org/presentationml/2006/main">
  <p:tag name="KSO_WM_DIAGRAM_VIRTUALLY_FRAME" val="{&quot;height&quot;:303.00031496062985,&quot;left&quot;:52.966692913385806,&quot;top&quot;:331.811338582677,&quot;width&quot;:801.0338582677163}"/>
</p:tagLst>
</file>

<file path=ppt/tags/tag22.xml><?xml version="1.0" encoding="utf-8"?>
<p:tagLst xmlns:p="http://schemas.openxmlformats.org/presentationml/2006/main">
  <p:tag name="KSO_WM_DIAGRAM_VIRTUALLY_FRAME" val="{&quot;height&quot;:303.00031496062985,&quot;left&quot;:52.966692913385806,&quot;top&quot;:331.811338582677,&quot;width&quot;:801.0338582677163}"/>
</p:tagLst>
</file>

<file path=ppt/tags/tag23.xml><?xml version="1.0" encoding="utf-8"?>
<p:tagLst xmlns:p="http://schemas.openxmlformats.org/presentationml/2006/main">
  <p:tag name="KSO_WM_DIAGRAM_VIRTUALLY_FRAME" val="{&quot;height&quot;:303.00031496062985,&quot;left&quot;:52.966692913385806,&quot;top&quot;:331.811338582677,&quot;width&quot;:801.0338582677163}"/>
</p:tagLst>
</file>

<file path=ppt/tags/tag24.xml><?xml version="1.0" encoding="utf-8"?>
<p:tagLst xmlns:p="http://schemas.openxmlformats.org/presentationml/2006/main">
  <p:tag name="KSO_WM_DIAGRAM_VIRTUALLY_FRAME" val="{&quot;height&quot;:303.00031496062985,&quot;left&quot;:52.966692913385806,&quot;top&quot;:331.811338582677,&quot;width&quot;:801.0338582677163}"/>
</p:tagLst>
</file>

<file path=ppt/tags/tag25.xml><?xml version="1.0" encoding="utf-8"?>
<p:tagLst xmlns:p="http://schemas.openxmlformats.org/presentationml/2006/main">
  <p:tag name="KSO_WM_DIAGRAM_VIRTUALLY_FRAME" val="{&quot;height&quot;:303.00031496062985,&quot;left&quot;:52.966692913385806,&quot;top&quot;:331.811338582677,&quot;width&quot;:801.0338582677163}"/>
</p:tagLst>
</file>

<file path=ppt/tags/tag26.xml><?xml version="1.0" encoding="utf-8"?>
<p:tagLst xmlns:p="http://schemas.openxmlformats.org/presentationml/2006/main">
  <p:tag name="KSO_WM_DIAGRAM_VIRTUALLY_FRAME" val="{&quot;height&quot;:303.00031496062985,&quot;left&quot;:52.966692913385806,&quot;top&quot;:331.811338582677,&quot;width&quot;:801.0338582677163}"/>
</p:tagLst>
</file>

<file path=ppt/tags/tag27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28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29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30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31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32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33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34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35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36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37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38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39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40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41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42.xml><?xml version="1.0" encoding="utf-8"?>
<p:tagLst xmlns:p="http://schemas.openxmlformats.org/presentationml/2006/main">
  <p:tag name="KSO_WM_DIAGRAM_VIRTUALLY_FRAME" val="{&quot;height&quot;:419.3033070866142,&quot;left&quot;:494.95377952755905,&quot;top&quot;:99.8586614173228,&quot;width&quot;:389.9904724409448}"/>
</p:tagLst>
</file>

<file path=ppt/tags/tag43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44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45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46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47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48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49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50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51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52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53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54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55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56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57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58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59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60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61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62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63.xml><?xml version="1.0" encoding="utf-8"?>
<p:tagLst xmlns:p="http://schemas.openxmlformats.org/presentationml/2006/main">
  <p:tag name="KSO_WM_DIAGRAM_VIRTUALLY_FRAME" val="{&quot;height&quot;:326.31637795275583,&quot;left&quot;:148.24244094488188,&quot;top&quot;:96.68047244094484,&quot;width&quot;:718.9577952755906}"/>
</p:tagLst>
</file>

<file path=ppt/tags/tag64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65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66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67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68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69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70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71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72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73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74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75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76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77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78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79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80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81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82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83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84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85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86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87.xml><?xml version="1.0" encoding="utf-8"?>
<p:tagLst xmlns:p="http://schemas.openxmlformats.org/presentationml/2006/main">
  <p:tag name="KSO_WM_DIAGRAM_VIRTUALLY_FRAME" val="{&quot;height&quot;:349.8014173228347,&quot;left&quot;:89.40023622047244,&quot;top&quot;:195.53456692913383,&quot;width&quot;:782.4523622047243}"/>
</p:tagLst>
</file>

<file path=ppt/tags/tag88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89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90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91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92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93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94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95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96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97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98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99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100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101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102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103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104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105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106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107.xml><?xml version="1.0" encoding="utf-8"?>
<p:tagLst xmlns:p="http://schemas.openxmlformats.org/presentationml/2006/main">
  <p:tag name="KSO_WM_DIAGRAM_VIRTUALLY_FRAME" val="{&quot;height&quot;:495.6578740157482,&quot;left&quot;:103.3607086614173,&quot;top&quot;:138.74322834645665,&quot;width&quot;:756.8785826771655}"/>
</p:tagLst>
</file>

<file path=ppt/tags/tag108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09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10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11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12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13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14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15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16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17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18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19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20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ags/tag121.xml><?xml version="1.0" encoding="utf-8"?>
<p:tagLst xmlns:p="http://schemas.openxmlformats.org/presentationml/2006/main">
  <p:tag name="KSO_WM_DIAGRAM_VIRTUALLY_FRAME" val="{&quot;height&quot;:620.5290551181103,&quot;left&quot;:445.538031496063,&quot;top&quot;:105.72165354330707,&quot;width&quot;:463.29393700787386}"/>
</p:tagLst>
</file>

<file path=ppt/theme/theme1.xml><?xml version="1.0" encoding="utf-8"?>
<a:theme xmlns:a="http://schemas.openxmlformats.org/drawingml/2006/main" name="Office 主题​​">
  <a:themeElements>
    <a:clrScheme name="自定义 17">
      <a:dk1>
        <a:sysClr val="windowText" lastClr="000000"/>
      </a:dk1>
      <a:lt1>
        <a:sysClr val="window" lastClr="FFFFFF"/>
      </a:lt1>
      <a:dk2>
        <a:srgbClr val="000000"/>
      </a:dk2>
      <a:lt2>
        <a:srgbClr val="37518F"/>
      </a:lt2>
      <a:accent1>
        <a:srgbClr val="37518F"/>
      </a:accent1>
      <a:accent2>
        <a:srgbClr val="A4C9E4"/>
      </a:accent2>
      <a:accent3>
        <a:srgbClr val="3F3F3F"/>
      </a:accent3>
      <a:accent4>
        <a:srgbClr val="B30D1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zlj4k0c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1549</Words>
  <Application>WPS 演示</Application>
  <PresentationFormat>宽屏</PresentationFormat>
  <Paragraphs>208</Paragraphs>
  <Slides>14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思源宋体 CN Light</vt:lpstr>
      <vt:lpstr>思源宋体 CN</vt:lpstr>
      <vt:lpstr>Segoe UI</vt:lpstr>
      <vt:lpstr>微软雅黑</vt:lpstr>
      <vt:lpstr>Arial Unicode MS</vt:lpstr>
      <vt:lpstr>等线</vt:lpstr>
      <vt:lpstr>Calibri</vt:lpstr>
      <vt:lpstr>方正仿宋_GB2312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58263148@qq.com</dc:creator>
  <cp:lastModifiedBy>15710668700</cp:lastModifiedBy>
  <cp:revision>2908</cp:revision>
  <dcterms:created xsi:type="dcterms:W3CDTF">2021-07-02T06:09:00Z</dcterms:created>
  <dcterms:modified xsi:type="dcterms:W3CDTF">2025-09-13T11:28:33Z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5C4A2CDCAAF04764B07BFB6B1276E793_11</vt:lpwstr>
  </property>
  <property fmtid="{D5CDD505-2E9C-101B-9397-08002B2CF9AE}" pid="3" name="KSOProductBuildVer">
    <vt:lpwstr>2052-12.1.0.22529</vt:lpwstr>
  </property>
  <property fmtid="{D5CDD505-2E9C-101B-9397-08002B2CF9AE}" pid="4" name="KSOTemplateUUID">
    <vt:lpwstr>v1.0_mb_pNBXwxTE5n6ZWYM1xM5jrg==</vt:lpwstr>
  </property>
</Properties>
</file>