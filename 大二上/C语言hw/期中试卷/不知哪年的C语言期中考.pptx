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13234-9230-442F-8D76-1E7E10A59B88}" type="datetimeFigureOut">
              <a:rPr lang="zh-CN" altLang="en-US" smtClean="0"/>
              <a:t>2021/11/8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4B0DD-1AC4-46F2-AB76-6AB8901D611A}" type="slidenum">
              <a:rPr lang="zh-CN" altLang="en-US" smtClean="0"/>
              <a:t>‹#›</a:t>
            </a:fld>
            <a:endParaRPr lang="zh-CN" altLang="en-US"/>
          </a:p>
        </p:txBody>
      </p:sp>
    </p:spTree>
    <p:extLst>
      <p:ext uri="{BB962C8B-B14F-4D97-AF65-F5344CB8AC3E}">
        <p14:creationId xmlns:p14="http://schemas.microsoft.com/office/powerpoint/2010/main" val="139496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994B0DD-1AC4-46F2-AB76-6AB8901D611A}" type="slidenum">
              <a:rPr lang="zh-CN" altLang="en-US" smtClean="0"/>
              <a:t>6</a:t>
            </a:fld>
            <a:endParaRPr lang="zh-CN" altLang="en-US"/>
          </a:p>
        </p:txBody>
      </p:sp>
    </p:spTree>
    <p:extLst>
      <p:ext uri="{BB962C8B-B14F-4D97-AF65-F5344CB8AC3E}">
        <p14:creationId xmlns:p14="http://schemas.microsoft.com/office/powerpoint/2010/main" val="1254090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3232421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3116833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377576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137369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78181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714352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2004577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236911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41112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3536764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2995355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75CD7-FD18-4BD2-ADD2-0ED50DE7A921}" type="datetimeFigureOut">
              <a:rPr lang="zh-CN" altLang="en-US" smtClean="0"/>
              <a:t>2021/11/8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152A0-9013-4B99-A49F-392E08828B28}" type="slidenum">
              <a:rPr lang="zh-CN" altLang="en-US" smtClean="0"/>
              <a:t>‹#›</a:t>
            </a:fld>
            <a:endParaRPr lang="zh-CN" altLang="en-US"/>
          </a:p>
        </p:txBody>
      </p:sp>
    </p:spTree>
    <p:extLst>
      <p:ext uri="{BB962C8B-B14F-4D97-AF65-F5344CB8AC3E}">
        <p14:creationId xmlns:p14="http://schemas.microsoft.com/office/powerpoint/2010/main" val="3065903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期中考试讲评</a:t>
            </a:r>
            <a:endParaRPr lang="zh-CN" altLang="en-US" dirty="0"/>
          </a:p>
        </p:txBody>
      </p:sp>
      <p:sp>
        <p:nvSpPr>
          <p:cNvPr id="3" name="副标题 2"/>
          <p:cNvSpPr>
            <a:spLocks noGrp="1"/>
          </p:cNvSpPr>
          <p:nvPr>
            <p:ph type="subTitle" idx="1"/>
          </p:nvPr>
        </p:nvSpPr>
        <p:spPr/>
        <p:txBody>
          <a:bodyPr/>
          <a:lstStyle/>
          <a:p>
            <a:r>
              <a:rPr lang="en-US" altLang="zh-CN" dirty="0" smtClean="0"/>
              <a:t>2021-2022</a:t>
            </a:r>
            <a:r>
              <a:rPr lang="zh-CN" altLang="en-US" dirty="0" smtClean="0"/>
              <a:t>学年秋</a:t>
            </a:r>
            <a:endParaRPr lang="en-US" altLang="zh-CN" dirty="0" smtClean="0"/>
          </a:p>
          <a:p>
            <a:r>
              <a:rPr lang="zh-CN" altLang="en-US"/>
              <a:t>林贤明</a:t>
            </a:r>
            <a:endParaRPr lang="zh-CN" altLang="en-US" dirty="0"/>
          </a:p>
        </p:txBody>
      </p:sp>
    </p:spTree>
    <p:extLst>
      <p:ext uri="{BB962C8B-B14F-4D97-AF65-F5344CB8AC3E}">
        <p14:creationId xmlns:p14="http://schemas.microsoft.com/office/powerpoint/2010/main" val="393359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a:t>
            </a:r>
            <a:r>
              <a:rPr lang="zh-CN" altLang="zh-CN" b="1" dirty="0"/>
              <a:t>写出下列程序段的运行结果</a:t>
            </a:r>
            <a:endParaRPr lang="zh-CN" altLang="en-US" dirty="0"/>
          </a:p>
        </p:txBody>
      </p:sp>
      <p:pic>
        <p:nvPicPr>
          <p:cNvPr id="5" name="内容占位符 4"/>
          <p:cNvPicPr>
            <a:picLocks noGrp="1" noChangeAspect="1"/>
          </p:cNvPicPr>
          <p:nvPr>
            <p:ph idx="1"/>
          </p:nvPr>
        </p:nvPicPr>
        <p:blipFill>
          <a:blip r:embed="rId2"/>
          <a:stretch>
            <a:fillRect/>
          </a:stretch>
        </p:blipFill>
        <p:spPr>
          <a:xfrm>
            <a:off x="4184217" y="1825625"/>
            <a:ext cx="4086225" cy="2876550"/>
          </a:xfrm>
          <a:prstGeom prst="rect">
            <a:avLst/>
          </a:prstGeom>
        </p:spPr>
      </p:pic>
      <p:pic>
        <p:nvPicPr>
          <p:cNvPr id="4" name="图片 3"/>
          <p:cNvPicPr>
            <a:picLocks noChangeAspect="1"/>
          </p:cNvPicPr>
          <p:nvPr/>
        </p:nvPicPr>
        <p:blipFill>
          <a:blip r:embed="rId3"/>
          <a:stretch>
            <a:fillRect/>
          </a:stretch>
        </p:blipFill>
        <p:spPr>
          <a:xfrm>
            <a:off x="307542" y="1825625"/>
            <a:ext cx="3876675" cy="3162300"/>
          </a:xfrm>
          <a:prstGeom prst="rect">
            <a:avLst/>
          </a:prstGeom>
        </p:spPr>
      </p:pic>
      <p:pic>
        <p:nvPicPr>
          <p:cNvPr id="6" name="图片 5"/>
          <p:cNvPicPr>
            <a:picLocks noChangeAspect="1"/>
          </p:cNvPicPr>
          <p:nvPr/>
        </p:nvPicPr>
        <p:blipFill>
          <a:blip r:embed="rId4"/>
          <a:stretch>
            <a:fillRect/>
          </a:stretch>
        </p:blipFill>
        <p:spPr>
          <a:xfrm>
            <a:off x="8270442" y="1825625"/>
            <a:ext cx="3705225" cy="2819400"/>
          </a:xfrm>
          <a:prstGeom prst="rect">
            <a:avLst/>
          </a:prstGeom>
        </p:spPr>
      </p:pic>
      <p:cxnSp>
        <p:nvCxnSpPr>
          <p:cNvPr id="8" name="直接连接符 7"/>
          <p:cNvCxnSpPr/>
          <p:nvPr/>
        </p:nvCxnSpPr>
        <p:spPr>
          <a:xfrm>
            <a:off x="4288992" y="1394691"/>
            <a:ext cx="0" cy="5329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270442" y="1440873"/>
            <a:ext cx="0" cy="532938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86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a:t>
            </a:r>
            <a:r>
              <a:rPr lang="zh-CN" altLang="zh-CN" b="1" dirty="0"/>
              <a:t>写出下列程序段的运行结果</a:t>
            </a:r>
            <a:endParaRPr lang="zh-CN" altLang="en-US" dirty="0"/>
          </a:p>
        </p:txBody>
      </p:sp>
      <p:pic>
        <p:nvPicPr>
          <p:cNvPr id="7" name="图片 6"/>
          <p:cNvPicPr>
            <a:picLocks noChangeAspect="1"/>
          </p:cNvPicPr>
          <p:nvPr/>
        </p:nvPicPr>
        <p:blipFill rotWithShape="1">
          <a:blip r:embed="rId2"/>
          <a:srcRect r="9443"/>
          <a:stretch/>
        </p:blipFill>
        <p:spPr>
          <a:xfrm>
            <a:off x="145618" y="1394691"/>
            <a:ext cx="3752128" cy="1476375"/>
          </a:xfrm>
          <a:prstGeom prst="rect">
            <a:avLst/>
          </a:prstGeom>
        </p:spPr>
      </p:pic>
      <p:pic>
        <p:nvPicPr>
          <p:cNvPr id="10" name="图片 9"/>
          <p:cNvPicPr>
            <a:picLocks noChangeAspect="1"/>
          </p:cNvPicPr>
          <p:nvPr/>
        </p:nvPicPr>
        <p:blipFill>
          <a:blip r:embed="rId3"/>
          <a:stretch>
            <a:fillRect/>
          </a:stretch>
        </p:blipFill>
        <p:spPr>
          <a:xfrm>
            <a:off x="176571" y="2865150"/>
            <a:ext cx="3819525" cy="2314575"/>
          </a:xfrm>
          <a:prstGeom prst="rect">
            <a:avLst/>
          </a:prstGeom>
        </p:spPr>
      </p:pic>
      <p:pic>
        <p:nvPicPr>
          <p:cNvPr id="11" name="图片 10"/>
          <p:cNvPicPr>
            <a:picLocks noChangeAspect="1"/>
          </p:cNvPicPr>
          <p:nvPr/>
        </p:nvPicPr>
        <p:blipFill>
          <a:blip r:embed="rId4"/>
          <a:stretch>
            <a:fillRect/>
          </a:stretch>
        </p:blipFill>
        <p:spPr>
          <a:xfrm>
            <a:off x="3870036" y="1690688"/>
            <a:ext cx="4200525" cy="3409950"/>
          </a:xfrm>
          <a:prstGeom prst="rect">
            <a:avLst/>
          </a:prstGeom>
        </p:spPr>
      </p:pic>
      <p:cxnSp>
        <p:nvCxnSpPr>
          <p:cNvPr id="8" name="直接连接符 7"/>
          <p:cNvCxnSpPr/>
          <p:nvPr/>
        </p:nvCxnSpPr>
        <p:spPr>
          <a:xfrm>
            <a:off x="3670155" y="1528618"/>
            <a:ext cx="0" cy="5329382"/>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5"/>
          <a:stretch>
            <a:fillRect/>
          </a:stretch>
        </p:blipFill>
        <p:spPr>
          <a:xfrm>
            <a:off x="8161550" y="1647825"/>
            <a:ext cx="4133850" cy="3495675"/>
          </a:xfrm>
          <a:prstGeom prst="rect">
            <a:avLst/>
          </a:prstGeom>
        </p:spPr>
      </p:pic>
      <p:cxnSp>
        <p:nvCxnSpPr>
          <p:cNvPr id="9" name="直接连接符 8"/>
          <p:cNvCxnSpPr/>
          <p:nvPr/>
        </p:nvCxnSpPr>
        <p:spPr>
          <a:xfrm>
            <a:off x="8063200" y="1394691"/>
            <a:ext cx="0" cy="532938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440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a:t>
            </a:r>
            <a:r>
              <a:rPr lang="zh-CN" altLang="zh-CN" b="1" dirty="0"/>
              <a:t>写出下列程序段的运行结果</a:t>
            </a:r>
            <a:endParaRPr lang="zh-CN" altLang="en-US" dirty="0"/>
          </a:p>
        </p:txBody>
      </p:sp>
      <p:cxnSp>
        <p:nvCxnSpPr>
          <p:cNvPr id="8" name="直接连接符 7"/>
          <p:cNvCxnSpPr/>
          <p:nvPr/>
        </p:nvCxnSpPr>
        <p:spPr>
          <a:xfrm>
            <a:off x="4039611" y="1425142"/>
            <a:ext cx="0" cy="5329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138319" y="1425142"/>
            <a:ext cx="0" cy="532938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rotWithShape="1">
          <a:blip r:embed="rId2"/>
          <a:srcRect r="8087"/>
          <a:stretch/>
        </p:blipFill>
        <p:spPr>
          <a:xfrm>
            <a:off x="136092" y="1599767"/>
            <a:ext cx="3817072" cy="3381375"/>
          </a:xfrm>
          <a:prstGeom prst="rect">
            <a:avLst/>
          </a:prstGeom>
        </p:spPr>
      </p:pic>
      <p:pic>
        <p:nvPicPr>
          <p:cNvPr id="10" name="图片 9"/>
          <p:cNvPicPr>
            <a:picLocks noChangeAspect="1"/>
          </p:cNvPicPr>
          <p:nvPr/>
        </p:nvPicPr>
        <p:blipFill>
          <a:blip r:embed="rId3"/>
          <a:stretch>
            <a:fillRect/>
          </a:stretch>
        </p:blipFill>
        <p:spPr>
          <a:xfrm>
            <a:off x="4144602" y="1599767"/>
            <a:ext cx="3952875" cy="2828925"/>
          </a:xfrm>
          <a:prstGeom prst="rect">
            <a:avLst/>
          </a:prstGeom>
        </p:spPr>
      </p:pic>
      <p:pic>
        <p:nvPicPr>
          <p:cNvPr id="11" name="图片 10"/>
          <p:cNvPicPr>
            <a:picLocks noChangeAspect="1"/>
          </p:cNvPicPr>
          <p:nvPr/>
        </p:nvPicPr>
        <p:blipFill rotWithShape="1">
          <a:blip r:embed="rId4"/>
          <a:srcRect r="4619"/>
          <a:stretch/>
        </p:blipFill>
        <p:spPr>
          <a:xfrm>
            <a:off x="8183995" y="1425142"/>
            <a:ext cx="3915641" cy="2133600"/>
          </a:xfrm>
          <a:prstGeom prst="rect">
            <a:avLst/>
          </a:prstGeom>
        </p:spPr>
      </p:pic>
      <p:pic>
        <p:nvPicPr>
          <p:cNvPr id="12" name="图片 11"/>
          <p:cNvPicPr>
            <a:picLocks noChangeAspect="1"/>
          </p:cNvPicPr>
          <p:nvPr/>
        </p:nvPicPr>
        <p:blipFill>
          <a:blip r:embed="rId5"/>
          <a:stretch>
            <a:fillRect/>
          </a:stretch>
        </p:blipFill>
        <p:spPr>
          <a:xfrm>
            <a:off x="8170140" y="4536209"/>
            <a:ext cx="3943350" cy="1133475"/>
          </a:xfrm>
          <a:prstGeom prst="rect">
            <a:avLst/>
          </a:prstGeom>
        </p:spPr>
      </p:pic>
    </p:spTree>
    <p:extLst>
      <p:ext uri="{BB962C8B-B14F-4D97-AF65-F5344CB8AC3E}">
        <p14:creationId xmlns:p14="http://schemas.microsoft.com/office/powerpoint/2010/main" val="3791485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a:t>
            </a:r>
            <a:r>
              <a:rPr lang="zh-CN" altLang="zh-CN" b="1" dirty="0"/>
              <a:t>改错题</a:t>
            </a:r>
            <a:endParaRPr lang="zh-CN" altLang="en-US" dirty="0"/>
          </a:p>
        </p:txBody>
      </p:sp>
      <p:sp>
        <p:nvSpPr>
          <p:cNvPr id="3" name="内容占位符 2"/>
          <p:cNvSpPr>
            <a:spLocks noGrp="1"/>
          </p:cNvSpPr>
          <p:nvPr>
            <p:ph idx="1"/>
          </p:nvPr>
        </p:nvSpPr>
        <p:spPr/>
        <p:txBody>
          <a:bodyPr/>
          <a:lstStyle/>
          <a:p>
            <a:pPr>
              <a:lnSpc>
                <a:spcPct val="130000"/>
              </a:lnSpc>
            </a:pPr>
            <a:r>
              <a:rPr lang="en-US" altLang="zh-CN" b="1" dirty="0" smtClean="0"/>
              <a:t>1. </a:t>
            </a:r>
            <a:r>
              <a:rPr lang="zh-CN" altLang="zh-CN" b="1" dirty="0" smtClean="0"/>
              <a:t>输入</a:t>
            </a:r>
            <a:r>
              <a:rPr lang="en-US" altLang="zh-CN" b="1" dirty="0"/>
              <a:t>k</a:t>
            </a:r>
            <a:r>
              <a:rPr lang="zh-CN" altLang="zh-CN" b="1" dirty="0"/>
              <a:t>个身份证号</a:t>
            </a:r>
            <a:r>
              <a:rPr lang="en-US" altLang="zh-CN" b="1" dirty="0"/>
              <a:t>(</a:t>
            </a:r>
            <a:r>
              <a:rPr lang="zh-CN" altLang="zh-CN" b="1" dirty="0"/>
              <a:t>提示：每个身份证号长度</a:t>
            </a:r>
            <a:r>
              <a:rPr lang="en-US" altLang="zh-CN" b="1" dirty="0"/>
              <a:t>18</a:t>
            </a:r>
            <a:r>
              <a:rPr lang="zh-CN" altLang="zh-CN" b="1" dirty="0"/>
              <a:t>位，其中第</a:t>
            </a:r>
            <a:r>
              <a:rPr lang="en-US" altLang="zh-CN" b="1" dirty="0"/>
              <a:t>7</a:t>
            </a:r>
            <a:r>
              <a:rPr lang="zh-CN" altLang="zh-CN" b="1" dirty="0"/>
              <a:t>位到第</a:t>
            </a:r>
            <a:r>
              <a:rPr lang="en-US" altLang="zh-CN" b="1" dirty="0"/>
              <a:t>14</a:t>
            </a:r>
            <a:r>
              <a:rPr lang="zh-CN" altLang="zh-CN" b="1" dirty="0"/>
              <a:t>位为每个人的出生年月日</a:t>
            </a:r>
            <a:r>
              <a:rPr lang="en-US" altLang="zh-CN" b="1" dirty="0"/>
              <a:t>)</a:t>
            </a:r>
            <a:r>
              <a:rPr lang="zh-CN" altLang="zh-CN" b="1" dirty="0"/>
              <a:t>，将身份证中的出生年月日信息取出，并保存在二维数组</a:t>
            </a:r>
            <a:r>
              <a:rPr lang="en-US" altLang="zh-CN" b="1" dirty="0"/>
              <a:t>birthdates</a:t>
            </a:r>
            <a:r>
              <a:rPr lang="zh-CN" altLang="zh-CN" b="1" dirty="0"/>
              <a:t>中，然后根据出生年月日的大小升序排列（例如：</a:t>
            </a:r>
            <a:r>
              <a:rPr lang="en-US" altLang="zh-CN" b="1" dirty="0"/>
              <a:t>19901212</a:t>
            </a:r>
            <a:r>
              <a:rPr lang="zh-CN" altLang="zh-CN" b="1" dirty="0"/>
              <a:t>排在</a:t>
            </a:r>
            <a:r>
              <a:rPr lang="en-US" altLang="zh-CN" b="1" dirty="0"/>
              <a:t>19911212</a:t>
            </a:r>
            <a:r>
              <a:rPr lang="zh-CN" altLang="zh-CN" b="1" dirty="0"/>
              <a:t>前面），并将排序后的出生年月日信息按顺序输出。假设身份证个数</a:t>
            </a:r>
            <a:r>
              <a:rPr lang="en-US" altLang="zh-CN" b="1" dirty="0"/>
              <a:t>k</a:t>
            </a:r>
            <a:r>
              <a:rPr lang="zh-CN" altLang="zh-CN" b="1" dirty="0"/>
              <a:t>从键盘输入，且</a:t>
            </a:r>
            <a:r>
              <a:rPr lang="en-US" altLang="zh-CN" b="1" dirty="0"/>
              <a:t>k</a:t>
            </a:r>
            <a:r>
              <a:rPr lang="zh-CN" altLang="zh-CN" b="1" dirty="0"/>
              <a:t>不超过</a:t>
            </a:r>
            <a:r>
              <a:rPr lang="en-US" altLang="zh-CN" b="1" dirty="0"/>
              <a:t>50</a:t>
            </a:r>
            <a:r>
              <a:rPr lang="zh-CN" altLang="zh-CN" b="1" dirty="0"/>
              <a:t>。提示：本程序前</a:t>
            </a:r>
            <a:r>
              <a:rPr lang="en-US" altLang="zh-CN" b="1" dirty="0"/>
              <a:t>10</a:t>
            </a:r>
            <a:r>
              <a:rPr lang="zh-CN" altLang="zh-CN" b="1" dirty="0"/>
              <a:t>行包含了</a:t>
            </a:r>
            <a:r>
              <a:rPr lang="en-US" altLang="zh-CN" b="1" dirty="0"/>
              <a:t>4</a:t>
            </a:r>
            <a:r>
              <a:rPr lang="zh-CN" altLang="zh-CN" b="1" dirty="0"/>
              <a:t>个错误，其余行包含了若干错误，请指出错的行并改正。</a:t>
            </a:r>
            <a:endParaRPr lang="zh-CN" altLang="zh-CN" dirty="0"/>
          </a:p>
          <a:p>
            <a:endParaRPr lang="zh-CN" altLang="en-US" dirty="0"/>
          </a:p>
        </p:txBody>
      </p:sp>
    </p:spTree>
    <p:extLst>
      <p:ext uri="{BB962C8B-B14F-4D97-AF65-F5344CB8AC3E}">
        <p14:creationId xmlns:p14="http://schemas.microsoft.com/office/powerpoint/2010/main" val="2601272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a:t>
            </a:r>
            <a:r>
              <a:rPr lang="zh-CN" altLang="zh-CN" b="1" dirty="0" smtClean="0"/>
              <a:t>改错题</a:t>
            </a:r>
            <a:endParaRPr lang="zh-CN" altLang="en-US" dirty="0"/>
          </a:p>
        </p:txBody>
      </p:sp>
      <p:pic>
        <p:nvPicPr>
          <p:cNvPr id="4" name="图片 3"/>
          <p:cNvPicPr>
            <a:picLocks noChangeAspect="1"/>
          </p:cNvPicPr>
          <p:nvPr/>
        </p:nvPicPr>
        <p:blipFill rotWithShape="1">
          <a:blip r:embed="rId3"/>
          <a:srcRect r="6568" b="2701"/>
          <a:stretch/>
        </p:blipFill>
        <p:spPr>
          <a:xfrm>
            <a:off x="4320310" y="671080"/>
            <a:ext cx="7502236" cy="3670011"/>
          </a:xfrm>
          <a:prstGeom prst="rect">
            <a:avLst/>
          </a:prstGeom>
        </p:spPr>
      </p:pic>
      <p:pic>
        <p:nvPicPr>
          <p:cNvPr id="5" name="图片 4"/>
          <p:cNvPicPr>
            <a:picLocks noChangeAspect="1"/>
          </p:cNvPicPr>
          <p:nvPr/>
        </p:nvPicPr>
        <p:blipFill rotWithShape="1">
          <a:blip r:embed="rId4"/>
          <a:srcRect t="19015"/>
          <a:stretch/>
        </p:blipFill>
        <p:spPr>
          <a:xfrm>
            <a:off x="4680239" y="4368800"/>
            <a:ext cx="7486650" cy="1164791"/>
          </a:xfrm>
          <a:prstGeom prst="rect">
            <a:avLst/>
          </a:prstGeom>
        </p:spPr>
      </p:pic>
    </p:spTree>
    <p:extLst>
      <p:ext uri="{BB962C8B-B14F-4D97-AF65-F5344CB8AC3E}">
        <p14:creationId xmlns:p14="http://schemas.microsoft.com/office/powerpoint/2010/main" val="266572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a:t>
            </a:r>
            <a:r>
              <a:rPr lang="zh-CN" altLang="zh-CN" b="1" dirty="0"/>
              <a:t>改错题</a:t>
            </a:r>
            <a:endParaRPr lang="zh-CN" altLang="en-US" dirty="0"/>
          </a:p>
        </p:txBody>
      </p:sp>
      <p:pic>
        <p:nvPicPr>
          <p:cNvPr id="5" name="图片 4"/>
          <p:cNvPicPr>
            <a:picLocks noChangeAspect="1"/>
          </p:cNvPicPr>
          <p:nvPr/>
        </p:nvPicPr>
        <p:blipFill>
          <a:blip r:embed="rId2"/>
          <a:stretch>
            <a:fillRect/>
          </a:stretch>
        </p:blipFill>
        <p:spPr>
          <a:xfrm>
            <a:off x="4137025" y="465282"/>
            <a:ext cx="7981950" cy="6019800"/>
          </a:xfrm>
          <a:prstGeom prst="rect">
            <a:avLst/>
          </a:prstGeom>
        </p:spPr>
      </p:pic>
    </p:spTree>
    <p:extLst>
      <p:ext uri="{BB962C8B-B14F-4D97-AF65-F5344CB8AC3E}">
        <p14:creationId xmlns:p14="http://schemas.microsoft.com/office/powerpoint/2010/main" val="368105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三、编程题</a:t>
            </a:r>
            <a:endParaRPr lang="zh-CN" altLang="en-US" dirty="0"/>
          </a:p>
        </p:txBody>
      </p:sp>
      <p:sp>
        <p:nvSpPr>
          <p:cNvPr id="3" name="内容占位符 2"/>
          <p:cNvSpPr>
            <a:spLocks noGrp="1"/>
          </p:cNvSpPr>
          <p:nvPr>
            <p:ph idx="1"/>
          </p:nvPr>
        </p:nvSpPr>
        <p:spPr/>
        <p:txBody>
          <a:bodyPr/>
          <a:lstStyle/>
          <a:p>
            <a:r>
              <a:rPr lang="en-US" altLang="zh-CN" b="1" dirty="0"/>
              <a:t>1.</a:t>
            </a:r>
            <a:r>
              <a:rPr lang="zh-CN" altLang="zh-CN" b="1" dirty="0"/>
              <a:t>（</a:t>
            </a:r>
            <a:r>
              <a:rPr lang="en-US" altLang="zh-CN" b="1" dirty="0"/>
              <a:t>13</a:t>
            </a:r>
            <a:r>
              <a:rPr lang="zh-CN" altLang="zh-CN" b="1" dirty="0"/>
              <a:t>分）从键盘输入行数</a:t>
            </a:r>
            <a:r>
              <a:rPr lang="en-US" altLang="zh-CN" b="1" dirty="0"/>
              <a:t>n</a:t>
            </a:r>
            <a:r>
              <a:rPr lang="zh-CN" altLang="zh-CN" b="1" dirty="0"/>
              <a:t>（</a:t>
            </a:r>
            <a:r>
              <a:rPr lang="en-US" altLang="zh-CN" b="1" dirty="0"/>
              <a:t>2&lt;=n&lt;=26</a:t>
            </a:r>
            <a:r>
              <a:rPr lang="zh-CN" altLang="zh-CN" b="1" dirty="0"/>
              <a:t>），并输出如下图对应的菱形字母塔。请编程实现字母塔输出：当</a:t>
            </a:r>
            <a:r>
              <a:rPr lang="en-US" altLang="zh-CN" b="1" dirty="0"/>
              <a:t>n</a:t>
            </a:r>
            <a:r>
              <a:rPr lang="zh-CN" altLang="zh-CN" b="1" dirty="0"/>
              <a:t>输入不满足题目要求时，则输出：“</a:t>
            </a:r>
            <a:r>
              <a:rPr lang="en-US" altLang="zh-CN" b="1" dirty="0"/>
              <a:t>Error</a:t>
            </a:r>
            <a:r>
              <a:rPr lang="zh-CN" altLang="zh-CN" b="1" dirty="0"/>
              <a:t>！”；当输入</a:t>
            </a:r>
            <a:r>
              <a:rPr lang="en-US" altLang="zh-CN" b="1" dirty="0"/>
              <a:t>n=5</a:t>
            </a:r>
            <a:r>
              <a:rPr lang="zh-CN" altLang="zh-CN" b="1" dirty="0"/>
              <a:t>时，屏幕输出：</a:t>
            </a:r>
            <a:endParaRPr lang="zh-CN" altLang="zh-CN" dirty="0"/>
          </a:p>
          <a:p>
            <a:r>
              <a:rPr lang="en-US" altLang="zh-CN" dirty="0" smtClean="0"/>
              <a:t>                    </a:t>
            </a:r>
          </a:p>
          <a:p>
            <a:endParaRPr lang="en-US" altLang="zh-CN" dirty="0"/>
          </a:p>
          <a:p>
            <a:endParaRPr lang="en-US" altLang="zh-CN" dirty="0" smtClean="0"/>
          </a:p>
          <a:p>
            <a:endParaRPr lang="en-US" altLang="zh-CN" dirty="0"/>
          </a:p>
          <a:p>
            <a:endParaRPr lang="en-US" altLang="zh-CN" dirty="0" smtClean="0"/>
          </a:p>
          <a:p>
            <a:r>
              <a:rPr lang="en-US" altLang="zh-CN" dirty="0"/>
              <a:t> </a:t>
            </a:r>
            <a:r>
              <a:rPr lang="en-US" altLang="zh-CN" dirty="0" smtClean="0"/>
              <a:t>                    </a:t>
            </a:r>
            <a:r>
              <a:rPr lang="zh-CN" altLang="zh-CN" dirty="0" smtClean="0"/>
              <a:t>（</a:t>
            </a:r>
            <a:r>
              <a:rPr lang="zh-CN" altLang="zh-CN" dirty="0"/>
              <a:t>提示：字母之间没有空格！）</a:t>
            </a:r>
            <a:endParaRPr lang="zh-CN" altLang="en-US" dirty="0"/>
          </a:p>
        </p:txBody>
      </p:sp>
      <p:pic>
        <p:nvPicPr>
          <p:cNvPr id="102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404" y="3131343"/>
            <a:ext cx="2278657" cy="3045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760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三、编程题</a:t>
            </a:r>
            <a:endParaRPr lang="zh-CN" altLang="en-US" dirty="0"/>
          </a:p>
        </p:txBody>
      </p:sp>
      <p:sp>
        <p:nvSpPr>
          <p:cNvPr id="3" name="内容占位符 2"/>
          <p:cNvSpPr>
            <a:spLocks noGrp="1"/>
          </p:cNvSpPr>
          <p:nvPr>
            <p:ph idx="1"/>
          </p:nvPr>
        </p:nvSpPr>
        <p:spPr>
          <a:xfrm>
            <a:off x="838200" y="1825625"/>
            <a:ext cx="10515600" cy="1831975"/>
          </a:xfrm>
        </p:spPr>
        <p:txBody>
          <a:bodyPr/>
          <a:lstStyle/>
          <a:p>
            <a:pPr>
              <a:lnSpc>
                <a:spcPct val="100000"/>
              </a:lnSpc>
            </a:pPr>
            <a:r>
              <a:rPr lang="en-US" altLang="zh-CN" b="1" dirty="0"/>
              <a:t>2.</a:t>
            </a:r>
            <a:r>
              <a:rPr lang="zh-CN" altLang="zh-CN" b="1" dirty="0"/>
              <a:t>（</a:t>
            </a:r>
            <a:r>
              <a:rPr lang="en-US" altLang="zh-CN" b="1" dirty="0"/>
              <a:t>13</a:t>
            </a:r>
            <a:r>
              <a:rPr lang="zh-CN" altLang="zh-CN" b="1" dirty="0"/>
              <a:t>分）从键盘输入一组正整数，它的第</a:t>
            </a:r>
            <a:r>
              <a:rPr lang="en-US" altLang="zh-CN" b="1" dirty="0"/>
              <a:t> </a:t>
            </a:r>
            <a:r>
              <a:rPr lang="en-US" altLang="zh-CN" b="1" dirty="0" err="1"/>
              <a:t>i</a:t>
            </a:r>
            <a:r>
              <a:rPr lang="en-US" altLang="zh-CN" b="1" dirty="0"/>
              <a:t> </a:t>
            </a:r>
            <a:r>
              <a:rPr lang="zh-CN" altLang="zh-CN" b="1" dirty="0"/>
              <a:t>个数表示特定股票第</a:t>
            </a:r>
            <a:r>
              <a:rPr lang="en-US" altLang="zh-CN" b="1" dirty="0"/>
              <a:t> </a:t>
            </a:r>
            <a:r>
              <a:rPr lang="en-US" altLang="zh-CN" b="1" dirty="0" err="1"/>
              <a:t>i</a:t>
            </a:r>
            <a:r>
              <a:rPr lang="en-US" altLang="zh-CN" b="1" dirty="0"/>
              <a:t> </a:t>
            </a:r>
            <a:r>
              <a:rPr lang="zh-CN" altLang="zh-CN" b="1" dirty="0"/>
              <a:t>天的价格。不限制买卖次数</a:t>
            </a:r>
            <a:r>
              <a:rPr lang="en-US" altLang="zh-CN" b="1" dirty="0"/>
              <a:t>,</a:t>
            </a:r>
            <a:r>
              <a:rPr lang="zh-CN" altLang="zh-CN" b="1" dirty="0"/>
              <a:t>但卖出后第二天才能再买进，请编写程序计算可获得的最大利润，如果无论如何买卖均无法盈利，则输出</a:t>
            </a:r>
            <a:r>
              <a:rPr lang="en-US" altLang="zh-CN" b="1" dirty="0"/>
              <a:t>0</a:t>
            </a:r>
            <a:r>
              <a:rPr lang="zh-CN" altLang="zh-CN" b="1" dirty="0"/>
              <a:t>。输入输出的格式如下所示：</a:t>
            </a:r>
            <a:r>
              <a:rPr lang="en-US" altLang="zh-CN" b="1" dirty="0"/>
              <a:t>                    </a:t>
            </a:r>
          </a:p>
          <a:p>
            <a:endParaRPr lang="en-US" altLang="zh-CN" dirty="0"/>
          </a:p>
          <a:p>
            <a:endParaRPr lang="en-US" altLang="zh-CN" dirty="0" smtClean="0"/>
          </a:p>
          <a:p>
            <a:endParaRPr lang="en-US" altLang="zh-CN" dirty="0"/>
          </a:p>
          <a:p>
            <a:endParaRPr lang="en-US" altLang="zh-CN" dirty="0" smtClean="0"/>
          </a:p>
          <a:p>
            <a:pPr marL="0" indent="0">
              <a:buNone/>
            </a:pPr>
            <a:endParaRPr lang="zh-CN" altLang="en-US" dirty="0"/>
          </a:p>
        </p:txBody>
      </p:sp>
      <p:sp>
        <p:nvSpPr>
          <p:cNvPr id="4" name="Text Box 2"/>
          <p:cNvSpPr txBox="1">
            <a:spLocks noChangeArrowheads="1"/>
          </p:cNvSpPr>
          <p:nvPr/>
        </p:nvSpPr>
        <p:spPr bwMode="auto">
          <a:xfrm>
            <a:off x="6096000" y="3735960"/>
            <a:ext cx="5172364" cy="284797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lang="zh-CN" altLang="en-US" b="1" dirty="0">
                <a:latin typeface="宋体" panose="02010600030101010101" pitchFamily="2" charset="-122"/>
                <a:ea typeface="宋体" panose="02010600030101010101" pitchFamily="2" charset="-122"/>
              </a:rPr>
              <a:t>输入：</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404040"/>
                </a:solidFill>
                <a:effectLst/>
                <a:latin typeface="Consolas" panose="020B0609020204030204" pitchFamily="49" charset="0"/>
                <a:ea typeface="等线" panose="02010600030101010101" pitchFamily="2" charset="-122"/>
              </a:rPr>
              <a:t>11</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rgbClr val="404040"/>
                </a:solidFill>
                <a:effectLst/>
                <a:latin typeface="Consolas" panose="020B0609020204030204" pitchFamily="49" charset="0"/>
                <a:ea typeface="等线" panose="02010600030101010101" pitchFamily="2" charset="-122"/>
              </a:rPr>
              <a:t>1 2 3 8 4 9 7 3 7 9 7</a:t>
            </a:r>
            <a:endParaRPr kumimoji="0" lang="en-US" altLang="zh-CN" sz="3200" b="0" i="0" u="none" strike="noStrike" cap="none" normalizeH="0" baseline="0" dirty="0" smtClean="0">
              <a:ln>
                <a:noFill/>
              </a:ln>
              <a:solidFill>
                <a:schemeClr val="tx1"/>
              </a:solidFill>
              <a:effectLst/>
              <a:latin typeface="Times New Roman" panose="02020603050405020304" pitchFamily="18" charset="0"/>
              <a:ea typeface="等线"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tabLst/>
            </a:pPr>
            <a:r>
              <a:rPr lang="zh-CN" altLang="en-US" b="1" dirty="0" smtClean="0">
                <a:latin typeface="宋体" panose="02010600030101010101" pitchFamily="2" charset="-122"/>
                <a:ea typeface="宋体" panose="02010600030101010101" pitchFamily="2" charset="-122"/>
              </a:rPr>
              <a:t>输出：</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rgbClr val="404040"/>
                </a:solidFill>
                <a:effectLst/>
                <a:latin typeface="Consolas" panose="020B0609020204030204" pitchFamily="49" charset="0"/>
                <a:ea typeface="等线" panose="02010600030101010101" pitchFamily="2" charset="-122"/>
              </a:rPr>
              <a:t>17</a:t>
            </a:r>
            <a:endParaRPr kumimoji="0" lang="en-US" altLang="zh-CN" sz="2800" b="0" i="0" u="none" strike="noStrike" cap="none" normalizeH="0" baseline="0" dirty="0" smtClean="0">
              <a:ln>
                <a:noFill/>
              </a:ln>
              <a:solidFill>
                <a:schemeClr val="tx1"/>
              </a:solidFill>
              <a:effectLst/>
              <a:latin typeface="Times New Roman" panose="02020603050405020304" pitchFamily="18" charset="0"/>
              <a:ea typeface="等线" panose="02010600030101010101" pitchFamily="2" charset="-122"/>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说明：</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1</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买入，</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8</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卖出，</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4</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买入，</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9</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卖出，</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3</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买入，</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9</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卖出，利润为：（</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8</a:t>
            </a:r>
            <a:r>
              <a:rPr kumimoji="0" lang="en-US" altLang="zh-CN" b="0" i="0" u="none" strike="noStrike" cap="none" normalizeH="0" baseline="0" dirty="0" smtClean="0">
                <a:ln>
                  <a:noFill/>
                </a:ln>
                <a:solidFill>
                  <a:schemeClr val="tx1"/>
                </a:solidFill>
                <a:effectLst/>
                <a:latin typeface="Times New Roman" panose="02020603050405020304" pitchFamily="18" charset="0"/>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1</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9</a:t>
            </a:r>
            <a:r>
              <a:rPr kumimoji="0" lang="en-US" altLang="zh-CN" b="0" i="0" u="none" strike="noStrike" cap="none" normalizeH="0" baseline="0" dirty="0" smtClean="0">
                <a:ln>
                  <a:noFill/>
                </a:ln>
                <a:solidFill>
                  <a:schemeClr val="tx1"/>
                </a:solidFill>
                <a:effectLst/>
                <a:latin typeface="Times New Roman" panose="02020603050405020304" pitchFamily="18" charset="0"/>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4</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9</a:t>
            </a:r>
            <a:r>
              <a:rPr kumimoji="0" lang="en-US" altLang="zh-CN" b="0" i="0" u="none" strike="noStrike" cap="none" normalizeH="0" baseline="0" dirty="0" smtClean="0">
                <a:ln>
                  <a:noFill/>
                </a:ln>
                <a:solidFill>
                  <a:schemeClr val="tx1"/>
                </a:solidFill>
                <a:effectLst/>
                <a:latin typeface="Times New Roman" panose="02020603050405020304" pitchFamily="18" charset="0"/>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3</a:t>
            </a:r>
            <a:r>
              <a:rPr kumimoji="0" lang="zh-CN" altLang="en-US"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a:t>
            </a:r>
            <a:r>
              <a:rPr kumimoji="0" lang="en-US" altLang="zh-CN" b="0" i="0" u="none" strike="noStrike" cap="none" normalizeH="0" baseline="0" dirty="0" smtClean="0">
                <a:ln>
                  <a:noFill/>
                </a:ln>
                <a:solidFill>
                  <a:schemeClr val="tx1"/>
                </a:solidFill>
                <a:effectLst/>
                <a:latin typeface="等线" panose="02010600030101010101" pitchFamily="2" charset="-122"/>
                <a:ea typeface="等线" panose="02010600030101010101" pitchFamily="2" charset="-122"/>
              </a:rPr>
              <a:t>=18</a:t>
            </a:r>
            <a:endParaRPr kumimoji="0" lang="zh-CN" altLang="zh-CN" sz="4000" b="0" i="0" u="none" strike="noStrike" cap="none" normalizeH="0" baseline="0" dirty="0" smtClean="0">
              <a:ln>
                <a:noFill/>
              </a:ln>
              <a:solidFill>
                <a:schemeClr val="tx1"/>
              </a:solidFill>
              <a:effectLst/>
              <a:latin typeface="Arial" panose="020B0604020202020204" pitchFamily="34" charset="0"/>
            </a:endParaRPr>
          </a:p>
        </p:txBody>
      </p:sp>
      <p:sp>
        <p:nvSpPr>
          <p:cNvPr id="5" name="Text Box 3"/>
          <p:cNvSpPr txBox="1">
            <a:spLocks noChangeArrowheads="1"/>
          </p:cNvSpPr>
          <p:nvPr/>
        </p:nvSpPr>
        <p:spPr bwMode="auto">
          <a:xfrm>
            <a:off x="1151660" y="3737550"/>
            <a:ext cx="4833504" cy="28463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ts val="950"/>
              </a:spcBef>
              <a:spcAft>
                <a:spcPts val="950"/>
              </a:spcAft>
              <a:buClrTx/>
              <a:buSzTx/>
              <a:buFontTx/>
              <a:buNone/>
              <a:tabLst/>
            </a:pPr>
            <a:r>
              <a:rPr kumimoji="0" lang="zh-CN" altLang="en-US"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输入格式</a:t>
            </a:r>
            <a:r>
              <a:rPr kumimoji="0" lang="en-US" altLang="zh-CN"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ts val="950"/>
              </a:spcBef>
              <a:spcAft>
                <a:spcPts val="950"/>
              </a:spcAft>
              <a:buClrTx/>
              <a:buSzTx/>
              <a:buFontTx/>
              <a:buNone/>
              <a:tabLst/>
            </a:pP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第一行一个整数，表示可进行交易的天数</a:t>
            </a:r>
            <a:r>
              <a:rPr kumimoji="0" lang="en-US" altLang="zh-CN"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N</a:t>
            </a: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 </a:t>
            </a:r>
            <a:endPar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ts val="950"/>
              </a:spcBef>
              <a:spcAft>
                <a:spcPts val="950"/>
              </a:spcAft>
              <a:buClrTx/>
              <a:buSzTx/>
              <a:buFontTx/>
              <a:buNone/>
              <a:tabLst/>
            </a:pP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第二行，</a:t>
            </a:r>
            <a:r>
              <a:rPr kumimoji="0" lang="en-US" altLang="zh-CN"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N</a:t>
            </a: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个正整数（中间以空格分隔）。</a:t>
            </a:r>
            <a:endParaRPr kumimoji="0" lang="zh-CN" altLang="en-US"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0" fontAlgn="base" latinLnBrk="0" hangingPunct="0">
              <a:lnSpc>
                <a:spcPct val="100000"/>
              </a:lnSpc>
              <a:spcBef>
                <a:spcPts val="950"/>
              </a:spcBef>
              <a:spcAft>
                <a:spcPts val="950"/>
              </a:spcAft>
              <a:buClrTx/>
              <a:buSzTx/>
              <a:buFontTx/>
              <a:buNone/>
              <a:tabLst/>
            </a:pPr>
            <a:r>
              <a:rPr kumimoji="0" lang="zh-CN" altLang="en-US" b="1" i="0" u="none" strike="noStrike" cap="none" normalizeH="0" baseline="0" dirty="0" smtClean="0">
                <a:ln>
                  <a:noFill/>
                </a:ln>
                <a:solidFill>
                  <a:schemeClr val="tx1"/>
                </a:solidFill>
                <a:effectLst/>
                <a:latin typeface="宋体" panose="02010600030101010101" pitchFamily="2" charset="-122"/>
                <a:ea typeface="等线" panose="02010600030101010101" pitchFamily="2" charset="-122"/>
              </a:rPr>
              <a:t>输出格式</a:t>
            </a:r>
            <a:r>
              <a:rPr kumimoji="0" lang="en-US" altLang="zh-CN" b="1" i="0" u="none" strike="noStrike" cap="none" normalizeH="0" baseline="0" dirty="0" smtClean="0">
                <a:ln>
                  <a:noFill/>
                </a:ln>
                <a:solidFill>
                  <a:schemeClr val="tx1"/>
                </a:solidFill>
                <a:effectLst/>
                <a:latin typeface="宋体" panose="02010600030101010101" pitchFamily="2" charset="-122"/>
                <a:ea typeface="等线" panose="02010600030101010101" pitchFamily="2" charset="-122"/>
              </a:rPr>
              <a:t>:</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zh-CN" altLang="en-US" b="0" i="0" u="none" strike="noStrike" cap="none" normalizeH="0" baseline="0" dirty="0" smtClean="0">
                <a:ln>
                  <a:noFill/>
                </a:ln>
                <a:solidFill>
                  <a:schemeClr val="tx1"/>
                </a:solidFill>
                <a:effectLst/>
                <a:latin typeface="宋体" panose="02010600030101010101" pitchFamily="2" charset="-122"/>
                <a:ea typeface="等线" panose="02010600030101010101" pitchFamily="2" charset="-122"/>
              </a:rPr>
              <a:t>任不限次数交易可能的最大利润。</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4222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smtClean="0"/>
              <a:t>三、编程题</a:t>
            </a:r>
            <a:endParaRPr lang="zh-CN" altLang="en-US" dirty="0"/>
          </a:p>
        </p:txBody>
      </p:sp>
      <p:sp>
        <p:nvSpPr>
          <p:cNvPr id="3" name="内容占位符 2"/>
          <p:cNvSpPr>
            <a:spLocks noGrp="1"/>
          </p:cNvSpPr>
          <p:nvPr>
            <p:ph idx="1"/>
          </p:nvPr>
        </p:nvSpPr>
        <p:spPr/>
        <p:txBody>
          <a:bodyPr>
            <a:normAutofit/>
          </a:bodyPr>
          <a:lstStyle/>
          <a:p>
            <a:r>
              <a:rPr lang="en-US" altLang="zh-CN" b="1" dirty="0"/>
              <a:t>3.</a:t>
            </a:r>
            <a:r>
              <a:rPr lang="zh-CN" altLang="zh-CN" b="1" dirty="0"/>
              <a:t>（</a:t>
            </a:r>
            <a:r>
              <a:rPr lang="en-US" altLang="zh-CN" b="1" dirty="0"/>
              <a:t>14</a:t>
            </a:r>
            <a:r>
              <a:rPr lang="zh-CN" altLang="zh-CN" b="1" dirty="0"/>
              <a:t>分）传说有一个神秘的风洞，风洞中的魔镜可以把任何咒语变成原来的两倍，不过增加的那部分咒语是反过来的。例如，对于原始咒语“</a:t>
            </a:r>
            <a:r>
              <a:rPr lang="en-US" altLang="zh-CN" b="1" dirty="0"/>
              <a:t>XY</a:t>
            </a:r>
            <a:r>
              <a:rPr lang="zh-CN" altLang="zh-CN" b="1" dirty="0"/>
              <a:t>”，一旦碰到魔镜就会被变为“</a:t>
            </a:r>
            <a:r>
              <a:rPr lang="en-US" altLang="zh-CN" b="1" dirty="0"/>
              <a:t>XYYX</a:t>
            </a:r>
            <a:r>
              <a:rPr lang="zh-CN" altLang="zh-CN" b="1" dirty="0"/>
              <a:t>”；若咒语再次碰到魔镜，就会继续变成一个新的咒语“</a:t>
            </a:r>
            <a:r>
              <a:rPr lang="en-US" altLang="zh-CN" b="1" dirty="0"/>
              <a:t>XYYXXYYX</a:t>
            </a:r>
            <a:r>
              <a:rPr lang="zh-CN" altLang="zh-CN" b="1" dirty="0"/>
              <a:t>”。要求：从键盘输入一串最终听到的咒语（长度</a:t>
            </a:r>
            <a:r>
              <a:rPr lang="en-US" altLang="zh-CN" b="1" dirty="0"/>
              <a:t>&lt;=255</a:t>
            </a:r>
            <a:r>
              <a:rPr lang="zh-CN" altLang="zh-CN" b="1" dirty="0"/>
              <a:t>），请编程求出该咒语在风洞中可能碰到魔镜的最大次数和对应的原始咒语，并将它们输出。</a:t>
            </a:r>
            <a:endParaRPr lang="zh-CN" altLang="en-US" b="1" dirty="0"/>
          </a:p>
        </p:txBody>
      </p:sp>
      <p:sp>
        <p:nvSpPr>
          <p:cNvPr id="4" name="Rectangle 2"/>
          <p:cNvSpPr>
            <a:spLocks noChangeArrowheads="1"/>
          </p:cNvSpPr>
          <p:nvPr/>
        </p:nvSpPr>
        <p:spPr bwMode="auto">
          <a:xfrm>
            <a:off x="1227281" y="4729402"/>
            <a:ext cx="4193310" cy="153663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3600"/>
          </a:p>
        </p:txBody>
      </p:sp>
      <p:sp>
        <p:nvSpPr>
          <p:cNvPr id="5" name="Rectangle 1"/>
          <p:cNvSpPr>
            <a:spLocks noChangeArrowheads="1"/>
          </p:cNvSpPr>
          <p:nvPr/>
        </p:nvSpPr>
        <p:spPr bwMode="auto">
          <a:xfrm>
            <a:off x="5830641" y="4701617"/>
            <a:ext cx="5225285" cy="156441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3600"/>
          </a:p>
        </p:txBody>
      </p:sp>
      <p:sp>
        <p:nvSpPr>
          <p:cNvPr id="6" name="Rectangle 3"/>
          <p:cNvSpPr>
            <a:spLocks noChangeArrowheads="1"/>
          </p:cNvSpPr>
          <p:nvPr/>
        </p:nvSpPr>
        <p:spPr bwMode="auto">
          <a:xfrm>
            <a:off x="1071418" y="4729401"/>
            <a:ext cx="419331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52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例如：</a:t>
            </a:r>
            <a:endParaRPr kumimoji="0" lang="zh-CN" altLang="zh-CN" sz="1200" b="0" i="0" u="none" strike="noStrike" cap="none" normalizeH="0" baseline="0" dirty="0" smtClean="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zh-CN" sz="36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1227281" y="5329566"/>
            <a:ext cx="419331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52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5240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en-US"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XYYXXYYX</a:t>
            </a:r>
            <a:endParaRPr kumimoji="0" lang="en-US" altLang="zh-CN" sz="1200" b="0" i="0" u="none" strike="noStrike" cap="none" normalizeH="0" baseline="0" dirty="0" smtClean="0">
              <a:ln>
                <a:noFill/>
              </a:ln>
              <a:solidFill>
                <a:schemeClr val="tx1"/>
              </a:solidFill>
              <a:effectLst/>
            </a:endParaRPr>
          </a:p>
          <a:p>
            <a:pPr marL="0" marR="0" lvl="0" indent="1524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 XY</a:t>
            </a:r>
            <a:endParaRPr kumimoji="0" lang="en-US" altLang="zh-CN" sz="1200" b="0" i="0" u="none" strike="noStrike" cap="none" normalizeH="0" baseline="0" dirty="0" smtClean="0">
              <a:ln>
                <a:noFill/>
              </a:ln>
              <a:solidFill>
                <a:schemeClr val="tx1"/>
              </a:solidFill>
              <a:effectLst/>
            </a:endParaRPr>
          </a:p>
        </p:txBody>
      </p:sp>
      <p:sp>
        <p:nvSpPr>
          <p:cNvPr id="8" name="Rectangle 5"/>
          <p:cNvSpPr>
            <a:spLocks noChangeArrowheads="1"/>
          </p:cNvSpPr>
          <p:nvPr/>
        </p:nvSpPr>
        <p:spPr bwMode="auto">
          <a:xfrm>
            <a:off x="5809672" y="4696375"/>
            <a:ext cx="524625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52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如果</a:t>
            </a:r>
            <a:r>
              <a:rPr kumimoji="0" lang="zh-CN"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该咒语未碰到魔镜，输出为</a:t>
            </a: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r>
              <a:rPr kumimoji="0"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，例如：</a:t>
            </a:r>
            <a:endParaRPr kumimoji="0" lang="zh-CN" altLang="en-US" sz="1200" b="0" i="0" u="none" strike="noStrike" cap="none" normalizeH="0" baseline="0" dirty="0" smtClean="0">
              <a:ln>
                <a:noFill/>
              </a:ln>
              <a:solidFill>
                <a:schemeClr val="tx1"/>
              </a:solidFill>
              <a:effectLst/>
            </a:endParaRPr>
          </a:p>
          <a:p>
            <a:pPr marL="0" marR="0" lvl="0" indent="1524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输入：</a:t>
            </a: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XYYY</a:t>
            </a:r>
            <a:endParaRPr kumimoji="0" lang="en-US" altLang="zh-CN" sz="1200" b="0" i="0" u="none" strike="noStrike" cap="none" normalizeH="0" baseline="0" dirty="0" smtClean="0">
              <a:ln>
                <a:noFill/>
              </a:ln>
              <a:solidFill>
                <a:schemeClr val="tx1"/>
              </a:solidFill>
              <a:effectLst/>
            </a:endParaRPr>
          </a:p>
          <a:p>
            <a:pPr marL="0" marR="0" lvl="0" indent="15240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r>
              <a:rPr kumimoji="0"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XYYY</a:t>
            </a:r>
            <a:endParaRPr kumimoji="0" lang="en-US" altLang="zh-CN"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27425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571</Words>
  <Application>Microsoft Office PowerPoint</Application>
  <PresentationFormat>宽屏</PresentationFormat>
  <Paragraphs>43</Paragraphs>
  <Slides>10</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等线</vt:lpstr>
      <vt:lpstr>等线 Light</vt:lpstr>
      <vt:lpstr>宋体</vt:lpstr>
      <vt:lpstr>Arial</vt:lpstr>
      <vt:lpstr>Consolas</vt:lpstr>
      <vt:lpstr>Times New Roman</vt:lpstr>
      <vt:lpstr>Office 主题​​</vt:lpstr>
      <vt:lpstr>期中考试讲评</vt:lpstr>
      <vt:lpstr>一、写出下列程序段的运行结果</vt:lpstr>
      <vt:lpstr>一、写出下列程序段的运行结果</vt:lpstr>
      <vt:lpstr>一、写出下列程序段的运行结果</vt:lpstr>
      <vt:lpstr>二、改错题</vt:lpstr>
      <vt:lpstr>二、改错题</vt:lpstr>
      <vt:lpstr>二、改错题</vt:lpstr>
      <vt:lpstr>三、编程题</vt:lpstr>
      <vt:lpstr>三、编程题</vt:lpstr>
      <vt:lpstr>三、编程题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期中考试讲评</dc:title>
  <dc:creator>linxm@xmu.edu.cn</dc:creator>
  <cp:lastModifiedBy>linxm@xmu.edu.cn</cp:lastModifiedBy>
  <cp:revision>3</cp:revision>
  <dcterms:created xsi:type="dcterms:W3CDTF">2021-11-07T22:48:37Z</dcterms:created>
  <dcterms:modified xsi:type="dcterms:W3CDTF">2021-11-07T23:05:51Z</dcterms:modified>
</cp:coreProperties>
</file>