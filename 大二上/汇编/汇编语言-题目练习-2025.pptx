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2" r:id="rId3"/>
    <p:sldId id="257" r:id="rId4"/>
    <p:sldId id="258" r:id="rId5"/>
    <p:sldId id="260" r:id="rId6"/>
    <p:sldId id="263" r:id="rId7"/>
    <p:sldId id="265" r:id="rId8"/>
    <p:sldId id="266" r:id="rId9"/>
    <p:sldId id="267" r:id="rId10"/>
    <p:sldId id="268" r:id="rId11"/>
    <p:sldId id="270" r:id="rId12"/>
    <p:sldId id="271" r:id="rId13"/>
    <p:sldId id="272" r:id="rId14"/>
    <p:sldId id="273" r:id="rId1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442"/>
    <p:restoredTop sz="95673" autoAdjust="0"/>
  </p:normalViewPr>
  <p:slideViewPr>
    <p:cSldViewPr>
      <p:cViewPr varScale="1">
        <p:scale>
          <a:sx n="131" d="100"/>
          <a:sy n="131" d="100"/>
        </p:scale>
        <p:origin x="12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100ED8-7523-44B6-826C-09742728A27E}" type="datetimeFigureOut">
              <a:rPr lang="zh-CN" altLang="en-US" smtClean="0"/>
              <a:pPr/>
              <a:t>2025/12/25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D7BB97-BF33-419D-BB54-D9F16CDB868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5</a:t>
            </a:r>
            <a:r>
              <a:rPr lang="zh-CN" altLang="en-US" dirty="0"/>
              <a:t>分钟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D7BB97-BF33-419D-BB54-D9F16CDB8680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5</a:t>
            </a:r>
            <a:r>
              <a:rPr lang="zh-CN" altLang="en-US" dirty="0"/>
              <a:t>分钟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D7BB97-BF33-419D-BB54-D9F16CDB8680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10</a:t>
            </a:r>
            <a:r>
              <a:rPr lang="zh-CN" altLang="en-US" dirty="0"/>
              <a:t>分钟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D7BB97-BF33-419D-BB54-D9F16CDB8680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10</a:t>
            </a:r>
            <a:r>
              <a:rPr lang="zh-CN" altLang="en-US" dirty="0"/>
              <a:t>分钟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D7BB97-BF33-419D-BB54-D9F16CDB8680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2025/12/25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2025/12/25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2025/12/25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2025/12/25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2025/12/25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2025/12/25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2025/12/25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85786" y="1357298"/>
            <a:ext cx="7772400" cy="1470025"/>
          </a:xfrm>
        </p:spPr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汇编语言</a:t>
            </a:r>
            <a:r>
              <a:rPr lang="en-US" altLang="zh-CN" dirty="0"/>
              <a:t>》</a:t>
            </a:r>
            <a:r>
              <a:rPr lang="zh-CN" altLang="en-US" dirty="0"/>
              <a:t>随堂练习题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57290" y="2786058"/>
            <a:ext cx="6400800" cy="2928958"/>
          </a:xfrm>
        </p:spPr>
        <p:txBody>
          <a:bodyPr>
            <a:normAutofit/>
          </a:bodyPr>
          <a:lstStyle/>
          <a:p>
            <a:endParaRPr lang="en-US" altLang="zh-CN" dirty="0"/>
          </a:p>
          <a:p>
            <a:r>
              <a:rPr lang="zh-CN" altLang="en-US" dirty="0"/>
              <a:t>姓名 </a:t>
            </a:r>
            <a:r>
              <a:rPr lang="en-US" altLang="zh-CN" dirty="0"/>
              <a:t>+ </a:t>
            </a:r>
            <a:r>
              <a:rPr lang="zh-CN" altLang="en-US" dirty="0"/>
              <a:t>学号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课题测试</a:t>
            </a:r>
            <a:endParaRPr lang="en-US" altLang="zh-CN" dirty="0"/>
          </a:p>
          <a:p>
            <a:r>
              <a:rPr lang="en-US" altLang="zh-CN" dirty="0"/>
              <a:t>2025-11-5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当运算结果为</a:t>
            </a:r>
            <a:r>
              <a:rPr lang="en-US" altLang="zh-CN" dirty="0"/>
              <a:t>10011001</a:t>
            </a:r>
            <a:r>
              <a:rPr lang="zh-CN" altLang="en-US" dirty="0"/>
              <a:t>，</a:t>
            </a:r>
            <a:r>
              <a:rPr lang="en-US" altLang="zh-CN" dirty="0"/>
              <a:t>SF= __</a:t>
            </a:r>
            <a:r>
              <a:rPr lang="zh-CN" altLang="en-US" dirty="0"/>
              <a:t>，</a:t>
            </a:r>
            <a:r>
              <a:rPr lang="en-US" altLang="zh-CN" dirty="0"/>
              <a:t>ZF=__</a:t>
            </a:r>
            <a:r>
              <a:rPr lang="zh-CN" altLang="en-US" dirty="0"/>
              <a:t>，</a:t>
            </a:r>
            <a:r>
              <a:rPr lang="en-US" altLang="zh-CN" dirty="0"/>
              <a:t>PF=____</a:t>
            </a:r>
            <a:r>
              <a:rPr lang="zh-CN" altLang="en-US" dirty="0"/>
              <a:t>。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dirty="0"/>
              <a:t>47</a:t>
            </a:r>
            <a:r>
              <a:rPr lang="zh-CN" altLang="en-US" dirty="0"/>
              <a:t>的十六进制数是</a:t>
            </a:r>
            <a:r>
              <a:rPr lang="en-US" altLang="zh-CN" dirty="0"/>
              <a:t>___</a:t>
            </a:r>
            <a:r>
              <a:rPr lang="zh-CN" altLang="en-US" dirty="0"/>
              <a:t>，二进制数是</a:t>
            </a:r>
            <a:r>
              <a:rPr lang="en-US" altLang="zh-CN" dirty="0"/>
              <a:t>___</a:t>
            </a:r>
            <a:r>
              <a:rPr lang="zh-CN" altLang="en-US" dirty="0"/>
              <a:t>。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dirty="0"/>
              <a:t>AL = 45H</a:t>
            </a:r>
            <a:r>
              <a:rPr lang="zh-CN" altLang="en-US" dirty="0"/>
              <a:t>，执行“</a:t>
            </a:r>
            <a:r>
              <a:rPr lang="en-US" altLang="zh-CN" dirty="0"/>
              <a:t>AND   AL</a:t>
            </a:r>
            <a:r>
              <a:rPr lang="zh-CN" altLang="en-US" dirty="0"/>
              <a:t>，</a:t>
            </a:r>
            <a:r>
              <a:rPr lang="en-US" altLang="zh-CN" dirty="0"/>
              <a:t>0B8H</a:t>
            </a:r>
            <a:r>
              <a:rPr lang="zh-CN" altLang="en-US" dirty="0"/>
              <a:t>”后，</a:t>
            </a:r>
            <a:r>
              <a:rPr lang="en-US" altLang="zh-CN" dirty="0"/>
              <a:t>AL=____</a:t>
            </a:r>
            <a:r>
              <a:rPr lang="zh-CN" altLang="en-US" dirty="0"/>
              <a:t>，</a:t>
            </a:r>
            <a:r>
              <a:rPr lang="en-US" altLang="zh-CN" dirty="0"/>
              <a:t>CF=_____</a:t>
            </a:r>
            <a:r>
              <a:rPr lang="zh-CN" altLang="en-US" dirty="0"/>
              <a:t>。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642910" y="357166"/>
            <a:ext cx="7429552" cy="785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填空题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500042"/>
            <a:ext cx="8229600" cy="5857916"/>
          </a:xfrm>
        </p:spPr>
        <p:txBody>
          <a:bodyPr>
            <a:normAutofit fontScale="70000" lnSpcReduction="20000"/>
          </a:bodyPr>
          <a:lstStyle/>
          <a:p>
            <a:pPr marL="514350" indent="-514350">
              <a:lnSpc>
                <a:spcPct val="170000"/>
              </a:lnSpc>
              <a:buFont typeface="+mj-lt"/>
              <a:buAutoNum type="arabicPeriod" startAt="4"/>
            </a:pPr>
            <a:r>
              <a:rPr lang="zh-CN" altLang="en-US" dirty="0"/>
              <a:t>存储器中存放的数据如下图所示，请写出</a:t>
            </a:r>
            <a:r>
              <a:rPr lang="en-US" altLang="zh-CN" dirty="0"/>
              <a:t>05421H</a:t>
            </a:r>
            <a:r>
              <a:rPr lang="zh-CN" altLang="en-US" dirty="0"/>
              <a:t>和</a:t>
            </a:r>
            <a:r>
              <a:rPr lang="en-US" altLang="zh-CN" dirty="0"/>
              <a:t>05422H</a:t>
            </a:r>
            <a:r>
              <a:rPr lang="zh-CN" altLang="en-US" dirty="0"/>
              <a:t>字单元的内容。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514350" indent="-514350">
              <a:buFont typeface="+mj-lt"/>
              <a:buAutoNum type="arabicPeriod" startAt="5"/>
            </a:pPr>
            <a:r>
              <a:rPr lang="zh-CN" altLang="en-US" dirty="0"/>
              <a:t>若</a:t>
            </a:r>
            <a:r>
              <a:rPr lang="en-US" altLang="zh-CN" dirty="0"/>
              <a:t>AL=8AH, BL=4BH.</a:t>
            </a:r>
          </a:p>
          <a:p>
            <a:pPr lvl="1">
              <a:buNone/>
            </a:pPr>
            <a:r>
              <a:rPr lang="en-US" altLang="zh-CN" dirty="0"/>
              <a:t>		ADD   AL, BL</a:t>
            </a:r>
          </a:p>
          <a:p>
            <a:pPr lvl="1">
              <a:buNone/>
            </a:pPr>
            <a:r>
              <a:rPr lang="en-US" altLang="zh-CN" dirty="0"/>
              <a:t>		JC       NEXT</a:t>
            </a:r>
          </a:p>
          <a:p>
            <a:pPr lvl="2">
              <a:buNone/>
            </a:pPr>
            <a:r>
              <a:rPr lang="en-US" altLang="zh-CN" sz="2800" dirty="0"/>
              <a:t>OR     AL, 47H</a:t>
            </a:r>
          </a:p>
          <a:p>
            <a:pPr>
              <a:buNone/>
            </a:pPr>
            <a:r>
              <a:rPr lang="en-US" altLang="zh-CN" sz="2800" dirty="0"/>
              <a:t>     		HLT</a:t>
            </a:r>
          </a:p>
          <a:p>
            <a:pPr>
              <a:buNone/>
            </a:pPr>
            <a:r>
              <a:rPr lang="en-US" altLang="zh-CN" sz="2800" dirty="0"/>
              <a:t>NEXT:	ADC   AL, 0</a:t>
            </a:r>
          </a:p>
          <a:p>
            <a:pPr lvl="1">
              <a:buNone/>
            </a:pPr>
            <a:r>
              <a:rPr lang="en-US" altLang="zh-CN" dirty="0"/>
              <a:t>		HLT</a:t>
            </a:r>
          </a:p>
          <a:p>
            <a:pPr>
              <a:buNone/>
            </a:pPr>
            <a:r>
              <a:rPr lang="zh-CN" altLang="en-US" dirty="0"/>
              <a:t>程序执行后： </a:t>
            </a:r>
            <a:r>
              <a:rPr lang="en-US" altLang="zh-CN" dirty="0"/>
              <a:t>AL =  ________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29058" y="1000108"/>
            <a:ext cx="2652680" cy="2500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564" y="357166"/>
            <a:ext cx="8715436" cy="1571636"/>
          </a:xfrm>
        </p:spPr>
        <p:txBody>
          <a:bodyPr>
            <a:noAutofit/>
          </a:bodyPr>
          <a:lstStyle/>
          <a:p>
            <a:pPr algn="l"/>
            <a:r>
              <a:rPr lang="en-US" altLang="zh-CN" sz="3200" dirty="0"/>
              <a:t>6. </a:t>
            </a:r>
            <a:r>
              <a:rPr lang="zh-CN" altLang="en-US" sz="3200" dirty="0"/>
              <a:t>从</a:t>
            </a:r>
            <a:r>
              <a:rPr lang="en-US" sz="3200" dirty="0"/>
              <a:t>2000H</a:t>
            </a:r>
            <a:r>
              <a:rPr lang="zh-CN" altLang="en-US" sz="3200" dirty="0"/>
              <a:t>单元开始，存放着</a:t>
            </a:r>
            <a:r>
              <a:rPr lang="en-US" sz="3200" dirty="0"/>
              <a:t>14H</a:t>
            </a:r>
            <a:r>
              <a:rPr lang="zh-CN" altLang="en-US" sz="3200" dirty="0"/>
              <a:t>个数据，找出最大一个，并将其存在</a:t>
            </a:r>
            <a:r>
              <a:rPr lang="en-US" sz="3200" dirty="0"/>
              <a:t>2000H</a:t>
            </a:r>
            <a:r>
              <a:rPr lang="zh-CN" altLang="en-US" sz="3200" dirty="0"/>
              <a:t>中。请在方框中各填一条指令。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357430"/>
            <a:ext cx="8229600" cy="4357718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dirty="0"/>
              <a:t>GATMAX</a:t>
            </a:r>
            <a:r>
              <a:rPr lang="zh-CN" altLang="en-US" dirty="0"/>
              <a:t>：</a:t>
            </a:r>
            <a:r>
              <a:rPr lang="en-US" altLang="zh-CN" dirty="0"/>
              <a:t>	</a:t>
            </a:r>
            <a:r>
              <a:rPr lang="en-US" dirty="0"/>
              <a:t>MOV  BX</a:t>
            </a:r>
            <a:r>
              <a:rPr lang="zh-CN" altLang="en-US" dirty="0"/>
              <a:t>，</a:t>
            </a:r>
            <a:r>
              <a:rPr lang="en-US" dirty="0"/>
              <a:t>2000H</a:t>
            </a:r>
            <a:endParaRPr lang="zh-CN" altLang="en-US" dirty="0"/>
          </a:p>
          <a:p>
            <a:pPr>
              <a:buNone/>
            </a:pPr>
            <a:r>
              <a:rPr lang="en-US" dirty="0"/>
              <a:t>			MOV  AL</a:t>
            </a:r>
            <a:r>
              <a:rPr lang="zh-CN" altLang="en-US" dirty="0"/>
              <a:t>，</a:t>
            </a:r>
            <a:r>
              <a:rPr lang="en-US" dirty="0"/>
              <a:t>[BX]</a:t>
            </a:r>
            <a:endParaRPr lang="zh-CN" altLang="en-US" dirty="0"/>
          </a:p>
          <a:p>
            <a:pPr>
              <a:buNone/>
            </a:pPr>
            <a:r>
              <a:rPr lang="en-US" dirty="0"/>
              <a:t>			MOV  CX</a:t>
            </a:r>
            <a:r>
              <a:rPr lang="zh-CN" altLang="en-US" dirty="0"/>
              <a:t>，</a:t>
            </a:r>
            <a:r>
              <a:rPr lang="en-US" dirty="0"/>
              <a:t>14H</a:t>
            </a:r>
            <a:endParaRPr lang="zh-CN" altLang="en-US" dirty="0"/>
          </a:p>
          <a:p>
            <a:pPr>
              <a:buNone/>
            </a:pPr>
            <a:r>
              <a:rPr lang="en-US" dirty="0"/>
              <a:t>	      P1</a:t>
            </a:r>
            <a:r>
              <a:rPr lang="zh-CN" altLang="en-US" dirty="0"/>
              <a:t>： </a:t>
            </a:r>
            <a:r>
              <a:rPr lang="en-US" altLang="zh-CN" dirty="0"/>
              <a:t>	</a:t>
            </a:r>
            <a:r>
              <a:rPr lang="en-US" altLang="zh-CN" u="sng" dirty="0"/>
              <a:t>___</a:t>
            </a:r>
            <a:r>
              <a:rPr lang="zh-CN" altLang="en-US" u="sng" dirty="0"/>
              <a:t> ① </a:t>
            </a:r>
            <a:r>
              <a:rPr lang="en-US" altLang="zh-CN" u="sng" dirty="0"/>
              <a:t>______</a:t>
            </a:r>
            <a:r>
              <a:rPr lang="zh-CN" altLang="en-US" u="sng" dirty="0"/>
              <a:t> </a:t>
            </a:r>
          </a:p>
          <a:p>
            <a:pPr>
              <a:buNone/>
            </a:pPr>
            <a:r>
              <a:rPr lang="en-US" dirty="0"/>
              <a:t>			CMP  AL</a:t>
            </a:r>
            <a:r>
              <a:rPr lang="zh-CN" altLang="en-US" dirty="0"/>
              <a:t>，</a:t>
            </a:r>
            <a:r>
              <a:rPr lang="en-US" dirty="0"/>
              <a:t>[BX]</a:t>
            </a:r>
            <a:endParaRPr lang="zh-CN" altLang="en-US" dirty="0"/>
          </a:p>
          <a:p>
            <a:pPr>
              <a:buNone/>
            </a:pPr>
            <a:r>
              <a:rPr lang="en-US" dirty="0"/>
              <a:t>			JAE  P2 </a:t>
            </a:r>
            <a:endParaRPr lang="zh-CN" altLang="en-US" dirty="0"/>
          </a:p>
          <a:p>
            <a:pPr>
              <a:buNone/>
            </a:pPr>
            <a:r>
              <a:rPr lang="en-US" dirty="0"/>
              <a:t>			MOV  AL</a:t>
            </a:r>
            <a:r>
              <a:rPr lang="zh-CN" altLang="en-US" dirty="0"/>
              <a:t>，</a:t>
            </a:r>
            <a:r>
              <a:rPr lang="en-US" dirty="0"/>
              <a:t>[BX]</a:t>
            </a:r>
          </a:p>
          <a:p>
            <a:pPr>
              <a:buNone/>
            </a:pPr>
            <a:r>
              <a:rPr lang="en-US" dirty="0"/>
              <a:t>	      P2</a:t>
            </a:r>
            <a:r>
              <a:rPr lang="zh-CN" altLang="en-US" dirty="0"/>
              <a:t>： </a:t>
            </a:r>
            <a:r>
              <a:rPr lang="en-US" altLang="zh-CN" dirty="0"/>
              <a:t>	</a:t>
            </a:r>
            <a:r>
              <a:rPr lang="en-US" altLang="zh-CN" u="sng" dirty="0"/>
              <a:t>___</a:t>
            </a:r>
            <a:r>
              <a:rPr lang="zh-CN" altLang="en-US" u="sng" dirty="0"/>
              <a:t> </a:t>
            </a:r>
            <a:r>
              <a:rPr lang="zh-CN" altLang="en-US" dirty="0"/>
              <a:t>②</a:t>
            </a:r>
            <a:r>
              <a:rPr lang="zh-CN" altLang="en-US" u="sng" dirty="0"/>
              <a:t> </a:t>
            </a:r>
            <a:r>
              <a:rPr lang="en-US" altLang="zh-CN" u="sng" dirty="0"/>
              <a:t>_______</a:t>
            </a:r>
            <a:endParaRPr lang="zh-CN" altLang="en-US" dirty="0"/>
          </a:p>
          <a:p>
            <a:pPr>
              <a:buNone/>
            </a:pPr>
            <a:r>
              <a:rPr lang="en-US" dirty="0"/>
              <a:t>			JNZ  P1</a:t>
            </a:r>
            <a:endParaRPr lang="zh-CN" altLang="en-US" dirty="0"/>
          </a:p>
          <a:p>
            <a:pPr>
              <a:buNone/>
            </a:pPr>
            <a:r>
              <a:rPr lang="en-US" dirty="0"/>
              <a:t>			MOV  BX</a:t>
            </a:r>
            <a:r>
              <a:rPr lang="zh-CN" altLang="en-US" dirty="0"/>
              <a:t>，</a:t>
            </a:r>
            <a:r>
              <a:rPr lang="en-US" dirty="0"/>
              <a:t>2000H</a:t>
            </a:r>
            <a:endParaRPr lang="zh-CN" altLang="en-US" dirty="0"/>
          </a:p>
          <a:p>
            <a:pPr>
              <a:buNone/>
            </a:pPr>
            <a:r>
              <a:rPr lang="en-US" dirty="0"/>
              <a:t>			MOV  [BX]</a:t>
            </a:r>
            <a:r>
              <a:rPr lang="zh-CN" altLang="en-US" dirty="0"/>
              <a:t>，</a:t>
            </a:r>
            <a:r>
              <a:rPr lang="en-US" dirty="0"/>
              <a:t>AL</a:t>
            </a:r>
            <a:endParaRPr lang="zh-CN" altLang="en-US" dirty="0"/>
          </a:p>
          <a:p>
            <a:pPr>
              <a:buNone/>
            </a:pPr>
            <a:r>
              <a:rPr lang="en-US" dirty="0"/>
              <a:t>			HLT</a:t>
            </a:r>
            <a:endParaRPr lang="zh-CN" altLang="en-US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285720" y="2071678"/>
            <a:ext cx="835824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564" y="357166"/>
            <a:ext cx="8715436" cy="2786082"/>
          </a:xfrm>
        </p:spPr>
        <p:txBody>
          <a:bodyPr>
            <a:noAutofit/>
          </a:bodyPr>
          <a:lstStyle/>
          <a:p>
            <a:pPr algn="l"/>
            <a:r>
              <a:rPr lang="en-US" altLang="zh-CN" sz="2400" dirty="0"/>
              <a:t>7. </a:t>
            </a:r>
            <a:r>
              <a:rPr lang="zh-CN" altLang="en-US" sz="2400" dirty="0"/>
              <a:t>设已定义数据段如下：</a:t>
            </a:r>
            <a:br>
              <a:rPr lang="en-US" altLang="zh-CN" sz="2400" dirty="0"/>
            </a:br>
            <a:r>
              <a:rPr lang="en-US" altLang="zh-CN" sz="2400" dirty="0"/>
              <a:t>	DATA SEGEMENT </a:t>
            </a:r>
            <a:br>
              <a:rPr lang="en-US" altLang="zh-CN" sz="2400" dirty="0"/>
            </a:br>
            <a:r>
              <a:rPr lang="en-US" altLang="zh-CN" sz="2400" dirty="0"/>
              <a:t>	DAX   DB   XXH</a:t>
            </a:r>
            <a:br>
              <a:rPr lang="en-US" altLang="zh-CN" sz="2400" dirty="0"/>
            </a:br>
            <a:r>
              <a:rPr lang="en-US" altLang="zh-CN" sz="2400" dirty="0"/>
              <a:t>	DAY    DB  ?</a:t>
            </a:r>
            <a:br>
              <a:rPr lang="en-US" altLang="zh-CN" sz="2400" dirty="0"/>
            </a:br>
            <a:r>
              <a:rPr lang="en-US" altLang="zh-CN" sz="2400" dirty="0"/>
              <a:t>	DATA ENDS</a:t>
            </a:r>
            <a:br>
              <a:rPr lang="en-US" altLang="zh-CN" sz="2400" dirty="0"/>
            </a:br>
            <a:r>
              <a:rPr lang="zh-CN" altLang="en-US" sz="2400" dirty="0"/>
              <a:t>下列程序段完成功能：判断变量</a:t>
            </a:r>
            <a:r>
              <a:rPr lang="en-US" altLang="zh-CN" sz="2400" dirty="0"/>
              <a:t>DAX</a:t>
            </a:r>
            <a:r>
              <a:rPr lang="zh-CN" altLang="en-US" sz="2400" dirty="0"/>
              <a:t>的值是否大于等于</a:t>
            </a:r>
            <a:r>
              <a:rPr lang="en-US" altLang="zh-CN" sz="2400" dirty="0"/>
              <a:t>0</a:t>
            </a:r>
            <a:r>
              <a:rPr lang="zh-CN" altLang="en-US" sz="2400" dirty="0"/>
              <a:t>。若大于等于</a:t>
            </a:r>
            <a:r>
              <a:rPr lang="en-US" altLang="zh-CN" sz="2400" dirty="0"/>
              <a:t>0</a:t>
            </a:r>
            <a:r>
              <a:rPr lang="zh-CN" altLang="en-US" sz="2400" dirty="0"/>
              <a:t>，则将</a:t>
            </a:r>
            <a:r>
              <a:rPr lang="en-US" altLang="zh-CN" sz="2400" dirty="0"/>
              <a:t>DAY</a:t>
            </a:r>
            <a:r>
              <a:rPr lang="zh-CN" altLang="en-US" sz="2400" dirty="0"/>
              <a:t>单元置为</a:t>
            </a:r>
            <a:r>
              <a:rPr lang="en-US" altLang="zh-CN" sz="2400" dirty="0"/>
              <a:t>0FFH</a:t>
            </a:r>
            <a:r>
              <a:rPr lang="zh-CN" altLang="en-US" sz="2400" dirty="0"/>
              <a:t>；否则将</a:t>
            </a:r>
            <a:r>
              <a:rPr lang="en-US" altLang="zh-CN" sz="2400" dirty="0"/>
              <a:t>DAY</a:t>
            </a:r>
            <a:r>
              <a:rPr lang="zh-CN" altLang="en-US" sz="2400" dirty="0"/>
              <a:t>单元的值置为</a:t>
            </a:r>
            <a:r>
              <a:rPr lang="en-US" altLang="zh-CN" sz="2400" dirty="0"/>
              <a:t>00H</a:t>
            </a:r>
            <a:r>
              <a:rPr lang="zh-CN" altLang="en-US" sz="2400" dirty="0"/>
              <a:t>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034" y="3571876"/>
            <a:ext cx="8229600" cy="2714644"/>
          </a:xfrm>
        </p:spPr>
        <p:txBody>
          <a:bodyPr>
            <a:normAutofit fontScale="77500" lnSpcReduction="20000"/>
          </a:bodyPr>
          <a:lstStyle/>
          <a:p>
            <a:pPr marL="342900" lvl="2" indent="-342900">
              <a:buNone/>
            </a:pPr>
            <a:r>
              <a:rPr lang="en-US" dirty="0"/>
              <a:t>		</a:t>
            </a:r>
            <a:r>
              <a:rPr lang="en-US" sz="3300" dirty="0"/>
              <a:t>MOV  </a:t>
            </a:r>
            <a:r>
              <a:rPr lang="en-US" altLang="zh-CN" sz="3300" dirty="0"/>
              <a:t>AL,   DAX</a:t>
            </a:r>
            <a:endParaRPr lang="zh-CN" altLang="en-US" sz="3300" dirty="0"/>
          </a:p>
          <a:p>
            <a:pPr>
              <a:buNone/>
            </a:pPr>
            <a:r>
              <a:rPr lang="en-US" dirty="0"/>
              <a:t>		CMP   AL</a:t>
            </a:r>
            <a:r>
              <a:rPr lang="zh-CN" altLang="en-US" dirty="0"/>
              <a:t>，</a:t>
            </a:r>
            <a:r>
              <a:rPr lang="en-US" altLang="zh-CN" dirty="0"/>
              <a:t>0</a:t>
            </a:r>
            <a:endParaRPr lang="zh-CN" altLang="en-US" dirty="0"/>
          </a:p>
          <a:p>
            <a:pPr>
              <a:buNone/>
            </a:pPr>
            <a:r>
              <a:rPr lang="en-US" dirty="0"/>
              <a:t>		 </a:t>
            </a:r>
            <a:r>
              <a:rPr lang="en-US" altLang="zh-CN" u="sng" dirty="0"/>
              <a:t>___</a:t>
            </a:r>
            <a:r>
              <a:rPr lang="zh-CN" altLang="en-US" u="sng" dirty="0"/>
              <a:t> ① </a:t>
            </a:r>
            <a:r>
              <a:rPr lang="en-US" altLang="zh-CN" u="sng" dirty="0"/>
              <a:t>_______</a:t>
            </a:r>
            <a:endParaRPr lang="zh-CN" altLang="en-US" u="sng" dirty="0"/>
          </a:p>
          <a:p>
            <a:pPr>
              <a:buNone/>
            </a:pPr>
            <a:r>
              <a:rPr lang="en-US" dirty="0"/>
              <a:t>		MOV  AL</a:t>
            </a:r>
            <a:r>
              <a:rPr lang="zh-CN" altLang="en-US" dirty="0"/>
              <a:t>，</a:t>
            </a:r>
            <a:r>
              <a:rPr lang="en-US" dirty="0"/>
              <a:t>0</a:t>
            </a:r>
            <a:endParaRPr lang="zh-CN" altLang="en-US" dirty="0"/>
          </a:p>
          <a:p>
            <a:pPr>
              <a:buNone/>
            </a:pPr>
            <a:r>
              <a:rPr lang="en-US" dirty="0"/>
              <a:t>		</a:t>
            </a:r>
            <a:r>
              <a:rPr lang="en-US" altLang="zh-CN" u="sng" dirty="0"/>
              <a:t> ___</a:t>
            </a:r>
            <a:r>
              <a:rPr lang="zh-CN" altLang="en-US" u="sng" dirty="0"/>
              <a:t> </a:t>
            </a:r>
            <a:r>
              <a:rPr lang="zh-CN" altLang="en-US" dirty="0"/>
              <a:t>②</a:t>
            </a:r>
            <a:r>
              <a:rPr lang="zh-CN" altLang="en-US" u="sng" dirty="0"/>
              <a:t> </a:t>
            </a:r>
            <a:r>
              <a:rPr lang="en-US" altLang="zh-CN" u="sng" dirty="0"/>
              <a:t>_______ </a:t>
            </a:r>
          </a:p>
          <a:p>
            <a:pPr>
              <a:buNone/>
            </a:pPr>
            <a:r>
              <a:rPr lang="en-US" dirty="0"/>
              <a:t>GRE: 	MOV  AL</a:t>
            </a:r>
            <a:r>
              <a:rPr lang="zh-CN" altLang="en-US" dirty="0"/>
              <a:t>，</a:t>
            </a:r>
            <a:r>
              <a:rPr lang="en-US" dirty="0"/>
              <a:t>0FFH</a:t>
            </a:r>
          </a:p>
          <a:p>
            <a:pPr>
              <a:buNone/>
            </a:pPr>
            <a:r>
              <a:rPr lang="en-US" dirty="0"/>
              <a:t>LEE: 	MOV  DAY,  AL</a:t>
            </a:r>
            <a:r>
              <a:rPr lang="en-US" altLang="zh-CN" dirty="0"/>
              <a:t>	</a:t>
            </a:r>
            <a:r>
              <a:rPr lang="en-US" dirty="0"/>
              <a:t>	</a:t>
            </a:r>
            <a:endParaRPr lang="zh-CN" altLang="en-US" dirty="0"/>
          </a:p>
        </p:txBody>
      </p:sp>
      <p:cxnSp>
        <p:nvCxnSpPr>
          <p:cNvPr id="4" name="直接连接符 3"/>
          <p:cNvCxnSpPr/>
          <p:nvPr/>
        </p:nvCxnSpPr>
        <p:spPr>
          <a:xfrm>
            <a:off x="357158" y="3286124"/>
            <a:ext cx="835824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BF8F18-B3C6-7046-B40F-F465D1484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88840"/>
            <a:ext cx="8229600" cy="1143000"/>
          </a:xfrm>
        </p:spPr>
        <p:txBody>
          <a:bodyPr/>
          <a:lstStyle/>
          <a:p>
            <a:r>
              <a:rPr kumimoji="1" lang="zh-CN" altLang="en-US" dirty="0"/>
              <a:t>考试模拟题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2CA080E-6568-7DF5-2763-5A8710798F3A}"/>
              </a:ext>
            </a:extLst>
          </p:cNvPr>
          <p:cNvSpPr txBox="1">
            <a:spLocks/>
          </p:cNvSpPr>
          <p:nvPr/>
        </p:nvSpPr>
        <p:spPr>
          <a:xfrm>
            <a:off x="1357290" y="3501008"/>
            <a:ext cx="6400800" cy="720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dirty="0"/>
              <a:t>2025-11-29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7381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3110B39-0BAF-3442-8201-7857805E7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0030"/>
            <a:ext cx="9144000" cy="619794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04D3561-EE1E-BD4A-9F82-469191FDD071}"/>
              </a:ext>
            </a:extLst>
          </p:cNvPr>
          <p:cNvSpPr txBox="1"/>
          <p:nvPr/>
        </p:nvSpPr>
        <p:spPr>
          <a:xfrm>
            <a:off x="899592" y="501317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C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400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E1E72F0-0C1E-5D49-8E4A-3D1E75871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2656"/>
            <a:ext cx="9144000" cy="4315381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FC6C06D-34C8-AF4E-AAC0-12E5E87B0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6" y="4731910"/>
            <a:ext cx="7416378" cy="1793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353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A73FF5A-DAEE-FD4E-B968-4EE7EEB7D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9642"/>
            <a:ext cx="9144000" cy="6238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180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CCB6D06-E41F-E944-BF96-280D76E6C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2696"/>
            <a:ext cx="9144000" cy="526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33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400A86FA-7C88-5A46-AA5F-CA1F17C7E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0749"/>
            <a:ext cx="9144000" cy="4716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0748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3F49C4A-6959-4D46-91B7-30E643FE4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1717"/>
            <a:ext cx="9144000" cy="3574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524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092BD57-7D89-2E42-956F-671FA1C1D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7294"/>
            <a:ext cx="9144000" cy="438341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0DC7DCF-D984-86DE-72BC-9EB1F2B78B54}"/>
              </a:ext>
            </a:extLst>
          </p:cNvPr>
          <p:cNvSpPr txBox="1"/>
          <p:nvPr/>
        </p:nvSpPr>
        <p:spPr>
          <a:xfrm>
            <a:off x="3780692" y="13188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6547A73-381D-29D1-8BBE-7170B924AE20}"/>
              </a:ext>
            </a:extLst>
          </p:cNvPr>
          <p:cNvSpPr txBox="1"/>
          <p:nvPr/>
        </p:nvSpPr>
        <p:spPr>
          <a:xfrm>
            <a:off x="107504" y="5282151"/>
            <a:ext cx="829073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cs typeface="Times New Roman" panose="02020603050405020304" pitchFamily="18" charset="0"/>
              </a:rPr>
              <a:t>NEXT</a:t>
            </a:r>
            <a:r>
              <a:rPr kumimoji="1" lang="zh-CN" altLang="en-US" sz="1600" dirty="0">
                <a:cs typeface="Times New Roman" panose="02020603050405020304" pitchFamily="18" charset="0"/>
              </a:rPr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1356282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85ABD1B-0A87-474B-A616-ADD1ACE9CB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47" y="1498898"/>
            <a:ext cx="8420100" cy="12319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6953D38-A3D6-7545-999B-6E1C4C2D13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47" y="3267075"/>
            <a:ext cx="5080000" cy="4699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E6D60A6-D06C-E545-805D-6BA9628481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47" y="4273252"/>
            <a:ext cx="7188200" cy="1854200"/>
          </a:xfrm>
          <a:prstGeom prst="rect">
            <a:avLst/>
          </a:prstGeom>
        </p:spPr>
      </p:pic>
      <p:sp>
        <p:nvSpPr>
          <p:cNvPr id="10" name="标题 1">
            <a:extLst>
              <a:ext uri="{FF2B5EF4-FFF2-40B4-BE49-F238E27FC236}">
                <a16:creationId xmlns:a16="http://schemas.microsoft.com/office/drawing/2014/main" id="{9FEC65D4-CD48-CA4F-BE9F-2227F1651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25" y="178073"/>
            <a:ext cx="8229600" cy="1143000"/>
          </a:xfrm>
        </p:spPr>
        <p:txBody>
          <a:bodyPr/>
          <a:lstStyle/>
          <a:p>
            <a:r>
              <a:rPr kumimoji="1" lang="zh-CN" altLang="en-US" dirty="0"/>
              <a:t>参考答案</a:t>
            </a:r>
          </a:p>
        </p:txBody>
      </p:sp>
    </p:spTree>
    <p:extLst>
      <p:ext uri="{BB962C8B-B14F-4D97-AF65-F5344CB8AC3E}">
        <p14:creationId xmlns:p14="http://schemas.microsoft.com/office/powerpoint/2010/main" val="3072578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385</Words>
  <Application>Microsoft Macintosh PowerPoint</Application>
  <PresentationFormat>全屏显示(4:3)</PresentationFormat>
  <Paragraphs>61</Paragraphs>
  <Slides>14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主题</vt:lpstr>
      <vt:lpstr>《汇编语言》随堂练习题</vt:lpstr>
      <vt:lpstr>PowerPoint 演示文稿</vt:lpstr>
      <vt:lpstr>PowerPoint 演示文稿</vt:lpstr>
      <vt:lpstr>6. 从2000H单元开始，存放着14H个数据，找出最大一个，并将其存在2000H中。请在方框中各填一条指令。</vt:lpstr>
      <vt:lpstr>7. 设已定义数据段如下：  DATA SEGEMENT   DAX   DB   XXH  DAY    DB  ?  DATA ENDS 下列程序段完成功能：判断变量DAX的值是否大于等于0。若大于等于0，则将DAY单元置为0FFH；否则将DAY单元的值置为00H。</vt:lpstr>
      <vt:lpstr>考试模拟题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参考答案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《汇编语言》</dc:title>
  <dc:creator>BoMao</dc:creator>
  <cp:lastModifiedBy>Bo Mao</cp:lastModifiedBy>
  <cp:revision>24</cp:revision>
  <cp:lastPrinted>2022-12-15T23:57:57Z</cp:lastPrinted>
  <dcterms:created xsi:type="dcterms:W3CDTF">2016-11-20T09:37:26Z</dcterms:created>
  <dcterms:modified xsi:type="dcterms:W3CDTF">2025-12-25T01:15:17Z</dcterms:modified>
</cp:coreProperties>
</file>